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autoCompressPictures="0" bookmarkIdSeed="2">
  <p:sldMasterIdLst>
    <p:sldMasterId id="2147483648" r:id="rId1"/>
    <p:sldMasterId id="2147483657" r:id="rId2"/>
  </p:sldMasterIdLst>
  <p:notesMasterIdLst>
    <p:notesMasterId r:id="rId66"/>
  </p:notesMasterIdLst>
  <p:sldIdLst>
    <p:sldId id="1257" r:id="rId3"/>
    <p:sldId id="1062" r:id="rId4"/>
    <p:sldId id="1312" r:id="rId5"/>
    <p:sldId id="1311" r:id="rId6"/>
    <p:sldId id="1313" r:id="rId7"/>
    <p:sldId id="1353" r:id="rId8"/>
    <p:sldId id="1642" r:id="rId9"/>
    <p:sldId id="1643" r:id="rId10"/>
    <p:sldId id="1314" r:id="rId11"/>
    <p:sldId id="1354" r:id="rId12"/>
    <p:sldId id="1261" r:id="rId13"/>
    <p:sldId id="1355" r:id="rId14"/>
    <p:sldId id="1356" r:id="rId15"/>
    <p:sldId id="1315" r:id="rId16"/>
    <p:sldId id="1316" r:id="rId17"/>
    <p:sldId id="1317" r:id="rId18"/>
    <p:sldId id="1318" r:id="rId19"/>
    <p:sldId id="1357" r:id="rId20"/>
    <p:sldId id="1358" r:id="rId21"/>
    <p:sldId id="1359" r:id="rId22"/>
    <p:sldId id="1360" r:id="rId23"/>
    <p:sldId id="1361" r:id="rId24"/>
    <p:sldId id="1362" r:id="rId25"/>
    <p:sldId id="1363" r:id="rId26"/>
    <p:sldId id="1364" r:id="rId27"/>
    <p:sldId id="1365" r:id="rId28"/>
    <p:sldId id="1366" r:id="rId29"/>
    <p:sldId id="1367" r:id="rId30"/>
    <p:sldId id="1319" r:id="rId31"/>
    <p:sldId id="1320" r:id="rId32"/>
    <p:sldId id="1348" r:id="rId33"/>
    <p:sldId id="1349" r:id="rId34"/>
    <p:sldId id="1350" r:id="rId35"/>
    <p:sldId id="1351" r:id="rId36"/>
    <p:sldId id="1352" r:id="rId37"/>
    <p:sldId id="1321" r:id="rId38"/>
    <p:sldId id="1323" r:id="rId39"/>
    <p:sldId id="1322" r:id="rId40"/>
    <p:sldId id="1324" r:id="rId41"/>
    <p:sldId id="1325" r:id="rId42"/>
    <p:sldId id="1326" r:id="rId43"/>
    <p:sldId id="1327" r:id="rId44"/>
    <p:sldId id="1328" r:id="rId45"/>
    <p:sldId id="1329" r:id="rId46"/>
    <p:sldId id="1330" r:id="rId47"/>
    <p:sldId id="1331" r:id="rId48"/>
    <p:sldId id="1332" r:id="rId49"/>
    <p:sldId id="1333" r:id="rId50"/>
    <p:sldId id="1334" r:id="rId51"/>
    <p:sldId id="1335" r:id="rId52"/>
    <p:sldId id="1336" r:id="rId53"/>
    <p:sldId id="1337" r:id="rId54"/>
    <p:sldId id="1338" r:id="rId55"/>
    <p:sldId id="1339" r:id="rId56"/>
    <p:sldId id="1340" r:id="rId57"/>
    <p:sldId id="1341" r:id="rId58"/>
    <p:sldId id="1342" r:id="rId59"/>
    <p:sldId id="1343" r:id="rId60"/>
    <p:sldId id="1344" r:id="rId61"/>
    <p:sldId id="1345" r:id="rId62"/>
    <p:sldId id="1346" r:id="rId63"/>
    <p:sldId id="1347" r:id="rId64"/>
    <p:sldId id="994" r:id="rId6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A4DC5EF-F422-4A4A-AE2D-E811906D492D}">
          <p14:sldIdLst>
            <p14:sldId id="1257"/>
            <p14:sldId id="1062"/>
            <p14:sldId id="1312"/>
            <p14:sldId id="1311"/>
            <p14:sldId id="1313"/>
            <p14:sldId id="1353"/>
            <p14:sldId id="1642"/>
            <p14:sldId id="1643"/>
            <p14:sldId id="1314"/>
            <p14:sldId id="1354"/>
            <p14:sldId id="1261"/>
            <p14:sldId id="1355"/>
            <p14:sldId id="1356"/>
            <p14:sldId id="1315"/>
            <p14:sldId id="1316"/>
            <p14:sldId id="1317"/>
            <p14:sldId id="1318"/>
            <p14:sldId id="1357"/>
            <p14:sldId id="1358"/>
            <p14:sldId id="1359"/>
            <p14:sldId id="1360"/>
            <p14:sldId id="1361"/>
            <p14:sldId id="1362"/>
            <p14:sldId id="1363"/>
            <p14:sldId id="1364"/>
            <p14:sldId id="1365"/>
            <p14:sldId id="1366"/>
            <p14:sldId id="1367"/>
            <p14:sldId id="1319"/>
            <p14:sldId id="1320"/>
            <p14:sldId id="1348"/>
            <p14:sldId id="1349"/>
            <p14:sldId id="1350"/>
            <p14:sldId id="1351"/>
            <p14:sldId id="1352"/>
            <p14:sldId id="1321"/>
            <p14:sldId id="1323"/>
            <p14:sldId id="1322"/>
            <p14:sldId id="1324"/>
            <p14:sldId id="1325"/>
            <p14:sldId id="1326"/>
            <p14:sldId id="1327"/>
            <p14:sldId id="1328"/>
            <p14:sldId id="1329"/>
            <p14:sldId id="1330"/>
            <p14:sldId id="1331"/>
            <p14:sldId id="1332"/>
            <p14:sldId id="1333"/>
            <p14:sldId id="1334"/>
            <p14:sldId id="1335"/>
            <p14:sldId id="1336"/>
            <p14:sldId id="1337"/>
            <p14:sldId id="1338"/>
            <p14:sldId id="1339"/>
            <p14:sldId id="1340"/>
            <p14:sldId id="1341"/>
            <p14:sldId id="1342"/>
            <p14:sldId id="1343"/>
            <p14:sldId id="1344"/>
            <p14:sldId id="1345"/>
            <p14:sldId id="1346"/>
            <p14:sldId id="1347"/>
            <p14:sldId id="9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00FF"/>
    <a:srgbClr val="5B307E"/>
    <a:srgbClr val="B962FF"/>
    <a:srgbClr val="FDCB0B"/>
    <a:srgbClr val="FFD700"/>
    <a:srgbClr val="F9BC12"/>
    <a:srgbClr val="FFD801"/>
    <a:srgbClr val="EFB914"/>
    <a:srgbClr val="F5BD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autoAdjust="0"/>
    <p:restoredTop sz="86677" autoAdjust="0"/>
  </p:normalViewPr>
  <p:slideViewPr>
    <p:cSldViewPr snapToGrid="0" snapToObjects="1">
      <p:cViewPr varScale="1">
        <p:scale>
          <a:sx n="62" d="100"/>
          <a:sy n="62" d="100"/>
        </p:scale>
        <p:origin x="996" y="66"/>
      </p:cViewPr>
      <p:guideLst/>
    </p:cSldViewPr>
  </p:slideViewPr>
  <p:outlineViewPr>
    <p:cViewPr>
      <p:scale>
        <a:sx n="33" d="100"/>
        <a:sy n="33" d="100"/>
      </p:scale>
      <p:origin x="0" y="-2640"/>
    </p:cViewPr>
  </p:outlineViewPr>
  <p:notesTextViewPr>
    <p:cViewPr>
      <p:scale>
        <a:sx n="145" d="100"/>
        <a:sy n="145" d="100"/>
      </p:scale>
      <p:origin x="0" y="0"/>
    </p:cViewPr>
  </p:notesTextViewPr>
  <p:sorterViewPr>
    <p:cViewPr>
      <p:scale>
        <a:sx n="173" d="100"/>
        <a:sy n="173"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2025/3/2</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0</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a:t>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a:t>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a:t>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a:t>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a:t>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a:t>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13</a:t>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14</a:t>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a:t>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a:t>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a:t>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a:t>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a:t>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21</a:t>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22</a:t>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23</a:t>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24</a:t>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25</a:t>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26</a:t>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27</a:t>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28</a:t>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29</a:t>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30</a:t>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31</a:t>
            </a:fld>
            <a:endParaRPr kumimoji="1"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32</a:t>
            </a:fld>
            <a:endParaRPr kumimoji="1"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33</a:t>
            </a:fld>
            <a:endParaRPr kumimoji="1"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34</a:t>
            </a:fld>
            <a:endParaRPr kumimoji="1"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35</a:t>
            </a:fld>
            <a:endParaRPr kumimoji="1"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36</a:t>
            </a:fld>
            <a:endParaRPr kumimoji="1"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37</a:t>
            </a:fld>
            <a:endParaRPr kumimoji="1"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38</a:t>
            </a:fld>
            <a:endParaRPr kumimoji="1"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39</a:t>
            </a:fld>
            <a:endParaRPr kumimoji="1"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40</a:t>
            </a:fld>
            <a:endParaRPr kumimoji="1"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41</a:t>
            </a:fld>
            <a:endParaRPr kumimoji="1"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42</a:t>
            </a:fld>
            <a:endParaRPr kumimoji="1"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43</a:t>
            </a:fld>
            <a:endParaRPr kumimoji="1"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44</a:t>
            </a:fld>
            <a:endParaRPr kumimoji="1"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45</a:t>
            </a:fld>
            <a:endParaRPr kumimoji="1"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46</a:t>
            </a:fld>
            <a:endParaRPr kumimoji="1"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47</a:t>
            </a:fld>
            <a:endParaRPr kumimoji="1"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48</a:t>
            </a:fld>
            <a:endParaRPr kumimoji="1"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49</a:t>
            </a:fld>
            <a:endParaRPr kumimoji="1"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50</a:t>
            </a:fld>
            <a:endParaRPr kumimoji="1"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51</a:t>
            </a:fld>
            <a:endParaRPr kumimoji="1"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52</a:t>
            </a:fld>
            <a:endParaRPr kumimoji="1"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53</a:t>
            </a:fld>
            <a:endParaRPr kumimoji="1"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54</a:t>
            </a:fld>
            <a:endParaRPr kumimoji="1"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55</a:t>
            </a:fld>
            <a:endParaRPr kumimoji="1"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56</a:t>
            </a:fld>
            <a:endParaRPr kumimoji="1"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57</a:t>
            </a:fld>
            <a:endParaRPr kumimoji="1"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58</a:t>
            </a:fld>
            <a:endParaRPr kumimoji="1"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59</a:t>
            </a:fld>
            <a:endParaRPr kumimoji="1"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60</a:t>
            </a:fld>
            <a:endParaRPr kumimoji="1"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61</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882" y="2308881"/>
            <a:ext cx="10852237" cy="899167"/>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925" y="3565525"/>
            <a:ext cx="10852150" cy="801370"/>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40105" y="727710"/>
            <a:ext cx="3931920" cy="1115060"/>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8420" y="727710"/>
            <a:ext cx="6172200" cy="5403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40105" y="2239645"/>
            <a:ext cx="3931920" cy="3891915"/>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925" y="5605145"/>
            <a:ext cx="10852150" cy="558165"/>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925" y="641350"/>
            <a:ext cx="10852150" cy="455612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6445" cy="68681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95"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7770"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882" y="623591"/>
            <a:ext cx="10852237" cy="899167"/>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7" name="矩形 6"/>
          <p:cNvSpPr/>
          <p:nvPr userDrawn="1"/>
        </p:nvSpPr>
        <p:spPr>
          <a:xfrm>
            <a:off x="-9940" y="-8628"/>
            <a:ext cx="12201939" cy="90195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区块链原理与技术</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p:cNvSpPr>
            <a:spLocks noGrp="1"/>
          </p:cNvSpPr>
          <p:nvPr>
            <p:ph idx="1"/>
          </p:nvPr>
        </p:nvSpPr>
        <p:spPr>
          <a:xfrm>
            <a:off x="838200" y="1510758"/>
            <a:ext cx="10515600" cy="4586694"/>
          </a:xfrm>
        </p:spPr>
        <p:txBody>
          <a:bodyPr/>
          <a:lstStyle>
            <a:lvl1pPr marL="360680" indent="-360680">
              <a:lnSpc>
                <a:spcPct val="100000"/>
              </a:lnSpc>
              <a:spcBef>
                <a:spcPts val="600"/>
              </a:spcBef>
              <a:buFont typeface="Wingdings" panose="05000000000000000000" pitchFamily="2" charset="2"/>
              <a:buChar char="Ø"/>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p:cNvGrpSpPr/>
          <p:nvPr userDrawn="1"/>
        </p:nvGrpSpPr>
        <p:grpSpPr>
          <a:xfrm>
            <a:off x="715452" y="634525"/>
            <a:ext cx="403039" cy="321898"/>
            <a:chOff x="1368170" y="664579"/>
            <a:chExt cx="550582" cy="439737"/>
          </a:xfrm>
          <a:solidFill>
            <a:schemeClr val="bg1"/>
          </a:solidFill>
        </p:grpSpPr>
        <p:sp>
          <p:nvSpPr>
            <p:cNvPr id="7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cxnSp>
        <p:nvCxnSpPr>
          <p:cNvPr id="9" name="直线连接符 8"/>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33" name="直线连接符 32"/>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Rectangle 8"/>
          <p:cNvSpPr>
            <a:spLocks noGrp="1" noChangeArrowheads="1"/>
          </p:cNvSpPr>
          <p:nvPr>
            <p:ph type="sldNum" sz="quarter" idx="12"/>
          </p:nvPr>
        </p:nvSpPr>
        <p:spPr/>
        <p:txBody>
          <a:bodyPr/>
          <a:lstStyle>
            <a:lvl1pPr>
              <a:defRPr/>
            </a:lvl1pPr>
          </a:lstStyle>
          <a:p>
            <a:fld id="{07279A2F-85B5-794E-ADF1-0805CD3C44B7}"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theme" Target="../theme/theme2.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2025/3/2</a:t>
            </a:fld>
            <a:endParaRPr lang="zh-CN" altLang="en-US"/>
          </a:p>
        </p:txBody>
      </p:sp>
      <p:sp>
        <p:nvSpPr>
          <p:cNvPr id="5" name="页脚占位符 4"/>
          <p:cNvSpPr>
            <a:spLocks noGrp="1"/>
          </p:cNvSpPr>
          <p:nvPr>
            <p:ph type="ftr" sz="quarter" idx="3"/>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10.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2.png"/><Relationship Id="rId1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image" Target="../media/image28.png"/><Relationship Id="rId16" Type="http://schemas.openxmlformats.org/officeDocument/2006/relationships/image" Target="../media/image15.png"/><Relationship Id="rId1" Type="http://schemas.openxmlformats.org/officeDocument/2006/relationships/slideLayout" Target="../slideLayouts/slideLayout10.xml"/><Relationship Id="rId6" Type="http://schemas.openxmlformats.org/officeDocument/2006/relationships/image" Target="../media/image6.png"/><Relationship Id="rId11" Type="http://schemas.openxmlformats.org/officeDocument/2006/relationships/image" Target="../media/image17.png"/><Relationship Id="rId5" Type="http://schemas.openxmlformats.org/officeDocument/2006/relationships/image" Target="../media/image5.png"/><Relationship Id="rId15" Type="http://schemas.openxmlformats.org/officeDocument/2006/relationships/image" Target="../media/image14.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891254"/>
            <a:ext cx="9144000" cy="2002674"/>
          </a:xfrm>
        </p:spPr>
        <p:txBody>
          <a:bodyPr/>
          <a:lstStyle/>
          <a:p>
            <a:r>
              <a:rPr kumimoji="1" lang="zh-CN" altLang="en-US" dirty="0"/>
              <a:t>第二章 比特币</a:t>
            </a:r>
          </a:p>
        </p:txBody>
      </p:sp>
      <p:sp>
        <p:nvSpPr>
          <p:cNvPr id="3" name="副标题 2"/>
          <p:cNvSpPr>
            <a:spLocks noGrp="1"/>
          </p:cNvSpPr>
          <p:nvPr>
            <p:ph type="subTitle" idx="1"/>
          </p:nvPr>
        </p:nvSpPr>
        <p:spPr>
          <a:xfrm>
            <a:off x="1524000" y="3411207"/>
            <a:ext cx="9144000" cy="1657977"/>
          </a:xfrm>
        </p:spPr>
        <p:txBody>
          <a:bodyPr>
            <a:normAutofit/>
          </a:bodyPr>
          <a:lstStyle/>
          <a:p>
            <a:pPr>
              <a:lnSpc>
                <a:spcPct val="150000"/>
              </a:lnSpc>
            </a:pPr>
            <a:endParaRPr kumimoji="1" lang="en-US" altLang="zh-CN"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solidFill>
                  <a:srgbClr val="C00000"/>
                </a:solidFill>
              </a:rPr>
              <a:t>2.1 </a:t>
            </a:r>
            <a:r>
              <a:rPr kumimoji="1" lang="zh-CN" altLang="en-US" dirty="0">
                <a:solidFill>
                  <a:srgbClr val="C00000"/>
                </a:solidFill>
              </a:rPr>
              <a:t>比特币简介</a:t>
            </a:r>
            <a:endParaRPr kumimoji="1" lang="en-US" altLang="zh-CN" dirty="0">
              <a:solidFill>
                <a:srgbClr val="C00000"/>
              </a:solidFill>
            </a:endParaRPr>
          </a:p>
          <a:p>
            <a:pPr marL="0" indent="0">
              <a:lnSpc>
                <a:spcPct val="130000"/>
              </a:lnSpc>
              <a:buNone/>
            </a:pPr>
            <a:r>
              <a:rPr kumimoji="1" lang="en-US" altLang="zh-CN" dirty="0"/>
              <a:t>2.2 </a:t>
            </a:r>
            <a:r>
              <a:rPr kumimoji="1" lang="zh-CN" altLang="en-US" dirty="0"/>
              <a:t>基础知识</a:t>
            </a:r>
            <a:r>
              <a:rPr kumimoji="1" lang="en-US" altLang="zh-CN" dirty="0"/>
              <a:t> </a:t>
            </a:r>
          </a:p>
          <a:p>
            <a:pPr marL="0" indent="0">
              <a:lnSpc>
                <a:spcPct val="130000"/>
              </a:lnSpc>
              <a:buNone/>
            </a:pPr>
            <a:r>
              <a:rPr kumimoji="1" lang="en-US" altLang="zh-CN" dirty="0"/>
              <a:t>2.3 </a:t>
            </a:r>
            <a:r>
              <a:rPr kumimoji="1" lang="zh-CN" altLang="en-US" dirty="0"/>
              <a:t>交易</a:t>
            </a:r>
            <a:endParaRPr kumimoji="1" lang="en-US" altLang="zh-CN" dirty="0"/>
          </a:p>
          <a:p>
            <a:pPr marL="0" indent="0">
              <a:lnSpc>
                <a:spcPct val="130000"/>
              </a:lnSpc>
              <a:buNone/>
            </a:pPr>
            <a:r>
              <a:rPr kumimoji="1" lang="en-US" altLang="zh-CN" dirty="0"/>
              <a:t>2.4 </a:t>
            </a:r>
            <a:r>
              <a:rPr kumimoji="1" lang="zh-CN" altLang="en-US" dirty="0"/>
              <a:t>脚本系统</a:t>
            </a:r>
            <a:endParaRPr kumimoji="1" lang="en-US" altLang="zh-CN" dirty="0"/>
          </a:p>
          <a:p>
            <a:pPr marL="0" indent="0">
              <a:lnSpc>
                <a:spcPct val="130000"/>
              </a:lnSpc>
              <a:buNone/>
            </a:pPr>
            <a:r>
              <a:rPr kumimoji="1" lang="en-US" altLang="zh-CN" dirty="0"/>
              <a:t>2.5 </a:t>
            </a:r>
            <a:r>
              <a:rPr kumimoji="1" lang="zh-CN" altLang="en-US" dirty="0"/>
              <a:t>公私密钥与地址</a:t>
            </a:r>
            <a:endParaRPr kumimoji="1" lang="en-US" altLang="zh-CN" dirty="0"/>
          </a:p>
          <a:p>
            <a:pPr marL="0" indent="0">
              <a:lnSpc>
                <a:spcPct val="130000"/>
              </a:lnSpc>
              <a:buNone/>
            </a:pPr>
            <a:r>
              <a:rPr kumimoji="1" lang="en-US" altLang="zh-CN" dirty="0"/>
              <a:t>2.6 </a:t>
            </a:r>
            <a:r>
              <a:rPr kumimoji="1" lang="zh-CN" altLang="en-US" dirty="0"/>
              <a:t>区块与链</a:t>
            </a:r>
            <a:endParaRPr kumimoji="1" lang="en-US" altLang="zh-CN" dirty="0"/>
          </a:p>
          <a:p>
            <a:pPr marL="0" indent="0">
              <a:lnSpc>
                <a:spcPct val="130000"/>
              </a:lnSpc>
              <a:buNone/>
            </a:pPr>
            <a:r>
              <a:rPr kumimoji="1" lang="en-US" altLang="zh-CN" dirty="0"/>
              <a:t>2.7 </a:t>
            </a:r>
            <a:r>
              <a:rPr kumimoji="1" lang="zh-CN" altLang="en-US" dirty="0"/>
              <a:t>共识</a:t>
            </a:r>
            <a:endParaRPr kumimoji="1" lang="en-US" altLang="zh-CN" dirty="0"/>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1</a:t>
            </a:fld>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比特币简介</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b="1" dirty="0"/>
              <a:t>加密数字货币</a:t>
            </a:r>
            <a:r>
              <a:rPr lang="zh-CN" altLang="en-US" dirty="0"/>
              <a:t>的诞生</a:t>
            </a:r>
          </a:p>
          <a:p>
            <a:pPr lvl="1">
              <a:lnSpc>
                <a:spcPct val="130000"/>
              </a:lnSpc>
            </a:pPr>
            <a:r>
              <a:rPr lang="en-US" altLang="zh-CN" dirty="0"/>
              <a:t>2008</a:t>
            </a:r>
            <a:r>
              <a:rPr lang="zh-CN" altLang="en-US" dirty="0"/>
              <a:t>年</a:t>
            </a:r>
            <a:r>
              <a:rPr lang="en-US" altLang="zh-CN" dirty="0"/>
              <a:t>10</a:t>
            </a:r>
            <a:r>
              <a:rPr lang="zh-CN" altLang="en-US" dirty="0"/>
              <a:t>月</a:t>
            </a:r>
            <a:r>
              <a:rPr lang="en-US" altLang="zh-CN" dirty="0"/>
              <a:t>31</a:t>
            </a:r>
            <a:r>
              <a:rPr lang="zh-CN" altLang="en-US" dirty="0"/>
              <a:t>日中本聪发表</a:t>
            </a:r>
            <a:r>
              <a:rPr lang="en-US" altLang="zh-CN" dirty="0"/>
              <a:t>《</a:t>
            </a:r>
            <a:r>
              <a:rPr lang="zh-CN" altLang="zh-CN" dirty="0"/>
              <a:t>比特币：一种点对点的电子货币系统</a:t>
            </a:r>
            <a:r>
              <a:rPr lang="en-US" altLang="zh-CN" dirty="0"/>
              <a:t>》</a:t>
            </a:r>
            <a:r>
              <a:rPr lang="zh-CN" altLang="en-US" dirty="0"/>
              <a:t>，随后在</a:t>
            </a:r>
            <a:r>
              <a:rPr lang="en-US" altLang="zh-CN" dirty="0"/>
              <a:t>2009</a:t>
            </a:r>
            <a:r>
              <a:rPr lang="zh-CN" altLang="en-US" dirty="0"/>
              <a:t>年</a:t>
            </a:r>
            <a:r>
              <a:rPr lang="en-US" altLang="zh-CN" dirty="0"/>
              <a:t>1</a:t>
            </a:r>
            <a:r>
              <a:rPr lang="zh-CN" altLang="en-US" dirty="0"/>
              <a:t>月中本聪实现了比特币系统的最初版本。</a:t>
            </a:r>
            <a:endParaRPr lang="en-US" altLang="zh-CN" dirty="0"/>
          </a:p>
          <a:p>
            <a:pPr lvl="1">
              <a:lnSpc>
                <a:spcPct val="130000"/>
              </a:lnSpc>
            </a:pPr>
            <a:r>
              <a:rPr lang="zh-CN" altLang="en-US" dirty="0"/>
              <a:t>比特币的出现宣告了加密数字货币的诞生，为货币系统实现去中心化、隐私保护、提供可靠服务给出了一套完整的解决方案。</a:t>
            </a:r>
            <a:endParaRPr lang="en-US" altLang="zh-CN" dirty="0"/>
          </a:p>
          <a:p>
            <a:pPr lvl="0">
              <a:lnSpc>
                <a:spcPct val="130000"/>
              </a:lnSpc>
            </a:pPr>
            <a:r>
              <a:rPr lang="zh-CN" altLang="en-US" b="1" dirty="0">
                <a:solidFill>
                  <a:prstClr val="black"/>
                </a:solidFill>
              </a:rPr>
              <a:t>比特币</a:t>
            </a:r>
            <a:r>
              <a:rPr lang="zh-CN" altLang="en-US" dirty="0">
                <a:solidFill>
                  <a:prstClr val="black"/>
                </a:solidFill>
              </a:rPr>
              <a:t>引入了</a:t>
            </a:r>
            <a:r>
              <a:rPr lang="zh-CN" altLang="en-US" b="1" dirty="0">
                <a:solidFill>
                  <a:prstClr val="black"/>
                </a:solidFill>
              </a:rPr>
              <a:t>更具价值的区块链技术</a:t>
            </a:r>
            <a:endParaRPr lang="en-US" altLang="zh-CN" b="1" dirty="0">
              <a:solidFill>
                <a:prstClr val="black"/>
              </a:solidFill>
            </a:endParaRPr>
          </a:p>
          <a:p>
            <a:pPr lvl="1">
              <a:lnSpc>
                <a:spcPct val="130000"/>
              </a:lnSpc>
            </a:pPr>
            <a:r>
              <a:rPr lang="zh-CN" altLang="en-US" dirty="0">
                <a:solidFill>
                  <a:prstClr val="black"/>
                </a:solidFill>
              </a:rPr>
              <a:t>区块链不仅可以用于开发一个分布式去中心化的加密货币系统，更让人们看到了其在商业应用场景中解决安全和信任问题的潜力。</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2.1 </a:t>
            </a:r>
            <a:r>
              <a:rPr kumimoji="1" lang="zh-CN" altLang="en-US" dirty="0"/>
              <a:t>比特币简介</a:t>
            </a:r>
            <a:endParaRPr kumimoji="1" lang="en-US" altLang="zh-CN" dirty="0"/>
          </a:p>
          <a:p>
            <a:pPr marL="0" indent="0">
              <a:lnSpc>
                <a:spcPct val="130000"/>
              </a:lnSpc>
              <a:buNone/>
            </a:pPr>
            <a:r>
              <a:rPr kumimoji="1" lang="en-US" altLang="zh-CN" dirty="0">
                <a:solidFill>
                  <a:srgbClr val="C00000"/>
                </a:solidFill>
              </a:rPr>
              <a:t>2.2 </a:t>
            </a:r>
            <a:r>
              <a:rPr kumimoji="1" lang="zh-CN" altLang="en-US" dirty="0">
                <a:solidFill>
                  <a:srgbClr val="C00000"/>
                </a:solidFill>
              </a:rPr>
              <a:t>基础知识</a:t>
            </a:r>
            <a:r>
              <a:rPr kumimoji="1" lang="en-US" altLang="zh-CN" dirty="0">
                <a:solidFill>
                  <a:srgbClr val="C00000"/>
                </a:solidFill>
              </a:rPr>
              <a:t> </a:t>
            </a:r>
          </a:p>
          <a:p>
            <a:pPr marL="0" indent="0">
              <a:lnSpc>
                <a:spcPct val="130000"/>
              </a:lnSpc>
              <a:buNone/>
            </a:pPr>
            <a:r>
              <a:rPr kumimoji="1" lang="en-US" altLang="zh-CN" dirty="0"/>
              <a:t>2.3 </a:t>
            </a:r>
            <a:r>
              <a:rPr kumimoji="1" lang="zh-CN" altLang="en-US" dirty="0"/>
              <a:t>交易</a:t>
            </a:r>
            <a:endParaRPr kumimoji="1" lang="en-US" altLang="zh-CN" dirty="0"/>
          </a:p>
          <a:p>
            <a:pPr marL="0" indent="0">
              <a:lnSpc>
                <a:spcPct val="130000"/>
              </a:lnSpc>
              <a:buNone/>
            </a:pPr>
            <a:r>
              <a:rPr kumimoji="1" lang="en-US" altLang="zh-CN" dirty="0"/>
              <a:t>2.4 </a:t>
            </a:r>
            <a:r>
              <a:rPr kumimoji="1" lang="zh-CN" altLang="en-US" dirty="0"/>
              <a:t>脚本系统</a:t>
            </a:r>
            <a:endParaRPr kumimoji="1" lang="en-US" altLang="zh-CN" dirty="0"/>
          </a:p>
          <a:p>
            <a:pPr marL="0" indent="0">
              <a:lnSpc>
                <a:spcPct val="130000"/>
              </a:lnSpc>
              <a:buNone/>
            </a:pPr>
            <a:r>
              <a:rPr kumimoji="1" lang="en-US" altLang="zh-CN" dirty="0"/>
              <a:t>2.5 </a:t>
            </a:r>
            <a:r>
              <a:rPr kumimoji="1" lang="zh-CN" altLang="en-US" dirty="0"/>
              <a:t>公私密钥与地址</a:t>
            </a:r>
            <a:endParaRPr kumimoji="1" lang="en-US" altLang="zh-CN" dirty="0"/>
          </a:p>
          <a:p>
            <a:pPr marL="0" indent="0">
              <a:lnSpc>
                <a:spcPct val="130000"/>
              </a:lnSpc>
              <a:buNone/>
            </a:pPr>
            <a:r>
              <a:rPr kumimoji="1" lang="en-US" altLang="zh-CN" dirty="0"/>
              <a:t>2.6 </a:t>
            </a:r>
            <a:r>
              <a:rPr kumimoji="1" lang="zh-CN" altLang="en-US" dirty="0"/>
              <a:t>区块与链</a:t>
            </a:r>
            <a:endParaRPr kumimoji="1" lang="en-US" altLang="zh-CN" dirty="0"/>
          </a:p>
          <a:p>
            <a:pPr marL="0" indent="0">
              <a:lnSpc>
                <a:spcPct val="130000"/>
              </a:lnSpc>
              <a:buNone/>
            </a:pPr>
            <a:r>
              <a:rPr kumimoji="1" lang="en-US" altLang="zh-CN" dirty="0"/>
              <a:t>2.7 </a:t>
            </a:r>
            <a:r>
              <a:rPr kumimoji="1" lang="zh-CN" altLang="en-US" dirty="0"/>
              <a:t>共识</a:t>
            </a:r>
            <a:endParaRPr kumimoji="1" lang="en-US" altLang="zh-CN" dirty="0"/>
          </a:p>
        </p:txBody>
      </p:sp>
      <p:sp>
        <p:nvSpPr>
          <p:cNvPr id="7" name="矩形标注 6"/>
          <p:cNvSpPr/>
          <p:nvPr/>
        </p:nvSpPr>
        <p:spPr>
          <a:xfrm>
            <a:off x="5123543" y="2185355"/>
            <a:ext cx="4281889" cy="2256017"/>
          </a:xfrm>
          <a:prstGeom prst="wedgeRectCallout">
            <a:avLst>
              <a:gd name="adj1" fmla="val -81204"/>
              <a:gd name="adj2" fmla="val -4243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哈希算法</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非对称加密</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数字签名</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主网与测试网</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哈希算法</a:t>
            </a:r>
            <a:endParaRPr lang="en-US" altLang="zh-CN" dirty="0"/>
          </a:p>
        </p:txBody>
      </p:sp>
      <p:sp>
        <p:nvSpPr>
          <p:cNvPr id="3" name="内容占位符 2"/>
          <p:cNvSpPr>
            <a:spLocks noGrp="1"/>
          </p:cNvSpPr>
          <p:nvPr>
            <p:ph idx="1"/>
          </p:nvPr>
        </p:nvSpPr>
        <p:spPr>
          <a:xfrm>
            <a:off x="838199" y="1510758"/>
            <a:ext cx="9854381" cy="3496022"/>
          </a:xfrm>
        </p:spPr>
        <p:txBody>
          <a:bodyPr>
            <a:normAutofit fontScale="92500" lnSpcReduction="20000"/>
          </a:bodyPr>
          <a:lstStyle/>
          <a:p>
            <a:pPr fontAlgn="auto">
              <a:lnSpc>
                <a:spcPct val="130000"/>
              </a:lnSpc>
            </a:pPr>
            <a:r>
              <a:rPr lang="zh-CN" altLang="en-US" sz="2400" b="1" dirty="0"/>
              <a:t>哈希（</a:t>
            </a:r>
            <a:r>
              <a:rPr lang="en-US" altLang="zh-CN" sz="2400" b="1" dirty="0"/>
              <a:t>Hash</a:t>
            </a:r>
            <a:r>
              <a:rPr lang="zh-CN" altLang="en-US" sz="2400" b="1" dirty="0"/>
              <a:t>）算法</a:t>
            </a:r>
            <a:r>
              <a:rPr lang="zh-CN" altLang="en-US" sz="2400" dirty="0"/>
              <a:t>是什么</a:t>
            </a:r>
            <a:endParaRPr lang="en-US" altLang="zh-CN" sz="2400" dirty="0"/>
          </a:p>
          <a:p>
            <a:pPr lvl="1">
              <a:lnSpc>
                <a:spcPct val="130000"/>
              </a:lnSpc>
            </a:pPr>
            <a:r>
              <a:rPr lang="zh-CN" altLang="en-US" dirty="0"/>
              <a:t>将任意长度的明文字符串映射成较短的二进制串，且不同的明文串映射后的值几乎没有冲突。</a:t>
            </a:r>
            <a:endParaRPr lang="en-US" altLang="zh-CN" dirty="0"/>
          </a:p>
          <a:p>
            <a:pPr lvl="1">
              <a:lnSpc>
                <a:spcPct val="130000"/>
              </a:lnSpc>
            </a:pPr>
            <a:r>
              <a:rPr lang="zh-CN" altLang="en-US" dirty="0"/>
              <a:t>哈希值又被称为指纹或者摘要，因为它足够验证文件的完整性与正确性。</a:t>
            </a:r>
            <a:endParaRPr lang="en-US" altLang="zh-CN" dirty="0"/>
          </a:p>
          <a:p>
            <a:pPr lvl="1">
              <a:lnSpc>
                <a:spcPct val="130000"/>
              </a:lnSpc>
            </a:pPr>
            <a:r>
              <a:rPr lang="zh-CN" altLang="en-US" dirty="0"/>
              <a:t>哈希函数本身是一种</a:t>
            </a:r>
            <a:r>
              <a:rPr lang="zh-CN" altLang="en-US" b="1" dirty="0"/>
              <a:t>单射函数</a:t>
            </a:r>
            <a:r>
              <a:rPr lang="zh-CN" altLang="en-US" dirty="0"/>
              <a:t>，所以</a:t>
            </a:r>
            <a:r>
              <a:rPr lang="zh-CN" altLang="en-US" b="1" dirty="0"/>
              <a:t>哈希</a:t>
            </a:r>
            <a:r>
              <a:rPr lang="zh-CN" altLang="en-US" dirty="0"/>
              <a:t>的整个过程并</a:t>
            </a:r>
            <a:r>
              <a:rPr lang="zh-CN" altLang="en-US" b="1" dirty="0"/>
              <a:t>不可逆</a:t>
            </a:r>
            <a:r>
              <a:rPr lang="zh-CN" altLang="en-US" dirty="0"/>
              <a:t>，如果需要对明文数据进行隐藏和保密，则需要使用加解密算法。</a:t>
            </a:r>
            <a:endParaRPr lang="en-US" altLang="zh-CN" sz="2400" dirty="0"/>
          </a:p>
          <a:p>
            <a:pPr fontAlgn="auto">
              <a:lnSpc>
                <a:spcPct val="130000"/>
              </a:lnSpc>
            </a:pPr>
            <a:r>
              <a:rPr lang="zh-CN" altLang="en-US" sz="2400" dirty="0"/>
              <a:t>哈希碰撞</a:t>
            </a:r>
            <a:endParaRPr lang="en-US" altLang="zh-CN" sz="2400" dirty="0"/>
          </a:p>
          <a:p>
            <a:pPr lvl="1">
              <a:lnSpc>
                <a:spcPct val="130000"/>
              </a:lnSpc>
            </a:pPr>
            <a:r>
              <a:rPr lang="zh-CN" altLang="en-US" sz="2400" dirty="0"/>
              <a:t>当不同输入的哈希产生相同的哈希值，则称为哈希碰撞。</a:t>
            </a:r>
            <a:endParaRPr lang="en-US" altLang="zh-CN" sz="2400"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
        <p:nvSpPr>
          <p:cNvPr id="4" name="Rectangle 4"/>
          <p:cNvSpPr>
            <a:spLocks noChangeArrowheads="1"/>
          </p:cNvSpPr>
          <p:nvPr/>
        </p:nvSpPr>
        <p:spPr bwMode="auto">
          <a:xfrm>
            <a:off x="8016841" y="25937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6" name="图片 5"/>
          <p:cNvPicPr>
            <a:picLocks noChangeAspect="1"/>
          </p:cNvPicPr>
          <p:nvPr/>
        </p:nvPicPr>
        <p:blipFill>
          <a:blip r:embed="rId3"/>
          <a:stretch>
            <a:fillRect/>
          </a:stretch>
        </p:blipFill>
        <p:spPr>
          <a:xfrm>
            <a:off x="2863439" y="5016296"/>
            <a:ext cx="5803900" cy="1054100"/>
          </a:xfrm>
          <a:prstGeom prst="rect">
            <a:avLst/>
          </a:prstGeom>
        </p:spPr>
      </p:pic>
      <p:sp>
        <p:nvSpPr>
          <p:cNvPr id="9" name="文本框 8"/>
          <p:cNvSpPr txBox="1"/>
          <p:nvPr/>
        </p:nvSpPr>
        <p:spPr>
          <a:xfrm>
            <a:off x="4633084" y="6059659"/>
            <a:ext cx="1569660" cy="369332"/>
          </a:xfrm>
          <a:prstGeom prst="rect">
            <a:avLst/>
          </a:prstGeom>
          <a:noFill/>
        </p:spPr>
        <p:txBody>
          <a:bodyPr wrap="none" rtlCol="0">
            <a:spAutoFit/>
          </a:bodyPr>
          <a:lstStyle/>
          <a:p>
            <a:r>
              <a:rPr kumimoji="1" lang="zh-CN" altLang="en-US" dirty="0"/>
              <a:t>哈希算法例子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199" y="1510758"/>
            <a:ext cx="9824885" cy="5052274"/>
          </a:xfrm>
        </p:spPr>
        <p:txBody>
          <a:bodyPr>
            <a:normAutofit fontScale="92500"/>
          </a:bodyPr>
          <a:lstStyle/>
          <a:p>
            <a:pPr fontAlgn="auto">
              <a:lnSpc>
                <a:spcPct val="130000"/>
              </a:lnSpc>
            </a:pPr>
            <a:r>
              <a:rPr lang="zh-CN" altLang="en-US" sz="2400" dirty="0"/>
              <a:t>常见的</a:t>
            </a:r>
            <a:r>
              <a:rPr lang="en-US" altLang="zh-CN" sz="2400" dirty="0"/>
              <a:t>Hash</a:t>
            </a:r>
            <a:r>
              <a:rPr lang="zh-CN" altLang="en-US" sz="2400" dirty="0"/>
              <a:t>算法</a:t>
            </a:r>
            <a:endParaRPr lang="en-US" altLang="zh-CN" sz="2400" dirty="0"/>
          </a:p>
          <a:p>
            <a:pPr lvl="1">
              <a:lnSpc>
                <a:spcPct val="130000"/>
              </a:lnSpc>
            </a:pPr>
            <a:r>
              <a:rPr lang="en-US" altLang="zh-CN" dirty="0"/>
              <a:t>MD5</a:t>
            </a:r>
            <a:r>
              <a:rPr lang="zh-CN" altLang="en-US" dirty="0"/>
              <a:t>，</a:t>
            </a:r>
            <a:r>
              <a:rPr lang="en-US" altLang="zh-CN" dirty="0"/>
              <a:t>MD4</a:t>
            </a:r>
            <a:r>
              <a:rPr lang="zh-CN" altLang="en-US" dirty="0"/>
              <a:t>由</a:t>
            </a:r>
            <a:r>
              <a:rPr lang="en-US" altLang="zh-CN" dirty="0"/>
              <a:t>MIT</a:t>
            </a:r>
            <a:r>
              <a:rPr lang="zh-CN" altLang="en-US" dirty="0"/>
              <a:t>的</a:t>
            </a:r>
            <a:r>
              <a:rPr lang="en-US" altLang="zh-CN" dirty="0"/>
              <a:t>Ronald L. </a:t>
            </a:r>
            <a:r>
              <a:rPr lang="en-US" altLang="zh-CN" dirty="0" err="1"/>
              <a:t>Rivest</a:t>
            </a:r>
            <a:r>
              <a:rPr lang="zh-CN" altLang="zh-CN" dirty="0"/>
              <a:t>于</a:t>
            </a:r>
            <a:r>
              <a:rPr lang="en-US" altLang="zh-CN" dirty="0"/>
              <a:t>1990</a:t>
            </a:r>
            <a:r>
              <a:rPr lang="zh-CN" altLang="zh-CN" dirty="0"/>
              <a:t>年提出</a:t>
            </a:r>
            <a:r>
              <a:rPr lang="zh-CN" altLang="en-US" dirty="0"/>
              <a:t>，之后改进成</a:t>
            </a:r>
            <a:r>
              <a:rPr lang="en-US" altLang="zh-CN" dirty="0"/>
              <a:t>MD5</a:t>
            </a:r>
            <a:r>
              <a:rPr lang="zh-CN" altLang="en-US" dirty="0"/>
              <a:t>。</a:t>
            </a:r>
            <a:endParaRPr lang="en-US" altLang="zh-CN" dirty="0"/>
          </a:p>
          <a:p>
            <a:pPr lvl="1">
              <a:lnSpc>
                <a:spcPct val="130000"/>
              </a:lnSpc>
            </a:pPr>
            <a:r>
              <a:rPr lang="en-US" altLang="zh-CN" dirty="0"/>
              <a:t>SHA</a:t>
            </a:r>
            <a:r>
              <a:rPr lang="zh-CN" altLang="en-US" dirty="0"/>
              <a:t>，</a:t>
            </a:r>
            <a:r>
              <a:rPr lang="en-US" altLang="zh-CN" dirty="0"/>
              <a:t>SHA1</a:t>
            </a:r>
            <a:r>
              <a:rPr lang="zh-CN" altLang="en-US" dirty="0"/>
              <a:t>由美国国家安全局（</a:t>
            </a:r>
            <a:r>
              <a:rPr lang="en-US" altLang="zh-CN" dirty="0"/>
              <a:t>NSA</a:t>
            </a:r>
            <a:r>
              <a:rPr lang="zh-CN" altLang="en-US" dirty="0"/>
              <a:t>）在</a:t>
            </a:r>
            <a:r>
              <a:rPr lang="en-US" altLang="zh-CN" dirty="0"/>
              <a:t>1995</a:t>
            </a:r>
            <a:r>
              <a:rPr lang="zh-CN" altLang="en-US" dirty="0"/>
              <a:t>年提出，随后</a:t>
            </a:r>
            <a:r>
              <a:rPr lang="en-US" altLang="zh-CN" dirty="0"/>
              <a:t>SHA2</a:t>
            </a:r>
            <a:r>
              <a:rPr lang="zh-CN" altLang="en-US" dirty="0"/>
              <a:t>系列也被</a:t>
            </a:r>
            <a:r>
              <a:rPr lang="en-US" altLang="zh-CN" dirty="0"/>
              <a:t>NSA</a:t>
            </a:r>
            <a:r>
              <a:rPr lang="zh-CN" altLang="en-US" dirty="0"/>
              <a:t>公布出来。</a:t>
            </a:r>
            <a:endParaRPr lang="en-US" altLang="zh-CN" dirty="0"/>
          </a:p>
          <a:p>
            <a:pPr lvl="1">
              <a:lnSpc>
                <a:spcPct val="130000"/>
              </a:lnSpc>
            </a:pPr>
            <a:r>
              <a:rPr lang="zh-CN" altLang="en-US" dirty="0"/>
              <a:t>目前，</a:t>
            </a:r>
            <a:r>
              <a:rPr lang="en-US" altLang="zh-CN" dirty="0"/>
              <a:t>MD5</a:t>
            </a:r>
            <a:r>
              <a:rPr lang="zh-CN" altLang="en-US" dirty="0"/>
              <a:t>与</a:t>
            </a:r>
            <a:r>
              <a:rPr lang="en-US" altLang="zh-CN" dirty="0"/>
              <a:t>SHA1</a:t>
            </a:r>
            <a:r>
              <a:rPr lang="zh-CN" altLang="en-US" dirty="0"/>
              <a:t>算法已经被破解。</a:t>
            </a:r>
            <a:endParaRPr lang="en-US" altLang="zh-CN" sz="2400" dirty="0"/>
          </a:p>
          <a:p>
            <a:pPr fontAlgn="auto">
              <a:lnSpc>
                <a:spcPct val="130000"/>
              </a:lnSpc>
            </a:pPr>
            <a:r>
              <a:rPr lang="zh-CN" altLang="en-US" sz="2400" dirty="0"/>
              <a:t>区块链中</a:t>
            </a:r>
            <a:r>
              <a:rPr lang="en-US" altLang="zh-CN" sz="2400" dirty="0"/>
              <a:t>Hash</a:t>
            </a:r>
            <a:r>
              <a:rPr lang="zh-CN" altLang="en-US" sz="2400" dirty="0"/>
              <a:t>的应用</a:t>
            </a:r>
            <a:endParaRPr lang="en-US" altLang="zh-CN" sz="2400" dirty="0"/>
          </a:p>
          <a:p>
            <a:pPr lvl="1">
              <a:lnSpc>
                <a:spcPct val="130000"/>
              </a:lnSpc>
            </a:pPr>
            <a:r>
              <a:rPr lang="zh-CN" altLang="en-US" dirty="0"/>
              <a:t>比特币采用了</a:t>
            </a:r>
            <a:r>
              <a:rPr lang="en-GB" altLang="zh-CN" dirty="0"/>
              <a:t>SHA2</a:t>
            </a:r>
            <a:r>
              <a:rPr lang="zh-CN" altLang="en-US" dirty="0"/>
              <a:t>族的</a:t>
            </a:r>
            <a:r>
              <a:rPr lang="en-GB" altLang="zh-CN" dirty="0"/>
              <a:t>SHA2-256</a:t>
            </a:r>
            <a:r>
              <a:rPr lang="zh-CN" altLang="en-US" dirty="0"/>
              <a:t>算法，通常也简称为</a:t>
            </a:r>
            <a:r>
              <a:rPr lang="en-GB" altLang="zh-CN" dirty="0"/>
              <a:t>SHA256</a:t>
            </a:r>
            <a:r>
              <a:rPr lang="zh-CN" altLang="en-US" dirty="0"/>
              <a:t>算法。比特币在挖矿和生成地址的时候都是采用了</a:t>
            </a:r>
            <a:r>
              <a:rPr lang="en-GB" altLang="zh-CN" dirty="0"/>
              <a:t>SHA256</a:t>
            </a:r>
            <a:r>
              <a:rPr lang="zh-CN" altLang="en-US" dirty="0"/>
              <a:t>算法。</a:t>
            </a:r>
            <a:endParaRPr lang="en-US" altLang="zh-CN" dirty="0"/>
          </a:p>
          <a:p>
            <a:pPr lvl="1">
              <a:lnSpc>
                <a:spcPct val="130000"/>
              </a:lnSpc>
            </a:pPr>
            <a:r>
              <a:rPr lang="zh-CN" altLang="en-US" dirty="0"/>
              <a:t>以太坊中采用了</a:t>
            </a:r>
            <a:r>
              <a:rPr lang="en-GB" altLang="zh-CN" dirty="0"/>
              <a:t>SHA3</a:t>
            </a:r>
            <a:r>
              <a:rPr lang="zh-CN" altLang="en-US" dirty="0"/>
              <a:t>哈希函数族的来源</a:t>
            </a:r>
            <a:r>
              <a:rPr lang="en-US" altLang="zh-CN" dirty="0"/>
              <a:t>——</a:t>
            </a:r>
            <a:r>
              <a:rPr lang="en-GB" altLang="zh-CN" dirty="0" err="1"/>
              <a:t>keccak</a:t>
            </a:r>
            <a:r>
              <a:rPr lang="zh-CN" altLang="en-US" dirty="0"/>
              <a:t>族的</a:t>
            </a:r>
            <a:r>
              <a:rPr lang="en-GB" altLang="zh-CN" dirty="0"/>
              <a:t>keccak256 </a:t>
            </a:r>
            <a:r>
              <a:rPr lang="zh-CN" altLang="en-US" dirty="0"/>
              <a:t>算法。</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sp>
        <p:nvSpPr>
          <p:cNvPr id="4" name="Rectangle 4"/>
          <p:cNvSpPr>
            <a:spLocks noChangeArrowheads="1"/>
          </p:cNvSpPr>
          <p:nvPr/>
        </p:nvSpPr>
        <p:spPr bwMode="auto">
          <a:xfrm>
            <a:off x="8016841" y="25937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FD1D0-F27B-C246-9CFB-256892CEA968}"/>
              </a:ext>
            </a:extLst>
          </p:cNvPr>
          <p:cNvSpPr>
            <a:spLocks noGrp="1"/>
          </p:cNvSpPr>
          <p:nvPr>
            <p:ph type="title"/>
          </p:nvPr>
        </p:nvSpPr>
        <p:spPr/>
        <p:txBody>
          <a:bodyPr>
            <a:normAutofit/>
          </a:bodyPr>
          <a:lstStyle/>
          <a:p>
            <a:r>
              <a:rPr lang="en-US" dirty="0"/>
              <a:t>Merkle Tree</a:t>
            </a:r>
            <a:endParaRPr lang="en-US" sz="2933" dirty="0"/>
          </a:p>
        </p:txBody>
      </p:sp>
      <p:sp>
        <p:nvSpPr>
          <p:cNvPr id="4" name="Rectangle 3">
            <a:extLst>
              <a:ext uri="{FF2B5EF4-FFF2-40B4-BE49-F238E27FC236}">
                <a16:creationId xmlns:a16="http://schemas.microsoft.com/office/drawing/2014/main" id="{FEF1E274-5CBB-CD46-800A-A31AB60BE682}"/>
              </a:ext>
            </a:extLst>
          </p:cNvPr>
          <p:cNvSpPr/>
          <p:nvPr/>
        </p:nvSpPr>
        <p:spPr>
          <a:xfrm>
            <a:off x="2721979" y="5263965"/>
            <a:ext cx="668495"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5" name="Rectangle 4">
            <a:extLst>
              <a:ext uri="{FF2B5EF4-FFF2-40B4-BE49-F238E27FC236}">
                <a16:creationId xmlns:a16="http://schemas.microsoft.com/office/drawing/2014/main" id="{A2C51F39-EA04-CF43-9F08-37F5610BD613}"/>
              </a:ext>
            </a:extLst>
          </p:cNvPr>
          <p:cNvSpPr/>
          <p:nvPr/>
        </p:nvSpPr>
        <p:spPr>
          <a:xfrm>
            <a:off x="1689390" y="3713663"/>
            <a:ext cx="605367"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6" name="Rectangle 5">
            <a:extLst>
              <a:ext uri="{FF2B5EF4-FFF2-40B4-BE49-F238E27FC236}">
                <a16:creationId xmlns:a16="http://schemas.microsoft.com/office/drawing/2014/main" id="{B6AD41E9-8B31-6048-B7CA-CF68668E9EFC}"/>
              </a:ext>
            </a:extLst>
          </p:cNvPr>
          <p:cNvSpPr/>
          <p:nvPr/>
        </p:nvSpPr>
        <p:spPr>
          <a:xfrm>
            <a:off x="4664512" y="2783474"/>
            <a:ext cx="733841"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7" name="Rectangle 6">
            <a:extLst>
              <a:ext uri="{FF2B5EF4-FFF2-40B4-BE49-F238E27FC236}">
                <a16:creationId xmlns:a16="http://schemas.microsoft.com/office/drawing/2014/main" id="{9903D8E0-4E79-0B4C-9DDD-092D6DC1600B}"/>
              </a:ext>
            </a:extLst>
          </p:cNvPr>
          <p:cNvSpPr/>
          <p:nvPr/>
        </p:nvSpPr>
        <p:spPr>
          <a:xfrm>
            <a:off x="3523054" y="5267407"/>
            <a:ext cx="662596" cy="438908"/>
          </a:xfrm>
          <a:prstGeom prst="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B5A08BDC-BBF4-044F-823E-CDC1D473DAD5}"/>
                  </a:ext>
                </a:extLst>
              </p:cNvPr>
              <p:cNvSpPr txBox="1"/>
              <p:nvPr/>
            </p:nvSpPr>
            <p:spPr>
              <a:xfrm>
                <a:off x="1262849" y="5102133"/>
                <a:ext cx="61266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𝑚</m:t>
                      </m:r>
                      <m:r>
                        <a:rPr lang="en-US" sz="2400" i="1" baseline="-25000" dirty="0">
                          <a:latin typeface="Cambria Math" panose="02040503050406030204" pitchFamily="18" charset="0"/>
                        </a:rPr>
                        <m:t>1</m:t>
                      </m:r>
                    </m:oMath>
                  </m:oMathPara>
                </a14:m>
                <a:endParaRPr lang="en-US" sz="2400" baseline="-25000" dirty="0"/>
              </a:p>
            </p:txBody>
          </p:sp>
        </mc:Choice>
        <mc:Fallback>
          <p:sp>
            <p:nvSpPr>
              <p:cNvPr id="14" name="TextBox 13">
                <a:extLst>
                  <a:ext uri="{FF2B5EF4-FFF2-40B4-BE49-F238E27FC236}">
                    <a16:creationId xmlns:a16="http://schemas.microsoft.com/office/drawing/2014/main" id="{B5A08BDC-BBF4-044F-823E-CDC1D473DAD5}"/>
                  </a:ext>
                </a:extLst>
              </p:cNvPr>
              <p:cNvSpPr txBox="1">
                <a:spLocks noRot="1" noChangeAspect="1" noMove="1" noResize="1" noEditPoints="1" noAdjustHandles="1" noChangeArrowheads="1" noChangeShapeType="1" noTextEdit="1"/>
              </p:cNvSpPr>
              <p:nvPr/>
            </p:nvSpPr>
            <p:spPr>
              <a:xfrm>
                <a:off x="1262849" y="5102133"/>
                <a:ext cx="612668" cy="453137"/>
              </a:xfrm>
              <a:prstGeom prst="rect">
                <a:avLst/>
              </a:prstGeom>
              <a:blipFill>
                <a:blip r:embed="rId2"/>
                <a:stretch>
                  <a:fillRect b="-67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99DDDA3-0190-8547-96E6-65DA34E153B0}"/>
                  </a:ext>
                </a:extLst>
              </p:cNvPr>
              <p:cNvSpPr txBox="1"/>
              <p:nvPr/>
            </p:nvSpPr>
            <p:spPr>
              <a:xfrm>
                <a:off x="1962322" y="5102133"/>
                <a:ext cx="64145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𝑚</m:t>
                          </m:r>
                        </m:e>
                        <m:sub>
                          <m:r>
                            <a:rPr lang="en-US" sz="2400" i="1" dirty="0">
                              <a:latin typeface="Cambria Math" panose="02040503050406030204" pitchFamily="18" charset="0"/>
                            </a:rPr>
                            <m:t>2</m:t>
                          </m:r>
                        </m:sub>
                      </m:sSub>
                    </m:oMath>
                  </m:oMathPara>
                </a14:m>
                <a:endParaRPr lang="en-US" sz="2400" baseline="-25000" dirty="0"/>
              </a:p>
            </p:txBody>
          </p:sp>
        </mc:Choice>
        <mc:Fallback xmlns="">
          <p:sp>
            <p:nvSpPr>
              <p:cNvPr id="15" name="TextBox 14">
                <a:extLst>
                  <a:ext uri="{FF2B5EF4-FFF2-40B4-BE49-F238E27FC236}">
                    <a16:creationId xmlns:a16="http://schemas.microsoft.com/office/drawing/2014/main" id="{099DDDA3-0190-8547-96E6-65DA34E153B0}"/>
                  </a:ext>
                </a:extLst>
              </p:cNvPr>
              <p:cNvSpPr txBox="1">
                <a:spLocks noRot="1" noChangeAspect="1" noMove="1" noResize="1" noEditPoints="1" noAdjustHandles="1" noChangeArrowheads="1" noChangeShapeType="1" noTextEdit="1"/>
              </p:cNvSpPr>
              <p:nvPr/>
            </p:nvSpPr>
            <p:spPr>
              <a:xfrm>
                <a:off x="1962322" y="5102133"/>
                <a:ext cx="641458" cy="453137"/>
              </a:xfrm>
              <a:prstGeom prst="rect">
                <a:avLst/>
              </a:prstGeom>
              <a:blipFill>
                <a:blip r:embed="rId3"/>
                <a:stretch>
                  <a:fillRect b="-40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BBE33CA-F160-BC47-A516-07D39356FA35}"/>
                  </a:ext>
                </a:extLst>
              </p:cNvPr>
              <p:cNvSpPr txBox="1"/>
              <p:nvPr/>
            </p:nvSpPr>
            <p:spPr>
              <a:xfrm>
                <a:off x="2696162" y="5102133"/>
                <a:ext cx="64145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𝑚</m:t>
                          </m:r>
                        </m:e>
                        <m:sub>
                          <m:r>
                            <a:rPr lang="en-US" sz="2400" i="1" dirty="0">
                              <a:latin typeface="Cambria Math" panose="02040503050406030204" pitchFamily="18" charset="0"/>
                            </a:rPr>
                            <m:t>3</m:t>
                          </m:r>
                        </m:sub>
                      </m:sSub>
                    </m:oMath>
                  </m:oMathPara>
                </a14:m>
                <a:endParaRPr lang="en-US" sz="2400" baseline="-25000" dirty="0"/>
              </a:p>
            </p:txBody>
          </p:sp>
        </mc:Choice>
        <mc:Fallback xmlns="">
          <p:sp>
            <p:nvSpPr>
              <p:cNvPr id="16" name="TextBox 15">
                <a:extLst>
                  <a:ext uri="{FF2B5EF4-FFF2-40B4-BE49-F238E27FC236}">
                    <a16:creationId xmlns:a16="http://schemas.microsoft.com/office/drawing/2014/main" id="{6BBE33CA-F160-BC47-A516-07D39356FA35}"/>
                  </a:ext>
                </a:extLst>
              </p:cNvPr>
              <p:cNvSpPr txBox="1">
                <a:spLocks noRot="1" noChangeAspect="1" noMove="1" noResize="1" noEditPoints="1" noAdjustHandles="1" noChangeArrowheads="1" noChangeShapeType="1" noTextEdit="1"/>
              </p:cNvSpPr>
              <p:nvPr/>
            </p:nvSpPr>
            <p:spPr>
              <a:xfrm>
                <a:off x="2696162" y="5102133"/>
                <a:ext cx="641458" cy="453137"/>
              </a:xfrm>
              <a:prstGeom prst="rect">
                <a:avLst/>
              </a:prstGeom>
              <a:blipFill>
                <a:blip r:embed="rId4"/>
                <a:stretch>
                  <a:fillRect b="-40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21D768E-12D3-1849-9661-E9CC0D9CB014}"/>
                  </a:ext>
                </a:extLst>
              </p:cNvPr>
              <p:cNvSpPr txBox="1"/>
              <p:nvPr/>
            </p:nvSpPr>
            <p:spPr>
              <a:xfrm>
                <a:off x="3430002" y="5102133"/>
                <a:ext cx="64145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𝑚</m:t>
                          </m:r>
                        </m:e>
                        <m:sub>
                          <m:r>
                            <a:rPr lang="en-US" sz="2400" i="1" dirty="0">
                              <a:latin typeface="Cambria Math" panose="02040503050406030204" pitchFamily="18" charset="0"/>
                            </a:rPr>
                            <m:t>4</m:t>
                          </m:r>
                        </m:sub>
                      </m:sSub>
                    </m:oMath>
                  </m:oMathPara>
                </a14:m>
                <a:endParaRPr lang="en-US" sz="2400" baseline="-25000" dirty="0"/>
              </a:p>
            </p:txBody>
          </p:sp>
        </mc:Choice>
        <mc:Fallback xmlns="">
          <p:sp>
            <p:nvSpPr>
              <p:cNvPr id="17" name="TextBox 16">
                <a:extLst>
                  <a:ext uri="{FF2B5EF4-FFF2-40B4-BE49-F238E27FC236}">
                    <a16:creationId xmlns:a16="http://schemas.microsoft.com/office/drawing/2014/main" id="{A21D768E-12D3-1849-9661-E9CC0D9CB014}"/>
                  </a:ext>
                </a:extLst>
              </p:cNvPr>
              <p:cNvSpPr txBox="1">
                <a:spLocks noRot="1" noChangeAspect="1" noMove="1" noResize="1" noEditPoints="1" noAdjustHandles="1" noChangeArrowheads="1" noChangeShapeType="1" noTextEdit="1"/>
              </p:cNvSpPr>
              <p:nvPr/>
            </p:nvSpPr>
            <p:spPr>
              <a:xfrm>
                <a:off x="3430002" y="5102133"/>
                <a:ext cx="641458" cy="453137"/>
              </a:xfrm>
              <a:prstGeom prst="rect">
                <a:avLst/>
              </a:prstGeom>
              <a:blipFill>
                <a:blip r:embed="rId5"/>
                <a:stretch>
                  <a:fillRect b="-40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B80DE9A-05B7-DA45-8F25-99E0C1CC18A6}"/>
                  </a:ext>
                </a:extLst>
              </p:cNvPr>
              <p:cNvSpPr txBox="1"/>
              <p:nvPr/>
            </p:nvSpPr>
            <p:spPr>
              <a:xfrm>
                <a:off x="4163843" y="5102133"/>
                <a:ext cx="64145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𝑚</m:t>
                          </m:r>
                        </m:e>
                        <m:sub>
                          <m:r>
                            <a:rPr lang="en-US" sz="2400" i="1" dirty="0">
                              <a:latin typeface="Cambria Math" panose="02040503050406030204" pitchFamily="18" charset="0"/>
                            </a:rPr>
                            <m:t>5</m:t>
                          </m:r>
                        </m:sub>
                      </m:sSub>
                    </m:oMath>
                  </m:oMathPara>
                </a14:m>
                <a:endParaRPr lang="en-US" sz="2400" baseline="-25000" dirty="0"/>
              </a:p>
            </p:txBody>
          </p:sp>
        </mc:Choice>
        <mc:Fallback xmlns="">
          <p:sp>
            <p:nvSpPr>
              <p:cNvPr id="18" name="TextBox 17">
                <a:extLst>
                  <a:ext uri="{FF2B5EF4-FFF2-40B4-BE49-F238E27FC236}">
                    <a16:creationId xmlns:a16="http://schemas.microsoft.com/office/drawing/2014/main" id="{6B80DE9A-05B7-DA45-8F25-99E0C1CC18A6}"/>
                  </a:ext>
                </a:extLst>
              </p:cNvPr>
              <p:cNvSpPr txBox="1">
                <a:spLocks noRot="1" noChangeAspect="1" noMove="1" noResize="1" noEditPoints="1" noAdjustHandles="1" noChangeArrowheads="1" noChangeShapeType="1" noTextEdit="1"/>
              </p:cNvSpPr>
              <p:nvPr/>
            </p:nvSpPr>
            <p:spPr>
              <a:xfrm>
                <a:off x="4163843" y="5102133"/>
                <a:ext cx="641458" cy="453137"/>
              </a:xfrm>
              <a:prstGeom prst="rect">
                <a:avLst/>
              </a:prstGeom>
              <a:blipFill>
                <a:blip r:embed="rId6"/>
                <a:stretch>
                  <a:fillRect b="-54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364D556-C0E0-5242-92DE-13256043F5EE}"/>
                  </a:ext>
                </a:extLst>
              </p:cNvPr>
              <p:cNvSpPr txBox="1"/>
              <p:nvPr/>
            </p:nvSpPr>
            <p:spPr>
              <a:xfrm>
                <a:off x="5631523" y="5102133"/>
                <a:ext cx="64145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𝑚</m:t>
                          </m:r>
                        </m:e>
                        <m:sub>
                          <m:r>
                            <a:rPr lang="en-US" sz="2400" i="1" dirty="0">
                              <a:latin typeface="Cambria Math" panose="02040503050406030204" pitchFamily="18" charset="0"/>
                            </a:rPr>
                            <m:t>7</m:t>
                          </m:r>
                        </m:sub>
                      </m:sSub>
                    </m:oMath>
                  </m:oMathPara>
                </a14:m>
                <a:endParaRPr lang="en-US" sz="2400" baseline="-25000" dirty="0"/>
              </a:p>
            </p:txBody>
          </p:sp>
        </mc:Choice>
        <mc:Fallback xmlns="">
          <p:sp>
            <p:nvSpPr>
              <p:cNvPr id="19" name="TextBox 18">
                <a:extLst>
                  <a:ext uri="{FF2B5EF4-FFF2-40B4-BE49-F238E27FC236}">
                    <a16:creationId xmlns:a16="http://schemas.microsoft.com/office/drawing/2014/main" id="{F364D556-C0E0-5242-92DE-13256043F5EE}"/>
                  </a:ext>
                </a:extLst>
              </p:cNvPr>
              <p:cNvSpPr txBox="1">
                <a:spLocks noRot="1" noChangeAspect="1" noMove="1" noResize="1" noEditPoints="1" noAdjustHandles="1" noChangeArrowheads="1" noChangeShapeType="1" noTextEdit="1"/>
              </p:cNvSpPr>
              <p:nvPr/>
            </p:nvSpPr>
            <p:spPr>
              <a:xfrm>
                <a:off x="5631523" y="5102133"/>
                <a:ext cx="641458" cy="453137"/>
              </a:xfrm>
              <a:prstGeom prst="rect">
                <a:avLst/>
              </a:prstGeom>
              <a:blipFill>
                <a:blip r:embed="rId7"/>
                <a:stretch>
                  <a:fillRect b="-40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29121DB-D5D2-C74B-93B3-63E5874FA57A}"/>
                  </a:ext>
                </a:extLst>
              </p:cNvPr>
              <p:cNvSpPr txBox="1"/>
              <p:nvPr/>
            </p:nvSpPr>
            <p:spPr>
              <a:xfrm>
                <a:off x="4897683" y="5102133"/>
                <a:ext cx="64145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𝑚</m:t>
                          </m:r>
                        </m:e>
                        <m:sub>
                          <m:r>
                            <a:rPr lang="en-US" sz="2400" i="1" dirty="0">
                              <a:latin typeface="Cambria Math" panose="02040503050406030204" pitchFamily="18" charset="0"/>
                            </a:rPr>
                            <m:t>6</m:t>
                          </m:r>
                        </m:sub>
                      </m:sSub>
                    </m:oMath>
                  </m:oMathPara>
                </a14:m>
                <a:endParaRPr lang="en-US" sz="2400" baseline="-25000" dirty="0"/>
              </a:p>
            </p:txBody>
          </p:sp>
        </mc:Choice>
        <mc:Fallback xmlns="">
          <p:sp>
            <p:nvSpPr>
              <p:cNvPr id="20" name="TextBox 19">
                <a:extLst>
                  <a:ext uri="{FF2B5EF4-FFF2-40B4-BE49-F238E27FC236}">
                    <a16:creationId xmlns:a16="http://schemas.microsoft.com/office/drawing/2014/main" id="{329121DB-D5D2-C74B-93B3-63E5874FA57A}"/>
                  </a:ext>
                </a:extLst>
              </p:cNvPr>
              <p:cNvSpPr txBox="1">
                <a:spLocks noRot="1" noChangeAspect="1" noMove="1" noResize="1" noEditPoints="1" noAdjustHandles="1" noChangeArrowheads="1" noChangeShapeType="1" noTextEdit="1"/>
              </p:cNvSpPr>
              <p:nvPr/>
            </p:nvSpPr>
            <p:spPr>
              <a:xfrm>
                <a:off x="4897683" y="5102133"/>
                <a:ext cx="641458" cy="453137"/>
              </a:xfrm>
              <a:prstGeom prst="rect">
                <a:avLst/>
              </a:prstGeom>
              <a:blipFill>
                <a:blip r:embed="rId8"/>
                <a:stretch>
                  <a:fillRect b="-40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03E7E67-5330-524F-8F01-53F6BEA2B800}"/>
                  </a:ext>
                </a:extLst>
              </p:cNvPr>
              <p:cNvSpPr txBox="1"/>
              <p:nvPr/>
            </p:nvSpPr>
            <p:spPr>
              <a:xfrm>
                <a:off x="6365366" y="5102133"/>
                <a:ext cx="64145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𝑚</m:t>
                          </m:r>
                        </m:e>
                        <m:sub>
                          <m:r>
                            <a:rPr lang="en-US" sz="2400" i="1" dirty="0">
                              <a:latin typeface="Cambria Math" panose="02040503050406030204" pitchFamily="18" charset="0"/>
                            </a:rPr>
                            <m:t>8</m:t>
                          </m:r>
                        </m:sub>
                      </m:sSub>
                    </m:oMath>
                  </m:oMathPara>
                </a14:m>
                <a:endParaRPr lang="en-US" sz="2400" baseline="-25000" dirty="0"/>
              </a:p>
            </p:txBody>
          </p:sp>
        </mc:Choice>
        <mc:Fallback xmlns="">
          <p:sp>
            <p:nvSpPr>
              <p:cNvPr id="21" name="TextBox 20">
                <a:extLst>
                  <a:ext uri="{FF2B5EF4-FFF2-40B4-BE49-F238E27FC236}">
                    <a16:creationId xmlns:a16="http://schemas.microsoft.com/office/drawing/2014/main" id="{E03E7E67-5330-524F-8F01-53F6BEA2B800}"/>
                  </a:ext>
                </a:extLst>
              </p:cNvPr>
              <p:cNvSpPr txBox="1">
                <a:spLocks noRot="1" noChangeAspect="1" noMove="1" noResize="1" noEditPoints="1" noAdjustHandles="1" noChangeArrowheads="1" noChangeShapeType="1" noTextEdit="1"/>
              </p:cNvSpPr>
              <p:nvPr/>
            </p:nvSpPr>
            <p:spPr>
              <a:xfrm>
                <a:off x="6365366" y="5102133"/>
                <a:ext cx="641458" cy="453137"/>
              </a:xfrm>
              <a:prstGeom prst="rect">
                <a:avLst/>
              </a:prstGeom>
              <a:blipFill>
                <a:blip r:embed="rId9"/>
                <a:stretch>
                  <a:fillRect b="-4054"/>
                </a:stretch>
              </a:blipFill>
            </p:spPr>
            <p:txBody>
              <a:bodyPr/>
              <a:lstStyle/>
              <a:p>
                <a:r>
                  <a:rPr lang="zh-CN" altLang="en-US">
                    <a:noFill/>
                  </a:rPr>
                  <a:t> </a:t>
                </a:r>
              </a:p>
            </p:txBody>
          </p:sp>
        </mc:Fallback>
      </mc:AlternateContent>
      <p:sp>
        <p:nvSpPr>
          <p:cNvPr id="22" name="Left Brace 21">
            <a:extLst>
              <a:ext uri="{FF2B5EF4-FFF2-40B4-BE49-F238E27FC236}">
                <a16:creationId xmlns:a16="http://schemas.microsoft.com/office/drawing/2014/main" id="{E6F72BEC-1BC3-7044-B6E1-2C1BF1AEFC31}"/>
              </a:ext>
            </a:extLst>
          </p:cNvPr>
          <p:cNvSpPr/>
          <p:nvPr/>
        </p:nvSpPr>
        <p:spPr>
          <a:xfrm rot="16200000" flipV="1">
            <a:off x="4000574" y="3184662"/>
            <a:ext cx="303981" cy="5644789"/>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23" name="TextBox 22">
            <a:extLst>
              <a:ext uri="{FF2B5EF4-FFF2-40B4-BE49-F238E27FC236}">
                <a16:creationId xmlns:a16="http://schemas.microsoft.com/office/drawing/2014/main" id="{31897994-4A19-3D4B-A3D5-6D456389E049}"/>
              </a:ext>
            </a:extLst>
          </p:cNvPr>
          <p:cNvSpPr txBox="1"/>
          <p:nvPr/>
        </p:nvSpPr>
        <p:spPr>
          <a:xfrm>
            <a:off x="3654435" y="6050562"/>
            <a:ext cx="1415772" cy="461665"/>
          </a:xfrm>
          <a:prstGeom prst="rect">
            <a:avLst/>
          </a:prstGeom>
          <a:noFill/>
        </p:spPr>
        <p:txBody>
          <a:bodyPr wrap="none" rtlCol="0">
            <a:spAutoFit/>
          </a:bodyPr>
          <a:lstStyle/>
          <a:p>
            <a:r>
              <a:rPr lang="zh-CN" altLang="en-US" sz="2400" dirty="0"/>
              <a:t>交易列表</a:t>
            </a:r>
            <a:endParaRPr lang="en-US" sz="2400" dirty="0"/>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3DEE4C1C-887F-8842-95EE-5F54A38BEEE6}"/>
                  </a:ext>
                </a:extLst>
              </p:cNvPr>
              <p:cNvSpPr/>
              <p:nvPr/>
            </p:nvSpPr>
            <p:spPr>
              <a:xfrm>
                <a:off x="4013221" y="1702056"/>
                <a:ext cx="354419" cy="457536"/>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lIns="243840" rtlCol="0" anchor="ctr"/>
              <a:lstStyle/>
              <a:p>
                <a:pPr algn="ct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h</m:t>
                      </m:r>
                    </m:oMath>
                  </m:oMathPara>
                </a14:m>
                <a:endParaRPr lang="en-US" sz="2400" dirty="0"/>
              </a:p>
            </p:txBody>
          </p:sp>
        </mc:Choice>
        <mc:Fallback xmlns="">
          <p:sp>
            <p:nvSpPr>
              <p:cNvPr id="24" name="Rectangle 23">
                <a:extLst>
                  <a:ext uri="{FF2B5EF4-FFF2-40B4-BE49-F238E27FC236}">
                    <a16:creationId xmlns:a16="http://schemas.microsoft.com/office/drawing/2014/main" id="{3DEE4C1C-887F-8842-95EE-5F54A38BEEE6}"/>
                  </a:ext>
                </a:extLst>
              </p:cNvPr>
              <p:cNvSpPr>
                <a:spLocks noRot="1" noChangeAspect="1" noMove="1" noResize="1" noEditPoints="1" noAdjustHandles="1" noChangeArrowheads="1" noChangeShapeType="1" noTextEdit="1"/>
              </p:cNvSpPr>
              <p:nvPr/>
            </p:nvSpPr>
            <p:spPr>
              <a:xfrm>
                <a:off x="4013221" y="1702056"/>
                <a:ext cx="354419" cy="457536"/>
              </a:xfrm>
              <a:prstGeom prst="rect">
                <a:avLst/>
              </a:prstGeom>
              <a:blipFill>
                <a:blip r:embed="rId10"/>
                <a:stretch>
                  <a:fillRect r="-13559"/>
                </a:stretch>
              </a:blipFill>
            </p:spPr>
            <p:txBody>
              <a:bodyPr/>
              <a:lstStyle/>
              <a:p>
                <a:r>
                  <a:rPr lang="zh-CN" altLang="en-US">
                    <a:noFill/>
                  </a:rPr>
                  <a:t> </a:t>
                </a:r>
              </a:p>
            </p:txBody>
          </p:sp>
        </mc:Fallback>
      </mc:AlternateContent>
      <p:sp>
        <p:nvSpPr>
          <p:cNvPr id="25" name="Oval 24">
            <a:extLst>
              <a:ext uri="{FF2B5EF4-FFF2-40B4-BE49-F238E27FC236}">
                <a16:creationId xmlns:a16="http://schemas.microsoft.com/office/drawing/2014/main" id="{025D8A5B-D1FE-3042-AA74-CAE5F9397515}"/>
              </a:ext>
            </a:extLst>
          </p:cNvPr>
          <p:cNvSpPr/>
          <p:nvPr/>
        </p:nvSpPr>
        <p:spPr>
          <a:xfrm>
            <a:off x="1666478" y="4277544"/>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a:t>
            </a:r>
          </a:p>
        </p:txBody>
      </p:sp>
      <p:sp>
        <p:nvSpPr>
          <p:cNvPr id="26" name="Oval 25">
            <a:extLst>
              <a:ext uri="{FF2B5EF4-FFF2-40B4-BE49-F238E27FC236}">
                <a16:creationId xmlns:a16="http://schemas.microsoft.com/office/drawing/2014/main" id="{10EA5555-DD04-944E-88DE-0BCC8C53F6FB}"/>
              </a:ext>
            </a:extLst>
          </p:cNvPr>
          <p:cNvSpPr/>
          <p:nvPr/>
        </p:nvSpPr>
        <p:spPr>
          <a:xfrm>
            <a:off x="3150874" y="4277544"/>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a:t>
            </a:r>
          </a:p>
        </p:txBody>
      </p:sp>
      <p:sp>
        <p:nvSpPr>
          <p:cNvPr id="27" name="Oval 26">
            <a:extLst>
              <a:ext uri="{FF2B5EF4-FFF2-40B4-BE49-F238E27FC236}">
                <a16:creationId xmlns:a16="http://schemas.microsoft.com/office/drawing/2014/main" id="{DF9AF5AB-A50C-B142-8054-FC346FF5B69A}"/>
              </a:ext>
            </a:extLst>
          </p:cNvPr>
          <p:cNvSpPr/>
          <p:nvPr/>
        </p:nvSpPr>
        <p:spPr>
          <a:xfrm>
            <a:off x="4514726" y="4277544"/>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a:t>
            </a:r>
          </a:p>
        </p:txBody>
      </p:sp>
      <p:sp>
        <p:nvSpPr>
          <p:cNvPr id="28" name="Oval 27">
            <a:extLst>
              <a:ext uri="{FF2B5EF4-FFF2-40B4-BE49-F238E27FC236}">
                <a16:creationId xmlns:a16="http://schemas.microsoft.com/office/drawing/2014/main" id="{9418D0F6-1942-7243-B384-202238E4CE14}"/>
              </a:ext>
            </a:extLst>
          </p:cNvPr>
          <p:cNvSpPr/>
          <p:nvPr/>
        </p:nvSpPr>
        <p:spPr>
          <a:xfrm>
            <a:off x="5961230" y="4277544"/>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a:t>
            </a:r>
          </a:p>
        </p:txBody>
      </p:sp>
      <p:sp>
        <p:nvSpPr>
          <p:cNvPr id="29" name="Oval 28">
            <a:extLst>
              <a:ext uri="{FF2B5EF4-FFF2-40B4-BE49-F238E27FC236}">
                <a16:creationId xmlns:a16="http://schemas.microsoft.com/office/drawing/2014/main" id="{67B1EE9E-7514-2244-B126-2797EC097E84}"/>
              </a:ext>
            </a:extLst>
          </p:cNvPr>
          <p:cNvSpPr/>
          <p:nvPr/>
        </p:nvSpPr>
        <p:spPr>
          <a:xfrm>
            <a:off x="2427618" y="3426859"/>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a:t>
            </a:r>
          </a:p>
        </p:txBody>
      </p:sp>
      <p:sp>
        <p:nvSpPr>
          <p:cNvPr id="30" name="Oval 29">
            <a:extLst>
              <a:ext uri="{FF2B5EF4-FFF2-40B4-BE49-F238E27FC236}">
                <a16:creationId xmlns:a16="http://schemas.microsoft.com/office/drawing/2014/main" id="{7FC68765-D986-6B40-B3C9-6BD262F45D7E}"/>
              </a:ext>
            </a:extLst>
          </p:cNvPr>
          <p:cNvSpPr/>
          <p:nvPr/>
        </p:nvSpPr>
        <p:spPr>
          <a:xfrm>
            <a:off x="5258642" y="3426859"/>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a:t>
            </a:r>
          </a:p>
        </p:txBody>
      </p:sp>
      <p:sp>
        <p:nvSpPr>
          <p:cNvPr id="31" name="Oval 30">
            <a:extLst>
              <a:ext uri="{FF2B5EF4-FFF2-40B4-BE49-F238E27FC236}">
                <a16:creationId xmlns:a16="http://schemas.microsoft.com/office/drawing/2014/main" id="{7A770315-86E7-314C-B394-17D6D5522699}"/>
              </a:ext>
            </a:extLst>
          </p:cNvPr>
          <p:cNvSpPr/>
          <p:nvPr/>
        </p:nvSpPr>
        <p:spPr>
          <a:xfrm>
            <a:off x="3832802" y="2703604"/>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a:t>
            </a:r>
          </a:p>
        </p:txBody>
      </p:sp>
      <p:cxnSp>
        <p:nvCxnSpPr>
          <p:cNvPr id="32" name="Straight Arrow Connector 31">
            <a:extLst>
              <a:ext uri="{FF2B5EF4-FFF2-40B4-BE49-F238E27FC236}">
                <a16:creationId xmlns:a16="http://schemas.microsoft.com/office/drawing/2014/main" id="{C66E94F9-68F9-7B43-AEDD-76A744EDF75F}"/>
              </a:ext>
            </a:extLst>
          </p:cNvPr>
          <p:cNvCxnSpPr>
            <a:cxnSpLocks/>
          </p:cNvCxnSpPr>
          <p:nvPr/>
        </p:nvCxnSpPr>
        <p:spPr>
          <a:xfrm flipV="1">
            <a:off x="1600884" y="488279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DD232E8F-F360-7A41-9258-C58C01B24609}"/>
              </a:ext>
            </a:extLst>
          </p:cNvPr>
          <p:cNvCxnSpPr>
            <a:cxnSpLocks/>
          </p:cNvCxnSpPr>
          <p:nvPr/>
        </p:nvCxnSpPr>
        <p:spPr>
          <a:xfrm>
            <a:off x="2134715" y="4879350"/>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9406B47A-69E0-BD4D-9453-C3EFFE3D0BB6}"/>
              </a:ext>
            </a:extLst>
          </p:cNvPr>
          <p:cNvCxnSpPr>
            <a:cxnSpLocks/>
          </p:cNvCxnSpPr>
          <p:nvPr/>
        </p:nvCxnSpPr>
        <p:spPr>
          <a:xfrm flipV="1">
            <a:off x="3085280" y="4900014"/>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C964B3D4-EA74-4B40-A7A3-14CA21A6660B}"/>
              </a:ext>
            </a:extLst>
          </p:cNvPr>
          <p:cNvCxnSpPr>
            <a:cxnSpLocks/>
          </p:cNvCxnSpPr>
          <p:nvPr/>
        </p:nvCxnSpPr>
        <p:spPr>
          <a:xfrm>
            <a:off x="3619111" y="4896571"/>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5910D1EF-4E9D-764B-BE09-670A794F5D4B}"/>
              </a:ext>
            </a:extLst>
          </p:cNvPr>
          <p:cNvCxnSpPr>
            <a:cxnSpLocks/>
          </p:cNvCxnSpPr>
          <p:nvPr/>
        </p:nvCxnSpPr>
        <p:spPr>
          <a:xfrm flipV="1">
            <a:off x="4531787" y="490001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EF0253F5-58AB-F646-ACF9-F16CB8346B22}"/>
              </a:ext>
            </a:extLst>
          </p:cNvPr>
          <p:cNvCxnSpPr>
            <a:cxnSpLocks/>
          </p:cNvCxnSpPr>
          <p:nvPr/>
        </p:nvCxnSpPr>
        <p:spPr>
          <a:xfrm>
            <a:off x="5065617" y="4896570"/>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821C47A0-C2ED-F64A-A46D-9E95DA5A5D67}"/>
              </a:ext>
            </a:extLst>
          </p:cNvPr>
          <p:cNvCxnSpPr>
            <a:cxnSpLocks/>
          </p:cNvCxnSpPr>
          <p:nvPr/>
        </p:nvCxnSpPr>
        <p:spPr>
          <a:xfrm flipV="1">
            <a:off x="5978292" y="4858684"/>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3FBA9FF-4C45-E24B-BE5F-2E0DAD7E6A5D}"/>
              </a:ext>
            </a:extLst>
          </p:cNvPr>
          <p:cNvCxnSpPr>
            <a:cxnSpLocks/>
          </p:cNvCxnSpPr>
          <p:nvPr/>
        </p:nvCxnSpPr>
        <p:spPr>
          <a:xfrm>
            <a:off x="6512123" y="4855242"/>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F97E9FED-178A-6B48-966F-76D81AA8E30A}"/>
              </a:ext>
            </a:extLst>
          </p:cNvPr>
          <p:cNvCxnSpPr>
            <a:cxnSpLocks/>
            <a:stCxn id="25" idx="7"/>
          </p:cNvCxnSpPr>
          <p:nvPr/>
        </p:nvCxnSpPr>
        <p:spPr>
          <a:xfrm flipV="1">
            <a:off x="2190622" y="3928784"/>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7185BFAB-D039-D94B-B4EE-0823678CE03A}"/>
              </a:ext>
            </a:extLst>
          </p:cNvPr>
          <p:cNvCxnSpPr>
            <a:cxnSpLocks/>
          </p:cNvCxnSpPr>
          <p:nvPr/>
        </p:nvCxnSpPr>
        <p:spPr>
          <a:xfrm>
            <a:off x="3013754" y="3949451"/>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7A2FE299-15D9-3E4A-8E11-EFBFA93014C0}"/>
              </a:ext>
            </a:extLst>
          </p:cNvPr>
          <p:cNvCxnSpPr>
            <a:cxnSpLocks/>
          </p:cNvCxnSpPr>
          <p:nvPr/>
        </p:nvCxnSpPr>
        <p:spPr>
          <a:xfrm flipV="1">
            <a:off x="5018202" y="3925340"/>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12BD0BA9-B662-2245-93EF-225A8799D4EA}"/>
              </a:ext>
            </a:extLst>
          </p:cNvPr>
          <p:cNvCxnSpPr>
            <a:cxnSpLocks/>
          </p:cNvCxnSpPr>
          <p:nvPr/>
        </p:nvCxnSpPr>
        <p:spPr>
          <a:xfrm>
            <a:off x="5800006" y="3946007"/>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856F3449-64FE-7041-8A51-55108BF6BA8E}"/>
              </a:ext>
            </a:extLst>
          </p:cNvPr>
          <p:cNvCxnSpPr>
            <a:cxnSpLocks/>
            <a:stCxn id="31" idx="6"/>
          </p:cNvCxnSpPr>
          <p:nvPr/>
        </p:nvCxnSpPr>
        <p:spPr>
          <a:xfrm>
            <a:off x="4446875" y="3021837"/>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2A0CF379-0D5A-E846-A268-3D2F763DE1D7}"/>
              </a:ext>
            </a:extLst>
          </p:cNvPr>
          <p:cNvCxnSpPr>
            <a:cxnSpLocks/>
          </p:cNvCxnSpPr>
          <p:nvPr/>
        </p:nvCxnSpPr>
        <p:spPr>
          <a:xfrm flipH="1">
            <a:off x="2881325" y="3054483"/>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18FA7C89-3C4F-FF4C-A436-EFF5586D0331}"/>
              </a:ext>
            </a:extLst>
          </p:cNvPr>
          <p:cNvCxnSpPr>
            <a:cxnSpLocks/>
          </p:cNvCxnSpPr>
          <p:nvPr/>
        </p:nvCxnSpPr>
        <p:spPr>
          <a:xfrm>
            <a:off x="4193410" y="2222863"/>
            <a:ext cx="1" cy="500319"/>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49" name="Group 48">
            <a:extLst>
              <a:ext uri="{FF2B5EF4-FFF2-40B4-BE49-F238E27FC236}">
                <a16:creationId xmlns:a16="http://schemas.microsoft.com/office/drawing/2014/main" id="{2FF60F1C-20F3-D34D-B907-719F1AC374B2}"/>
              </a:ext>
            </a:extLst>
          </p:cNvPr>
          <p:cNvGrpSpPr/>
          <p:nvPr/>
        </p:nvGrpSpPr>
        <p:grpSpPr>
          <a:xfrm>
            <a:off x="1693353" y="2654865"/>
            <a:ext cx="4675906" cy="1442187"/>
            <a:chOff x="1270014" y="1991148"/>
            <a:chExt cx="3506929" cy="1081640"/>
          </a:xfrm>
        </p:grpSpPr>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A9B0E678-2800-BC4D-ACB6-4560084F2961}"/>
                    </a:ext>
                  </a:extLst>
                </p:cNvPr>
                <p:cNvSpPr txBox="1"/>
                <p:nvPr/>
              </p:nvSpPr>
              <p:spPr>
                <a:xfrm>
                  <a:off x="1270014" y="2677138"/>
                  <a:ext cx="394579" cy="3398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𝑦</m:t>
                        </m:r>
                        <m:r>
                          <a:rPr lang="en-US" sz="2400" i="1" baseline="-25000" dirty="0">
                            <a:latin typeface="Cambria Math" panose="02040503050406030204" pitchFamily="18" charset="0"/>
                          </a:rPr>
                          <m:t>1</m:t>
                        </m:r>
                      </m:oMath>
                    </m:oMathPara>
                  </a14:m>
                  <a:endParaRPr lang="en-US" sz="2400" baseline="-25000" dirty="0"/>
                </a:p>
              </p:txBody>
            </p:sp>
          </mc:Choice>
          <mc:Fallback xmlns="">
            <p:sp>
              <p:nvSpPr>
                <p:cNvPr id="50" name="TextBox 49">
                  <a:extLst>
                    <a:ext uri="{FF2B5EF4-FFF2-40B4-BE49-F238E27FC236}">
                      <a16:creationId xmlns:a16="http://schemas.microsoft.com/office/drawing/2014/main" id="{A9B0E678-2800-BC4D-ACB6-4560084F2961}"/>
                    </a:ext>
                  </a:extLst>
                </p:cNvPr>
                <p:cNvSpPr txBox="1">
                  <a:spLocks noRot="1" noChangeAspect="1" noMove="1" noResize="1" noEditPoints="1" noAdjustHandles="1" noChangeArrowheads="1" noChangeShapeType="1" noTextEdit="1"/>
                </p:cNvSpPr>
                <p:nvPr/>
              </p:nvSpPr>
              <p:spPr>
                <a:xfrm>
                  <a:off x="1270014" y="2677138"/>
                  <a:ext cx="394579" cy="339853"/>
                </a:xfrm>
                <a:prstGeom prst="rect">
                  <a:avLst/>
                </a:prstGeom>
                <a:blipFill>
                  <a:blip r:embed="rId11"/>
                  <a:stretch>
                    <a:fillRect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6096C8D-4DEB-384E-BBE0-005E00C315A6}"/>
                    </a:ext>
                  </a:extLst>
                </p:cNvPr>
                <p:cNvSpPr txBox="1"/>
                <p:nvPr/>
              </p:nvSpPr>
              <p:spPr>
                <a:xfrm>
                  <a:off x="2305819" y="2705552"/>
                  <a:ext cx="409198" cy="3398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2</m:t>
                            </m:r>
                          </m:sub>
                        </m:sSub>
                      </m:oMath>
                    </m:oMathPara>
                  </a14:m>
                  <a:endParaRPr lang="en-US" sz="2400" baseline="-25000" dirty="0"/>
                </a:p>
              </p:txBody>
            </p:sp>
          </mc:Choice>
          <mc:Fallback xmlns="">
            <p:sp>
              <p:nvSpPr>
                <p:cNvPr id="51" name="TextBox 50">
                  <a:extLst>
                    <a:ext uri="{FF2B5EF4-FFF2-40B4-BE49-F238E27FC236}">
                      <a16:creationId xmlns:a16="http://schemas.microsoft.com/office/drawing/2014/main" id="{C6096C8D-4DEB-384E-BBE0-005E00C315A6}"/>
                    </a:ext>
                  </a:extLst>
                </p:cNvPr>
                <p:cNvSpPr txBox="1">
                  <a:spLocks noRot="1" noChangeAspect="1" noMove="1" noResize="1" noEditPoints="1" noAdjustHandles="1" noChangeArrowheads="1" noChangeShapeType="1" noTextEdit="1"/>
                </p:cNvSpPr>
                <p:nvPr/>
              </p:nvSpPr>
              <p:spPr>
                <a:xfrm>
                  <a:off x="2305819" y="2705552"/>
                  <a:ext cx="409198" cy="339853"/>
                </a:xfrm>
                <a:prstGeom prst="rect">
                  <a:avLst/>
                </a:prstGeom>
                <a:blipFill>
                  <a:blip r:embed="rId12"/>
                  <a:stretch>
                    <a:fillRect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9329507-B7A0-1048-A995-911D6A0C8885}"/>
                    </a:ext>
                  </a:extLst>
                </p:cNvPr>
                <p:cNvSpPr txBox="1"/>
                <p:nvPr/>
              </p:nvSpPr>
              <p:spPr>
                <a:xfrm>
                  <a:off x="3419290" y="2720019"/>
                  <a:ext cx="409198" cy="3398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3</m:t>
                            </m:r>
                          </m:sub>
                        </m:sSub>
                      </m:oMath>
                    </m:oMathPara>
                  </a14:m>
                  <a:endParaRPr lang="en-US" sz="2400" baseline="-25000" dirty="0"/>
                </a:p>
              </p:txBody>
            </p:sp>
          </mc:Choice>
          <mc:Fallback xmlns="">
            <p:sp>
              <p:nvSpPr>
                <p:cNvPr id="52" name="TextBox 51">
                  <a:extLst>
                    <a:ext uri="{FF2B5EF4-FFF2-40B4-BE49-F238E27FC236}">
                      <a16:creationId xmlns:a16="http://schemas.microsoft.com/office/drawing/2014/main" id="{19329507-B7A0-1048-A995-911D6A0C8885}"/>
                    </a:ext>
                  </a:extLst>
                </p:cNvPr>
                <p:cNvSpPr txBox="1">
                  <a:spLocks noRot="1" noChangeAspect="1" noMove="1" noResize="1" noEditPoints="1" noAdjustHandles="1" noChangeArrowheads="1" noChangeShapeType="1" noTextEdit="1"/>
                </p:cNvSpPr>
                <p:nvPr/>
              </p:nvSpPr>
              <p:spPr>
                <a:xfrm>
                  <a:off x="3419290" y="2720019"/>
                  <a:ext cx="409198" cy="339853"/>
                </a:xfrm>
                <a:prstGeom prst="rect">
                  <a:avLst/>
                </a:prstGeom>
                <a:blipFill>
                  <a:blip r:embed="rId13"/>
                  <a:stretch>
                    <a:fillRect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1978EED-CA66-4243-8676-F55CB33304D3}"/>
                    </a:ext>
                  </a:extLst>
                </p:cNvPr>
                <p:cNvSpPr txBox="1"/>
                <p:nvPr/>
              </p:nvSpPr>
              <p:spPr>
                <a:xfrm>
                  <a:off x="4377603" y="2732935"/>
                  <a:ext cx="399340" cy="3398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4</m:t>
                            </m:r>
                          </m:sub>
                        </m:sSub>
                      </m:oMath>
                    </m:oMathPara>
                  </a14:m>
                  <a:endParaRPr lang="en-US" sz="2400" baseline="-25000" dirty="0"/>
                </a:p>
              </p:txBody>
            </p:sp>
          </mc:Choice>
          <mc:Fallback xmlns="">
            <p:sp>
              <p:nvSpPr>
                <p:cNvPr id="53" name="TextBox 52">
                  <a:extLst>
                    <a:ext uri="{FF2B5EF4-FFF2-40B4-BE49-F238E27FC236}">
                      <a16:creationId xmlns:a16="http://schemas.microsoft.com/office/drawing/2014/main" id="{11978EED-CA66-4243-8676-F55CB33304D3}"/>
                    </a:ext>
                  </a:extLst>
                </p:cNvPr>
                <p:cNvSpPr txBox="1">
                  <a:spLocks noRot="1" noChangeAspect="1" noMove="1" noResize="1" noEditPoints="1" noAdjustHandles="1" noChangeArrowheads="1" noChangeShapeType="1" noTextEdit="1"/>
                </p:cNvSpPr>
                <p:nvPr/>
              </p:nvSpPr>
              <p:spPr>
                <a:xfrm>
                  <a:off x="4377603" y="2732935"/>
                  <a:ext cx="399340" cy="339853"/>
                </a:xfrm>
                <a:prstGeom prst="rect">
                  <a:avLst/>
                </a:prstGeom>
                <a:blipFill>
                  <a:blip r:embed="rId14"/>
                  <a:stretch>
                    <a:fillRect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C1B97931-D3A9-3248-804E-C143CC336BF9}"/>
                    </a:ext>
                  </a:extLst>
                </p:cNvPr>
                <p:cNvSpPr txBox="1"/>
                <p:nvPr/>
              </p:nvSpPr>
              <p:spPr>
                <a:xfrm>
                  <a:off x="2192172" y="1991148"/>
                  <a:ext cx="409198" cy="3398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5</m:t>
                            </m:r>
                          </m:sub>
                        </m:sSub>
                      </m:oMath>
                    </m:oMathPara>
                  </a14:m>
                  <a:endParaRPr lang="en-US" sz="2400" baseline="-25000" dirty="0"/>
                </a:p>
              </p:txBody>
            </p:sp>
          </mc:Choice>
          <mc:Fallback xmlns="">
            <p:sp>
              <p:nvSpPr>
                <p:cNvPr id="54" name="TextBox 53">
                  <a:extLst>
                    <a:ext uri="{FF2B5EF4-FFF2-40B4-BE49-F238E27FC236}">
                      <a16:creationId xmlns:a16="http://schemas.microsoft.com/office/drawing/2014/main" id="{C1B97931-D3A9-3248-804E-C143CC336BF9}"/>
                    </a:ext>
                  </a:extLst>
                </p:cNvPr>
                <p:cNvSpPr txBox="1">
                  <a:spLocks noRot="1" noChangeAspect="1" noMove="1" noResize="1" noEditPoints="1" noAdjustHandles="1" noChangeArrowheads="1" noChangeShapeType="1" noTextEdit="1"/>
                </p:cNvSpPr>
                <p:nvPr/>
              </p:nvSpPr>
              <p:spPr>
                <a:xfrm>
                  <a:off x="2192172" y="1991148"/>
                  <a:ext cx="409198" cy="339853"/>
                </a:xfrm>
                <a:prstGeom prst="rect">
                  <a:avLst/>
                </a:prstGeom>
                <a:blipFill>
                  <a:blip r:embed="rId15"/>
                  <a:stretch>
                    <a:fillRect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3506A15-BEF3-ED43-9259-0399765E92B5}"/>
                    </a:ext>
                  </a:extLst>
                </p:cNvPr>
                <p:cNvSpPr txBox="1"/>
                <p:nvPr/>
              </p:nvSpPr>
              <p:spPr>
                <a:xfrm>
                  <a:off x="3522552" y="2018512"/>
                  <a:ext cx="409198" cy="3398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6</m:t>
                            </m:r>
                          </m:sub>
                        </m:sSub>
                      </m:oMath>
                    </m:oMathPara>
                  </a14:m>
                  <a:endParaRPr lang="en-US" sz="2400" baseline="-25000" dirty="0"/>
                </a:p>
              </p:txBody>
            </p:sp>
          </mc:Choice>
          <mc:Fallback xmlns="">
            <p:sp>
              <p:nvSpPr>
                <p:cNvPr id="55" name="TextBox 54">
                  <a:extLst>
                    <a:ext uri="{FF2B5EF4-FFF2-40B4-BE49-F238E27FC236}">
                      <a16:creationId xmlns:a16="http://schemas.microsoft.com/office/drawing/2014/main" id="{F3506A15-BEF3-ED43-9259-0399765E92B5}"/>
                    </a:ext>
                  </a:extLst>
                </p:cNvPr>
                <p:cNvSpPr txBox="1">
                  <a:spLocks noRot="1" noChangeAspect="1" noMove="1" noResize="1" noEditPoints="1" noAdjustHandles="1" noChangeArrowheads="1" noChangeShapeType="1" noTextEdit="1"/>
                </p:cNvSpPr>
                <p:nvPr/>
              </p:nvSpPr>
              <p:spPr>
                <a:xfrm>
                  <a:off x="3522552" y="2018512"/>
                  <a:ext cx="409198" cy="339853"/>
                </a:xfrm>
                <a:prstGeom prst="rect">
                  <a:avLst/>
                </a:prstGeom>
                <a:blipFill>
                  <a:blip r:embed="rId16"/>
                  <a:stretch>
                    <a:fillRect b="-13333"/>
                  </a:stretch>
                </a:blipFill>
              </p:spPr>
              <p:txBody>
                <a:bodyPr/>
                <a:lstStyle/>
                <a:p>
                  <a:r>
                    <a:rPr lang="zh-CN" altLang="en-US">
                      <a:noFill/>
                    </a:rPr>
                    <a:t> </a:t>
                  </a:r>
                </a:p>
              </p:txBody>
            </p:sp>
          </mc:Fallback>
        </mc:AlternateContent>
      </p:grpSp>
      <p:grpSp>
        <p:nvGrpSpPr>
          <p:cNvPr id="56" name="Group 55">
            <a:extLst>
              <a:ext uri="{FF2B5EF4-FFF2-40B4-BE49-F238E27FC236}">
                <a16:creationId xmlns:a16="http://schemas.microsoft.com/office/drawing/2014/main" id="{2134C224-E846-5641-9132-F1152FC8DECA}"/>
              </a:ext>
            </a:extLst>
          </p:cNvPr>
          <p:cNvGrpSpPr/>
          <p:nvPr/>
        </p:nvGrpSpPr>
        <p:grpSpPr>
          <a:xfrm>
            <a:off x="833569" y="1650146"/>
            <a:ext cx="2829952" cy="461665"/>
            <a:chOff x="625175" y="1237609"/>
            <a:chExt cx="2122468" cy="346249"/>
          </a:xfrm>
        </p:grpSpPr>
        <p:sp>
          <p:nvSpPr>
            <p:cNvPr id="58" name="TextBox 57">
              <a:extLst>
                <a:ext uri="{FF2B5EF4-FFF2-40B4-BE49-F238E27FC236}">
                  <a16:creationId xmlns:a16="http://schemas.microsoft.com/office/drawing/2014/main" id="{9495CB7B-6FDB-FB4B-B107-62C5CC4DCD06}"/>
                </a:ext>
              </a:extLst>
            </p:cNvPr>
            <p:cNvSpPr txBox="1"/>
            <p:nvPr/>
          </p:nvSpPr>
          <p:spPr>
            <a:xfrm>
              <a:off x="625175" y="1237609"/>
              <a:ext cx="1293864" cy="346249"/>
            </a:xfrm>
            <a:prstGeom prst="rect">
              <a:avLst/>
            </a:prstGeom>
            <a:noFill/>
            <a:ln>
              <a:solidFill>
                <a:schemeClr val="accent1"/>
              </a:solidFill>
            </a:ln>
          </p:spPr>
          <p:txBody>
            <a:bodyPr wrap="none" rtlCol="0">
              <a:spAutoFit/>
            </a:bodyPr>
            <a:lstStyle/>
            <a:p>
              <a:pPr algn="l"/>
              <a:r>
                <a:rPr lang="en-US" sz="2400" dirty="0"/>
                <a:t>M</a:t>
              </a:r>
              <a:r>
                <a:rPr lang="en-US" altLang="zh-CN" sz="2400" dirty="0"/>
                <a:t>erkle root</a:t>
              </a:r>
              <a:endParaRPr lang="en-US" sz="2400" dirty="0"/>
            </a:p>
          </p:txBody>
        </p:sp>
        <p:cxnSp>
          <p:nvCxnSpPr>
            <p:cNvPr id="59" name="Straight Arrow Connector 58">
              <a:extLst>
                <a:ext uri="{FF2B5EF4-FFF2-40B4-BE49-F238E27FC236}">
                  <a16:creationId xmlns:a16="http://schemas.microsoft.com/office/drawing/2014/main" id="{F0863543-2800-E64E-9481-7C7EF922DB17}"/>
                </a:ext>
              </a:extLst>
            </p:cNvPr>
            <p:cNvCxnSpPr>
              <a:cxnSpLocks/>
            </p:cNvCxnSpPr>
            <p:nvPr/>
          </p:nvCxnSpPr>
          <p:spPr>
            <a:xfrm>
              <a:off x="1911759" y="1448118"/>
              <a:ext cx="83588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618578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FD1D0-F27B-C246-9CFB-256892CEA968}"/>
              </a:ext>
            </a:extLst>
          </p:cNvPr>
          <p:cNvSpPr>
            <a:spLocks noGrp="1"/>
          </p:cNvSpPr>
          <p:nvPr>
            <p:ph type="title"/>
          </p:nvPr>
        </p:nvSpPr>
        <p:spPr/>
        <p:txBody>
          <a:bodyPr>
            <a:normAutofit/>
          </a:bodyPr>
          <a:lstStyle/>
          <a:p>
            <a:endParaRPr lang="en-US" sz="2933" dirty="0"/>
          </a:p>
        </p:txBody>
      </p:sp>
      <p:sp>
        <p:nvSpPr>
          <p:cNvPr id="4" name="Rectangle 3">
            <a:extLst>
              <a:ext uri="{FF2B5EF4-FFF2-40B4-BE49-F238E27FC236}">
                <a16:creationId xmlns:a16="http://schemas.microsoft.com/office/drawing/2014/main" id="{FEF1E274-5CBB-CD46-800A-A31AB60BE682}"/>
              </a:ext>
            </a:extLst>
          </p:cNvPr>
          <p:cNvSpPr/>
          <p:nvPr/>
        </p:nvSpPr>
        <p:spPr>
          <a:xfrm>
            <a:off x="2721979" y="5263965"/>
            <a:ext cx="668495"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5" name="Rectangle 4">
            <a:extLst>
              <a:ext uri="{FF2B5EF4-FFF2-40B4-BE49-F238E27FC236}">
                <a16:creationId xmlns:a16="http://schemas.microsoft.com/office/drawing/2014/main" id="{A2C51F39-EA04-CF43-9F08-37F5610BD613}"/>
              </a:ext>
            </a:extLst>
          </p:cNvPr>
          <p:cNvSpPr/>
          <p:nvPr/>
        </p:nvSpPr>
        <p:spPr>
          <a:xfrm>
            <a:off x="1689390" y="3713663"/>
            <a:ext cx="605367"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6" name="Rectangle 5">
            <a:extLst>
              <a:ext uri="{FF2B5EF4-FFF2-40B4-BE49-F238E27FC236}">
                <a16:creationId xmlns:a16="http://schemas.microsoft.com/office/drawing/2014/main" id="{B6AD41E9-8B31-6048-B7CA-CF68668E9EFC}"/>
              </a:ext>
            </a:extLst>
          </p:cNvPr>
          <p:cNvSpPr/>
          <p:nvPr/>
        </p:nvSpPr>
        <p:spPr>
          <a:xfrm>
            <a:off x="4664512" y="2783474"/>
            <a:ext cx="733841"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7" name="Rectangle 6">
            <a:extLst>
              <a:ext uri="{FF2B5EF4-FFF2-40B4-BE49-F238E27FC236}">
                <a16:creationId xmlns:a16="http://schemas.microsoft.com/office/drawing/2014/main" id="{9903D8E0-4E79-0B4C-9DDD-092D6DC1600B}"/>
              </a:ext>
            </a:extLst>
          </p:cNvPr>
          <p:cNvSpPr/>
          <p:nvPr/>
        </p:nvSpPr>
        <p:spPr>
          <a:xfrm>
            <a:off x="3523054" y="5267407"/>
            <a:ext cx="662596" cy="438908"/>
          </a:xfrm>
          <a:prstGeom prst="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5A08BDC-BBF4-044F-823E-CDC1D473DAD5}"/>
                  </a:ext>
                </a:extLst>
              </p:cNvPr>
              <p:cNvSpPr txBox="1"/>
              <p:nvPr/>
            </p:nvSpPr>
            <p:spPr>
              <a:xfrm>
                <a:off x="1262849" y="5102133"/>
                <a:ext cx="61266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𝑚</m:t>
                      </m:r>
                      <m:r>
                        <a:rPr lang="en-US" sz="2400" i="1" baseline="-25000" dirty="0">
                          <a:latin typeface="Cambria Math" panose="02040503050406030204" pitchFamily="18" charset="0"/>
                        </a:rPr>
                        <m:t>1</m:t>
                      </m:r>
                    </m:oMath>
                  </m:oMathPara>
                </a14:m>
                <a:endParaRPr lang="en-US" sz="2400" baseline="-25000" dirty="0"/>
              </a:p>
            </p:txBody>
          </p:sp>
        </mc:Choice>
        <mc:Fallback xmlns="">
          <p:sp>
            <p:nvSpPr>
              <p:cNvPr id="14" name="TextBox 13">
                <a:extLst>
                  <a:ext uri="{FF2B5EF4-FFF2-40B4-BE49-F238E27FC236}">
                    <a16:creationId xmlns:a16="http://schemas.microsoft.com/office/drawing/2014/main" id="{B5A08BDC-BBF4-044F-823E-CDC1D473DAD5}"/>
                  </a:ext>
                </a:extLst>
              </p:cNvPr>
              <p:cNvSpPr txBox="1">
                <a:spLocks noRot="1" noChangeAspect="1" noMove="1" noResize="1" noEditPoints="1" noAdjustHandles="1" noChangeArrowheads="1" noChangeShapeType="1" noTextEdit="1"/>
              </p:cNvSpPr>
              <p:nvPr/>
            </p:nvSpPr>
            <p:spPr>
              <a:xfrm>
                <a:off x="1262849" y="5102133"/>
                <a:ext cx="612668" cy="453137"/>
              </a:xfrm>
              <a:prstGeom prst="rect">
                <a:avLst/>
              </a:prstGeom>
              <a:blipFill>
                <a:blip r:embed="rId2"/>
                <a:stretch>
                  <a:fillRect b="-67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99DDDA3-0190-8547-96E6-65DA34E153B0}"/>
                  </a:ext>
                </a:extLst>
              </p:cNvPr>
              <p:cNvSpPr txBox="1"/>
              <p:nvPr/>
            </p:nvSpPr>
            <p:spPr>
              <a:xfrm>
                <a:off x="1962322" y="5102133"/>
                <a:ext cx="64145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𝑚</m:t>
                          </m:r>
                        </m:e>
                        <m:sub>
                          <m:r>
                            <a:rPr lang="en-US" sz="2400" i="1" dirty="0">
                              <a:latin typeface="Cambria Math" panose="02040503050406030204" pitchFamily="18" charset="0"/>
                            </a:rPr>
                            <m:t>2</m:t>
                          </m:r>
                        </m:sub>
                      </m:sSub>
                    </m:oMath>
                  </m:oMathPara>
                </a14:m>
                <a:endParaRPr lang="en-US" sz="2400" baseline="-25000" dirty="0"/>
              </a:p>
            </p:txBody>
          </p:sp>
        </mc:Choice>
        <mc:Fallback xmlns="">
          <p:sp>
            <p:nvSpPr>
              <p:cNvPr id="15" name="TextBox 14">
                <a:extLst>
                  <a:ext uri="{FF2B5EF4-FFF2-40B4-BE49-F238E27FC236}">
                    <a16:creationId xmlns:a16="http://schemas.microsoft.com/office/drawing/2014/main" id="{099DDDA3-0190-8547-96E6-65DA34E153B0}"/>
                  </a:ext>
                </a:extLst>
              </p:cNvPr>
              <p:cNvSpPr txBox="1">
                <a:spLocks noRot="1" noChangeAspect="1" noMove="1" noResize="1" noEditPoints="1" noAdjustHandles="1" noChangeArrowheads="1" noChangeShapeType="1" noTextEdit="1"/>
              </p:cNvSpPr>
              <p:nvPr/>
            </p:nvSpPr>
            <p:spPr>
              <a:xfrm>
                <a:off x="1962322" y="5102133"/>
                <a:ext cx="641458" cy="453137"/>
              </a:xfrm>
              <a:prstGeom prst="rect">
                <a:avLst/>
              </a:prstGeom>
              <a:blipFill>
                <a:blip r:embed="rId3"/>
                <a:stretch>
                  <a:fillRect b="-40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BBE33CA-F160-BC47-A516-07D39356FA35}"/>
                  </a:ext>
                </a:extLst>
              </p:cNvPr>
              <p:cNvSpPr txBox="1"/>
              <p:nvPr/>
            </p:nvSpPr>
            <p:spPr>
              <a:xfrm>
                <a:off x="2696162" y="5102133"/>
                <a:ext cx="64145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𝑚</m:t>
                          </m:r>
                        </m:e>
                        <m:sub>
                          <m:r>
                            <a:rPr lang="en-US" sz="2400" i="1" dirty="0">
                              <a:latin typeface="Cambria Math" panose="02040503050406030204" pitchFamily="18" charset="0"/>
                            </a:rPr>
                            <m:t>3</m:t>
                          </m:r>
                        </m:sub>
                      </m:sSub>
                    </m:oMath>
                  </m:oMathPara>
                </a14:m>
                <a:endParaRPr lang="en-US" sz="2400" baseline="-25000" dirty="0"/>
              </a:p>
            </p:txBody>
          </p:sp>
        </mc:Choice>
        <mc:Fallback xmlns="">
          <p:sp>
            <p:nvSpPr>
              <p:cNvPr id="16" name="TextBox 15">
                <a:extLst>
                  <a:ext uri="{FF2B5EF4-FFF2-40B4-BE49-F238E27FC236}">
                    <a16:creationId xmlns:a16="http://schemas.microsoft.com/office/drawing/2014/main" id="{6BBE33CA-F160-BC47-A516-07D39356FA35}"/>
                  </a:ext>
                </a:extLst>
              </p:cNvPr>
              <p:cNvSpPr txBox="1">
                <a:spLocks noRot="1" noChangeAspect="1" noMove="1" noResize="1" noEditPoints="1" noAdjustHandles="1" noChangeArrowheads="1" noChangeShapeType="1" noTextEdit="1"/>
              </p:cNvSpPr>
              <p:nvPr/>
            </p:nvSpPr>
            <p:spPr>
              <a:xfrm>
                <a:off x="2696162" y="5102133"/>
                <a:ext cx="641458" cy="453137"/>
              </a:xfrm>
              <a:prstGeom prst="rect">
                <a:avLst/>
              </a:prstGeom>
              <a:blipFill>
                <a:blip r:embed="rId4"/>
                <a:stretch>
                  <a:fillRect b="-40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21D768E-12D3-1849-9661-E9CC0D9CB014}"/>
                  </a:ext>
                </a:extLst>
              </p:cNvPr>
              <p:cNvSpPr txBox="1"/>
              <p:nvPr/>
            </p:nvSpPr>
            <p:spPr>
              <a:xfrm>
                <a:off x="3430002" y="5102133"/>
                <a:ext cx="64145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𝑚</m:t>
                          </m:r>
                        </m:e>
                        <m:sub>
                          <m:r>
                            <a:rPr lang="en-US" sz="2400" i="1" dirty="0">
                              <a:latin typeface="Cambria Math" panose="02040503050406030204" pitchFamily="18" charset="0"/>
                            </a:rPr>
                            <m:t>4</m:t>
                          </m:r>
                        </m:sub>
                      </m:sSub>
                    </m:oMath>
                  </m:oMathPara>
                </a14:m>
                <a:endParaRPr lang="en-US" sz="2400" baseline="-25000" dirty="0"/>
              </a:p>
            </p:txBody>
          </p:sp>
        </mc:Choice>
        <mc:Fallback xmlns="">
          <p:sp>
            <p:nvSpPr>
              <p:cNvPr id="17" name="TextBox 16">
                <a:extLst>
                  <a:ext uri="{FF2B5EF4-FFF2-40B4-BE49-F238E27FC236}">
                    <a16:creationId xmlns:a16="http://schemas.microsoft.com/office/drawing/2014/main" id="{A21D768E-12D3-1849-9661-E9CC0D9CB014}"/>
                  </a:ext>
                </a:extLst>
              </p:cNvPr>
              <p:cNvSpPr txBox="1">
                <a:spLocks noRot="1" noChangeAspect="1" noMove="1" noResize="1" noEditPoints="1" noAdjustHandles="1" noChangeArrowheads="1" noChangeShapeType="1" noTextEdit="1"/>
              </p:cNvSpPr>
              <p:nvPr/>
            </p:nvSpPr>
            <p:spPr>
              <a:xfrm>
                <a:off x="3430002" y="5102133"/>
                <a:ext cx="641458" cy="453137"/>
              </a:xfrm>
              <a:prstGeom prst="rect">
                <a:avLst/>
              </a:prstGeom>
              <a:blipFill>
                <a:blip r:embed="rId5"/>
                <a:stretch>
                  <a:fillRect b="-40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B80DE9A-05B7-DA45-8F25-99E0C1CC18A6}"/>
                  </a:ext>
                </a:extLst>
              </p:cNvPr>
              <p:cNvSpPr txBox="1"/>
              <p:nvPr/>
            </p:nvSpPr>
            <p:spPr>
              <a:xfrm>
                <a:off x="4163843" y="5102133"/>
                <a:ext cx="64145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𝑚</m:t>
                          </m:r>
                        </m:e>
                        <m:sub>
                          <m:r>
                            <a:rPr lang="en-US" sz="2400" i="1" dirty="0">
                              <a:latin typeface="Cambria Math" panose="02040503050406030204" pitchFamily="18" charset="0"/>
                            </a:rPr>
                            <m:t>5</m:t>
                          </m:r>
                        </m:sub>
                      </m:sSub>
                    </m:oMath>
                  </m:oMathPara>
                </a14:m>
                <a:endParaRPr lang="en-US" sz="2400" baseline="-25000" dirty="0"/>
              </a:p>
            </p:txBody>
          </p:sp>
        </mc:Choice>
        <mc:Fallback xmlns="">
          <p:sp>
            <p:nvSpPr>
              <p:cNvPr id="18" name="TextBox 17">
                <a:extLst>
                  <a:ext uri="{FF2B5EF4-FFF2-40B4-BE49-F238E27FC236}">
                    <a16:creationId xmlns:a16="http://schemas.microsoft.com/office/drawing/2014/main" id="{6B80DE9A-05B7-DA45-8F25-99E0C1CC18A6}"/>
                  </a:ext>
                </a:extLst>
              </p:cNvPr>
              <p:cNvSpPr txBox="1">
                <a:spLocks noRot="1" noChangeAspect="1" noMove="1" noResize="1" noEditPoints="1" noAdjustHandles="1" noChangeArrowheads="1" noChangeShapeType="1" noTextEdit="1"/>
              </p:cNvSpPr>
              <p:nvPr/>
            </p:nvSpPr>
            <p:spPr>
              <a:xfrm>
                <a:off x="4163843" y="5102133"/>
                <a:ext cx="641458" cy="453137"/>
              </a:xfrm>
              <a:prstGeom prst="rect">
                <a:avLst/>
              </a:prstGeom>
              <a:blipFill>
                <a:blip r:embed="rId6"/>
                <a:stretch>
                  <a:fillRect b="-54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364D556-C0E0-5242-92DE-13256043F5EE}"/>
                  </a:ext>
                </a:extLst>
              </p:cNvPr>
              <p:cNvSpPr txBox="1"/>
              <p:nvPr/>
            </p:nvSpPr>
            <p:spPr>
              <a:xfrm>
                <a:off x="5631523" y="5102133"/>
                <a:ext cx="64145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𝑚</m:t>
                          </m:r>
                        </m:e>
                        <m:sub>
                          <m:r>
                            <a:rPr lang="en-US" sz="2400" i="1" dirty="0">
                              <a:latin typeface="Cambria Math" panose="02040503050406030204" pitchFamily="18" charset="0"/>
                            </a:rPr>
                            <m:t>7</m:t>
                          </m:r>
                        </m:sub>
                      </m:sSub>
                    </m:oMath>
                  </m:oMathPara>
                </a14:m>
                <a:endParaRPr lang="en-US" sz="2400" baseline="-25000" dirty="0"/>
              </a:p>
            </p:txBody>
          </p:sp>
        </mc:Choice>
        <mc:Fallback xmlns="">
          <p:sp>
            <p:nvSpPr>
              <p:cNvPr id="19" name="TextBox 18">
                <a:extLst>
                  <a:ext uri="{FF2B5EF4-FFF2-40B4-BE49-F238E27FC236}">
                    <a16:creationId xmlns:a16="http://schemas.microsoft.com/office/drawing/2014/main" id="{F364D556-C0E0-5242-92DE-13256043F5EE}"/>
                  </a:ext>
                </a:extLst>
              </p:cNvPr>
              <p:cNvSpPr txBox="1">
                <a:spLocks noRot="1" noChangeAspect="1" noMove="1" noResize="1" noEditPoints="1" noAdjustHandles="1" noChangeArrowheads="1" noChangeShapeType="1" noTextEdit="1"/>
              </p:cNvSpPr>
              <p:nvPr/>
            </p:nvSpPr>
            <p:spPr>
              <a:xfrm>
                <a:off x="5631523" y="5102133"/>
                <a:ext cx="641458" cy="453137"/>
              </a:xfrm>
              <a:prstGeom prst="rect">
                <a:avLst/>
              </a:prstGeom>
              <a:blipFill>
                <a:blip r:embed="rId7"/>
                <a:stretch>
                  <a:fillRect b="-40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29121DB-D5D2-C74B-93B3-63E5874FA57A}"/>
                  </a:ext>
                </a:extLst>
              </p:cNvPr>
              <p:cNvSpPr txBox="1"/>
              <p:nvPr/>
            </p:nvSpPr>
            <p:spPr>
              <a:xfrm>
                <a:off x="4897683" y="5102133"/>
                <a:ext cx="64145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𝑚</m:t>
                          </m:r>
                        </m:e>
                        <m:sub>
                          <m:r>
                            <a:rPr lang="en-US" sz="2400" i="1" dirty="0">
                              <a:latin typeface="Cambria Math" panose="02040503050406030204" pitchFamily="18" charset="0"/>
                            </a:rPr>
                            <m:t>6</m:t>
                          </m:r>
                        </m:sub>
                      </m:sSub>
                    </m:oMath>
                  </m:oMathPara>
                </a14:m>
                <a:endParaRPr lang="en-US" sz="2400" baseline="-25000" dirty="0"/>
              </a:p>
            </p:txBody>
          </p:sp>
        </mc:Choice>
        <mc:Fallback xmlns="">
          <p:sp>
            <p:nvSpPr>
              <p:cNvPr id="20" name="TextBox 19">
                <a:extLst>
                  <a:ext uri="{FF2B5EF4-FFF2-40B4-BE49-F238E27FC236}">
                    <a16:creationId xmlns:a16="http://schemas.microsoft.com/office/drawing/2014/main" id="{329121DB-D5D2-C74B-93B3-63E5874FA57A}"/>
                  </a:ext>
                </a:extLst>
              </p:cNvPr>
              <p:cNvSpPr txBox="1">
                <a:spLocks noRot="1" noChangeAspect="1" noMove="1" noResize="1" noEditPoints="1" noAdjustHandles="1" noChangeArrowheads="1" noChangeShapeType="1" noTextEdit="1"/>
              </p:cNvSpPr>
              <p:nvPr/>
            </p:nvSpPr>
            <p:spPr>
              <a:xfrm>
                <a:off x="4897683" y="5102133"/>
                <a:ext cx="641458" cy="453137"/>
              </a:xfrm>
              <a:prstGeom prst="rect">
                <a:avLst/>
              </a:prstGeom>
              <a:blipFill>
                <a:blip r:embed="rId8"/>
                <a:stretch>
                  <a:fillRect b="-40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03E7E67-5330-524F-8F01-53F6BEA2B800}"/>
                  </a:ext>
                </a:extLst>
              </p:cNvPr>
              <p:cNvSpPr txBox="1"/>
              <p:nvPr/>
            </p:nvSpPr>
            <p:spPr>
              <a:xfrm>
                <a:off x="6365366" y="5102133"/>
                <a:ext cx="64145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𝑚</m:t>
                          </m:r>
                        </m:e>
                        <m:sub>
                          <m:r>
                            <a:rPr lang="en-US" sz="2400" i="1" dirty="0">
                              <a:latin typeface="Cambria Math" panose="02040503050406030204" pitchFamily="18" charset="0"/>
                            </a:rPr>
                            <m:t>8</m:t>
                          </m:r>
                        </m:sub>
                      </m:sSub>
                    </m:oMath>
                  </m:oMathPara>
                </a14:m>
                <a:endParaRPr lang="en-US" sz="2400" baseline="-25000" dirty="0"/>
              </a:p>
            </p:txBody>
          </p:sp>
        </mc:Choice>
        <mc:Fallback xmlns="">
          <p:sp>
            <p:nvSpPr>
              <p:cNvPr id="21" name="TextBox 20">
                <a:extLst>
                  <a:ext uri="{FF2B5EF4-FFF2-40B4-BE49-F238E27FC236}">
                    <a16:creationId xmlns:a16="http://schemas.microsoft.com/office/drawing/2014/main" id="{E03E7E67-5330-524F-8F01-53F6BEA2B800}"/>
                  </a:ext>
                </a:extLst>
              </p:cNvPr>
              <p:cNvSpPr txBox="1">
                <a:spLocks noRot="1" noChangeAspect="1" noMove="1" noResize="1" noEditPoints="1" noAdjustHandles="1" noChangeArrowheads="1" noChangeShapeType="1" noTextEdit="1"/>
              </p:cNvSpPr>
              <p:nvPr/>
            </p:nvSpPr>
            <p:spPr>
              <a:xfrm>
                <a:off x="6365366" y="5102133"/>
                <a:ext cx="641458" cy="453137"/>
              </a:xfrm>
              <a:prstGeom prst="rect">
                <a:avLst/>
              </a:prstGeom>
              <a:blipFill>
                <a:blip r:embed="rId9"/>
                <a:stretch>
                  <a:fillRect b="-4054"/>
                </a:stretch>
              </a:blipFill>
            </p:spPr>
            <p:txBody>
              <a:bodyPr/>
              <a:lstStyle/>
              <a:p>
                <a:r>
                  <a:rPr lang="zh-CN" altLang="en-US">
                    <a:noFill/>
                  </a:rPr>
                  <a:t> </a:t>
                </a:r>
              </a:p>
            </p:txBody>
          </p:sp>
        </mc:Fallback>
      </mc:AlternateContent>
      <p:sp>
        <p:nvSpPr>
          <p:cNvPr id="22" name="Left Brace 21">
            <a:extLst>
              <a:ext uri="{FF2B5EF4-FFF2-40B4-BE49-F238E27FC236}">
                <a16:creationId xmlns:a16="http://schemas.microsoft.com/office/drawing/2014/main" id="{E6F72BEC-1BC3-7044-B6E1-2C1BF1AEFC31}"/>
              </a:ext>
            </a:extLst>
          </p:cNvPr>
          <p:cNvSpPr/>
          <p:nvPr/>
        </p:nvSpPr>
        <p:spPr>
          <a:xfrm rot="16200000" flipV="1">
            <a:off x="4000574" y="3184662"/>
            <a:ext cx="303981" cy="5644789"/>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3DEE4C1C-887F-8842-95EE-5F54A38BEEE6}"/>
                  </a:ext>
                </a:extLst>
              </p:cNvPr>
              <p:cNvSpPr/>
              <p:nvPr/>
            </p:nvSpPr>
            <p:spPr>
              <a:xfrm>
                <a:off x="4013221" y="1702056"/>
                <a:ext cx="354419" cy="457536"/>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lIns="243840" rtlCol="0" anchor="ctr"/>
              <a:lstStyle/>
              <a:p>
                <a:pPr algn="ct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h</m:t>
                      </m:r>
                    </m:oMath>
                  </m:oMathPara>
                </a14:m>
                <a:endParaRPr lang="en-US" sz="2400" dirty="0"/>
              </a:p>
            </p:txBody>
          </p:sp>
        </mc:Choice>
        <mc:Fallback xmlns="">
          <p:sp>
            <p:nvSpPr>
              <p:cNvPr id="24" name="Rectangle 23">
                <a:extLst>
                  <a:ext uri="{FF2B5EF4-FFF2-40B4-BE49-F238E27FC236}">
                    <a16:creationId xmlns:a16="http://schemas.microsoft.com/office/drawing/2014/main" id="{3DEE4C1C-887F-8842-95EE-5F54A38BEEE6}"/>
                  </a:ext>
                </a:extLst>
              </p:cNvPr>
              <p:cNvSpPr>
                <a:spLocks noRot="1" noChangeAspect="1" noMove="1" noResize="1" noEditPoints="1" noAdjustHandles="1" noChangeArrowheads="1" noChangeShapeType="1" noTextEdit="1"/>
              </p:cNvSpPr>
              <p:nvPr/>
            </p:nvSpPr>
            <p:spPr>
              <a:xfrm>
                <a:off x="4013221" y="1702056"/>
                <a:ext cx="354419" cy="457536"/>
              </a:xfrm>
              <a:prstGeom prst="rect">
                <a:avLst/>
              </a:prstGeom>
              <a:blipFill>
                <a:blip r:embed="rId10"/>
                <a:stretch>
                  <a:fillRect r="-13559"/>
                </a:stretch>
              </a:blipFill>
            </p:spPr>
            <p:txBody>
              <a:bodyPr/>
              <a:lstStyle/>
              <a:p>
                <a:r>
                  <a:rPr lang="zh-CN" altLang="en-US">
                    <a:noFill/>
                  </a:rPr>
                  <a:t> </a:t>
                </a:r>
              </a:p>
            </p:txBody>
          </p:sp>
        </mc:Fallback>
      </mc:AlternateContent>
      <p:sp>
        <p:nvSpPr>
          <p:cNvPr id="25" name="Oval 24">
            <a:extLst>
              <a:ext uri="{FF2B5EF4-FFF2-40B4-BE49-F238E27FC236}">
                <a16:creationId xmlns:a16="http://schemas.microsoft.com/office/drawing/2014/main" id="{025D8A5B-D1FE-3042-AA74-CAE5F9397515}"/>
              </a:ext>
            </a:extLst>
          </p:cNvPr>
          <p:cNvSpPr/>
          <p:nvPr/>
        </p:nvSpPr>
        <p:spPr>
          <a:xfrm>
            <a:off x="1666478" y="4277544"/>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a:t>
            </a:r>
          </a:p>
        </p:txBody>
      </p:sp>
      <p:sp>
        <p:nvSpPr>
          <p:cNvPr id="26" name="Oval 25">
            <a:extLst>
              <a:ext uri="{FF2B5EF4-FFF2-40B4-BE49-F238E27FC236}">
                <a16:creationId xmlns:a16="http://schemas.microsoft.com/office/drawing/2014/main" id="{10EA5555-DD04-944E-88DE-0BCC8C53F6FB}"/>
              </a:ext>
            </a:extLst>
          </p:cNvPr>
          <p:cNvSpPr/>
          <p:nvPr/>
        </p:nvSpPr>
        <p:spPr>
          <a:xfrm>
            <a:off x="3150874" y="4277544"/>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a:t>
            </a:r>
          </a:p>
        </p:txBody>
      </p:sp>
      <p:sp>
        <p:nvSpPr>
          <p:cNvPr id="27" name="Oval 26">
            <a:extLst>
              <a:ext uri="{FF2B5EF4-FFF2-40B4-BE49-F238E27FC236}">
                <a16:creationId xmlns:a16="http://schemas.microsoft.com/office/drawing/2014/main" id="{DF9AF5AB-A50C-B142-8054-FC346FF5B69A}"/>
              </a:ext>
            </a:extLst>
          </p:cNvPr>
          <p:cNvSpPr/>
          <p:nvPr/>
        </p:nvSpPr>
        <p:spPr>
          <a:xfrm>
            <a:off x="4514726" y="4277544"/>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a:t>
            </a:r>
          </a:p>
        </p:txBody>
      </p:sp>
      <p:sp>
        <p:nvSpPr>
          <p:cNvPr id="28" name="Oval 27">
            <a:extLst>
              <a:ext uri="{FF2B5EF4-FFF2-40B4-BE49-F238E27FC236}">
                <a16:creationId xmlns:a16="http://schemas.microsoft.com/office/drawing/2014/main" id="{9418D0F6-1942-7243-B384-202238E4CE14}"/>
              </a:ext>
            </a:extLst>
          </p:cNvPr>
          <p:cNvSpPr/>
          <p:nvPr/>
        </p:nvSpPr>
        <p:spPr>
          <a:xfrm>
            <a:off x="5961230" y="4277544"/>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a:t>
            </a:r>
          </a:p>
        </p:txBody>
      </p:sp>
      <p:sp>
        <p:nvSpPr>
          <p:cNvPr id="29" name="Oval 28">
            <a:extLst>
              <a:ext uri="{FF2B5EF4-FFF2-40B4-BE49-F238E27FC236}">
                <a16:creationId xmlns:a16="http://schemas.microsoft.com/office/drawing/2014/main" id="{67B1EE9E-7514-2244-B126-2797EC097E84}"/>
              </a:ext>
            </a:extLst>
          </p:cNvPr>
          <p:cNvSpPr/>
          <p:nvPr/>
        </p:nvSpPr>
        <p:spPr>
          <a:xfrm>
            <a:off x="2427618" y="3426859"/>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a:t>
            </a:r>
          </a:p>
        </p:txBody>
      </p:sp>
      <p:sp>
        <p:nvSpPr>
          <p:cNvPr id="30" name="Oval 29">
            <a:extLst>
              <a:ext uri="{FF2B5EF4-FFF2-40B4-BE49-F238E27FC236}">
                <a16:creationId xmlns:a16="http://schemas.microsoft.com/office/drawing/2014/main" id="{7FC68765-D986-6B40-B3C9-6BD262F45D7E}"/>
              </a:ext>
            </a:extLst>
          </p:cNvPr>
          <p:cNvSpPr/>
          <p:nvPr/>
        </p:nvSpPr>
        <p:spPr>
          <a:xfrm>
            <a:off x="5258642" y="3426859"/>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a:t>
            </a:r>
          </a:p>
        </p:txBody>
      </p:sp>
      <p:sp>
        <p:nvSpPr>
          <p:cNvPr id="31" name="Oval 30">
            <a:extLst>
              <a:ext uri="{FF2B5EF4-FFF2-40B4-BE49-F238E27FC236}">
                <a16:creationId xmlns:a16="http://schemas.microsoft.com/office/drawing/2014/main" id="{7A770315-86E7-314C-B394-17D6D5522699}"/>
              </a:ext>
            </a:extLst>
          </p:cNvPr>
          <p:cNvSpPr/>
          <p:nvPr/>
        </p:nvSpPr>
        <p:spPr>
          <a:xfrm>
            <a:off x="3832802" y="2703604"/>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a:t>
            </a:r>
          </a:p>
        </p:txBody>
      </p:sp>
      <p:cxnSp>
        <p:nvCxnSpPr>
          <p:cNvPr id="32" name="Straight Arrow Connector 31">
            <a:extLst>
              <a:ext uri="{FF2B5EF4-FFF2-40B4-BE49-F238E27FC236}">
                <a16:creationId xmlns:a16="http://schemas.microsoft.com/office/drawing/2014/main" id="{C66E94F9-68F9-7B43-AEDD-76A744EDF75F}"/>
              </a:ext>
            </a:extLst>
          </p:cNvPr>
          <p:cNvCxnSpPr>
            <a:cxnSpLocks/>
          </p:cNvCxnSpPr>
          <p:nvPr/>
        </p:nvCxnSpPr>
        <p:spPr>
          <a:xfrm flipV="1">
            <a:off x="1600884" y="488279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DD232E8F-F360-7A41-9258-C58C01B24609}"/>
              </a:ext>
            </a:extLst>
          </p:cNvPr>
          <p:cNvCxnSpPr>
            <a:cxnSpLocks/>
          </p:cNvCxnSpPr>
          <p:nvPr/>
        </p:nvCxnSpPr>
        <p:spPr>
          <a:xfrm>
            <a:off x="2134715" y="4879350"/>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9406B47A-69E0-BD4D-9453-C3EFFE3D0BB6}"/>
              </a:ext>
            </a:extLst>
          </p:cNvPr>
          <p:cNvCxnSpPr>
            <a:cxnSpLocks/>
          </p:cNvCxnSpPr>
          <p:nvPr/>
        </p:nvCxnSpPr>
        <p:spPr>
          <a:xfrm flipV="1">
            <a:off x="3085280" y="4900014"/>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C964B3D4-EA74-4B40-A7A3-14CA21A6660B}"/>
              </a:ext>
            </a:extLst>
          </p:cNvPr>
          <p:cNvCxnSpPr>
            <a:cxnSpLocks/>
          </p:cNvCxnSpPr>
          <p:nvPr/>
        </p:nvCxnSpPr>
        <p:spPr>
          <a:xfrm>
            <a:off x="3619111" y="4896571"/>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5910D1EF-4E9D-764B-BE09-670A794F5D4B}"/>
              </a:ext>
            </a:extLst>
          </p:cNvPr>
          <p:cNvCxnSpPr>
            <a:cxnSpLocks/>
          </p:cNvCxnSpPr>
          <p:nvPr/>
        </p:nvCxnSpPr>
        <p:spPr>
          <a:xfrm flipV="1">
            <a:off x="4531787" y="490001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EF0253F5-58AB-F646-ACF9-F16CB8346B22}"/>
              </a:ext>
            </a:extLst>
          </p:cNvPr>
          <p:cNvCxnSpPr>
            <a:cxnSpLocks/>
          </p:cNvCxnSpPr>
          <p:nvPr/>
        </p:nvCxnSpPr>
        <p:spPr>
          <a:xfrm>
            <a:off x="5065617" y="4896570"/>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821C47A0-C2ED-F64A-A46D-9E95DA5A5D67}"/>
              </a:ext>
            </a:extLst>
          </p:cNvPr>
          <p:cNvCxnSpPr>
            <a:cxnSpLocks/>
          </p:cNvCxnSpPr>
          <p:nvPr/>
        </p:nvCxnSpPr>
        <p:spPr>
          <a:xfrm flipV="1">
            <a:off x="5978292" y="4858684"/>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3FBA9FF-4C45-E24B-BE5F-2E0DAD7E6A5D}"/>
              </a:ext>
            </a:extLst>
          </p:cNvPr>
          <p:cNvCxnSpPr>
            <a:cxnSpLocks/>
          </p:cNvCxnSpPr>
          <p:nvPr/>
        </p:nvCxnSpPr>
        <p:spPr>
          <a:xfrm>
            <a:off x="6512123" y="4855242"/>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F97E9FED-178A-6B48-966F-76D81AA8E30A}"/>
              </a:ext>
            </a:extLst>
          </p:cNvPr>
          <p:cNvCxnSpPr>
            <a:cxnSpLocks/>
            <a:stCxn id="25" idx="7"/>
          </p:cNvCxnSpPr>
          <p:nvPr/>
        </p:nvCxnSpPr>
        <p:spPr>
          <a:xfrm flipV="1">
            <a:off x="2190622" y="3928784"/>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7185BFAB-D039-D94B-B4EE-0823678CE03A}"/>
              </a:ext>
            </a:extLst>
          </p:cNvPr>
          <p:cNvCxnSpPr>
            <a:cxnSpLocks/>
          </p:cNvCxnSpPr>
          <p:nvPr/>
        </p:nvCxnSpPr>
        <p:spPr>
          <a:xfrm>
            <a:off x="3013754" y="3949451"/>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7A2FE299-15D9-3E4A-8E11-EFBFA93014C0}"/>
              </a:ext>
            </a:extLst>
          </p:cNvPr>
          <p:cNvCxnSpPr>
            <a:cxnSpLocks/>
          </p:cNvCxnSpPr>
          <p:nvPr/>
        </p:nvCxnSpPr>
        <p:spPr>
          <a:xfrm flipV="1">
            <a:off x="5018202" y="3925340"/>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12BD0BA9-B662-2245-93EF-225A8799D4EA}"/>
              </a:ext>
            </a:extLst>
          </p:cNvPr>
          <p:cNvCxnSpPr>
            <a:cxnSpLocks/>
          </p:cNvCxnSpPr>
          <p:nvPr/>
        </p:nvCxnSpPr>
        <p:spPr>
          <a:xfrm>
            <a:off x="5800006" y="3946007"/>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856F3449-64FE-7041-8A51-55108BF6BA8E}"/>
              </a:ext>
            </a:extLst>
          </p:cNvPr>
          <p:cNvCxnSpPr>
            <a:cxnSpLocks/>
            <a:stCxn id="31" idx="6"/>
          </p:cNvCxnSpPr>
          <p:nvPr/>
        </p:nvCxnSpPr>
        <p:spPr>
          <a:xfrm>
            <a:off x="4446875" y="3021837"/>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2A0CF379-0D5A-E846-A268-3D2F763DE1D7}"/>
              </a:ext>
            </a:extLst>
          </p:cNvPr>
          <p:cNvCxnSpPr>
            <a:cxnSpLocks/>
          </p:cNvCxnSpPr>
          <p:nvPr/>
        </p:nvCxnSpPr>
        <p:spPr>
          <a:xfrm flipH="1">
            <a:off x="2881325" y="3054483"/>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18FA7C89-3C4F-FF4C-A436-EFF5586D0331}"/>
              </a:ext>
            </a:extLst>
          </p:cNvPr>
          <p:cNvCxnSpPr>
            <a:cxnSpLocks/>
          </p:cNvCxnSpPr>
          <p:nvPr/>
        </p:nvCxnSpPr>
        <p:spPr>
          <a:xfrm>
            <a:off x="4193410" y="2222863"/>
            <a:ext cx="1" cy="500319"/>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3D7579D9-5B84-F941-88F1-B93E776B77DF}"/>
                  </a:ext>
                </a:extLst>
              </p:cNvPr>
              <p:cNvSpPr txBox="1"/>
              <p:nvPr/>
            </p:nvSpPr>
            <p:spPr>
              <a:xfrm>
                <a:off x="7149041" y="1583600"/>
                <a:ext cx="4057265" cy="1001300"/>
              </a:xfrm>
              <a:prstGeom prst="rect">
                <a:avLst/>
              </a:prstGeom>
              <a:noFill/>
              <a:ln>
                <a:solidFill>
                  <a:srgbClr val="96060B"/>
                </a:solidFill>
              </a:ln>
            </p:spPr>
            <p:txBody>
              <a:bodyPr wrap="none" rtlCol="0">
                <a:spAutoFit/>
              </a:bodyPr>
              <a:lstStyle/>
              <a:p>
                <a:r>
                  <a:rPr lang="en-US" sz="2400" dirty="0"/>
                  <a:t>To prove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𝑆</m:t>
                        </m:r>
                        <m:d>
                          <m:dPr>
                            <m:begChr m:val="["/>
                            <m:endChr m:val="]"/>
                            <m:ctrlPr>
                              <a:rPr lang="en-US" sz="2400" i="1" dirty="0">
                                <a:latin typeface="Cambria Math" panose="02040503050406030204" pitchFamily="18" charset="0"/>
                              </a:rPr>
                            </m:ctrlPr>
                          </m:dPr>
                          <m:e>
                            <m:r>
                              <a:rPr lang="en-US" sz="2400" i="1" dirty="0">
                                <a:latin typeface="Cambria Math" panose="02040503050406030204" pitchFamily="18" charset="0"/>
                              </a:rPr>
                              <m:t>4</m:t>
                            </m:r>
                          </m:e>
                        </m:d>
                        <m:r>
                          <a:rPr lang="en-US" sz="2400" i="1" dirty="0">
                            <a:latin typeface="Cambria Math" panose="02040503050406030204" pitchFamily="18" charset="0"/>
                          </a:rPr>
                          <m:t>= </m:t>
                        </m:r>
                        <m:r>
                          <a:rPr lang="en-US" sz="2400" i="1" dirty="0">
                            <a:latin typeface="Cambria Math" panose="02040503050406030204" pitchFamily="18" charset="0"/>
                          </a:rPr>
                          <m:t>𝑚</m:t>
                        </m:r>
                      </m:e>
                      <m:sub>
                        <m:r>
                          <a:rPr lang="en-US" sz="2400" i="1" dirty="0">
                            <a:latin typeface="Cambria Math" panose="02040503050406030204" pitchFamily="18" charset="0"/>
                          </a:rPr>
                          <m:t>4</m:t>
                        </m:r>
                      </m:sub>
                    </m:sSub>
                  </m:oMath>
                </a14:m>
                <a:r>
                  <a:rPr lang="en-US" sz="2400" dirty="0"/>
                  <a:t>  ,</a:t>
                </a:r>
              </a:p>
              <a:p>
                <a:pPr>
                  <a:lnSpc>
                    <a:spcPct val="110000"/>
                  </a:lnSpc>
                  <a:spcBef>
                    <a:spcPts val="1200"/>
                  </a:spcBef>
                </a:pPr>
                <a:r>
                  <a:rPr lang="en-US" sz="2400" dirty="0"/>
                  <a:t>	proof </a:t>
                </a:r>
                <a14:m>
                  <m:oMath xmlns:m="http://schemas.openxmlformats.org/officeDocument/2006/math">
                    <m:r>
                      <m:rPr>
                        <m:sty m:val="p"/>
                      </m:rPr>
                      <a:rPr lang="el-GR" sz="2400" i="1" dirty="0">
                        <a:latin typeface="Cambria Math" panose="02040503050406030204" pitchFamily="18" charset="0"/>
                        <a:ea typeface="Cambria Math" panose="02040503050406030204" pitchFamily="18" charset="0"/>
                      </a:rPr>
                      <m:t>π</m:t>
                    </m:r>
                    <m:r>
                      <a:rPr lang="en-US" sz="2400" dirty="0">
                        <a:latin typeface="Cambria Math" panose="02040503050406030204" pitchFamily="18" charset="0"/>
                      </a:rPr>
                      <m:t>= </m:t>
                    </m:r>
                    <m:d>
                      <m:dPr>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𝑚</m:t>
                            </m:r>
                          </m:e>
                          <m:sub>
                            <m:r>
                              <a:rPr lang="en-US" sz="2400" i="1" dirty="0">
                                <a:latin typeface="Cambria Math" panose="02040503050406030204" pitchFamily="18" charset="0"/>
                              </a:rPr>
                              <m:t>3</m:t>
                            </m:r>
                          </m:sub>
                        </m:sSub>
                        <m:r>
                          <a:rPr lang="en-US" sz="2400" i="1" dirty="0">
                            <a:latin typeface="Cambria Math" panose="02040503050406030204" pitchFamily="18" charset="0"/>
                          </a:rPr>
                          <m:t>, </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1</m:t>
                            </m:r>
                          </m:sub>
                        </m:sSub>
                        <m:r>
                          <a:rPr lang="en-US" sz="2400" i="1" dirty="0">
                            <a:latin typeface="Cambria Math" panose="02040503050406030204" pitchFamily="18" charset="0"/>
                          </a:rPr>
                          <m:t>, </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6</m:t>
                            </m:r>
                          </m:sub>
                        </m:sSub>
                      </m:e>
                    </m:d>
                  </m:oMath>
                </a14:m>
                <a:endParaRPr lang="en-US" sz="2400" dirty="0"/>
              </a:p>
            </p:txBody>
          </p:sp>
        </mc:Choice>
        <mc:Fallback xmlns="">
          <p:sp>
            <p:nvSpPr>
              <p:cNvPr id="48" name="TextBox 47">
                <a:extLst>
                  <a:ext uri="{FF2B5EF4-FFF2-40B4-BE49-F238E27FC236}">
                    <a16:creationId xmlns:a16="http://schemas.microsoft.com/office/drawing/2014/main" id="{3D7579D9-5B84-F941-88F1-B93E776B77DF}"/>
                  </a:ext>
                </a:extLst>
              </p:cNvPr>
              <p:cNvSpPr txBox="1">
                <a:spLocks noRot="1" noChangeAspect="1" noMove="1" noResize="1" noEditPoints="1" noAdjustHandles="1" noChangeArrowheads="1" noChangeShapeType="1" noTextEdit="1"/>
              </p:cNvSpPr>
              <p:nvPr/>
            </p:nvSpPr>
            <p:spPr>
              <a:xfrm>
                <a:off x="7149041" y="1583600"/>
                <a:ext cx="4057265" cy="1001300"/>
              </a:xfrm>
              <a:prstGeom prst="rect">
                <a:avLst/>
              </a:prstGeom>
              <a:blipFill>
                <a:blip r:embed="rId11"/>
                <a:stretch>
                  <a:fillRect l="-2249" t="-3614" b="-13253"/>
                </a:stretch>
              </a:blipFill>
              <a:ln>
                <a:solidFill>
                  <a:srgbClr val="96060B"/>
                </a:solidFill>
              </a:ln>
            </p:spPr>
            <p:txBody>
              <a:bodyPr/>
              <a:lstStyle/>
              <a:p>
                <a:r>
                  <a:rPr lang="zh-CN" altLang="en-US">
                    <a:noFill/>
                  </a:rPr>
                  <a:t> </a:t>
                </a:r>
              </a:p>
            </p:txBody>
          </p:sp>
        </mc:Fallback>
      </mc:AlternateContent>
      <p:grpSp>
        <p:nvGrpSpPr>
          <p:cNvPr id="49" name="Group 48">
            <a:extLst>
              <a:ext uri="{FF2B5EF4-FFF2-40B4-BE49-F238E27FC236}">
                <a16:creationId xmlns:a16="http://schemas.microsoft.com/office/drawing/2014/main" id="{2FF60F1C-20F3-D34D-B907-719F1AC374B2}"/>
              </a:ext>
            </a:extLst>
          </p:cNvPr>
          <p:cNvGrpSpPr/>
          <p:nvPr/>
        </p:nvGrpSpPr>
        <p:grpSpPr>
          <a:xfrm>
            <a:off x="1693353" y="2654865"/>
            <a:ext cx="4675906" cy="1442187"/>
            <a:chOff x="1270014" y="1991148"/>
            <a:chExt cx="3506929" cy="1081640"/>
          </a:xfrm>
        </p:grpSpPr>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A9B0E678-2800-BC4D-ACB6-4560084F2961}"/>
                    </a:ext>
                  </a:extLst>
                </p:cNvPr>
                <p:cNvSpPr txBox="1"/>
                <p:nvPr/>
              </p:nvSpPr>
              <p:spPr>
                <a:xfrm>
                  <a:off x="1270014" y="2677138"/>
                  <a:ext cx="394579" cy="3398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𝑦</m:t>
                        </m:r>
                        <m:r>
                          <a:rPr lang="en-US" sz="2400" i="1" baseline="-25000" dirty="0">
                            <a:latin typeface="Cambria Math" panose="02040503050406030204" pitchFamily="18" charset="0"/>
                          </a:rPr>
                          <m:t>1</m:t>
                        </m:r>
                      </m:oMath>
                    </m:oMathPara>
                  </a14:m>
                  <a:endParaRPr lang="en-US" sz="2400" baseline="-25000" dirty="0"/>
                </a:p>
              </p:txBody>
            </p:sp>
          </mc:Choice>
          <mc:Fallback xmlns="">
            <p:sp>
              <p:nvSpPr>
                <p:cNvPr id="50" name="TextBox 49">
                  <a:extLst>
                    <a:ext uri="{FF2B5EF4-FFF2-40B4-BE49-F238E27FC236}">
                      <a16:creationId xmlns:a16="http://schemas.microsoft.com/office/drawing/2014/main" id="{A9B0E678-2800-BC4D-ACB6-4560084F2961}"/>
                    </a:ext>
                  </a:extLst>
                </p:cNvPr>
                <p:cNvSpPr txBox="1">
                  <a:spLocks noRot="1" noChangeAspect="1" noMove="1" noResize="1" noEditPoints="1" noAdjustHandles="1" noChangeArrowheads="1" noChangeShapeType="1" noTextEdit="1"/>
                </p:cNvSpPr>
                <p:nvPr/>
              </p:nvSpPr>
              <p:spPr>
                <a:xfrm>
                  <a:off x="1270014" y="2677138"/>
                  <a:ext cx="394579" cy="339853"/>
                </a:xfrm>
                <a:prstGeom prst="rect">
                  <a:avLst/>
                </a:prstGeom>
                <a:blipFill>
                  <a:blip r:embed="rId12"/>
                  <a:stretch>
                    <a:fillRect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6096C8D-4DEB-384E-BBE0-005E00C315A6}"/>
                    </a:ext>
                  </a:extLst>
                </p:cNvPr>
                <p:cNvSpPr txBox="1"/>
                <p:nvPr/>
              </p:nvSpPr>
              <p:spPr>
                <a:xfrm>
                  <a:off x="2305819" y="2705552"/>
                  <a:ext cx="409198" cy="3398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2</m:t>
                            </m:r>
                          </m:sub>
                        </m:sSub>
                      </m:oMath>
                    </m:oMathPara>
                  </a14:m>
                  <a:endParaRPr lang="en-US" sz="2400" baseline="-25000" dirty="0"/>
                </a:p>
              </p:txBody>
            </p:sp>
          </mc:Choice>
          <mc:Fallback xmlns="">
            <p:sp>
              <p:nvSpPr>
                <p:cNvPr id="51" name="TextBox 50">
                  <a:extLst>
                    <a:ext uri="{FF2B5EF4-FFF2-40B4-BE49-F238E27FC236}">
                      <a16:creationId xmlns:a16="http://schemas.microsoft.com/office/drawing/2014/main" id="{C6096C8D-4DEB-384E-BBE0-005E00C315A6}"/>
                    </a:ext>
                  </a:extLst>
                </p:cNvPr>
                <p:cNvSpPr txBox="1">
                  <a:spLocks noRot="1" noChangeAspect="1" noMove="1" noResize="1" noEditPoints="1" noAdjustHandles="1" noChangeArrowheads="1" noChangeShapeType="1" noTextEdit="1"/>
                </p:cNvSpPr>
                <p:nvPr/>
              </p:nvSpPr>
              <p:spPr>
                <a:xfrm>
                  <a:off x="2305819" y="2705552"/>
                  <a:ext cx="409198" cy="339853"/>
                </a:xfrm>
                <a:prstGeom prst="rect">
                  <a:avLst/>
                </a:prstGeom>
                <a:blipFill>
                  <a:blip r:embed="rId13"/>
                  <a:stretch>
                    <a:fillRect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9329507-B7A0-1048-A995-911D6A0C8885}"/>
                    </a:ext>
                  </a:extLst>
                </p:cNvPr>
                <p:cNvSpPr txBox="1"/>
                <p:nvPr/>
              </p:nvSpPr>
              <p:spPr>
                <a:xfrm>
                  <a:off x="3419290" y="2720019"/>
                  <a:ext cx="409198" cy="3398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3</m:t>
                            </m:r>
                          </m:sub>
                        </m:sSub>
                      </m:oMath>
                    </m:oMathPara>
                  </a14:m>
                  <a:endParaRPr lang="en-US" sz="2400" baseline="-25000" dirty="0"/>
                </a:p>
              </p:txBody>
            </p:sp>
          </mc:Choice>
          <mc:Fallback xmlns="">
            <p:sp>
              <p:nvSpPr>
                <p:cNvPr id="52" name="TextBox 51">
                  <a:extLst>
                    <a:ext uri="{FF2B5EF4-FFF2-40B4-BE49-F238E27FC236}">
                      <a16:creationId xmlns:a16="http://schemas.microsoft.com/office/drawing/2014/main" id="{19329507-B7A0-1048-A995-911D6A0C8885}"/>
                    </a:ext>
                  </a:extLst>
                </p:cNvPr>
                <p:cNvSpPr txBox="1">
                  <a:spLocks noRot="1" noChangeAspect="1" noMove="1" noResize="1" noEditPoints="1" noAdjustHandles="1" noChangeArrowheads="1" noChangeShapeType="1" noTextEdit="1"/>
                </p:cNvSpPr>
                <p:nvPr/>
              </p:nvSpPr>
              <p:spPr>
                <a:xfrm>
                  <a:off x="3419290" y="2720019"/>
                  <a:ext cx="409198" cy="339853"/>
                </a:xfrm>
                <a:prstGeom prst="rect">
                  <a:avLst/>
                </a:prstGeom>
                <a:blipFill>
                  <a:blip r:embed="rId14"/>
                  <a:stretch>
                    <a:fillRect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1978EED-CA66-4243-8676-F55CB33304D3}"/>
                    </a:ext>
                  </a:extLst>
                </p:cNvPr>
                <p:cNvSpPr txBox="1"/>
                <p:nvPr/>
              </p:nvSpPr>
              <p:spPr>
                <a:xfrm>
                  <a:off x="4377603" y="2732935"/>
                  <a:ext cx="399340" cy="3398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4</m:t>
                            </m:r>
                          </m:sub>
                        </m:sSub>
                      </m:oMath>
                    </m:oMathPara>
                  </a14:m>
                  <a:endParaRPr lang="en-US" sz="2400" baseline="-25000" dirty="0"/>
                </a:p>
              </p:txBody>
            </p:sp>
          </mc:Choice>
          <mc:Fallback xmlns="">
            <p:sp>
              <p:nvSpPr>
                <p:cNvPr id="53" name="TextBox 52">
                  <a:extLst>
                    <a:ext uri="{FF2B5EF4-FFF2-40B4-BE49-F238E27FC236}">
                      <a16:creationId xmlns:a16="http://schemas.microsoft.com/office/drawing/2014/main" id="{11978EED-CA66-4243-8676-F55CB33304D3}"/>
                    </a:ext>
                  </a:extLst>
                </p:cNvPr>
                <p:cNvSpPr txBox="1">
                  <a:spLocks noRot="1" noChangeAspect="1" noMove="1" noResize="1" noEditPoints="1" noAdjustHandles="1" noChangeArrowheads="1" noChangeShapeType="1" noTextEdit="1"/>
                </p:cNvSpPr>
                <p:nvPr/>
              </p:nvSpPr>
              <p:spPr>
                <a:xfrm>
                  <a:off x="4377603" y="2732935"/>
                  <a:ext cx="399340" cy="339853"/>
                </a:xfrm>
                <a:prstGeom prst="rect">
                  <a:avLst/>
                </a:prstGeom>
                <a:blipFill>
                  <a:blip r:embed="rId15"/>
                  <a:stretch>
                    <a:fillRect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C1B97931-D3A9-3248-804E-C143CC336BF9}"/>
                    </a:ext>
                  </a:extLst>
                </p:cNvPr>
                <p:cNvSpPr txBox="1"/>
                <p:nvPr/>
              </p:nvSpPr>
              <p:spPr>
                <a:xfrm>
                  <a:off x="2192172" y="1991148"/>
                  <a:ext cx="409198" cy="3398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5</m:t>
                            </m:r>
                          </m:sub>
                        </m:sSub>
                      </m:oMath>
                    </m:oMathPara>
                  </a14:m>
                  <a:endParaRPr lang="en-US" sz="2400" baseline="-25000" dirty="0"/>
                </a:p>
              </p:txBody>
            </p:sp>
          </mc:Choice>
          <mc:Fallback xmlns="">
            <p:sp>
              <p:nvSpPr>
                <p:cNvPr id="54" name="TextBox 53">
                  <a:extLst>
                    <a:ext uri="{FF2B5EF4-FFF2-40B4-BE49-F238E27FC236}">
                      <a16:creationId xmlns:a16="http://schemas.microsoft.com/office/drawing/2014/main" id="{C1B97931-D3A9-3248-804E-C143CC336BF9}"/>
                    </a:ext>
                  </a:extLst>
                </p:cNvPr>
                <p:cNvSpPr txBox="1">
                  <a:spLocks noRot="1" noChangeAspect="1" noMove="1" noResize="1" noEditPoints="1" noAdjustHandles="1" noChangeArrowheads="1" noChangeShapeType="1" noTextEdit="1"/>
                </p:cNvSpPr>
                <p:nvPr/>
              </p:nvSpPr>
              <p:spPr>
                <a:xfrm>
                  <a:off x="2192172" y="1991148"/>
                  <a:ext cx="409198" cy="339853"/>
                </a:xfrm>
                <a:prstGeom prst="rect">
                  <a:avLst/>
                </a:prstGeom>
                <a:blipFill>
                  <a:blip r:embed="rId16"/>
                  <a:stretch>
                    <a:fillRect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3506A15-BEF3-ED43-9259-0399765E92B5}"/>
                    </a:ext>
                  </a:extLst>
                </p:cNvPr>
                <p:cNvSpPr txBox="1"/>
                <p:nvPr/>
              </p:nvSpPr>
              <p:spPr>
                <a:xfrm>
                  <a:off x="3522552" y="2018512"/>
                  <a:ext cx="409198" cy="3398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6</m:t>
                            </m:r>
                          </m:sub>
                        </m:sSub>
                      </m:oMath>
                    </m:oMathPara>
                  </a14:m>
                  <a:endParaRPr lang="en-US" sz="2400" baseline="-25000" dirty="0"/>
                </a:p>
              </p:txBody>
            </p:sp>
          </mc:Choice>
          <mc:Fallback xmlns="">
            <p:sp>
              <p:nvSpPr>
                <p:cNvPr id="55" name="TextBox 54">
                  <a:extLst>
                    <a:ext uri="{FF2B5EF4-FFF2-40B4-BE49-F238E27FC236}">
                      <a16:creationId xmlns:a16="http://schemas.microsoft.com/office/drawing/2014/main" id="{F3506A15-BEF3-ED43-9259-0399765E92B5}"/>
                    </a:ext>
                  </a:extLst>
                </p:cNvPr>
                <p:cNvSpPr txBox="1">
                  <a:spLocks noRot="1" noChangeAspect="1" noMove="1" noResize="1" noEditPoints="1" noAdjustHandles="1" noChangeArrowheads="1" noChangeShapeType="1" noTextEdit="1"/>
                </p:cNvSpPr>
                <p:nvPr/>
              </p:nvSpPr>
              <p:spPr>
                <a:xfrm>
                  <a:off x="3522552" y="2018512"/>
                  <a:ext cx="409198" cy="339853"/>
                </a:xfrm>
                <a:prstGeom prst="rect">
                  <a:avLst/>
                </a:prstGeom>
                <a:blipFill>
                  <a:blip r:embed="rId17"/>
                  <a:stretch>
                    <a:fillRect b="-13333"/>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C073B058-F562-9B44-BC3B-5B51B66B2A5B}"/>
                  </a:ext>
                </a:extLst>
              </p:cNvPr>
              <p:cNvSpPr txBox="1"/>
              <p:nvPr/>
            </p:nvSpPr>
            <p:spPr>
              <a:xfrm>
                <a:off x="7735275" y="3450544"/>
                <a:ext cx="3015762" cy="1938992"/>
              </a:xfrm>
              <a:prstGeom prst="rect">
                <a:avLst/>
              </a:prstGeom>
              <a:noFill/>
            </p:spPr>
            <p:txBody>
              <a:bodyPr wrap="none" rtlCol="0">
                <a:spAutoFit/>
              </a:bodyPr>
              <a:lstStyle/>
              <a:p>
                <a:r>
                  <a:rPr lang="en-US" sz="2400" dirty="0"/>
                  <a:t>Bob does:</a:t>
                </a:r>
              </a:p>
              <a:p>
                <a:r>
                  <a:rPr lang="en-US" sz="2400" dirty="0"/>
                  <a:t>       </a:t>
                </a:r>
                <a14:m>
                  <m:oMath xmlns:m="http://schemas.openxmlformats.org/officeDocument/2006/math">
                    <m:r>
                      <a:rPr lang="en-US" sz="2400" i="1" dirty="0">
                        <a:latin typeface="Cambria Math" panose="02040503050406030204" pitchFamily="18" charset="0"/>
                      </a:rPr>
                      <m:t>𝑦</m:t>
                    </m:r>
                    <m:r>
                      <a:rPr lang="en-US" sz="2400" i="1" baseline="-25000" dirty="0">
                        <a:latin typeface="Cambria Math" panose="02040503050406030204" pitchFamily="18" charset="0"/>
                      </a:rPr>
                      <m:t>2</m:t>
                    </m:r>
                    <m:r>
                      <a:rPr lang="en-US" sz="2400" i="1" dirty="0">
                        <a:latin typeface="Cambria Math" panose="02040503050406030204" pitchFamily="18" charset="0"/>
                      </a:rPr>
                      <m:t> ⇽ </m:t>
                    </m:r>
                    <m:r>
                      <a:rPr lang="en-US" sz="2400" i="1" dirty="0">
                        <a:latin typeface="Cambria Math" panose="02040503050406030204" pitchFamily="18" charset="0"/>
                      </a:rPr>
                      <m:t>𝐻</m:t>
                    </m:r>
                    <m:r>
                      <a:rPr lang="en-US" sz="2400" i="1" dirty="0">
                        <a:latin typeface="Cambria Math" panose="02040503050406030204" pitchFamily="18" charset="0"/>
                      </a:rPr>
                      <m:t>(</m:t>
                    </m:r>
                    <m:r>
                      <a:rPr lang="en-US" sz="2400" i="1" dirty="0">
                        <a:latin typeface="Cambria Math" panose="02040503050406030204" pitchFamily="18" charset="0"/>
                      </a:rPr>
                      <m:t>𝑚</m:t>
                    </m:r>
                    <m:r>
                      <a:rPr lang="en-US" sz="2400" i="1" baseline="-25000" dirty="0">
                        <a:latin typeface="Cambria Math" panose="02040503050406030204" pitchFamily="18" charset="0"/>
                      </a:rPr>
                      <m:t>3</m:t>
                    </m:r>
                    <m:r>
                      <a:rPr lang="en-US" sz="2400" i="1" dirty="0">
                        <a:latin typeface="Cambria Math" panose="02040503050406030204" pitchFamily="18" charset="0"/>
                      </a:rPr>
                      <m:t>,</m:t>
                    </m:r>
                    <m:r>
                      <a:rPr lang="en-US" sz="2400" i="1" dirty="0">
                        <a:latin typeface="Cambria Math" panose="02040503050406030204" pitchFamily="18" charset="0"/>
                      </a:rPr>
                      <m:t>𝑚</m:t>
                    </m:r>
                    <m:r>
                      <a:rPr lang="en-US" sz="2400" i="1" baseline="-25000" dirty="0">
                        <a:latin typeface="Cambria Math" panose="02040503050406030204" pitchFamily="18" charset="0"/>
                      </a:rPr>
                      <m:t>4</m:t>
                    </m:r>
                    <m:r>
                      <a:rPr lang="en-US" sz="2400" i="1" dirty="0">
                        <a:latin typeface="Cambria Math" panose="02040503050406030204" pitchFamily="18" charset="0"/>
                      </a:rPr>
                      <m:t>)</m:t>
                    </m:r>
                  </m:oMath>
                </a14:m>
                <a:endParaRPr lang="en-US" sz="2400" dirty="0"/>
              </a:p>
              <a:p>
                <a:pPr marL="626518" indent="-626518"/>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𝑦</m:t>
                      </m:r>
                      <m:r>
                        <a:rPr lang="en-US" sz="2400" i="1" baseline="-25000" dirty="0">
                          <a:latin typeface="Cambria Math" panose="02040503050406030204" pitchFamily="18" charset="0"/>
                        </a:rPr>
                        <m:t>5</m:t>
                      </m:r>
                      <m:r>
                        <a:rPr lang="en-US" sz="2400" i="1" dirty="0">
                          <a:latin typeface="Cambria Math" panose="02040503050406030204" pitchFamily="18" charset="0"/>
                        </a:rPr>
                        <m:t> ⇽ </m:t>
                      </m:r>
                      <m:r>
                        <a:rPr lang="en-US" sz="2400" i="1" dirty="0">
                          <a:latin typeface="Cambria Math" panose="02040503050406030204" pitchFamily="18" charset="0"/>
                        </a:rPr>
                        <m:t>𝐻</m:t>
                      </m:r>
                      <m:r>
                        <a:rPr lang="en-US" sz="2400" i="1" dirty="0">
                          <a:latin typeface="Cambria Math" panose="02040503050406030204" pitchFamily="18" charset="0"/>
                        </a:rPr>
                        <m:t>(</m:t>
                      </m:r>
                      <m:r>
                        <a:rPr lang="en-US" sz="2400" i="1" dirty="0">
                          <a:latin typeface="Cambria Math" panose="02040503050406030204" pitchFamily="18" charset="0"/>
                        </a:rPr>
                        <m:t>𝑦</m:t>
                      </m:r>
                      <m:r>
                        <a:rPr lang="en-US" sz="2400" i="1" baseline="-25000" dirty="0">
                          <a:latin typeface="Cambria Math" panose="02040503050406030204" pitchFamily="18" charset="0"/>
                        </a:rPr>
                        <m:t>1</m:t>
                      </m:r>
                      <m:r>
                        <a:rPr lang="en-US" sz="2400" i="1" dirty="0">
                          <a:latin typeface="Cambria Math" panose="02040503050406030204" pitchFamily="18" charset="0"/>
                        </a:rPr>
                        <m:t>, </m:t>
                      </m:r>
                      <m:r>
                        <a:rPr lang="en-US" sz="2400" i="1" dirty="0">
                          <a:latin typeface="Cambria Math" panose="02040503050406030204" pitchFamily="18" charset="0"/>
                        </a:rPr>
                        <m:t>𝑦</m:t>
                      </m:r>
                      <m:r>
                        <a:rPr lang="en-US" sz="2400" i="1" baseline="-25000" dirty="0">
                          <a:latin typeface="Cambria Math" panose="02040503050406030204" pitchFamily="18" charset="0"/>
                        </a:rPr>
                        <m:t>2</m:t>
                      </m:r>
                      <m:r>
                        <a:rPr lang="en-US" sz="2400" i="1" dirty="0">
                          <a:latin typeface="Cambria Math" panose="02040503050406030204" pitchFamily="18" charset="0"/>
                        </a:rPr>
                        <m:t>)</m:t>
                      </m:r>
                    </m:oMath>
                  </m:oMathPara>
                </a14:m>
                <a:endParaRPr lang="en-US" sz="2400" dirty="0"/>
              </a:p>
              <a:p>
                <a:pPr marL="626518" indent="-626518"/>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h</m:t>
                      </m:r>
                      <m:r>
                        <a:rPr lang="en-US" sz="2400" i="1" dirty="0">
                          <a:latin typeface="Cambria Math" panose="02040503050406030204" pitchFamily="18" charset="0"/>
                        </a:rPr>
                        <m:t>’ ⇽ </m:t>
                      </m:r>
                      <m:r>
                        <a:rPr lang="en-US" sz="2400" i="1" dirty="0">
                          <a:latin typeface="Cambria Math" panose="02040503050406030204" pitchFamily="18" charset="0"/>
                        </a:rPr>
                        <m:t>𝐻</m:t>
                      </m:r>
                      <m:r>
                        <a:rPr lang="en-US" sz="2400" i="1" dirty="0">
                          <a:latin typeface="Cambria Math" panose="02040503050406030204" pitchFamily="18" charset="0"/>
                        </a:rPr>
                        <m:t>(</m:t>
                      </m:r>
                      <m:r>
                        <a:rPr lang="en-US" sz="2400" i="1" dirty="0">
                          <a:latin typeface="Cambria Math" panose="02040503050406030204" pitchFamily="18" charset="0"/>
                        </a:rPr>
                        <m:t>𝑦</m:t>
                      </m:r>
                      <m:r>
                        <a:rPr lang="en-US" sz="2400" i="1" baseline="-25000" dirty="0">
                          <a:latin typeface="Cambria Math" panose="02040503050406030204" pitchFamily="18" charset="0"/>
                        </a:rPr>
                        <m:t>5</m:t>
                      </m:r>
                      <m:r>
                        <a:rPr lang="en-US" sz="2400" i="1" dirty="0">
                          <a:latin typeface="Cambria Math" panose="02040503050406030204" pitchFamily="18" charset="0"/>
                        </a:rPr>
                        <m:t>, </m:t>
                      </m:r>
                      <m:r>
                        <a:rPr lang="en-US" sz="2400" i="1" dirty="0">
                          <a:latin typeface="Cambria Math" panose="02040503050406030204" pitchFamily="18" charset="0"/>
                        </a:rPr>
                        <m:t>𝑦</m:t>
                      </m:r>
                      <m:r>
                        <a:rPr lang="en-US" sz="2400" i="1" baseline="-25000" dirty="0">
                          <a:latin typeface="Cambria Math" panose="02040503050406030204" pitchFamily="18" charset="0"/>
                        </a:rPr>
                        <m:t>6</m:t>
                      </m:r>
                      <m:r>
                        <a:rPr lang="en-US" sz="2400" i="1" dirty="0">
                          <a:latin typeface="Cambria Math" panose="02040503050406030204" pitchFamily="18" charset="0"/>
                        </a:rPr>
                        <m:t>)</m:t>
                      </m:r>
                    </m:oMath>
                  </m:oMathPara>
                </a14:m>
                <a:endParaRPr lang="en-US" sz="2400" dirty="0"/>
              </a:p>
              <a:p>
                <a:pPr marL="626518" indent="-626518"/>
                <a:r>
                  <a:rPr lang="en-US" sz="2400" dirty="0"/>
                  <a:t>	accept if  </a:t>
                </a:r>
                <a14:m>
                  <m:oMath xmlns:m="http://schemas.openxmlformats.org/officeDocument/2006/math">
                    <m:r>
                      <a:rPr lang="en-US" sz="2400" i="1" dirty="0">
                        <a:latin typeface="Cambria Math" panose="02040503050406030204" pitchFamily="18" charset="0"/>
                      </a:rPr>
                      <m:t>h</m:t>
                    </m:r>
                    <m:r>
                      <a:rPr lang="en-US" sz="2400" i="1" dirty="0">
                        <a:latin typeface="Cambria Math" panose="02040503050406030204" pitchFamily="18" charset="0"/>
                      </a:rPr>
                      <m:t>=</m:t>
                    </m:r>
                    <m:r>
                      <a:rPr lang="en-US" sz="2400" i="1" dirty="0">
                        <a:latin typeface="Cambria Math" panose="02040503050406030204" pitchFamily="18" charset="0"/>
                      </a:rPr>
                      <m:t>h</m:t>
                    </m:r>
                    <m:r>
                      <a:rPr lang="en-US" sz="2400" i="1" dirty="0">
                        <a:latin typeface="Cambria Math" panose="02040503050406030204" pitchFamily="18" charset="0"/>
                      </a:rPr>
                      <m:t>’</m:t>
                    </m:r>
                  </m:oMath>
                </a14:m>
                <a:endParaRPr lang="en-US" sz="2400" dirty="0"/>
              </a:p>
            </p:txBody>
          </p:sp>
        </mc:Choice>
        <mc:Fallback xmlns="">
          <p:sp>
            <p:nvSpPr>
              <p:cNvPr id="57" name="TextBox 56">
                <a:extLst>
                  <a:ext uri="{FF2B5EF4-FFF2-40B4-BE49-F238E27FC236}">
                    <a16:creationId xmlns:a16="http://schemas.microsoft.com/office/drawing/2014/main" id="{C073B058-F562-9B44-BC3B-5B51B66B2A5B}"/>
                  </a:ext>
                </a:extLst>
              </p:cNvPr>
              <p:cNvSpPr txBox="1">
                <a:spLocks noRot="1" noChangeAspect="1" noMove="1" noResize="1" noEditPoints="1" noAdjustHandles="1" noChangeArrowheads="1" noChangeShapeType="1" noTextEdit="1"/>
              </p:cNvSpPr>
              <p:nvPr/>
            </p:nvSpPr>
            <p:spPr>
              <a:xfrm>
                <a:off x="7735275" y="3450544"/>
                <a:ext cx="3015762" cy="1938992"/>
              </a:xfrm>
              <a:prstGeom prst="rect">
                <a:avLst/>
              </a:prstGeom>
              <a:blipFill>
                <a:blip r:embed="rId18"/>
                <a:stretch>
                  <a:fillRect l="-3232" t="-2201" b="-6604"/>
                </a:stretch>
              </a:blipFill>
            </p:spPr>
            <p:txBody>
              <a:bodyPr/>
              <a:lstStyle/>
              <a:p>
                <a:r>
                  <a:rPr lang="zh-CN" altLang="en-US">
                    <a:noFill/>
                  </a:rPr>
                  <a:t> </a:t>
                </a:r>
              </a:p>
            </p:txBody>
          </p:sp>
        </mc:Fallback>
      </mc:AlternateContent>
      <p:grpSp>
        <p:nvGrpSpPr>
          <p:cNvPr id="56" name="Group 55">
            <a:extLst>
              <a:ext uri="{FF2B5EF4-FFF2-40B4-BE49-F238E27FC236}">
                <a16:creationId xmlns:a16="http://schemas.microsoft.com/office/drawing/2014/main" id="{2134C224-E846-5641-9132-F1152FC8DECA}"/>
              </a:ext>
            </a:extLst>
          </p:cNvPr>
          <p:cNvGrpSpPr/>
          <p:nvPr/>
        </p:nvGrpSpPr>
        <p:grpSpPr>
          <a:xfrm>
            <a:off x="833569" y="1650146"/>
            <a:ext cx="2829952" cy="461665"/>
            <a:chOff x="625175" y="1237609"/>
            <a:chExt cx="2122468" cy="346249"/>
          </a:xfrm>
        </p:grpSpPr>
        <p:sp>
          <p:nvSpPr>
            <p:cNvPr id="58" name="TextBox 57">
              <a:extLst>
                <a:ext uri="{FF2B5EF4-FFF2-40B4-BE49-F238E27FC236}">
                  <a16:creationId xmlns:a16="http://schemas.microsoft.com/office/drawing/2014/main" id="{9495CB7B-6FDB-FB4B-B107-62C5CC4DCD06}"/>
                </a:ext>
              </a:extLst>
            </p:cNvPr>
            <p:cNvSpPr txBox="1"/>
            <p:nvPr/>
          </p:nvSpPr>
          <p:spPr>
            <a:xfrm>
              <a:off x="625175" y="1237609"/>
              <a:ext cx="1293864" cy="346249"/>
            </a:xfrm>
            <a:prstGeom prst="rect">
              <a:avLst/>
            </a:prstGeom>
            <a:noFill/>
            <a:ln>
              <a:solidFill>
                <a:schemeClr val="accent1"/>
              </a:solidFill>
            </a:ln>
          </p:spPr>
          <p:txBody>
            <a:bodyPr wrap="none" rtlCol="0">
              <a:spAutoFit/>
            </a:bodyPr>
            <a:lstStyle/>
            <a:p>
              <a:pPr algn="l"/>
              <a:r>
                <a:rPr lang="en-US" sz="2400" dirty="0"/>
                <a:t>M</a:t>
              </a:r>
              <a:r>
                <a:rPr lang="en-US" altLang="zh-CN" sz="2400" dirty="0"/>
                <a:t>erkle root</a:t>
              </a:r>
              <a:endParaRPr lang="en-US" sz="2400" dirty="0"/>
            </a:p>
          </p:txBody>
        </p:sp>
        <p:cxnSp>
          <p:nvCxnSpPr>
            <p:cNvPr id="59" name="Straight Arrow Connector 58">
              <a:extLst>
                <a:ext uri="{FF2B5EF4-FFF2-40B4-BE49-F238E27FC236}">
                  <a16:creationId xmlns:a16="http://schemas.microsoft.com/office/drawing/2014/main" id="{F0863543-2800-E64E-9481-7C7EF922DB17}"/>
                </a:ext>
              </a:extLst>
            </p:cNvPr>
            <p:cNvCxnSpPr>
              <a:cxnSpLocks/>
            </p:cNvCxnSpPr>
            <p:nvPr/>
          </p:nvCxnSpPr>
          <p:spPr>
            <a:xfrm>
              <a:off x="1911759" y="1448118"/>
              <a:ext cx="83588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60" name="TextBox 22">
            <a:extLst>
              <a:ext uri="{FF2B5EF4-FFF2-40B4-BE49-F238E27FC236}">
                <a16:creationId xmlns:a16="http://schemas.microsoft.com/office/drawing/2014/main" id="{C2568F78-18E3-4F65-90F8-C62BA6FBC602}"/>
              </a:ext>
            </a:extLst>
          </p:cNvPr>
          <p:cNvSpPr txBox="1"/>
          <p:nvPr/>
        </p:nvSpPr>
        <p:spPr>
          <a:xfrm>
            <a:off x="3437461" y="5942076"/>
            <a:ext cx="1415772" cy="461665"/>
          </a:xfrm>
          <a:prstGeom prst="rect">
            <a:avLst/>
          </a:prstGeom>
          <a:noFill/>
        </p:spPr>
        <p:txBody>
          <a:bodyPr wrap="none" rtlCol="0">
            <a:spAutoFit/>
          </a:bodyPr>
          <a:lstStyle/>
          <a:p>
            <a:r>
              <a:rPr lang="zh-CN" altLang="en-US" sz="2400" dirty="0"/>
              <a:t>交易列表</a:t>
            </a:r>
            <a:endParaRPr lang="en-US" sz="2400" dirty="0"/>
          </a:p>
        </p:txBody>
      </p:sp>
    </p:spTree>
    <p:extLst>
      <p:ext uri="{BB962C8B-B14F-4D97-AF65-F5344CB8AC3E}">
        <p14:creationId xmlns:p14="http://schemas.microsoft.com/office/powerpoint/2010/main" val="1910842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非对称加密</a:t>
            </a:r>
            <a:endParaRPr lang="en-US" altLang="zh-CN" dirty="0"/>
          </a:p>
        </p:txBody>
      </p:sp>
      <p:sp>
        <p:nvSpPr>
          <p:cNvPr id="3" name="内容占位符 2"/>
          <p:cNvSpPr>
            <a:spLocks noGrp="1"/>
          </p:cNvSpPr>
          <p:nvPr>
            <p:ph idx="1"/>
          </p:nvPr>
        </p:nvSpPr>
        <p:spPr>
          <a:xfrm>
            <a:off x="838200" y="1510758"/>
            <a:ext cx="9888940" cy="4845592"/>
          </a:xfrm>
        </p:spPr>
        <p:txBody>
          <a:bodyPr>
            <a:normAutofit fontScale="85000" lnSpcReduction="20000"/>
          </a:bodyPr>
          <a:lstStyle/>
          <a:p>
            <a:pPr fontAlgn="auto">
              <a:lnSpc>
                <a:spcPct val="130000"/>
              </a:lnSpc>
            </a:pPr>
            <a:r>
              <a:rPr lang="zh-CN" altLang="en-US" dirty="0"/>
              <a:t>加密系统</a:t>
            </a:r>
          </a:p>
          <a:p>
            <a:pPr lvl="1">
              <a:lnSpc>
                <a:spcPct val="130000"/>
              </a:lnSpc>
            </a:pPr>
            <a:r>
              <a:rPr lang="zh-CN" altLang="en-US" dirty="0"/>
              <a:t>加密系统一般包含三个部件：加解密算法、加密密钥、解密密钥。</a:t>
            </a:r>
            <a:r>
              <a:rPr lang="zh-CN" altLang="zh-CN" dirty="0"/>
              <a:t>其中算法是公开的，而密钥则需要保护起来。加密的时候利用加密算法跟加密密钥，对明文进行加密，得到密文；解密的时候则利用解密算法和解密密钥，对密文进行解密，得到明文</a:t>
            </a:r>
            <a:r>
              <a:rPr lang="zh-CN" altLang="en-US" dirty="0"/>
              <a:t>。</a:t>
            </a:r>
            <a:endParaRPr lang="en-US" altLang="zh-CN" dirty="0"/>
          </a:p>
          <a:p>
            <a:pPr lvl="0">
              <a:lnSpc>
                <a:spcPct val="130000"/>
              </a:lnSpc>
            </a:pPr>
            <a:r>
              <a:rPr lang="zh-CN" altLang="en-US" b="1" dirty="0">
                <a:solidFill>
                  <a:prstClr val="black"/>
                </a:solidFill>
              </a:rPr>
              <a:t>对称加密</a:t>
            </a:r>
            <a:endParaRPr lang="en-US" altLang="zh-CN" b="1" dirty="0">
              <a:solidFill>
                <a:prstClr val="black"/>
              </a:solidFill>
            </a:endParaRPr>
          </a:p>
          <a:p>
            <a:pPr lvl="1">
              <a:lnSpc>
                <a:spcPct val="130000"/>
              </a:lnSpc>
            </a:pPr>
            <a:r>
              <a:rPr lang="zh-CN" altLang="en-US" b="1" dirty="0">
                <a:solidFill>
                  <a:prstClr val="black"/>
                </a:solidFill>
              </a:rPr>
              <a:t>加密密钥与解密密钥一样</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该算法的优点是计算速度快，且空间占用小，效率高，加密强度也高，但是缺点是加解密双方要提前共享密钥，在这个共享的过程中存在泄漏密钥地风险，如何在不安全的环境下分享密钥也是一个研究的热点</a:t>
            </a:r>
            <a:endParaRPr lang="en-US" altLang="zh-CN" dirty="0">
              <a:solidFill>
                <a:prstClr val="black"/>
              </a:solidFill>
            </a:endParaRPr>
          </a:p>
          <a:p>
            <a:pPr lvl="1">
              <a:lnSpc>
                <a:spcPct val="130000"/>
              </a:lnSpc>
            </a:pPr>
            <a:r>
              <a:rPr lang="zh-CN" altLang="en-US" dirty="0">
                <a:solidFill>
                  <a:prstClr val="black"/>
                </a:solidFill>
              </a:rPr>
              <a:t>常用算法：对称加密算法常用的是分组密码，即将明文切割为定长的数据块，并把每个数据块作为加密的基本单位，常见的该类算法有：</a:t>
            </a:r>
            <a:r>
              <a:rPr lang="en-US" altLang="zh-CN" dirty="0">
                <a:solidFill>
                  <a:prstClr val="black"/>
                </a:solidFill>
              </a:rPr>
              <a:t>DES</a:t>
            </a:r>
            <a:r>
              <a:rPr lang="zh-CN" altLang="en-US" dirty="0">
                <a:solidFill>
                  <a:prstClr val="black"/>
                </a:solidFill>
              </a:rPr>
              <a:t>、</a:t>
            </a:r>
            <a:r>
              <a:rPr lang="en-US" altLang="zh-CN" dirty="0">
                <a:solidFill>
                  <a:prstClr val="black"/>
                </a:solidFill>
              </a:rPr>
              <a:t>AES</a:t>
            </a:r>
            <a:r>
              <a:rPr lang="zh-CN" altLang="en-US" dirty="0">
                <a:solidFill>
                  <a:prstClr val="black"/>
                </a:solidFill>
              </a:rPr>
              <a:t>和</a:t>
            </a:r>
            <a:r>
              <a:rPr lang="en-US" altLang="zh-CN" dirty="0">
                <a:solidFill>
                  <a:prstClr val="black"/>
                </a:solidFill>
              </a:rPr>
              <a:t>IDEA</a:t>
            </a:r>
            <a:r>
              <a:rPr lang="zh-CN" altLang="en-US" dirty="0">
                <a:solidFill>
                  <a:prstClr val="black"/>
                </a:solidFill>
              </a:rPr>
              <a:t>等。</a:t>
            </a:r>
            <a:endParaRPr lang="en-US" altLang="zh-CN"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8"/>
            <a:ext cx="9888940" cy="4845592"/>
          </a:xfrm>
        </p:spPr>
        <p:txBody>
          <a:bodyPr>
            <a:normAutofit fontScale="77500" lnSpcReduction="20000"/>
          </a:bodyPr>
          <a:lstStyle/>
          <a:p>
            <a:pPr fontAlgn="auto">
              <a:lnSpc>
                <a:spcPct val="130000"/>
              </a:lnSpc>
            </a:pPr>
            <a:r>
              <a:rPr lang="zh-CN" altLang="en-US" b="1" dirty="0"/>
              <a:t>非对称加密</a:t>
            </a:r>
          </a:p>
          <a:p>
            <a:pPr lvl="1">
              <a:lnSpc>
                <a:spcPct val="130000"/>
              </a:lnSpc>
            </a:pPr>
            <a:r>
              <a:rPr lang="zh-CN" altLang="en-US" b="1" dirty="0">
                <a:solidFill>
                  <a:prstClr val="black"/>
                </a:solidFill>
              </a:rPr>
              <a:t>加密密钥与解密密钥不一样</a:t>
            </a:r>
            <a:r>
              <a:rPr lang="zh-CN" altLang="en-US" dirty="0">
                <a:solidFill>
                  <a:prstClr val="black"/>
                </a:solidFill>
              </a:rPr>
              <a:t>，分别称为公钥和私钥，公钥是公开的，一般根据私钥产生，私钥则是由私人保护并持有，需要通过一定的算法来生成。</a:t>
            </a:r>
            <a:endParaRPr lang="en-US" altLang="zh-CN" dirty="0">
              <a:solidFill>
                <a:prstClr val="black"/>
              </a:solidFill>
            </a:endParaRPr>
          </a:p>
          <a:p>
            <a:pPr lvl="1">
              <a:lnSpc>
                <a:spcPct val="130000"/>
              </a:lnSpc>
            </a:pPr>
            <a:r>
              <a:rPr lang="zh-CN" altLang="en-US" dirty="0">
                <a:solidFill>
                  <a:prstClr val="black"/>
                </a:solidFill>
              </a:rPr>
              <a:t>该算法的优点是无需提前共享密钥，在不安全的环境下也可以使用，缺点是速度慢，加密的强度不如对称算法大，虽然无需提前共享密钥，但也存在中间人攻击的可能。</a:t>
            </a:r>
            <a:endParaRPr lang="en-US" altLang="zh-CN" dirty="0">
              <a:solidFill>
                <a:prstClr val="black"/>
              </a:solidFill>
            </a:endParaRPr>
          </a:p>
          <a:p>
            <a:pPr lvl="1">
              <a:lnSpc>
                <a:spcPct val="130000"/>
              </a:lnSpc>
            </a:pPr>
            <a:r>
              <a:rPr lang="zh-CN" altLang="en-US" dirty="0"/>
              <a:t>常用算法：非对称加密算法一般由数学的经典难题来保障其安全，如椭圆曲线，以及大数的质因子分解等，常见的算法有</a:t>
            </a:r>
            <a:r>
              <a:rPr lang="en-US" altLang="zh-CN" dirty="0"/>
              <a:t>RSA</a:t>
            </a:r>
            <a:r>
              <a:rPr lang="zh-CN" altLang="en-US" dirty="0"/>
              <a:t>，</a:t>
            </a:r>
            <a:r>
              <a:rPr lang="en-US" altLang="zh-CN" dirty="0"/>
              <a:t>SM2</a:t>
            </a:r>
            <a:r>
              <a:rPr lang="zh-CN" altLang="en-US" dirty="0"/>
              <a:t>，椭圆曲线等。但是随着量子计算的到来，普遍认为</a:t>
            </a:r>
            <a:r>
              <a:rPr lang="en-US" altLang="zh-CN" dirty="0"/>
              <a:t>RSA</a:t>
            </a:r>
            <a:r>
              <a:rPr lang="zh-CN" altLang="en-US" dirty="0"/>
              <a:t>类算法将会被破解，椭圆曲线类算法更为推荐。</a:t>
            </a:r>
            <a:endParaRPr lang="en-US" altLang="zh-CN" dirty="0"/>
          </a:p>
          <a:p>
            <a:pPr lvl="0">
              <a:lnSpc>
                <a:spcPct val="130000"/>
              </a:lnSpc>
            </a:pPr>
            <a:r>
              <a:rPr lang="zh-CN" altLang="en-US" dirty="0">
                <a:solidFill>
                  <a:prstClr val="black"/>
                </a:solidFill>
              </a:rPr>
              <a:t>混合加密</a:t>
            </a:r>
            <a:endParaRPr lang="en-US" altLang="zh-CN" dirty="0">
              <a:solidFill>
                <a:prstClr val="black"/>
              </a:solidFill>
            </a:endParaRPr>
          </a:p>
          <a:p>
            <a:pPr lvl="1">
              <a:lnSpc>
                <a:spcPct val="130000"/>
              </a:lnSpc>
            </a:pPr>
            <a:r>
              <a:rPr lang="zh-CN" altLang="en-US" dirty="0">
                <a:solidFill>
                  <a:prstClr val="black"/>
                </a:solidFill>
              </a:rPr>
              <a:t>混合加密结合了对称加密算法跟非对称加密算法的优点，可以实现更高效的加密通信。</a:t>
            </a:r>
            <a:endParaRPr lang="en-US" altLang="zh-CN" dirty="0">
              <a:solidFill>
                <a:prstClr val="black"/>
              </a:solidFill>
            </a:endParaRPr>
          </a:p>
          <a:p>
            <a:pPr lvl="1">
              <a:lnSpc>
                <a:spcPct val="130000"/>
              </a:lnSpc>
            </a:pPr>
            <a:r>
              <a:rPr lang="zh-CN" altLang="en-US" dirty="0">
                <a:solidFill>
                  <a:prstClr val="black"/>
                </a:solidFill>
              </a:rPr>
              <a:t>常见做法：先用非对称加密协商确定一个临时的对称密钥，这一个临时的对称密钥是随机的，并且只有协商的双方才知道，在本次通信中使用这个一次性的对称密钥进行对称加密的通信。通信结束后，舍弃该对称密钥。</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数字签名</a:t>
            </a:r>
            <a:endParaRPr lang="en-US" altLang="zh-CN" dirty="0"/>
          </a:p>
        </p:txBody>
      </p:sp>
      <p:sp>
        <p:nvSpPr>
          <p:cNvPr id="3" name="内容占位符 2"/>
          <p:cNvSpPr>
            <a:spLocks noGrp="1"/>
          </p:cNvSpPr>
          <p:nvPr>
            <p:ph idx="1"/>
          </p:nvPr>
        </p:nvSpPr>
        <p:spPr>
          <a:xfrm>
            <a:off x="838200" y="1510758"/>
            <a:ext cx="9888940" cy="4845592"/>
          </a:xfrm>
        </p:spPr>
        <p:txBody>
          <a:bodyPr>
            <a:normAutofit fontScale="92500" lnSpcReduction="20000"/>
          </a:bodyPr>
          <a:lstStyle/>
          <a:p>
            <a:pPr fontAlgn="auto">
              <a:lnSpc>
                <a:spcPct val="130000"/>
              </a:lnSpc>
            </a:pPr>
            <a:r>
              <a:rPr lang="zh-CN" altLang="en-US" b="1" dirty="0"/>
              <a:t>数字签名</a:t>
            </a:r>
            <a:r>
              <a:rPr lang="zh-CN" altLang="en-US" dirty="0"/>
              <a:t>是什么</a:t>
            </a:r>
          </a:p>
          <a:p>
            <a:pPr lvl="1">
              <a:lnSpc>
                <a:spcPct val="130000"/>
              </a:lnSpc>
            </a:pPr>
            <a:r>
              <a:rPr lang="zh-CN" altLang="en-US" dirty="0"/>
              <a:t>数字签名是基于公钥加密技术实现的鉴别数字信息的完整性的算法，</a:t>
            </a:r>
            <a:r>
              <a:rPr lang="zh-CN" altLang="zh-CN" dirty="0"/>
              <a:t>通过数学原理可以</a:t>
            </a:r>
            <a:r>
              <a:rPr lang="zh-CN" altLang="zh-CN" b="1" dirty="0"/>
              <a:t>保证被签名的数字信息的完整性和不可抵赖性</a:t>
            </a:r>
            <a:r>
              <a:rPr lang="zh-CN" altLang="zh-CN" dirty="0"/>
              <a:t>。在许多区块链系统中，交易的合法性通过数字签名技术来保证</a:t>
            </a:r>
            <a:r>
              <a:rPr lang="zh-CN" altLang="en-US" dirty="0"/>
              <a:t>。</a:t>
            </a:r>
            <a:endParaRPr lang="en-US" altLang="zh-CN" dirty="0"/>
          </a:p>
          <a:p>
            <a:pPr fontAlgn="auto">
              <a:lnSpc>
                <a:spcPct val="130000"/>
              </a:lnSpc>
            </a:pPr>
            <a:r>
              <a:rPr lang="zh-CN" altLang="en-US" dirty="0"/>
              <a:t>数字签名的使用方式</a:t>
            </a:r>
          </a:p>
          <a:p>
            <a:pPr lvl="1">
              <a:lnSpc>
                <a:spcPct val="130000"/>
              </a:lnSpc>
            </a:pPr>
            <a:r>
              <a:rPr lang="zh-CN" altLang="en-US" dirty="0"/>
              <a:t>数字签名有两个重要步骤</a:t>
            </a:r>
            <a:r>
              <a:rPr lang="en-US" altLang="zh-CN" dirty="0"/>
              <a:t>——</a:t>
            </a:r>
            <a:r>
              <a:rPr lang="zh-CN" altLang="en-US" dirty="0"/>
              <a:t>签名和验证。其中，签名的密钥是不能够公开的，而验证的密钥只有必需的验证方可知。通常来说，验证方都是公开的，这也意味着数字签名的验证方法及验证的密钥是公开的。如果采用了对称加密的方法，这样的要求将导致密钥被公开给验证方，这是不可行的。而非对称加密可以很好地解决这个问题，签名方只需要通过私钥加密信息，验证方可以利用公钥进行解密。</a:t>
            </a:r>
            <a:endParaRPr lang="en-US" altLang="zh-CN"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8"/>
            <a:ext cx="9888940" cy="4845592"/>
          </a:xfrm>
        </p:spPr>
        <p:txBody>
          <a:bodyPr>
            <a:normAutofit fontScale="92500" lnSpcReduction="10000"/>
          </a:bodyPr>
          <a:lstStyle/>
          <a:p>
            <a:pPr fontAlgn="auto">
              <a:lnSpc>
                <a:spcPct val="130000"/>
              </a:lnSpc>
            </a:pPr>
            <a:r>
              <a:rPr lang="zh-CN" altLang="en-US" dirty="0"/>
              <a:t>签名和验证</a:t>
            </a:r>
          </a:p>
          <a:p>
            <a:pPr lvl="1">
              <a:lnSpc>
                <a:spcPct val="130000"/>
              </a:lnSpc>
            </a:pPr>
            <a:r>
              <a:rPr lang="zh-CN" altLang="en-US" dirty="0"/>
              <a:t>如果直接对原有数据进行加密，这个过程的开销是十分巨大的。对此，通常采用了对原本信息的哈希值进行加密的方式来进行签名。对于一个消息</a:t>
            </a:r>
            <a:r>
              <a:rPr lang="en-US" altLang="zh-CN" dirty="0"/>
              <a:t>M</a:t>
            </a:r>
            <a:r>
              <a:rPr lang="zh-CN" altLang="en-US" dirty="0"/>
              <a:t>和其哈希摘要</a:t>
            </a:r>
            <a:r>
              <a:rPr lang="en-US" altLang="zh-CN" dirty="0"/>
              <a:t>D</a:t>
            </a:r>
            <a:r>
              <a:rPr lang="zh-CN" altLang="en-US" dirty="0"/>
              <a:t>，签名者通过自身的私钥</a:t>
            </a:r>
            <a:r>
              <a:rPr lang="en-US" altLang="zh-CN" dirty="0" err="1"/>
              <a:t>K_p</a:t>
            </a:r>
            <a:r>
              <a:rPr lang="zh-CN" altLang="en-US" dirty="0"/>
              <a:t>生成对应的签名</a:t>
            </a:r>
            <a:r>
              <a:rPr lang="en-US" altLang="zh-CN" dirty="0"/>
              <a:t>S=F(</a:t>
            </a:r>
            <a:r>
              <a:rPr lang="en-US" altLang="zh-CN" dirty="0" err="1"/>
              <a:t>D,K_p</a:t>
            </a:r>
            <a:r>
              <a:rPr lang="en-US" altLang="zh-CN" dirty="0"/>
              <a:t> )</a:t>
            </a:r>
            <a:r>
              <a:rPr lang="zh-CN" altLang="en-US" dirty="0"/>
              <a:t>，那么验证者便可以通过公钥</a:t>
            </a:r>
            <a:r>
              <a:rPr lang="en-US" altLang="zh-CN" dirty="0"/>
              <a:t>K</a:t>
            </a:r>
            <a:r>
              <a:rPr lang="zh-CN" altLang="en-US" dirty="0"/>
              <a:t>解密</a:t>
            </a:r>
            <a:r>
              <a:rPr lang="en-US" altLang="zh-CN" dirty="0"/>
              <a:t>S</a:t>
            </a:r>
            <a:r>
              <a:rPr lang="zh-CN" altLang="en-US" dirty="0"/>
              <a:t>得到接收到的消息</a:t>
            </a:r>
            <a:r>
              <a:rPr lang="en-US" altLang="zh-CN" dirty="0"/>
              <a:t>M’</a:t>
            </a:r>
            <a:r>
              <a:rPr lang="zh-CN" altLang="en-US" dirty="0"/>
              <a:t>的摘要</a:t>
            </a:r>
            <a:r>
              <a:rPr lang="en-US" altLang="zh-CN" dirty="0"/>
              <a:t>D=F'(S,K)</a:t>
            </a:r>
            <a:r>
              <a:rPr lang="zh-CN" altLang="en-US" dirty="0"/>
              <a:t>，通过消息</a:t>
            </a:r>
            <a:r>
              <a:rPr lang="en-US" altLang="zh-CN" dirty="0"/>
              <a:t>M’</a:t>
            </a:r>
            <a:r>
              <a:rPr lang="zh-CN" altLang="en-US" dirty="0"/>
              <a:t>产生的摘要</a:t>
            </a:r>
            <a:r>
              <a:rPr lang="en-US" altLang="zh-CN" dirty="0"/>
              <a:t>D'</a:t>
            </a:r>
            <a:r>
              <a:rPr lang="zh-CN" altLang="en-US" dirty="0"/>
              <a:t>与</a:t>
            </a:r>
            <a:r>
              <a:rPr lang="en-US" altLang="zh-CN" dirty="0"/>
              <a:t>D</a:t>
            </a:r>
            <a:r>
              <a:rPr lang="zh-CN" altLang="en-US" dirty="0"/>
              <a:t>的对比可以验证消息</a:t>
            </a:r>
            <a:r>
              <a:rPr lang="en-US" altLang="zh-CN" dirty="0"/>
              <a:t>M</a:t>
            </a:r>
            <a:r>
              <a:rPr lang="zh-CN" altLang="en-US" dirty="0"/>
              <a:t>的完整性和正确性。在哈希函数小节中我们知道，哈希的过程是具有抗篡改能力的，如果接收到的消息</a:t>
            </a:r>
            <a:r>
              <a:rPr lang="en-US" altLang="zh-CN" dirty="0"/>
              <a:t>M’</a:t>
            </a:r>
            <a:r>
              <a:rPr lang="zh-CN" altLang="en-US" dirty="0"/>
              <a:t>被第三方篡改过了，那么得到的哈希值很难再次对应（除非产生了碰撞）。同样，如果验证者已经接收到了签名</a:t>
            </a:r>
            <a:r>
              <a:rPr lang="en-US" altLang="zh-CN" dirty="0"/>
              <a:t>S</a:t>
            </a:r>
            <a:r>
              <a:rPr lang="zh-CN" altLang="en-US" dirty="0"/>
              <a:t>，那么签名者也不能够再次修改数字信息，这体现了数字签名的不可抵赖性。</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11</a:t>
            </a:fld>
            <a:endParaRPr kumimoji="1"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8"/>
            <a:ext cx="9888940" cy="2323823"/>
          </a:xfrm>
        </p:spPr>
        <p:txBody>
          <a:bodyPr>
            <a:normAutofit fontScale="85000" lnSpcReduction="20000"/>
          </a:bodyPr>
          <a:lstStyle/>
          <a:p>
            <a:pPr fontAlgn="auto">
              <a:lnSpc>
                <a:spcPct val="130000"/>
              </a:lnSpc>
            </a:pPr>
            <a:r>
              <a:rPr lang="zh-CN" altLang="en-US" dirty="0"/>
              <a:t>数字签名的例子</a:t>
            </a:r>
          </a:p>
          <a:p>
            <a:pPr lvl="1">
              <a:lnSpc>
                <a:spcPct val="130000"/>
              </a:lnSpc>
            </a:pPr>
            <a:r>
              <a:rPr lang="zh-CN" altLang="en-US" dirty="0"/>
              <a:t>如图，对于检验方而言，通过检查数字签名</a:t>
            </a:r>
            <a:r>
              <a:rPr lang="en-US" altLang="zh-CN" dirty="0"/>
              <a:t>S</a:t>
            </a:r>
            <a:r>
              <a:rPr lang="zh-CN" altLang="en-US" dirty="0"/>
              <a:t>解密得到的摘要</a:t>
            </a:r>
            <a:r>
              <a:rPr lang="en-US" altLang="zh-CN" dirty="0"/>
              <a:t>D</a:t>
            </a:r>
            <a:r>
              <a:rPr lang="zh-CN" altLang="en-US" dirty="0"/>
              <a:t>和接收到的消息</a:t>
            </a:r>
            <a:r>
              <a:rPr lang="en-US" altLang="zh-CN" dirty="0"/>
              <a:t>M'</a:t>
            </a:r>
            <a:r>
              <a:rPr lang="zh-CN" altLang="en-US" dirty="0"/>
              <a:t>的摘要</a:t>
            </a:r>
            <a:r>
              <a:rPr lang="en-US" altLang="zh-CN" dirty="0"/>
              <a:t>D'</a:t>
            </a:r>
            <a:r>
              <a:rPr lang="zh-CN" altLang="en-US" dirty="0"/>
              <a:t>是否相同，便可以确定消息</a:t>
            </a:r>
            <a:r>
              <a:rPr lang="en-US" altLang="zh-CN" dirty="0"/>
              <a:t>M</a:t>
            </a:r>
            <a:r>
              <a:rPr lang="zh-CN" altLang="en-US" dirty="0"/>
              <a:t>的完整性和正确性。即使</a:t>
            </a:r>
            <a:r>
              <a:rPr lang="en-US" altLang="zh-CN" dirty="0"/>
              <a:t>M</a:t>
            </a:r>
            <a:r>
              <a:rPr lang="zh-CN" altLang="en-US" dirty="0"/>
              <a:t>被微小的修改为了</a:t>
            </a:r>
            <a:r>
              <a:rPr lang="en-US" altLang="zh-CN" dirty="0"/>
              <a:t>M’</a:t>
            </a:r>
            <a:r>
              <a:rPr lang="zh-CN" altLang="en-US" dirty="0"/>
              <a:t>，根据哈希函数的特点，得到的摘要</a:t>
            </a:r>
            <a:r>
              <a:rPr lang="en-US" altLang="zh-CN" dirty="0"/>
              <a:t>D’</a:t>
            </a:r>
            <a:r>
              <a:rPr lang="zh-CN" altLang="en-US" dirty="0"/>
              <a:t>也会完全不同。当然，签名的实际流程更为复杂一些，而且可能不包含加解密的过程，但都是通过接收到消息</a:t>
            </a:r>
            <a:r>
              <a:rPr lang="en-US" altLang="zh-CN" dirty="0"/>
              <a:t>M</a:t>
            </a:r>
            <a:r>
              <a:rPr lang="zh-CN" altLang="en-US" dirty="0"/>
              <a:t>的摘要</a:t>
            </a:r>
            <a:r>
              <a:rPr lang="en-US" altLang="zh-CN" dirty="0"/>
              <a:t>D</a:t>
            </a:r>
            <a:r>
              <a:rPr lang="zh-CN" altLang="en-US" dirty="0"/>
              <a:t>、公钥</a:t>
            </a:r>
            <a:r>
              <a:rPr lang="en-US" altLang="zh-CN" dirty="0"/>
              <a:t>K</a:t>
            </a:r>
            <a:r>
              <a:rPr lang="zh-CN" altLang="en-US" dirty="0"/>
              <a:t>，以及相对应的签名</a:t>
            </a:r>
            <a:r>
              <a:rPr lang="en-US" altLang="zh-CN" dirty="0"/>
              <a:t>S</a:t>
            </a:r>
            <a:r>
              <a:rPr lang="zh-CN" altLang="en-US" dirty="0"/>
              <a:t>来进行比对和验算。</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pic>
        <p:nvPicPr>
          <p:cNvPr id="4" name="图片 3"/>
          <p:cNvPicPr>
            <a:picLocks noChangeAspect="1"/>
          </p:cNvPicPr>
          <p:nvPr/>
        </p:nvPicPr>
        <p:blipFill>
          <a:blip r:embed="rId3"/>
          <a:stretch>
            <a:fillRect/>
          </a:stretch>
        </p:blipFill>
        <p:spPr>
          <a:xfrm>
            <a:off x="2823773" y="3803509"/>
            <a:ext cx="5954505" cy="2645362"/>
          </a:xfrm>
          <a:prstGeom prst="rect">
            <a:avLst/>
          </a:prstGeom>
        </p:spPr>
      </p:pic>
      <p:sp>
        <p:nvSpPr>
          <p:cNvPr id="5" name="文本框 4"/>
          <p:cNvSpPr txBox="1"/>
          <p:nvPr/>
        </p:nvSpPr>
        <p:spPr>
          <a:xfrm>
            <a:off x="4305341" y="6356350"/>
            <a:ext cx="2954655" cy="369332"/>
          </a:xfrm>
          <a:prstGeom prst="rect">
            <a:avLst/>
          </a:prstGeom>
          <a:noFill/>
        </p:spPr>
        <p:txBody>
          <a:bodyPr wrap="none" rtlCol="0">
            <a:spAutoFit/>
          </a:bodyPr>
          <a:lstStyle/>
          <a:p>
            <a:r>
              <a:rPr kumimoji="1" lang="zh-CN" altLang="en-US" dirty="0"/>
              <a:t>简单的数字签名和检验流程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主网与测试网</a:t>
            </a:r>
            <a:endParaRPr lang="en-US" altLang="zh-CN" dirty="0"/>
          </a:p>
        </p:txBody>
      </p:sp>
      <p:sp>
        <p:nvSpPr>
          <p:cNvPr id="3" name="内容占位符 2"/>
          <p:cNvSpPr>
            <a:spLocks noGrp="1"/>
          </p:cNvSpPr>
          <p:nvPr>
            <p:ph idx="1"/>
          </p:nvPr>
        </p:nvSpPr>
        <p:spPr>
          <a:xfrm>
            <a:off x="838200" y="1510758"/>
            <a:ext cx="9888940" cy="4845592"/>
          </a:xfrm>
        </p:spPr>
        <p:txBody>
          <a:bodyPr>
            <a:normAutofit fontScale="92500" lnSpcReduction="10000"/>
          </a:bodyPr>
          <a:lstStyle/>
          <a:p>
            <a:pPr fontAlgn="auto">
              <a:lnSpc>
                <a:spcPct val="130000"/>
              </a:lnSpc>
            </a:pPr>
            <a:r>
              <a:rPr lang="zh-CN" altLang="en-US" dirty="0"/>
              <a:t>主网</a:t>
            </a:r>
          </a:p>
          <a:p>
            <a:pPr lvl="1">
              <a:lnSpc>
                <a:spcPct val="130000"/>
              </a:lnSpc>
            </a:pPr>
            <a:r>
              <a:rPr lang="zh-CN" altLang="en-US" dirty="0"/>
              <a:t>人为规定的比特币网络，在这个主网上流通的比特币才具有真正的经济价值，代表了比特币系统。</a:t>
            </a:r>
            <a:endParaRPr lang="en-US" altLang="zh-CN" dirty="0"/>
          </a:p>
          <a:p>
            <a:pPr lvl="0">
              <a:lnSpc>
                <a:spcPct val="130000"/>
              </a:lnSpc>
            </a:pPr>
            <a:r>
              <a:rPr lang="zh-CN" altLang="en-US" dirty="0">
                <a:solidFill>
                  <a:prstClr val="black"/>
                </a:solidFill>
              </a:rPr>
              <a:t>测试网</a:t>
            </a:r>
            <a:endParaRPr lang="en-US" altLang="zh-CN" dirty="0">
              <a:solidFill>
                <a:prstClr val="black"/>
              </a:solidFill>
            </a:endParaRPr>
          </a:p>
          <a:p>
            <a:pPr lvl="1">
              <a:lnSpc>
                <a:spcPct val="130000"/>
              </a:lnSpc>
            </a:pPr>
            <a:r>
              <a:rPr lang="zh-CN" altLang="en-US" dirty="0">
                <a:solidFill>
                  <a:prstClr val="black"/>
                </a:solidFill>
              </a:rPr>
              <a:t>与主网相对的概念，一般用于开发和测试客户端、测试特定交易脚本等工作。在测试网中获取的比特币一般不具有实际的经济价值。往往由相对较多的节点和参与者，相对于本地的私链更能够模拟主网的环境。</a:t>
            </a:r>
            <a:endParaRPr lang="en-US" altLang="zh-CN" dirty="0">
              <a:solidFill>
                <a:prstClr val="black"/>
              </a:solidFill>
            </a:endParaRPr>
          </a:p>
          <a:p>
            <a:pPr lvl="0">
              <a:lnSpc>
                <a:spcPct val="130000"/>
              </a:lnSpc>
            </a:pPr>
            <a:r>
              <a:rPr lang="zh-CN" altLang="en-US" dirty="0">
                <a:solidFill>
                  <a:prstClr val="black"/>
                </a:solidFill>
              </a:rPr>
              <a:t>本地测试网</a:t>
            </a:r>
            <a:endParaRPr lang="en-US" altLang="zh-CN" dirty="0">
              <a:solidFill>
                <a:prstClr val="black"/>
              </a:solidFill>
            </a:endParaRPr>
          </a:p>
          <a:p>
            <a:pPr lvl="1">
              <a:lnSpc>
                <a:spcPct val="130000"/>
              </a:lnSpc>
            </a:pPr>
            <a:r>
              <a:rPr lang="zh-CN" altLang="en-US" dirty="0">
                <a:solidFill>
                  <a:prstClr val="black"/>
                </a:solidFill>
              </a:rPr>
              <a:t>称为</a:t>
            </a:r>
            <a:r>
              <a:rPr lang="en-US" altLang="zh-CN" dirty="0" err="1">
                <a:solidFill>
                  <a:prstClr val="black"/>
                </a:solidFill>
              </a:rPr>
              <a:t>Rogtest</a:t>
            </a:r>
            <a:r>
              <a:rPr lang="zh-CN" altLang="en-US" dirty="0">
                <a:solidFill>
                  <a:prstClr val="black"/>
                </a:solidFill>
              </a:rPr>
              <a:t>，通常只有本地节点，其余性质于测试网类似，可以用作本地测试。</a:t>
            </a:r>
            <a:endParaRPr lang="en-US" altLang="zh-CN" dirty="0">
              <a:solidFill>
                <a:prstClr val="black"/>
              </a:solidFill>
            </a:endParaRPr>
          </a:p>
          <a:p>
            <a:pPr lvl="1">
              <a:lnSpc>
                <a:spcPct val="130000"/>
              </a:lnSpc>
            </a:pPr>
            <a:endParaRPr lang="en-US" altLang="zh-CN"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2.1 </a:t>
            </a:r>
            <a:r>
              <a:rPr kumimoji="1" lang="zh-CN" altLang="en-US" dirty="0"/>
              <a:t>比特币简介</a:t>
            </a:r>
            <a:endParaRPr kumimoji="1" lang="en-US" altLang="zh-CN" dirty="0"/>
          </a:p>
          <a:p>
            <a:pPr marL="0" indent="0">
              <a:lnSpc>
                <a:spcPct val="130000"/>
              </a:lnSpc>
              <a:buNone/>
            </a:pPr>
            <a:r>
              <a:rPr kumimoji="1" lang="en-US" altLang="zh-CN" dirty="0"/>
              <a:t>2.2 </a:t>
            </a:r>
            <a:r>
              <a:rPr kumimoji="1" lang="zh-CN" altLang="en-US" dirty="0"/>
              <a:t>基础知识</a:t>
            </a:r>
            <a:r>
              <a:rPr kumimoji="1" lang="en-US" altLang="zh-CN" dirty="0"/>
              <a:t> </a:t>
            </a:r>
          </a:p>
          <a:p>
            <a:pPr marL="0" indent="0">
              <a:lnSpc>
                <a:spcPct val="130000"/>
              </a:lnSpc>
              <a:buNone/>
            </a:pPr>
            <a:r>
              <a:rPr kumimoji="1" lang="en-US" altLang="zh-CN" dirty="0">
                <a:solidFill>
                  <a:srgbClr val="C00000"/>
                </a:solidFill>
              </a:rPr>
              <a:t>2.3 </a:t>
            </a:r>
            <a:r>
              <a:rPr kumimoji="1" lang="zh-CN" altLang="en-US" dirty="0">
                <a:solidFill>
                  <a:srgbClr val="C00000"/>
                </a:solidFill>
              </a:rPr>
              <a:t>交易</a:t>
            </a:r>
            <a:endParaRPr kumimoji="1" lang="en-US" altLang="zh-CN" dirty="0">
              <a:solidFill>
                <a:srgbClr val="C00000"/>
              </a:solidFill>
            </a:endParaRPr>
          </a:p>
          <a:p>
            <a:pPr marL="0" indent="0">
              <a:lnSpc>
                <a:spcPct val="130000"/>
              </a:lnSpc>
              <a:buNone/>
            </a:pPr>
            <a:r>
              <a:rPr kumimoji="1" lang="en-US" altLang="zh-CN" dirty="0"/>
              <a:t>2.4 </a:t>
            </a:r>
            <a:r>
              <a:rPr kumimoji="1" lang="zh-CN" altLang="en-US" dirty="0"/>
              <a:t>脚本系统</a:t>
            </a:r>
            <a:endParaRPr kumimoji="1" lang="en-US" altLang="zh-CN" dirty="0"/>
          </a:p>
          <a:p>
            <a:pPr marL="0" indent="0">
              <a:lnSpc>
                <a:spcPct val="130000"/>
              </a:lnSpc>
              <a:buNone/>
            </a:pPr>
            <a:r>
              <a:rPr kumimoji="1" lang="en-US" altLang="zh-CN" dirty="0"/>
              <a:t>2.5 </a:t>
            </a:r>
            <a:r>
              <a:rPr kumimoji="1" lang="zh-CN" altLang="en-US" dirty="0"/>
              <a:t>公私密钥与地址</a:t>
            </a:r>
            <a:endParaRPr kumimoji="1" lang="en-US" altLang="zh-CN" dirty="0"/>
          </a:p>
          <a:p>
            <a:pPr marL="0" indent="0">
              <a:lnSpc>
                <a:spcPct val="130000"/>
              </a:lnSpc>
              <a:buNone/>
            </a:pPr>
            <a:r>
              <a:rPr kumimoji="1" lang="en-US" altLang="zh-CN" dirty="0"/>
              <a:t>2.6 </a:t>
            </a:r>
            <a:r>
              <a:rPr kumimoji="1" lang="zh-CN" altLang="en-US" dirty="0"/>
              <a:t>区块与链</a:t>
            </a:r>
            <a:endParaRPr kumimoji="1" lang="en-US" altLang="zh-CN" dirty="0"/>
          </a:p>
          <a:p>
            <a:pPr marL="0" indent="0">
              <a:lnSpc>
                <a:spcPct val="130000"/>
              </a:lnSpc>
              <a:buNone/>
            </a:pPr>
            <a:r>
              <a:rPr kumimoji="1" lang="en-US" altLang="zh-CN" dirty="0"/>
              <a:t>2.7 </a:t>
            </a:r>
            <a:r>
              <a:rPr kumimoji="1" lang="zh-CN" altLang="en-US" dirty="0"/>
              <a:t>共识</a:t>
            </a:r>
            <a:endParaRPr kumimoji="1" lang="en-US" altLang="zh-CN" dirty="0"/>
          </a:p>
        </p:txBody>
      </p:sp>
      <p:sp>
        <p:nvSpPr>
          <p:cNvPr id="7" name="矩形标注 6"/>
          <p:cNvSpPr/>
          <p:nvPr/>
        </p:nvSpPr>
        <p:spPr>
          <a:xfrm>
            <a:off x="4772056" y="2748670"/>
            <a:ext cx="4281889" cy="2256017"/>
          </a:xfrm>
          <a:prstGeom prst="wedgeRectCallout">
            <a:avLst>
              <a:gd name="adj1" fmla="val -81204"/>
              <a:gd name="adj2" fmla="val -4243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交易</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输出</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输入</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UTXO</a:t>
            </a:r>
            <a:r>
              <a:rPr kumimoji="1" lang="zh-CN" altLang="en-US" sz="2400" dirty="0">
                <a:solidFill>
                  <a:prstClr val="black"/>
                </a:solidFill>
                <a:latin typeface="Microsoft YaHei" panose="020B0503020204020204" pitchFamily="34" charset="-122"/>
                <a:ea typeface="Microsoft YaHei" panose="020B0503020204020204" pitchFamily="34" charset="-122"/>
              </a:rPr>
              <a:t>模型</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账户与交易</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账户</a:t>
            </a:r>
          </a:p>
          <a:p>
            <a:pPr lvl="1">
              <a:lnSpc>
                <a:spcPct val="130000"/>
              </a:lnSpc>
            </a:pPr>
            <a:r>
              <a:rPr lang="zh-CN" altLang="en-US" dirty="0"/>
              <a:t>账户是区块链系统中数字货币的所有者，也称为地址。</a:t>
            </a:r>
            <a:endParaRPr lang="en-US" altLang="zh-CN" dirty="0"/>
          </a:p>
          <a:p>
            <a:pPr lvl="1">
              <a:lnSpc>
                <a:spcPct val="130000"/>
              </a:lnSpc>
            </a:pPr>
            <a:r>
              <a:rPr lang="zh-CN" altLang="en-US" dirty="0"/>
              <a:t>账户之间的货币转移通过交易来实现，称为转账。</a:t>
            </a:r>
            <a:endParaRPr lang="en-US" altLang="zh-CN" dirty="0"/>
          </a:p>
          <a:p>
            <a:pPr lvl="0">
              <a:lnSpc>
                <a:spcPct val="130000"/>
              </a:lnSpc>
            </a:pPr>
            <a:r>
              <a:rPr lang="zh-CN" altLang="en-US" dirty="0">
                <a:solidFill>
                  <a:prstClr val="black"/>
                </a:solidFill>
              </a:rPr>
              <a:t>账户系统的经典模型</a:t>
            </a:r>
            <a:endParaRPr lang="en-US" altLang="zh-CN" dirty="0">
              <a:solidFill>
                <a:prstClr val="black"/>
              </a:solidFill>
            </a:endParaRPr>
          </a:p>
          <a:p>
            <a:pPr lvl="1">
              <a:lnSpc>
                <a:spcPct val="130000"/>
              </a:lnSpc>
            </a:pPr>
            <a:r>
              <a:rPr lang="en-US" altLang="zh-CN" b="1" dirty="0">
                <a:solidFill>
                  <a:prstClr val="black"/>
                </a:solidFill>
              </a:rPr>
              <a:t>UTXO</a:t>
            </a:r>
            <a:r>
              <a:rPr lang="zh-CN" altLang="en-US" dirty="0">
                <a:solidFill>
                  <a:prstClr val="black"/>
                </a:solidFill>
              </a:rPr>
              <a:t>，应用于比特币。</a:t>
            </a:r>
            <a:endParaRPr lang="en-US" altLang="zh-CN" dirty="0">
              <a:solidFill>
                <a:prstClr val="black"/>
              </a:solidFill>
            </a:endParaRPr>
          </a:p>
          <a:p>
            <a:pPr lvl="1">
              <a:lnSpc>
                <a:spcPct val="130000"/>
              </a:lnSpc>
            </a:pPr>
            <a:r>
              <a:rPr lang="zh-CN" altLang="en-US" b="1" dirty="0">
                <a:solidFill>
                  <a:prstClr val="black"/>
                </a:solidFill>
              </a:rPr>
              <a:t>账户状态转移</a:t>
            </a:r>
            <a:r>
              <a:rPr lang="zh-CN" altLang="en-US" dirty="0">
                <a:solidFill>
                  <a:prstClr val="black"/>
                </a:solidFill>
              </a:rPr>
              <a:t>，应用于以太坊。</a:t>
            </a:r>
            <a:endParaRPr lang="en-US" altLang="zh-CN"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交易</a:t>
            </a:r>
            <a:endParaRPr lang="en-US" altLang="zh-CN" dirty="0"/>
          </a:p>
        </p:txBody>
      </p:sp>
      <p:sp>
        <p:nvSpPr>
          <p:cNvPr id="3" name="内容占位符 2"/>
          <p:cNvSpPr>
            <a:spLocks noGrp="1"/>
          </p:cNvSpPr>
          <p:nvPr>
            <p:ph idx="1"/>
          </p:nvPr>
        </p:nvSpPr>
        <p:spPr>
          <a:xfrm>
            <a:off x="838200" y="1510758"/>
            <a:ext cx="9888940" cy="3299781"/>
          </a:xfrm>
        </p:spPr>
        <p:txBody>
          <a:bodyPr>
            <a:normAutofit fontScale="85000" lnSpcReduction="20000"/>
          </a:bodyPr>
          <a:lstStyle/>
          <a:p>
            <a:pPr fontAlgn="auto">
              <a:lnSpc>
                <a:spcPct val="130000"/>
              </a:lnSpc>
            </a:pPr>
            <a:r>
              <a:rPr lang="zh-CN" altLang="en-US" dirty="0"/>
              <a:t>账户余额</a:t>
            </a:r>
          </a:p>
          <a:p>
            <a:pPr lvl="1">
              <a:lnSpc>
                <a:spcPct val="130000"/>
              </a:lnSpc>
            </a:pPr>
            <a:r>
              <a:rPr lang="zh-CN" altLang="en-US" dirty="0"/>
              <a:t>由</a:t>
            </a:r>
            <a:r>
              <a:rPr lang="en-US" altLang="zh-CN" dirty="0"/>
              <a:t>UTXO</a:t>
            </a:r>
            <a:r>
              <a:rPr lang="zh-CN" altLang="en-US" dirty="0"/>
              <a:t>表示（由之后的内容介绍）。</a:t>
            </a:r>
            <a:endParaRPr lang="en-US" altLang="zh-CN" dirty="0"/>
          </a:p>
          <a:p>
            <a:pPr lvl="0">
              <a:lnSpc>
                <a:spcPct val="130000"/>
              </a:lnSpc>
            </a:pPr>
            <a:r>
              <a:rPr lang="zh-CN" altLang="en-US" dirty="0">
                <a:solidFill>
                  <a:prstClr val="black"/>
                </a:solidFill>
              </a:rPr>
              <a:t>比特币的交易类似于借据交易</a:t>
            </a:r>
          </a:p>
          <a:p>
            <a:pPr lvl="1">
              <a:lnSpc>
                <a:spcPct val="130000"/>
              </a:lnSpc>
            </a:pPr>
            <a:r>
              <a:rPr lang="zh-CN" altLang="en-US" dirty="0">
                <a:solidFill>
                  <a:prstClr val="black"/>
                </a:solidFill>
              </a:rPr>
              <a:t>在这个过程中，借据上的借款数额虽然是可以继续划分的，但是借据本身是一个不可划分的整体，而比特币的交易也是类似的，交易主要分为输入和输出两个部分。交易的输入表示了交易的比特币从哪里来，交易的输出则体现了交易中的这些比特币在交易结束后往哪里去。虽然交易中的比特币数值可以继续划分到很小的单位，但是交易的输入和输出本身都是单一的整体，不可划分。</a:t>
            </a:r>
            <a:endParaRPr lang="en-US" altLang="zh-CN"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pic>
        <p:nvPicPr>
          <p:cNvPr id="4" name="图片 3"/>
          <p:cNvPicPr>
            <a:picLocks noChangeAspect="1"/>
          </p:cNvPicPr>
          <p:nvPr/>
        </p:nvPicPr>
        <p:blipFill>
          <a:blip r:embed="rId3"/>
          <a:stretch>
            <a:fillRect/>
          </a:stretch>
        </p:blipFill>
        <p:spPr>
          <a:xfrm>
            <a:off x="3386111" y="4989492"/>
            <a:ext cx="4793117" cy="1366858"/>
          </a:xfrm>
          <a:prstGeom prst="rect">
            <a:avLst/>
          </a:prstGeom>
        </p:spPr>
      </p:pic>
      <p:sp>
        <p:nvSpPr>
          <p:cNvPr id="5" name="文本框 4"/>
          <p:cNvSpPr txBox="1"/>
          <p:nvPr/>
        </p:nvSpPr>
        <p:spPr>
          <a:xfrm>
            <a:off x="5228671" y="6358118"/>
            <a:ext cx="1107996" cy="369332"/>
          </a:xfrm>
          <a:prstGeom prst="rect">
            <a:avLst/>
          </a:prstGeom>
          <a:noFill/>
        </p:spPr>
        <p:txBody>
          <a:bodyPr wrap="none" rtlCol="0">
            <a:spAutoFit/>
          </a:bodyPr>
          <a:lstStyle/>
          <a:p>
            <a:r>
              <a:rPr kumimoji="1" lang="zh-CN" altLang="en-US" dirty="0"/>
              <a:t>借据转交</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8"/>
            <a:ext cx="9888940" cy="3710171"/>
          </a:xfrm>
        </p:spPr>
        <p:txBody>
          <a:bodyPr>
            <a:normAutofit fontScale="92500"/>
          </a:bodyPr>
          <a:lstStyle/>
          <a:p>
            <a:pPr fontAlgn="auto">
              <a:lnSpc>
                <a:spcPct val="130000"/>
              </a:lnSpc>
            </a:pPr>
            <a:r>
              <a:rPr lang="zh-CN" altLang="en-US" dirty="0"/>
              <a:t>比特币的交易（转账）</a:t>
            </a:r>
          </a:p>
          <a:p>
            <a:pPr lvl="1">
              <a:lnSpc>
                <a:spcPct val="130000"/>
              </a:lnSpc>
            </a:pPr>
            <a:r>
              <a:rPr lang="zh-CN" altLang="en-US" dirty="0"/>
              <a:t>假设现在</a:t>
            </a:r>
            <a:r>
              <a:rPr lang="en-GB" altLang="zh-CN" dirty="0"/>
              <a:t>Alice</a:t>
            </a:r>
            <a:r>
              <a:rPr lang="zh-CN" altLang="en-US" dirty="0"/>
              <a:t>要向</a:t>
            </a:r>
            <a:r>
              <a:rPr lang="en-GB" altLang="zh-CN" dirty="0"/>
              <a:t>Bob</a:t>
            </a:r>
            <a:r>
              <a:rPr lang="zh-CN" altLang="en-US" dirty="0"/>
              <a:t>进行转账</a:t>
            </a:r>
            <a:r>
              <a:rPr lang="en-US" altLang="zh-CN" dirty="0"/>
              <a:t>1</a:t>
            </a:r>
            <a:r>
              <a:rPr lang="zh-CN" altLang="en-US" dirty="0"/>
              <a:t>个</a:t>
            </a:r>
            <a:r>
              <a:rPr lang="en-GB" altLang="zh-CN" dirty="0"/>
              <a:t>BTC</a:t>
            </a:r>
            <a:r>
              <a:rPr lang="zh-CN" altLang="en-GB" dirty="0"/>
              <a:t>，</a:t>
            </a:r>
            <a:r>
              <a:rPr lang="zh-CN" altLang="en-US" dirty="0"/>
              <a:t>那么她必须使用一个交易来完成这个转账的动作。首先，</a:t>
            </a:r>
            <a:r>
              <a:rPr lang="en-GB" altLang="zh-CN" dirty="0"/>
              <a:t>Alice</a:t>
            </a:r>
            <a:r>
              <a:rPr lang="zh-CN" altLang="en-US" dirty="0"/>
              <a:t>会将她所拥有的</a:t>
            </a:r>
            <a:r>
              <a:rPr lang="en-US" altLang="zh-CN" dirty="0"/>
              <a:t>1</a:t>
            </a:r>
            <a:r>
              <a:rPr lang="zh-CN" altLang="en-US" dirty="0"/>
              <a:t>个</a:t>
            </a:r>
            <a:r>
              <a:rPr lang="en-GB" altLang="zh-CN" dirty="0"/>
              <a:t>BTC</a:t>
            </a:r>
            <a:r>
              <a:rPr lang="zh-CN" altLang="en-US" dirty="0"/>
              <a:t>放入到交易的输入中，再将这个交易的输出标记为</a:t>
            </a:r>
            <a:r>
              <a:rPr lang="en-GB" altLang="zh-CN" dirty="0"/>
              <a:t>Bob</a:t>
            </a:r>
            <a:r>
              <a:rPr lang="zh-CN" altLang="en-US" dirty="0"/>
              <a:t>所有。那么，执行完这一交易之后，</a:t>
            </a:r>
            <a:r>
              <a:rPr lang="en-GB" altLang="zh-CN" dirty="0"/>
              <a:t>Alice</a:t>
            </a:r>
            <a:r>
              <a:rPr lang="zh-CN" altLang="en-US" dirty="0"/>
              <a:t>就失去了放入输入的这一个</a:t>
            </a:r>
            <a:r>
              <a:rPr lang="en-GB" altLang="zh-CN" dirty="0"/>
              <a:t>BTC</a:t>
            </a:r>
            <a:r>
              <a:rPr lang="zh-CN" altLang="en-US" dirty="0"/>
              <a:t>的所有权，而</a:t>
            </a:r>
            <a:r>
              <a:rPr lang="en-GB" altLang="zh-CN" dirty="0"/>
              <a:t>Bob</a:t>
            </a:r>
            <a:r>
              <a:rPr lang="zh-CN" altLang="en-US" dirty="0"/>
              <a:t>得到了这个交易输出的</a:t>
            </a:r>
            <a:r>
              <a:rPr lang="en-GB" altLang="zh-CN" dirty="0"/>
              <a:t>BTC</a:t>
            </a:r>
            <a:r>
              <a:rPr lang="zh-CN" altLang="en-US" dirty="0"/>
              <a:t>的所有权。在这个过程中，比特币系统中的所有参与者共同充当了公证人的角色，而密码学的原理充当了原本借据上具有法律效力的印章和签名。 </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17</a:t>
            </a:fld>
            <a:endParaRPr kumimoji="1" lang="zh-CN" altLang="en-US" dirty="0"/>
          </a:p>
        </p:txBody>
      </p:sp>
      <p:sp>
        <p:nvSpPr>
          <p:cNvPr id="5" name="文本框 4"/>
          <p:cNvSpPr txBox="1"/>
          <p:nvPr/>
        </p:nvSpPr>
        <p:spPr>
          <a:xfrm>
            <a:off x="4917688" y="6101217"/>
            <a:ext cx="1729961" cy="369332"/>
          </a:xfrm>
          <a:prstGeom prst="rect">
            <a:avLst/>
          </a:prstGeom>
          <a:noFill/>
        </p:spPr>
        <p:txBody>
          <a:bodyPr wrap="none" rtlCol="0">
            <a:spAutoFit/>
          </a:bodyPr>
          <a:lstStyle/>
          <a:p>
            <a:r>
              <a:rPr kumimoji="1" lang="en-US" altLang="zh-CN" dirty="0" err="1"/>
              <a:t>Alicc</a:t>
            </a:r>
            <a:r>
              <a:rPr kumimoji="1" lang="zh-CN" altLang="en-US" dirty="0"/>
              <a:t>向</a:t>
            </a:r>
            <a:r>
              <a:rPr kumimoji="1" lang="en-US" altLang="zh-CN" dirty="0"/>
              <a:t>Bob</a:t>
            </a:r>
            <a:r>
              <a:rPr kumimoji="1" lang="zh-CN" altLang="en-US" dirty="0"/>
              <a:t>转账</a:t>
            </a:r>
          </a:p>
        </p:txBody>
      </p:sp>
      <p:pic>
        <p:nvPicPr>
          <p:cNvPr id="6" name="图片 5"/>
          <p:cNvPicPr>
            <a:picLocks noChangeAspect="1"/>
          </p:cNvPicPr>
          <p:nvPr/>
        </p:nvPicPr>
        <p:blipFill>
          <a:blip r:embed="rId3"/>
          <a:stretch>
            <a:fillRect/>
          </a:stretch>
        </p:blipFill>
        <p:spPr>
          <a:xfrm>
            <a:off x="3522068" y="5460073"/>
            <a:ext cx="4521200" cy="5969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a:t>
            </a:r>
            <a:endParaRPr lang="en-US" altLang="zh-CN" dirty="0"/>
          </a:p>
        </p:txBody>
      </p:sp>
      <p:sp>
        <p:nvSpPr>
          <p:cNvPr id="3" name="内容占位符 2"/>
          <p:cNvSpPr>
            <a:spLocks noGrp="1"/>
          </p:cNvSpPr>
          <p:nvPr>
            <p:ph idx="1"/>
          </p:nvPr>
        </p:nvSpPr>
        <p:spPr>
          <a:xfrm>
            <a:off x="838200" y="1510758"/>
            <a:ext cx="9888940" cy="3299781"/>
          </a:xfrm>
        </p:spPr>
        <p:txBody>
          <a:bodyPr>
            <a:normAutofit fontScale="92500"/>
          </a:bodyPr>
          <a:lstStyle/>
          <a:p>
            <a:pPr fontAlgn="auto">
              <a:lnSpc>
                <a:spcPct val="130000"/>
              </a:lnSpc>
            </a:pPr>
            <a:r>
              <a:rPr lang="zh-CN" altLang="en-US" dirty="0"/>
              <a:t>交易的输出</a:t>
            </a:r>
          </a:p>
          <a:p>
            <a:pPr lvl="1">
              <a:lnSpc>
                <a:spcPct val="130000"/>
              </a:lnSpc>
            </a:pPr>
            <a:r>
              <a:rPr lang="zh-CN" altLang="en-US" dirty="0"/>
              <a:t>在交易过程中，输出用来表示这笔交易的比特币去向。</a:t>
            </a:r>
            <a:endParaRPr lang="en-US" altLang="zh-CN" dirty="0"/>
          </a:p>
          <a:p>
            <a:pPr lvl="0">
              <a:lnSpc>
                <a:spcPct val="130000"/>
              </a:lnSpc>
            </a:pPr>
            <a:r>
              <a:rPr lang="zh-CN" altLang="en-US" dirty="0">
                <a:solidFill>
                  <a:prstClr val="black"/>
                </a:solidFill>
              </a:rPr>
              <a:t>交易可以有多个输出</a:t>
            </a:r>
          </a:p>
          <a:p>
            <a:pPr lvl="1">
              <a:lnSpc>
                <a:spcPct val="130000"/>
              </a:lnSpc>
            </a:pPr>
            <a:r>
              <a:rPr lang="zh-CN" altLang="en-US" dirty="0">
                <a:solidFill>
                  <a:prstClr val="black"/>
                </a:solidFill>
              </a:rPr>
              <a:t>在上面的</a:t>
            </a:r>
            <a:r>
              <a:rPr lang="en-GB" altLang="zh-CN" dirty="0">
                <a:solidFill>
                  <a:prstClr val="black"/>
                </a:solidFill>
              </a:rPr>
              <a:t>Alice</a:t>
            </a:r>
            <a:r>
              <a:rPr lang="zh-CN" altLang="en-US" dirty="0">
                <a:solidFill>
                  <a:prstClr val="black"/>
                </a:solidFill>
              </a:rPr>
              <a:t>向</a:t>
            </a:r>
            <a:r>
              <a:rPr lang="en-GB" altLang="zh-CN" dirty="0">
                <a:solidFill>
                  <a:prstClr val="black"/>
                </a:solidFill>
              </a:rPr>
              <a:t>Bob</a:t>
            </a:r>
            <a:r>
              <a:rPr lang="zh-CN" altLang="en-US" dirty="0">
                <a:solidFill>
                  <a:prstClr val="black"/>
                </a:solidFill>
              </a:rPr>
              <a:t>的转账中，交易的输出表明了交易中的</a:t>
            </a:r>
            <a:r>
              <a:rPr lang="en-US" altLang="zh-CN" dirty="0">
                <a:solidFill>
                  <a:prstClr val="black"/>
                </a:solidFill>
              </a:rPr>
              <a:t>1</a:t>
            </a:r>
            <a:r>
              <a:rPr lang="zh-CN" altLang="en-US" dirty="0">
                <a:solidFill>
                  <a:prstClr val="black"/>
                </a:solidFill>
              </a:rPr>
              <a:t>个</a:t>
            </a:r>
            <a:r>
              <a:rPr lang="en-GB" altLang="zh-CN" dirty="0">
                <a:solidFill>
                  <a:prstClr val="black"/>
                </a:solidFill>
              </a:rPr>
              <a:t>BTC</a:t>
            </a:r>
            <a:r>
              <a:rPr lang="zh-CN" altLang="en-US" dirty="0">
                <a:solidFill>
                  <a:prstClr val="black"/>
                </a:solidFill>
              </a:rPr>
              <a:t>最终由</a:t>
            </a:r>
            <a:r>
              <a:rPr lang="en-GB" altLang="zh-CN" dirty="0">
                <a:solidFill>
                  <a:prstClr val="black"/>
                </a:solidFill>
              </a:rPr>
              <a:t>Bob</a:t>
            </a:r>
            <a:r>
              <a:rPr lang="zh-CN" altLang="en-US" dirty="0">
                <a:solidFill>
                  <a:prstClr val="black"/>
                </a:solidFill>
              </a:rPr>
              <a:t>持有。在比特币的交易体系中，一个交易可以同时具备多个输出，如图，</a:t>
            </a:r>
            <a:r>
              <a:rPr lang="en-GB" altLang="zh-CN" dirty="0">
                <a:solidFill>
                  <a:prstClr val="black"/>
                </a:solidFill>
              </a:rPr>
              <a:t>Alice</a:t>
            </a:r>
            <a:r>
              <a:rPr lang="zh-CN" altLang="en-US" dirty="0">
                <a:solidFill>
                  <a:prstClr val="black"/>
                </a:solidFill>
              </a:rPr>
              <a:t>可以利用一个交易同时向</a:t>
            </a:r>
            <a:r>
              <a:rPr lang="en-GB" altLang="zh-CN" dirty="0">
                <a:solidFill>
                  <a:prstClr val="black"/>
                </a:solidFill>
              </a:rPr>
              <a:t>Bob</a:t>
            </a:r>
            <a:r>
              <a:rPr lang="zh-CN" altLang="en-US" dirty="0">
                <a:solidFill>
                  <a:prstClr val="black"/>
                </a:solidFill>
              </a:rPr>
              <a:t>和</a:t>
            </a:r>
            <a:r>
              <a:rPr lang="en-GB" altLang="zh-CN" dirty="0">
                <a:solidFill>
                  <a:prstClr val="black"/>
                </a:solidFill>
              </a:rPr>
              <a:t>Cathy</a:t>
            </a:r>
            <a:r>
              <a:rPr lang="zh-CN" altLang="en-US" dirty="0">
                <a:solidFill>
                  <a:prstClr val="black"/>
                </a:solidFill>
              </a:rPr>
              <a:t>分别发送</a:t>
            </a:r>
            <a:r>
              <a:rPr lang="en-US" altLang="zh-CN" dirty="0">
                <a:solidFill>
                  <a:prstClr val="black"/>
                </a:solidFill>
              </a:rPr>
              <a:t>0.5</a:t>
            </a:r>
            <a:r>
              <a:rPr lang="zh-CN" altLang="en-US" dirty="0">
                <a:solidFill>
                  <a:prstClr val="black"/>
                </a:solidFill>
              </a:rPr>
              <a:t>个</a:t>
            </a:r>
            <a:r>
              <a:rPr lang="en-GB" altLang="zh-CN" dirty="0">
                <a:solidFill>
                  <a:prstClr val="black"/>
                </a:solidFill>
              </a:rPr>
              <a:t>BTC</a:t>
            </a:r>
            <a:r>
              <a:rPr lang="zh-CN" altLang="en-GB" dirty="0">
                <a:solidFill>
                  <a:prstClr val="black"/>
                </a:solidFill>
              </a:rPr>
              <a:t>。</a:t>
            </a:r>
            <a:endParaRPr lang="en-US" altLang="zh-CN"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sp>
        <p:nvSpPr>
          <p:cNvPr id="5" name="文本框 4"/>
          <p:cNvSpPr txBox="1"/>
          <p:nvPr/>
        </p:nvSpPr>
        <p:spPr>
          <a:xfrm>
            <a:off x="5228671" y="6358118"/>
            <a:ext cx="1800493" cy="369332"/>
          </a:xfrm>
          <a:prstGeom prst="rect">
            <a:avLst/>
          </a:prstGeom>
          <a:noFill/>
        </p:spPr>
        <p:txBody>
          <a:bodyPr wrap="none" rtlCol="0">
            <a:spAutoFit/>
          </a:bodyPr>
          <a:lstStyle/>
          <a:p>
            <a:r>
              <a:rPr kumimoji="1" lang="zh-CN" altLang="en-US" dirty="0"/>
              <a:t>多个输出的交易</a:t>
            </a:r>
          </a:p>
        </p:txBody>
      </p:sp>
      <p:pic>
        <p:nvPicPr>
          <p:cNvPr id="6" name="图片 5"/>
          <p:cNvPicPr>
            <a:picLocks noChangeAspect="1"/>
          </p:cNvPicPr>
          <p:nvPr/>
        </p:nvPicPr>
        <p:blipFill>
          <a:blip r:embed="rId3"/>
          <a:stretch>
            <a:fillRect/>
          </a:stretch>
        </p:blipFill>
        <p:spPr>
          <a:xfrm>
            <a:off x="3312519" y="4781550"/>
            <a:ext cx="4940300" cy="1574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8"/>
            <a:ext cx="9888940" cy="3299781"/>
          </a:xfrm>
        </p:spPr>
        <p:txBody>
          <a:bodyPr>
            <a:normAutofit lnSpcReduction="10000"/>
          </a:bodyPr>
          <a:lstStyle/>
          <a:p>
            <a:pPr fontAlgn="auto">
              <a:lnSpc>
                <a:spcPct val="130000"/>
              </a:lnSpc>
            </a:pPr>
            <a:r>
              <a:rPr lang="zh-CN" altLang="en-US" dirty="0"/>
              <a:t>输出的结构</a:t>
            </a:r>
          </a:p>
          <a:p>
            <a:pPr lvl="1">
              <a:lnSpc>
                <a:spcPct val="130000"/>
              </a:lnSpc>
            </a:pPr>
            <a:r>
              <a:rPr lang="zh-CN" altLang="en-US" dirty="0"/>
              <a:t>为了证明转账后的结果，交易的一个输出包含了两个主要部分</a:t>
            </a:r>
            <a:r>
              <a:rPr lang="en-US" altLang="zh-CN" dirty="0"/>
              <a:t>——</a:t>
            </a:r>
            <a:r>
              <a:rPr lang="zh-CN" altLang="en-US" dirty="0"/>
              <a:t>输出的比特币数量和输出的比特币的所有者。如图，前者在比特币中通过一个</a:t>
            </a:r>
            <a:r>
              <a:rPr lang="en-US" altLang="zh-CN" dirty="0"/>
              <a:t>64</a:t>
            </a:r>
            <a:r>
              <a:rPr lang="zh-CN" altLang="en-US" dirty="0"/>
              <a:t>位的整数来记录，单位是比特币系统中的最小货币单位聪（</a:t>
            </a:r>
            <a:r>
              <a:rPr lang="en-GB" altLang="zh-CN" dirty="0"/>
              <a:t>Satoshi</a:t>
            </a:r>
            <a:r>
              <a:rPr lang="zh-CN" altLang="en-GB" dirty="0"/>
              <a:t>），</a:t>
            </a:r>
            <a:r>
              <a:rPr lang="zh-CN" altLang="en-US" dirty="0"/>
              <a:t>大小为一亿分之一个比特币。后者我们使用了比特币的脚本系统来实现，我们这里可以简单理解输出的脚本就是对这个输出的比特币进行上锁，只有收款者</a:t>
            </a:r>
            <a:r>
              <a:rPr lang="en-GB" altLang="zh-CN" dirty="0"/>
              <a:t>Bob</a:t>
            </a:r>
            <a:r>
              <a:rPr lang="zh-CN" altLang="en-US" dirty="0"/>
              <a:t>才有解开它的钥匙。 </a:t>
            </a:r>
            <a:endParaRPr lang="zh-CN" altLang="en-US"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19</a:t>
            </a:fld>
            <a:endParaRPr kumimoji="1" lang="zh-CN" altLang="en-US" dirty="0"/>
          </a:p>
        </p:txBody>
      </p:sp>
      <p:sp>
        <p:nvSpPr>
          <p:cNvPr id="5" name="文本框 4"/>
          <p:cNvSpPr txBox="1"/>
          <p:nvPr/>
        </p:nvSpPr>
        <p:spPr>
          <a:xfrm>
            <a:off x="5113256" y="6356349"/>
            <a:ext cx="1338828" cy="369332"/>
          </a:xfrm>
          <a:prstGeom prst="rect">
            <a:avLst/>
          </a:prstGeom>
          <a:noFill/>
        </p:spPr>
        <p:txBody>
          <a:bodyPr wrap="none" rtlCol="0">
            <a:spAutoFit/>
          </a:bodyPr>
          <a:lstStyle/>
          <a:p>
            <a:r>
              <a:rPr kumimoji="1" lang="zh-CN" altLang="en-US" dirty="0"/>
              <a:t>输出的结构</a:t>
            </a:r>
          </a:p>
        </p:txBody>
      </p:sp>
      <p:pic>
        <p:nvPicPr>
          <p:cNvPr id="4" name="图片 3"/>
          <p:cNvPicPr>
            <a:picLocks noChangeAspect="1"/>
          </p:cNvPicPr>
          <p:nvPr/>
        </p:nvPicPr>
        <p:blipFill>
          <a:blip r:embed="rId3"/>
          <a:stretch>
            <a:fillRect/>
          </a:stretch>
        </p:blipFill>
        <p:spPr>
          <a:xfrm>
            <a:off x="3553820" y="4999244"/>
            <a:ext cx="4457700" cy="11684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9"/>
            <a:ext cx="9888940" cy="1778132"/>
          </a:xfrm>
        </p:spPr>
        <p:txBody>
          <a:bodyPr>
            <a:normAutofit/>
          </a:bodyPr>
          <a:lstStyle/>
          <a:p>
            <a:pPr fontAlgn="auto">
              <a:lnSpc>
                <a:spcPct val="130000"/>
              </a:lnSpc>
            </a:pPr>
            <a:r>
              <a:rPr lang="zh-CN" altLang="en-US" dirty="0"/>
              <a:t>输出的结构</a:t>
            </a:r>
          </a:p>
          <a:p>
            <a:pPr lvl="1">
              <a:lnSpc>
                <a:spcPct val="130000"/>
              </a:lnSpc>
            </a:pPr>
            <a:r>
              <a:rPr lang="zh-CN" altLang="en-US" dirty="0"/>
              <a:t>详细的输出结构格式可以参考下表，其中</a:t>
            </a:r>
            <a:r>
              <a:rPr lang="en-GB" altLang="zh-CN" dirty="0" err="1"/>
              <a:t>scriptPubKey</a:t>
            </a:r>
            <a:r>
              <a:rPr lang="zh-CN" altLang="en-US" dirty="0"/>
              <a:t>的有关细节将会在脚本系统中介绍。</a:t>
            </a:r>
            <a:endParaRPr lang="zh-CN" altLang="en-US"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20</a:t>
            </a:fld>
            <a:endParaRPr kumimoji="1" lang="zh-CN" altLang="en-US" dirty="0"/>
          </a:p>
        </p:txBody>
      </p:sp>
      <p:graphicFrame>
        <p:nvGraphicFramePr>
          <p:cNvPr id="12" name="表格 11"/>
          <p:cNvGraphicFramePr>
            <a:graphicFrameLocks noGrp="1"/>
          </p:cNvGraphicFramePr>
          <p:nvPr/>
        </p:nvGraphicFramePr>
        <p:xfrm>
          <a:off x="1307508" y="3255169"/>
          <a:ext cx="9419632" cy="2669654"/>
        </p:xfrm>
        <a:graphic>
          <a:graphicData uri="http://schemas.openxmlformats.org/drawingml/2006/table">
            <a:tbl>
              <a:tblPr firstRow="1" firstCol="1" bandRow="1">
                <a:tableStyleId>{7DF18680-E054-41AD-8BC1-D1AEF772440D}</a:tableStyleId>
              </a:tblPr>
              <a:tblGrid>
                <a:gridCol w="1548916">
                  <a:extLst>
                    <a:ext uri="{9D8B030D-6E8A-4147-A177-3AD203B41FA5}">
                      <a16:colId xmlns:a16="http://schemas.microsoft.com/office/drawing/2014/main" val="20000"/>
                    </a:ext>
                  </a:extLst>
                </a:gridCol>
                <a:gridCol w="1548916">
                  <a:extLst>
                    <a:ext uri="{9D8B030D-6E8A-4147-A177-3AD203B41FA5}">
                      <a16:colId xmlns:a16="http://schemas.microsoft.com/office/drawing/2014/main" val="20001"/>
                    </a:ext>
                  </a:extLst>
                </a:gridCol>
                <a:gridCol w="3160900">
                  <a:extLst>
                    <a:ext uri="{9D8B030D-6E8A-4147-A177-3AD203B41FA5}">
                      <a16:colId xmlns:a16="http://schemas.microsoft.com/office/drawing/2014/main" val="20002"/>
                    </a:ext>
                  </a:extLst>
                </a:gridCol>
                <a:gridCol w="3160900">
                  <a:extLst>
                    <a:ext uri="{9D8B030D-6E8A-4147-A177-3AD203B41FA5}">
                      <a16:colId xmlns:a16="http://schemas.microsoft.com/office/drawing/2014/main" val="20003"/>
                    </a:ext>
                  </a:extLst>
                </a:gridCol>
              </a:tblGrid>
              <a:tr h="294081">
                <a:tc gridSpan="4">
                  <a:txBody>
                    <a:bodyPr/>
                    <a:lstStyle/>
                    <a:p>
                      <a:pPr algn="ctr">
                        <a:spcAft>
                          <a:spcPts val="0"/>
                        </a:spcAft>
                      </a:pPr>
                      <a:r>
                        <a:rPr lang="zh-CN" sz="2000" kern="100" dirty="0">
                          <a:effectLst/>
                        </a:rPr>
                        <a:t>比特币交易输出结构</a:t>
                      </a:r>
                      <a:endParaRPr lang="zh-CN" sz="20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43095">
                <a:tc>
                  <a:txBody>
                    <a:bodyPr/>
                    <a:lstStyle/>
                    <a:p>
                      <a:pPr indent="19685" algn="ctr">
                        <a:spcAft>
                          <a:spcPts val="0"/>
                        </a:spcAft>
                      </a:pPr>
                      <a:r>
                        <a:rPr lang="zh-CN" sz="2000" kern="100" dirty="0">
                          <a:effectLst/>
                        </a:rPr>
                        <a:t>数据项</a:t>
                      </a:r>
                      <a:endParaRPr lang="zh-CN" sz="20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ctr">
                        <a:spcAft>
                          <a:spcPts val="0"/>
                        </a:spcAft>
                      </a:pPr>
                      <a:r>
                        <a:rPr lang="zh-CN" sz="2000" kern="100">
                          <a:effectLst/>
                        </a:rPr>
                        <a:t>类型</a:t>
                      </a:r>
                      <a:endParaRPr lang="zh-CN" sz="2000" kern="10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ctr">
                        <a:spcAft>
                          <a:spcPts val="0"/>
                        </a:spcAft>
                      </a:pPr>
                      <a:r>
                        <a:rPr lang="zh-CN" sz="2000" kern="100">
                          <a:effectLst/>
                        </a:rPr>
                        <a:t>大小</a:t>
                      </a:r>
                      <a:endParaRPr lang="zh-CN" sz="2000" kern="10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ctr">
                        <a:spcAft>
                          <a:spcPts val="0"/>
                        </a:spcAft>
                      </a:pPr>
                      <a:r>
                        <a:rPr lang="zh-CN" sz="2000" kern="100">
                          <a:effectLst/>
                        </a:rPr>
                        <a:t>描述</a:t>
                      </a:r>
                      <a:endParaRPr lang="zh-CN" sz="2000" kern="10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667785">
                <a:tc>
                  <a:txBody>
                    <a:bodyPr/>
                    <a:lstStyle/>
                    <a:p>
                      <a:pPr indent="19685" algn="ctr">
                        <a:spcAft>
                          <a:spcPts val="0"/>
                        </a:spcAft>
                      </a:pPr>
                      <a:r>
                        <a:rPr lang="en-US" sz="2000" kern="100">
                          <a:effectLst/>
                        </a:rPr>
                        <a:t>nValue</a:t>
                      </a:r>
                      <a:endParaRPr lang="zh-CN" sz="2000" kern="10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ctr">
                        <a:spcAft>
                          <a:spcPts val="0"/>
                        </a:spcAft>
                      </a:pPr>
                      <a:r>
                        <a:rPr lang="en-US" sz="2000" kern="100" dirty="0">
                          <a:effectLst/>
                        </a:rPr>
                        <a:t>64</a:t>
                      </a:r>
                      <a:r>
                        <a:rPr lang="zh-CN" sz="2000" kern="100" dirty="0">
                          <a:effectLst/>
                        </a:rPr>
                        <a:t>位无符号整型</a:t>
                      </a:r>
                      <a:endParaRPr lang="zh-CN" sz="20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ctr">
                        <a:spcAft>
                          <a:spcPts val="0"/>
                        </a:spcAft>
                      </a:pPr>
                      <a:r>
                        <a:rPr lang="en-US" sz="2000" kern="100" dirty="0">
                          <a:effectLst/>
                        </a:rPr>
                        <a:t>8</a:t>
                      </a:r>
                      <a:r>
                        <a:rPr lang="zh-CN" sz="2000" kern="100" dirty="0">
                          <a:effectLst/>
                        </a:rPr>
                        <a:t>字节</a:t>
                      </a:r>
                      <a:endParaRPr lang="zh-CN" sz="20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just">
                        <a:spcAft>
                          <a:spcPts val="0"/>
                        </a:spcAft>
                      </a:pPr>
                      <a:r>
                        <a:rPr lang="zh-CN" sz="2000" kern="100" dirty="0">
                          <a:effectLst/>
                        </a:rPr>
                        <a:t>输出中的比特币数量，单位：聪</a:t>
                      </a:r>
                      <a:endParaRPr lang="zh-CN" sz="20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667785">
                <a:tc rowSpan="2">
                  <a:txBody>
                    <a:bodyPr/>
                    <a:lstStyle/>
                    <a:p>
                      <a:pPr indent="19685" algn="ctr">
                        <a:spcAft>
                          <a:spcPts val="0"/>
                        </a:spcAft>
                      </a:pPr>
                      <a:r>
                        <a:rPr lang="en-US" sz="2000" kern="100">
                          <a:effectLst/>
                        </a:rPr>
                        <a:t>scriptPubKey</a:t>
                      </a:r>
                      <a:endParaRPr lang="zh-CN" sz="2000" kern="10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ctr">
                        <a:spcAft>
                          <a:spcPts val="0"/>
                        </a:spcAft>
                      </a:pPr>
                      <a:r>
                        <a:rPr lang="zh-CN" sz="2000" kern="100">
                          <a:effectLst/>
                        </a:rPr>
                        <a:t>变长无符号整型</a:t>
                      </a:r>
                      <a:endParaRPr lang="zh-CN" sz="2000" kern="10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ctr">
                        <a:spcAft>
                          <a:spcPts val="0"/>
                        </a:spcAft>
                      </a:pPr>
                      <a:r>
                        <a:rPr lang="en-US" sz="2000" kern="100">
                          <a:effectLst/>
                        </a:rPr>
                        <a:t>1-9</a:t>
                      </a:r>
                      <a:r>
                        <a:rPr lang="zh-CN" sz="2000" kern="100">
                          <a:effectLst/>
                        </a:rPr>
                        <a:t>字节</a:t>
                      </a:r>
                      <a:endParaRPr lang="zh-CN" sz="2000" kern="10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just">
                        <a:spcAft>
                          <a:spcPts val="0"/>
                        </a:spcAft>
                      </a:pPr>
                      <a:r>
                        <a:rPr lang="zh-CN" sz="2000" kern="100">
                          <a:effectLst/>
                        </a:rPr>
                        <a:t>解锁输出脚本长度</a:t>
                      </a:r>
                      <a:endParaRPr lang="zh-CN" sz="2000" kern="10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686189">
                <a:tc vMerge="1">
                  <a:txBody>
                    <a:bodyPr/>
                    <a:lstStyle/>
                    <a:p>
                      <a:endParaRPr lang="zh-CN"/>
                    </a:p>
                  </a:txBody>
                  <a:tcPr/>
                </a:tc>
                <a:tc>
                  <a:txBody>
                    <a:bodyPr/>
                    <a:lstStyle/>
                    <a:p>
                      <a:pPr indent="19685" algn="ctr">
                        <a:spcAft>
                          <a:spcPts val="0"/>
                        </a:spcAft>
                      </a:pPr>
                      <a:r>
                        <a:rPr lang="zh-CN" sz="2000" kern="100">
                          <a:effectLst/>
                        </a:rPr>
                        <a:t>字节串</a:t>
                      </a:r>
                      <a:endParaRPr lang="zh-CN" sz="2000" kern="10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ctr">
                        <a:spcAft>
                          <a:spcPts val="0"/>
                        </a:spcAft>
                      </a:pPr>
                      <a:r>
                        <a:rPr lang="zh-CN" sz="2000" kern="100">
                          <a:effectLst/>
                        </a:rPr>
                        <a:t>不定</a:t>
                      </a:r>
                      <a:endParaRPr lang="zh-CN" sz="2000" kern="10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indent="19685" algn="just">
                        <a:spcAft>
                          <a:spcPts val="0"/>
                        </a:spcAft>
                      </a:pPr>
                      <a:r>
                        <a:rPr lang="zh-CN" sz="2000" kern="100" dirty="0">
                          <a:effectLst/>
                        </a:rPr>
                        <a:t>用于锁定的脚本，能够解锁脚本才使用这个输出</a:t>
                      </a:r>
                      <a:endParaRPr lang="zh-CN" sz="20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a:t>
            </a:r>
            <a:endParaRPr lang="en-US" altLang="zh-CN" dirty="0"/>
          </a:p>
        </p:txBody>
      </p:sp>
      <p:sp>
        <p:nvSpPr>
          <p:cNvPr id="3" name="内容占位符 2"/>
          <p:cNvSpPr>
            <a:spLocks noGrp="1"/>
          </p:cNvSpPr>
          <p:nvPr>
            <p:ph idx="1"/>
          </p:nvPr>
        </p:nvSpPr>
        <p:spPr>
          <a:xfrm>
            <a:off x="838200" y="1510759"/>
            <a:ext cx="9888940" cy="3297216"/>
          </a:xfrm>
        </p:spPr>
        <p:txBody>
          <a:bodyPr>
            <a:normAutofit fontScale="62500" lnSpcReduction="20000"/>
          </a:bodyPr>
          <a:lstStyle/>
          <a:p>
            <a:pPr fontAlgn="auto">
              <a:lnSpc>
                <a:spcPct val="130000"/>
              </a:lnSpc>
            </a:pPr>
            <a:r>
              <a:rPr lang="zh-CN" altLang="en-US" dirty="0"/>
              <a:t>交易的输入</a:t>
            </a:r>
            <a:endParaRPr lang="en-US" altLang="zh-CN" dirty="0"/>
          </a:p>
          <a:p>
            <a:pPr lvl="1">
              <a:lnSpc>
                <a:spcPct val="130000"/>
              </a:lnSpc>
            </a:pPr>
            <a:r>
              <a:rPr lang="zh-CN" altLang="en-US" sz="2900" dirty="0">
                <a:solidFill>
                  <a:prstClr val="black"/>
                </a:solidFill>
              </a:rPr>
              <a:t>交易输入的比特币不能凭空产生，必须引用和解锁一个已完成的其他交易的一个输出。</a:t>
            </a:r>
          </a:p>
          <a:p>
            <a:pPr lvl="1">
              <a:lnSpc>
                <a:spcPct val="130000"/>
              </a:lnSpc>
            </a:pPr>
            <a:r>
              <a:rPr lang="zh-CN" altLang="en-US" sz="2900" dirty="0">
                <a:solidFill>
                  <a:prstClr val="black"/>
                </a:solidFill>
              </a:rPr>
              <a:t>如图所示，在交易</a:t>
            </a:r>
            <a:r>
              <a:rPr lang="en-GB" altLang="zh-CN" sz="2900" dirty="0">
                <a:solidFill>
                  <a:prstClr val="black"/>
                </a:solidFill>
              </a:rPr>
              <a:t>A</a:t>
            </a:r>
            <a:r>
              <a:rPr lang="zh-CN" altLang="en-US" sz="2900" dirty="0">
                <a:solidFill>
                  <a:prstClr val="black"/>
                </a:solidFill>
              </a:rPr>
              <a:t>中，</a:t>
            </a:r>
            <a:r>
              <a:rPr lang="en-GB" altLang="zh-CN" sz="2900" dirty="0">
                <a:solidFill>
                  <a:prstClr val="black"/>
                </a:solidFill>
              </a:rPr>
              <a:t>Bob</a:t>
            </a:r>
            <a:r>
              <a:rPr lang="zh-CN" altLang="en-US" sz="2900" dirty="0">
                <a:solidFill>
                  <a:prstClr val="black"/>
                </a:solidFill>
              </a:rPr>
              <a:t>获得</a:t>
            </a:r>
            <a:r>
              <a:rPr lang="en-GB" altLang="zh-CN" sz="2900" dirty="0">
                <a:solidFill>
                  <a:prstClr val="black"/>
                </a:solidFill>
              </a:rPr>
              <a:t>Alice</a:t>
            </a:r>
            <a:r>
              <a:rPr lang="zh-CN" altLang="en-US" sz="2900" dirty="0">
                <a:solidFill>
                  <a:prstClr val="black"/>
                </a:solidFill>
              </a:rPr>
              <a:t>转来的</a:t>
            </a:r>
            <a:r>
              <a:rPr lang="en-US" altLang="zh-CN" sz="2900" dirty="0">
                <a:solidFill>
                  <a:prstClr val="black"/>
                </a:solidFill>
              </a:rPr>
              <a:t>1</a:t>
            </a:r>
            <a:r>
              <a:rPr lang="zh-CN" altLang="en-US" sz="2900" dirty="0">
                <a:solidFill>
                  <a:prstClr val="black"/>
                </a:solidFill>
              </a:rPr>
              <a:t>个</a:t>
            </a:r>
            <a:r>
              <a:rPr lang="en-GB" altLang="zh-CN" sz="2900" dirty="0">
                <a:solidFill>
                  <a:prstClr val="black"/>
                </a:solidFill>
              </a:rPr>
              <a:t>BTC</a:t>
            </a:r>
            <a:r>
              <a:rPr lang="zh-CN" altLang="en-GB" sz="2900" dirty="0">
                <a:solidFill>
                  <a:prstClr val="black"/>
                </a:solidFill>
              </a:rPr>
              <a:t>；</a:t>
            </a:r>
            <a:r>
              <a:rPr lang="zh-CN" altLang="en-US" sz="2900" dirty="0">
                <a:solidFill>
                  <a:prstClr val="black"/>
                </a:solidFill>
              </a:rPr>
              <a:t>而在交易</a:t>
            </a:r>
            <a:r>
              <a:rPr lang="en-GB" altLang="zh-CN" sz="2900" dirty="0">
                <a:solidFill>
                  <a:prstClr val="black"/>
                </a:solidFill>
              </a:rPr>
              <a:t>B</a:t>
            </a:r>
            <a:r>
              <a:rPr lang="zh-CN" altLang="en-US" sz="2900" dirty="0">
                <a:solidFill>
                  <a:prstClr val="black"/>
                </a:solidFill>
              </a:rPr>
              <a:t>中，</a:t>
            </a:r>
            <a:r>
              <a:rPr lang="en-GB" altLang="zh-CN" sz="2900" dirty="0">
                <a:solidFill>
                  <a:prstClr val="black"/>
                </a:solidFill>
              </a:rPr>
              <a:t>Bob</a:t>
            </a:r>
            <a:r>
              <a:rPr lang="zh-CN" altLang="en-US" sz="2900" dirty="0">
                <a:solidFill>
                  <a:prstClr val="black"/>
                </a:solidFill>
              </a:rPr>
              <a:t>想把这</a:t>
            </a:r>
            <a:r>
              <a:rPr lang="en-US" altLang="zh-CN" sz="2900" dirty="0">
                <a:solidFill>
                  <a:prstClr val="black"/>
                </a:solidFill>
              </a:rPr>
              <a:t>1</a:t>
            </a:r>
            <a:r>
              <a:rPr lang="zh-CN" altLang="en-US" sz="2900" dirty="0">
                <a:solidFill>
                  <a:prstClr val="black"/>
                </a:solidFill>
              </a:rPr>
              <a:t>个</a:t>
            </a:r>
            <a:r>
              <a:rPr lang="en-GB" altLang="zh-CN" sz="2900" dirty="0">
                <a:solidFill>
                  <a:prstClr val="black"/>
                </a:solidFill>
              </a:rPr>
              <a:t>BTC</a:t>
            </a:r>
            <a:r>
              <a:rPr lang="zh-CN" altLang="en-US" sz="2900" dirty="0">
                <a:solidFill>
                  <a:prstClr val="black"/>
                </a:solidFill>
              </a:rPr>
              <a:t>转给</a:t>
            </a:r>
            <a:r>
              <a:rPr lang="en-GB" altLang="zh-CN" sz="2900" dirty="0">
                <a:solidFill>
                  <a:prstClr val="black"/>
                </a:solidFill>
              </a:rPr>
              <a:t>Cathy</a:t>
            </a:r>
            <a:r>
              <a:rPr lang="zh-CN" altLang="en-GB" sz="2900" dirty="0">
                <a:solidFill>
                  <a:prstClr val="black"/>
                </a:solidFill>
              </a:rPr>
              <a:t>。</a:t>
            </a:r>
            <a:r>
              <a:rPr lang="zh-CN" altLang="en-US" sz="2900" dirty="0">
                <a:solidFill>
                  <a:prstClr val="black"/>
                </a:solidFill>
              </a:rPr>
              <a:t>所以在交易</a:t>
            </a:r>
            <a:r>
              <a:rPr lang="en-GB" altLang="zh-CN" sz="2900" dirty="0">
                <a:solidFill>
                  <a:prstClr val="black"/>
                </a:solidFill>
              </a:rPr>
              <a:t>B</a:t>
            </a:r>
            <a:r>
              <a:rPr lang="zh-CN" altLang="en-US" sz="2900" dirty="0">
                <a:solidFill>
                  <a:prstClr val="black"/>
                </a:solidFill>
              </a:rPr>
              <a:t>中，他需要构造一个输入来引用交易</a:t>
            </a:r>
            <a:r>
              <a:rPr lang="en-GB" altLang="zh-CN" sz="2900" dirty="0">
                <a:solidFill>
                  <a:prstClr val="black"/>
                </a:solidFill>
              </a:rPr>
              <a:t>B</a:t>
            </a:r>
            <a:r>
              <a:rPr lang="zh-CN" altLang="en-US" sz="2900" dirty="0">
                <a:solidFill>
                  <a:prstClr val="black"/>
                </a:solidFill>
              </a:rPr>
              <a:t>的这个输出。相当于他把交易</a:t>
            </a:r>
            <a:r>
              <a:rPr lang="en-GB" altLang="zh-CN" sz="2900" dirty="0">
                <a:solidFill>
                  <a:prstClr val="black"/>
                </a:solidFill>
              </a:rPr>
              <a:t>A</a:t>
            </a:r>
            <a:r>
              <a:rPr lang="zh-CN" altLang="en-US" sz="2900" dirty="0">
                <a:solidFill>
                  <a:prstClr val="black"/>
                </a:solidFill>
              </a:rPr>
              <a:t>中的输出作为交易</a:t>
            </a:r>
            <a:r>
              <a:rPr lang="en-GB" altLang="zh-CN" sz="2900" dirty="0">
                <a:solidFill>
                  <a:prstClr val="black"/>
                </a:solidFill>
              </a:rPr>
              <a:t>B</a:t>
            </a:r>
            <a:r>
              <a:rPr lang="zh-CN" altLang="en-US" sz="2900" dirty="0">
                <a:solidFill>
                  <a:prstClr val="black"/>
                </a:solidFill>
              </a:rPr>
              <a:t>中的输入。</a:t>
            </a:r>
            <a:endParaRPr lang="en-US" altLang="zh-CN" sz="2900" dirty="0"/>
          </a:p>
          <a:p>
            <a:pPr fontAlgn="auto">
              <a:lnSpc>
                <a:spcPct val="130000"/>
              </a:lnSpc>
            </a:pPr>
            <a:r>
              <a:rPr lang="zh-CN" altLang="en-US" dirty="0"/>
              <a:t>交易的组成</a:t>
            </a:r>
          </a:p>
          <a:p>
            <a:pPr lvl="1">
              <a:lnSpc>
                <a:spcPct val="130000"/>
              </a:lnSpc>
            </a:pPr>
            <a:r>
              <a:rPr lang="zh-CN" altLang="en-US" sz="2900" dirty="0">
                <a:solidFill>
                  <a:prstClr val="black"/>
                </a:solidFill>
              </a:rPr>
              <a:t>交易输入由两个部分组成</a:t>
            </a:r>
            <a:r>
              <a:rPr lang="en-US" altLang="zh-CN" sz="2900" dirty="0">
                <a:solidFill>
                  <a:prstClr val="black"/>
                </a:solidFill>
              </a:rPr>
              <a:t>——</a:t>
            </a:r>
            <a:r>
              <a:rPr lang="zh-CN" altLang="en-US" sz="2900" dirty="0">
                <a:solidFill>
                  <a:prstClr val="black"/>
                </a:solidFill>
              </a:rPr>
              <a:t>使用到的前一个交易输出的引用和用于解锁这个输出的一个解锁脚本。其中对输出的引用通过交易的哈希值和输出在这个交易中的位置决定，而解锁脚本通常使用了用户的密钥生成，只有用户本人才能够生成解锁脚本。</a:t>
            </a:r>
          </a:p>
          <a:p>
            <a:pPr lvl="1">
              <a:lnSpc>
                <a:spcPct val="130000"/>
              </a:lnSpc>
            </a:pPr>
            <a:endParaRPr lang="zh-CN" altLang="en-US"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sp>
        <p:nvSpPr>
          <p:cNvPr id="5" name="文本框 4"/>
          <p:cNvSpPr txBox="1"/>
          <p:nvPr/>
        </p:nvSpPr>
        <p:spPr>
          <a:xfrm>
            <a:off x="4074509" y="6385016"/>
            <a:ext cx="3416320" cy="369332"/>
          </a:xfrm>
          <a:prstGeom prst="rect">
            <a:avLst/>
          </a:prstGeom>
          <a:noFill/>
        </p:spPr>
        <p:txBody>
          <a:bodyPr wrap="none" rtlCol="0">
            <a:spAutoFit/>
          </a:bodyPr>
          <a:lstStyle/>
          <a:p>
            <a:r>
              <a:rPr kumimoji="1" lang="zh-CN" altLang="en-US" dirty="0"/>
              <a:t>输入对前一个交易的输出的引用</a:t>
            </a:r>
          </a:p>
        </p:txBody>
      </p:sp>
      <p:pic>
        <p:nvPicPr>
          <p:cNvPr id="6" name="图片 5"/>
          <p:cNvPicPr>
            <a:picLocks noChangeAspect="1"/>
          </p:cNvPicPr>
          <p:nvPr/>
        </p:nvPicPr>
        <p:blipFill>
          <a:blip r:embed="rId3"/>
          <a:stretch>
            <a:fillRect/>
          </a:stretch>
        </p:blipFill>
        <p:spPr>
          <a:xfrm>
            <a:off x="2089772" y="4675943"/>
            <a:ext cx="7385793" cy="169494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9"/>
            <a:ext cx="9888940" cy="2037969"/>
          </a:xfrm>
        </p:spPr>
        <p:txBody>
          <a:bodyPr>
            <a:normAutofit lnSpcReduction="10000"/>
          </a:bodyPr>
          <a:lstStyle/>
          <a:p>
            <a:pPr fontAlgn="auto">
              <a:lnSpc>
                <a:spcPct val="130000"/>
              </a:lnSpc>
            </a:pPr>
            <a:r>
              <a:rPr lang="zh-CN" altLang="en-US" dirty="0"/>
              <a:t>多个输入的交易</a:t>
            </a:r>
          </a:p>
          <a:p>
            <a:pPr lvl="1">
              <a:lnSpc>
                <a:spcPct val="130000"/>
              </a:lnSpc>
            </a:pPr>
            <a:r>
              <a:rPr lang="zh-CN" altLang="en-US" dirty="0">
                <a:solidFill>
                  <a:prstClr val="black"/>
                </a:solidFill>
              </a:rPr>
              <a:t>同样地，交易的输入也可以有许多个。如图</a:t>
            </a:r>
            <a:r>
              <a:rPr lang="en-US" altLang="zh-CN" dirty="0">
                <a:solidFill>
                  <a:prstClr val="black"/>
                </a:solidFill>
              </a:rPr>
              <a:t>2.7</a:t>
            </a:r>
            <a:r>
              <a:rPr lang="zh-CN" altLang="en-US" dirty="0">
                <a:solidFill>
                  <a:prstClr val="black"/>
                </a:solidFill>
              </a:rPr>
              <a:t>所示，当</a:t>
            </a:r>
            <a:r>
              <a:rPr lang="en-GB" altLang="zh-CN" dirty="0">
                <a:solidFill>
                  <a:prstClr val="black"/>
                </a:solidFill>
              </a:rPr>
              <a:t>Bob</a:t>
            </a:r>
            <a:r>
              <a:rPr lang="zh-CN" altLang="en-US" dirty="0">
                <a:solidFill>
                  <a:prstClr val="black"/>
                </a:solidFill>
              </a:rPr>
              <a:t>想要向</a:t>
            </a:r>
            <a:r>
              <a:rPr lang="en-GB" altLang="zh-CN" dirty="0">
                <a:solidFill>
                  <a:prstClr val="black"/>
                </a:solidFill>
              </a:rPr>
              <a:t>Cathy</a:t>
            </a:r>
            <a:r>
              <a:rPr lang="zh-CN" altLang="en-US" dirty="0">
                <a:solidFill>
                  <a:prstClr val="black"/>
                </a:solidFill>
              </a:rPr>
              <a:t>转账</a:t>
            </a:r>
            <a:r>
              <a:rPr lang="en-US" altLang="zh-CN" dirty="0">
                <a:solidFill>
                  <a:prstClr val="black"/>
                </a:solidFill>
              </a:rPr>
              <a:t>2</a:t>
            </a:r>
            <a:r>
              <a:rPr lang="zh-CN" altLang="en-US" dirty="0">
                <a:solidFill>
                  <a:prstClr val="black"/>
                </a:solidFill>
              </a:rPr>
              <a:t>个</a:t>
            </a:r>
            <a:r>
              <a:rPr lang="en-GB" altLang="zh-CN" dirty="0">
                <a:solidFill>
                  <a:prstClr val="black"/>
                </a:solidFill>
              </a:rPr>
              <a:t>BTC</a:t>
            </a:r>
            <a:r>
              <a:rPr lang="zh-CN" altLang="en-US" dirty="0">
                <a:solidFill>
                  <a:prstClr val="black"/>
                </a:solidFill>
              </a:rPr>
              <a:t>的时候，仅仅一个来自</a:t>
            </a:r>
            <a:r>
              <a:rPr lang="en-GB" altLang="zh-CN" dirty="0">
                <a:solidFill>
                  <a:prstClr val="black"/>
                </a:solidFill>
              </a:rPr>
              <a:t>Alice</a:t>
            </a:r>
            <a:r>
              <a:rPr lang="zh-CN" altLang="en-US" dirty="0">
                <a:solidFill>
                  <a:prstClr val="black"/>
                </a:solidFill>
              </a:rPr>
              <a:t>转账得来的输出是不够的，所以还得加上另一个属于</a:t>
            </a:r>
            <a:r>
              <a:rPr lang="en-GB" altLang="zh-CN" dirty="0">
                <a:solidFill>
                  <a:prstClr val="black"/>
                </a:solidFill>
              </a:rPr>
              <a:t>Bob</a:t>
            </a:r>
            <a:r>
              <a:rPr lang="zh-CN" altLang="en-US" dirty="0">
                <a:solidFill>
                  <a:prstClr val="black"/>
                </a:solidFill>
              </a:rPr>
              <a:t>的交易输出。</a:t>
            </a:r>
          </a:p>
          <a:p>
            <a:pPr lvl="1">
              <a:lnSpc>
                <a:spcPct val="130000"/>
              </a:lnSpc>
            </a:pPr>
            <a:endParaRPr lang="zh-CN" altLang="en-US"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22</a:t>
            </a:fld>
            <a:endParaRPr kumimoji="1" lang="zh-CN" altLang="en-US" dirty="0"/>
          </a:p>
        </p:txBody>
      </p:sp>
      <p:pic>
        <p:nvPicPr>
          <p:cNvPr id="4" name="图片 3"/>
          <p:cNvPicPr>
            <a:picLocks noChangeAspect="1"/>
          </p:cNvPicPr>
          <p:nvPr/>
        </p:nvPicPr>
        <p:blipFill>
          <a:blip r:embed="rId3"/>
          <a:stretch>
            <a:fillRect/>
          </a:stretch>
        </p:blipFill>
        <p:spPr>
          <a:xfrm>
            <a:off x="1984207" y="3651964"/>
            <a:ext cx="7596926" cy="2481599"/>
          </a:xfrm>
          <a:prstGeom prst="rect">
            <a:avLst/>
          </a:prstGeom>
        </p:spPr>
      </p:pic>
      <p:sp>
        <p:nvSpPr>
          <p:cNvPr id="8" name="文本框 7"/>
          <p:cNvSpPr txBox="1"/>
          <p:nvPr/>
        </p:nvSpPr>
        <p:spPr>
          <a:xfrm>
            <a:off x="4882423" y="6356350"/>
            <a:ext cx="1800493" cy="369332"/>
          </a:xfrm>
          <a:prstGeom prst="rect">
            <a:avLst/>
          </a:prstGeom>
          <a:noFill/>
        </p:spPr>
        <p:txBody>
          <a:bodyPr wrap="none" rtlCol="0">
            <a:spAutoFit/>
          </a:bodyPr>
          <a:lstStyle/>
          <a:p>
            <a:r>
              <a:rPr kumimoji="1" lang="zh-CN" altLang="en-US" dirty="0"/>
              <a:t>多个输入的交易</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60"/>
            <a:ext cx="9888940" cy="804738"/>
          </a:xfrm>
        </p:spPr>
        <p:txBody>
          <a:bodyPr>
            <a:normAutofit/>
          </a:bodyPr>
          <a:lstStyle/>
          <a:p>
            <a:pPr fontAlgn="auto">
              <a:lnSpc>
                <a:spcPct val="130000"/>
              </a:lnSpc>
            </a:pPr>
            <a:r>
              <a:rPr lang="zh-CN" altLang="en-US" dirty="0"/>
              <a:t>交易输入结构</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23</a:t>
            </a:fld>
            <a:endParaRPr kumimoji="1" lang="zh-CN" altLang="en-US" dirty="0"/>
          </a:p>
        </p:txBody>
      </p:sp>
      <p:graphicFrame>
        <p:nvGraphicFramePr>
          <p:cNvPr id="5" name="表格 4"/>
          <p:cNvGraphicFramePr>
            <a:graphicFrameLocks noGrp="1"/>
          </p:cNvGraphicFramePr>
          <p:nvPr/>
        </p:nvGraphicFramePr>
        <p:xfrm>
          <a:off x="1460091" y="2315498"/>
          <a:ext cx="9267049" cy="3539612"/>
        </p:xfrm>
        <a:graphic>
          <a:graphicData uri="http://schemas.openxmlformats.org/drawingml/2006/table">
            <a:tbl>
              <a:tblPr firstRow="1" firstCol="1" bandRow="1">
                <a:tableStyleId>{7DF18680-E054-41AD-8BC1-D1AEF772440D}</a:tableStyleId>
              </a:tblPr>
              <a:tblGrid>
                <a:gridCol w="1627518">
                  <a:extLst>
                    <a:ext uri="{9D8B030D-6E8A-4147-A177-3AD203B41FA5}">
                      <a16:colId xmlns:a16="http://schemas.microsoft.com/office/drawing/2014/main" val="20000"/>
                    </a:ext>
                  </a:extLst>
                </a:gridCol>
                <a:gridCol w="1627518">
                  <a:extLst>
                    <a:ext uri="{9D8B030D-6E8A-4147-A177-3AD203B41FA5}">
                      <a16:colId xmlns:a16="http://schemas.microsoft.com/office/drawing/2014/main" val="20001"/>
                    </a:ext>
                  </a:extLst>
                </a:gridCol>
                <a:gridCol w="2442601">
                  <a:extLst>
                    <a:ext uri="{9D8B030D-6E8A-4147-A177-3AD203B41FA5}">
                      <a16:colId xmlns:a16="http://schemas.microsoft.com/office/drawing/2014/main" val="20002"/>
                    </a:ext>
                  </a:extLst>
                </a:gridCol>
                <a:gridCol w="1126811">
                  <a:extLst>
                    <a:ext uri="{9D8B030D-6E8A-4147-A177-3AD203B41FA5}">
                      <a16:colId xmlns:a16="http://schemas.microsoft.com/office/drawing/2014/main" val="20003"/>
                    </a:ext>
                  </a:extLst>
                </a:gridCol>
                <a:gridCol w="2442601">
                  <a:extLst>
                    <a:ext uri="{9D8B030D-6E8A-4147-A177-3AD203B41FA5}">
                      <a16:colId xmlns:a16="http://schemas.microsoft.com/office/drawing/2014/main" val="20004"/>
                    </a:ext>
                  </a:extLst>
                </a:gridCol>
              </a:tblGrid>
              <a:tr h="307793">
                <a:tc gridSpan="5">
                  <a:txBody>
                    <a:bodyPr/>
                    <a:lstStyle/>
                    <a:p>
                      <a:pPr algn="ctr">
                        <a:spcAft>
                          <a:spcPts val="0"/>
                        </a:spcAft>
                      </a:pPr>
                      <a:r>
                        <a:rPr lang="zh-CN" sz="2000" kern="100" dirty="0">
                          <a:effectLst/>
                        </a:rPr>
                        <a:t>比特币交易输入结构</a:t>
                      </a:r>
                      <a:endParaRPr lang="zh-CN" sz="20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59091">
                <a:tc>
                  <a:txBody>
                    <a:bodyPr/>
                    <a:lstStyle/>
                    <a:p>
                      <a:pPr algn="ctr">
                        <a:spcAft>
                          <a:spcPts val="0"/>
                        </a:spcAft>
                      </a:pPr>
                      <a:r>
                        <a:rPr lang="zh-CN" sz="2000" kern="100">
                          <a:effectLst/>
                        </a:rPr>
                        <a:t>数据项</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2000" kern="100">
                          <a:effectLst/>
                        </a:rPr>
                        <a:t>类型</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2000" kern="100">
                          <a:effectLst/>
                        </a:rPr>
                        <a:t>大小</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gridSpan="2">
                  <a:txBody>
                    <a:bodyPr/>
                    <a:lstStyle/>
                    <a:p>
                      <a:pPr algn="ctr">
                        <a:spcAft>
                          <a:spcPts val="0"/>
                        </a:spcAft>
                      </a:pPr>
                      <a:r>
                        <a:rPr lang="zh-CN" sz="2000" kern="100">
                          <a:effectLst/>
                        </a:rPr>
                        <a:t>描述</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hMerge="1">
                  <a:txBody>
                    <a:bodyPr/>
                    <a:lstStyle/>
                    <a:p>
                      <a:endParaRPr lang="zh-CN"/>
                    </a:p>
                  </a:txBody>
                  <a:tcPr/>
                </a:tc>
                <a:extLst>
                  <a:ext uri="{0D108BD9-81ED-4DB2-BD59-A6C34878D82A}">
                    <a16:rowId xmlns:a16="http://schemas.microsoft.com/office/drawing/2014/main" val="10001"/>
                  </a:ext>
                </a:extLst>
              </a:tr>
              <a:tr h="359091">
                <a:tc rowSpan="2">
                  <a:txBody>
                    <a:bodyPr/>
                    <a:lstStyle/>
                    <a:p>
                      <a:pPr algn="ctr">
                        <a:spcAft>
                          <a:spcPts val="0"/>
                        </a:spcAft>
                      </a:pPr>
                      <a:r>
                        <a:rPr lang="en-US" sz="2000" kern="100">
                          <a:effectLst/>
                        </a:rPr>
                        <a:t>prevout</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kern="100">
                          <a:effectLst/>
                        </a:rPr>
                        <a:t>哈希值</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32</a:t>
                      </a:r>
                      <a:r>
                        <a:rPr lang="zh-CN" sz="2000" kern="100">
                          <a:effectLst/>
                        </a:rPr>
                        <a:t>字节</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rowSpan="2">
                  <a:txBody>
                    <a:bodyPr/>
                    <a:lstStyle/>
                    <a:p>
                      <a:pPr algn="just">
                        <a:spcAft>
                          <a:spcPts val="0"/>
                        </a:spcAft>
                      </a:pPr>
                      <a:r>
                        <a:rPr lang="zh-CN" sz="2000" kern="100">
                          <a:effectLst/>
                        </a:rPr>
                        <a:t>引用上一个交易输出</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just">
                        <a:spcAft>
                          <a:spcPts val="0"/>
                        </a:spcAft>
                      </a:pPr>
                      <a:r>
                        <a:rPr lang="zh-CN" sz="2000" kern="100">
                          <a:effectLst/>
                        </a:rPr>
                        <a:t>上一个交易的哈希</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718182">
                <a:tc vMerge="1">
                  <a:txBody>
                    <a:bodyPr/>
                    <a:lstStyle/>
                    <a:p>
                      <a:endParaRPr lang="zh-CN"/>
                    </a:p>
                  </a:txBody>
                  <a:tcPr/>
                </a:tc>
                <a:tc>
                  <a:txBody>
                    <a:bodyPr/>
                    <a:lstStyle/>
                    <a:p>
                      <a:pPr algn="ctr">
                        <a:spcAft>
                          <a:spcPts val="0"/>
                        </a:spcAft>
                      </a:pPr>
                      <a:r>
                        <a:rPr lang="zh-CN" sz="2000" kern="100">
                          <a:effectLst/>
                        </a:rPr>
                        <a:t>无符号整型</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dirty="0">
                          <a:effectLst/>
                        </a:rPr>
                        <a:t>4</a:t>
                      </a:r>
                      <a:r>
                        <a:rPr lang="zh-CN" sz="2000" kern="100" dirty="0">
                          <a:effectLst/>
                        </a:rPr>
                        <a:t>字节</a:t>
                      </a:r>
                      <a:endParaRPr lang="zh-CN" sz="20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tc>
                <a:tc vMerge="1">
                  <a:txBody>
                    <a:bodyPr/>
                    <a:lstStyle/>
                    <a:p>
                      <a:endParaRPr lang="zh-CN"/>
                    </a:p>
                  </a:txBody>
                  <a:tcPr/>
                </a:tc>
                <a:tc>
                  <a:txBody>
                    <a:bodyPr/>
                    <a:lstStyle/>
                    <a:p>
                      <a:pPr algn="just">
                        <a:spcAft>
                          <a:spcPts val="0"/>
                        </a:spcAft>
                      </a:pPr>
                      <a:r>
                        <a:rPr lang="zh-CN" sz="2000" kern="100">
                          <a:effectLst/>
                        </a:rPr>
                        <a:t>输出在上一个交易的位置</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718182">
                <a:tc rowSpan="2">
                  <a:txBody>
                    <a:bodyPr/>
                    <a:lstStyle/>
                    <a:p>
                      <a:pPr algn="ctr">
                        <a:spcAft>
                          <a:spcPts val="0"/>
                        </a:spcAft>
                      </a:pPr>
                      <a:r>
                        <a:rPr lang="en-US" sz="2000" kern="100">
                          <a:effectLst/>
                        </a:rPr>
                        <a:t>scriptSig</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2000" kern="100">
                          <a:effectLst/>
                        </a:rPr>
                        <a:t>变长无符号整型</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1-9</a:t>
                      </a:r>
                      <a:r>
                        <a:rPr lang="zh-CN" sz="2000" kern="100">
                          <a:effectLst/>
                        </a:rPr>
                        <a:t>字节</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gridSpan="2">
                  <a:txBody>
                    <a:bodyPr/>
                    <a:lstStyle/>
                    <a:p>
                      <a:pPr algn="just">
                        <a:spcAft>
                          <a:spcPts val="0"/>
                        </a:spcAft>
                      </a:pPr>
                      <a:r>
                        <a:rPr lang="zh-CN" sz="2000" kern="100">
                          <a:effectLst/>
                        </a:rPr>
                        <a:t>解锁脚本长度</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hMerge="1">
                  <a:txBody>
                    <a:bodyPr/>
                    <a:lstStyle/>
                    <a:p>
                      <a:endParaRPr lang="zh-CN"/>
                    </a:p>
                  </a:txBody>
                  <a:tcPr/>
                </a:tc>
                <a:extLst>
                  <a:ext uri="{0D108BD9-81ED-4DB2-BD59-A6C34878D82A}">
                    <a16:rowId xmlns:a16="http://schemas.microsoft.com/office/drawing/2014/main" val="10004"/>
                  </a:ext>
                </a:extLst>
              </a:tr>
              <a:tr h="359091">
                <a:tc vMerge="1">
                  <a:txBody>
                    <a:bodyPr/>
                    <a:lstStyle/>
                    <a:p>
                      <a:endParaRPr lang="zh-CN"/>
                    </a:p>
                  </a:txBody>
                  <a:tcPr/>
                </a:tc>
                <a:tc>
                  <a:txBody>
                    <a:bodyPr/>
                    <a:lstStyle/>
                    <a:p>
                      <a:pPr algn="ctr">
                        <a:spcAft>
                          <a:spcPts val="0"/>
                        </a:spcAft>
                      </a:pPr>
                      <a:r>
                        <a:rPr lang="zh-CN" sz="2000" kern="100">
                          <a:effectLst/>
                        </a:rPr>
                        <a:t>字节串</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2000" kern="100">
                          <a:effectLst/>
                        </a:rPr>
                        <a:t>不定</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gridSpan="2">
                  <a:txBody>
                    <a:bodyPr/>
                    <a:lstStyle/>
                    <a:p>
                      <a:pPr algn="just">
                        <a:spcAft>
                          <a:spcPts val="0"/>
                        </a:spcAft>
                      </a:pPr>
                      <a:r>
                        <a:rPr lang="zh-CN" sz="2000" kern="100">
                          <a:effectLst/>
                        </a:rPr>
                        <a:t>用于解锁上一个输出的脚本</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hMerge="1">
                  <a:txBody>
                    <a:bodyPr/>
                    <a:lstStyle/>
                    <a:p>
                      <a:endParaRPr lang="zh-CN"/>
                    </a:p>
                  </a:txBody>
                  <a:tcPr/>
                </a:tc>
                <a:extLst>
                  <a:ext uri="{0D108BD9-81ED-4DB2-BD59-A6C34878D82A}">
                    <a16:rowId xmlns:a16="http://schemas.microsoft.com/office/drawing/2014/main" val="10005"/>
                  </a:ext>
                </a:extLst>
              </a:tr>
              <a:tr h="718182">
                <a:tc>
                  <a:txBody>
                    <a:bodyPr/>
                    <a:lstStyle/>
                    <a:p>
                      <a:pPr algn="ctr">
                        <a:spcAft>
                          <a:spcPts val="0"/>
                        </a:spcAft>
                      </a:pPr>
                      <a:r>
                        <a:rPr lang="en-US" sz="2000" kern="100">
                          <a:effectLst/>
                        </a:rPr>
                        <a:t>nSequence</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2000" kern="100" dirty="0">
                          <a:effectLst/>
                        </a:rPr>
                        <a:t>无符号整型</a:t>
                      </a:r>
                      <a:endParaRPr lang="zh-CN" sz="20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4</a:t>
                      </a:r>
                      <a:r>
                        <a:rPr lang="zh-CN" sz="2000" kern="100">
                          <a:effectLst/>
                        </a:rPr>
                        <a:t>字节</a:t>
                      </a:r>
                      <a:endParaRPr lang="zh-CN" sz="20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gridSpan="2">
                  <a:txBody>
                    <a:bodyPr/>
                    <a:lstStyle/>
                    <a:p>
                      <a:pPr algn="just">
                        <a:spcAft>
                          <a:spcPts val="0"/>
                        </a:spcAft>
                      </a:pPr>
                      <a:r>
                        <a:rPr lang="zh-CN" sz="2000" kern="100" dirty="0">
                          <a:effectLst/>
                        </a:rPr>
                        <a:t>序列号，在一些解锁的功能中使用</a:t>
                      </a:r>
                      <a:endParaRPr lang="zh-CN" sz="20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tc>
                <a:tc hMerge="1">
                  <a:txBody>
                    <a:bodyPr/>
                    <a:lstStyle/>
                    <a:p>
                      <a:endParaRPr lang="zh-CN"/>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UTXO</a:t>
            </a:r>
            <a:r>
              <a:rPr lang="zh-CN" altLang="en-US" dirty="0"/>
              <a:t>模型</a:t>
            </a:r>
            <a:endParaRPr lang="en-US" altLang="zh-CN" dirty="0"/>
          </a:p>
        </p:txBody>
      </p:sp>
      <p:sp>
        <p:nvSpPr>
          <p:cNvPr id="3" name="内容占位符 2"/>
          <p:cNvSpPr>
            <a:spLocks noGrp="1"/>
          </p:cNvSpPr>
          <p:nvPr>
            <p:ph idx="1"/>
          </p:nvPr>
        </p:nvSpPr>
        <p:spPr>
          <a:xfrm>
            <a:off x="838200" y="1510758"/>
            <a:ext cx="9888940" cy="4727809"/>
          </a:xfrm>
        </p:spPr>
        <p:txBody>
          <a:bodyPr>
            <a:normAutofit fontScale="70000" lnSpcReduction="20000"/>
          </a:bodyPr>
          <a:lstStyle/>
          <a:p>
            <a:pPr fontAlgn="auto">
              <a:lnSpc>
                <a:spcPct val="130000"/>
              </a:lnSpc>
            </a:pPr>
            <a:r>
              <a:rPr lang="zh-CN" altLang="en-US" dirty="0"/>
              <a:t>如何计算</a:t>
            </a:r>
            <a:r>
              <a:rPr lang="en-US" altLang="zh-CN" dirty="0"/>
              <a:t>Bob</a:t>
            </a:r>
            <a:r>
              <a:rPr lang="zh-CN" altLang="en-US" dirty="0"/>
              <a:t>拥有多少的比特币？</a:t>
            </a:r>
            <a:endParaRPr lang="en-US" altLang="zh-CN" dirty="0"/>
          </a:p>
          <a:p>
            <a:pPr lvl="1">
              <a:lnSpc>
                <a:spcPct val="130000"/>
              </a:lnSpc>
            </a:pPr>
            <a:r>
              <a:rPr lang="zh-CN" altLang="en-US" sz="2900" dirty="0">
                <a:solidFill>
                  <a:prstClr val="black"/>
                </a:solidFill>
              </a:rPr>
              <a:t>回到最开始</a:t>
            </a:r>
            <a:r>
              <a:rPr lang="en-GB" altLang="zh-CN" sz="2900" dirty="0">
                <a:solidFill>
                  <a:prstClr val="black"/>
                </a:solidFill>
              </a:rPr>
              <a:t>Alice</a:t>
            </a:r>
            <a:r>
              <a:rPr lang="zh-CN" altLang="en-US" sz="2900" dirty="0">
                <a:solidFill>
                  <a:prstClr val="black"/>
                </a:solidFill>
              </a:rPr>
              <a:t>和</a:t>
            </a:r>
            <a:r>
              <a:rPr lang="en-GB" altLang="zh-CN" sz="2900" dirty="0">
                <a:solidFill>
                  <a:prstClr val="black"/>
                </a:solidFill>
              </a:rPr>
              <a:t>Bob</a:t>
            </a:r>
            <a:r>
              <a:rPr lang="zh-CN" altLang="en-US" sz="2900" dirty="0">
                <a:solidFill>
                  <a:prstClr val="black"/>
                </a:solidFill>
              </a:rPr>
              <a:t>的交易，</a:t>
            </a:r>
            <a:r>
              <a:rPr lang="en-GB" altLang="zh-CN" sz="2900" dirty="0">
                <a:solidFill>
                  <a:prstClr val="black"/>
                </a:solidFill>
              </a:rPr>
              <a:t>Bob</a:t>
            </a:r>
            <a:r>
              <a:rPr lang="zh-CN" altLang="en-US" sz="2900" dirty="0">
                <a:solidFill>
                  <a:prstClr val="black"/>
                </a:solidFill>
              </a:rPr>
              <a:t>通过自己密钥生成对应解锁脚本的方式得到这个交易输出的</a:t>
            </a:r>
            <a:r>
              <a:rPr lang="en-US" altLang="zh-CN" sz="2900" dirty="0">
                <a:solidFill>
                  <a:prstClr val="black"/>
                </a:solidFill>
              </a:rPr>
              <a:t>1</a:t>
            </a:r>
            <a:r>
              <a:rPr lang="zh-CN" altLang="en-US" sz="2900" dirty="0">
                <a:solidFill>
                  <a:prstClr val="black"/>
                </a:solidFill>
              </a:rPr>
              <a:t>个</a:t>
            </a:r>
            <a:r>
              <a:rPr lang="en-GB" altLang="zh-CN" sz="2900" dirty="0">
                <a:solidFill>
                  <a:prstClr val="black"/>
                </a:solidFill>
              </a:rPr>
              <a:t>BTC</a:t>
            </a:r>
            <a:r>
              <a:rPr lang="zh-CN" altLang="en-US" sz="2900" dirty="0">
                <a:solidFill>
                  <a:prstClr val="black"/>
                </a:solidFill>
              </a:rPr>
              <a:t>的所有权，但</a:t>
            </a:r>
            <a:r>
              <a:rPr lang="en-GB" altLang="zh-CN" sz="2900" dirty="0">
                <a:solidFill>
                  <a:prstClr val="black"/>
                </a:solidFill>
              </a:rPr>
              <a:t>Bob</a:t>
            </a:r>
            <a:r>
              <a:rPr lang="zh-CN" altLang="en-US" sz="2900" dirty="0">
                <a:solidFill>
                  <a:prstClr val="black"/>
                </a:solidFill>
              </a:rPr>
              <a:t>拥有了这个交易的输出的所有权不等于拥有这个比特币。</a:t>
            </a:r>
            <a:endParaRPr lang="en-US" altLang="zh-CN" sz="2900" dirty="0">
              <a:solidFill>
                <a:prstClr val="black"/>
              </a:solidFill>
            </a:endParaRPr>
          </a:p>
          <a:p>
            <a:pPr lvl="1">
              <a:lnSpc>
                <a:spcPct val="130000"/>
              </a:lnSpc>
            </a:pPr>
            <a:r>
              <a:rPr lang="zh-CN" altLang="en-US" sz="2900" dirty="0">
                <a:solidFill>
                  <a:prstClr val="black"/>
                </a:solidFill>
              </a:rPr>
              <a:t>当</a:t>
            </a:r>
            <a:r>
              <a:rPr lang="en-US" altLang="zh-CN" sz="2900" dirty="0">
                <a:solidFill>
                  <a:prstClr val="black"/>
                </a:solidFill>
              </a:rPr>
              <a:t>Bob</a:t>
            </a:r>
            <a:r>
              <a:rPr lang="zh-CN" altLang="en-US" sz="2900" dirty="0">
                <a:solidFill>
                  <a:prstClr val="black"/>
                </a:solidFill>
              </a:rPr>
              <a:t>下次想要把这</a:t>
            </a:r>
            <a:r>
              <a:rPr lang="en-US" altLang="zh-CN" sz="2900" dirty="0">
                <a:solidFill>
                  <a:prstClr val="black"/>
                </a:solidFill>
              </a:rPr>
              <a:t>1</a:t>
            </a:r>
            <a:r>
              <a:rPr lang="zh-CN" altLang="en-US" sz="2900" dirty="0">
                <a:solidFill>
                  <a:prstClr val="black"/>
                </a:solidFill>
              </a:rPr>
              <a:t>个</a:t>
            </a:r>
            <a:r>
              <a:rPr lang="en-US" altLang="zh-CN" sz="2900" dirty="0">
                <a:solidFill>
                  <a:prstClr val="black"/>
                </a:solidFill>
              </a:rPr>
              <a:t>BTC</a:t>
            </a:r>
            <a:r>
              <a:rPr lang="zh-CN" altLang="en-US" sz="2900" dirty="0">
                <a:solidFill>
                  <a:prstClr val="black"/>
                </a:solidFill>
              </a:rPr>
              <a:t>转账给</a:t>
            </a:r>
            <a:r>
              <a:rPr lang="en-US" altLang="zh-CN" sz="2900" dirty="0">
                <a:solidFill>
                  <a:prstClr val="black"/>
                </a:solidFill>
              </a:rPr>
              <a:t>Cathy</a:t>
            </a:r>
            <a:r>
              <a:rPr lang="zh-CN" altLang="en-US" sz="2900" dirty="0">
                <a:solidFill>
                  <a:prstClr val="black"/>
                </a:solidFill>
              </a:rPr>
              <a:t>的时候，就可以通过类似的方式构建一个交易，把这个输出的</a:t>
            </a:r>
            <a:r>
              <a:rPr lang="en-US" altLang="zh-CN" sz="2900" dirty="0">
                <a:solidFill>
                  <a:prstClr val="black"/>
                </a:solidFill>
              </a:rPr>
              <a:t>1</a:t>
            </a:r>
            <a:r>
              <a:rPr lang="zh-CN" altLang="en-US" sz="2900" dirty="0">
                <a:solidFill>
                  <a:prstClr val="black"/>
                </a:solidFill>
              </a:rPr>
              <a:t>个</a:t>
            </a:r>
            <a:r>
              <a:rPr lang="en-US" altLang="zh-CN" sz="2900" dirty="0">
                <a:solidFill>
                  <a:prstClr val="black"/>
                </a:solidFill>
              </a:rPr>
              <a:t>BTC</a:t>
            </a:r>
            <a:r>
              <a:rPr lang="zh-CN" altLang="en-US" sz="2900" dirty="0">
                <a:solidFill>
                  <a:prstClr val="black"/>
                </a:solidFill>
              </a:rPr>
              <a:t>转账给</a:t>
            </a:r>
            <a:r>
              <a:rPr lang="en-US" altLang="zh-CN" sz="2900" dirty="0">
                <a:solidFill>
                  <a:prstClr val="black"/>
                </a:solidFill>
              </a:rPr>
              <a:t>Cathy</a:t>
            </a:r>
            <a:r>
              <a:rPr lang="zh-CN" altLang="en-US" sz="2900" dirty="0">
                <a:solidFill>
                  <a:prstClr val="black"/>
                </a:solidFill>
              </a:rPr>
              <a:t>，让</a:t>
            </a:r>
            <a:r>
              <a:rPr lang="en-US" altLang="zh-CN" sz="2900" dirty="0">
                <a:solidFill>
                  <a:prstClr val="black"/>
                </a:solidFill>
              </a:rPr>
              <a:t>Cathy</a:t>
            </a:r>
            <a:r>
              <a:rPr lang="zh-CN" altLang="en-US" sz="2900" dirty="0">
                <a:solidFill>
                  <a:prstClr val="black"/>
                </a:solidFill>
              </a:rPr>
              <a:t>获得新交易的输出的所有权。新交易完成后，原交易中</a:t>
            </a:r>
            <a:r>
              <a:rPr lang="en-US" altLang="zh-CN" sz="2900" dirty="0">
                <a:solidFill>
                  <a:prstClr val="black"/>
                </a:solidFill>
              </a:rPr>
              <a:t>Alice</a:t>
            </a:r>
            <a:r>
              <a:rPr lang="zh-CN" altLang="en-US" sz="2900" dirty="0">
                <a:solidFill>
                  <a:prstClr val="black"/>
                </a:solidFill>
              </a:rPr>
              <a:t>对</a:t>
            </a:r>
            <a:r>
              <a:rPr lang="en-US" altLang="zh-CN" sz="2900" dirty="0">
                <a:solidFill>
                  <a:prstClr val="black"/>
                </a:solidFill>
              </a:rPr>
              <a:t>Bob</a:t>
            </a:r>
            <a:r>
              <a:rPr lang="zh-CN" altLang="en-US" sz="2900" dirty="0">
                <a:solidFill>
                  <a:prstClr val="black"/>
                </a:solidFill>
              </a:rPr>
              <a:t>转账的输出依旧是存在的，所有权依然是</a:t>
            </a:r>
            <a:r>
              <a:rPr lang="en-US" altLang="zh-CN" sz="2900" dirty="0">
                <a:solidFill>
                  <a:prstClr val="black"/>
                </a:solidFill>
              </a:rPr>
              <a:t>Bob</a:t>
            </a:r>
            <a:r>
              <a:rPr lang="zh-CN" altLang="en-US" sz="2900" dirty="0">
                <a:solidFill>
                  <a:prstClr val="black"/>
                </a:solidFill>
              </a:rPr>
              <a:t>，然而</a:t>
            </a:r>
            <a:r>
              <a:rPr lang="en-US" altLang="zh-CN" sz="2900" dirty="0">
                <a:solidFill>
                  <a:prstClr val="black"/>
                </a:solidFill>
              </a:rPr>
              <a:t>Bob</a:t>
            </a:r>
            <a:r>
              <a:rPr lang="zh-CN" altLang="en-US" sz="2900" dirty="0">
                <a:solidFill>
                  <a:prstClr val="black"/>
                </a:solidFill>
              </a:rPr>
              <a:t>不可能再进行转账了</a:t>
            </a:r>
            <a:r>
              <a:rPr lang="en-US" altLang="zh-CN" sz="2900" dirty="0">
                <a:solidFill>
                  <a:prstClr val="black"/>
                </a:solidFill>
              </a:rPr>
              <a:t>——</a:t>
            </a:r>
            <a:r>
              <a:rPr lang="zh-CN" altLang="en-US" sz="2900" dirty="0">
                <a:solidFill>
                  <a:prstClr val="black"/>
                </a:solidFill>
              </a:rPr>
              <a:t>它已经被“花费”出去了。</a:t>
            </a:r>
            <a:endParaRPr lang="en-US" altLang="zh-CN" sz="2900" dirty="0">
              <a:solidFill>
                <a:prstClr val="black"/>
              </a:solidFill>
            </a:endParaRPr>
          </a:p>
          <a:p>
            <a:pPr lvl="1">
              <a:lnSpc>
                <a:spcPct val="130000"/>
              </a:lnSpc>
            </a:pPr>
            <a:r>
              <a:rPr lang="zh-CN" altLang="en-US" sz="2900" dirty="0"/>
              <a:t>因此，衡量</a:t>
            </a:r>
            <a:r>
              <a:rPr lang="en-US" altLang="zh-CN" sz="2900" dirty="0"/>
              <a:t>Alice</a:t>
            </a:r>
            <a:r>
              <a:rPr lang="zh-CN" altLang="en-US" sz="2900" dirty="0"/>
              <a:t>或者</a:t>
            </a:r>
            <a:r>
              <a:rPr lang="en-US" altLang="zh-CN" sz="2900" dirty="0"/>
              <a:t>Bob</a:t>
            </a:r>
            <a:r>
              <a:rPr lang="zh-CN" altLang="en-US" sz="2900" dirty="0"/>
              <a:t>到底拥有多少比特币，不能仅仅看她</a:t>
            </a:r>
            <a:r>
              <a:rPr lang="en-US" altLang="zh-CN" sz="2900" dirty="0"/>
              <a:t>/</a:t>
            </a:r>
            <a:r>
              <a:rPr lang="zh-CN" altLang="en-US" sz="2900" dirty="0"/>
              <a:t>他到底拥有了多少交易的输出，还要看这些交易输出到底有没有被所有者“花出去”。</a:t>
            </a:r>
            <a:endParaRPr lang="en-US" altLang="zh-CN" sz="2900" dirty="0"/>
          </a:p>
          <a:p>
            <a:pPr lvl="1">
              <a:lnSpc>
                <a:spcPct val="130000"/>
              </a:lnSpc>
            </a:pPr>
            <a:endParaRPr lang="zh-CN" altLang="en-US"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24</a:t>
            </a:fld>
            <a:endParaRPr kumimoji="1"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8"/>
            <a:ext cx="9888940" cy="2677783"/>
          </a:xfrm>
        </p:spPr>
        <p:txBody>
          <a:bodyPr>
            <a:normAutofit fontScale="77500" lnSpcReduction="20000"/>
          </a:bodyPr>
          <a:lstStyle/>
          <a:p>
            <a:pPr fontAlgn="auto">
              <a:lnSpc>
                <a:spcPct val="130000"/>
              </a:lnSpc>
            </a:pPr>
            <a:r>
              <a:rPr lang="zh-CN" altLang="en-US" dirty="0"/>
              <a:t>利用</a:t>
            </a:r>
            <a:r>
              <a:rPr lang="en-US" altLang="zh-CN" dirty="0"/>
              <a:t>UTXO</a:t>
            </a:r>
            <a:r>
              <a:rPr lang="zh-CN" altLang="en-US" dirty="0"/>
              <a:t>模型计算</a:t>
            </a:r>
            <a:r>
              <a:rPr lang="en-US" altLang="zh-CN" dirty="0"/>
              <a:t>Bob</a:t>
            </a:r>
            <a:r>
              <a:rPr lang="zh-CN" altLang="en-US" dirty="0"/>
              <a:t>所拥有的比特币</a:t>
            </a:r>
            <a:endParaRPr lang="en-US" altLang="zh-CN" dirty="0"/>
          </a:p>
          <a:p>
            <a:pPr lvl="1">
              <a:lnSpc>
                <a:spcPct val="130000"/>
              </a:lnSpc>
            </a:pPr>
            <a:r>
              <a:rPr lang="zh-CN" altLang="en-US" dirty="0">
                <a:solidFill>
                  <a:prstClr val="black"/>
                </a:solidFill>
              </a:rPr>
              <a:t>如图所示，</a:t>
            </a:r>
            <a:r>
              <a:rPr lang="en-GB" altLang="zh-CN" dirty="0">
                <a:solidFill>
                  <a:prstClr val="black"/>
                </a:solidFill>
              </a:rPr>
              <a:t>Bob</a:t>
            </a:r>
            <a:r>
              <a:rPr lang="zh-CN" altLang="en-US" dirty="0">
                <a:solidFill>
                  <a:prstClr val="black"/>
                </a:solidFill>
              </a:rPr>
              <a:t>的</a:t>
            </a:r>
            <a:r>
              <a:rPr lang="en-US" altLang="zh-CN" dirty="0">
                <a:solidFill>
                  <a:prstClr val="black"/>
                </a:solidFill>
              </a:rPr>
              <a:t>1</a:t>
            </a:r>
            <a:r>
              <a:rPr lang="zh-CN" altLang="en-US" dirty="0">
                <a:solidFill>
                  <a:prstClr val="black"/>
                </a:solidFill>
              </a:rPr>
              <a:t>个</a:t>
            </a:r>
            <a:r>
              <a:rPr lang="en-GB" altLang="zh-CN" dirty="0">
                <a:solidFill>
                  <a:prstClr val="black"/>
                </a:solidFill>
              </a:rPr>
              <a:t>BTC</a:t>
            </a:r>
            <a:r>
              <a:rPr lang="zh-CN" altLang="en-US" dirty="0">
                <a:solidFill>
                  <a:prstClr val="black"/>
                </a:solidFill>
              </a:rPr>
              <a:t>的交易输出已经花费，而</a:t>
            </a:r>
            <a:r>
              <a:rPr lang="en-US" altLang="zh-CN" dirty="0">
                <a:solidFill>
                  <a:prstClr val="black"/>
                </a:solidFill>
              </a:rPr>
              <a:t>0.5</a:t>
            </a:r>
            <a:r>
              <a:rPr lang="zh-CN" altLang="en-US" dirty="0">
                <a:solidFill>
                  <a:prstClr val="black"/>
                </a:solidFill>
              </a:rPr>
              <a:t>个</a:t>
            </a:r>
            <a:r>
              <a:rPr lang="en-GB" altLang="zh-CN" dirty="0">
                <a:solidFill>
                  <a:prstClr val="black"/>
                </a:solidFill>
              </a:rPr>
              <a:t>BTC</a:t>
            </a:r>
            <a:r>
              <a:rPr lang="zh-CN" altLang="en-US" dirty="0">
                <a:solidFill>
                  <a:prstClr val="black"/>
                </a:solidFill>
              </a:rPr>
              <a:t>的交易输出则尚未花费，代表了</a:t>
            </a:r>
            <a:r>
              <a:rPr lang="en-GB" altLang="zh-CN" dirty="0">
                <a:solidFill>
                  <a:prstClr val="black"/>
                </a:solidFill>
              </a:rPr>
              <a:t>Bob</a:t>
            </a:r>
            <a:r>
              <a:rPr lang="zh-CN" altLang="en-US" dirty="0">
                <a:solidFill>
                  <a:prstClr val="black"/>
                </a:solidFill>
              </a:rPr>
              <a:t>的用户余额。在比特币的世界里，这些还没有花费出去的交易才能够真正地反映出一个用户所拥有的比特币，它们被称之为未花费交易输出（</a:t>
            </a:r>
            <a:r>
              <a:rPr lang="en-GB" altLang="zh-CN" dirty="0">
                <a:solidFill>
                  <a:prstClr val="black"/>
                </a:solidFill>
              </a:rPr>
              <a:t>Unspent Transaction Output</a:t>
            </a:r>
            <a:r>
              <a:rPr lang="zh-CN" altLang="en-GB" dirty="0">
                <a:solidFill>
                  <a:prstClr val="black"/>
                </a:solidFill>
              </a:rPr>
              <a:t>）</a:t>
            </a:r>
            <a:r>
              <a:rPr lang="en-GB" altLang="zh-CN" dirty="0">
                <a:solidFill>
                  <a:prstClr val="black"/>
                </a:solidFill>
              </a:rPr>
              <a:t>, </a:t>
            </a:r>
            <a:r>
              <a:rPr lang="zh-CN" altLang="en-US" dirty="0">
                <a:solidFill>
                  <a:prstClr val="black"/>
                </a:solidFill>
              </a:rPr>
              <a:t>简称为</a:t>
            </a:r>
            <a:r>
              <a:rPr lang="en-GB" altLang="zh-CN" dirty="0">
                <a:solidFill>
                  <a:prstClr val="black"/>
                </a:solidFill>
              </a:rPr>
              <a:t>UTXO</a:t>
            </a:r>
            <a:r>
              <a:rPr lang="zh-CN" altLang="en-GB"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只要我们把比特币系统上的所有交易执行一遍，将所有由</a:t>
            </a:r>
            <a:r>
              <a:rPr lang="en-GB" altLang="zh-CN" dirty="0">
                <a:solidFill>
                  <a:prstClr val="black"/>
                </a:solidFill>
              </a:rPr>
              <a:t>Bob</a:t>
            </a:r>
            <a:r>
              <a:rPr lang="zh-CN" altLang="en-US" dirty="0">
                <a:solidFill>
                  <a:prstClr val="black"/>
                </a:solidFill>
              </a:rPr>
              <a:t>才可以解锁的、同时也是还没有被“花费”的交易输出收集起来，我们就可以得到</a:t>
            </a:r>
            <a:r>
              <a:rPr lang="en-GB" altLang="zh-CN" dirty="0">
                <a:solidFill>
                  <a:prstClr val="black"/>
                </a:solidFill>
              </a:rPr>
              <a:t>Bob</a:t>
            </a:r>
            <a:r>
              <a:rPr lang="zh-CN" altLang="en-US" dirty="0">
                <a:solidFill>
                  <a:prstClr val="black"/>
                </a:solidFill>
              </a:rPr>
              <a:t>用户的比特币余额</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25</a:t>
            </a:fld>
            <a:endParaRPr kumimoji="1" lang="zh-CN" altLang="en-US" dirty="0"/>
          </a:p>
        </p:txBody>
      </p:sp>
      <p:pic>
        <p:nvPicPr>
          <p:cNvPr id="4" name="图片 3"/>
          <p:cNvPicPr>
            <a:picLocks noChangeAspect="1"/>
          </p:cNvPicPr>
          <p:nvPr/>
        </p:nvPicPr>
        <p:blipFill>
          <a:blip r:embed="rId3"/>
          <a:stretch>
            <a:fillRect/>
          </a:stretch>
        </p:blipFill>
        <p:spPr>
          <a:xfrm>
            <a:off x="2184225" y="4023854"/>
            <a:ext cx="7196887" cy="2449006"/>
          </a:xfrm>
          <a:prstGeom prst="rect">
            <a:avLst/>
          </a:prstGeom>
        </p:spPr>
      </p:pic>
      <p:sp>
        <p:nvSpPr>
          <p:cNvPr id="6" name="文本框 5"/>
          <p:cNvSpPr txBox="1"/>
          <p:nvPr/>
        </p:nvSpPr>
        <p:spPr>
          <a:xfrm>
            <a:off x="4305342" y="6472860"/>
            <a:ext cx="2954655" cy="369332"/>
          </a:xfrm>
          <a:prstGeom prst="rect">
            <a:avLst/>
          </a:prstGeom>
          <a:noFill/>
        </p:spPr>
        <p:txBody>
          <a:bodyPr wrap="none" rtlCol="0">
            <a:spAutoFit/>
          </a:bodyPr>
          <a:lstStyle/>
          <a:p>
            <a:r>
              <a:rPr kumimoji="1" lang="zh-CN" altLang="en-US" dirty="0"/>
              <a:t>未花费与已花费的交易输出</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9"/>
            <a:ext cx="9888940" cy="5067022"/>
          </a:xfrm>
        </p:spPr>
        <p:txBody>
          <a:bodyPr>
            <a:normAutofit lnSpcReduction="10000"/>
          </a:bodyPr>
          <a:lstStyle/>
          <a:p>
            <a:pPr fontAlgn="auto">
              <a:lnSpc>
                <a:spcPct val="130000"/>
              </a:lnSpc>
            </a:pPr>
            <a:r>
              <a:rPr lang="zh-CN" altLang="en-US" dirty="0"/>
              <a:t>可回溯的交易链条</a:t>
            </a:r>
            <a:endParaRPr lang="en-US" altLang="zh-CN" dirty="0"/>
          </a:p>
          <a:p>
            <a:pPr lvl="1">
              <a:lnSpc>
                <a:spcPct val="130000"/>
              </a:lnSpc>
            </a:pPr>
            <a:r>
              <a:rPr lang="zh-CN" altLang="en-US" dirty="0">
                <a:solidFill>
                  <a:prstClr val="black"/>
                </a:solidFill>
              </a:rPr>
              <a:t>在比特币的</a:t>
            </a:r>
            <a:r>
              <a:rPr lang="en-GB" altLang="zh-CN" dirty="0">
                <a:solidFill>
                  <a:prstClr val="black"/>
                </a:solidFill>
              </a:rPr>
              <a:t>UTXO</a:t>
            </a:r>
            <a:r>
              <a:rPr lang="zh-CN" altLang="en-US" dirty="0">
                <a:solidFill>
                  <a:prstClr val="black"/>
                </a:solidFill>
              </a:rPr>
              <a:t>模型中，比特币并非凭空产生的，而是通过前人的交易得来的，前人的比特币又是通过更为前面的交易获取的。这样我们可以对任意的比特币不断回溯，直到最初产生比特币的起点（如何产生我们后面细讲）。在比特币的白皮书中，使用了“电子货币（指比特币）是一条数字签名链”的说法，讲的便是这样一个回溯的链条。在这个链条中，每一个节点都是一次比特币的交易，都是一次比特币所有者的签名认证与输出使用。当前任意一个比特币的持有证明，都是通过前面一层又一层交易的签名确认而得到的。最后，最新一笔交易的接收人可以通过验证输出的锁定脚本来确认他是这一比特币链条的所有者。</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9"/>
            <a:ext cx="9888940" cy="1999357"/>
          </a:xfrm>
        </p:spPr>
        <p:txBody>
          <a:bodyPr>
            <a:normAutofit fontScale="85000" lnSpcReduction="10000"/>
          </a:bodyPr>
          <a:lstStyle/>
          <a:p>
            <a:pPr fontAlgn="auto">
              <a:lnSpc>
                <a:spcPct val="130000"/>
              </a:lnSpc>
            </a:pPr>
            <a:r>
              <a:rPr lang="zh-CN" altLang="en-US" dirty="0"/>
              <a:t>比特币的交易模型和结构</a:t>
            </a:r>
            <a:endParaRPr lang="en-US" altLang="zh-CN" dirty="0"/>
          </a:p>
          <a:p>
            <a:pPr lvl="1">
              <a:lnSpc>
                <a:spcPct val="130000"/>
              </a:lnSpc>
            </a:pPr>
            <a:r>
              <a:rPr lang="zh-CN" altLang="en-US" dirty="0">
                <a:solidFill>
                  <a:prstClr val="black"/>
                </a:solidFill>
              </a:rPr>
              <a:t>下表为交易数据结构细则，其中版本号可以实现在不修改原有交易的情况下实现对比特币交易的功能升级，而锁定时间则被用于定时锁定的比特币交易。这两个字段通常与比特币的一些复杂的脚本功能相关，这里不再继续展开。</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graphicFrame>
        <p:nvGraphicFramePr>
          <p:cNvPr id="4" name="表格 3"/>
          <p:cNvGraphicFramePr>
            <a:graphicFrameLocks noGrp="1"/>
          </p:cNvGraphicFramePr>
          <p:nvPr/>
        </p:nvGraphicFramePr>
        <p:xfrm>
          <a:off x="1307508" y="3184136"/>
          <a:ext cx="9419632" cy="3534154"/>
        </p:xfrm>
        <a:graphic>
          <a:graphicData uri="http://schemas.openxmlformats.org/drawingml/2006/table">
            <a:tbl>
              <a:tblPr firstRow="1" firstCol="1" bandRow="1">
                <a:tableStyleId>{7DF18680-E054-41AD-8BC1-D1AEF772440D}</a:tableStyleId>
              </a:tblPr>
              <a:tblGrid>
                <a:gridCol w="1630289">
                  <a:extLst>
                    <a:ext uri="{9D8B030D-6E8A-4147-A177-3AD203B41FA5}">
                      <a16:colId xmlns:a16="http://schemas.microsoft.com/office/drawing/2014/main" val="20000"/>
                    </a:ext>
                  </a:extLst>
                </a:gridCol>
                <a:gridCol w="1630289">
                  <a:extLst>
                    <a:ext uri="{9D8B030D-6E8A-4147-A177-3AD203B41FA5}">
                      <a16:colId xmlns:a16="http://schemas.microsoft.com/office/drawing/2014/main" val="20001"/>
                    </a:ext>
                  </a:extLst>
                </a:gridCol>
                <a:gridCol w="3079527">
                  <a:extLst>
                    <a:ext uri="{9D8B030D-6E8A-4147-A177-3AD203B41FA5}">
                      <a16:colId xmlns:a16="http://schemas.microsoft.com/office/drawing/2014/main" val="20002"/>
                    </a:ext>
                  </a:extLst>
                </a:gridCol>
                <a:gridCol w="3079527">
                  <a:extLst>
                    <a:ext uri="{9D8B030D-6E8A-4147-A177-3AD203B41FA5}">
                      <a16:colId xmlns:a16="http://schemas.microsoft.com/office/drawing/2014/main" val="20003"/>
                    </a:ext>
                  </a:extLst>
                </a:gridCol>
              </a:tblGrid>
              <a:tr h="221414">
                <a:tc gridSpan="4">
                  <a:txBody>
                    <a:bodyPr/>
                    <a:lstStyle/>
                    <a:p>
                      <a:pPr algn="ctr">
                        <a:spcAft>
                          <a:spcPts val="0"/>
                        </a:spcAft>
                      </a:pPr>
                      <a:r>
                        <a:rPr lang="zh-CN" sz="1800" kern="100" dirty="0">
                          <a:effectLst/>
                        </a:rPr>
                        <a:t>比特币交易数据结构</a:t>
                      </a:r>
                      <a:endParaRPr lang="zh-CN" sz="18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58317">
                <a:tc>
                  <a:txBody>
                    <a:bodyPr/>
                    <a:lstStyle/>
                    <a:p>
                      <a:pPr algn="ctr">
                        <a:spcAft>
                          <a:spcPts val="0"/>
                        </a:spcAft>
                      </a:pPr>
                      <a:r>
                        <a:rPr lang="zh-CN" sz="1800" kern="100">
                          <a:effectLst/>
                        </a:rPr>
                        <a:t>数据项</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类型</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大小</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说明</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58317">
                <a:tc>
                  <a:txBody>
                    <a:bodyPr/>
                    <a:lstStyle/>
                    <a:p>
                      <a:pPr algn="ctr">
                        <a:spcAft>
                          <a:spcPts val="0"/>
                        </a:spcAft>
                      </a:pPr>
                      <a:r>
                        <a:rPr lang="en-US" sz="1800" kern="100">
                          <a:effectLst/>
                        </a:rPr>
                        <a:t>nVersion</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整数</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4</a:t>
                      </a:r>
                      <a:r>
                        <a:rPr lang="zh-CN" sz="1800" kern="100">
                          <a:effectLst/>
                        </a:rPr>
                        <a:t>字节</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a:effectLst/>
                        </a:rPr>
                        <a:t>交易的版本号</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516634">
                <a:tc rowSpan="2">
                  <a:txBody>
                    <a:bodyPr/>
                    <a:lstStyle/>
                    <a:p>
                      <a:pPr algn="ctr">
                        <a:spcAft>
                          <a:spcPts val="0"/>
                        </a:spcAft>
                      </a:pPr>
                      <a:r>
                        <a:rPr lang="en-US" sz="1800" kern="100">
                          <a:effectLst/>
                        </a:rPr>
                        <a:t>vin</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变长无符号整型</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1-9</a:t>
                      </a:r>
                      <a:r>
                        <a:rPr lang="zh-CN" sz="1800" kern="100">
                          <a:effectLst/>
                        </a:rPr>
                        <a:t>字节</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a:effectLst/>
                        </a:rPr>
                        <a:t>交易输入数量</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516634">
                <a:tc vMerge="1">
                  <a:txBody>
                    <a:bodyPr/>
                    <a:lstStyle/>
                    <a:p>
                      <a:endParaRPr lang="zh-CN"/>
                    </a:p>
                  </a:txBody>
                  <a:tcPr/>
                </a:tc>
                <a:tc>
                  <a:txBody>
                    <a:bodyPr/>
                    <a:lstStyle/>
                    <a:p>
                      <a:pPr algn="ctr">
                        <a:spcAft>
                          <a:spcPts val="0"/>
                        </a:spcAft>
                      </a:pPr>
                      <a:r>
                        <a:rPr lang="zh-CN" sz="1800" kern="100">
                          <a:effectLst/>
                        </a:rPr>
                        <a:t>数组</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不定</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a:effectLst/>
                        </a:rPr>
                        <a:t>交易的所有输入，按顺序排列</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16634">
                <a:tc rowSpan="2">
                  <a:txBody>
                    <a:bodyPr/>
                    <a:lstStyle/>
                    <a:p>
                      <a:pPr algn="ctr">
                        <a:spcAft>
                          <a:spcPts val="0"/>
                        </a:spcAft>
                      </a:pPr>
                      <a:r>
                        <a:rPr lang="en-US" sz="1800" kern="100">
                          <a:effectLst/>
                        </a:rPr>
                        <a:t>vout</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变长无符号整型</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1-9</a:t>
                      </a:r>
                      <a:r>
                        <a:rPr lang="zh-CN" sz="1800" kern="100">
                          <a:effectLst/>
                        </a:rPr>
                        <a:t>字节</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a:effectLst/>
                        </a:rPr>
                        <a:t>交易输出数量</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516634">
                <a:tc vMerge="1">
                  <a:txBody>
                    <a:bodyPr/>
                    <a:lstStyle/>
                    <a:p>
                      <a:endParaRPr lang="zh-CN"/>
                    </a:p>
                  </a:txBody>
                  <a:tcPr/>
                </a:tc>
                <a:tc>
                  <a:txBody>
                    <a:bodyPr/>
                    <a:lstStyle/>
                    <a:p>
                      <a:pPr algn="ctr">
                        <a:spcAft>
                          <a:spcPts val="0"/>
                        </a:spcAft>
                      </a:pPr>
                      <a:r>
                        <a:rPr lang="zh-CN" sz="1800" kern="100">
                          <a:effectLst/>
                        </a:rPr>
                        <a:t>数组</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不定</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a:effectLst/>
                        </a:rPr>
                        <a:t>交易的所有输出，按顺序排列</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516634">
                <a:tc>
                  <a:txBody>
                    <a:bodyPr/>
                    <a:lstStyle/>
                    <a:p>
                      <a:pPr algn="ctr">
                        <a:spcAft>
                          <a:spcPts val="0"/>
                        </a:spcAft>
                      </a:pPr>
                      <a:r>
                        <a:rPr lang="en-US" sz="1800" kern="100">
                          <a:effectLst/>
                        </a:rPr>
                        <a:t>nLockTime</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无符号整型</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4</a:t>
                      </a:r>
                      <a:r>
                        <a:rPr lang="zh-CN" sz="1800" kern="100">
                          <a:effectLst/>
                        </a:rPr>
                        <a:t>字节</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dirty="0">
                          <a:effectLst/>
                        </a:rPr>
                        <a:t>用于时间锁定脚本的时间戳</a:t>
                      </a:r>
                      <a:endParaRPr lang="zh-CN" sz="18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2.1 </a:t>
            </a:r>
            <a:r>
              <a:rPr kumimoji="1" lang="zh-CN" altLang="en-US" dirty="0"/>
              <a:t>比特币简介</a:t>
            </a:r>
            <a:endParaRPr kumimoji="1" lang="en-US" altLang="zh-CN" dirty="0"/>
          </a:p>
          <a:p>
            <a:pPr marL="0" indent="0">
              <a:lnSpc>
                <a:spcPct val="130000"/>
              </a:lnSpc>
              <a:buNone/>
            </a:pPr>
            <a:r>
              <a:rPr kumimoji="1" lang="en-US" altLang="zh-CN" dirty="0"/>
              <a:t>2.2 </a:t>
            </a:r>
            <a:r>
              <a:rPr kumimoji="1" lang="zh-CN" altLang="en-US" dirty="0"/>
              <a:t>基础知识</a:t>
            </a:r>
            <a:r>
              <a:rPr kumimoji="1" lang="en-US" altLang="zh-CN" dirty="0"/>
              <a:t> </a:t>
            </a:r>
          </a:p>
          <a:p>
            <a:pPr marL="0" indent="0">
              <a:lnSpc>
                <a:spcPct val="130000"/>
              </a:lnSpc>
              <a:buNone/>
            </a:pPr>
            <a:r>
              <a:rPr kumimoji="1" lang="en-US" altLang="zh-CN" dirty="0"/>
              <a:t>2.3 </a:t>
            </a:r>
            <a:r>
              <a:rPr kumimoji="1" lang="zh-CN" altLang="en-US" dirty="0"/>
              <a:t>交易</a:t>
            </a:r>
            <a:endParaRPr kumimoji="1" lang="en-US" altLang="zh-CN" dirty="0"/>
          </a:p>
          <a:p>
            <a:pPr marL="0" indent="0">
              <a:lnSpc>
                <a:spcPct val="130000"/>
              </a:lnSpc>
              <a:buNone/>
            </a:pPr>
            <a:r>
              <a:rPr kumimoji="1" lang="en-US" altLang="zh-CN" dirty="0">
                <a:solidFill>
                  <a:srgbClr val="C00000"/>
                </a:solidFill>
              </a:rPr>
              <a:t>2.4 </a:t>
            </a:r>
            <a:r>
              <a:rPr kumimoji="1" lang="zh-CN" altLang="en-US" dirty="0">
                <a:solidFill>
                  <a:srgbClr val="C00000"/>
                </a:solidFill>
              </a:rPr>
              <a:t>脚本系统</a:t>
            </a:r>
            <a:endParaRPr kumimoji="1" lang="en-US" altLang="zh-CN" dirty="0">
              <a:solidFill>
                <a:srgbClr val="C00000"/>
              </a:solidFill>
            </a:endParaRPr>
          </a:p>
          <a:p>
            <a:pPr marL="0" indent="0">
              <a:lnSpc>
                <a:spcPct val="130000"/>
              </a:lnSpc>
              <a:buNone/>
            </a:pPr>
            <a:r>
              <a:rPr kumimoji="1" lang="en-US" altLang="zh-CN" dirty="0"/>
              <a:t>2.5 </a:t>
            </a:r>
            <a:r>
              <a:rPr kumimoji="1" lang="zh-CN" altLang="en-US" dirty="0"/>
              <a:t>公私密钥与地址</a:t>
            </a:r>
            <a:endParaRPr kumimoji="1" lang="en-US" altLang="zh-CN" dirty="0"/>
          </a:p>
          <a:p>
            <a:pPr marL="0" indent="0">
              <a:lnSpc>
                <a:spcPct val="130000"/>
              </a:lnSpc>
              <a:buNone/>
            </a:pPr>
            <a:r>
              <a:rPr kumimoji="1" lang="en-US" altLang="zh-CN" dirty="0"/>
              <a:t>2.6 </a:t>
            </a:r>
            <a:r>
              <a:rPr kumimoji="1" lang="zh-CN" altLang="en-US" dirty="0"/>
              <a:t>区块与链</a:t>
            </a:r>
            <a:endParaRPr kumimoji="1" lang="en-US" altLang="zh-CN" dirty="0"/>
          </a:p>
          <a:p>
            <a:pPr marL="0" indent="0">
              <a:lnSpc>
                <a:spcPct val="130000"/>
              </a:lnSpc>
              <a:buNone/>
            </a:pPr>
            <a:r>
              <a:rPr kumimoji="1" lang="en-US" altLang="zh-CN" dirty="0"/>
              <a:t>2.7 </a:t>
            </a:r>
            <a:r>
              <a:rPr kumimoji="1" lang="zh-CN" altLang="en-US" dirty="0"/>
              <a:t>共识</a:t>
            </a:r>
            <a:endParaRPr kumimoji="1" lang="en-US" altLang="zh-CN" dirty="0"/>
          </a:p>
        </p:txBody>
      </p:sp>
      <p:sp>
        <p:nvSpPr>
          <p:cNvPr id="7" name="矩形标注 6"/>
          <p:cNvSpPr/>
          <p:nvPr/>
        </p:nvSpPr>
        <p:spPr>
          <a:xfrm>
            <a:off x="5878962" y="2633168"/>
            <a:ext cx="2918530" cy="1823330"/>
          </a:xfrm>
          <a:prstGeom prst="wedgeRectCallout">
            <a:avLst>
              <a:gd name="adj1" fmla="val -113656"/>
              <a:gd name="adj2" fmla="val 662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锁定与解锁</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常见脚本类型</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多重签名钱包</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锁定与解锁</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背景</a:t>
            </a:r>
          </a:p>
          <a:p>
            <a:pPr lvl="1">
              <a:lnSpc>
                <a:spcPct val="130000"/>
              </a:lnSpc>
            </a:pPr>
            <a:r>
              <a:rPr lang="zh-CN" altLang="en-US" dirty="0"/>
              <a:t>比特币</a:t>
            </a:r>
            <a:r>
              <a:rPr lang="zh-CN" altLang="en-US" b="1" dirty="0"/>
              <a:t>脚本</a:t>
            </a:r>
            <a:r>
              <a:rPr lang="zh-CN" altLang="en-US" dirty="0"/>
              <a:t>的执行是在一种基于栈的虚拟机中进行的。</a:t>
            </a:r>
            <a:endParaRPr lang="en-US" altLang="zh-CN" dirty="0"/>
          </a:p>
          <a:p>
            <a:pPr lvl="0">
              <a:lnSpc>
                <a:spcPct val="130000"/>
              </a:lnSpc>
            </a:pPr>
            <a:r>
              <a:rPr lang="zh-CN" altLang="en-US" dirty="0"/>
              <a:t>用途</a:t>
            </a:r>
            <a:endParaRPr lang="en-US" altLang="zh-CN" dirty="0">
              <a:solidFill>
                <a:prstClr val="black"/>
              </a:solidFill>
            </a:endParaRPr>
          </a:p>
          <a:p>
            <a:pPr lvl="1">
              <a:lnSpc>
                <a:spcPct val="130000"/>
              </a:lnSpc>
            </a:pPr>
            <a:r>
              <a:rPr lang="zh-CN" altLang="en-US" dirty="0">
                <a:solidFill>
                  <a:prstClr val="black"/>
                </a:solidFill>
              </a:rPr>
              <a:t>通过检查花费该</a:t>
            </a:r>
            <a:r>
              <a:rPr lang="en-US" altLang="zh-CN" dirty="0">
                <a:solidFill>
                  <a:prstClr val="black"/>
                </a:solidFill>
              </a:rPr>
              <a:t>UTXO </a:t>
            </a:r>
            <a:r>
              <a:rPr lang="zh-CN" altLang="en-US" dirty="0">
                <a:solidFill>
                  <a:prstClr val="black"/>
                </a:solidFill>
              </a:rPr>
              <a:t>的交易的锁定脚本和解锁脚本，以</a:t>
            </a:r>
            <a:r>
              <a:rPr lang="zh-CN" altLang="en-US" b="1" dirty="0">
                <a:solidFill>
                  <a:prstClr val="black"/>
                </a:solidFill>
              </a:rPr>
              <a:t>检查</a:t>
            </a:r>
            <a:r>
              <a:rPr lang="zh-CN" altLang="en-US" dirty="0">
                <a:solidFill>
                  <a:prstClr val="black"/>
                </a:solidFill>
              </a:rPr>
              <a:t>这个</a:t>
            </a:r>
            <a:r>
              <a:rPr lang="zh-CN" altLang="en-US" b="1" dirty="0">
                <a:solidFill>
                  <a:prstClr val="black"/>
                </a:solidFill>
              </a:rPr>
              <a:t>交易的合法性</a:t>
            </a:r>
            <a:r>
              <a:rPr lang="zh-CN" altLang="en-US" dirty="0">
                <a:solidFill>
                  <a:prstClr val="black"/>
                </a:solidFill>
              </a:rPr>
              <a:t>。</a:t>
            </a:r>
            <a:endParaRPr lang="en-US" altLang="zh-CN"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endParaRPr kumimoji="1" lang="zh-CN" altLang="en-US" dirty="0">
              <a:solidFill>
                <a:prstClr val="black"/>
              </a:solidFill>
            </a:endParaRP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实例</a:t>
            </a:r>
          </a:p>
          <a:p>
            <a:pPr lvl="1">
              <a:lnSpc>
                <a:spcPct val="130000"/>
              </a:lnSpc>
            </a:pPr>
            <a:r>
              <a:rPr lang="zh-CN" altLang="en-US" dirty="0"/>
              <a:t>两笔前后依赖的比特币交易</a:t>
            </a:r>
            <a:r>
              <a:rPr lang="en-US" altLang="zh-CN" dirty="0"/>
              <a:t>A</a:t>
            </a:r>
            <a:r>
              <a:rPr lang="zh-CN" altLang="en-US" dirty="0"/>
              <a:t>、</a:t>
            </a:r>
            <a:r>
              <a:rPr lang="en-US" altLang="zh-CN" dirty="0"/>
              <a:t>B</a:t>
            </a:r>
            <a:r>
              <a:rPr lang="zh-CN" altLang="en-US" dirty="0"/>
              <a:t>，交易</a:t>
            </a:r>
            <a:r>
              <a:rPr lang="en-US" altLang="zh-CN" dirty="0"/>
              <a:t>B </a:t>
            </a:r>
            <a:r>
              <a:rPr lang="zh-CN" altLang="en-US" dirty="0"/>
              <a:t>的输入来自交易</a:t>
            </a:r>
            <a:r>
              <a:rPr lang="en-US" altLang="zh-CN" dirty="0"/>
              <a:t>A </a:t>
            </a:r>
            <a:r>
              <a:rPr lang="zh-CN" altLang="en-US" dirty="0"/>
              <a:t>的输出，即交易</a:t>
            </a:r>
            <a:r>
              <a:rPr lang="en-US" altLang="zh-CN" dirty="0"/>
              <a:t>B </a:t>
            </a:r>
            <a:r>
              <a:rPr lang="zh-CN" altLang="en-US" dirty="0"/>
              <a:t>花费的是</a:t>
            </a:r>
            <a:r>
              <a:rPr lang="en-US" altLang="zh-CN" dirty="0"/>
              <a:t>A </a:t>
            </a:r>
            <a:r>
              <a:rPr lang="zh-CN" altLang="en-US" dirty="0"/>
              <a:t>的</a:t>
            </a:r>
            <a:r>
              <a:rPr lang="en-US" altLang="zh-CN" dirty="0"/>
              <a:t>UTXO</a:t>
            </a:r>
            <a:r>
              <a:rPr lang="zh-CN" altLang="en-US" dirty="0"/>
              <a:t>。</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pic>
        <p:nvPicPr>
          <p:cNvPr id="5" name="图片 4"/>
          <p:cNvPicPr/>
          <p:nvPr/>
        </p:nvPicPr>
        <p:blipFill>
          <a:blip r:embed="rId3" cstate="print">
            <a:extLst>
              <a:ext uri="{28A0092B-C50C-407E-A947-70E740481C1C}">
                <a14:useLocalDpi xmlns:a14="http://schemas.microsoft.com/office/drawing/2010/main" val="0"/>
              </a:ext>
            </a:extLst>
          </a:blip>
          <a:srcRect/>
          <a:stretch>
            <a:fillRect/>
          </a:stretch>
        </p:blipFill>
        <p:spPr>
          <a:xfrm>
            <a:off x="2766988" y="3277046"/>
            <a:ext cx="6658023" cy="2812757"/>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常见脚本类型</a:t>
            </a:r>
          </a:p>
        </p:txBody>
      </p:sp>
      <p:sp>
        <p:nvSpPr>
          <p:cNvPr id="3" name="内容占位符 2"/>
          <p:cNvSpPr>
            <a:spLocks noGrp="1"/>
          </p:cNvSpPr>
          <p:nvPr>
            <p:ph idx="1"/>
          </p:nvPr>
        </p:nvSpPr>
        <p:spPr>
          <a:xfrm>
            <a:off x="838200" y="1510758"/>
            <a:ext cx="9888940" cy="4845592"/>
          </a:xfrm>
        </p:spPr>
        <p:txBody>
          <a:bodyPr>
            <a:normAutofit lnSpcReduction="10000"/>
          </a:bodyPr>
          <a:lstStyle/>
          <a:p>
            <a:pPr fontAlgn="auto">
              <a:lnSpc>
                <a:spcPct val="130000"/>
              </a:lnSpc>
            </a:pPr>
            <a:r>
              <a:rPr lang="en-US" altLang="zh-CN" dirty="0"/>
              <a:t>Pay-to-</a:t>
            </a:r>
            <a:r>
              <a:rPr lang="en-US" altLang="zh-CN" dirty="0" err="1"/>
              <a:t>PublicKey</a:t>
            </a:r>
            <a:r>
              <a:rPr lang="en-US" altLang="zh-CN" dirty="0"/>
              <a:t> (P2PK)</a:t>
            </a:r>
            <a:endParaRPr lang="zh-CN" altLang="en-US" dirty="0"/>
          </a:p>
          <a:p>
            <a:pPr lvl="1">
              <a:lnSpc>
                <a:spcPct val="130000"/>
              </a:lnSpc>
            </a:pPr>
            <a:r>
              <a:rPr lang="zh-CN" altLang="en-US" dirty="0"/>
              <a:t>锁定脚本中包含了公钥，对应的解锁脚本需要给出公钥对应的私钥签名。</a:t>
            </a:r>
            <a:endParaRPr lang="en-US" altLang="zh-CN" dirty="0"/>
          </a:p>
          <a:p>
            <a:pPr>
              <a:lnSpc>
                <a:spcPct val="130000"/>
              </a:lnSpc>
            </a:pPr>
            <a:r>
              <a:rPr lang="en-US" altLang="zh-CN" dirty="0"/>
              <a:t>Pay-to-</a:t>
            </a:r>
            <a:r>
              <a:rPr lang="en-US" altLang="zh-CN" dirty="0" err="1"/>
              <a:t>PublicKey</a:t>
            </a:r>
            <a:r>
              <a:rPr lang="en-US" altLang="zh-CN" dirty="0"/>
              <a:t>-Hash(P2PKH)</a:t>
            </a:r>
          </a:p>
          <a:p>
            <a:pPr lvl="1">
              <a:lnSpc>
                <a:spcPct val="130000"/>
              </a:lnSpc>
            </a:pPr>
            <a:r>
              <a:rPr lang="zh-CN" altLang="en-US" dirty="0"/>
              <a:t>锁定脚本中包含了公钥的哈希，对应的解锁脚本需要另外给出对应哈希的公钥。</a:t>
            </a:r>
            <a:endParaRPr lang="en-US" altLang="zh-CN" dirty="0"/>
          </a:p>
          <a:p>
            <a:pPr lvl="1">
              <a:lnSpc>
                <a:spcPct val="130000"/>
              </a:lnSpc>
            </a:pPr>
            <a:r>
              <a:rPr lang="zh-CN" altLang="en-US" dirty="0"/>
              <a:t>优点</a:t>
            </a:r>
            <a:endParaRPr lang="en-US" altLang="zh-CN" dirty="0"/>
          </a:p>
          <a:p>
            <a:pPr lvl="2">
              <a:lnSpc>
                <a:spcPct val="130000"/>
              </a:lnSpc>
            </a:pPr>
            <a:r>
              <a:rPr lang="zh-CN" altLang="en-US" dirty="0"/>
              <a:t>安全：</a:t>
            </a:r>
            <a:r>
              <a:rPr lang="en-US" altLang="zh-CN" dirty="0"/>
              <a:t> P2PKH </a:t>
            </a:r>
            <a:r>
              <a:rPr lang="zh-CN" altLang="en-US" dirty="0"/>
              <a:t>向支付者交付的不是自己的公钥而是公钥的哈希值。</a:t>
            </a:r>
            <a:endParaRPr lang="en-US" altLang="zh-CN" dirty="0"/>
          </a:p>
          <a:p>
            <a:pPr lvl="2">
              <a:lnSpc>
                <a:spcPct val="130000"/>
              </a:lnSpc>
            </a:pPr>
            <a:r>
              <a:rPr lang="zh-CN" altLang="en-US" dirty="0"/>
              <a:t>节省手续费：由于锁定脚本使用了长度更短的公钥哈希，可以一定程度地减少交易需要支付的手续费。</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endParaRPr kumimoji="1" lang="zh-CN" altLang="en-US" dirty="0">
              <a:solidFill>
                <a:prstClr val="black"/>
              </a:solidFill>
            </a:endParaRPr>
          </a:p>
        </p:txBody>
      </p:sp>
      <p:sp>
        <p:nvSpPr>
          <p:cNvPr id="3" name="内容占位符 2"/>
          <p:cNvSpPr>
            <a:spLocks noGrp="1"/>
          </p:cNvSpPr>
          <p:nvPr>
            <p:ph idx="1"/>
          </p:nvPr>
        </p:nvSpPr>
        <p:spPr>
          <a:xfrm>
            <a:off x="838200" y="1510758"/>
            <a:ext cx="9888940" cy="4845592"/>
          </a:xfrm>
        </p:spPr>
        <p:txBody>
          <a:bodyPr>
            <a:normAutofit/>
          </a:bodyPr>
          <a:lstStyle/>
          <a:p>
            <a:pPr>
              <a:lnSpc>
                <a:spcPct val="130000"/>
              </a:lnSpc>
            </a:pPr>
            <a:r>
              <a:rPr lang="en-US" altLang="zh-CN" dirty="0"/>
              <a:t>Pay-to-Script-Hash (P2SH)</a:t>
            </a:r>
          </a:p>
          <a:p>
            <a:pPr lvl="1">
              <a:lnSpc>
                <a:spcPct val="130000"/>
              </a:lnSpc>
            </a:pPr>
            <a:r>
              <a:rPr lang="zh-CN" altLang="en-US" dirty="0"/>
              <a:t>输出脚本中包含了一段脚本的哈希。</a:t>
            </a:r>
            <a:endParaRPr lang="en-US" altLang="zh-CN" dirty="0"/>
          </a:p>
          <a:p>
            <a:pPr lvl="1">
              <a:lnSpc>
                <a:spcPct val="130000"/>
              </a:lnSpc>
            </a:pPr>
            <a:r>
              <a:rPr lang="zh-CN" altLang="en-US" dirty="0"/>
              <a:t>对应的解锁的输入脚本要给出一段序列化后的脚本。</a:t>
            </a:r>
            <a:endParaRPr lang="en-US" altLang="zh-CN" dirty="0"/>
          </a:p>
          <a:p>
            <a:pPr>
              <a:lnSpc>
                <a:spcPct val="130000"/>
              </a:lnSpc>
            </a:pPr>
            <a:r>
              <a:rPr lang="en-US" altLang="zh-CN" dirty="0"/>
              <a:t>Null-Data</a:t>
            </a:r>
          </a:p>
          <a:p>
            <a:pPr lvl="1">
              <a:lnSpc>
                <a:spcPct val="130000"/>
              </a:lnSpc>
            </a:pPr>
            <a:r>
              <a:rPr lang="en-US" altLang="zh-CN" dirty="0"/>
              <a:t>OP_RETURN </a:t>
            </a:r>
            <a:r>
              <a:rPr lang="zh-CN" altLang="en-US" dirty="0"/>
              <a:t>操作对应的脚本。</a:t>
            </a:r>
            <a:endParaRPr lang="en-US" altLang="zh-CN" dirty="0"/>
          </a:p>
          <a:p>
            <a:pPr lvl="1">
              <a:lnSpc>
                <a:spcPct val="130000"/>
              </a:lnSpc>
            </a:pPr>
            <a:r>
              <a:rPr lang="zh-CN" altLang="en-US" dirty="0"/>
              <a:t>真实交易</a:t>
            </a:r>
            <a:r>
              <a:rPr lang="en-US" altLang="zh-CN" dirty="0"/>
              <a:t>id:</a:t>
            </a:r>
            <a:r>
              <a:rPr lang="zh-CN" altLang="en-US" dirty="0"/>
              <a:t> </a:t>
            </a:r>
            <a:r>
              <a:rPr lang="en-US" altLang="zh-CN" dirty="0"/>
              <a:t>ffa9be085f1d78acc0e0aa8303b3841fdb586b85e09af19b7e8d665a10df0659</a:t>
            </a:r>
            <a:r>
              <a:rPr lang="zh-CN" altLang="en-US" dirty="0"/>
              <a:t>对应的锁定脚本：</a:t>
            </a:r>
            <a:endParaRPr lang="en-US" altLang="zh-CN" dirty="0"/>
          </a:p>
          <a:p>
            <a:pPr lvl="2">
              <a:lnSpc>
                <a:spcPct val="130000"/>
              </a:lnSpc>
            </a:pP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32</a:t>
            </a:fld>
            <a:endParaRPr kumimoji="1" lang="zh-CN" altLang="en-US" dirty="0"/>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文本框 48"/>
          <p:cNvSpPr txBox="1">
            <a:spLocks noChangeArrowheads="1"/>
          </p:cNvSpPr>
          <p:nvPr/>
        </p:nvSpPr>
        <p:spPr bwMode="auto">
          <a:xfrm>
            <a:off x="3371257" y="6029325"/>
            <a:ext cx="4822825" cy="400050"/>
          </a:xfrm>
          <a:prstGeom prst="rect">
            <a:avLst/>
          </a:prstGeom>
          <a:solidFill>
            <a:srgbClr val="D9D9D9"/>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OP_RETURN</a:t>
            </a:r>
            <a:endParaRPr kumimoji="0" lang="en-US" altLang="zh-CN" sz="800" b="0" i="0" u="none" strike="noStrike" cap="none" normalizeH="0" baseline="0" dirty="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OP_PUSHBYTES_39 6964……1141</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多重签名钱包</a:t>
            </a:r>
          </a:p>
        </p:txBody>
      </p:sp>
      <p:sp>
        <p:nvSpPr>
          <p:cNvPr id="3" name="内容占位符 2"/>
          <p:cNvSpPr>
            <a:spLocks noGrp="1"/>
          </p:cNvSpPr>
          <p:nvPr>
            <p:ph idx="1"/>
          </p:nvPr>
        </p:nvSpPr>
        <p:spPr>
          <a:xfrm>
            <a:off x="838200" y="1510758"/>
            <a:ext cx="9888940" cy="4845592"/>
          </a:xfrm>
        </p:spPr>
        <p:txBody>
          <a:bodyPr>
            <a:normAutofit/>
          </a:bodyPr>
          <a:lstStyle/>
          <a:p>
            <a:pPr>
              <a:lnSpc>
                <a:spcPct val="130000"/>
              </a:lnSpc>
            </a:pPr>
            <a:r>
              <a:rPr lang="zh-CN" altLang="en-US" dirty="0"/>
              <a:t>作用</a:t>
            </a:r>
            <a:endParaRPr lang="en-US" altLang="zh-CN" dirty="0"/>
          </a:p>
          <a:p>
            <a:pPr lvl="1">
              <a:lnSpc>
                <a:spcPct val="130000"/>
              </a:lnSpc>
            </a:pPr>
            <a:r>
              <a:rPr lang="zh-CN" altLang="en-US" dirty="0"/>
              <a:t>个人签订一份合约，共同管理一笔钱。</a:t>
            </a:r>
            <a:endParaRPr lang="en-US" altLang="zh-CN" dirty="0"/>
          </a:p>
          <a:p>
            <a:pPr lvl="1">
              <a:lnSpc>
                <a:spcPct val="130000"/>
              </a:lnSpc>
            </a:pPr>
            <a:r>
              <a:rPr lang="zh-CN" altLang="en-US" dirty="0"/>
              <a:t>只有得到至少</a:t>
            </a:r>
            <a:r>
              <a:rPr lang="en-US" altLang="zh-CN" dirty="0"/>
              <a:t>M </a:t>
            </a:r>
            <a:r>
              <a:rPr lang="zh-CN" altLang="en-US" dirty="0"/>
              <a:t>个人的同意才能花费这笔钱。</a:t>
            </a:r>
            <a:endParaRPr lang="en-US" altLang="zh-CN" dirty="0"/>
          </a:p>
          <a:p>
            <a:pPr>
              <a:lnSpc>
                <a:spcPct val="130000"/>
              </a:lnSpc>
            </a:pPr>
            <a:r>
              <a:rPr lang="zh-CN" altLang="en-US" dirty="0"/>
              <a:t>实例</a:t>
            </a:r>
            <a:endParaRPr lang="en-US" altLang="zh-CN" b="1" dirty="0"/>
          </a:p>
          <a:p>
            <a:pPr lvl="1">
              <a:lnSpc>
                <a:spcPct val="130000"/>
              </a:lnSpc>
            </a:pPr>
            <a:r>
              <a:rPr lang="zh-CN" altLang="en-US" dirty="0"/>
              <a:t>真实比特币区块链上的一个多方签名交易</a:t>
            </a:r>
            <a:r>
              <a:rPr lang="en-US" altLang="zh-CN" dirty="0"/>
              <a:t>7c0750818dc6c67761d591536a452e0091fe4262e7d51821c1f453df461e6ad4</a:t>
            </a:r>
            <a:r>
              <a:rPr lang="zh-CN" altLang="en-US" dirty="0"/>
              <a:t>对应的解锁脚本：</a:t>
            </a:r>
            <a:endParaRPr lang="en-US" altLang="zh-CN" dirty="0"/>
          </a:p>
          <a:p>
            <a:pPr lvl="1">
              <a:lnSpc>
                <a:spcPct val="130000"/>
              </a:lnSpc>
            </a:pP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sp>
        <p:nvSpPr>
          <p:cNvPr id="5"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文本框 54"/>
          <p:cNvSpPr txBox="1">
            <a:spLocks noChangeArrowheads="1"/>
          </p:cNvSpPr>
          <p:nvPr/>
        </p:nvSpPr>
        <p:spPr bwMode="auto">
          <a:xfrm>
            <a:off x="3684587" y="5635625"/>
            <a:ext cx="4822825" cy="707886"/>
          </a:xfrm>
          <a:prstGeom prst="rect">
            <a:avLst/>
          </a:prstGeom>
          <a:solidFill>
            <a:srgbClr val="D9D9D9"/>
          </a:solidFill>
          <a:ln w="9525">
            <a:solidFill>
              <a:srgbClr val="000000"/>
            </a:solidFill>
            <a:miter lim="800000"/>
          </a:ln>
        </p:spPr>
        <p:txBody>
          <a:bodyPr vert="horz" wrap="square" lIns="91440" tIns="45720" rIns="91440" bIns="45720" numCol="1" anchor="t"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latin typeface="Calibri" panose="020F0502020204030204" pitchFamily="34" charset="0"/>
                <a:ea typeface="宋体" pitchFamily="2" charset="-122"/>
                <a:cs typeface="Times New Roman" panose="02020603050405020304" pitchFamily="18" charset="0"/>
              </a:rPr>
              <a:t>OP_0</a:t>
            </a:r>
            <a:endParaRPr kumimoji="0" lang="en-US" altLang="zh-CN" sz="800" b="0" i="0" u="none" strike="noStrike" cap="none" normalizeH="0" baseline="0" dirty="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latin typeface="Calibri" panose="020F0502020204030204" pitchFamily="34" charset="0"/>
                <a:ea typeface="宋体" pitchFamily="2" charset="-122"/>
                <a:cs typeface="Times New Roman" panose="02020603050405020304" pitchFamily="18" charset="0"/>
              </a:rPr>
              <a:t>OP_PUSHBYTES_71 3044……c401</a:t>
            </a:r>
            <a:endParaRPr kumimoji="0" lang="en-US" altLang="zh-CN" sz="800" b="0" i="0" u="none" strike="noStrike" cap="none" normalizeH="0" baseline="0" dirty="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latin typeface="Calibri" panose="020F0502020204030204" pitchFamily="34" charset="0"/>
                <a:ea typeface="宋体" pitchFamily="2" charset="-122"/>
                <a:cs typeface="Times New Roman" panose="02020603050405020304" pitchFamily="18" charset="0"/>
              </a:rPr>
              <a:t>OP_PUSHBYTES_71 3044……a601 </a:t>
            </a:r>
            <a:endParaRPr kumimoji="0" lang="en-US" altLang="zh-CN" sz="800" b="0" i="0" u="none" strike="noStrike" cap="none" normalizeH="0" baseline="0" dirty="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latin typeface="Calibri" panose="020F0502020204030204" pitchFamily="34" charset="0"/>
                <a:ea typeface="宋体" pitchFamily="2" charset="-122"/>
                <a:cs typeface="Times New Roman" panose="02020603050405020304" pitchFamily="18" charset="0"/>
              </a:rPr>
              <a:t>OP_PUSHDATA1 5241</a:t>
            </a:r>
            <a:r>
              <a:rPr kumimoji="0" lang="en-US" altLang="zh-CN" sz="1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0" lang="en-US" altLang="zh-CN" sz="1000" b="0" i="0" u="none" strike="noStrike" cap="none" normalizeH="0" baseline="0" dirty="0">
                <a:ln>
                  <a:noFill/>
                </a:ln>
                <a:solidFill>
                  <a:schemeClr val="tx1"/>
                </a:solidFill>
                <a:effectLst/>
                <a:latin typeface="Calibri" panose="020F0502020204030204" pitchFamily="34" charset="0"/>
                <a:ea typeface="宋体" pitchFamily="2" charset="-122"/>
                <a:cs typeface="Times New Roman" panose="02020603050405020304" pitchFamily="18" charset="0"/>
              </a:rPr>
              <a:t>53ae  </a:t>
            </a:r>
            <a:r>
              <a:rPr kumimoji="0" lang="zh-CN" altLang="en-US" sz="1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（序列化后的脚本，称为</a:t>
            </a:r>
            <a:r>
              <a:rPr kumimoji="0" lang="en-US" altLang="zh-CN" sz="1000" b="0" i="0" u="none" strike="noStrike" cap="none" normalizeH="0" baseline="0" dirty="0">
                <a:ln>
                  <a:noFill/>
                </a:ln>
                <a:solidFill>
                  <a:schemeClr val="tx1"/>
                </a:solidFill>
                <a:effectLst/>
                <a:latin typeface="Calibri" panose="020F0502020204030204" pitchFamily="34" charset="0"/>
                <a:ea typeface="宋体" pitchFamily="2" charset="-122"/>
                <a:cs typeface="Times New Roman" panose="02020603050405020304" pitchFamily="18" charset="0"/>
              </a:rPr>
              <a:t>Redeem Script</a:t>
            </a:r>
            <a:r>
              <a:rPr kumimoji="0" lang="zh-CN" altLang="en-US" sz="1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4"/>
          <p:cNvSpPr>
            <a:spLocks noChangeArrowheads="1"/>
          </p:cNvSpPr>
          <p:nvPr/>
        </p:nvSpPr>
        <p:spPr bwMode="auto">
          <a:xfrm>
            <a:off x="266700" y="12223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endParaRPr kumimoji="1" lang="zh-CN" altLang="en-US" dirty="0">
              <a:solidFill>
                <a:prstClr val="black"/>
              </a:solidFill>
            </a:endParaRPr>
          </a:p>
        </p:txBody>
      </p:sp>
      <p:sp>
        <p:nvSpPr>
          <p:cNvPr id="3" name="内容占位符 2"/>
          <p:cNvSpPr>
            <a:spLocks noGrp="1"/>
          </p:cNvSpPr>
          <p:nvPr>
            <p:ph idx="1"/>
          </p:nvPr>
        </p:nvSpPr>
        <p:spPr>
          <a:xfrm>
            <a:off x="838200" y="1510758"/>
            <a:ext cx="9888940" cy="4845592"/>
          </a:xfrm>
        </p:spPr>
        <p:txBody>
          <a:bodyPr>
            <a:normAutofit/>
          </a:bodyPr>
          <a:lstStyle/>
          <a:p>
            <a:pPr>
              <a:lnSpc>
                <a:spcPct val="130000"/>
              </a:lnSpc>
            </a:pPr>
            <a:r>
              <a:rPr lang="zh-CN" altLang="en-US" dirty="0"/>
              <a:t>实例</a:t>
            </a:r>
            <a:endParaRPr lang="en-US" altLang="zh-CN" b="1" dirty="0"/>
          </a:p>
          <a:p>
            <a:pPr lvl="1">
              <a:lnSpc>
                <a:spcPct val="130000"/>
              </a:lnSpc>
            </a:pPr>
            <a:r>
              <a:rPr lang="zh-CN" altLang="en-US" dirty="0"/>
              <a:t>真实比特币区块链上的一个多方签名交易</a:t>
            </a:r>
            <a:r>
              <a:rPr lang="en-US" altLang="zh-CN" dirty="0"/>
              <a:t>7c0750818dc6c67761d591536a452e0091fe4262e7d51821c1f453df461e6ad4</a:t>
            </a:r>
            <a:r>
              <a:rPr lang="zh-CN" altLang="en-US" dirty="0"/>
              <a:t>对应的锁定脚本：</a:t>
            </a:r>
            <a:endParaRPr lang="en-US" altLang="zh-CN" dirty="0"/>
          </a:p>
          <a:p>
            <a:pPr lvl="1">
              <a:lnSpc>
                <a:spcPct val="130000"/>
              </a:lnSpc>
            </a:pP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sp>
        <p:nvSpPr>
          <p:cNvPr id="5"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4"/>
          <p:cNvSpPr>
            <a:spLocks noChangeArrowheads="1"/>
          </p:cNvSpPr>
          <p:nvPr/>
        </p:nvSpPr>
        <p:spPr bwMode="auto">
          <a:xfrm>
            <a:off x="266700" y="12223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文本框 60"/>
          <p:cNvSpPr txBox="1">
            <a:spLocks noChangeArrowheads="1"/>
          </p:cNvSpPr>
          <p:nvPr/>
        </p:nvSpPr>
        <p:spPr bwMode="auto">
          <a:xfrm>
            <a:off x="3951287" y="3749040"/>
            <a:ext cx="4822825" cy="581025"/>
          </a:xfrm>
          <a:prstGeom prst="rect">
            <a:avLst/>
          </a:prstGeom>
          <a:solidFill>
            <a:srgbClr val="D9D9D9"/>
          </a:solidFill>
          <a:ln w="9525">
            <a:solidFill>
              <a:srgbClr val="000000"/>
            </a:solidFill>
            <a:miter lim="800000"/>
          </a:ln>
        </p:spPr>
        <p:txBody>
          <a:bodyPr vert="horz" wrap="square" lIns="91440" tIns="45720" rIns="91440" bIns="45720" numCol="1" anchor="t"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a:ln>
                  <a:noFill/>
                </a:ln>
                <a:solidFill>
                  <a:schemeClr val="tx1"/>
                </a:solidFill>
                <a:effectLst/>
                <a:latin typeface="Calibri" panose="020F0502020204030204" pitchFamily="34" charset="0"/>
                <a:ea typeface="宋体" pitchFamily="2" charset="-122"/>
                <a:cs typeface="Times New Roman" panose="02020603050405020304" pitchFamily="18" charset="0"/>
              </a:rPr>
              <a:t>OP_HASH160</a:t>
            </a:r>
            <a:endParaRPr kumimoji="0" lang="en-US" altLang="zh-CN" sz="800" b="0" i="0" u="none" strike="noStrike" cap="none" normalizeH="0" baseline="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a:ln>
                  <a:noFill/>
                </a:ln>
                <a:solidFill>
                  <a:schemeClr val="tx1"/>
                </a:solidFill>
                <a:effectLst/>
                <a:latin typeface="Calibri" panose="020F0502020204030204" pitchFamily="34" charset="0"/>
                <a:ea typeface="宋体" pitchFamily="2" charset="-122"/>
                <a:cs typeface="Times New Roman" panose="02020603050405020304" pitchFamily="18" charset="0"/>
              </a:rPr>
              <a:t>OP_PUSHBYTES_20 08620a36625add363b20be66f8978f3f237f9c82</a:t>
            </a:r>
            <a:endParaRPr kumimoji="0" lang="en-US" altLang="zh-CN" sz="800" b="0" i="0" u="none" strike="noStrike" cap="none" normalizeH="0" baseline="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a:ln>
                  <a:noFill/>
                </a:ln>
                <a:solidFill>
                  <a:schemeClr val="tx1"/>
                </a:solidFill>
                <a:effectLst/>
                <a:latin typeface="Calibri" panose="020F0502020204030204" pitchFamily="34" charset="0"/>
                <a:ea typeface="宋体" pitchFamily="2" charset="-122"/>
                <a:cs typeface="Times New Roman" panose="02020603050405020304" pitchFamily="18" charset="0"/>
              </a:rPr>
              <a:t>OP_EQUAL</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0" name="Rectangle 4"/>
          <p:cNvSpPr>
            <a:spLocks noChangeArrowheads="1"/>
          </p:cNvSpPr>
          <p:nvPr/>
        </p:nvSpPr>
        <p:spPr bwMode="auto">
          <a:xfrm>
            <a:off x="266700" y="10382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2.1 </a:t>
            </a:r>
            <a:r>
              <a:rPr kumimoji="1" lang="zh-CN" altLang="en-US" dirty="0"/>
              <a:t>比特币简介</a:t>
            </a:r>
            <a:endParaRPr kumimoji="1" lang="en-US" altLang="zh-CN" dirty="0"/>
          </a:p>
          <a:p>
            <a:pPr marL="0" indent="0">
              <a:lnSpc>
                <a:spcPct val="130000"/>
              </a:lnSpc>
              <a:buNone/>
            </a:pPr>
            <a:r>
              <a:rPr kumimoji="1" lang="en-US" altLang="zh-CN" dirty="0"/>
              <a:t>2.2 </a:t>
            </a:r>
            <a:r>
              <a:rPr kumimoji="1" lang="zh-CN" altLang="en-US" dirty="0"/>
              <a:t>基础知识</a:t>
            </a:r>
            <a:r>
              <a:rPr kumimoji="1" lang="en-US" altLang="zh-CN" dirty="0"/>
              <a:t> </a:t>
            </a:r>
          </a:p>
          <a:p>
            <a:pPr marL="0" indent="0">
              <a:lnSpc>
                <a:spcPct val="130000"/>
              </a:lnSpc>
              <a:buNone/>
            </a:pPr>
            <a:r>
              <a:rPr kumimoji="1" lang="en-US" altLang="zh-CN" dirty="0"/>
              <a:t>2.3 </a:t>
            </a:r>
            <a:r>
              <a:rPr kumimoji="1" lang="zh-CN" altLang="en-US" dirty="0"/>
              <a:t>交易</a:t>
            </a:r>
            <a:endParaRPr kumimoji="1" lang="en-US" altLang="zh-CN" dirty="0"/>
          </a:p>
          <a:p>
            <a:pPr marL="0" indent="0">
              <a:lnSpc>
                <a:spcPct val="130000"/>
              </a:lnSpc>
              <a:buNone/>
            </a:pPr>
            <a:r>
              <a:rPr kumimoji="1" lang="en-US" altLang="zh-CN" dirty="0"/>
              <a:t>2.4 </a:t>
            </a:r>
            <a:r>
              <a:rPr kumimoji="1" lang="zh-CN" altLang="en-US" dirty="0"/>
              <a:t>脚本系统</a:t>
            </a:r>
            <a:endParaRPr kumimoji="1" lang="en-US" altLang="zh-CN" dirty="0"/>
          </a:p>
          <a:p>
            <a:pPr marL="0" indent="0">
              <a:lnSpc>
                <a:spcPct val="130000"/>
              </a:lnSpc>
              <a:buNone/>
            </a:pPr>
            <a:r>
              <a:rPr kumimoji="1" lang="en-US" altLang="zh-CN" dirty="0">
                <a:solidFill>
                  <a:srgbClr val="C00000"/>
                </a:solidFill>
              </a:rPr>
              <a:t>2.5 </a:t>
            </a:r>
            <a:r>
              <a:rPr kumimoji="1" lang="zh-CN" altLang="en-US" dirty="0">
                <a:solidFill>
                  <a:srgbClr val="C00000"/>
                </a:solidFill>
              </a:rPr>
              <a:t>公私密钥与地址</a:t>
            </a:r>
            <a:endParaRPr kumimoji="1" lang="en-US" altLang="zh-CN" dirty="0">
              <a:solidFill>
                <a:srgbClr val="C00000"/>
              </a:solidFill>
            </a:endParaRPr>
          </a:p>
          <a:p>
            <a:pPr marL="0" indent="0">
              <a:lnSpc>
                <a:spcPct val="130000"/>
              </a:lnSpc>
              <a:buNone/>
            </a:pPr>
            <a:r>
              <a:rPr kumimoji="1" lang="en-US" altLang="zh-CN" dirty="0"/>
              <a:t>2.6 </a:t>
            </a:r>
            <a:r>
              <a:rPr kumimoji="1" lang="zh-CN" altLang="en-US" dirty="0"/>
              <a:t>区块与链</a:t>
            </a:r>
            <a:endParaRPr kumimoji="1" lang="en-US" altLang="zh-CN" dirty="0"/>
          </a:p>
          <a:p>
            <a:pPr marL="0" indent="0">
              <a:lnSpc>
                <a:spcPct val="130000"/>
              </a:lnSpc>
              <a:buNone/>
            </a:pPr>
            <a:r>
              <a:rPr kumimoji="1" lang="en-US" altLang="zh-CN" dirty="0"/>
              <a:t>2.7 </a:t>
            </a:r>
            <a:r>
              <a:rPr kumimoji="1" lang="zh-CN" altLang="en-US" dirty="0"/>
              <a:t>共识</a:t>
            </a:r>
            <a:endParaRPr kumimoji="1" lang="en-US" altLang="zh-CN" dirty="0"/>
          </a:p>
        </p:txBody>
      </p:sp>
      <p:sp>
        <p:nvSpPr>
          <p:cNvPr id="7" name="矩形标注 6"/>
          <p:cNvSpPr/>
          <p:nvPr/>
        </p:nvSpPr>
        <p:spPr>
          <a:xfrm>
            <a:off x="5878962" y="2633168"/>
            <a:ext cx="2918530" cy="2728104"/>
          </a:xfrm>
          <a:prstGeom prst="wedgeRectCallout">
            <a:avLst>
              <a:gd name="adj1" fmla="val -88921"/>
              <a:gd name="adj2" fmla="val 1007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私钥</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公钥</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普通地址</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Base58</a:t>
            </a:r>
            <a:r>
              <a:rPr kumimoji="1" lang="zh-CN" altLang="en-US" sz="2400" dirty="0">
                <a:solidFill>
                  <a:prstClr val="black"/>
                </a:solidFill>
                <a:latin typeface="Microsoft YaHei" panose="020B0503020204020204" pitchFamily="34" charset="-122"/>
                <a:ea typeface="Microsoft YaHei" panose="020B0503020204020204" pitchFamily="34" charset="-122"/>
              </a:rPr>
              <a:t>编码</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其他地址</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35</a:t>
            </a:fld>
            <a:endParaRPr kumimoji="1"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公钥密钥与地址</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背景</a:t>
            </a:r>
            <a:endParaRPr lang="en-US" altLang="zh-CN" dirty="0"/>
          </a:p>
          <a:p>
            <a:pPr lvl="1">
              <a:lnSpc>
                <a:spcPct val="130000"/>
              </a:lnSpc>
            </a:pPr>
            <a:r>
              <a:rPr lang="zh-CN" altLang="en-US" dirty="0"/>
              <a:t>银行、网站</a:t>
            </a:r>
            <a:endParaRPr lang="en-US" altLang="zh-CN" dirty="0"/>
          </a:p>
          <a:p>
            <a:pPr lvl="2">
              <a:lnSpc>
                <a:spcPct val="130000"/>
              </a:lnSpc>
            </a:pPr>
            <a:r>
              <a:rPr lang="zh-CN" altLang="en-US" dirty="0"/>
              <a:t>用户的名称、密码一般是任意的、可自定义的。</a:t>
            </a:r>
            <a:endParaRPr lang="en-US" altLang="zh-CN" dirty="0"/>
          </a:p>
          <a:p>
            <a:pPr lvl="2">
              <a:lnSpc>
                <a:spcPct val="130000"/>
              </a:lnSpc>
            </a:pPr>
            <a:r>
              <a:rPr lang="zh-CN" altLang="en-US" dirty="0"/>
              <a:t>由权威的服务来保存用户与密码的认证关系</a:t>
            </a:r>
            <a:endParaRPr lang="en-US" altLang="zh-CN" dirty="0"/>
          </a:p>
          <a:p>
            <a:pPr lvl="1">
              <a:lnSpc>
                <a:spcPct val="130000"/>
              </a:lnSpc>
            </a:pPr>
            <a:r>
              <a:rPr lang="zh-CN" altLang="en-US" dirty="0"/>
              <a:t>比特币等区块链系统</a:t>
            </a:r>
            <a:endParaRPr lang="en-US" altLang="zh-CN" dirty="0"/>
          </a:p>
          <a:p>
            <a:pPr lvl="2">
              <a:lnSpc>
                <a:spcPct val="130000"/>
              </a:lnSpc>
            </a:pPr>
            <a:r>
              <a:rPr lang="zh-CN" altLang="en-US" dirty="0"/>
              <a:t>用户的对外名称</a:t>
            </a:r>
            <a:r>
              <a:rPr lang="en-US" altLang="zh-CN" dirty="0"/>
              <a:t>(</a:t>
            </a:r>
            <a:r>
              <a:rPr lang="zh-CN" altLang="en-US" dirty="0"/>
              <a:t>地址</a:t>
            </a:r>
            <a:r>
              <a:rPr lang="en-US" altLang="zh-CN" dirty="0"/>
              <a:t>)</a:t>
            </a:r>
            <a:r>
              <a:rPr lang="zh-CN" altLang="en-US" dirty="0"/>
              <a:t>是根据用户的密码</a:t>
            </a:r>
            <a:r>
              <a:rPr lang="en-US" altLang="zh-CN" dirty="0"/>
              <a:t>(</a:t>
            </a:r>
            <a:r>
              <a:rPr lang="zh-CN" altLang="en-US" dirty="0"/>
              <a:t>私钥</a:t>
            </a:r>
            <a:r>
              <a:rPr lang="en-US" altLang="zh-CN" dirty="0"/>
              <a:t>)</a:t>
            </a:r>
            <a:r>
              <a:rPr lang="zh-CN" altLang="en-US" dirty="0"/>
              <a:t>生成的。</a:t>
            </a:r>
            <a:endParaRPr lang="en-US" altLang="zh-CN" dirty="0"/>
          </a:p>
          <a:p>
            <a:pPr lvl="2">
              <a:lnSpc>
                <a:spcPct val="130000"/>
              </a:lnSpc>
            </a:pPr>
            <a:r>
              <a:rPr lang="zh-CN" altLang="en-US" dirty="0"/>
              <a:t>在一个去中心化的系统中，利用非对称加密体系来建立密码与用户之间的映射关系。</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36</a:t>
            </a:fld>
            <a:endParaRPr kumimoji="1"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私钥</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比特币的加密</a:t>
            </a:r>
            <a:endParaRPr lang="en-US" altLang="zh-CN" dirty="0"/>
          </a:p>
          <a:p>
            <a:pPr lvl="1">
              <a:lnSpc>
                <a:spcPct val="130000"/>
              </a:lnSpc>
            </a:pPr>
            <a:r>
              <a:rPr lang="zh-CN" altLang="en-US" dirty="0"/>
              <a:t>采用了椭圆曲线进行非对称加密。</a:t>
            </a:r>
            <a:endParaRPr lang="en-US" altLang="zh-CN" dirty="0"/>
          </a:p>
          <a:p>
            <a:pPr lvl="0">
              <a:lnSpc>
                <a:spcPct val="130000"/>
              </a:lnSpc>
            </a:pPr>
            <a:r>
              <a:rPr lang="zh-CN" altLang="en-US" dirty="0"/>
              <a:t>私钥的定义</a:t>
            </a:r>
            <a:endParaRPr lang="en-US" altLang="zh-CN" dirty="0"/>
          </a:p>
          <a:p>
            <a:pPr lvl="1">
              <a:lnSpc>
                <a:spcPct val="130000"/>
              </a:lnSpc>
            </a:pPr>
            <a:r>
              <a:rPr lang="zh-CN" altLang="en-US" dirty="0">
                <a:solidFill>
                  <a:prstClr val="black"/>
                </a:solidFill>
              </a:rPr>
              <a:t>每个独立用户都拥有一个长度为</a:t>
            </a:r>
            <a:r>
              <a:rPr lang="en-US" altLang="zh-CN" dirty="0">
                <a:solidFill>
                  <a:prstClr val="black"/>
                </a:solidFill>
              </a:rPr>
              <a:t>32</a:t>
            </a:r>
            <a:r>
              <a:rPr lang="zh-CN" altLang="en-US" dirty="0">
                <a:solidFill>
                  <a:prstClr val="black"/>
                </a:solidFill>
              </a:rPr>
              <a:t>字节的私钥。</a:t>
            </a:r>
            <a:endParaRPr lang="en-US" altLang="zh-CN" dirty="0">
              <a:solidFill>
                <a:prstClr val="black"/>
              </a:solidFill>
            </a:endParaRPr>
          </a:p>
          <a:p>
            <a:pPr lvl="1">
              <a:lnSpc>
                <a:spcPct val="130000"/>
              </a:lnSpc>
            </a:pPr>
            <a:r>
              <a:rPr lang="zh-CN" altLang="en-US" dirty="0">
                <a:solidFill>
                  <a:prstClr val="black"/>
                </a:solidFill>
              </a:rPr>
              <a:t>处于</a:t>
            </a:r>
            <a:r>
              <a:rPr lang="en-US" altLang="zh-CN" dirty="0">
                <a:solidFill>
                  <a:prstClr val="black"/>
                </a:solidFill>
              </a:rPr>
              <a:t>0x1 </a:t>
            </a:r>
            <a:r>
              <a:rPr lang="zh-CN" altLang="en-US" dirty="0">
                <a:solidFill>
                  <a:prstClr val="black"/>
                </a:solidFill>
              </a:rPr>
              <a:t>到</a:t>
            </a:r>
            <a:r>
              <a:rPr lang="en-US" altLang="zh-CN" dirty="0">
                <a:solidFill>
                  <a:prstClr val="black"/>
                </a:solidFill>
              </a:rPr>
              <a:t>0xFFFF FFFF FFFF FFFF FFFF FFFF FFFF FFFE BAAE DCE6 AF48 A03B BFD2 5E8C D036 4141 </a:t>
            </a:r>
            <a:r>
              <a:rPr lang="zh-CN" altLang="en-US" dirty="0">
                <a:solidFill>
                  <a:prstClr val="black"/>
                </a:solidFill>
              </a:rPr>
              <a:t>之间的任意</a:t>
            </a:r>
            <a:r>
              <a:rPr lang="en-US" altLang="zh-CN" dirty="0">
                <a:solidFill>
                  <a:prstClr val="black"/>
                </a:solidFill>
              </a:rPr>
              <a:t>64 </a:t>
            </a:r>
            <a:r>
              <a:rPr lang="zh-CN" altLang="en-US" dirty="0">
                <a:solidFill>
                  <a:prstClr val="black"/>
                </a:solidFill>
              </a:rPr>
              <a:t>位的十六进制整数。</a:t>
            </a:r>
            <a:endParaRPr lang="en-US" altLang="zh-CN"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公钥</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定义</a:t>
            </a:r>
            <a:endParaRPr lang="en-US" altLang="zh-CN" dirty="0"/>
          </a:p>
          <a:p>
            <a:pPr lvl="1">
              <a:lnSpc>
                <a:spcPct val="130000"/>
              </a:lnSpc>
            </a:pPr>
            <a:r>
              <a:rPr lang="zh-CN" altLang="en-US" dirty="0"/>
              <a:t>通过在一个特定的椭圆曲线上乘以椭圆曲线的一个固定点得到的一个坐标值。</a:t>
            </a:r>
            <a:endParaRPr lang="en-US" altLang="zh-CN" dirty="0"/>
          </a:p>
          <a:p>
            <a:pPr lvl="1">
              <a:lnSpc>
                <a:spcPct val="130000"/>
              </a:lnSpc>
            </a:pPr>
            <a:r>
              <a:rPr lang="zh-CN" altLang="en-US" dirty="0"/>
              <a:t>比特币使用的这个特殊的椭圆曲线是由</a:t>
            </a:r>
            <a:r>
              <a:rPr lang="en-US" altLang="zh-CN" dirty="0"/>
              <a:t>SECG</a:t>
            </a:r>
            <a:r>
              <a:rPr lang="zh-CN" altLang="en-US" dirty="0"/>
              <a:t>（</a:t>
            </a:r>
            <a:r>
              <a:rPr lang="en-US" altLang="zh-CN" dirty="0"/>
              <a:t>Standards for Efficient Cryptography Group</a:t>
            </a:r>
            <a:r>
              <a:rPr lang="zh-CN" altLang="en-US" dirty="0"/>
              <a:t>）提出来的</a:t>
            </a:r>
            <a:r>
              <a:rPr lang="en-US" altLang="zh-CN" dirty="0"/>
              <a:t>secp256k1</a:t>
            </a:r>
            <a:r>
              <a:rPr lang="zh-CN" altLang="en-US" dirty="0"/>
              <a:t>。</a:t>
            </a:r>
            <a:endParaRPr lang="en-US" altLang="zh-CN" dirty="0"/>
          </a:p>
          <a:p>
            <a:pPr lvl="1">
              <a:lnSpc>
                <a:spcPct val="130000"/>
              </a:lnSpc>
            </a:pPr>
            <a:r>
              <a:rPr lang="zh-CN" altLang="en-US" dirty="0"/>
              <a:t>私钥通过计算可以得到一个长度为</a:t>
            </a:r>
            <a:r>
              <a:rPr lang="en-US" altLang="zh-CN" dirty="0"/>
              <a:t>128 </a:t>
            </a:r>
            <a:r>
              <a:rPr lang="zh-CN" altLang="en-US" dirty="0"/>
              <a:t>位的十六进制公钥，一般加上</a:t>
            </a:r>
            <a:r>
              <a:rPr lang="en-US" altLang="zh-CN" dirty="0"/>
              <a:t>0x04 </a:t>
            </a:r>
            <a:r>
              <a:rPr lang="zh-CN" altLang="en-US" dirty="0"/>
              <a:t>作为前缀区分。</a:t>
            </a:r>
            <a:endParaRPr lang="en-US" altLang="zh-CN" dirty="0"/>
          </a:p>
          <a:p>
            <a:pPr>
              <a:lnSpc>
                <a:spcPct val="130000"/>
              </a:lnSpc>
            </a:pPr>
            <a:r>
              <a:rPr lang="zh-CN" altLang="en-US" dirty="0"/>
              <a:t>例子</a:t>
            </a:r>
            <a:endParaRPr lang="en-US" altLang="zh-CN" dirty="0"/>
          </a:p>
          <a:p>
            <a:pPr lvl="1">
              <a:lnSpc>
                <a:spcPct val="130000"/>
              </a:lnSpc>
            </a:pP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38</a:t>
            </a:fld>
            <a:endParaRPr kumimoji="1"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92"/>
          <p:cNvSpPr txBox="1">
            <a:spLocks noChangeArrowheads="1"/>
          </p:cNvSpPr>
          <p:nvPr/>
        </p:nvSpPr>
        <p:spPr bwMode="auto">
          <a:xfrm>
            <a:off x="2512319" y="5468734"/>
            <a:ext cx="5736531" cy="600164"/>
          </a:xfrm>
          <a:prstGeom prst="rect">
            <a:avLst/>
          </a:prstGeom>
          <a:solidFill>
            <a:srgbClr val="D9D9D9"/>
          </a:solidFill>
          <a:ln w="9525">
            <a:solidFill>
              <a:srgbClr val="000000"/>
            </a:solidFill>
            <a:miter lim="800000"/>
          </a:ln>
        </p:spPr>
        <p:txBody>
          <a:bodyPr vert="horz" wrap="square" lIns="91440" tIns="45720" rIns="91440" bIns="45720" numCol="1" anchor="t"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100" b="0" i="0" u="none" strike="noStrike" cap="none" normalizeH="0" baseline="0">
                <a:ln>
                  <a:noFill/>
                </a:ln>
                <a:solidFill>
                  <a:srgbClr val="000000"/>
                </a:solidFill>
                <a:effectLst/>
                <a:latin typeface="Courier New" panose="02070309020205020404" pitchFamily="49" charset="0"/>
                <a:ea typeface="宋体" pitchFamily="2" charset="-122"/>
                <a:cs typeface="Courier New" panose="02070309020205020404" pitchFamily="49" charset="0"/>
              </a:rPr>
              <a:t>04 FB D0 A9 8C EF 18 0C DA A3 FC 2B 64 A4 CA 56 FB C8 E8 AF 5C C7 4E 82 0D A3 4E B9 DA B0 D4 6F F2 E3 85 87 07 92 9D 0A 9B EA CF 55 33 C2 2B F0 2D 34 E0 A6 EE 4F 1A 19 C1 CE AC 4F C4 25 18 10 A6</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0" y="1193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普通地址</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定义</a:t>
            </a:r>
            <a:endParaRPr lang="en-US" altLang="zh-CN" dirty="0"/>
          </a:p>
          <a:p>
            <a:pPr lvl="1">
              <a:lnSpc>
                <a:spcPct val="130000"/>
              </a:lnSpc>
            </a:pPr>
            <a:r>
              <a:rPr lang="zh-CN" altLang="en-US" dirty="0"/>
              <a:t>在公钥的基础上可以继续计算比特币的转账地址，这种地址一般被称之为普通地址。</a:t>
            </a:r>
            <a:endParaRPr lang="en-US" altLang="zh-CN" dirty="0"/>
          </a:p>
          <a:p>
            <a:pPr lvl="1">
              <a:lnSpc>
                <a:spcPct val="130000"/>
              </a:lnSpc>
            </a:pPr>
            <a:r>
              <a:rPr lang="zh-CN" altLang="en-US" dirty="0"/>
              <a:t>对应的转账脚本则是</a:t>
            </a:r>
            <a:r>
              <a:rPr lang="en-US" altLang="zh-CN" dirty="0"/>
              <a:t>P2PKH</a:t>
            </a:r>
            <a:r>
              <a:rPr lang="zh-CN" altLang="en-US" dirty="0"/>
              <a:t>（</a:t>
            </a:r>
            <a:r>
              <a:rPr lang="en-US" altLang="zh-CN" dirty="0"/>
              <a:t>Pay-to-</a:t>
            </a:r>
            <a:r>
              <a:rPr lang="en-US" altLang="zh-CN" dirty="0" err="1"/>
              <a:t>PublicKey</a:t>
            </a:r>
            <a:r>
              <a:rPr lang="en-US" altLang="zh-CN" dirty="0"/>
              <a:t>-Hash</a:t>
            </a:r>
            <a:r>
              <a:rPr lang="zh-CN" altLang="en-US" dirty="0"/>
              <a:t>）。</a:t>
            </a:r>
            <a:endParaRPr lang="en-US" altLang="zh-CN" dirty="0"/>
          </a:p>
          <a:p>
            <a:pPr marL="0" indent="0">
              <a:lnSpc>
                <a:spcPct val="130000"/>
              </a:lnSpc>
              <a:buNone/>
            </a:pPr>
            <a:endParaRPr lang="en-US" altLang="zh-CN" dirty="0">
              <a:solidFill>
                <a:srgbClr val="C00000"/>
              </a:solidFill>
            </a:endParaRPr>
          </a:p>
          <a:p>
            <a:pPr lvl="1">
              <a:lnSpc>
                <a:spcPct val="130000"/>
              </a:lnSpc>
            </a:pP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1193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endParaRPr kumimoji="1" lang="zh-CN" altLang="en-US" dirty="0">
              <a:solidFill>
                <a:prstClr val="black"/>
              </a:solidFill>
            </a:endParaRP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实例</a:t>
            </a:r>
            <a:endParaRPr lang="en-US" altLang="zh-CN" dirty="0"/>
          </a:p>
          <a:p>
            <a:pPr lvl="1">
              <a:lnSpc>
                <a:spcPct val="130000"/>
              </a:lnSpc>
            </a:pPr>
            <a:r>
              <a:rPr lang="zh-CN" altLang="en-US" dirty="0"/>
              <a:t>首先对公钥进行采用</a:t>
            </a:r>
            <a:r>
              <a:rPr lang="en-US" altLang="zh-CN" dirty="0"/>
              <a:t>SHA256 </a:t>
            </a:r>
            <a:r>
              <a:rPr lang="zh-CN" altLang="en-US" dirty="0"/>
              <a:t>算法进行哈希计算。</a:t>
            </a:r>
            <a:endParaRPr lang="en-US" altLang="zh-CN" dirty="0"/>
          </a:p>
          <a:p>
            <a:pPr lvl="1">
              <a:lnSpc>
                <a:spcPct val="130000"/>
              </a:lnSpc>
            </a:pPr>
            <a:endParaRPr lang="en-US" altLang="zh-CN" dirty="0"/>
          </a:p>
          <a:p>
            <a:pPr lvl="1">
              <a:lnSpc>
                <a:spcPct val="130000"/>
              </a:lnSpc>
            </a:pPr>
            <a:r>
              <a:rPr lang="zh-CN" altLang="en-US" dirty="0"/>
              <a:t>对上述结果再进行一次</a:t>
            </a:r>
            <a:r>
              <a:rPr lang="en-US" altLang="zh-CN" dirty="0"/>
              <a:t>RIPEMD160 </a:t>
            </a:r>
            <a:r>
              <a:rPr lang="zh-CN" altLang="en-US" dirty="0"/>
              <a:t>的哈希计算。</a:t>
            </a:r>
            <a:endParaRPr lang="en-US" altLang="zh-CN" dirty="0"/>
          </a:p>
          <a:p>
            <a:pPr lvl="1">
              <a:lnSpc>
                <a:spcPct val="130000"/>
              </a:lnSpc>
            </a:pPr>
            <a:endParaRPr lang="en-US" altLang="zh-CN" dirty="0"/>
          </a:p>
          <a:p>
            <a:pPr lvl="1">
              <a:lnSpc>
                <a:spcPct val="130000"/>
              </a:lnSpc>
            </a:pPr>
            <a:r>
              <a:rPr lang="zh-CN" altLang="en-US" dirty="0"/>
              <a:t>计算</a:t>
            </a:r>
            <a:r>
              <a:rPr lang="en-US" altLang="zh-CN" dirty="0"/>
              <a:t>32 </a:t>
            </a:r>
            <a:r>
              <a:rPr lang="zh-CN" altLang="en-US" dirty="0"/>
              <a:t>位校验和，对上面的哈希结果再进行两次</a:t>
            </a:r>
            <a:r>
              <a:rPr lang="en-US" altLang="zh-CN" dirty="0"/>
              <a:t>SHA256</a:t>
            </a:r>
            <a:r>
              <a:rPr lang="zh-CN" altLang="en-US" dirty="0"/>
              <a:t>。</a:t>
            </a:r>
            <a:endParaRPr lang="en-US" altLang="zh-CN" dirty="0"/>
          </a:p>
          <a:p>
            <a:pPr marL="0" indent="0">
              <a:lnSpc>
                <a:spcPct val="130000"/>
              </a:lnSpc>
              <a:buNone/>
            </a:pPr>
            <a:endParaRPr lang="en-US" altLang="zh-CN" dirty="0">
              <a:solidFill>
                <a:srgbClr val="C00000"/>
              </a:solidFill>
            </a:endParaRPr>
          </a:p>
          <a:p>
            <a:pPr lvl="1">
              <a:lnSpc>
                <a:spcPct val="130000"/>
              </a:lnSpc>
            </a:pP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1193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94"/>
          <p:cNvSpPr txBox="1">
            <a:spLocks noChangeArrowheads="1"/>
          </p:cNvSpPr>
          <p:nvPr/>
        </p:nvSpPr>
        <p:spPr bwMode="auto">
          <a:xfrm>
            <a:off x="1464860" y="2714323"/>
            <a:ext cx="4772025" cy="430887"/>
          </a:xfrm>
          <a:prstGeom prst="rect">
            <a:avLst/>
          </a:prstGeom>
          <a:solidFill>
            <a:srgbClr val="D9D9D9"/>
          </a:solidFill>
          <a:ln w="9525">
            <a:solidFill>
              <a:srgbClr val="000000"/>
            </a:solidFill>
            <a:miter lim="800000"/>
          </a:ln>
        </p:spPr>
        <p:txBody>
          <a:bodyPr vert="horz" wrap="square" lIns="91440" tIns="45720" rIns="91440" bIns="45720" numCol="1" anchor="t"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100" b="0" i="0" u="none" strike="noStrike" cap="none" normalizeH="0" baseline="0">
                <a:ln>
                  <a:noFill/>
                </a:ln>
                <a:solidFill>
                  <a:srgbClr val="000000"/>
                </a:solidFill>
                <a:effectLst/>
                <a:latin typeface="Courier New" panose="02070309020205020404" pitchFamily="49" charset="0"/>
                <a:ea typeface="宋体" pitchFamily="2" charset="-122"/>
                <a:cs typeface="Courier New" panose="02070309020205020404" pitchFamily="49" charset="0"/>
              </a:rPr>
              <a:t>53E8E074EA414244B104A43DDA0D3DB7D7939EA767F2DE1D922DE9C26E96E5E9</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9" name="Rectangle 4"/>
          <p:cNvSpPr>
            <a:spLocks noChangeArrowheads="1"/>
          </p:cNvSpPr>
          <p:nvPr/>
        </p:nvSpPr>
        <p:spPr bwMode="auto">
          <a:xfrm>
            <a:off x="0" y="8763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Rectangle 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95"/>
          <p:cNvSpPr txBox="1">
            <a:spLocks noChangeArrowheads="1"/>
          </p:cNvSpPr>
          <p:nvPr/>
        </p:nvSpPr>
        <p:spPr bwMode="auto">
          <a:xfrm>
            <a:off x="1464860" y="3933554"/>
            <a:ext cx="4772025" cy="260350"/>
          </a:xfrm>
          <a:prstGeom prst="rect">
            <a:avLst/>
          </a:prstGeom>
          <a:solidFill>
            <a:srgbClr val="D9D9D9"/>
          </a:solidFill>
          <a:ln w="9525">
            <a:solidFill>
              <a:srgbClr val="000000"/>
            </a:solidFill>
            <a:miter lim="800000"/>
          </a:ln>
        </p:spPr>
        <p:txBody>
          <a:bodyPr vert="horz" wrap="square" lIns="91440" tIns="45720" rIns="91440" bIns="45720" numCol="1" anchor="t"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100" b="0" i="0" u="none" strike="noStrike" cap="none" normalizeH="0" baseline="0" dirty="0">
                <a:ln>
                  <a:noFill/>
                </a:ln>
                <a:solidFill>
                  <a:srgbClr val="000000"/>
                </a:solidFill>
                <a:effectLst/>
                <a:latin typeface="Courier New" panose="02070309020205020404" pitchFamily="49" charset="0"/>
                <a:ea typeface="宋体" pitchFamily="2" charset="-122"/>
                <a:cs typeface="Courier New" panose="02070309020205020404" pitchFamily="49" charset="0"/>
              </a:rPr>
              <a:t>0CC2D07F3801D43FD444EB842645FE30C3044B30</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2" name="Rectangle 8"/>
          <p:cNvSpPr>
            <a:spLocks noChangeArrowheads="1"/>
          </p:cNvSpPr>
          <p:nvPr/>
        </p:nvSpPr>
        <p:spPr bwMode="auto">
          <a:xfrm>
            <a:off x="0" y="7175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Rectangle 10"/>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文本框 97"/>
          <p:cNvSpPr txBox="1">
            <a:spLocks noChangeArrowheads="1"/>
          </p:cNvSpPr>
          <p:nvPr/>
        </p:nvSpPr>
        <p:spPr bwMode="auto">
          <a:xfrm>
            <a:off x="1464860" y="5060814"/>
            <a:ext cx="4772025" cy="428625"/>
          </a:xfrm>
          <a:prstGeom prst="rect">
            <a:avLst/>
          </a:prstGeom>
          <a:solidFill>
            <a:srgbClr val="D9D9D9"/>
          </a:solidFill>
          <a:ln w="9525">
            <a:solidFill>
              <a:srgbClr val="000000"/>
            </a:solidFill>
            <a:miter lim="800000"/>
          </a:ln>
        </p:spPr>
        <p:txBody>
          <a:bodyPr vert="horz" wrap="square" lIns="91440" tIns="45720" rIns="91440" bIns="45720" numCol="1" anchor="t"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100" b="1" i="0" u="none" strike="noStrike" cap="none" normalizeH="0" baseline="0">
                <a:ln>
                  <a:noFill/>
                </a:ln>
                <a:solidFill>
                  <a:srgbClr val="000000"/>
                </a:solidFill>
                <a:effectLst/>
                <a:latin typeface="Courier New" panose="02070309020205020404" pitchFamily="49" charset="0"/>
                <a:ea typeface="宋体" pitchFamily="2" charset="-122"/>
                <a:cs typeface="Courier New" panose="02070309020205020404" pitchFamily="49" charset="0"/>
              </a:rPr>
              <a:t>82B6D0CB</a:t>
            </a:r>
            <a:r>
              <a:rPr kumimoji="0" lang="en-US" altLang="zh-CN" sz="1100" b="0" i="0" u="none" strike="noStrike" cap="none" normalizeH="0" baseline="0">
                <a:ln>
                  <a:noFill/>
                </a:ln>
                <a:solidFill>
                  <a:srgbClr val="000000"/>
                </a:solidFill>
                <a:effectLst/>
                <a:latin typeface="Courier New" panose="02070309020205020404" pitchFamily="49" charset="0"/>
                <a:ea typeface="宋体" pitchFamily="2" charset="-122"/>
                <a:cs typeface="Courier New" panose="02070309020205020404" pitchFamily="49" charset="0"/>
              </a:rPr>
              <a:t>245031B7B199E32DDDFB45CD04812FC219F1549FE7F0D2DBB4414A99</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5" name="Rectangle 12"/>
          <p:cNvSpPr>
            <a:spLocks noChangeArrowheads="1"/>
          </p:cNvSpPr>
          <p:nvPr/>
        </p:nvSpPr>
        <p:spPr bwMode="auto">
          <a:xfrm>
            <a:off x="0" y="8858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endParaRPr kumimoji="1" lang="zh-CN" altLang="en-US" dirty="0">
              <a:solidFill>
                <a:prstClr val="black"/>
              </a:solidFill>
            </a:endParaRP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实例</a:t>
            </a:r>
            <a:endParaRPr lang="en-US" altLang="zh-CN" dirty="0"/>
          </a:p>
          <a:p>
            <a:pPr lvl="1">
              <a:lnSpc>
                <a:spcPct val="130000"/>
              </a:lnSpc>
            </a:pPr>
            <a:r>
              <a:rPr lang="zh-CN" altLang="en-US" dirty="0"/>
              <a:t>取前</a:t>
            </a:r>
            <a:r>
              <a:rPr lang="en-US" altLang="zh-CN" dirty="0"/>
              <a:t>4 </a:t>
            </a:r>
            <a:r>
              <a:rPr lang="zh-CN" altLang="en-US" dirty="0"/>
              <a:t>个字节（也就是前八个十六进制数）作为校验码。</a:t>
            </a:r>
            <a:endParaRPr lang="en-US" altLang="zh-CN" dirty="0"/>
          </a:p>
          <a:p>
            <a:pPr lvl="1">
              <a:lnSpc>
                <a:spcPct val="130000"/>
              </a:lnSpc>
            </a:pPr>
            <a:endParaRPr lang="en-US" altLang="zh-CN" dirty="0"/>
          </a:p>
          <a:p>
            <a:pPr lvl="1">
              <a:lnSpc>
                <a:spcPct val="130000"/>
              </a:lnSpc>
            </a:pPr>
            <a:r>
              <a:rPr lang="zh-CN" altLang="en-US" dirty="0"/>
              <a:t>将主网前缀</a:t>
            </a:r>
            <a:r>
              <a:rPr lang="en-US" altLang="zh-CN" dirty="0"/>
              <a:t>00</a:t>
            </a:r>
            <a:r>
              <a:rPr lang="zh-CN" altLang="en-US" dirty="0"/>
              <a:t>、第</a:t>
            </a:r>
            <a:r>
              <a:rPr lang="en-US" altLang="zh-CN" dirty="0"/>
              <a:t>2 </a:t>
            </a:r>
            <a:r>
              <a:rPr lang="zh-CN" altLang="en-US" dirty="0"/>
              <a:t>步的</a:t>
            </a:r>
            <a:r>
              <a:rPr lang="en-US" altLang="zh-CN" dirty="0"/>
              <a:t>RIPEMD160 </a:t>
            </a:r>
            <a:r>
              <a:rPr lang="zh-CN" altLang="en-US" dirty="0"/>
              <a:t>的结果和校验和前</a:t>
            </a:r>
            <a:r>
              <a:rPr lang="en-US" altLang="zh-CN" dirty="0"/>
              <a:t>4 </a:t>
            </a:r>
            <a:r>
              <a:rPr lang="zh-CN" altLang="en-US" dirty="0"/>
              <a:t>个字节拼接起来得到地址的十六进制表示</a:t>
            </a:r>
            <a:endParaRPr lang="en-US" altLang="zh-CN" dirty="0"/>
          </a:p>
          <a:p>
            <a:pPr lvl="1">
              <a:lnSpc>
                <a:spcPct val="130000"/>
              </a:lnSpc>
            </a:pPr>
            <a:endParaRPr lang="en-US" altLang="zh-CN" dirty="0"/>
          </a:p>
          <a:p>
            <a:pPr lvl="1">
              <a:lnSpc>
                <a:spcPct val="130000"/>
              </a:lnSpc>
            </a:pPr>
            <a:r>
              <a:rPr lang="zh-CN" altLang="en-US" dirty="0"/>
              <a:t>末尾的</a:t>
            </a:r>
            <a:r>
              <a:rPr lang="en-US" altLang="zh-CN" dirty="0"/>
              <a:t>4 </a:t>
            </a:r>
            <a:r>
              <a:rPr lang="zh-CN" altLang="en-US" dirty="0"/>
              <a:t>个字节提供了公钥哈希的校验能力。</a:t>
            </a:r>
            <a:endParaRPr lang="en-US" altLang="zh-CN" dirty="0"/>
          </a:p>
          <a:p>
            <a:pPr marL="0" indent="0">
              <a:lnSpc>
                <a:spcPct val="130000"/>
              </a:lnSpc>
              <a:buNone/>
            </a:pPr>
            <a:endParaRPr lang="en-US" altLang="zh-CN" dirty="0">
              <a:solidFill>
                <a:srgbClr val="C00000"/>
              </a:solidFill>
            </a:endParaRPr>
          </a:p>
          <a:p>
            <a:pPr lvl="1">
              <a:lnSpc>
                <a:spcPct val="130000"/>
              </a:lnSpc>
            </a:pP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41</a:t>
            </a:fld>
            <a:endParaRPr kumimoji="1"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1193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98"/>
          <p:cNvSpPr txBox="1">
            <a:spLocks noChangeArrowheads="1"/>
          </p:cNvSpPr>
          <p:nvPr/>
        </p:nvSpPr>
        <p:spPr bwMode="auto">
          <a:xfrm>
            <a:off x="1464860" y="2826249"/>
            <a:ext cx="4772025" cy="260350"/>
          </a:xfrm>
          <a:prstGeom prst="rect">
            <a:avLst/>
          </a:prstGeom>
          <a:solidFill>
            <a:srgbClr val="D9D9D9"/>
          </a:solidFill>
          <a:ln w="9525">
            <a:solidFill>
              <a:srgbClr val="000000"/>
            </a:solidFill>
            <a:miter lim="800000"/>
          </a:ln>
        </p:spPr>
        <p:txBody>
          <a:bodyPr vert="horz" wrap="square" lIns="91440" tIns="45720" rIns="91440" bIns="45720" numCol="1" anchor="t"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100" b="0" i="0" u="none" strike="noStrike" cap="none" normalizeH="0" baseline="0" dirty="0">
                <a:ln>
                  <a:noFill/>
                </a:ln>
                <a:solidFill>
                  <a:srgbClr val="000000"/>
                </a:solidFill>
                <a:effectLst/>
                <a:latin typeface="Courier New" panose="02070309020205020404" pitchFamily="49" charset="0"/>
                <a:ea typeface="宋体" pitchFamily="2" charset="-122"/>
                <a:cs typeface="Courier New" panose="02070309020205020404" pitchFamily="49" charset="0"/>
              </a:rPr>
              <a:t>82B6D0CB</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9" name="Rectangle 4"/>
          <p:cNvSpPr>
            <a:spLocks noChangeArrowheads="1"/>
          </p:cNvSpPr>
          <p:nvPr/>
        </p:nvSpPr>
        <p:spPr bwMode="auto">
          <a:xfrm>
            <a:off x="0" y="7175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Rectangle 6"/>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99"/>
          <p:cNvSpPr txBox="1">
            <a:spLocks noChangeArrowheads="1"/>
          </p:cNvSpPr>
          <p:nvPr/>
        </p:nvSpPr>
        <p:spPr bwMode="auto">
          <a:xfrm>
            <a:off x="1464859" y="4440474"/>
            <a:ext cx="4772025" cy="254000"/>
          </a:xfrm>
          <a:prstGeom prst="rect">
            <a:avLst/>
          </a:prstGeom>
          <a:solidFill>
            <a:srgbClr val="D9D9D9"/>
          </a:solidFill>
          <a:ln w="9525">
            <a:solidFill>
              <a:srgbClr val="000000"/>
            </a:solidFill>
            <a:miter lim="800000"/>
          </a:ln>
        </p:spPr>
        <p:txBody>
          <a:bodyPr vert="horz" wrap="square" lIns="91440" tIns="45720" rIns="91440" bIns="45720" numCol="1" anchor="t"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a:ln>
                  <a:noFill/>
                </a:ln>
                <a:solidFill>
                  <a:srgbClr val="000000"/>
                </a:solidFill>
                <a:effectLst/>
                <a:latin typeface="Courier New" panose="02070309020205020404" pitchFamily="49" charset="0"/>
                <a:ea typeface="宋体" pitchFamily="2" charset="-122"/>
                <a:cs typeface="Courier New" panose="02070309020205020404" pitchFamily="49" charset="0"/>
              </a:rPr>
              <a:t>000CC2D07F3801D43FD444EB842645FE30C3044B3082B6D0CB</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2" name="Rectangle 8"/>
          <p:cNvSpPr>
            <a:spLocks noChangeArrowheads="1"/>
          </p:cNvSpPr>
          <p:nvPr/>
        </p:nvSpPr>
        <p:spPr bwMode="auto">
          <a:xfrm>
            <a:off x="152400" y="863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en-US" altLang="zh-CN" dirty="0">
                <a:solidFill>
                  <a:prstClr val="black"/>
                </a:solidFill>
              </a:rPr>
              <a:t>Base58</a:t>
            </a:r>
            <a:r>
              <a:rPr kumimoji="1" lang="zh-CN" altLang="en-US" dirty="0">
                <a:solidFill>
                  <a:prstClr val="black"/>
                </a:solidFill>
              </a:rPr>
              <a:t>编码</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定义</a:t>
            </a:r>
            <a:endParaRPr lang="en-US" altLang="zh-CN" dirty="0"/>
          </a:p>
          <a:p>
            <a:pPr lvl="1">
              <a:lnSpc>
                <a:spcPct val="130000"/>
              </a:lnSpc>
            </a:pPr>
            <a:r>
              <a:rPr lang="zh-CN" altLang="en-US" dirty="0"/>
              <a:t>十六进制可读性很差，为此比特币定义了</a:t>
            </a:r>
            <a:r>
              <a:rPr lang="en-US" altLang="zh-CN" dirty="0"/>
              <a:t>Base 58 </a:t>
            </a:r>
            <a:r>
              <a:rPr lang="zh-CN" altLang="en-US" dirty="0"/>
              <a:t>编码系统来对公私密钥进行编码。</a:t>
            </a:r>
            <a:endParaRPr lang="en-US" altLang="zh-CN" dirty="0">
              <a:solidFill>
                <a:srgbClr val="C00000"/>
              </a:solidFill>
            </a:endParaRPr>
          </a:p>
          <a:p>
            <a:pPr lvl="1">
              <a:lnSpc>
                <a:spcPct val="130000"/>
              </a:lnSpc>
            </a:pP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1193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4"/>
          <p:cNvSpPr>
            <a:spLocks noChangeArrowheads="1"/>
          </p:cNvSpPr>
          <p:nvPr/>
        </p:nvSpPr>
        <p:spPr bwMode="auto">
          <a:xfrm>
            <a:off x="0" y="7175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Rectangle 6"/>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152400" y="863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4" name="图片 13"/>
          <p:cNvPicPr>
            <a:picLocks noChangeAspect="1"/>
          </p:cNvPicPr>
          <p:nvPr/>
        </p:nvPicPr>
        <p:blipFill>
          <a:blip r:embed="rId3"/>
          <a:stretch>
            <a:fillRect/>
          </a:stretch>
        </p:blipFill>
        <p:spPr>
          <a:xfrm>
            <a:off x="5244861" y="2793985"/>
            <a:ext cx="5180684" cy="369888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其他地址</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利用前缀来对各种地址进行区分，避免因为转账地址的混淆带来的错误交易</a:t>
            </a:r>
            <a:endParaRPr lang="en-US" altLang="zh-CN" dirty="0"/>
          </a:p>
          <a:p>
            <a:pPr lvl="1">
              <a:lnSpc>
                <a:spcPct val="130000"/>
              </a:lnSpc>
            </a:pP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43</a:t>
            </a:fld>
            <a:endParaRPr kumimoji="1" lang="zh-CN" alt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1193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4"/>
          <p:cNvSpPr>
            <a:spLocks noChangeArrowheads="1"/>
          </p:cNvSpPr>
          <p:nvPr/>
        </p:nvSpPr>
        <p:spPr bwMode="auto">
          <a:xfrm>
            <a:off x="0" y="7175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Rectangle 6"/>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152400" y="863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8" name="表格 7"/>
          <p:cNvGraphicFramePr>
            <a:graphicFrameLocks noGrp="1"/>
          </p:cNvGraphicFramePr>
          <p:nvPr/>
        </p:nvGraphicFramePr>
        <p:xfrm>
          <a:off x="2245895" y="3175158"/>
          <a:ext cx="7700210" cy="3071638"/>
        </p:xfrm>
        <a:graphic>
          <a:graphicData uri="http://schemas.openxmlformats.org/drawingml/2006/table">
            <a:tbl>
              <a:tblPr firstRow="1" firstCol="1" bandRow="1">
                <a:tableStyleId>{5C22544A-7EE6-4342-B048-85BDC9FD1C3A}</a:tableStyleId>
              </a:tblPr>
              <a:tblGrid>
                <a:gridCol w="1965285">
                  <a:extLst>
                    <a:ext uri="{9D8B030D-6E8A-4147-A177-3AD203B41FA5}">
                      <a16:colId xmlns:a16="http://schemas.microsoft.com/office/drawing/2014/main" val="20000"/>
                    </a:ext>
                  </a:extLst>
                </a:gridCol>
                <a:gridCol w="2427831">
                  <a:extLst>
                    <a:ext uri="{9D8B030D-6E8A-4147-A177-3AD203B41FA5}">
                      <a16:colId xmlns:a16="http://schemas.microsoft.com/office/drawing/2014/main" val="20001"/>
                    </a:ext>
                  </a:extLst>
                </a:gridCol>
                <a:gridCol w="3307094">
                  <a:extLst>
                    <a:ext uri="{9D8B030D-6E8A-4147-A177-3AD203B41FA5}">
                      <a16:colId xmlns:a16="http://schemas.microsoft.com/office/drawing/2014/main" val="20002"/>
                    </a:ext>
                  </a:extLst>
                </a:gridCol>
              </a:tblGrid>
              <a:tr h="297254">
                <a:tc gridSpan="3">
                  <a:txBody>
                    <a:bodyPr/>
                    <a:lstStyle/>
                    <a:p>
                      <a:pPr algn="ctr">
                        <a:spcAft>
                          <a:spcPts val="0"/>
                        </a:spcAft>
                      </a:pPr>
                      <a:r>
                        <a:rPr lang="zh-CN" sz="1200" b="0" kern="100" dirty="0">
                          <a:solidFill>
                            <a:schemeClr val="tx1"/>
                          </a:solidFill>
                          <a:effectLst/>
                        </a:rPr>
                        <a:t>比特币地址类别及对应前缀</a:t>
                      </a:r>
                      <a:endParaRPr lang="zh-CN" sz="1200" b="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46798">
                <a:tc>
                  <a:txBody>
                    <a:bodyPr/>
                    <a:lstStyle/>
                    <a:p>
                      <a:pPr algn="ctr">
                        <a:spcAft>
                          <a:spcPts val="0"/>
                        </a:spcAft>
                      </a:pPr>
                      <a:r>
                        <a:rPr lang="zh-CN" sz="1400" kern="100" dirty="0">
                          <a:solidFill>
                            <a:schemeClr val="tx1"/>
                          </a:solidFill>
                          <a:effectLst/>
                        </a:rPr>
                        <a:t>十六进制前缀</a:t>
                      </a:r>
                      <a:endParaRPr lang="zh-CN" sz="14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Base58</a:t>
                      </a:r>
                      <a:r>
                        <a:rPr lang="zh-CN" sz="1400" kern="100">
                          <a:effectLst/>
                        </a:rPr>
                        <a:t>格式前缀</a:t>
                      </a:r>
                      <a:endParaRPr lang="zh-CN" sz="14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a:effectLst/>
                        </a:rPr>
                        <a:t>类型</a:t>
                      </a:r>
                      <a:endParaRPr lang="zh-CN" sz="14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46798">
                <a:tc>
                  <a:txBody>
                    <a:bodyPr/>
                    <a:lstStyle/>
                    <a:p>
                      <a:pPr algn="ctr">
                        <a:spcAft>
                          <a:spcPts val="0"/>
                        </a:spcAft>
                      </a:pPr>
                      <a:r>
                        <a:rPr lang="en-US" sz="1400" kern="100" dirty="0">
                          <a:solidFill>
                            <a:schemeClr val="tx1"/>
                          </a:solidFill>
                          <a:effectLst/>
                        </a:rPr>
                        <a:t>00</a:t>
                      </a:r>
                      <a:endParaRPr lang="zh-CN" sz="14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1</a:t>
                      </a:r>
                      <a:endParaRPr lang="zh-CN" sz="14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a:effectLst/>
                        </a:rPr>
                        <a:t>公钥哈希地址</a:t>
                      </a:r>
                      <a:endParaRPr lang="zh-CN" sz="14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346798">
                <a:tc>
                  <a:txBody>
                    <a:bodyPr/>
                    <a:lstStyle/>
                    <a:p>
                      <a:pPr algn="ctr">
                        <a:spcAft>
                          <a:spcPts val="0"/>
                        </a:spcAft>
                      </a:pPr>
                      <a:r>
                        <a:rPr lang="en-US" sz="1400" kern="100" dirty="0">
                          <a:solidFill>
                            <a:schemeClr val="tx1"/>
                          </a:solidFill>
                          <a:effectLst/>
                        </a:rPr>
                        <a:t>05</a:t>
                      </a:r>
                      <a:endParaRPr lang="zh-CN" sz="14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3</a:t>
                      </a:r>
                      <a:endParaRPr lang="zh-CN" sz="14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a:effectLst/>
                        </a:rPr>
                        <a:t>脚本地址</a:t>
                      </a:r>
                      <a:endParaRPr lang="zh-CN" sz="14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346798">
                <a:tc>
                  <a:txBody>
                    <a:bodyPr/>
                    <a:lstStyle/>
                    <a:p>
                      <a:pPr algn="ctr">
                        <a:spcAft>
                          <a:spcPts val="0"/>
                        </a:spcAft>
                      </a:pPr>
                      <a:r>
                        <a:rPr lang="en-US" sz="1400" kern="100" dirty="0">
                          <a:solidFill>
                            <a:schemeClr val="tx1"/>
                          </a:solidFill>
                          <a:effectLst/>
                        </a:rPr>
                        <a:t>80</a:t>
                      </a:r>
                      <a:endParaRPr lang="zh-CN" sz="14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5</a:t>
                      </a:r>
                      <a:endParaRPr lang="zh-CN" sz="14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a:effectLst/>
                        </a:rPr>
                        <a:t>私钥</a:t>
                      </a:r>
                      <a:r>
                        <a:rPr lang="en-US" sz="1400" kern="100">
                          <a:effectLst/>
                        </a:rPr>
                        <a:t> (</a:t>
                      </a:r>
                      <a:r>
                        <a:rPr lang="zh-CN" sz="1400" kern="100">
                          <a:effectLst/>
                        </a:rPr>
                        <a:t>未压缩公钥</a:t>
                      </a:r>
                      <a:r>
                        <a:rPr lang="en-US" sz="1400" kern="100">
                          <a:effectLst/>
                        </a:rPr>
                        <a:t>)</a:t>
                      </a:r>
                      <a:endParaRPr lang="zh-CN" sz="14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346798">
                <a:tc>
                  <a:txBody>
                    <a:bodyPr/>
                    <a:lstStyle/>
                    <a:p>
                      <a:pPr algn="ctr">
                        <a:spcAft>
                          <a:spcPts val="0"/>
                        </a:spcAft>
                      </a:pPr>
                      <a:r>
                        <a:rPr lang="en-US" sz="1400" kern="100" dirty="0">
                          <a:solidFill>
                            <a:schemeClr val="tx1"/>
                          </a:solidFill>
                          <a:effectLst/>
                        </a:rPr>
                        <a:t>80</a:t>
                      </a:r>
                      <a:endParaRPr lang="zh-CN" sz="14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K</a:t>
                      </a:r>
                      <a:r>
                        <a:rPr lang="zh-CN" sz="1400" kern="100">
                          <a:effectLst/>
                        </a:rPr>
                        <a:t>或者</a:t>
                      </a:r>
                      <a:r>
                        <a:rPr lang="en-US" sz="1400" kern="100">
                          <a:effectLst/>
                        </a:rPr>
                        <a:t>L</a:t>
                      </a:r>
                      <a:endParaRPr lang="zh-CN" sz="14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a:effectLst/>
                        </a:rPr>
                        <a:t>私钥</a:t>
                      </a:r>
                      <a:r>
                        <a:rPr lang="en-US" sz="1400" kern="100">
                          <a:effectLst/>
                        </a:rPr>
                        <a:t> (</a:t>
                      </a:r>
                      <a:r>
                        <a:rPr lang="zh-CN" sz="1400" kern="100">
                          <a:effectLst/>
                        </a:rPr>
                        <a:t>压缩公钥</a:t>
                      </a:r>
                      <a:r>
                        <a:rPr lang="en-US" sz="1400" kern="100">
                          <a:effectLst/>
                        </a:rPr>
                        <a:t>)</a:t>
                      </a:r>
                      <a:endParaRPr lang="zh-CN" sz="14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346798">
                <a:tc>
                  <a:txBody>
                    <a:bodyPr/>
                    <a:lstStyle/>
                    <a:p>
                      <a:pPr algn="ctr">
                        <a:spcAft>
                          <a:spcPts val="0"/>
                        </a:spcAft>
                      </a:pPr>
                      <a:r>
                        <a:rPr lang="en-US" sz="1400" kern="100" dirty="0">
                          <a:solidFill>
                            <a:schemeClr val="tx1"/>
                          </a:solidFill>
                          <a:effectLst/>
                        </a:rPr>
                        <a:t>6F</a:t>
                      </a:r>
                      <a:endParaRPr lang="zh-CN" sz="14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m</a:t>
                      </a:r>
                      <a:r>
                        <a:rPr lang="zh-CN" sz="1400" kern="100">
                          <a:effectLst/>
                        </a:rPr>
                        <a:t>或者</a:t>
                      </a:r>
                      <a:r>
                        <a:rPr lang="en-US" sz="1400" kern="100">
                          <a:effectLst/>
                        </a:rPr>
                        <a:t>n</a:t>
                      </a:r>
                      <a:endParaRPr lang="zh-CN" sz="14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a:effectLst/>
                        </a:rPr>
                        <a:t>测试网公钥哈希地址</a:t>
                      </a:r>
                      <a:endParaRPr lang="zh-CN" sz="14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346798">
                <a:tc>
                  <a:txBody>
                    <a:bodyPr/>
                    <a:lstStyle/>
                    <a:p>
                      <a:pPr algn="ctr">
                        <a:spcAft>
                          <a:spcPts val="0"/>
                        </a:spcAft>
                      </a:pPr>
                      <a:r>
                        <a:rPr lang="en-US" sz="1400" kern="100" dirty="0">
                          <a:solidFill>
                            <a:schemeClr val="tx1"/>
                          </a:solidFill>
                          <a:effectLst/>
                        </a:rPr>
                        <a:t>C4</a:t>
                      </a:r>
                      <a:endParaRPr lang="zh-CN" sz="14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2</a:t>
                      </a:r>
                      <a:endParaRPr lang="zh-CN" sz="14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a:effectLst/>
                        </a:rPr>
                        <a:t>测试网脚本哈希地址</a:t>
                      </a:r>
                      <a:endParaRPr lang="zh-CN" sz="14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346798">
                <a:tc>
                  <a:txBody>
                    <a:bodyPr/>
                    <a:lstStyle/>
                    <a:p>
                      <a:pPr algn="ctr">
                        <a:spcAft>
                          <a:spcPts val="0"/>
                        </a:spcAft>
                      </a:pPr>
                      <a:r>
                        <a:rPr lang="en-US" sz="1400" kern="100" dirty="0">
                          <a:solidFill>
                            <a:schemeClr val="tx1"/>
                          </a:solidFill>
                          <a:effectLst/>
                        </a:rPr>
                        <a:t>EF</a:t>
                      </a:r>
                      <a:endParaRPr lang="zh-CN" sz="14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9</a:t>
                      </a:r>
                      <a:endParaRPr lang="zh-CN" sz="1400" kern="100">
                        <a:effectLst/>
                        <a:latin typeface="Calibri" panose="020F0502020204030204" pitchFamily="34" charset="0"/>
                        <a:ea typeface="宋体"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dirty="0">
                          <a:effectLst/>
                        </a:rPr>
                        <a:t>测试网私钥</a:t>
                      </a:r>
                      <a:r>
                        <a:rPr lang="en-US" sz="1400" kern="100" dirty="0">
                          <a:effectLst/>
                        </a:rPr>
                        <a:t> (</a:t>
                      </a:r>
                      <a:r>
                        <a:rPr lang="zh-CN" sz="1400" kern="100" dirty="0">
                          <a:effectLst/>
                        </a:rPr>
                        <a:t>未压缩公钥</a:t>
                      </a:r>
                      <a:r>
                        <a:rPr lang="en-US" sz="1400" kern="100" dirty="0">
                          <a:effectLst/>
                        </a:rPr>
                        <a:t>)</a:t>
                      </a:r>
                      <a:endParaRPr lang="zh-CN" sz="1400" kern="100" dirty="0">
                        <a:effectLst/>
                        <a:latin typeface="Calibri" panose="020F0502020204030204" pitchFamily="34" charset="0"/>
                        <a:ea typeface="宋体"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2.1 </a:t>
            </a:r>
            <a:r>
              <a:rPr kumimoji="1" lang="zh-CN" altLang="en-US" dirty="0"/>
              <a:t>比特币简介</a:t>
            </a:r>
            <a:endParaRPr kumimoji="1" lang="en-US" altLang="zh-CN" dirty="0"/>
          </a:p>
          <a:p>
            <a:pPr marL="0" indent="0">
              <a:lnSpc>
                <a:spcPct val="130000"/>
              </a:lnSpc>
              <a:buNone/>
            </a:pPr>
            <a:r>
              <a:rPr kumimoji="1" lang="en-US" altLang="zh-CN" dirty="0"/>
              <a:t>2.2 </a:t>
            </a:r>
            <a:r>
              <a:rPr kumimoji="1" lang="zh-CN" altLang="en-US" dirty="0"/>
              <a:t>基础知识</a:t>
            </a:r>
            <a:r>
              <a:rPr kumimoji="1" lang="en-US" altLang="zh-CN" dirty="0"/>
              <a:t> </a:t>
            </a:r>
          </a:p>
          <a:p>
            <a:pPr marL="0" indent="0">
              <a:lnSpc>
                <a:spcPct val="130000"/>
              </a:lnSpc>
              <a:buNone/>
            </a:pPr>
            <a:r>
              <a:rPr kumimoji="1" lang="en-US" altLang="zh-CN" dirty="0"/>
              <a:t>2.3 </a:t>
            </a:r>
            <a:r>
              <a:rPr kumimoji="1" lang="zh-CN" altLang="en-US" dirty="0"/>
              <a:t>交易</a:t>
            </a:r>
            <a:endParaRPr kumimoji="1" lang="en-US" altLang="zh-CN" dirty="0"/>
          </a:p>
          <a:p>
            <a:pPr marL="0" indent="0">
              <a:lnSpc>
                <a:spcPct val="130000"/>
              </a:lnSpc>
              <a:buNone/>
            </a:pPr>
            <a:r>
              <a:rPr kumimoji="1" lang="en-US" altLang="zh-CN" dirty="0"/>
              <a:t>2.4 </a:t>
            </a:r>
            <a:r>
              <a:rPr kumimoji="1" lang="zh-CN" altLang="en-US" dirty="0"/>
              <a:t>脚本系统</a:t>
            </a:r>
            <a:endParaRPr kumimoji="1" lang="en-US" altLang="zh-CN" dirty="0"/>
          </a:p>
          <a:p>
            <a:pPr marL="0" indent="0">
              <a:lnSpc>
                <a:spcPct val="130000"/>
              </a:lnSpc>
              <a:buNone/>
            </a:pPr>
            <a:r>
              <a:rPr kumimoji="1" lang="en-US" altLang="zh-CN" dirty="0"/>
              <a:t>2.5 </a:t>
            </a:r>
            <a:r>
              <a:rPr kumimoji="1" lang="zh-CN" altLang="en-US" dirty="0"/>
              <a:t>公私密钥与地址</a:t>
            </a:r>
            <a:endParaRPr kumimoji="1" lang="en-US" altLang="zh-CN" dirty="0"/>
          </a:p>
          <a:p>
            <a:pPr marL="0" indent="0">
              <a:lnSpc>
                <a:spcPct val="130000"/>
              </a:lnSpc>
              <a:buNone/>
            </a:pPr>
            <a:r>
              <a:rPr kumimoji="1" lang="en-US" altLang="zh-CN" dirty="0">
                <a:solidFill>
                  <a:srgbClr val="C00000"/>
                </a:solidFill>
              </a:rPr>
              <a:t>2.6 </a:t>
            </a:r>
            <a:r>
              <a:rPr kumimoji="1" lang="zh-CN" altLang="en-US" dirty="0">
                <a:solidFill>
                  <a:srgbClr val="C00000"/>
                </a:solidFill>
              </a:rPr>
              <a:t>区块与链</a:t>
            </a:r>
            <a:endParaRPr kumimoji="1" lang="en-US" altLang="zh-CN" dirty="0">
              <a:solidFill>
                <a:srgbClr val="C00000"/>
              </a:solidFill>
            </a:endParaRPr>
          </a:p>
          <a:p>
            <a:pPr marL="0" indent="0">
              <a:lnSpc>
                <a:spcPct val="130000"/>
              </a:lnSpc>
              <a:buNone/>
            </a:pPr>
            <a:r>
              <a:rPr kumimoji="1" lang="en-US" altLang="zh-CN" dirty="0"/>
              <a:t>2.7 </a:t>
            </a:r>
            <a:r>
              <a:rPr kumimoji="1" lang="zh-CN" altLang="en-US" dirty="0"/>
              <a:t>共识</a:t>
            </a:r>
            <a:endParaRPr kumimoji="1" lang="en-US" altLang="zh-CN" dirty="0"/>
          </a:p>
        </p:txBody>
      </p:sp>
      <p:sp>
        <p:nvSpPr>
          <p:cNvPr id="7" name="矩形标注 6"/>
          <p:cNvSpPr/>
          <p:nvPr/>
        </p:nvSpPr>
        <p:spPr>
          <a:xfrm>
            <a:off x="5878962" y="3137836"/>
            <a:ext cx="2215884" cy="2223436"/>
          </a:xfrm>
          <a:prstGeom prst="wedgeRectCallout">
            <a:avLst>
              <a:gd name="adj1" fmla="val -117944"/>
              <a:gd name="adj2" fmla="val 3043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区块</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区块头</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Merkle</a:t>
            </a:r>
            <a:r>
              <a:rPr kumimoji="1" lang="zh-CN" altLang="en-US" sz="2400" dirty="0">
                <a:solidFill>
                  <a:prstClr val="black"/>
                </a:solidFill>
                <a:latin typeface="Microsoft YaHei" panose="020B0503020204020204" pitchFamily="34" charset="-122"/>
                <a:ea typeface="Microsoft YaHei" panose="020B0503020204020204" pitchFamily="34" charset="-122"/>
              </a:rPr>
              <a:t>树</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区块链</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44</a:t>
            </a:fld>
            <a:endParaRPr kumimoji="1"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区块与链</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背景</a:t>
            </a:r>
            <a:endParaRPr lang="en-US" altLang="zh-CN" dirty="0"/>
          </a:p>
          <a:p>
            <a:pPr lvl="1">
              <a:lnSpc>
                <a:spcPct val="130000"/>
              </a:lnSpc>
            </a:pPr>
            <a:r>
              <a:rPr lang="zh-CN" altLang="en-US" dirty="0"/>
              <a:t>交易需要得到验证和执行才能够正式被区块链系统确认。</a:t>
            </a:r>
            <a:endParaRPr lang="en-US" altLang="zh-CN" dirty="0"/>
          </a:p>
          <a:p>
            <a:pPr lvl="1">
              <a:lnSpc>
                <a:spcPct val="130000"/>
              </a:lnSpc>
            </a:pPr>
            <a:r>
              <a:rPr lang="zh-CN" altLang="en-US" dirty="0"/>
              <a:t>如果每一个交易都要被单独确认的话，整个系统的开销将会非常巨大。</a:t>
            </a:r>
            <a:endParaRPr lang="en-US" altLang="zh-CN" dirty="0"/>
          </a:p>
          <a:p>
            <a:pPr lvl="1">
              <a:lnSpc>
                <a:spcPct val="130000"/>
              </a:lnSpc>
            </a:pPr>
            <a:r>
              <a:rPr lang="zh-CN" altLang="en-US" dirty="0"/>
              <a:t>比特币系统中采取了批量确认交易的方法，形成区块。</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45</a:t>
            </a:fld>
            <a:endParaRPr kumimoji="1"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区块</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定义</a:t>
            </a:r>
            <a:endParaRPr lang="en-US" altLang="zh-CN" dirty="0"/>
          </a:p>
          <a:p>
            <a:pPr lvl="1">
              <a:lnSpc>
                <a:spcPct val="130000"/>
              </a:lnSpc>
            </a:pPr>
            <a:r>
              <a:rPr lang="zh-CN" altLang="en-US" dirty="0"/>
              <a:t>区块链系统理解为一个数字账本，那么一个区块便是账本上的一页。</a:t>
            </a:r>
            <a:endParaRPr lang="en-US" altLang="zh-CN" dirty="0"/>
          </a:p>
          <a:p>
            <a:pPr lvl="1">
              <a:lnSpc>
                <a:spcPct val="130000"/>
              </a:lnSpc>
            </a:pPr>
            <a:r>
              <a:rPr lang="zh-CN" altLang="en-US" dirty="0"/>
              <a:t>记录了相对独立的一批交易记录，并在对这些交易进行一次确认。</a:t>
            </a:r>
            <a:endParaRPr lang="en-US" altLang="zh-CN" dirty="0"/>
          </a:p>
          <a:p>
            <a:pPr lvl="1">
              <a:lnSpc>
                <a:spcPct val="130000"/>
              </a:lnSpc>
            </a:pPr>
            <a:r>
              <a:rPr lang="zh-CN" altLang="en-US" dirty="0"/>
              <a:t>组成</a:t>
            </a:r>
            <a:endParaRPr lang="en-US" altLang="zh-CN" dirty="0"/>
          </a:p>
          <a:p>
            <a:pPr lvl="2">
              <a:lnSpc>
                <a:spcPct val="130000"/>
              </a:lnSpc>
            </a:pPr>
            <a:r>
              <a:rPr lang="zh-CN" altLang="en-US" dirty="0"/>
              <a:t>区块头（</a:t>
            </a:r>
            <a:r>
              <a:rPr lang="en-US" altLang="zh-CN" dirty="0"/>
              <a:t>Header</a:t>
            </a:r>
            <a:r>
              <a:rPr lang="zh-CN" altLang="en-US" dirty="0"/>
              <a:t>）：包含了这个区块的所有信息</a:t>
            </a:r>
            <a:endParaRPr lang="en-US" altLang="zh-CN" dirty="0"/>
          </a:p>
          <a:p>
            <a:pPr lvl="2">
              <a:lnSpc>
                <a:spcPct val="130000"/>
              </a:lnSpc>
            </a:pPr>
            <a:r>
              <a:rPr lang="zh-CN" altLang="en-US" dirty="0"/>
              <a:t>区块体（</a:t>
            </a:r>
            <a:r>
              <a:rPr lang="en-US" altLang="zh-CN" dirty="0"/>
              <a:t>Body</a:t>
            </a:r>
            <a:r>
              <a:rPr lang="zh-CN" altLang="en-US" dirty="0"/>
              <a:t>）：存放交易等详细数据</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46</a:t>
            </a:fld>
            <a:endParaRPr kumimoji="1" lang="zh-CN" altLang="en-US" dirty="0"/>
          </a:p>
        </p:txBody>
      </p:sp>
      <p:pic>
        <p:nvPicPr>
          <p:cNvPr id="5" name="图片 4"/>
          <p:cNvPicPr>
            <a:picLocks noChangeAspect="1"/>
          </p:cNvPicPr>
          <p:nvPr/>
        </p:nvPicPr>
        <p:blipFill>
          <a:blip r:embed="rId3"/>
          <a:stretch>
            <a:fillRect/>
          </a:stretch>
        </p:blipFill>
        <p:spPr>
          <a:xfrm>
            <a:off x="1758320" y="4862367"/>
            <a:ext cx="8675360" cy="167654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区块头</a:t>
            </a:r>
          </a:p>
        </p:txBody>
      </p:sp>
      <p:sp>
        <p:nvSpPr>
          <p:cNvPr id="3" name="内容占位符 2"/>
          <p:cNvSpPr>
            <a:spLocks noGrp="1"/>
          </p:cNvSpPr>
          <p:nvPr>
            <p:ph idx="1"/>
          </p:nvPr>
        </p:nvSpPr>
        <p:spPr>
          <a:xfrm>
            <a:off x="838200" y="1510758"/>
            <a:ext cx="9888940" cy="4845592"/>
          </a:xfrm>
        </p:spPr>
        <p:txBody>
          <a:bodyPr>
            <a:normAutofit fontScale="92500" lnSpcReduction="20000"/>
          </a:bodyPr>
          <a:lstStyle/>
          <a:p>
            <a:pPr fontAlgn="auto">
              <a:lnSpc>
                <a:spcPct val="130000"/>
              </a:lnSpc>
            </a:pPr>
            <a:r>
              <a:rPr lang="zh-CN" altLang="en-US" dirty="0"/>
              <a:t>定义与作用</a:t>
            </a:r>
            <a:endParaRPr lang="en-US" altLang="zh-CN" dirty="0"/>
          </a:p>
          <a:p>
            <a:pPr lvl="1">
              <a:lnSpc>
                <a:spcPct val="130000"/>
              </a:lnSpc>
            </a:pPr>
            <a:r>
              <a:rPr lang="zh-CN" altLang="en-US" dirty="0"/>
              <a:t>存放区块信息。</a:t>
            </a:r>
            <a:endParaRPr lang="en-US" altLang="zh-CN" dirty="0"/>
          </a:p>
          <a:p>
            <a:pPr lvl="1">
              <a:lnSpc>
                <a:spcPct val="130000"/>
              </a:lnSpc>
            </a:pPr>
            <a:r>
              <a:rPr lang="zh-CN" altLang="en-US" dirty="0"/>
              <a:t>作为区块的摘要在网络间进行传输。</a:t>
            </a:r>
            <a:endParaRPr lang="en-US" altLang="zh-CN" dirty="0"/>
          </a:p>
          <a:p>
            <a:pPr>
              <a:lnSpc>
                <a:spcPct val="130000"/>
              </a:lnSpc>
            </a:pPr>
            <a:r>
              <a:rPr lang="zh-CN" altLang="en-US" dirty="0"/>
              <a:t>组成</a:t>
            </a:r>
            <a:endParaRPr lang="en-US" altLang="zh-CN" dirty="0"/>
          </a:p>
          <a:p>
            <a:pPr lvl="1">
              <a:lnSpc>
                <a:spcPct val="130000"/>
              </a:lnSpc>
            </a:pPr>
            <a:r>
              <a:rPr lang="zh-CN" altLang="en-US" dirty="0"/>
              <a:t>区块版本。</a:t>
            </a:r>
            <a:endParaRPr lang="en-US" altLang="zh-CN" dirty="0"/>
          </a:p>
          <a:p>
            <a:pPr lvl="1">
              <a:lnSpc>
                <a:spcPct val="130000"/>
              </a:lnSpc>
            </a:pPr>
            <a:r>
              <a:rPr lang="zh-CN" altLang="en-US" dirty="0"/>
              <a:t>前一个区块的哈希。</a:t>
            </a:r>
            <a:endParaRPr lang="en-US" altLang="zh-CN" dirty="0"/>
          </a:p>
          <a:p>
            <a:pPr lvl="1">
              <a:lnSpc>
                <a:spcPct val="130000"/>
              </a:lnSpc>
            </a:pPr>
            <a:r>
              <a:rPr lang="zh-CN" altLang="en-US" dirty="0"/>
              <a:t>交易哈希：交易列表的哈希值。</a:t>
            </a:r>
            <a:endParaRPr lang="en-US" altLang="zh-CN" dirty="0"/>
          </a:p>
          <a:p>
            <a:pPr lvl="1">
              <a:lnSpc>
                <a:spcPct val="130000"/>
              </a:lnSpc>
            </a:pPr>
            <a:r>
              <a:rPr lang="zh-CN" altLang="en-US" dirty="0"/>
              <a:t>产生的时间。</a:t>
            </a:r>
            <a:endParaRPr lang="en-US" altLang="zh-CN" dirty="0"/>
          </a:p>
          <a:p>
            <a:pPr lvl="1">
              <a:lnSpc>
                <a:spcPct val="130000"/>
              </a:lnSpc>
            </a:pPr>
            <a:r>
              <a:rPr lang="zh-CN" altLang="en-US" dirty="0"/>
              <a:t>难度信息：区块产生的门槛难度。</a:t>
            </a:r>
            <a:endParaRPr lang="en-US" altLang="zh-CN" dirty="0"/>
          </a:p>
          <a:p>
            <a:pPr lvl="1">
              <a:lnSpc>
                <a:spcPct val="130000"/>
              </a:lnSpc>
            </a:pPr>
            <a:r>
              <a:rPr lang="en-US" altLang="zh-CN" dirty="0"/>
              <a:t>Nonce</a:t>
            </a:r>
            <a:r>
              <a:rPr lang="zh-CN" altLang="en-US" dirty="0"/>
              <a:t>值：用于动态调整以产生满足门槛条件的合法区块。</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47</a:t>
            </a:fld>
            <a:endParaRPr kumimoji="1"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endParaRPr kumimoji="1" lang="zh-CN" altLang="en-US" dirty="0">
              <a:solidFill>
                <a:prstClr val="black"/>
              </a:solidFill>
            </a:endParaRP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比特币的区块头数据结构</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48</a:t>
            </a:fld>
            <a:endParaRPr kumimoji="1" lang="zh-CN" altLang="en-US" dirty="0"/>
          </a:p>
        </p:txBody>
      </p:sp>
      <p:graphicFrame>
        <p:nvGraphicFramePr>
          <p:cNvPr id="4" name="表格 3"/>
          <p:cNvGraphicFramePr>
            <a:graphicFrameLocks noGrp="1"/>
          </p:cNvGraphicFramePr>
          <p:nvPr/>
        </p:nvGraphicFramePr>
        <p:xfrm>
          <a:off x="1933073" y="2348564"/>
          <a:ext cx="8325853" cy="4007785"/>
        </p:xfrm>
        <a:graphic>
          <a:graphicData uri="http://schemas.openxmlformats.org/drawingml/2006/table">
            <a:tbl>
              <a:tblPr firstRow="1" firstCol="1" bandRow="1">
                <a:tableStyleId>{5C22544A-7EE6-4342-B048-85BDC9FD1C3A}</a:tableStyleId>
              </a:tblPr>
              <a:tblGrid>
                <a:gridCol w="2654715">
                  <a:extLst>
                    <a:ext uri="{9D8B030D-6E8A-4147-A177-3AD203B41FA5}">
                      <a16:colId xmlns:a16="http://schemas.microsoft.com/office/drawing/2014/main" val="20000"/>
                    </a:ext>
                  </a:extLst>
                </a:gridCol>
                <a:gridCol w="1694498">
                  <a:extLst>
                    <a:ext uri="{9D8B030D-6E8A-4147-A177-3AD203B41FA5}">
                      <a16:colId xmlns:a16="http://schemas.microsoft.com/office/drawing/2014/main" val="20001"/>
                    </a:ext>
                  </a:extLst>
                </a:gridCol>
                <a:gridCol w="3976640">
                  <a:extLst>
                    <a:ext uri="{9D8B030D-6E8A-4147-A177-3AD203B41FA5}">
                      <a16:colId xmlns:a16="http://schemas.microsoft.com/office/drawing/2014/main" val="20002"/>
                    </a:ext>
                  </a:extLst>
                </a:gridCol>
              </a:tblGrid>
              <a:tr h="444106">
                <a:tc gridSpan="3">
                  <a:txBody>
                    <a:bodyPr/>
                    <a:lstStyle/>
                    <a:p>
                      <a:pPr algn="ctr">
                        <a:spcAft>
                          <a:spcPts val="0"/>
                        </a:spcAft>
                      </a:pPr>
                      <a:r>
                        <a:rPr lang="zh-CN" sz="1800" kern="100" dirty="0">
                          <a:solidFill>
                            <a:schemeClr val="tx1"/>
                          </a:solidFill>
                          <a:effectLst/>
                        </a:rPr>
                        <a:t>表</a:t>
                      </a:r>
                      <a:r>
                        <a:rPr lang="en-US" sz="1800" kern="100" dirty="0">
                          <a:solidFill>
                            <a:schemeClr val="tx1"/>
                          </a:solidFill>
                          <a:effectLst/>
                        </a:rPr>
                        <a:t>2.5  </a:t>
                      </a:r>
                      <a:r>
                        <a:rPr lang="zh-CN" sz="1800" kern="100" dirty="0">
                          <a:solidFill>
                            <a:schemeClr val="tx1"/>
                          </a:solidFill>
                          <a:effectLst/>
                        </a:rPr>
                        <a:t>比特币的区块头数据结构</a:t>
                      </a:r>
                      <a:endParaRPr lang="zh-CN" sz="18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509097">
                <a:tc>
                  <a:txBody>
                    <a:bodyPr/>
                    <a:lstStyle/>
                    <a:p>
                      <a:pPr indent="-12065" algn="ctr">
                        <a:spcAft>
                          <a:spcPts val="0"/>
                        </a:spcAft>
                      </a:pPr>
                      <a:r>
                        <a:rPr lang="zh-CN" sz="1800" kern="1050" dirty="0">
                          <a:solidFill>
                            <a:schemeClr val="tx1"/>
                          </a:solidFill>
                          <a:effectLst/>
                        </a:rPr>
                        <a:t>源码中的命名</a:t>
                      </a:r>
                      <a:endParaRPr lang="zh-CN" sz="18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zh-CN" sz="1800" kern="1050">
                          <a:effectLst/>
                        </a:rPr>
                        <a:t>大小（字节）</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zh-CN" sz="1800" kern="1050">
                          <a:effectLst/>
                        </a:rPr>
                        <a:t>说明</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001"/>
                  </a:ext>
                </a:extLst>
              </a:tr>
              <a:tr h="509097">
                <a:tc>
                  <a:txBody>
                    <a:bodyPr/>
                    <a:lstStyle/>
                    <a:p>
                      <a:pPr indent="-12065" algn="ctr">
                        <a:spcAft>
                          <a:spcPts val="0"/>
                        </a:spcAft>
                      </a:pPr>
                      <a:r>
                        <a:rPr lang="en-US" sz="1800" kern="1050" dirty="0" err="1">
                          <a:solidFill>
                            <a:schemeClr val="tx1"/>
                          </a:solidFill>
                          <a:effectLst/>
                        </a:rPr>
                        <a:t>nVersion</a:t>
                      </a:r>
                      <a:endParaRPr lang="zh-CN" sz="18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en-US" sz="1800" kern="1050">
                          <a:effectLst/>
                        </a:rPr>
                        <a:t>4</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zh-CN" sz="1800" kern="1050">
                          <a:effectLst/>
                        </a:rPr>
                        <a:t>区块遵守的版本</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002"/>
                  </a:ext>
                </a:extLst>
              </a:tr>
              <a:tr h="509097">
                <a:tc>
                  <a:txBody>
                    <a:bodyPr/>
                    <a:lstStyle/>
                    <a:p>
                      <a:pPr indent="-12065" algn="ctr">
                        <a:spcAft>
                          <a:spcPts val="0"/>
                        </a:spcAft>
                      </a:pPr>
                      <a:r>
                        <a:rPr lang="en-US" sz="1800" kern="1050" dirty="0" err="1">
                          <a:solidFill>
                            <a:schemeClr val="tx1"/>
                          </a:solidFill>
                          <a:effectLst/>
                        </a:rPr>
                        <a:t>hashPrevBlock</a:t>
                      </a:r>
                      <a:endParaRPr lang="zh-CN" sz="18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en-US" sz="1800" kern="1050">
                          <a:effectLst/>
                        </a:rPr>
                        <a:t>32</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zh-CN" sz="1800" kern="1050">
                          <a:effectLst/>
                        </a:rPr>
                        <a:t>前一区块的哈希值</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003"/>
                  </a:ext>
                </a:extLst>
              </a:tr>
              <a:tr h="509097">
                <a:tc>
                  <a:txBody>
                    <a:bodyPr/>
                    <a:lstStyle/>
                    <a:p>
                      <a:pPr indent="-12065" algn="ctr">
                        <a:spcAft>
                          <a:spcPts val="0"/>
                        </a:spcAft>
                      </a:pPr>
                      <a:r>
                        <a:rPr lang="en-US" sz="1800" kern="1050" dirty="0" err="1">
                          <a:solidFill>
                            <a:schemeClr val="tx1"/>
                          </a:solidFill>
                          <a:effectLst/>
                        </a:rPr>
                        <a:t>hashMerkleRoot</a:t>
                      </a:r>
                      <a:endParaRPr lang="zh-CN" sz="18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en-US" sz="1800" kern="1050">
                          <a:effectLst/>
                        </a:rPr>
                        <a:t>32</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zh-CN" sz="1800" kern="1050">
                          <a:effectLst/>
                        </a:rPr>
                        <a:t>区块中交易列表的哈希值</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004"/>
                  </a:ext>
                </a:extLst>
              </a:tr>
              <a:tr h="509097">
                <a:tc>
                  <a:txBody>
                    <a:bodyPr/>
                    <a:lstStyle/>
                    <a:p>
                      <a:pPr indent="-12065" algn="ctr">
                        <a:spcAft>
                          <a:spcPts val="0"/>
                        </a:spcAft>
                      </a:pPr>
                      <a:r>
                        <a:rPr lang="en-US" sz="1800" kern="1050" dirty="0" err="1">
                          <a:solidFill>
                            <a:schemeClr val="tx1"/>
                          </a:solidFill>
                          <a:effectLst/>
                        </a:rPr>
                        <a:t>nTime</a:t>
                      </a:r>
                      <a:endParaRPr lang="zh-CN" sz="18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en-US" sz="1800" kern="1050">
                          <a:effectLst/>
                        </a:rPr>
                        <a:t>4</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zh-CN" sz="1800" kern="1050">
                          <a:effectLst/>
                        </a:rPr>
                        <a:t>产生区块的时间</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005"/>
                  </a:ext>
                </a:extLst>
              </a:tr>
              <a:tr h="509097">
                <a:tc>
                  <a:txBody>
                    <a:bodyPr/>
                    <a:lstStyle/>
                    <a:p>
                      <a:pPr indent="-12065" algn="ctr">
                        <a:spcAft>
                          <a:spcPts val="0"/>
                        </a:spcAft>
                      </a:pPr>
                      <a:r>
                        <a:rPr lang="en-US" sz="1800" kern="1050" dirty="0" err="1">
                          <a:solidFill>
                            <a:schemeClr val="tx1"/>
                          </a:solidFill>
                          <a:effectLst/>
                        </a:rPr>
                        <a:t>nBits</a:t>
                      </a:r>
                      <a:endParaRPr lang="zh-CN" sz="18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en-US" sz="1800" kern="1050">
                          <a:effectLst/>
                        </a:rPr>
                        <a:t>4</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zh-CN" sz="1800" kern="1050">
                          <a:effectLst/>
                        </a:rPr>
                        <a:t>区块产生的难度目标</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006"/>
                  </a:ext>
                </a:extLst>
              </a:tr>
              <a:tr h="509097">
                <a:tc>
                  <a:txBody>
                    <a:bodyPr/>
                    <a:lstStyle/>
                    <a:p>
                      <a:pPr indent="-12065" algn="ctr">
                        <a:spcAft>
                          <a:spcPts val="0"/>
                        </a:spcAft>
                      </a:pPr>
                      <a:r>
                        <a:rPr lang="en-US" sz="1800" kern="1050" dirty="0" err="1">
                          <a:solidFill>
                            <a:schemeClr val="tx1"/>
                          </a:solidFill>
                          <a:effectLst/>
                        </a:rPr>
                        <a:t>nNonce</a:t>
                      </a:r>
                      <a:endParaRPr lang="zh-CN" sz="1800" kern="100" dirty="0">
                        <a:solidFill>
                          <a:schemeClr val="tx1"/>
                        </a:solidFill>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en-US" sz="1800" kern="1050">
                          <a:effectLst/>
                        </a:rPr>
                        <a:t>4</a:t>
                      </a:r>
                      <a:endParaRPr lang="zh-CN" sz="1800" kern="100">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tc>
                  <a:txBody>
                    <a:bodyPr/>
                    <a:lstStyle/>
                    <a:p>
                      <a:pPr indent="-12065" algn="ctr">
                        <a:spcAft>
                          <a:spcPts val="0"/>
                        </a:spcAft>
                      </a:pPr>
                      <a:r>
                        <a:rPr lang="zh-CN" sz="1800" kern="1050" dirty="0">
                          <a:effectLst/>
                        </a:rPr>
                        <a:t>凑齐难度目标的一个随机数</a:t>
                      </a:r>
                      <a:endParaRPr lang="zh-CN" sz="1800" kern="100" dirty="0">
                        <a:effectLst/>
                        <a:latin typeface="Calibri" panose="020F0502020204030204" pitchFamily="34" charset="0"/>
                        <a:ea typeface="宋体"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en-US" altLang="zh-CN" dirty="0">
                <a:solidFill>
                  <a:prstClr val="black"/>
                </a:solidFill>
              </a:rPr>
              <a:t>Merkle</a:t>
            </a:r>
            <a:r>
              <a:rPr kumimoji="1" lang="zh-CN" altLang="en-US" dirty="0">
                <a:solidFill>
                  <a:prstClr val="black"/>
                </a:solidFill>
              </a:rPr>
              <a:t>树</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背景</a:t>
            </a:r>
            <a:endParaRPr lang="en-US" altLang="zh-CN" dirty="0"/>
          </a:p>
          <a:p>
            <a:pPr lvl="1">
              <a:lnSpc>
                <a:spcPct val="130000"/>
              </a:lnSpc>
            </a:pPr>
            <a:r>
              <a:rPr lang="zh-CN" altLang="en-US" dirty="0"/>
              <a:t>在区块头中，保存了区块中交易列表的哈希值。</a:t>
            </a:r>
            <a:endParaRPr lang="en-US" altLang="zh-CN" dirty="0"/>
          </a:p>
          <a:p>
            <a:pPr lvl="1">
              <a:lnSpc>
                <a:spcPct val="130000"/>
              </a:lnSpc>
            </a:pPr>
            <a:r>
              <a:rPr lang="zh-CN" altLang="en-US" dirty="0"/>
              <a:t>当交易被篡改，则会得到完全不同的哈希值。</a:t>
            </a:r>
            <a:endParaRPr lang="en-US" altLang="zh-CN" dirty="0"/>
          </a:p>
          <a:p>
            <a:pPr>
              <a:lnSpc>
                <a:spcPct val="130000"/>
              </a:lnSpc>
            </a:pPr>
            <a:r>
              <a:rPr lang="zh-CN" altLang="en-US" dirty="0"/>
              <a:t>对整个交易列表进行哈希</a:t>
            </a:r>
            <a:endParaRPr lang="en-US" altLang="zh-CN" dirty="0"/>
          </a:p>
          <a:p>
            <a:pPr lvl="1">
              <a:lnSpc>
                <a:spcPct val="130000"/>
              </a:lnSpc>
            </a:pPr>
            <a:r>
              <a:rPr lang="zh-CN" altLang="en-US" dirty="0"/>
              <a:t>不能够定位到具体出错的交易。</a:t>
            </a:r>
            <a:endParaRPr lang="en-US" altLang="zh-CN" dirty="0"/>
          </a:p>
          <a:p>
            <a:pPr lvl="1">
              <a:lnSpc>
                <a:spcPct val="130000"/>
              </a:lnSpc>
            </a:pPr>
            <a:r>
              <a:rPr lang="zh-CN" altLang="en-US" dirty="0"/>
              <a:t>更换列表中的交易时，需要对所有的交易进行重新哈希。</a:t>
            </a:r>
            <a:endParaRPr lang="en-US" altLang="zh-CN" dirty="0"/>
          </a:p>
          <a:p>
            <a:pPr lvl="1">
              <a:lnSpc>
                <a:spcPct val="130000"/>
              </a:lnSpc>
            </a:pPr>
            <a:r>
              <a:rPr lang="zh-CN" altLang="en-US" dirty="0"/>
              <a:t>必须掌握所有的交易才能够计算交易列表的哈希值。</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49</a:t>
            </a:fld>
            <a:endParaRPr kumimoji="1" lang="zh-CN" altLang="en-US" dirty="0"/>
          </a:p>
        </p:txBody>
      </p:sp>
      <p:pic>
        <p:nvPicPr>
          <p:cNvPr id="6" name="图片 5"/>
          <p:cNvPicPr>
            <a:picLocks noChangeAspect="1"/>
          </p:cNvPicPr>
          <p:nvPr/>
        </p:nvPicPr>
        <p:blipFill>
          <a:blip r:embed="rId3"/>
          <a:stretch>
            <a:fillRect/>
          </a:stretch>
        </p:blipFill>
        <p:spPr>
          <a:xfrm>
            <a:off x="7653658" y="3119098"/>
            <a:ext cx="4143487" cy="124981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endParaRPr kumimoji="1" lang="zh-CN" altLang="en-US" dirty="0">
              <a:solidFill>
                <a:prstClr val="black"/>
              </a:solidFill>
            </a:endParaRP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利用</a:t>
            </a:r>
            <a:r>
              <a:rPr lang="en-US" altLang="zh-CN" dirty="0"/>
              <a:t>Merkle</a:t>
            </a:r>
            <a:r>
              <a:rPr lang="zh-CN" altLang="en-US" dirty="0"/>
              <a:t>树计算哈希值</a:t>
            </a:r>
            <a:endParaRPr lang="en-US" altLang="zh-CN" dirty="0"/>
          </a:p>
          <a:p>
            <a:pPr lvl="1">
              <a:lnSpc>
                <a:spcPct val="130000"/>
              </a:lnSpc>
            </a:pPr>
            <a:r>
              <a:rPr lang="zh-CN" altLang="en-US" dirty="0"/>
              <a:t>对列表中的每一个交易计算哈希值。</a:t>
            </a:r>
            <a:endParaRPr lang="en-US" altLang="zh-CN" dirty="0"/>
          </a:p>
          <a:p>
            <a:pPr lvl="1">
              <a:lnSpc>
                <a:spcPct val="130000"/>
              </a:lnSpc>
            </a:pPr>
            <a:r>
              <a:rPr lang="zh-CN" altLang="en-US" dirty="0"/>
              <a:t>进行两两配对，计算两者的哈希值，形成上一层的哈希列表。</a:t>
            </a:r>
            <a:endParaRPr lang="en-US" altLang="zh-CN" dirty="0"/>
          </a:p>
          <a:p>
            <a:pPr lvl="1">
              <a:lnSpc>
                <a:spcPct val="130000"/>
              </a:lnSpc>
            </a:pPr>
            <a:r>
              <a:rPr lang="zh-CN" altLang="en-US" dirty="0"/>
              <a:t>逐层计算直到得到最后的交易列表哈希值。</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50</a:t>
            </a:fld>
            <a:endParaRPr kumimoji="1"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endParaRPr kumimoji="1" lang="zh-CN" altLang="en-US" dirty="0">
              <a:solidFill>
                <a:prstClr val="black"/>
              </a:solidFill>
            </a:endParaRP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交易哈希值校验</a:t>
            </a:r>
            <a:endParaRPr lang="en-US" altLang="zh-CN" dirty="0"/>
          </a:p>
          <a:p>
            <a:pPr lvl="1">
              <a:lnSpc>
                <a:spcPct val="130000"/>
              </a:lnSpc>
            </a:pPr>
            <a:r>
              <a:rPr lang="en-US" altLang="zh-CN" dirty="0"/>
              <a:t>Merkle </a:t>
            </a:r>
            <a:r>
              <a:rPr lang="zh-CN" altLang="en-US" dirty="0"/>
              <a:t>树能够实现对交易列表的哈希值校验，确保列表中的元素不会被修改。</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51</a:t>
            </a:fld>
            <a:endParaRPr kumimoji="1" lang="zh-CN" altLang="en-US" dirty="0"/>
          </a:p>
        </p:txBody>
      </p:sp>
      <p:pic>
        <p:nvPicPr>
          <p:cNvPr id="5" name="图片 4"/>
          <p:cNvPicPr>
            <a:picLocks noChangeAspect="1"/>
          </p:cNvPicPr>
          <p:nvPr/>
        </p:nvPicPr>
        <p:blipFill>
          <a:blip r:embed="rId3"/>
          <a:stretch>
            <a:fillRect/>
          </a:stretch>
        </p:blipFill>
        <p:spPr>
          <a:xfrm>
            <a:off x="3442849" y="3052714"/>
            <a:ext cx="7284291" cy="3304957"/>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endParaRPr kumimoji="1" lang="zh-CN" altLang="en-US" dirty="0">
              <a:solidFill>
                <a:prstClr val="black"/>
              </a:solidFill>
            </a:endParaRP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快速重新计算</a:t>
            </a:r>
            <a:endParaRPr lang="en-US" altLang="zh-CN" dirty="0"/>
          </a:p>
          <a:p>
            <a:pPr lvl="1">
              <a:lnSpc>
                <a:spcPct val="130000"/>
              </a:lnSpc>
            </a:pPr>
            <a:r>
              <a:rPr lang="zh-CN" altLang="en-US" dirty="0"/>
              <a:t>利用前一次计算得到的哈希值，只对被修改的树节点进行哈希重计算。</a:t>
            </a:r>
            <a:endParaRPr lang="en-US" altLang="zh-CN" dirty="0"/>
          </a:p>
          <a:p>
            <a:pPr lvl="1">
              <a:lnSpc>
                <a:spcPct val="130000"/>
              </a:lnSpc>
            </a:pPr>
            <a:r>
              <a:rPr lang="zh-CN" altLang="en-US" dirty="0"/>
              <a:t>得到一个新的根哈希用来代表整棵树的状态。</a:t>
            </a:r>
            <a:endParaRPr lang="en-US" altLang="zh-CN" dirty="0"/>
          </a:p>
          <a:p>
            <a:pPr>
              <a:lnSpc>
                <a:spcPct val="130000"/>
              </a:lnSpc>
            </a:pPr>
            <a:r>
              <a:rPr lang="en-US" altLang="zh-CN" dirty="0"/>
              <a:t>Merkle </a:t>
            </a:r>
            <a:r>
              <a:rPr lang="zh-CN" altLang="en-US" dirty="0"/>
              <a:t>树分支和轻节点验证</a:t>
            </a:r>
            <a:endParaRPr lang="en-US" altLang="zh-CN" dirty="0">
              <a:solidFill>
                <a:srgbClr val="C00000"/>
              </a:solidFill>
            </a:endParaRPr>
          </a:p>
          <a:p>
            <a:pPr lvl="1"/>
            <a:r>
              <a:rPr lang="zh-CN" altLang="en-US" dirty="0"/>
              <a:t>通过提供特定的叶子节点来完成对列表中任意一个元素的哈希证明。</a:t>
            </a:r>
            <a:endParaRPr lang="en-US" altLang="zh-CN" dirty="0"/>
          </a:p>
          <a:p>
            <a:pPr lvl="1"/>
            <a:r>
              <a:rPr lang="zh-CN" altLang="en-US" dirty="0"/>
              <a:t>从而避免对列表全部元素的访问。</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52</a:t>
            </a:fld>
            <a:endParaRPr kumimoji="1"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endParaRPr kumimoji="1" lang="zh-CN" altLang="en-US" dirty="0">
              <a:solidFill>
                <a:prstClr val="black"/>
              </a:solidFill>
            </a:endParaRPr>
          </a:p>
        </p:txBody>
      </p:sp>
      <p:sp>
        <p:nvSpPr>
          <p:cNvPr id="3" name="内容占位符 2"/>
          <p:cNvSpPr>
            <a:spLocks noGrp="1"/>
          </p:cNvSpPr>
          <p:nvPr>
            <p:ph idx="1"/>
          </p:nvPr>
        </p:nvSpPr>
        <p:spPr>
          <a:xfrm>
            <a:off x="838200" y="1510758"/>
            <a:ext cx="9888940" cy="4845592"/>
          </a:xfrm>
        </p:spPr>
        <p:txBody>
          <a:bodyPr>
            <a:normAutofit/>
          </a:bodyPr>
          <a:lstStyle/>
          <a:p>
            <a:pPr>
              <a:lnSpc>
                <a:spcPct val="130000"/>
              </a:lnSpc>
            </a:pPr>
            <a:r>
              <a:rPr lang="en-US" altLang="zh-CN" dirty="0"/>
              <a:t>Merkle </a:t>
            </a:r>
            <a:r>
              <a:rPr lang="zh-CN" altLang="en-US" dirty="0"/>
              <a:t>树分支和轻节点验证</a:t>
            </a:r>
            <a:endParaRPr lang="en-US" altLang="zh-CN" dirty="0"/>
          </a:p>
          <a:p>
            <a:pPr lvl="1"/>
            <a:r>
              <a:rPr lang="zh-CN" altLang="en-US" dirty="0"/>
              <a:t>假设我们需要验证交易</a:t>
            </a:r>
            <a:r>
              <a:rPr lang="en-US" altLang="zh-CN" dirty="0"/>
              <a:t>2 </a:t>
            </a:r>
            <a:r>
              <a:rPr lang="zh-CN" altLang="en-US" dirty="0"/>
              <a:t>是否合法，只需要提供</a:t>
            </a:r>
            <a:r>
              <a:rPr lang="en-US" altLang="zh-CN" dirty="0"/>
              <a:t>Hash</a:t>
            </a:r>
            <a:r>
              <a:rPr lang="en-US" altLang="zh-CN" baseline="-25000" dirty="0"/>
              <a:t>1</a:t>
            </a:r>
            <a:r>
              <a:rPr lang="zh-CN" altLang="en-US" dirty="0"/>
              <a:t>和</a:t>
            </a:r>
            <a:r>
              <a:rPr lang="en-US" altLang="zh-CN" dirty="0"/>
              <a:t>Hash</a:t>
            </a:r>
            <a:r>
              <a:rPr lang="en-US" altLang="zh-CN" baseline="-25000" dirty="0"/>
              <a:t>34</a:t>
            </a:r>
            <a:r>
              <a:rPr lang="zh-CN" altLang="en-US" dirty="0"/>
              <a:t>即可完成。</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53</a:t>
            </a:fld>
            <a:endParaRPr kumimoji="1" lang="zh-CN" altLang="en-US" dirty="0"/>
          </a:p>
        </p:txBody>
      </p:sp>
      <p:pic>
        <p:nvPicPr>
          <p:cNvPr id="5" name="图片 4"/>
          <p:cNvPicPr>
            <a:picLocks noChangeAspect="1"/>
          </p:cNvPicPr>
          <p:nvPr/>
        </p:nvPicPr>
        <p:blipFill>
          <a:blip r:embed="rId3"/>
          <a:stretch>
            <a:fillRect/>
          </a:stretch>
        </p:blipFill>
        <p:spPr>
          <a:xfrm>
            <a:off x="3771305" y="2932353"/>
            <a:ext cx="4022729" cy="3423997"/>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区块链</a:t>
            </a:r>
          </a:p>
        </p:txBody>
      </p:sp>
      <p:sp>
        <p:nvSpPr>
          <p:cNvPr id="3" name="内容占位符 2"/>
          <p:cNvSpPr>
            <a:spLocks noGrp="1"/>
          </p:cNvSpPr>
          <p:nvPr>
            <p:ph idx="1"/>
          </p:nvPr>
        </p:nvSpPr>
        <p:spPr>
          <a:xfrm>
            <a:off x="838200" y="1510758"/>
            <a:ext cx="9888940" cy="4845592"/>
          </a:xfrm>
        </p:spPr>
        <p:txBody>
          <a:bodyPr>
            <a:normAutofit/>
          </a:bodyPr>
          <a:lstStyle/>
          <a:p>
            <a:pPr>
              <a:lnSpc>
                <a:spcPct val="130000"/>
              </a:lnSpc>
            </a:pPr>
            <a:r>
              <a:rPr lang="zh-CN" altLang="en-US" dirty="0"/>
              <a:t>背景</a:t>
            </a:r>
            <a:endParaRPr lang="en-US" altLang="zh-CN" dirty="0"/>
          </a:p>
          <a:p>
            <a:pPr lvl="1"/>
            <a:r>
              <a:rPr lang="zh-CN" altLang="en-US" dirty="0"/>
              <a:t>区块头中，包含一个特定的哈希值，用来指向上一个区块。</a:t>
            </a:r>
            <a:endParaRPr lang="en-US" altLang="zh-CN" dirty="0"/>
          </a:p>
          <a:p>
            <a:pPr lvl="1"/>
            <a:r>
              <a:rPr lang="zh-CN" altLang="en-US" dirty="0"/>
              <a:t>第一个区块被称为创世区块。</a:t>
            </a:r>
            <a:endParaRPr lang="en-US" altLang="zh-CN" dirty="0"/>
          </a:p>
          <a:p>
            <a:pPr lvl="1"/>
            <a:r>
              <a:rPr lang="zh-CN" altLang="en-US" dirty="0"/>
              <a:t>当前区块的高度</a:t>
            </a:r>
            <a:endParaRPr lang="en-US" altLang="zh-CN" dirty="0"/>
          </a:p>
          <a:p>
            <a:pPr lvl="2"/>
            <a:r>
              <a:rPr lang="zh-CN" altLang="en-US" dirty="0"/>
              <a:t>创世区块开始到当前区块包含的区块数量</a:t>
            </a:r>
            <a:endParaRPr lang="en-US" altLang="zh-CN" dirty="0"/>
          </a:p>
          <a:p>
            <a:pPr lvl="1"/>
            <a:r>
              <a:rPr lang="zh-CN" altLang="en-US" dirty="0"/>
              <a:t>当区块链的中间一个区块受到恶意篡改时，就必须修改后面一个区块的内容。</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54</a:t>
            </a:fld>
            <a:endParaRPr kumimoji="1" lang="zh-CN" altLang="en-US" dirty="0"/>
          </a:p>
        </p:txBody>
      </p:sp>
      <p:pic>
        <p:nvPicPr>
          <p:cNvPr id="6" name="图片 5"/>
          <p:cNvPicPr>
            <a:picLocks noChangeAspect="1"/>
          </p:cNvPicPr>
          <p:nvPr/>
        </p:nvPicPr>
        <p:blipFill>
          <a:blip r:embed="rId3"/>
          <a:stretch>
            <a:fillRect/>
          </a:stretch>
        </p:blipFill>
        <p:spPr>
          <a:xfrm>
            <a:off x="3276197" y="4548875"/>
            <a:ext cx="6560822" cy="21726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2.1 </a:t>
            </a:r>
            <a:r>
              <a:rPr kumimoji="1" lang="zh-CN" altLang="en-US" dirty="0"/>
              <a:t>比特币简介</a:t>
            </a:r>
            <a:endParaRPr kumimoji="1" lang="en-US" altLang="zh-CN" dirty="0"/>
          </a:p>
          <a:p>
            <a:pPr marL="0" indent="0">
              <a:lnSpc>
                <a:spcPct val="130000"/>
              </a:lnSpc>
              <a:buNone/>
            </a:pPr>
            <a:r>
              <a:rPr kumimoji="1" lang="en-US" altLang="zh-CN" dirty="0"/>
              <a:t>2.2 </a:t>
            </a:r>
            <a:r>
              <a:rPr kumimoji="1" lang="zh-CN" altLang="en-US" dirty="0"/>
              <a:t>基础知识</a:t>
            </a:r>
            <a:r>
              <a:rPr kumimoji="1" lang="en-US" altLang="zh-CN" dirty="0"/>
              <a:t> </a:t>
            </a:r>
          </a:p>
          <a:p>
            <a:pPr marL="0" indent="0">
              <a:lnSpc>
                <a:spcPct val="130000"/>
              </a:lnSpc>
              <a:buNone/>
            </a:pPr>
            <a:r>
              <a:rPr kumimoji="1" lang="en-US" altLang="zh-CN" dirty="0"/>
              <a:t>2.3 </a:t>
            </a:r>
            <a:r>
              <a:rPr kumimoji="1" lang="zh-CN" altLang="en-US" dirty="0"/>
              <a:t>交易</a:t>
            </a:r>
            <a:endParaRPr kumimoji="1" lang="en-US" altLang="zh-CN" dirty="0"/>
          </a:p>
          <a:p>
            <a:pPr marL="0" indent="0">
              <a:lnSpc>
                <a:spcPct val="130000"/>
              </a:lnSpc>
              <a:buNone/>
            </a:pPr>
            <a:r>
              <a:rPr kumimoji="1" lang="en-US" altLang="zh-CN" dirty="0"/>
              <a:t>2.4 </a:t>
            </a:r>
            <a:r>
              <a:rPr kumimoji="1" lang="zh-CN" altLang="en-US" dirty="0"/>
              <a:t>脚本系统</a:t>
            </a:r>
            <a:endParaRPr kumimoji="1" lang="en-US" altLang="zh-CN" dirty="0"/>
          </a:p>
          <a:p>
            <a:pPr marL="0" indent="0">
              <a:lnSpc>
                <a:spcPct val="130000"/>
              </a:lnSpc>
              <a:buNone/>
            </a:pPr>
            <a:r>
              <a:rPr kumimoji="1" lang="en-US" altLang="zh-CN" dirty="0"/>
              <a:t>2.5 </a:t>
            </a:r>
            <a:r>
              <a:rPr kumimoji="1" lang="zh-CN" altLang="en-US" dirty="0"/>
              <a:t>公私密钥与地址</a:t>
            </a:r>
            <a:endParaRPr kumimoji="1" lang="en-US" altLang="zh-CN" dirty="0"/>
          </a:p>
          <a:p>
            <a:pPr marL="0" indent="0">
              <a:lnSpc>
                <a:spcPct val="130000"/>
              </a:lnSpc>
              <a:buNone/>
            </a:pPr>
            <a:r>
              <a:rPr kumimoji="1" lang="en-US" altLang="zh-CN" dirty="0"/>
              <a:t>2.6 </a:t>
            </a:r>
            <a:r>
              <a:rPr kumimoji="1" lang="zh-CN" altLang="en-US" dirty="0"/>
              <a:t>区块与链</a:t>
            </a:r>
            <a:endParaRPr kumimoji="1" lang="en-US" altLang="zh-CN" dirty="0"/>
          </a:p>
          <a:p>
            <a:pPr marL="0" indent="0">
              <a:lnSpc>
                <a:spcPct val="130000"/>
              </a:lnSpc>
              <a:buNone/>
            </a:pPr>
            <a:r>
              <a:rPr kumimoji="1" lang="en-US" altLang="zh-CN" dirty="0">
                <a:solidFill>
                  <a:srgbClr val="C00000"/>
                </a:solidFill>
              </a:rPr>
              <a:t>2.7 </a:t>
            </a:r>
            <a:r>
              <a:rPr kumimoji="1" lang="zh-CN" altLang="en-US" dirty="0">
                <a:solidFill>
                  <a:srgbClr val="C00000"/>
                </a:solidFill>
              </a:rPr>
              <a:t>共识</a:t>
            </a:r>
            <a:endParaRPr kumimoji="1" lang="en-US" altLang="zh-CN" dirty="0">
              <a:solidFill>
                <a:srgbClr val="C00000"/>
              </a:solidFill>
            </a:endParaRPr>
          </a:p>
        </p:txBody>
      </p:sp>
      <p:sp>
        <p:nvSpPr>
          <p:cNvPr id="7" name="矩形标注 6"/>
          <p:cNvSpPr/>
          <p:nvPr/>
        </p:nvSpPr>
        <p:spPr>
          <a:xfrm>
            <a:off x="5878961" y="3137836"/>
            <a:ext cx="3255413" cy="2223436"/>
          </a:xfrm>
          <a:prstGeom prst="wedgeRectCallout">
            <a:avLst>
              <a:gd name="adj1" fmla="val -118240"/>
              <a:gd name="adj2" fmla="val 5987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PoW</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分叉</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算力与难度调整</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最长链原则</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55</a:t>
            </a:fld>
            <a:endParaRPr kumimoji="1"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en-US" altLang="zh-CN" dirty="0">
                <a:solidFill>
                  <a:prstClr val="black"/>
                </a:solidFill>
              </a:rPr>
              <a:t>PoW</a:t>
            </a:r>
            <a:endParaRPr kumimoji="1" lang="zh-CN" altLang="en-US" dirty="0">
              <a:solidFill>
                <a:prstClr val="black"/>
              </a:solidFill>
            </a:endParaRP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背景</a:t>
            </a:r>
            <a:endParaRPr lang="en-US" altLang="zh-CN" dirty="0"/>
          </a:p>
          <a:p>
            <a:pPr lvl="1">
              <a:lnSpc>
                <a:spcPct val="130000"/>
              </a:lnSpc>
            </a:pPr>
            <a:r>
              <a:rPr lang="zh-CN" altLang="en-US" dirty="0"/>
              <a:t>区块得到其他参与者的承认的过程便称为共识（</a:t>
            </a:r>
            <a:r>
              <a:rPr lang="en-US" altLang="zh-CN" dirty="0"/>
              <a:t>Consensus</a:t>
            </a:r>
            <a:r>
              <a:rPr lang="zh-CN" altLang="en-US" dirty="0"/>
              <a:t>）。</a:t>
            </a:r>
            <a:endParaRPr lang="en-US" altLang="zh-CN" dirty="0"/>
          </a:p>
          <a:p>
            <a:pPr>
              <a:lnSpc>
                <a:spcPct val="130000"/>
              </a:lnSpc>
            </a:pPr>
            <a:r>
              <a:rPr lang="zh-CN" altLang="en-US" dirty="0"/>
              <a:t>定义</a:t>
            </a:r>
            <a:endParaRPr lang="en-US" altLang="zh-CN" dirty="0"/>
          </a:p>
          <a:p>
            <a:pPr lvl="1">
              <a:lnSpc>
                <a:spcPct val="130000"/>
              </a:lnSpc>
            </a:pPr>
            <a:r>
              <a:rPr lang="zh-CN" altLang="en-US" dirty="0"/>
              <a:t>对</a:t>
            </a:r>
            <a:r>
              <a:rPr lang="en-US" altLang="zh-CN" dirty="0"/>
              <a:t>Nonce</a:t>
            </a:r>
            <a:r>
              <a:rPr lang="zh-CN" altLang="en-US" dirty="0"/>
              <a:t>值进行动态调整，使得区块哈希值的前</a:t>
            </a:r>
            <a:r>
              <a:rPr lang="en-US" altLang="zh-CN" dirty="0"/>
              <a:t>n</a:t>
            </a:r>
            <a:r>
              <a:rPr lang="zh-CN" altLang="en-US" dirty="0"/>
              <a:t>位为</a:t>
            </a:r>
            <a:r>
              <a:rPr lang="en-US" altLang="zh-CN" dirty="0"/>
              <a:t>0</a:t>
            </a:r>
            <a:r>
              <a:rPr lang="zh-CN" altLang="en-US" dirty="0"/>
              <a:t>。</a:t>
            </a:r>
            <a:endParaRPr lang="en-US" altLang="zh-CN" dirty="0"/>
          </a:p>
          <a:p>
            <a:pPr lvl="1">
              <a:lnSpc>
                <a:spcPct val="130000"/>
              </a:lnSpc>
            </a:pPr>
            <a:r>
              <a:rPr lang="zh-CN" altLang="en-US" dirty="0"/>
              <a:t>其中</a:t>
            </a:r>
            <a:r>
              <a:rPr lang="en-US" altLang="zh-CN" dirty="0"/>
              <a:t>n</a:t>
            </a:r>
            <a:r>
              <a:rPr lang="zh-CN" altLang="en-US" dirty="0"/>
              <a:t>被称作难度（</a:t>
            </a:r>
            <a:r>
              <a:rPr lang="en-US" altLang="zh-CN" dirty="0"/>
              <a:t>Difficulty</a:t>
            </a:r>
            <a:r>
              <a:rPr lang="zh-CN" altLang="en-US" dirty="0"/>
              <a:t>）。</a:t>
            </a:r>
            <a:endParaRPr lang="en-US" altLang="zh-CN" dirty="0"/>
          </a:p>
          <a:p>
            <a:pPr lvl="1">
              <a:lnSpc>
                <a:spcPct val="130000"/>
              </a:lnSpc>
            </a:pP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56</a:t>
            </a:fld>
            <a:endParaRPr kumimoji="1" lang="zh-CN" altLang="en-US" dirty="0"/>
          </a:p>
        </p:txBody>
      </p:sp>
      <p:pic>
        <p:nvPicPr>
          <p:cNvPr id="5" name="图片 4"/>
          <p:cNvPicPr/>
          <p:nvPr/>
        </p:nvPicPr>
        <p:blipFill>
          <a:blip r:embed="rId3" cstate="print">
            <a:extLst>
              <a:ext uri="{28A0092B-C50C-407E-A947-70E740481C1C}">
                <a14:useLocalDpi xmlns:a14="http://schemas.microsoft.com/office/drawing/2010/main" val="0"/>
              </a:ext>
            </a:extLst>
          </a:blip>
          <a:srcRect/>
          <a:stretch>
            <a:fillRect/>
          </a:stretch>
        </p:blipFill>
        <p:spPr>
          <a:xfrm>
            <a:off x="6279284" y="4056714"/>
            <a:ext cx="4645390" cy="2581055"/>
          </a:xfrm>
          <a:prstGeom prst="rect">
            <a:avLst/>
          </a:prstGeo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endParaRPr kumimoji="1" lang="zh-CN" altLang="en-US" dirty="0">
              <a:solidFill>
                <a:prstClr val="black"/>
              </a:solidFill>
            </a:endParaRPr>
          </a:p>
        </p:txBody>
      </p:sp>
      <p:sp>
        <p:nvSpPr>
          <p:cNvPr id="3" name="内容占位符 2"/>
          <p:cNvSpPr>
            <a:spLocks noGrp="1"/>
          </p:cNvSpPr>
          <p:nvPr>
            <p:ph idx="1"/>
          </p:nvPr>
        </p:nvSpPr>
        <p:spPr>
          <a:xfrm>
            <a:off x="838200" y="1510758"/>
            <a:ext cx="8575307" cy="4845592"/>
          </a:xfrm>
        </p:spPr>
        <p:txBody>
          <a:bodyPr>
            <a:normAutofit/>
          </a:bodyPr>
          <a:lstStyle/>
          <a:p>
            <a:pPr fontAlgn="auto">
              <a:lnSpc>
                <a:spcPct val="130000"/>
              </a:lnSpc>
            </a:pPr>
            <a:r>
              <a:rPr lang="zh-CN" altLang="en-US" dirty="0"/>
              <a:t>特点</a:t>
            </a:r>
            <a:endParaRPr lang="en-US" altLang="zh-CN" dirty="0"/>
          </a:p>
          <a:p>
            <a:pPr lvl="1">
              <a:lnSpc>
                <a:spcPct val="130000"/>
              </a:lnSpc>
            </a:pPr>
            <a:r>
              <a:rPr lang="zh-CN" altLang="en-US" dirty="0"/>
              <a:t>哈希函数的单向性，这个</a:t>
            </a:r>
            <a:r>
              <a:rPr lang="en-US" altLang="zh-CN" dirty="0"/>
              <a:t>Nonce </a:t>
            </a:r>
            <a:r>
              <a:rPr lang="zh-CN" altLang="en-US" dirty="0"/>
              <a:t>只能通过随机尝试的方式来找到。</a:t>
            </a:r>
            <a:endParaRPr lang="en-US" altLang="zh-CN" dirty="0"/>
          </a:p>
          <a:p>
            <a:pPr lvl="1">
              <a:lnSpc>
                <a:spcPct val="130000"/>
              </a:lnSpc>
            </a:pPr>
            <a:r>
              <a:rPr lang="zh-CN" altLang="en-US" dirty="0"/>
              <a:t>比特币系统规定了打包区块可以得到一定数量的比特币作为奖励。</a:t>
            </a:r>
            <a:endParaRPr lang="en-US" altLang="zh-CN" dirty="0"/>
          </a:p>
          <a:p>
            <a:pPr lvl="1">
              <a:lnSpc>
                <a:spcPct val="130000"/>
              </a:lnSpc>
            </a:pPr>
            <a:r>
              <a:rPr lang="zh-CN" altLang="en-US" dirty="0"/>
              <a:t>这些奖励是所有</a:t>
            </a:r>
            <a:r>
              <a:rPr lang="en-US" altLang="zh-CN" dirty="0"/>
              <a:t>UTXO </a:t>
            </a:r>
            <a:r>
              <a:rPr lang="zh-CN" altLang="en-US" dirty="0"/>
              <a:t>中比特币的唯一来源。</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57</a:t>
            </a:fld>
            <a:endParaRPr kumimoji="1"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kumimoji="1" lang="zh-CN" altLang="en-US" dirty="0">
                <a:solidFill>
                  <a:prstClr val="black"/>
                </a:solidFill>
              </a:rPr>
              <a:t>分叉</a:t>
            </a: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定义</a:t>
            </a:r>
            <a:endParaRPr lang="en-US" altLang="zh-CN" dirty="0"/>
          </a:p>
          <a:p>
            <a:pPr lvl="1">
              <a:lnSpc>
                <a:spcPct val="130000"/>
              </a:lnSpc>
            </a:pPr>
            <a:r>
              <a:rPr lang="zh-CN" altLang="en-US" dirty="0"/>
              <a:t>可能有两个不同的矿工在同一时间，或者相继很短的一段时间内生成两个同样高度的区块。</a:t>
            </a:r>
            <a:endParaRPr lang="en-US" altLang="zh-CN" dirty="0"/>
          </a:p>
          <a:p>
            <a:pPr lvl="1">
              <a:lnSpc>
                <a:spcPct val="130000"/>
              </a:lnSpc>
            </a:pP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58</a:t>
            </a:fld>
            <a:endParaRPr kumimoji="1" lang="zh-CN" altLang="en-US" dirty="0"/>
          </a:p>
        </p:txBody>
      </p:sp>
      <p:pic>
        <p:nvPicPr>
          <p:cNvPr id="6" name="图片 5"/>
          <p:cNvPicPr/>
          <p:nvPr/>
        </p:nvPicPr>
        <p:blipFill>
          <a:blip r:embed="rId3" cstate="print">
            <a:extLst>
              <a:ext uri="{28A0092B-C50C-407E-A947-70E740481C1C}">
                <a14:useLocalDpi xmlns:a14="http://schemas.microsoft.com/office/drawing/2010/main" val="0"/>
              </a:ext>
            </a:extLst>
          </a:blip>
          <a:srcRect/>
          <a:stretch>
            <a:fillRect/>
          </a:stretch>
        </p:blipFill>
        <p:spPr>
          <a:xfrm>
            <a:off x="3251648" y="3429000"/>
            <a:ext cx="5688704" cy="2451986"/>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endParaRPr kumimoji="1" lang="zh-CN" altLang="en-US" dirty="0">
              <a:solidFill>
                <a:prstClr val="black"/>
              </a:solidFill>
            </a:endParaRP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原因</a:t>
            </a:r>
            <a:endParaRPr lang="en-US" altLang="zh-CN" dirty="0"/>
          </a:p>
          <a:p>
            <a:pPr lvl="1">
              <a:lnSpc>
                <a:spcPct val="130000"/>
              </a:lnSpc>
            </a:pPr>
            <a:r>
              <a:rPr lang="zh-CN" altLang="en-US" dirty="0"/>
              <a:t>挖矿的难度过低使得矿工出块的速度过快。</a:t>
            </a:r>
            <a:endParaRPr lang="en-US" altLang="zh-CN" dirty="0"/>
          </a:p>
          <a:p>
            <a:pPr lvl="1">
              <a:lnSpc>
                <a:spcPct val="130000"/>
              </a:lnSpc>
            </a:pPr>
            <a:r>
              <a:rPr lang="zh-CN" altLang="en-US" dirty="0"/>
              <a:t>网络的通信时延过长，不知道新区块产生的矿工们任然在同一高度下继续进行挖矿。</a:t>
            </a:r>
            <a:endParaRPr lang="en-US" altLang="zh-CN" dirty="0"/>
          </a:p>
          <a:p>
            <a:pPr>
              <a:lnSpc>
                <a:spcPct val="130000"/>
              </a:lnSpc>
            </a:pPr>
            <a:r>
              <a:rPr lang="zh-CN" altLang="en-US" dirty="0"/>
              <a:t>存在的问题</a:t>
            </a:r>
            <a:endParaRPr lang="en-US" altLang="zh-CN" dirty="0"/>
          </a:p>
          <a:p>
            <a:pPr lvl="1">
              <a:lnSpc>
                <a:spcPct val="130000"/>
              </a:lnSpc>
            </a:pPr>
            <a:r>
              <a:rPr lang="zh-CN" altLang="en-US" dirty="0"/>
              <a:t>分叉的两个区块中可能存在互相冲突的交易，导致</a:t>
            </a:r>
            <a:r>
              <a:rPr lang="en-US" altLang="zh-CN" dirty="0"/>
              <a:t>UTXO</a:t>
            </a:r>
            <a:r>
              <a:rPr lang="zh-CN" altLang="en-US" dirty="0"/>
              <a:t>被“双花”。</a:t>
            </a:r>
            <a:endParaRPr lang="en-US" altLang="zh-CN" dirty="0"/>
          </a:p>
          <a:p>
            <a:pPr lvl="1">
              <a:lnSpc>
                <a:spcPct val="130000"/>
              </a:lnSpc>
            </a:pPr>
            <a:r>
              <a:rPr lang="en-US" altLang="zh-CN" dirty="0"/>
              <a:t>Maximal Extractable Value</a:t>
            </a:r>
          </a:p>
          <a:p>
            <a:pPr lvl="1">
              <a:lnSpc>
                <a:spcPct val="130000"/>
              </a:lnSpc>
            </a:pP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59</a:t>
            </a:fld>
            <a:endParaRPr kumimoji="1"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lang="zh-CN" altLang="en-US" dirty="0"/>
              <a:t>算力与难度调整</a:t>
            </a:r>
            <a:endParaRPr kumimoji="1" lang="zh-CN" altLang="en-US" dirty="0">
              <a:solidFill>
                <a:prstClr val="black"/>
              </a:solidFill>
            </a:endParaRP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背景</a:t>
            </a:r>
            <a:endParaRPr lang="en-US" altLang="zh-CN" dirty="0"/>
          </a:p>
          <a:p>
            <a:pPr lvl="1">
              <a:lnSpc>
                <a:spcPct val="130000"/>
              </a:lnSpc>
            </a:pPr>
            <a:r>
              <a:rPr lang="zh-CN" altLang="en-US" dirty="0"/>
              <a:t>哈希算力不断变化</a:t>
            </a:r>
            <a:endParaRPr lang="en-US" altLang="zh-CN" dirty="0"/>
          </a:p>
          <a:p>
            <a:pPr lvl="2"/>
            <a:r>
              <a:rPr lang="zh-CN" altLang="en-US" dirty="0"/>
              <a:t>全网机器在固定时间内能够进行尝试的次数。</a:t>
            </a:r>
            <a:endParaRPr lang="en-US" altLang="zh-CN" dirty="0"/>
          </a:p>
          <a:p>
            <a:pPr lvl="1"/>
            <a:r>
              <a:rPr lang="zh-CN" altLang="en-US" dirty="0"/>
              <a:t>随着全网算力的提高，如果难度固定，那么产生新区块的时间间隔将会越来越短。</a:t>
            </a:r>
            <a:endParaRPr lang="en-US" altLang="zh-CN" dirty="0"/>
          </a:p>
          <a:p>
            <a:r>
              <a:rPr lang="zh-CN" altLang="en-US" dirty="0"/>
              <a:t>比特币难度调整</a:t>
            </a:r>
            <a:endParaRPr lang="en-US" altLang="zh-CN" dirty="0"/>
          </a:p>
          <a:p>
            <a:pPr lvl="1"/>
            <a:r>
              <a:rPr lang="zh-CN" altLang="en-US" dirty="0"/>
              <a:t>比特币网络会进行难度调整，将区块时间间隔稳定在</a:t>
            </a:r>
            <a:r>
              <a:rPr lang="en-US" altLang="zh-CN" dirty="0"/>
              <a:t>10</a:t>
            </a:r>
            <a:r>
              <a:rPr lang="zh-CN" altLang="en-US" dirty="0"/>
              <a:t>分钟。</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60</a:t>
            </a:fld>
            <a:endParaRPr kumimoji="1"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lang="zh-CN" altLang="en-US" dirty="0"/>
              <a:t>最长链原则</a:t>
            </a:r>
            <a:endParaRPr kumimoji="1" lang="zh-CN" altLang="en-US" dirty="0">
              <a:solidFill>
                <a:prstClr val="black"/>
              </a:solidFill>
            </a:endParaRPr>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背景</a:t>
            </a:r>
            <a:endParaRPr lang="en-US" altLang="zh-CN" dirty="0"/>
          </a:p>
          <a:p>
            <a:pPr lvl="1">
              <a:lnSpc>
                <a:spcPct val="130000"/>
              </a:lnSpc>
            </a:pPr>
            <a:r>
              <a:rPr lang="zh-CN" altLang="en-US" dirty="0"/>
              <a:t>由于区块链分叉现象可能导致全网不一致。</a:t>
            </a:r>
            <a:endParaRPr lang="en-US" altLang="zh-CN" dirty="0"/>
          </a:p>
          <a:p>
            <a:pPr>
              <a:lnSpc>
                <a:spcPct val="130000"/>
              </a:lnSpc>
            </a:pPr>
            <a:r>
              <a:rPr lang="zh-CN" altLang="en-US" dirty="0"/>
              <a:t>比特币网络</a:t>
            </a:r>
            <a:endParaRPr lang="en-US" altLang="zh-CN" dirty="0"/>
          </a:p>
          <a:p>
            <a:pPr lvl="1"/>
            <a:r>
              <a:rPr lang="zh-CN" altLang="en-US" dirty="0"/>
              <a:t>使用了最长链原则来确定一个节点应当选择的分支。</a:t>
            </a:r>
            <a:endParaRPr lang="en-US" altLang="zh-CN" dirty="0"/>
          </a:p>
          <a:p>
            <a:pPr lvl="1"/>
            <a:r>
              <a:rPr lang="zh-CN" altLang="en-US" dirty="0"/>
              <a:t>最长链原则也保证了前序的区块不可能被随意篡改。</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61</a:t>
            </a:fld>
            <a:endParaRPr kumimoji="1"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EFC88-15A8-8F47-A008-BBB6B0BEC7A2}"/>
              </a:ext>
            </a:extLst>
          </p:cNvPr>
          <p:cNvSpPr>
            <a:spLocks noGrp="1"/>
          </p:cNvSpPr>
          <p:nvPr>
            <p:ph type="title"/>
          </p:nvPr>
        </p:nvSpPr>
        <p:spPr/>
        <p:txBody>
          <a:bodyPr/>
          <a:lstStyle/>
          <a:p>
            <a:r>
              <a:rPr kumimoji="1" lang="zh-CN" altLang="en-US" dirty="0"/>
              <a:t>本章总结</a:t>
            </a:r>
          </a:p>
        </p:txBody>
      </p:sp>
      <p:sp>
        <p:nvSpPr>
          <p:cNvPr id="3" name="内容占位符 2">
            <a:extLst>
              <a:ext uri="{FF2B5EF4-FFF2-40B4-BE49-F238E27FC236}">
                <a16:creationId xmlns:a16="http://schemas.microsoft.com/office/drawing/2014/main" id="{8D01C0D4-2EC3-7D4D-AAC5-3C4CCB3DBC8F}"/>
              </a:ext>
            </a:extLst>
          </p:cNvPr>
          <p:cNvSpPr>
            <a:spLocks noGrp="1"/>
          </p:cNvSpPr>
          <p:nvPr>
            <p:ph idx="1"/>
          </p:nvPr>
        </p:nvSpPr>
        <p:spPr/>
        <p:txBody>
          <a:bodyPr>
            <a:normAutofit/>
          </a:bodyPr>
          <a:lstStyle/>
          <a:p>
            <a:pPr>
              <a:lnSpc>
                <a:spcPct val="120000"/>
              </a:lnSpc>
            </a:pPr>
            <a:r>
              <a:rPr kumimoji="1" lang="zh-CN" altLang="en-US" dirty="0"/>
              <a:t>了解比特币诞生背景</a:t>
            </a:r>
            <a:endParaRPr kumimoji="1" lang="en-US" altLang="zh-CN" dirty="0"/>
          </a:p>
          <a:p>
            <a:pPr>
              <a:lnSpc>
                <a:spcPct val="120000"/>
              </a:lnSpc>
            </a:pPr>
            <a:r>
              <a:rPr kumimoji="1" lang="zh-CN" altLang="en-US" dirty="0"/>
              <a:t>哈希算法与数字签名</a:t>
            </a:r>
            <a:endParaRPr kumimoji="1" lang="en-US" altLang="zh-CN" dirty="0"/>
          </a:p>
          <a:p>
            <a:pPr>
              <a:lnSpc>
                <a:spcPct val="120000"/>
              </a:lnSpc>
            </a:pPr>
            <a:r>
              <a:rPr kumimoji="1" lang="zh-CN" altLang="en-US" dirty="0"/>
              <a:t>非对称加密原理</a:t>
            </a:r>
            <a:endParaRPr kumimoji="1" lang="en-US" altLang="zh-CN" dirty="0"/>
          </a:p>
          <a:p>
            <a:pPr>
              <a:lnSpc>
                <a:spcPct val="120000"/>
              </a:lnSpc>
            </a:pPr>
            <a:r>
              <a:rPr kumimoji="1" lang="zh-CN" altLang="en-US" dirty="0"/>
              <a:t>比特币交易与账户模型</a:t>
            </a:r>
            <a:endParaRPr kumimoji="1" lang="en-US" altLang="zh-CN" dirty="0"/>
          </a:p>
          <a:p>
            <a:pPr>
              <a:lnSpc>
                <a:spcPct val="120000"/>
              </a:lnSpc>
            </a:pPr>
            <a:r>
              <a:rPr kumimoji="1" lang="zh-CN" altLang="en-US" dirty="0"/>
              <a:t>了解交易脚本、公钥与地址</a:t>
            </a:r>
            <a:endParaRPr kumimoji="1" lang="en-US" altLang="zh-CN" dirty="0"/>
          </a:p>
          <a:p>
            <a:pPr>
              <a:lnSpc>
                <a:spcPct val="120000"/>
              </a:lnSpc>
            </a:pPr>
            <a:r>
              <a:rPr kumimoji="1" lang="zh-CN" altLang="en-US" dirty="0"/>
              <a:t>区块数据结构</a:t>
            </a:r>
            <a:endParaRPr kumimoji="1" lang="en-US" altLang="zh-CN" dirty="0"/>
          </a:p>
          <a:p>
            <a:pPr>
              <a:lnSpc>
                <a:spcPct val="120000"/>
              </a:lnSpc>
            </a:pPr>
            <a:r>
              <a:rPr kumimoji="1" lang="en-US" altLang="zh-CN" dirty="0"/>
              <a:t>p</a:t>
            </a:r>
            <a:r>
              <a:rPr kumimoji="1" lang="en-US" altLang="zh-CN"/>
              <a:t>ow</a:t>
            </a:r>
            <a:r>
              <a:rPr kumimoji="1" lang="zh-CN" altLang="en-US" dirty="0"/>
              <a:t>共识</a:t>
            </a:r>
            <a:endParaRPr kumimoji="1" lang="en-US" altLang="zh-CN" dirty="0"/>
          </a:p>
        </p:txBody>
      </p:sp>
      <p:sp>
        <p:nvSpPr>
          <p:cNvPr id="5" name="灯片编号占位符 4">
            <a:extLst>
              <a:ext uri="{FF2B5EF4-FFF2-40B4-BE49-F238E27FC236}">
                <a16:creationId xmlns:a16="http://schemas.microsoft.com/office/drawing/2014/main" id="{8FE33C2B-DFEA-AB45-B09F-58B1C2A169C6}"/>
              </a:ext>
            </a:extLst>
          </p:cNvPr>
          <p:cNvSpPr>
            <a:spLocks noGrp="1"/>
          </p:cNvSpPr>
          <p:nvPr>
            <p:ph type="sldNum" sz="quarter" idx="12"/>
          </p:nvPr>
        </p:nvSpPr>
        <p:spPr/>
        <p:txBody>
          <a:bodyPr/>
          <a:lstStyle/>
          <a:p>
            <a:fld id="{8D4D1E41-7A09-AB4A-A4E1-09765ADA2698}" type="slidenum">
              <a:rPr kumimoji="1" lang="zh-CN" altLang="en-US" smtClean="0"/>
              <a:t>62</a:t>
            </a:fld>
            <a:endParaRPr kumimoji="1" lang="zh-CN" altLang="en-US" dirty="0"/>
          </a:p>
        </p:txBody>
      </p:sp>
    </p:spTree>
    <p:extLst>
      <p:ext uri="{BB962C8B-B14F-4D97-AF65-F5344CB8AC3E}">
        <p14:creationId xmlns:p14="http://schemas.microsoft.com/office/powerpoint/2010/main" val="1697461291"/>
      </p:ext>
    </p:extLst>
  </p:cSld>
  <p:clrMapOvr>
    <a:masterClrMapping/>
  </p:clrMapOvr>
</p:sld>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5254</Words>
  <Application>Microsoft Office PowerPoint</Application>
  <PresentationFormat>宽屏</PresentationFormat>
  <Paragraphs>652</Paragraphs>
  <Slides>63</Slides>
  <Notes>60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63</vt:i4>
      </vt:variant>
    </vt:vector>
  </HeadingPairs>
  <TitlesOfParts>
    <vt:vector size="74" baseType="lpstr">
      <vt:lpstr>等线</vt:lpstr>
      <vt:lpstr>微软雅黑</vt:lpstr>
      <vt:lpstr>微软雅黑</vt:lpstr>
      <vt:lpstr>Arial</vt:lpstr>
      <vt:lpstr>Calibri</vt:lpstr>
      <vt:lpstr>Cambria Math</vt:lpstr>
      <vt:lpstr>Courier New</vt:lpstr>
      <vt:lpstr>Times New Roman</vt:lpstr>
      <vt:lpstr>Wingdings</vt:lpstr>
      <vt:lpstr>webwppDefTheme</vt:lpstr>
      <vt:lpstr>Office 主题​​</vt:lpstr>
      <vt:lpstr>第二章 比特币</vt:lpstr>
      <vt:lpstr>本章内容</vt:lpstr>
      <vt:lpstr>比特币简介</vt:lpstr>
      <vt:lpstr>本章内容</vt:lpstr>
      <vt:lpstr>哈希算法</vt:lpstr>
      <vt:lpstr>PowerPoint 演示文稿</vt:lpstr>
      <vt:lpstr>Merkle Tree</vt:lpstr>
      <vt:lpstr>PowerPoint 演示文稿</vt:lpstr>
      <vt:lpstr>非对称加密</vt:lpstr>
      <vt:lpstr>PowerPoint 演示文稿</vt:lpstr>
      <vt:lpstr>数字签名</vt:lpstr>
      <vt:lpstr>PowerPoint 演示文稿</vt:lpstr>
      <vt:lpstr>PowerPoint 演示文稿</vt:lpstr>
      <vt:lpstr>主网与测试网</vt:lpstr>
      <vt:lpstr>本章内容</vt:lpstr>
      <vt:lpstr>账户与交易</vt:lpstr>
      <vt:lpstr>交易</vt:lpstr>
      <vt:lpstr>PowerPoint 演示文稿</vt:lpstr>
      <vt:lpstr>输出</vt:lpstr>
      <vt:lpstr>PowerPoint 演示文稿</vt:lpstr>
      <vt:lpstr>PowerPoint 演示文稿</vt:lpstr>
      <vt:lpstr>输入</vt:lpstr>
      <vt:lpstr>PowerPoint 演示文稿</vt:lpstr>
      <vt:lpstr>PowerPoint 演示文稿</vt:lpstr>
      <vt:lpstr>UTXO模型</vt:lpstr>
      <vt:lpstr>PowerPoint 演示文稿</vt:lpstr>
      <vt:lpstr>PowerPoint 演示文稿</vt:lpstr>
      <vt:lpstr>PowerPoint 演示文稿</vt:lpstr>
      <vt:lpstr>本章内容</vt:lpstr>
      <vt:lpstr>锁定与解锁</vt:lpstr>
      <vt:lpstr>PowerPoint 演示文稿</vt:lpstr>
      <vt:lpstr>常见脚本类型</vt:lpstr>
      <vt:lpstr>PowerPoint 演示文稿</vt:lpstr>
      <vt:lpstr>多重签名钱包</vt:lpstr>
      <vt:lpstr>PowerPoint 演示文稿</vt:lpstr>
      <vt:lpstr>本章内容</vt:lpstr>
      <vt:lpstr>公钥密钥与地址</vt:lpstr>
      <vt:lpstr>私钥</vt:lpstr>
      <vt:lpstr>公钥</vt:lpstr>
      <vt:lpstr>普通地址</vt:lpstr>
      <vt:lpstr>PowerPoint 演示文稿</vt:lpstr>
      <vt:lpstr>PowerPoint 演示文稿</vt:lpstr>
      <vt:lpstr>Base58编码</vt:lpstr>
      <vt:lpstr>其他地址</vt:lpstr>
      <vt:lpstr>本章内容</vt:lpstr>
      <vt:lpstr>区块与链</vt:lpstr>
      <vt:lpstr>区块</vt:lpstr>
      <vt:lpstr>区块头</vt:lpstr>
      <vt:lpstr>PowerPoint 演示文稿</vt:lpstr>
      <vt:lpstr>Merkle树</vt:lpstr>
      <vt:lpstr>PowerPoint 演示文稿</vt:lpstr>
      <vt:lpstr>PowerPoint 演示文稿</vt:lpstr>
      <vt:lpstr>PowerPoint 演示文稿</vt:lpstr>
      <vt:lpstr>PowerPoint 演示文稿</vt:lpstr>
      <vt:lpstr>区块链</vt:lpstr>
      <vt:lpstr>本章内容</vt:lpstr>
      <vt:lpstr>PoW</vt:lpstr>
      <vt:lpstr>PowerPoint 演示文稿</vt:lpstr>
      <vt:lpstr>分叉</vt:lpstr>
      <vt:lpstr>PowerPoint 演示文稿</vt:lpstr>
      <vt:lpstr>算力与难度调整</vt:lpstr>
      <vt:lpstr>最长链原则</vt:lpstr>
      <vt:lpstr>本章总结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比特币</dc:title>
  <dc:creator>Yong Cui</dc:creator>
  <cp:lastModifiedBy>Canhui Wang</cp:lastModifiedBy>
  <cp:revision>16</cp:revision>
  <dcterms:created xsi:type="dcterms:W3CDTF">2021-04-18T13:48:02Z</dcterms:created>
  <dcterms:modified xsi:type="dcterms:W3CDTF">2025-03-02T06:11:18Z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ies>
</file>