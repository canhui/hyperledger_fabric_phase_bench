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92"/>
  </p:notesMasterIdLst>
  <p:sldIdLst>
    <p:sldId id="1257" r:id="rId2"/>
    <p:sldId id="1261" r:id="rId3"/>
    <p:sldId id="353" r:id="rId4"/>
    <p:sldId id="341" r:id="rId5"/>
    <p:sldId id="1258" r:id="rId6"/>
    <p:sldId id="1259" r:id="rId7"/>
    <p:sldId id="1262" r:id="rId8"/>
    <p:sldId id="1260" r:id="rId9"/>
    <p:sldId id="1275" r:id="rId10"/>
    <p:sldId id="1276" r:id="rId11"/>
    <p:sldId id="1263" r:id="rId12"/>
    <p:sldId id="1264" r:id="rId13"/>
    <p:sldId id="1277" r:id="rId14"/>
    <p:sldId id="1265" r:id="rId15"/>
    <p:sldId id="1266" r:id="rId16"/>
    <p:sldId id="1267" r:id="rId17"/>
    <p:sldId id="1268" r:id="rId18"/>
    <p:sldId id="1269" r:id="rId19"/>
    <p:sldId id="1270" r:id="rId20"/>
    <p:sldId id="1272" r:id="rId21"/>
    <p:sldId id="1271" r:id="rId22"/>
    <p:sldId id="1273" r:id="rId23"/>
    <p:sldId id="1274" r:id="rId24"/>
    <p:sldId id="1278" r:id="rId25"/>
    <p:sldId id="1281" r:id="rId26"/>
    <p:sldId id="1279" r:id="rId27"/>
    <p:sldId id="1280" r:id="rId28"/>
    <p:sldId id="1282" r:id="rId29"/>
    <p:sldId id="1283" r:id="rId30"/>
    <p:sldId id="1284" r:id="rId31"/>
    <p:sldId id="1286" r:id="rId32"/>
    <p:sldId id="1285" r:id="rId33"/>
    <p:sldId id="1287" r:id="rId34"/>
    <p:sldId id="1288" r:id="rId35"/>
    <p:sldId id="1289" r:id="rId36"/>
    <p:sldId id="1290" r:id="rId37"/>
    <p:sldId id="1291" r:id="rId38"/>
    <p:sldId id="1292" r:id="rId39"/>
    <p:sldId id="1293" r:id="rId40"/>
    <p:sldId id="1294" r:id="rId41"/>
    <p:sldId id="1295" r:id="rId42"/>
    <p:sldId id="1296" r:id="rId43"/>
    <p:sldId id="1297" r:id="rId44"/>
    <p:sldId id="1298" r:id="rId45"/>
    <p:sldId id="1299" r:id="rId46"/>
    <p:sldId id="1300" r:id="rId47"/>
    <p:sldId id="1303" r:id="rId48"/>
    <p:sldId id="1304" r:id="rId49"/>
    <p:sldId id="1305" r:id="rId50"/>
    <p:sldId id="1306" r:id="rId51"/>
    <p:sldId id="1307" r:id="rId52"/>
    <p:sldId id="1308" r:id="rId53"/>
    <p:sldId id="1309" r:id="rId54"/>
    <p:sldId id="1310" r:id="rId55"/>
    <p:sldId id="1311" r:id="rId56"/>
    <p:sldId id="1312" r:id="rId57"/>
    <p:sldId id="1313" r:id="rId58"/>
    <p:sldId id="1314" r:id="rId59"/>
    <p:sldId id="1315" r:id="rId60"/>
    <p:sldId id="1316" r:id="rId61"/>
    <p:sldId id="1317" r:id="rId62"/>
    <p:sldId id="1318" r:id="rId63"/>
    <p:sldId id="1319" r:id="rId64"/>
    <p:sldId id="1320" r:id="rId65"/>
    <p:sldId id="1321" r:id="rId66"/>
    <p:sldId id="1322" r:id="rId67"/>
    <p:sldId id="1323" r:id="rId68"/>
    <p:sldId id="1324" r:id="rId69"/>
    <p:sldId id="1325" r:id="rId70"/>
    <p:sldId id="1326" r:id="rId71"/>
    <p:sldId id="1327" r:id="rId72"/>
    <p:sldId id="1329" r:id="rId73"/>
    <p:sldId id="1330" r:id="rId74"/>
    <p:sldId id="1331" r:id="rId75"/>
    <p:sldId id="1332" r:id="rId76"/>
    <p:sldId id="1333" r:id="rId77"/>
    <p:sldId id="1334" r:id="rId78"/>
    <p:sldId id="1335" r:id="rId79"/>
    <p:sldId id="1336" r:id="rId80"/>
    <p:sldId id="1337" r:id="rId81"/>
    <p:sldId id="1338" r:id="rId82"/>
    <p:sldId id="1339" r:id="rId83"/>
    <p:sldId id="1340" r:id="rId84"/>
    <p:sldId id="1341" r:id="rId85"/>
    <p:sldId id="1342" r:id="rId86"/>
    <p:sldId id="1343" r:id="rId87"/>
    <p:sldId id="1344" r:id="rId88"/>
    <p:sldId id="1345" r:id="rId89"/>
    <p:sldId id="1346" r:id="rId90"/>
    <p:sldId id="994" r:id="rId9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261"/>
            <p14:sldId id="353"/>
            <p14:sldId id="341"/>
            <p14:sldId id="1258"/>
            <p14:sldId id="1259"/>
            <p14:sldId id="1262"/>
            <p14:sldId id="1260"/>
            <p14:sldId id="1275"/>
            <p14:sldId id="1276"/>
            <p14:sldId id="1263"/>
            <p14:sldId id="1264"/>
            <p14:sldId id="1277"/>
            <p14:sldId id="1265"/>
            <p14:sldId id="1266"/>
            <p14:sldId id="1267"/>
            <p14:sldId id="1268"/>
            <p14:sldId id="1269"/>
            <p14:sldId id="1270"/>
            <p14:sldId id="1272"/>
            <p14:sldId id="1271"/>
            <p14:sldId id="1273"/>
            <p14:sldId id="1274"/>
            <p14:sldId id="1278"/>
            <p14:sldId id="1281"/>
            <p14:sldId id="1279"/>
            <p14:sldId id="1280"/>
            <p14:sldId id="1282"/>
            <p14:sldId id="1283"/>
            <p14:sldId id="1284"/>
            <p14:sldId id="1286"/>
            <p14:sldId id="1285"/>
            <p14:sldId id="1287"/>
            <p14:sldId id="1288"/>
            <p14:sldId id="1289"/>
            <p14:sldId id="1290"/>
            <p14:sldId id="1291"/>
            <p14:sldId id="1292"/>
            <p14:sldId id="1293"/>
            <p14:sldId id="1294"/>
            <p14:sldId id="1295"/>
            <p14:sldId id="1296"/>
            <p14:sldId id="1297"/>
            <p14:sldId id="1298"/>
            <p14:sldId id="1299"/>
            <p14:sldId id="1300"/>
            <p14:sldId id="1303"/>
            <p14:sldId id="1304"/>
            <p14:sldId id="1305"/>
            <p14:sldId id="1306"/>
            <p14:sldId id="1307"/>
            <p14:sldId id="1308"/>
            <p14:sldId id="1309"/>
            <p14:sldId id="1310"/>
            <p14:sldId id="1311"/>
            <p14:sldId id="1312"/>
            <p14:sldId id="1313"/>
            <p14:sldId id="1314"/>
            <p14:sldId id="1315"/>
            <p14:sldId id="1316"/>
            <p14:sldId id="1317"/>
            <p14:sldId id="1318"/>
            <p14:sldId id="1319"/>
            <p14:sldId id="1320"/>
            <p14:sldId id="1321"/>
            <p14:sldId id="1322"/>
            <p14:sldId id="1323"/>
            <p14:sldId id="1324"/>
            <p14:sldId id="1325"/>
            <p14:sldId id="1326"/>
            <p14:sldId id="1327"/>
            <p14:sldId id="1329"/>
            <p14:sldId id="1330"/>
            <p14:sldId id="1331"/>
            <p14:sldId id="1332"/>
            <p14:sldId id="1333"/>
            <p14:sldId id="1334"/>
            <p14:sldId id="1335"/>
            <p14:sldId id="1336"/>
            <p14:sldId id="1337"/>
            <p14:sldId id="1338"/>
            <p14:sldId id="1339"/>
            <p14:sldId id="1340"/>
            <p14:sldId id="1341"/>
            <p14:sldId id="1342"/>
            <p14:sldId id="1343"/>
            <p14:sldId id="1344"/>
            <p14:sldId id="1345"/>
            <p14:sldId id="1346"/>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1A7"/>
    <a:srgbClr val="FDFCDC"/>
    <a:srgbClr val="EE6C4D"/>
    <a:srgbClr val="00AFB9"/>
    <a:srgbClr val="0000CC"/>
    <a:srgbClr val="0000FF"/>
    <a:srgbClr val="5B307E"/>
    <a:srgbClr val="B962FF"/>
    <a:srgbClr val="FDCB0B"/>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2"/>
    <p:restoredTop sz="73776" autoAdjust="0"/>
  </p:normalViewPr>
  <p:slideViewPr>
    <p:cSldViewPr snapToGrid="0" snapToObjects="1">
      <p:cViewPr varScale="1">
        <p:scale>
          <a:sx n="84" d="100"/>
          <a:sy n="84" d="100"/>
        </p:scale>
        <p:origin x="1464" y="78"/>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2025/5/6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1605687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2366757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1191599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3761598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1980300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763572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570100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820504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1773198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3314905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3351684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096406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582782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1091003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4022752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692465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3743558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1044315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1910397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1631854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096778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1093795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853517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1866668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1661180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083209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171479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24439374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2929408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28991417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4002389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23952072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8236747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4248714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207139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840759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1430189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30514749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7303763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8915483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8583878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22213460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33993412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42844894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15786593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35853270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4053157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3157968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9050164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25796783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12786218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26572715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extLst>
      <p:ext uri="{BB962C8B-B14F-4D97-AF65-F5344CB8AC3E}">
        <p14:creationId xmlns:p14="http://schemas.microsoft.com/office/powerpoint/2010/main" val="1396264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15025849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19147106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30546274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5592688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18785018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7098551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extLst>
      <p:ext uri="{BB962C8B-B14F-4D97-AF65-F5344CB8AC3E}">
        <p14:creationId xmlns:p14="http://schemas.microsoft.com/office/powerpoint/2010/main" val="2115843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28696859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Tree>
    <p:extLst>
      <p:ext uri="{BB962C8B-B14F-4D97-AF65-F5344CB8AC3E}">
        <p14:creationId xmlns:p14="http://schemas.microsoft.com/office/powerpoint/2010/main" val="9594373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64</a:t>
            </a:fld>
            <a:endParaRPr kumimoji="1" lang="zh-CN" altLang="en-US"/>
          </a:p>
        </p:txBody>
      </p:sp>
    </p:spTree>
    <p:extLst>
      <p:ext uri="{BB962C8B-B14F-4D97-AF65-F5344CB8AC3E}">
        <p14:creationId xmlns:p14="http://schemas.microsoft.com/office/powerpoint/2010/main" val="30433069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65</a:t>
            </a:fld>
            <a:endParaRPr kumimoji="1" lang="zh-CN" altLang="en-US"/>
          </a:p>
        </p:txBody>
      </p:sp>
    </p:spTree>
    <p:extLst>
      <p:ext uri="{BB962C8B-B14F-4D97-AF65-F5344CB8AC3E}">
        <p14:creationId xmlns:p14="http://schemas.microsoft.com/office/powerpoint/2010/main" val="40993612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66</a:t>
            </a:fld>
            <a:endParaRPr kumimoji="1" lang="zh-CN" altLang="en-US"/>
          </a:p>
        </p:txBody>
      </p:sp>
    </p:spTree>
    <p:extLst>
      <p:ext uri="{BB962C8B-B14F-4D97-AF65-F5344CB8AC3E}">
        <p14:creationId xmlns:p14="http://schemas.microsoft.com/office/powerpoint/2010/main" val="31225901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67</a:t>
            </a:fld>
            <a:endParaRPr kumimoji="1" lang="zh-CN" altLang="en-US"/>
          </a:p>
        </p:txBody>
      </p:sp>
    </p:spTree>
    <p:extLst>
      <p:ext uri="{BB962C8B-B14F-4D97-AF65-F5344CB8AC3E}">
        <p14:creationId xmlns:p14="http://schemas.microsoft.com/office/powerpoint/2010/main" val="15252076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36977688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20326799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70</a:t>
            </a:fld>
            <a:endParaRPr kumimoji="1" lang="zh-CN" altLang="en-US"/>
          </a:p>
        </p:txBody>
      </p:sp>
    </p:spTree>
    <p:extLst>
      <p:ext uri="{BB962C8B-B14F-4D97-AF65-F5344CB8AC3E}">
        <p14:creationId xmlns:p14="http://schemas.microsoft.com/office/powerpoint/2010/main" val="38425889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71</a:t>
            </a:fld>
            <a:endParaRPr kumimoji="1" lang="zh-CN" altLang="en-US"/>
          </a:p>
        </p:txBody>
      </p:sp>
    </p:spTree>
    <p:extLst>
      <p:ext uri="{BB962C8B-B14F-4D97-AF65-F5344CB8AC3E}">
        <p14:creationId xmlns:p14="http://schemas.microsoft.com/office/powerpoint/2010/main" val="19848243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72</a:t>
            </a:fld>
            <a:endParaRPr kumimoji="1" lang="zh-CN" altLang="en-US"/>
          </a:p>
        </p:txBody>
      </p:sp>
    </p:spTree>
    <p:extLst>
      <p:ext uri="{BB962C8B-B14F-4D97-AF65-F5344CB8AC3E}">
        <p14:creationId xmlns:p14="http://schemas.microsoft.com/office/powerpoint/2010/main" val="13933242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73</a:t>
            </a:fld>
            <a:endParaRPr kumimoji="1" lang="zh-CN" altLang="en-US"/>
          </a:p>
        </p:txBody>
      </p:sp>
    </p:spTree>
    <p:extLst>
      <p:ext uri="{BB962C8B-B14F-4D97-AF65-F5344CB8AC3E}">
        <p14:creationId xmlns:p14="http://schemas.microsoft.com/office/powerpoint/2010/main" val="314791981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74</a:t>
            </a:fld>
            <a:endParaRPr kumimoji="1" lang="zh-CN" altLang="en-US"/>
          </a:p>
        </p:txBody>
      </p:sp>
    </p:spTree>
    <p:extLst>
      <p:ext uri="{BB962C8B-B14F-4D97-AF65-F5344CB8AC3E}">
        <p14:creationId xmlns:p14="http://schemas.microsoft.com/office/powerpoint/2010/main" val="28125885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75</a:t>
            </a:fld>
            <a:endParaRPr kumimoji="1" lang="zh-CN" altLang="en-US"/>
          </a:p>
        </p:txBody>
      </p:sp>
    </p:spTree>
    <p:extLst>
      <p:ext uri="{BB962C8B-B14F-4D97-AF65-F5344CB8AC3E}">
        <p14:creationId xmlns:p14="http://schemas.microsoft.com/office/powerpoint/2010/main" val="383518156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76</a:t>
            </a:fld>
            <a:endParaRPr kumimoji="1" lang="zh-CN" altLang="en-US"/>
          </a:p>
        </p:txBody>
      </p:sp>
    </p:spTree>
    <p:extLst>
      <p:ext uri="{BB962C8B-B14F-4D97-AF65-F5344CB8AC3E}">
        <p14:creationId xmlns:p14="http://schemas.microsoft.com/office/powerpoint/2010/main" val="27731078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77</a:t>
            </a:fld>
            <a:endParaRPr kumimoji="1" lang="zh-CN" altLang="en-US"/>
          </a:p>
        </p:txBody>
      </p:sp>
    </p:spTree>
    <p:extLst>
      <p:ext uri="{BB962C8B-B14F-4D97-AF65-F5344CB8AC3E}">
        <p14:creationId xmlns:p14="http://schemas.microsoft.com/office/powerpoint/2010/main" val="398394180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78</a:t>
            </a:fld>
            <a:endParaRPr kumimoji="1" lang="zh-CN" altLang="en-US"/>
          </a:p>
        </p:txBody>
      </p:sp>
    </p:spTree>
    <p:extLst>
      <p:ext uri="{BB962C8B-B14F-4D97-AF65-F5344CB8AC3E}">
        <p14:creationId xmlns:p14="http://schemas.microsoft.com/office/powerpoint/2010/main" val="9204931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79</a:t>
            </a:fld>
            <a:endParaRPr kumimoji="1" lang="zh-CN" altLang="en-US"/>
          </a:p>
        </p:txBody>
      </p:sp>
    </p:spTree>
    <p:extLst>
      <p:ext uri="{BB962C8B-B14F-4D97-AF65-F5344CB8AC3E}">
        <p14:creationId xmlns:p14="http://schemas.microsoft.com/office/powerpoint/2010/main" val="18266029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80</a:t>
            </a:fld>
            <a:endParaRPr kumimoji="1" lang="zh-CN" altLang="en-US"/>
          </a:p>
        </p:txBody>
      </p:sp>
    </p:spTree>
    <p:extLst>
      <p:ext uri="{BB962C8B-B14F-4D97-AF65-F5344CB8AC3E}">
        <p14:creationId xmlns:p14="http://schemas.microsoft.com/office/powerpoint/2010/main" val="366875026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81</a:t>
            </a:fld>
            <a:endParaRPr kumimoji="1" lang="zh-CN" altLang="en-US"/>
          </a:p>
        </p:txBody>
      </p:sp>
    </p:spTree>
    <p:extLst>
      <p:ext uri="{BB962C8B-B14F-4D97-AF65-F5344CB8AC3E}">
        <p14:creationId xmlns:p14="http://schemas.microsoft.com/office/powerpoint/2010/main" val="4010373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82</a:t>
            </a:fld>
            <a:endParaRPr kumimoji="1" lang="zh-CN" altLang="en-US"/>
          </a:p>
        </p:txBody>
      </p:sp>
    </p:spTree>
    <p:extLst>
      <p:ext uri="{BB962C8B-B14F-4D97-AF65-F5344CB8AC3E}">
        <p14:creationId xmlns:p14="http://schemas.microsoft.com/office/powerpoint/2010/main" val="12207934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83</a:t>
            </a:fld>
            <a:endParaRPr kumimoji="1" lang="zh-CN" altLang="en-US"/>
          </a:p>
        </p:txBody>
      </p:sp>
    </p:spTree>
    <p:extLst>
      <p:ext uri="{BB962C8B-B14F-4D97-AF65-F5344CB8AC3E}">
        <p14:creationId xmlns:p14="http://schemas.microsoft.com/office/powerpoint/2010/main" val="25989959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84</a:t>
            </a:fld>
            <a:endParaRPr kumimoji="1" lang="zh-CN" altLang="en-US"/>
          </a:p>
        </p:txBody>
      </p:sp>
    </p:spTree>
    <p:extLst>
      <p:ext uri="{BB962C8B-B14F-4D97-AF65-F5344CB8AC3E}">
        <p14:creationId xmlns:p14="http://schemas.microsoft.com/office/powerpoint/2010/main" val="11963728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85</a:t>
            </a:fld>
            <a:endParaRPr kumimoji="1" lang="zh-CN" altLang="en-US"/>
          </a:p>
        </p:txBody>
      </p:sp>
    </p:spTree>
    <p:extLst>
      <p:ext uri="{BB962C8B-B14F-4D97-AF65-F5344CB8AC3E}">
        <p14:creationId xmlns:p14="http://schemas.microsoft.com/office/powerpoint/2010/main" val="14651978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86</a:t>
            </a:fld>
            <a:endParaRPr kumimoji="1" lang="zh-CN" altLang="en-US"/>
          </a:p>
        </p:txBody>
      </p:sp>
    </p:spTree>
    <p:extLst>
      <p:ext uri="{BB962C8B-B14F-4D97-AF65-F5344CB8AC3E}">
        <p14:creationId xmlns:p14="http://schemas.microsoft.com/office/powerpoint/2010/main" val="26027838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87</a:t>
            </a:fld>
            <a:endParaRPr kumimoji="1" lang="zh-CN" altLang="en-US"/>
          </a:p>
        </p:txBody>
      </p:sp>
    </p:spTree>
    <p:extLst>
      <p:ext uri="{BB962C8B-B14F-4D97-AF65-F5344CB8AC3E}">
        <p14:creationId xmlns:p14="http://schemas.microsoft.com/office/powerpoint/2010/main" val="30113449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3730795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第三章 以太坊</a:t>
            </a:r>
          </a:p>
        </p:txBody>
      </p:sp>
      <p:sp>
        <p:nvSpPr>
          <p:cNvPr id="4" name="副标题 3">
            <a:extLst>
              <a:ext uri="{FF2B5EF4-FFF2-40B4-BE49-F238E27FC236}">
                <a16:creationId xmlns:a16="http://schemas.microsoft.com/office/drawing/2014/main" id="{02F4BAD7-09FA-42F4-8B7F-C8E472E6FCD1}"/>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1.1 </a:t>
            </a:r>
            <a:r>
              <a:rPr kumimoji="1" lang="zh-CN" altLang="en-US" dirty="0">
                <a:solidFill>
                  <a:srgbClr val="C00000"/>
                </a:solidFill>
              </a:rPr>
              <a:t>以太坊简介</a:t>
            </a:r>
            <a:endParaRPr kumimoji="1" lang="en-US" altLang="zh-CN" dirty="0">
              <a:solidFill>
                <a:srgbClr val="C00000"/>
              </a:solidFill>
            </a:endParaRPr>
          </a:p>
          <a:p>
            <a:pPr marL="0" indent="0">
              <a:lnSpc>
                <a:spcPct val="130000"/>
              </a:lnSpc>
              <a:buNone/>
            </a:pPr>
            <a:r>
              <a:rPr kumimoji="1" lang="en-US" altLang="zh-CN" dirty="0"/>
              <a:t>1.2</a:t>
            </a:r>
            <a:r>
              <a:rPr kumimoji="1" lang="zh-CN" altLang="en-US" dirty="0"/>
              <a:t> 以太坊基本架构及原理</a:t>
            </a:r>
            <a:endParaRPr kumimoji="1" lang="en-US" altLang="zh-CN" dirty="0"/>
          </a:p>
          <a:p>
            <a:pPr marL="0" indent="0">
              <a:lnSpc>
                <a:spcPct val="130000"/>
              </a:lnSpc>
              <a:buNone/>
            </a:pPr>
            <a:r>
              <a:rPr kumimoji="1" lang="en-US" altLang="zh-CN" dirty="0"/>
              <a:t>1.3</a:t>
            </a:r>
            <a:r>
              <a:rPr kumimoji="1" lang="zh-CN" altLang="en-US" dirty="0"/>
              <a:t> 以太坊账户模型与转账</a:t>
            </a:r>
            <a:endParaRPr kumimoji="1" lang="en-US" altLang="zh-CN" dirty="0"/>
          </a:p>
          <a:p>
            <a:pPr marL="0" indent="0">
              <a:lnSpc>
                <a:spcPct val="130000"/>
              </a:lnSpc>
              <a:buNone/>
            </a:pPr>
            <a:r>
              <a:rPr kumimoji="1" lang="en-US" altLang="zh-CN" dirty="0"/>
              <a:t>1.4</a:t>
            </a:r>
            <a:r>
              <a:rPr kumimoji="1" lang="zh-CN" altLang="en-US" dirty="0"/>
              <a:t> 智能合约</a:t>
            </a:r>
            <a:endParaRPr kumimoji="1" lang="en-US" altLang="zh-CN" dirty="0"/>
          </a:p>
          <a:p>
            <a:pPr marL="0" indent="0">
              <a:lnSpc>
                <a:spcPct val="130000"/>
              </a:lnSpc>
              <a:buNone/>
            </a:pPr>
            <a:r>
              <a:rPr kumimoji="1" lang="en-US" altLang="zh-CN" dirty="0"/>
              <a:t>1.5</a:t>
            </a:r>
            <a:r>
              <a:rPr kumimoji="1" lang="zh-CN" altLang="en-US" dirty="0"/>
              <a:t> 以太坊交易</a:t>
            </a:r>
            <a:endParaRPr kumimoji="1" lang="en-US" altLang="zh-CN" dirty="0"/>
          </a:p>
          <a:p>
            <a:pPr marL="0" indent="0">
              <a:lnSpc>
                <a:spcPct val="130000"/>
              </a:lnSpc>
              <a:buNone/>
            </a:pPr>
            <a:r>
              <a:rPr kumimoji="1" lang="en-US" altLang="zh-CN" dirty="0"/>
              <a:t>1.6</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
        <p:nvSpPr>
          <p:cNvPr id="6" name="矩形标注 6">
            <a:extLst>
              <a:ext uri="{FF2B5EF4-FFF2-40B4-BE49-F238E27FC236}">
                <a16:creationId xmlns:a16="http://schemas.microsoft.com/office/drawing/2014/main" id="{E5403611-1688-4145-B64D-DF574BC0C6D2}"/>
              </a:ext>
            </a:extLst>
          </p:cNvPr>
          <p:cNvSpPr/>
          <p:nvPr/>
        </p:nvSpPr>
        <p:spPr>
          <a:xfrm>
            <a:off x="6096000" y="1620253"/>
            <a:ext cx="4281889" cy="1808747"/>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以太坊的诞生</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以太坊与比特币对比</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以太坊的特色与应用</a:t>
            </a:r>
          </a:p>
        </p:txBody>
      </p:sp>
    </p:spTree>
    <p:extLst>
      <p:ext uri="{BB962C8B-B14F-4D97-AF65-F5344CB8AC3E}">
        <p14:creationId xmlns:p14="http://schemas.microsoft.com/office/powerpoint/2010/main" val="273057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a:t>
            </a:r>
            <a:r>
              <a:rPr kumimoji="1" lang="en-US" altLang="zh-CN" dirty="0"/>
              <a:t>(Ethereum)</a:t>
            </a:r>
            <a:r>
              <a:rPr kumimoji="1" lang="zh-CN" altLang="en-US" dirty="0"/>
              <a:t>简介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t>第一个支持智能合约的区块链系统</a:t>
            </a:r>
            <a:endParaRPr lang="en-US" altLang="zh-CN" dirty="0"/>
          </a:p>
          <a:p>
            <a:pPr>
              <a:lnSpc>
                <a:spcPct val="140000"/>
              </a:lnSpc>
            </a:pPr>
            <a:r>
              <a:rPr lang="zh-CN" altLang="en-US" dirty="0"/>
              <a:t>使用</a:t>
            </a:r>
            <a:r>
              <a:rPr lang="en-US" altLang="zh-CN" dirty="0"/>
              <a:t>Ether</a:t>
            </a:r>
            <a:r>
              <a:rPr lang="zh-CN" altLang="en-US" dirty="0"/>
              <a:t>作为加密数字货币</a:t>
            </a:r>
            <a:endParaRPr lang="en-US" altLang="zh-CN" dirty="0"/>
          </a:p>
          <a:p>
            <a:pPr>
              <a:lnSpc>
                <a:spcPct val="140000"/>
              </a:lnSpc>
            </a:pPr>
            <a:r>
              <a:rPr lang="zh-CN" altLang="en-US" dirty="0"/>
              <a:t>生态社区最活跃的区块链系统</a:t>
            </a:r>
            <a:endParaRPr lang="en-US" altLang="zh-CN" dirty="0"/>
          </a:p>
          <a:p>
            <a:pPr>
              <a:lnSpc>
                <a:spcPct val="140000"/>
              </a:lnSpc>
            </a:pPr>
            <a:r>
              <a:rPr lang="zh-CN" altLang="en-US" dirty="0"/>
              <a:t>超过</a:t>
            </a:r>
            <a:r>
              <a:rPr lang="en-US" altLang="zh-CN" dirty="0"/>
              <a:t>30,000</a:t>
            </a:r>
            <a:r>
              <a:rPr lang="zh-CN" altLang="en-US" dirty="0"/>
              <a:t>个</a:t>
            </a:r>
            <a:r>
              <a:rPr lang="en-US" altLang="zh-CN" dirty="0" err="1"/>
              <a:t>github</a:t>
            </a:r>
            <a:r>
              <a:rPr lang="zh-CN" altLang="en-US" dirty="0"/>
              <a:t>开源项目</a:t>
            </a:r>
            <a:endParaRPr lang="en-US" altLang="zh-CN" dirty="0"/>
          </a:p>
          <a:p>
            <a:pPr>
              <a:lnSpc>
                <a:spcPct val="140000"/>
              </a:lnSpc>
            </a:pPr>
            <a:r>
              <a:rPr lang="zh-CN" altLang="en-US" dirty="0"/>
              <a:t>超过 </a:t>
            </a:r>
            <a:r>
              <a:rPr lang="en-US" altLang="zh-CN" dirty="0"/>
              <a:t>3000 </a:t>
            </a:r>
            <a:r>
              <a:rPr lang="zh-CN" altLang="en-US" dirty="0"/>
              <a:t>个基于以太坊的 </a:t>
            </a:r>
            <a:r>
              <a:rPr lang="en-US" altLang="zh-CN" dirty="0" err="1"/>
              <a:t>Dapp</a:t>
            </a:r>
            <a:endParaRPr lang="en-US" altLang="zh-CN" dirty="0"/>
          </a:p>
          <a:p>
            <a:pPr>
              <a:lnSpc>
                <a:spcPct val="140000"/>
              </a:lnSpc>
            </a:pPr>
            <a:r>
              <a:rPr lang="en-US" altLang="zh-CN" dirty="0"/>
              <a:t>…</a:t>
            </a:r>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385809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以太坊的诞生与发展</a:t>
            </a:r>
          </a:p>
        </p:txBody>
      </p:sp>
      <p:sp>
        <p:nvSpPr>
          <p:cNvPr id="3" name="内容占位符 2"/>
          <p:cNvSpPr>
            <a:spLocks noGrp="1"/>
          </p:cNvSpPr>
          <p:nvPr>
            <p:ph idx="1"/>
          </p:nvPr>
        </p:nvSpPr>
        <p:spPr>
          <a:xfrm>
            <a:off x="2627243" y="1906180"/>
            <a:ext cx="8849139" cy="4586694"/>
          </a:xfrm>
        </p:spPr>
        <p:txBody>
          <a:bodyPr>
            <a:normAutofit fontScale="92500" lnSpcReduction="20000"/>
          </a:bodyPr>
          <a:lstStyle/>
          <a:p>
            <a:r>
              <a:rPr lang="en-US" altLang="zh-CN" dirty="0"/>
              <a:t>Frontier</a:t>
            </a:r>
            <a:r>
              <a:rPr lang="zh-CN" altLang="en-US" dirty="0"/>
              <a:t>阶段 </a:t>
            </a:r>
            <a:endParaRPr lang="en-US" altLang="zh-CN" dirty="0"/>
          </a:p>
          <a:p>
            <a:pPr lvl="1"/>
            <a:r>
              <a:rPr lang="zh-CN" altLang="en-US" dirty="0"/>
              <a:t>仅开发者测试使用</a:t>
            </a:r>
            <a:endParaRPr lang="en-US" altLang="zh-CN" dirty="0"/>
          </a:p>
          <a:p>
            <a:endParaRPr lang="en-US" altLang="zh-CN" dirty="0"/>
          </a:p>
          <a:p>
            <a:r>
              <a:rPr lang="en-US" altLang="zh-CN" dirty="0"/>
              <a:t>Homestead</a:t>
            </a:r>
            <a:r>
              <a:rPr lang="zh-CN" altLang="en-US" dirty="0"/>
              <a:t>阶段</a:t>
            </a:r>
            <a:endParaRPr lang="en-US" altLang="zh-CN" dirty="0"/>
          </a:p>
          <a:p>
            <a:pPr lvl="1"/>
            <a:r>
              <a:rPr lang="zh-CN" altLang="en-US" dirty="0"/>
              <a:t>提供图形界面，提升安全性和平稳性</a:t>
            </a:r>
            <a:endParaRPr lang="en-US" altLang="zh-CN" dirty="0"/>
          </a:p>
          <a:p>
            <a:pPr lvl="1"/>
            <a:endParaRPr lang="en-US" altLang="zh-CN" dirty="0"/>
          </a:p>
          <a:p>
            <a:r>
              <a:rPr lang="en-US" altLang="zh-CN" dirty="0"/>
              <a:t>Metropolis</a:t>
            </a:r>
            <a:r>
              <a:rPr lang="zh-CN" altLang="en-US" dirty="0"/>
              <a:t>阶段</a:t>
            </a:r>
            <a:endParaRPr lang="en-US" altLang="zh-CN" dirty="0"/>
          </a:p>
          <a:p>
            <a:pPr lvl="1"/>
            <a:r>
              <a:rPr lang="zh-CN" altLang="en-US" dirty="0"/>
              <a:t>在智能合约执行性能、以太坊经济政策等方面进行了优化</a:t>
            </a:r>
            <a:endParaRPr lang="en-US" altLang="zh-CN" dirty="0"/>
          </a:p>
          <a:p>
            <a:pPr marL="457200" lvl="1" indent="0">
              <a:buNone/>
            </a:pPr>
            <a:endParaRPr lang="en-US" altLang="zh-CN" dirty="0"/>
          </a:p>
          <a:p>
            <a:r>
              <a:rPr lang="en-US" altLang="zh-CN" dirty="0"/>
              <a:t>Serenity</a:t>
            </a:r>
            <a:r>
              <a:rPr lang="zh-CN" altLang="en-US" dirty="0"/>
              <a:t>阶段</a:t>
            </a:r>
            <a:endParaRPr lang="en-US" altLang="zh-CN" dirty="0"/>
          </a:p>
          <a:p>
            <a:pPr lvl="1"/>
            <a:r>
              <a:rPr lang="zh-CN" altLang="en-US" dirty="0"/>
              <a:t>预期将共识机制从工作量证明</a:t>
            </a:r>
            <a:r>
              <a:rPr lang="en-US" altLang="zh-CN" dirty="0"/>
              <a:t>(Proof of Work</a:t>
            </a:r>
            <a:r>
              <a:rPr lang="zh-CN" altLang="en-US" dirty="0"/>
              <a:t>，简称 </a:t>
            </a:r>
            <a:r>
              <a:rPr lang="en-US" altLang="zh-CN" dirty="0" err="1"/>
              <a:t>PoW</a:t>
            </a:r>
            <a:r>
              <a:rPr lang="en-US" altLang="zh-CN" dirty="0"/>
              <a:t>)</a:t>
            </a:r>
            <a:r>
              <a:rPr lang="zh-CN" altLang="en-US" dirty="0"/>
              <a:t>转向 </a:t>
            </a:r>
            <a:r>
              <a:rPr lang="en-US" altLang="zh-CN" dirty="0" err="1"/>
              <a:t>PoS</a:t>
            </a:r>
            <a:r>
              <a:rPr lang="zh-CN" altLang="en-US" dirty="0"/>
              <a:t>，使持币者也能有一定的决定权 </a:t>
            </a:r>
          </a:p>
          <a:p>
            <a:pPr marL="457200" lvl="1" indent="0">
              <a:buNone/>
            </a:pPr>
            <a:endParaRPr lang="zh-CN" altLang="en-US" dirty="0"/>
          </a:p>
        </p:txBody>
      </p:sp>
      <p:sp>
        <p:nvSpPr>
          <p:cNvPr id="4" name="下箭头 3">
            <a:extLst>
              <a:ext uri="{FF2B5EF4-FFF2-40B4-BE49-F238E27FC236}">
                <a16:creationId xmlns:a16="http://schemas.microsoft.com/office/drawing/2014/main" id="{D097A6AE-B145-5A4D-BA66-59A6CDA2BE60}"/>
              </a:ext>
            </a:extLst>
          </p:cNvPr>
          <p:cNvSpPr/>
          <p:nvPr/>
        </p:nvSpPr>
        <p:spPr>
          <a:xfrm>
            <a:off x="485874" y="1523598"/>
            <a:ext cx="689113" cy="38107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1" name="直线箭头连接符 10">
            <a:extLst>
              <a:ext uri="{FF2B5EF4-FFF2-40B4-BE49-F238E27FC236}">
                <a16:creationId xmlns:a16="http://schemas.microsoft.com/office/drawing/2014/main" id="{AC8BE801-5B9B-7641-BCFF-3715A5DF4E7C}"/>
              </a:ext>
            </a:extLst>
          </p:cNvPr>
          <p:cNvCxnSpPr>
            <a:cxnSpLocks/>
          </p:cNvCxnSpPr>
          <p:nvPr/>
        </p:nvCxnSpPr>
        <p:spPr>
          <a:xfrm>
            <a:off x="1174987" y="1906180"/>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707DB248-F685-684F-BBF8-35C81B3E514B}"/>
              </a:ext>
            </a:extLst>
          </p:cNvPr>
          <p:cNvSpPr txBox="1"/>
          <p:nvPr/>
        </p:nvSpPr>
        <p:spPr>
          <a:xfrm>
            <a:off x="1129040" y="1523598"/>
            <a:ext cx="1505540" cy="369332"/>
          </a:xfrm>
          <a:prstGeom prst="rect">
            <a:avLst/>
          </a:prstGeom>
          <a:noFill/>
        </p:spPr>
        <p:txBody>
          <a:bodyPr wrap="none" rtlCol="0">
            <a:spAutoFit/>
          </a:bodyPr>
          <a:lstStyle/>
          <a:p>
            <a:r>
              <a:rPr lang="en-US" altLang="zh-CN" dirty="0"/>
              <a:t>2015 </a:t>
            </a:r>
            <a:r>
              <a:rPr lang="zh-CN" altLang="en-US" dirty="0"/>
              <a:t>年 </a:t>
            </a:r>
            <a:r>
              <a:rPr lang="en-US" altLang="zh-CN" dirty="0"/>
              <a:t>7 </a:t>
            </a:r>
            <a:r>
              <a:rPr lang="zh-CN" altLang="en-US" dirty="0"/>
              <a:t>月 </a:t>
            </a:r>
          </a:p>
        </p:txBody>
      </p:sp>
      <p:sp>
        <p:nvSpPr>
          <p:cNvPr id="118" name="文本框 117">
            <a:extLst>
              <a:ext uri="{FF2B5EF4-FFF2-40B4-BE49-F238E27FC236}">
                <a16:creationId xmlns:a16="http://schemas.microsoft.com/office/drawing/2014/main" id="{E8915E3D-6FE8-1849-80F0-3669C70EB0E5}"/>
              </a:ext>
            </a:extLst>
          </p:cNvPr>
          <p:cNvSpPr txBox="1"/>
          <p:nvPr/>
        </p:nvSpPr>
        <p:spPr>
          <a:xfrm>
            <a:off x="1129040" y="2748238"/>
            <a:ext cx="1505540" cy="369332"/>
          </a:xfrm>
          <a:prstGeom prst="rect">
            <a:avLst/>
          </a:prstGeom>
          <a:noFill/>
        </p:spPr>
        <p:txBody>
          <a:bodyPr wrap="none" rtlCol="0">
            <a:spAutoFit/>
          </a:bodyPr>
          <a:lstStyle/>
          <a:p>
            <a:r>
              <a:rPr lang="en-US" altLang="zh-CN" dirty="0"/>
              <a:t>2016 </a:t>
            </a:r>
            <a:r>
              <a:rPr lang="zh-CN" altLang="en-US" dirty="0"/>
              <a:t>年 </a:t>
            </a:r>
            <a:r>
              <a:rPr lang="en-US" altLang="zh-CN" dirty="0"/>
              <a:t>3</a:t>
            </a:r>
            <a:r>
              <a:rPr lang="zh-CN" altLang="en-US" dirty="0"/>
              <a:t> 月 </a:t>
            </a:r>
          </a:p>
        </p:txBody>
      </p:sp>
      <p:sp>
        <p:nvSpPr>
          <p:cNvPr id="121" name="文本框 120">
            <a:extLst>
              <a:ext uri="{FF2B5EF4-FFF2-40B4-BE49-F238E27FC236}">
                <a16:creationId xmlns:a16="http://schemas.microsoft.com/office/drawing/2014/main" id="{A05C9304-87C5-064F-B6DF-0D57B0E9823B}"/>
              </a:ext>
            </a:extLst>
          </p:cNvPr>
          <p:cNvSpPr txBox="1"/>
          <p:nvPr/>
        </p:nvSpPr>
        <p:spPr>
          <a:xfrm>
            <a:off x="1129040" y="3848761"/>
            <a:ext cx="1627369" cy="369332"/>
          </a:xfrm>
          <a:prstGeom prst="rect">
            <a:avLst/>
          </a:prstGeom>
          <a:noFill/>
        </p:spPr>
        <p:txBody>
          <a:bodyPr wrap="none" rtlCol="0">
            <a:spAutoFit/>
          </a:bodyPr>
          <a:lstStyle/>
          <a:p>
            <a:r>
              <a:rPr lang="en-US" altLang="zh-CN" dirty="0"/>
              <a:t>2017 </a:t>
            </a:r>
            <a:r>
              <a:rPr lang="zh-CN" altLang="en-US" dirty="0"/>
              <a:t>年 </a:t>
            </a:r>
            <a:r>
              <a:rPr lang="en-US" altLang="zh-CN" dirty="0"/>
              <a:t>10</a:t>
            </a:r>
            <a:r>
              <a:rPr lang="zh-CN" altLang="en-US" dirty="0"/>
              <a:t> 月 </a:t>
            </a:r>
          </a:p>
        </p:txBody>
      </p:sp>
      <p:sp>
        <p:nvSpPr>
          <p:cNvPr id="13" name="文本框 12">
            <a:extLst>
              <a:ext uri="{FF2B5EF4-FFF2-40B4-BE49-F238E27FC236}">
                <a16:creationId xmlns:a16="http://schemas.microsoft.com/office/drawing/2014/main" id="{E8D0EC52-E632-AF4D-9CF7-7392BF7DF163}"/>
              </a:ext>
            </a:extLst>
          </p:cNvPr>
          <p:cNvSpPr txBox="1"/>
          <p:nvPr/>
        </p:nvSpPr>
        <p:spPr>
          <a:xfrm>
            <a:off x="1212396" y="4979945"/>
            <a:ext cx="1338828" cy="369332"/>
          </a:xfrm>
          <a:prstGeom prst="rect">
            <a:avLst/>
          </a:prstGeom>
          <a:noFill/>
        </p:spPr>
        <p:txBody>
          <a:bodyPr wrap="none" rtlCol="0">
            <a:spAutoFit/>
          </a:bodyPr>
          <a:lstStyle/>
          <a:p>
            <a:r>
              <a:rPr kumimoji="1" lang="zh-CN" altLang="en-US" dirty="0"/>
              <a:t>至今未完成</a:t>
            </a:r>
          </a:p>
        </p:txBody>
      </p:sp>
      <p:cxnSp>
        <p:nvCxnSpPr>
          <p:cNvPr id="126" name="直线箭头连接符 125">
            <a:extLst>
              <a:ext uri="{FF2B5EF4-FFF2-40B4-BE49-F238E27FC236}">
                <a16:creationId xmlns:a16="http://schemas.microsoft.com/office/drawing/2014/main" id="{9EE4C527-9EE2-874F-9F05-086707BBD6D4}"/>
              </a:ext>
            </a:extLst>
          </p:cNvPr>
          <p:cNvCxnSpPr>
            <a:cxnSpLocks/>
          </p:cNvCxnSpPr>
          <p:nvPr/>
        </p:nvCxnSpPr>
        <p:spPr>
          <a:xfrm>
            <a:off x="1174987" y="3148567"/>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线箭头连接符 126">
            <a:extLst>
              <a:ext uri="{FF2B5EF4-FFF2-40B4-BE49-F238E27FC236}">
                <a16:creationId xmlns:a16="http://schemas.microsoft.com/office/drawing/2014/main" id="{C563DDEA-7BE9-E349-B322-2E6A0C4BD1FF}"/>
              </a:ext>
            </a:extLst>
          </p:cNvPr>
          <p:cNvCxnSpPr>
            <a:cxnSpLocks/>
          </p:cNvCxnSpPr>
          <p:nvPr/>
        </p:nvCxnSpPr>
        <p:spPr>
          <a:xfrm>
            <a:off x="1182324" y="4217272"/>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直线箭头连接符 127">
            <a:extLst>
              <a:ext uri="{FF2B5EF4-FFF2-40B4-BE49-F238E27FC236}">
                <a16:creationId xmlns:a16="http://schemas.microsoft.com/office/drawing/2014/main" id="{F2569781-0E14-C441-8FF8-B934FF3BF99C}"/>
              </a:ext>
            </a:extLst>
          </p:cNvPr>
          <p:cNvCxnSpPr>
            <a:cxnSpLocks/>
          </p:cNvCxnSpPr>
          <p:nvPr/>
        </p:nvCxnSpPr>
        <p:spPr>
          <a:xfrm>
            <a:off x="1182324" y="5358371"/>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96240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以太坊与比特币对比</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t>技术</a:t>
            </a:r>
            <a:endParaRPr lang="en-US" altLang="zh-CN" dirty="0"/>
          </a:p>
          <a:p>
            <a:pPr lvl="1">
              <a:lnSpc>
                <a:spcPct val="140000"/>
              </a:lnSpc>
            </a:pPr>
            <a:r>
              <a:rPr lang="zh-CN" altLang="en-US" dirty="0"/>
              <a:t>支持智能合约</a:t>
            </a:r>
            <a:endParaRPr lang="en-US" altLang="zh-CN" dirty="0"/>
          </a:p>
          <a:p>
            <a:pPr>
              <a:lnSpc>
                <a:spcPct val="140000"/>
              </a:lnSpc>
            </a:pPr>
            <a:r>
              <a:rPr lang="zh-CN" altLang="en-US" dirty="0"/>
              <a:t>性能</a:t>
            </a:r>
            <a:endParaRPr lang="en-US" altLang="zh-CN" dirty="0"/>
          </a:p>
          <a:p>
            <a:pPr lvl="1">
              <a:lnSpc>
                <a:spcPct val="140000"/>
              </a:lnSpc>
            </a:pPr>
            <a:r>
              <a:rPr lang="zh-CN" altLang="en-US" dirty="0"/>
              <a:t>增加叔块</a:t>
            </a:r>
            <a:r>
              <a:rPr lang="en-US" altLang="zh-CN" dirty="0"/>
              <a:t>(Heaviest)</a:t>
            </a:r>
            <a:r>
              <a:rPr lang="zh-CN" altLang="en-US" dirty="0"/>
              <a:t>奖励，减少出块时间</a:t>
            </a:r>
            <a:endParaRPr lang="en-US" altLang="zh-CN" dirty="0"/>
          </a:p>
          <a:p>
            <a:pPr lvl="1">
              <a:lnSpc>
                <a:spcPct val="140000"/>
              </a:lnSpc>
            </a:pPr>
            <a:r>
              <a:rPr lang="en-US" altLang="zh-CN" dirty="0" err="1"/>
              <a:t>EtHash</a:t>
            </a:r>
            <a:r>
              <a:rPr lang="en-US" altLang="zh-CN" dirty="0"/>
              <a:t> (Proof of Work) </a:t>
            </a:r>
            <a:r>
              <a:rPr lang="zh-CN" altLang="en-US" dirty="0"/>
              <a:t>共识机制</a:t>
            </a:r>
            <a:endParaRPr lang="en-US" altLang="zh-CN" dirty="0"/>
          </a:p>
          <a:p>
            <a:pPr>
              <a:lnSpc>
                <a:spcPct val="140000"/>
              </a:lnSpc>
            </a:pPr>
            <a:r>
              <a:rPr lang="zh-CN" altLang="en-US" dirty="0"/>
              <a:t>社区</a:t>
            </a:r>
            <a:endParaRPr lang="en-US" altLang="zh-CN" dirty="0"/>
          </a:p>
          <a:p>
            <a:pPr lvl="1">
              <a:lnSpc>
                <a:spcPct val="140000"/>
              </a:lnSpc>
            </a:pPr>
            <a:r>
              <a:rPr lang="zh-CN" altLang="en-US" dirty="0"/>
              <a:t>更加活跃的社区</a:t>
            </a:r>
            <a:endParaRPr lang="en-US" altLang="zh-CN" dirty="0"/>
          </a:p>
          <a:p>
            <a:pPr lvl="1">
              <a:lnSpc>
                <a:spcPct val="140000"/>
              </a:lnSpc>
            </a:pPr>
            <a:r>
              <a:rPr lang="zh-CN" altLang="en-US" dirty="0"/>
              <a:t>超过</a:t>
            </a:r>
            <a:r>
              <a:rPr lang="en-US" altLang="zh-CN" dirty="0"/>
              <a:t>35k</a:t>
            </a:r>
            <a:r>
              <a:rPr lang="zh-CN" altLang="en-US" dirty="0"/>
              <a:t>的开源项目</a:t>
            </a: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4" name="椭圆 3">
            <a:extLst>
              <a:ext uri="{FF2B5EF4-FFF2-40B4-BE49-F238E27FC236}">
                <a16:creationId xmlns:a16="http://schemas.microsoft.com/office/drawing/2014/main" id="{B4FE7CCC-481C-874D-B55D-26C9FB4BC2A3}"/>
              </a:ext>
            </a:extLst>
          </p:cNvPr>
          <p:cNvSpPr/>
          <p:nvPr/>
        </p:nvSpPr>
        <p:spPr>
          <a:xfrm>
            <a:off x="9365650" y="4344506"/>
            <a:ext cx="2756452" cy="2027582"/>
          </a:xfrm>
          <a:prstGeom prst="ellipse">
            <a:avLst/>
          </a:prstGeom>
          <a:solidFill>
            <a:srgbClr val="00AF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技术</a:t>
            </a:r>
            <a:endParaRPr kumimoji="1" lang="en-US" altLang="zh-CN" b="1" dirty="0"/>
          </a:p>
          <a:p>
            <a:pPr algn="ctr"/>
            <a:r>
              <a:rPr kumimoji="1" lang="zh-CN" altLang="en-US" dirty="0"/>
              <a:t>对智能合约的支持</a:t>
            </a:r>
          </a:p>
        </p:txBody>
      </p:sp>
      <p:sp>
        <p:nvSpPr>
          <p:cNvPr id="6" name="椭圆 5">
            <a:extLst>
              <a:ext uri="{FF2B5EF4-FFF2-40B4-BE49-F238E27FC236}">
                <a16:creationId xmlns:a16="http://schemas.microsoft.com/office/drawing/2014/main" id="{37E1939E-981F-804B-B7AD-F1056DB2CB37}"/>
              </a:ext>
            </a:extLst>
          </p:cNvPr>
          <p:cNvSpPr/>
          <p:nvPr/>
        </p:nvSpPr>
        <p:spPr>
          <a:xfrm>
            <a:off x="5423124" y="4350173"/>
            <a:ext cx="2756452" cy="2027582"/>
          </a:xfrm>
          <a:prstGeom prst="ellipse">
            <a:avLst/>
          </a:prstGeom>
          <a:solidFill>
            <a:srgbClr val="0081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性能</a:t>
            </a:r>
            <a:endParaRPr kumimoji="1" lang="en-US" altLang="zh-CN" b="1" dirty="0"/>
          </a:p>
          <a:p>
            <a:pPr algn="ctr"/>
            <a:r>
              <a:rPr kumimoji="1" lang="zh-CN" altLang="en-US" dirty="0"/>
              <a:t>更先进的奖励机制</a:t>
            </a:r>
          </a:p>
        </p:txBody>
      </p:sp>
      <p:sp>
        <p:nvSpPr>
          <p:cNvPr id="7" name="椭圆 6">
            <a:extLst>
              <a:ext uri="{FF2B5EF4-FFF2-40B4-BE49-F238E27FC236}">
                <a16:creationId xmlns:a16="http://schemas.microsoft.com/office/drawing/2014/main" id="{3C94C791-F8C9-644C-93D6-B4DA79DBA149}"/>
              </a:ext>
            </a:extLst>
          </p:cNvPr>
          <p:cNvSpPr/>
          <p:nvPr/>
        </p:nvSpPr>
        <p:spPr>
          <a:xfrm>
            <a:off x="7298304" y="2016067"/>
            <a:ext cx="2756452" cy="2027582"/>
          </a:xfrm>
          <a:prstGeom prst="ellipse">
            <a:avLst/>
          </a:prstGeom>
          <a:solidFill>
            <a:srgbClr val="EE6C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社区</a:t>
            </a:r>
            <a:endParaRPr kumimoji="1" lang="en-US" altLang="zh-CN" b="1" dirty="0"/>
          </a:p>
          <a:p>
            <a:pPr algn="ctr"/>
            <a:r>
              <a:rPr kumimoji="1" lang="zh-CN" altLang="en-US" dirty="0"/>
              <a:t>更活跃的社区讨论</a:t>
            </a:r>
          </a:p>
        </p:txBody>
      </p:sp>
      <p:sp>
        <p:nvSpPr>
          <p:cNvPr id="5" name="上箭头 4">
            <a:extLst>
              <a:ext uri="{FF2B5EF4-FFF2-40B4-BE49-F238E27FC236}">
                <a16:creationId xmlns:a16="http://schemas.microsoft.com/office/drawing/2014/main" id="{25CD5789-DFA7-CC4A-81AE-E73AC25F9BC0}"/>
              </a:ext>
            </a:extLst>
          </p:cNvPr>
          <p:cNvSpPr/>
          <p:nvPr/>
        </p:nvSpPr>
        <p:spPr>
          <a:xfrm rot="2365758">
            <a:off x="7374110" y="3638693"/>
            <a:ext cx="384313" cy="90206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上箭头 8">
            <a:extLst>
              <a:ext uri="{FF2B5EF4-FFF2-40B4-BE49-F238E27FC236}">
                <a16:creationId xmlns:a16="http://schemas.microsoft.com/office/drawing/2014/main" id="{3DA286B2-3A3D-6B4A-BD7E-8A0C7FFEC0D2}"/>
              </a:ext>
            </a:extLst>
          </p:cNvPr>
          <p:cNvSpPr/>
          <p:nvPr/>
        </p:nvSpPr>
        <p:spPr>
          <a:xfrm rot="19064183">
            <a:off x="9517253" y="3743047"/>
            <a:ext cx="384313" cy="90206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92219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以太坊特色与应用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t>溯源存证 </a:t>
            </a:r>
          </a:p>
          <a:p>
            <a:pPr>
              <a:lnSpc>
                <a:spcPct val="140000"/>
              </a:lnSpc>
            </a:pPr>
            <a:r>
              <a:rPr lang="zh-CN" altLang="en-US" dirty="0"/>
              <a:t>数字资产发行和流通 </a:t>
            </a:r>
          </a:p>
          <a:p>
            <a:pPr>
              <a:lnSpc>
                <a:spcPct val="140000"/>
              </a:lnSpc>
            </a:pPr>
            <a:r>
              <a:rPr lang="zh-CN" altLang="en-US" dirty="0"/>
              <a:t>数据共享 </a:t>
            </a:r>
          </a:p>
          <a:p>
            <a:pPr>
              <a:lnSpc>
                <a:spcPct val="140000"/>
              </a:lnSpc>
            </a:pPr>
            <a:r>
              <a:rPr lang="en-US" altLang="zh-CN" dirty="0"/>
              <a:t>…</a:t>
            </a:r>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pic>
        <p:nvPicPr>
          <p:cNvPr id="4" name="图片 3">
            <a:extLst>
              <a:ext uri="{FF2B5EF4-FFF2-40B4-BE49-F238E27FC236}">
                <a16:creationId xmlns:a16="http://schemas.microsoft.com/office/drawing/2014/main" id="{26FC795A-ECC2-F843-A8B4-0AEB14DB3E8D}"/>
              </a:ext>
            </a:extLst>
          </p:cNvPr>
          <p:cNvPicPr>
            <a:picLocks noChangeAspect="1"/>
          </p:cNvPicPr>
          <p:nvPr/>
        </p:nvPicPr>
        <p:blipFill>
          <a:blip r:embed="rId3"/>
          <a:stretch>
            <a:fillRect/>
          </a:stretch>
        </p:blipFill>
        <p:spPr>
          <a:xfrm>
            <a:off x="4461007" y="2462721"/>
            <a:ext cx="7336138" cy="4030153"/>
          </a:xfrm>
          <a:prstGeom prst="rect">
            <a:avLst/>
          </a:prstGeom>
        </p:spPr>
      </p:pic>
    </p:spTree>
    <p:extLst>
      <p:ext uri="{BB962C8B-B14F-4D97-AF65-F5344CB8AC3E}">
        <p14:creationId xmlns:p14="http://schemas.microsoft.com/office/powerpoint/2010/main" val="3356339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以太坊简介</a:t>
            </a:r>
            <a:endParaRPr kumimoji="1" lang="en-US" altLang="zh-CN" dirty="0"/>
          </a:p>
          <a:p>
            <a:pPr marL="0" indent="0">
              <a:lnSpc>
                <a:spcPct val="130000"/>
              </a:lnSpc>
              <a:buNone/>
            </a:pPr>
            <a:r>
              <a:rPr kumimoji="1" lang="en-US" altLang="zh-CN" dirty="0">
                <a:solidFill>
                  <a:srgbClr val="C00000"/>
                </a:solidFill>
              </a:rPr>
              <a:t>1.2</a:t>
            </a:r>
            <a:r>
              <a:rPr kumimoji="1" lang="zh-CN" altLang="en-US" dirty="0">
                <a:solidFill>
                  <a:srgbClr val="C00000"/>
                </a:solidFill>
              </a:rPr>
              <a:t> 以太坊基本架构及原理</a:t>
            </a:r>
            <a:endParaRPr kumimoji="1" lang="en-US" altLang="zh-CN" dirty="0">
              <a:solidFill>
                <a:srgbClr val="C00000"/>
              </a:solidFill>
            </a:endParaRPr>
          </a:p>
          <a:p>
            <a:pPr marL="0" indent="0">
              <a:lnSpc>
                <a:spcPct val="130000"/>
              </a:lnSpc>
              <a:buNone/>
            </a:pPr>
            <a:r>
              <a:rPr kumimoji="1" lang="en-US" altLang="zh-CN" dirty="0"/>
              <a:t>1.3</a:t>
            </a:r>
            <a:r>
              <a:rPr kumimoji="1" lang="zh-CN" altLang="en-US" dirty="0"/>
              <a:t> 以太坊账户模型与转账</a:t>
            </a:r>
            <a:endParaRPr kumimoji="1" lang="en-US" altLang="zh-CN" dirty="0"/>
          </a:p>
          <a:p>
            <a:pPr marL="0" indent="0">
              <a:lnSpc>
                <a:spcPct val="130000"/>
              </a:lnSpc>
              <a:buNone/>
            </a:pPr>
            <a:r>
              <a:rPr kumimoji="1" lang="en-US" altLang="zh-CN" dirty="0"/>
              <a:t>1.4</a:t>
            </a:r>
            <a:r>
              <a:rPr kumimoji="1" lang="zh-CN" altLang="en-US" dirty="0"/>
              <a:t> 智能合约</a:t>
            </a:r>
            <a:endParaRPr kumimoji="1" lang="en-US" altLang="zh-CN" dirty="0"/>
          </a:p>
          <a:p>
            <a:pPr marL="0" indent="0">
              <a:lnSpc>
                <a:spcPct val="130000"/>
              </a:lnSpc>
              <a:buNone/>
            </a:pPr>
            <a:r>
              <a:rPr kumimoji="1" lang="en-US" altLang="zh-CN" dirty="0"/>
              <a:t>1.5</a:t>
            </a:r>
            <a:r>
              <a:rPr kumimoji="1" lang="zh-CN" altLang="en-US" dirty="0"/>
              <a:t> 以太坊交易</a:t>
            </a:r>
            <a:endParaRPr kumimoji="1" lang="en-US" altLang="zh-CN" dirty="0"/>
          </a:p>
          <a:p>
            <a:pPr marL="0" indent="0">
              <a:lnSpc>
                <a:spcPct val="130000"/>
              </a:lnSpc>
              <a:buNone/>
            </a:pPr>
            <a:r>
              <a:rPr kumimoji="1" lang="en-US" altLang="zh-CN" dirty="0"/>
              <a:t>1.6</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Tree>
    <p:extLst>
      <p:ext uri="{BB962C8B-B14F-4D97-AF65-F5344CB8AC3E}">
        <p14:creationId xmlns:p14="http://schemas.microsoft.com/office/powerpoint/2010/main" val="16418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40000"/>
              </a:lnSpc>
            </a:pPr>
            <a:r>
              <a:rPr lang="zh-CN" altLang="en-US" dirty="0"/>
              <a:t>定义</a:t>
            </a:r>
            <a:endParaRPr lang="en-US" altLang="zh-CN" dirty="0"/>
          </a:p>
          <a:p>
            <a:pPr lvl="1">
              <a:lnSpc>
                <a:spcPct val="140000"/>
              </a:lnSpc>
            </a:pPr>
            <a:r>
              <a:rPr lang="zh-CN" altLang="en-US" dirty="0"/>
              <a:t>以太坊状态</a:t>
            </a:r>
            <a:endParaRPr lang="en-US" altLang="zh-CN" dirty="0"/>
          </a:p>
          <a:p>
            <a:pPr lvl="2">
              <a:lnSpc>
                <a:spcPct val="140000"/>
              </a:lnSpc>
            </a:pPr>
            <a:r>
              <a:rPr lang="zh-CN" altLang="en-US" dirty="0"/>
              <a:t>所有以太坊账户</a:t>
            </a:r>
            <a:endParaRPr lang="en-US" altLang="zh-CN" dirty="0"/>
          </a:p>
          <a:p>
            <a:pPr lvl="2">
              <a:lnSpc>
                <a:spcPct val="140000"/>
              </a:lnSpc>
            </a:pPr>
            <a:r>
              <a:rPr lang="zh-CN" altLang="en-US" dirty="0"/>
              <a:t>账户余额</a:t>
            </a:r>
            <a:endParaRPr lang="en-US" altLang="zh-CN" dirty="0"/>
          </a:p>
          <a:p>
            <a:pPr lvl="2">
              <a:lnSpc>
                <a:spcPct val="140000"/>
              </a:lnSpc>
            </a:pPr>
            <a:r>
              <a:rPr lang="zh-CN" altLang="en-US" dirty="0"/>
              <a:t>智能合约代码</a:t>
            </a:r>
            <a:endParaRPr lang="en-US" altLang="zh-CN" dirty="0"/>
          </a:p>
          <a:p>
            <a:pPr lvl="2">
              <a:lnSpc>
                <a:spcPct val="140000"/>
              </a:lnSpc>
            </a:pPr>
            <a:r>
              <a:rPr lang="zh-CN" altLang="en-US" dirty="0"/>
              <a:t>智能合约状态</a:t>
            </a:r>
            <a:endParaRPr lang="en-US" altLang="zh-CN" dirty="0"/>
          </a:p>
          <a:p>
            <a:pPr lvl="1">
              <a:lnSpc>
                <a:spcPct val="140000"/>
              </a:lnSpc>
            </a:pPr>
            <a:r>
              <a:rPr lang="zh-CN" altLang="en-US" dirty="0"/>
              <a:t>状态转移</a:t>
            </a:r>
            <a:endParaRPr lang="en-US" altLang="zh-CN" dirty="0"/>
          </a:p>
          <a:p>
            <a:pPr lvl="2">
              <a:lnSpc>
                <a:spcPct val="140000"/>
              </a:lnSpc>
            </a:pPr>
            <a:r>
              <a:rPr lang="zh-TW" altLang="zh-CN" dirty="0"/>
              <a:t>在区块N执行前状态为S，经过区块N的交易进行状态转换后，转换为状态S'，再经过区块N+1的转换后，转换为状态S''</a:t>
            </a:r>
            <a:endParaRPr lang="en-US" altLang="zh-CN" dirty="0">
              <a:solidFill>
                <a:srgbClr val="C00000"/>
              </a:solidFill>
            </a:endParaRPr>
          </a:p>
          <a:p>
            <a:pPr lvl="2">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extLst>
      <p:ext uri="{BB962C8B-B14F-4D97-AF65-F5344CB8AC3E}">
        <p14:creationId xmlns:p14="http://schemas.microsoft.com/office/powerpoint/2010/main" val="2706017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lvl="1">
              <a:lnSpc>
                <a:spcPct val="140000"/>
              </a:lnSpc>
            </a:pPr>
            <a:r>
              <a:rPr lang="zh-CN" altLang="en-US" dirty="0"/>
              <a:t>以太坊状态转移</a:t>
            </a:r>
            <a:endParaRPr lang="en-US" altLang="zh-CN" dirty="0"/>
          </a:p>
          <a:p>
            <a:pPr lvl="2">
              <a:lnSpc>
                <a:spcPct val="140000"/>
              </a:lnSpc>
            </a:pPr>
            <a:r>
              <a:rPr lang="zh-TW" altLang="zh-CN" dirty="0"/>
              <a:t>智能合约</a:t>
            </a:r>
            <a:r>
              <a:rPr lang="zh-CN" altLang="en-US" dirty="0"/>
              <a:t>：</a:t>
            </a:r>
            <a:r>
              <a:rPr lang="zh-TW" altLang="zh-CN" dirty="0"/>
              <a:t>作用于该状态机转换的代码</a:t>
            </a:r>
            <a:endParaRPr lang="en-US" altLang="zh-TW" dirty="0"/>
          </a:p>
          <a:p>
            <a:pPr lvl="2">
              <a:lnSpc>
                <a:spcPct val="140000"/>
              </a:lnSpc>
            </a:pPr>
            <a:r>
              <a:rPr lang="zh-CN" altLang="en-US" dirty="0"/>
              <a:t>以太坊虚拟机</a:t>
            </a:r>
            <a:r>
              <a:rPr lang="zh-TW" altLang="zh-CN" dirty="0"/>
              <a:t>（Ethereum Virtual Machine，简称EVM）</a:t>
            </a:r>
            <a:r>
              <a:rPr lang="zh-CN" altLang="en-US" dirty="0"/>
              <a:t>：</a:t>
            </a:r>
            <a:r>
              <a:rPr lang="zh-TW" altLang="zh-CN" dirty="0"/>
              <a:t>执行状态转换代码的虚拟机</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pic>
        <p:nvPicPr>
          <p:cNvPr id="6" name="图片 5">
            <a:extLst>
              <a:ext uri="{FF2B5EF4-FFF2-40B4-BE49-F238E27FC236}">
                <a16:creationId xmlns:a16="http://schemas.microsoft.com/office/drawing/2014/main" id="{9EE72932-ABC2-9D45-B863-5870A3F25B8F}"/>
              </a:ext>
            </a:extLst>
          </p:cNvPr>
          <p:cNvPicPr/>
          <p:nvPr/>
        </p:nvPicPr>
        <p:blipFill>
          <a:blip r:embed="rId3">
            <a:extLst>
              <a:ext uri="{28A0092B-C50C-407E-A947-70E740481C1C}">
                <a14:useLocalDpi xmlns:a14="http://schemas.microsoft.com/office/drawing/2010/main" val="0"/>
              </a:ext>
            </a:extLst>
          </a:blip>
          <a:srcRect/>
          <a:stretch>
            <a:fillRect/>
          </a:stretch>
        </p:blipFill>
        <p:spPr>
          <a:xfrm>
            <a:off x="5891392" y="3423400"/>
            <a:ext cx="5088512" cy="2389611"/>
          </a:xfrm>
          <a:prstGeom prst="rect">
            <a:avLst/>
          </a:prstGeom>
          <a:noFill/>
          <a:ln>
            <a:noFill/>
          </a:ln>
        </p:spPr>
      </p:pic>
      <p:sp>
        <p:nvSpPr>
          <p:cNvPr id="5" name="圆角矩形 4">
            <a:extLst>
              <a:ext uri="{FF2B5EF4-FFF2-40B4-BE49-F238E27FC236}">
                <a16:creationId xmlns:a16="http://schemas.microsoft.com/office/drawing/2014/main" id="{D5AB2C08-F5C6-5E4E-A194-1D901AF34C0B}"/>
              </a:ext>
            </a:extLst>
          </p:cNvPr>
          <p:cNvSpPr/>
          <p:nvPr/>
        </p:nvSpPr>
        <p:spPr>
          <a:xfrm>
            <a:off x="1097958" y="4720417"/>
            <a:ext cx="3366052" cy="1510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zh-CN" altLang="en-US" dirty="0">
                <a:solidFill>
                  <a:sysClr val="windowText" lastClr="000000"/>
                </a:solidFill>
              </a:rPr>
              <a:t>账户</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余额</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智能合约代码</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智能合约状态</a:t>
            </a:r>
          </a:p>
        </p:txBody>
      </p:sp>
      <p:cxnSp>
        <p:nvCxnSpPr>
          <p:cNvPr id="8" name="直线连接符 7">
            <a:extLst>
              <a:ext uri="{FF2B5EF4-FFF2-40B4-BE49-F238E27FC236}">
                <a16:creationId xmlns:a16="http://schemas.microsoft.com/office/drawing/2014/main" id="{8C7B8B59-0E6E-6B4A-90C5-39BDBF9BC52D}"/>
              </a:ext>
            </a:extLst>
          </p:cNvPr>
          <p:cNvCxnSpPr>
            <a:cxnSpLocks/>
          </p:cNvCxnSpPr>
          <p:nvPr/>
        </p:nvCxnSpPr>
        <p:spPr>
          <a:xfrm flipH="1" flipV="1">
            <a:off x="4464010" y="4878733"/>
            <a:ext cx="1473409" cy="467140"/>
          </a:xfrm>
          <a:prstGeom prst="line">
            <a:avLst/>
          </a:prstGeom>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541E906E-F7FC-4F4B-911B-5DAD383F1009}"/>
              </a:ext>
            </a:extLst>
          </p:cNvPr>
          <p:cNvCxnSpPr>
            <a:cxnSpLocks/>
          </p:cNvCxnSpPr>
          <p:nvPr/>
        </p:nvCxnSpPr>
        <p:spPr>
          <a:xfrm flipH="1">
            <a:off x="4488539" y="5701495"/>
            <a:ext cx="1402853" cy="373832"/>
          </a:xfrm>
          <a:prstGeom prst="line">
            <a:avLst/>
          </a:prstGeom>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4389264" y="6385023"/>
            <a:ext cx="2698175" cy="307777"/>
          </a:xfrm>
          <a:prstGeom prst="rect">
            <a:avLst/>
          </a:prstGeom>
          <a:noFill/>
        </p:spPr>
        <p:txBody>
          <a:bodyPr wrap="none" rtlCol="0">
            <a:spAutoFit/>
          </a:bodyPr>
          <a:lstStyle/>
          <a:p>
            <a:r>
              <a:rPr lang="zh-CN" altLang="zh-CN" sz="1400" dirty="0"/>
              <a:t>以太坊中的状态转换模型示意图</a:t>
            </a:r>
          </a:p>
        </p:txBody>
      </p:sp>
    </p:spTree>
    <p:extLst>
      <p:ext uri="{BB962C8B-B14F-4D97-AF65-F5344CB8AC3E}">
        <p14:creationId xmlns:p14="http://schemas.microsoft.com/office/powerpoint/2010/main" val="2050752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30000"/>
              </a:lnSpc>
            </a:pPr>
            <a:r>
              <a:rPr lang="zh-CN" altLang="en-US" dirty="0"/>
              <a:t>以太坊状态转移模型的共识问题</a:t>
            </a:r>
            <a:endParaRPr lang="en-US" altLang="zh-CN" dirty="0"/>
          </a:p>
          <a:p>
            <a:pPr lvl="1">
              <a:lnSpc>
                <a:spcPct val="130000"/>
              </a:lnSpc>
            </a:pPr>
            <a:r>
              <a:rPr lang="zh-TW" altLang="zh-CN" dirty="0"/>
              <a:t>相比比特币的</a:t>
            </a:r>
            <a:r>
              <a:rPr lang="en-US" altLang="zh-CN" dirty="0"/>
              <a:t>UTXO</a:t>
            </a:r>
            <a:r>
              <a:rPr lang="zh-TW" altLang="zh-CN" dirty="0"/>
              <a:t>模型，状态转换模型虽然使得智能合约的各种变量存储、传参等变得更加灵活，但也带来了多方共识上的困难，如发生分叉时的处理</a:t>
            </a:r>
            <a:endParaRPr lang="en-US" altLang="zh-TW" dirty="0"/>
          </a:p>
          <a:p>
            <a:pPr lvl="1">
              <a:lnSpc>
                <a:spcPct val="130000"/>
              </a:lnSpc>
            </a:pPr>
            <a:r>
              <a:rPr lang="zh-TW" altLang="zh-CN" dirty="0"/>
              <a:t>在以太坊的状态转换模型中，如果发生分叉，需要回到分叉时的状态，重新验证另一条分支上的区块</a:t>
            </a:r>
            <a:endParaRPr lang="en-US" altLang="zh-TW" dirty="0"/>
          </a:p>
          <a:p>
            <a:pPr lvl="1">
              <a:lnSpc>
                <a:spcPct val="130000"/>
              </a:lnSpc>
            </a:pPr>
            <a:r>
              <a:rPr lang="zh-CN" altLang="en-US" dirty="0"/>
              <a:t>以太坊</a:t>
            </a:r>
            <a:r>
              <a:rPr lang="zh-TW" altLang="zh-CN" dirty="0"/>
              <a:t>状态的存储采用了一种独立于区块链存在的树形结构，该状态树结构的树根登记在区块中，记为</a:t>
            </a:r>
            <a:r>
              <a:rPr lang="en-US" altLang="zh-CN" dirty="0" err="1"/>
              <a:t>stateRoot</a:t>
            </a:r>
            <a:r>
              <a:rPr lang="zh-TW" altLang="zh-CN" dirty="0"/>
              <a:t>，从而使得状态能够在全网得到共识确认，并在分叉时能够快速回滚。</a:t>
            </a:r>
            <a:endParaRPr lang="zh-CN"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1805061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以太坊简易架构图</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40000"/>
              </a:lnSpc>
            </a:pPr>
            <a:r>
              <a:rPr lang="zh-CN" altLang="en-US" dirty="0"/>
              <a:t>定义</a:t>
            </a:r>
            <a:endParaRPr lang="en-US" altLang="zh-CN" dirty="0"/>
          </a:p>
          <a:p>
            <a:pPr lvl="1">
              <a:lnSpc>
                <a:spcPct val="140000"/>
              </a:lnSpc>
            </a:pPr>
            <a:r>
              <a:rPr lang="zh-CN" altLang="en-US" dirty="0"/>
              <a:t>区块链数据</a:t>
            </a:r>
            <a:endParaRPr lang="en-US" altLang="zh-CN" dirty="0"/>
          </a:p>
          <a:p>
            <a:pPr lvl="2">
              <a:lnSpc>
                <a:spcPct val="140000"/>
              </a:lnSpc>
            </a:pPr>
            <a:r>
              <a:rPr lang="zh-CN" altLang="en-US" dirty="0"/>
              <a:t>以太坊区块链，状态数据，收据数据等</a:t>
            </a:r>
            <a:endParaRPr lang="en-US" altLang="zh-CN" dirty="0"/>
          </a:p>
          <a:p>
            <a:pPr lvl="1">
              <a:lnSpc>
                <a:spcPct val="140000"/>
              </a:lnSpc>
            </a:pPr>
            <a:r>
              <a:rPr lang="zh-CN" altLang="en-US" dirty="0"/>
              <a:t>智能合约</a:t>
            </a:r>
            <a:endParaRPr lang="en-US" altLang="zh-CN" dirty="0"/>
          </a:p>
          <a:p>
            <a:pPr lvl="2">
              <a:lnSpc>
                <a:spcPct val="140000"/>
              </a:lnSpc>
            </a:pPr>
            <a:r>
              <a:rPr lang="zh-CN" altLang="en-US" dirty="0"/>
              <a:t>存储在以太坊上的一段代码</a:t>
            </a:r>
            <a:endParaRPr lang="en-US" altLang="zh-CN" dirty="0"/>
          </a:p>
          <a:p>
            <a:pPr lvl="1">
              <a:lnSpc>
                <a:spcPct val="140000"/>
              </a:lnSpc>
            </a:pPr>
            <a:r>
              <a:rPr lang="zh-CN" altLang="en-US" dirty="0"/>
              <a:t>节点</a:t>
            </a:r>
            <a:endParaRPr lang="en-US" altLang="zh-CN" dirty="0"/>
          </a:p>
          <a:p>
            <a:pPr lvl="2">
              <a:lnSpc>
                <a:spcPct val="140000"/>
              </a:lnSpc>
            </a:pPr>
            <a:r>
              <a:rPr lang="zh-CN" altLang="en-US" dirty="0"/>
              <a:t>保存有区块链数据的节点</a:t>
            </a:r>
            <a:endParaRPr lang="en-US" altLang="zh-CN" dirty="0"/>
          </a:p>
          <a:p>
            <a:pPr lvl="2">
              <a:lnSpc>
                <a:spcPct val="140000"/>
              </a:lnSpc>
            </a:pPr>
            <a:r>
              <a:rPr lang="zh-CN" altLang="en-US" dirty="0"/>
              <a:t>每个节点独立的维护区块链数据</a:t>
            </a:r>
            <a:endParaRPr lang="en-US" altLang="zh-CN" dirty="0"/>
          </a:p>
          <a:p>
            <a:pPr lvl="2">
              <a:lnSpc>
                <a:spcPct val="140000"/>
              </a:lnSpc>
            </a:pPr>
            <a:r>
              <a:rPr lang="zh-CN" altLang="en-US" dirty="0"/>
              <a:t>节点间采用共识机制达成共识，维护全网的状态一致</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pic>
        <p:nvPicPr>
          <p:cNvPr id="9" name="图片 8">
            <a:extLst>
              <a:ext uri="{FF2B5EF4-FFF2-40B4-BE49-F238E27FC236}">
                <a16:creationId xmlns:a16="http://schemas.microsoft.com/office/drawing/2014/main" id="{5E9EDD10-0B59-9C43-9024-9EF13CB474C5}"/>
              </a:ext>
            </a:extLst>
          </p:cNvPr>
          <p:cNvPicPr/>
          <p:nvPr/>
        </p:nvPicPr>
        <p:blipFill>
          <a:blip r:embed="rId3">
            <a:extLst>
              <a:ext uri="{28A0092B-C50C-407E-A947-70E740481C1C}">
                <a14:useLocalDpi xmlns:a14="http://schemas.microsoft.com/office/drawing/2010/main" val="0"/>
              </a:ext>
            </a:extLst>
          </a:blip>
          <a:srcRect/>
          <a:stretch>
            <a:fillRect/>
          </a:stretch>
        </p:blipFill>
        <p:spPr>
          <a:xfrm>
            <a:off x="6944937" y="2656055"/>
            <a:ext cx="4958225" cy="2828262"/>
          </a:xfrm>
          <a:prstGeom prst="rect">
            <a:avLst/>
          </a:prstGeom>
          <a:noFill/>
          <a:ln>
            <a:noFill/>
          </a:ln>
        </p:spPr>
      </p:pic>
    </p:spTree>
    <p:extLst>
      <p:ext uri="{BB962C8B-B14F-4D97-AF65-F5344CB8AC3E}">
        <p14:creationId xmlns:p14="http://schemas.microsoft.com/office/powerpoint/2010/main" val="2793965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以太坊基本原理及例子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4375927" cy="5302578"/>
          </a:xfrm>
        </p:spPr>
        <p:txBody>
          <a:bodyPr anchor="t" anchorCtr="0">
            <a:normAutofit/>
          </a:bodyPr>
          <a:lstStyle/>
          <a:p>
            <a:pPr>
              <a:lnSpc>
                <a:spcPct val="140000"/>
              </a:lnSpc>
            </a:pPr>
            <a:r>
              <a:rPr lang="zh-CN" altLang="en-US" dirty="0"/>
              <a:t>交易执行概述</a:t>
            </a:r>
            <a:endParaRPr lang="en-US" altLang="zh-CN" dirty="0"/>
          </a:p>
          <a:p>
            <a:pPr marL="914400" lvl="1" indent="-457200">
              <a:lnSpc>
                <a:spcPct val="140000"/>
              </a:lnSpc>
              <a:buFont typeface="+mj-lt"/>
              <a:buAutoNum type="arabicPeriod"/>
            </a:pPr>
            <a:r>
              <a:rPr lang="zh-CN" altLang="en-US" dirty="0"/>
              <a:t>每个节点独立维护数据</a:t>
            </a:r>
            <a:endParaRPr lang="en-US" altLang="zh-CN" dirty="0"/>
          </a:p>
          <a:p>
            <a:pPr marL="914400" lvl="1" indent="-457200">
              <a:lnSpc>
                <a:spcPct val="140000"/>
              </a:lnSpc>
              <a:buFont typeface="+mj-lt"/>
              <a:buAutoNum type="arabicPeriod"/>
            </a:pPr>
            <a:r>
              <a:rPr lang="zh-CN" altLang="en-US" dirty="0"/>
              <a:t>节点独立地在</a:t>
            </a:r>
            <a:r>
              <a:rPr lang="en-US" altLang="zh-CN" dirty="0"/>
              <a:t>EVM</a:t>
            </a:r>
            <a:r>
              <a:rPr lang="zh-CN" altLang="en-US" dirty="0"/>
              <a:t>中执行合约</a:t>
            </a:r>
            <a:endParaRPr lang="en-US" altLang="zh-CN" dirty="0"/>
          </a:p>
          <a:p>
            <a:pPr marL="914400" lvl="1" indent="-457200">
              <a:lnSpc>
                <a:spcPct val="140000"/>
              </a:lnSpc>
              <a:buFont typeface="+mj-lt"/>
              <a:buAutoNum type="arabicPeriod"/>
            </a:pPr>
            <a:r>
              <a:rPr lang="zh-CN" altLang="en-US" dirty="0"/>
              <a:t>将执行结果写回区块链数据</a:t>
            </a:r>
            <a:endParaRPr lang="en-US" altLang="zh-CN" dirty="0"/>
          </a:p>
          <a:p>
            <a:pPr marL="914400" lvl="1" indent="-457200">
              <a:lnSpc>
                <a:spcPct val="140000"/>
              </a:lnSpc>
              <a:buFont typeface="+mj-lt"/>
              <a:buAutoNum type="arabicPeriod"/>
            </a:pPr>
            <a:r>
              <a:rPr lang="zh-CN" altLang="en-US" dirty="0"/>
              <a:t>节点之间执行共识机制，达成共识</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pic>
        <p:nvPicPr>
          <p:cNvPr id="4" name="图片 3">
            <a:extLst>
              <a:ext uri="{FF2B5EF4-FFF2-40B4-BE49-F238E27FC236}">
                <a16:creationId xmlns:a16="http://schemas.microsoft.com/office/drawing/2014/main" id="{BC3A4242-5664-974B-9833-C284CC15C82F}"/>
              </a:ext>
            </a:extLst>
          </p:cNvPr>
          <p:cNvPicPr>
            <a:picLocks noChangeAspect="1"/>
          </p:cNvPicPr>
          <p:nvPr/>
        </p:nvPicPr>
        <p:blipFill>
          <a:blip r:embed="rId3"/>
          <a:stretch>
            <a:fillRect/>
          </a:stretch>
        </p:blipFill>
        <p:spPr>
          <a:xfrm>
            <a:off x="5007587" y="2343283"/>
            <a:ext cx="6961008" cy="3593691"/>
          </a:xfrm>
          <a:prstGeom prst="rect">
            <a:avLst/>
          </a:prstGeom>
        </p:spPr>
      </p:pic>
      <p:sp>
        <p:nvSpPr>
          <p:cNvPr id="6" name="文本框 5"/>
          <p:cNvSpPr txBox="1"/>
          <p:nvPr/>
        </p:nvSpPr>
        <p:spPr>
          <a:xfrm>
            <a:off x="7262506" y="5965428"/>
            <a:ext cx="2108269" cy="307777"/>
          </a:xfrm>
          <a:prstGeom prst="rect">
            <a:avLst/>
          </a:prstGeom>
          <a:noFill/>
        </p:spPr>
        <p:txBody>
          <a:bodyPr wrap="none" rtlCol="0">
            <a:spAutoFit/>
          </a:bodyPr>
          <a:lstStyle/>
          <a:p>
            <a:r>
              <a:rPr lang="zh-CN" altLang="en-US" sz="1400" dirty="0"/>
              <a:t>“张三买电影票”交易案例</a:t>
            </a:r>
          </a:p>
        </p:txBody>
      </p:sp>
    </p:spTree>
    <p:extLst>
      <p:ext uri="{BB962C8B-B14F-4D97-AF65-F5344CB8AC3E}">
        <p14:creationId xmlns:p14="http://schemas.microsoft.com/office/powerpoint/2010/main" val="4149190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以太坊基本原理及例子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301281" cy="5302578"/>
          </a:xfrm>
        </p:spPr>
        <p:txBody>
          <a:bodyPr anchor="t" anchorCtr="0">
            <a:normAutofit/>
          </a:bodyPr>
          <a:lstStyle/>
          <a:p>
            <a:pPr>
              <a:lnSpc>
                <a:spcPct val="140000"/>
              </a:lnSpc>
            </a:pPr>
            <a:r>
              <a:rPr lang="zh-CN" altLang="en-US" sz="2000" dirty="0"/>
              <a:t>实例：交易执行具体过程</a:t>
            </a:r>
            <a:endParaRPr lang="en-US" altLang="zh-CN" sz="2000" dirty="0"/>
          </a:p>
          <a:p>
            <a:pPr marL="914400" lvl="1" indent="-457200">
              <a:lnSpc>
                <a:spcPct val="140000"/>
              </a:lnSpc>
              <a:buFont typeface="+mj-lt"/>
              <a:buAutoNum type="arabicPeriod"/>
            </a:pPr>
            <a:r>
              <a:rPr lang="zh-CN" altLang="en-US" sz="1800" dirty="0"/>
              <a:t>每个节点独立维护数据，这些节点</a:t>
            </a:r>
            <a:r>
              <a:rPr lang="zh-TW" altLang="zh-CN" sz="1800" dirty="0"/>
              <a:t>可以是张三、李四、赵四、影院主管等人</a:t>
            </a:r>
            <a:endParaRPr lang="zh-CN" altLang="zh-CN" sz="1800" dirty="0"/>
          </a:p>
          <a:p>
            <a:pPr marL="914400" lvl="1" indent="-457200">
              <a:lnSpc>
                <a:spcPct val="140000"/>
              </a:lnSpc>
              <a:buFont typeface="+mj-lt"/>
              <a:buAutoNum type="arabicPeriod"/>
            </a:pPr>
            <a:r>
              <a:rPr lang="en-US" altLang="zh-CN" sz="1800" dirty="0"/>
              <a:t>“</a:t>
            </a:r>
            <a:r>
              <a:rPr lang="zh-TW" altLang="zh-CN" sz="1800" dirty="0"/>
              <a:t>张三买电影票</a:t>
            </a:r>
            <a:r>
              <a:rPr lang="en-US" altLang="zh-CN" sz="1800" dirty="0"/>
              <a:t>”</a:t>
            </a:r>
            <a:r>
              <a:rPr lang="zh-TW" altLang="zh-CN" sz="1800" dirty="0"/>
              <a:t>的交易在所有节点中被</a:t>
            </a:r>
            <a:r>
              <a:rPr lang="zh-CN" altLang="en-US" sz="1800" dirty="0"/>
              <a:t>独立</a:t>
            </a:r>
            <a:r>
              <a:rPr lang="zh-TW" altLang="zh-CN" sz="1800" dirty="0"/>
              <a:t>验证</a:t>
            </a:r>
            <a:endParaRPr lang="en-US" altLang="zh-TW" sz="1800" dirty="0"/>
          </a:p>
          <a:p>
            <a:pPr marL="914400" lvl="1" indent="-457200">
              <a:lnSpc>
                <a:spcPct val="140000"/>
              </a:lnSpc>
              <a:buFont typeface="+mj-lt"/>
              <a:buAutoNum type="arabicPeriod"/>
            </a:pPr>
            <a:r>
              <a:rPr lang="zh-CN" altLang="en-US" sz="1800" dirty="0"/>
              <a:t>以太坊虚拟机的执行结果将以某种方式写回到区块链数据中，</a:t>
            </a:r>
            <a:r>
              <a:rPr lang="zh-TW" altLang="zh-CN" sz="1800" dirty="0"/>
              <a:t>比如张三的余额、影院的余票等。每个区块中会保留一段摘要，这段摘要为执行完区块中交易后以太坊状态的</a:t>
            </a:r>
            <a:r>
              <a:rPr lang="en-US" altLang="zh-CN" sz="1800" dirty="0" err="1"/>
              <a:t>stateRoot</a:t>
            </a:r>
            <a:r>
              <a:rPr lang="zh-TW" altLang="zh-CN" sz="1800" dirty="0"/>
              <a:t>，任一子状态的不同都将导致</a:t>
            </a:r>
            <a:r>
              <a:rPr lang="en-US" altLang="zh-CN" sz="1800" dirty="0" err="1"/>
              <a:t>stateRoot</a:t>
            </a:r>
            <a:r>
              <a:rPr lang="zh-TW" altLang="zh-CN" sz="1800" dirty="0"/>
              <a:t>的不同</a:t>
            </a:r>
            <a:endParaRPr lang="en-US" altLang="zh-TW" sz="1800" dirty="0"/>
          </a:p>
          <a:p>
            <a:pPr marL="914400" lvl="1" indent="-457200">
              <a:lnSpc>
                <a:spcPct val="140000"/>
              </a:lnSpc>
              <a:buFont typeface="+mj-lt"/>
              <a:buAutoNum type="arabicPeriod"/>
            </a:pPr>
            <a:r>
              <a:rPr lang="zh-CN" altLang="en-US" sz="1800" dirty="0"/>
              <a:t>如果张三控制的节点受到非法攻击或篡改，则执行结果及区块链数据将与网络中其他节点（如李四、赵四、影院的节点）不符，无法参与到网络的下一步共识中</a:t>
            </a:r>
            <a:endParaRPr lang="en-US" altLang="zh-TW" sz="1800" dirty="0"/>
          </a:p>
          <a:p>
            <a:pPr marL="914400" lvl="1" indent="-457200">
              <a:lnSpc>
                <a:spcPct val="140000"/>
              </a:lnSpc>
              <a:buFont typeface="+mj-lt"/>
              <a:buAutoNum type="arabicPeriod"/>
            </a:pPr>
            <a:endParaRPr lang="en-US" altLang="zh-TW" sz="1400" dirty="0"/>
          </a:p>
          <a:p>
            <a:pPr marL="914400" lvl="1" indent="-457200">
              <a:lnSpc>
                <a:spcPct val="140000"/>
              </a:lnSpc>
              <a:buFont typeface="+mj-lt"/>
              <a:buAutoNum type="arabicPeriod"/>
            </a:pPr>
            <a:endParaRPr lang="en-US" altLang="zh-CN" sz="14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2522230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以太坊简介</a:t>
            </a:r>
            <a:endParaRPr kumimoji="1" lang="en-US" altLang="zh-CN" dirty="0"/>
          </a:p>
          <a:p>
            <a:pPr marL="0" indent="0">
              <a:lnSpc>
                <a:spcPct val="130000"/>
              </a:lnSpc>
              <a:buNone/>
            </a:pPr>
            <a:r>
              <a:rPr kumimoji="1" lang="en-US" altLang="zh-CN" dirty="0"/>
              <a:t>1.2</a:t>
            </a:r>
            <a:r>
              <a:rPr kumimoji="1" lang="zh-CN" altLang="en-US" dirty="0"/>
              <a:t> 以太坊基本架构及原理</a:t>
            </a:r>
            <a:endParaRPr kumimoji="1" lang="en-US" altLang="zh-CN" dirty="0"/>
          </a:p>
          <a:p>
            <a:pPr marL="0" indent="0">
              <a:lnSpc>
                <a:spcPct val="130000"/>
              </a:lnSpc>
              <a:buNone/>
            </a:pPr>
            <a:r>
              <a:rPr kumimoji="1" lang="en-US" altLang="zh-CN" dirty="0">
                <a:solidFill>
                  <a:srgbClr val="C00000"/>
                </a:solidFill>
              </a:rPr>
              <a:t>1.3</a:t>
            </a:r>
            <a:r>
              <a:rPr kumimoji="1" lang="zh-CN" altLang="en-US" dirty="0">
                <a:solidFill>
                  <a:srgbClr val="C00000"/>
                </a:solidFill>
              </a:rPr>
              <a:t> 以太坊账户模型与转账</a:t>
            </a:r>
            <a:endParaRPr kumimoji="1" lang="en-US" altLang="zh-CN" dirty="0">
              <a:solidFill>
                <a:srgbClr val="C00000"/>
              </a:solidFill>
            </a:endParaRPr>
          </a:p>
          <a:p>
            <a:pPr marL="0" indent="0">
              <a:lnSpc>
                <a:spcPct val="130000"/>
              </a:lnSpc>
              <a:buNone/>
            </a:pPr>
            <a:r>
              <a:rPr kumimoji="1" lang="en-US" altLang="zh-CN" dirty="0"/>
              <a:t>1.4</a:t>
            </a:r>
            <a:r>
              <a:rPr kumimoji="1" lang="zh-CN" altLang="en-US" dirty="0"/>
              <a:t> 智能合约</a:t>
            </a:r>
            <a:endParaRPr kumimoji="1" lang="en-US" altLang="zh-CN" dirty="0"/>
          </a:p>
          <a:p>
            <a:pPr marL="0" indent="0">
              <a:lnSpc>
                <a:spcPct val="130000"/>
              </a:lnSpc>
              <a:buNone/>
            </a:pPr>
            <a:r>
              <a:rPr kumimoji="1" lang="en-US" altLang="zh-CN" dirty="0"/>
              <a:t>1.5</a:t>
            </a:r>
            <a:r>
              <a:rPr kumimoji="1" lang="zh-CN" altLang="en-US" dirty="0"/>
              <a:t> 以太坊交易</a:t>
            </a:r>
            <a:endParaRPr kumimoji="1" lang="en-US" altLang="zh-CN" dirty="0"/>
          </a:p>
          <a:p>
            <a:pPr marL="0" indent="0">
              <a:lnSpc>
                <a:spcPct val="130000"/>
              </a:lnSpc>
              <a:buNone/>
            </a:pPr>
            <a:r>
              <a:rPr kumimoji="1" lang="en-US" altLang="zh-CN" dirty="0"/>
              <a:t>1.6</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6" name="矩形标注 6">
            <a:extLst>
              <a:ext uri="{FF2B5EF4-FFF2-40B4-BE49-F238E27FC236}">
                <a16:creationId xmlns:a16="http://schemas.microsoft.com/office/drawing/2014/main" id="{880F6849-F0DD-4182-8830-FA99522FAF63}"/>
              </a:ext>
            </a:extLst>
          </p:cNvPr>
          <p:cNvSpPr/>
          <p:nvPr/>
        </p:nvSpPr>
        <p:spPr>
          <a:xfrm>
            <a:off x="6913000" y="2417087"/>
            <a:ext cx="4281889" cy="1808747"/>
          </a:xfrm>
          <a:prstGeom prst="wedgeRectCallout">
            <a:avLst>
              <a:gd name="adj1" fmla="val -76323"/>
              <a:gd name="adj2" fmla="val -2004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账户模型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转账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Nonce</a:t>
            </a:r>
          </a:p>
        </p:txBody>
      </p:sp>
    </p:spTree>
    <p:extLst>
      <p:ext uri="{BB962C8B-B14F-4D97-AF65-F5344CB8AC3E}">
        <p14:creationId xmlns:p14="http://schemas.microsoft.com/office/powerpoint/2010/main" val="213930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590119" cy="5302578"/>
          </a:xfrm>
        </p:spPr>
        <p:txBody>
          <a:bodyPr anchor="t" anchorCtr="0">
            <a:normAutofit/>
          </a:bodyPr>
          <a:lstStyle/>
          <a:p>
            <a:pPr>
              <a:lnSpc>
                <a:spcPct val="140000"/>
              </a:lnSpc>
            </a:pPr>
            <a:r>
              <a:rPr lang="zh-CN" altLang="en-US" dirty="0"/>
              <a:t>背景</a:t>
            </a:r>
            <a:endParaRPr lang="en-US" altLang="zh-CN" dirty="0"/>
          </a:p>
          <a:p>
            <a:pPr lvl="1">
              <a:lnSpc>
                <a:spcPct val="140000"/>
              </a:lnSpc>
            </a:pPr>
            <a:r>
              <a:rPr lang="zh-CN" altLang="en-US" dirty="0"/>
              <a:t>地址与账户：银行系统与以太坊系统</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2787203" y="2722239"/>
            <a:ext cx="6741117" cy="3061653"/>
          </a:xfrm>
          <a:prstGeom prst="rect">
            <a:avLst/>
          </a:prstGeom>
          <a:noFill/>
        </p:spPr>
      </p:pic>
      <p:sp>
        <p:nvSpPr>
          <p:cNvPr id="4" name="文本框 3"/>
          <p:cNvSpPr txBox="1"/>
          <p:nvPr/>
        </p:nvSpPr>
        <p:spPr>
          <a:xfrm>
            <a:off x="5047723" y="5853783"/>
            <a:ext cx="1620957" cy="307777"/>
          </a:xfrm>
          <a:prstGeom prst="rect">
            <a:avLst/>
          </a:prstGeom>
          <a:noFill/>
        </p:spPr>
        <p:txBody>
          <a:bodyPr wrap="none" rtlCol="0">
            <a:spAutoFit/>
          </a:bodyPr>
          <a:lstStyle/>
          <a:p>
            <a:r>
              <a:rPr lang="zh-CN" altLang="zh-CN" sz="1400" dirty="0"/>
              <a:t>以太坊的账户模型</a:t>
            </a:r>
            <a:endParaRPr lang="zh-CN" altLang="en-US" sz="1400" dirty="0"/>
          </a:p>
        </p:txBody>
      </p:sp>
    </p:spTree>
    <p:extLst>
      <p:ext uri="{BB962C8B-B14F-4D97-AF65-F5344CB8AC3E}">
        <p14:creationId xmlns:p14="http://schemas.microsoft.com/office/powerpoint/2010/main" val="1979077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590119" cy="5302578"/>
          </a:xfrm>
        </p:spPr>
        <p:txBody>
          <a:bodyPr anchor="t" anchorCtr="0">
            <a:normAutofit/>
          </a:bodyPr>
          <a:lstStyle/>
          <a:p>
            <a:pPr>
              <a:lnSpc>
                <a:spcPct val="140000"/>
              </a:lnSpc>
            </a:pPr>
            <a:r>
              <a:rPr lang="zh-CN" altLang="en-US" dirty="0"/>
              <a:t>地址的生成</a:t>
            </a:r>
            <a:endParaRPr lang="en-US" altLang="zh-CN" dirty="0"/>
          </a:p>
          <a:p>
            <a:pPr lvl="1">
              <a:lnSpc>
                <a:spcPct val="140000"/>
              </a:lnSpc>
            </a:pPr>
            <a:r>
              <a:rPr lang="zh-CN" altLang="en-US" dirty="0"/>
              <a:t>计算椭圆曲线下的</a:t>
            </a:r>
            <a:r>
              <a:rPr lang="zh-TW" altLang="zh-CN" dirty="0"/>
              <a:t>私钥与公钥</a:t>
            </a:r>
            <a:endParaRPr lang="en-US" altLang="zh-TW" dirty="0"/>
          </a:p>
          <a:p>
            <a:pPr lvl="1">
              <a:lnSpc>
                <a:spcPct val="140000"/>
              </a:lnSpc>
            </a:pPr>
            <a:endParaRPr lang="en-US" altLang="zh-CN" dirty="0"/>
          </a:p>
          <a:p>
            <a:pPr lvl="1">
              <a:lnSpc>
                <a:spcPct val="140000"/>
              </a:lnSpc>
            </a:pPr>
            <a:endParaRPr lang="en-US" altLang="zh-CN" dirty="0"/>
          </a:p>
          <a:p>
            <a:pPr lvl="1">
              <a:lnSpc>
                <a:spcPct val="140000"/>
              </a:lnSpc>
            </a:pPr>
            <a:r>
              <a:rPr lang="zh-CN" altLang="zh-CN" dirty="0"/>
              <a:t>对公钥使用</a:t>
            </a:r>
            <a:r>
              <a:rPr lang="en-US" altLang="zh-CN" dirty="0"/>
              <a:t>KECCAK256</a:t>
            </a:r>
            <a:r>
              <a:rPr lang="zh-CN" altLang="zh-CN" dirty="0"/>
              <a:t>哈希算法，计算得到一个</a:t>
            </a:r>
            <a:r>
              <a:rPr lang="en-US" altLang="zh-CN" dirty="0"/>
              <a:t>64</a:t>
            </a:r>
            <a:r>
              <a:rPr lang="zh-CN" altLang="zh-CN" dirty="0"/>
              <a:t>位的</a:t>
            </a:r>
            <a:r>
              <a:rPr lang="en-US" altLang="zh-CN" dirty="0"/>
              <a:t>16</a:t>
            </a:r>
            <a:r>
              <a:rPr lang="zh-CN" altLang="zh-CN" dirty="0"/>
              <a:t>进制哈希值（</a:t>
            </a:r>
            <a:r>
              <a:rPr lang="en-US" altLang="zh-CN" dirty="0"/>
              <a:t>256</a:t>
            </a:r>
            <a:r>
              <a:rPr lang="zh-CN" altLang="zh-CN" dirty="0"/>
              <a:t>个比特长）</a:t>
            </a:r>
            <a:endParaRPr lang="en-US" altLang="zh-CN" dirty="0"/>
          </a:p>
          <a:p>
            <a:pPr lvl="1">
              <a:lnSpc>
                <a:spcPct val="140000"/>
              </a:lnSpc>
            </a:pPr>
            <a:endParaRPr lang="en-US" altLang="zh-CN" dirty="0"/>
          </a:p>
          <a:p>
            <a:pPr lvl="1">
              <a:lnSpc>
                <a:spcPct val="140000"/>
              </a:lnSpc>
            </a:pPr>
            <a:r>
              <a:rPr lang="zh-CN" altLang="zh-CN" dirty="0"/>
              <a:t>截取这个哈希值的最后</a:t>
            </a:r>
            <a:r>
              <a:rPr lang="en-US" altLang="zh-CN" dirty="0"/>
              <a:t>40</a:t>
            </a:r>
            <a:r>
              <a:rPr lang="zh-CN" altLang="zh-CN" dirty="0"/>
              <a:t>位作为一个以太坊地址。</a:t>
            </a:r>
          </a:p>
          <a:p>
            <a:pPr lvl="1">
              <a:lnSpc>
                <a:spcPct val="140000"/>
              </a:lnSpc>
            </a:pPr>
            <a:endParaRPr lang="en-US" altLang="zh-CN" dirty="0"/>
          </a:p>
          <a:p>
            <a:pPr marL="0" indent="0">
              <a:lnSpc>
                <a:spcPct val="140000"/>
              </a:lnSpc>
              <a:buNone/>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 Box 1"/>
          <p:cNvSpPr txBox="1">
            <a:spLocks noChangeArrowheads="1"/>
          </p:cNvSpPr>
          <p:nvPr/>
        </p:nvSpPr>
        <p:spPr bwMode="auto">
          <a:xfrm>
            <a:off x="1524000" y="2750419"/>
            <a:ext cx="5619750" cy="938719"/>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7C7FC7CCECC1FEE3B3E4AC63ADD864BD786696C20CA15683A269AA9AD8639443</a:t>
            </a:r>
            <a:r>
              <a:rPr kumimoji="0" lang="zh-CN" altLang="en-US"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（私钥）</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FBD0A98CEF180CDAA3FC2B64A4CA56FBC8E8AF5CC74E820DA34EB9DAB0D46FF2E3858707929D0A9BEACF5533C22BF02D34E0A6EE4F1A19C1CEAC4FC4251810A6</a:t>
            </a:r>
            <a:r>
              <a:rPr kumimoji="0" lang="zh-CN" altLang="en-US"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（公钥）</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 Box 4"/>
          <p:cNvSpPr txBox="1">
            <a:spLocks noChangeArrowheads="1"/>
          </p:cNvSpPr>
          <p:nvPr/>
        </p:nvSpPr>
        <p:spPr bwMode="auto">
          <a:xfrm>
            <a:off x="1524000" y="5140489"/>
            <a:ext cx="5781675" cy="260350"/>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DDC0D707E349E9B726925710</a:t>
            </a:r>
            <a:r>
              <a:rPr kumimoji="0" lang="en-US" altLang="zh-CN" sz="1100" b="1"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238661F085A338F04B0C7C956A796B57018151F0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 Box 7"/>
          <p:cNvSpPr txBox="1">
            <a:spLocks noChangeArrowheads="1"/>
          </p:cNvSpPr>
          <p:nvPr/>
        </p:nvSpPr>
        <p:spPr bwMode="auto">
          <a:xfrm>
            <a:off x="1524000" y="6261099"/>
            <a:ext cx="4703763" cy="249238"/>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238661F085A338F04B0C7C956A796B57018151F0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968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590119" cy="5302578"/>
          </a:xfrm>
        </p:spPr>
        <p:txBody>
          <a:bodyPr anchor="t" anchorCtr="0">
            <a:normAutofit/>
          </a:bodyPr>
          <a:lstStyle/>
          <a:p>
            <a:pPr>
              <a:lnSpc>
                <a:spcPct val="140000"/>
              </a:lnSpc>
            </a:pPr>
            <a:r>
              <a:rPr lang="zh-CN" altLang="en-US" dirty="0"/>
              <a:t>账户结构</a:t>
            </a:r>
            <a:endParaRPr lang="en-US" altLang="zh-CN" dirty="0"/>
          </a:p>
          <a:p>
            <a:pPr lvl="1">
              <a:lnSpc>
                <a:spcPct val="140000"/>
              </a:lnSpc>
            </a:pPr>
            <a:r>
              <a:rPr lang="zh-TW" altLang="zh-CN" dirty="0"/>
              <a:t>用户账户结构保存了用户地址对应账户的数据信息</a:t>
            </a:r>
            <a:endParaRPr lang="en-US" altLang="zh-TW" dirty="0"/>
          </a:p>
          <a:p>
            <a:pPr lvl="1">
              <a:lnSpc>
                <a:spcPct val="140000"/>
              </a:lnSpc>
            </a:pPr>
            <a:r>
              <a:rPr lang="zh-TW" altLang="zh-CN" b="1" dirty="0"/>
              <a:t>余额</a:t>
            </a:r>
            <a:r>
              <a:rPr lang="zh-CN" altLang="en-US" dirty="0"/>
              <a:t>：</a:t>
            </a:r>
            <a:r>
              <a:rPr lang="zh-TW" altLang="zh-CN" dirty="0"/>
              <a:t>记录了当前地址持有的以太币的数额，单位是</a:t>
            </a:r>
            <a:r>
              <a:rPr lang="en-US" altLang="zh-CN" dirty="0"/>
              <a:t>Wei</a:t>
            </a:r>
          </a:p>
          <a:p>
            <a:pPr lvl="1">
              <a:lnSpc>
                <a:spcPct val="140000"/>
              </a:lnSpc>
            </a:pPr>
            <a:r>
              <a:rPr lang="en-US" altLang="zh-CN" b="1" dirty="0"/>
              <a:t>Nonce</a:t>
            </a:r>
            <a:r>
              <a:rPr lang="zh-CN" altLang="en-US" dirty="0"/>
              <a:t>：</a:t>
            </a:r>
            <a:r>
              <a:rPr lang="zh-TW" altLang="zh-CN" dirty="0"/>
              <a:t>记录了这个地址创建以来累计发起的交易次数</a:t>
            </a:r>
            <a:endParaRPr lang="en-US" altLang="zh-CN" dirty="0"/>
          </a:p>
          <a:p>
            <a:pPr marL="0" indent="0">
              <a:lnSpc>
                <a:spcPct val="140000"/>
              </a:lnSpc>
              <a:buNone/>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 name="图片 10"/>
          <p:cNvPicPr/>
          <p:nvPr/>
        </p:nvPicPr>
        <p:blipFill>
          <a:blip r:embed="rId3" cstate="print">
            <a:extLst>
              <a:ext uri="{28A0092B-C50C-407E-A947-70E740481C1C}">
                <a14:useLocalDpi xmlns:a14="http://schemas.microsoft.com/office/drawing/2010/main" val="0"/>
              </a:ext>
            </a:extLst>
          </a:blip>
          <a:srcRect/>
          <a:stretch>
            <a:fillRect/>
          </a:stretch>
        </p:blipFill>
        <p:spPr>
          <a:xfrm>
            <a:off x="3254375" y="3908261"/>
            <a:ext cx="5556250" cy="2252980"/>
          </a:xfrm>
          <a:prstGeom prst="rect">
            <a:avLst/>
          </a:prstGeom>
          <a:noFill/>
        </p:spPr>
      </p:pic>
      <p:sp>
        <p:nvSpPr>
          <p:cNvPr id="10" name="文本框 9"/>
          <p:cNvSpPr txBox="1"/>
          <p:nvPr/>
        </p:nvSpPr>
        <p:spPr>
          <a:xfrm>
            <a:off x="5047723" y="6161241"/>
            <a:ext cx="1441420" cy="307777"/>
          </a:xfrm>
          <a:prstGeom prst="rect">
            <a:avLst/>
          </a:prstGeom>
          <a:noFill/>
        </p:spPr>
        <p:txBody>
          <a:bodyPr wrap="none" rtlCol="0">
            <a:spAutoFit/>
          </a:bodyPr>
          <a:lstStyle/>
          <a:p>
            <a:r>
              <a:rPr lang="zh-CN" altLang="en-US" sz="1400" dirty="0"/>
              <a:t>以太坊账户结构</a:t>
            </a:r>
          </a:p>
        </p:txBody>
      </p:sp>
    </p:spTree>
    <p:extLst>
      <p:ext uri="{BB962C8B-B14F-4D97-AF65-F5344CB8AC3E}">
        <p14:creationId xmlns:p14="http://schemas.microsoft.com/office/powerpoint/2010/main" val="1543531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转账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10182036" cy="5302578"/>
          </a:xfrm>
        </p:spPr>
        <p:txBody>
          <a:bodyPr anchor="t" anchorCtr="0">
            <a:normAutofit/>
          </a:bodyPr>
          <a:lstStyle/>
          <a:p>
            <a:pPr>
              <a:lnSpc>
                <a:spcPct val="140000"/>
              </a:lnSpc>
            </a:pPr>
            <a:r>
              <a:rPr lang="zh-CN" altLang="en-US" sz="2000" dirty="0"/>
              <a:t>实例：</a:t>
            </a:r>
            <a:r>
              <a:rPr lang="zh-TW" altLang="zh-CN" sz="2000" dirty="0"/>
              <a:t>以太坊的</a:t>
            </a:r>
            <a:r>
              <a:rPr lang="zh-CN" altLang="en-US" sz="2000" dirty="0"/>
              <a:t>转账交易过程</a:t>
            </a:r>
            <a:endParaRPr lang="en-US" altLang="zh-TW" sz="2000" dirty="0"/>
          </a:p>
          <a:p>
            <a:pPr lvl="1">
              <a:lnSpc>
                <a:spcPct val="140000"/>
              </a:lnSpc>
            </a:pPr>
            <a:r>
              <a:rPr lang="zh-TW" altLang="zh-CN" sz="1600" dirty="0"/>
              <a:t>交易的数据通过</a:t>
            </a:r>
            <a:r>
              <a:rPr lang="en-US" altLang="zh-CN" sz="1600" dirty="0"/>
              <a:t>Alice</a:t>
            </a:r>
            <a:r>
              <a:rPr lang="zh-TW" altLang="zh-CN" sz="1600" dirty="0"/>
              <a:t>的私钥进行签名之后得到对应的数字签名</a:t>
            </a:r>
            <a:endParaRPr lang="en-US" altLang="zh-TW" sz="1600" dirty="0"/>
          </a:p>
          <a:p>
            <a:pPr lvl="1">
              <a:lnSpc>
                <a:spcPct val="140000"/>
              </a:lnSpc>
            </a:pPr>
            <a:r>
              <a:rPr lang="zh-TW" altLang="zh-CN" sz="1600" dirty="0"/>
              <a:t>以太坊节点通过交易本身和对应的数字签名还原得到</a:t>
            </a:r>
            <a:r>
              <a:rPr lang="en-US" altLang="zh-CN" sz="1600" dirty="0"/>
              <a:t>Alice</a:t>
            </a:r>
            <a:r>
              <a:rPr lang="zh-TW" altLang="zh-CN" sz="1600" dirty="0"/>
              <a:t>的公钥值</a:t>
            </a:r>
            <a:endParaRPr lang="en-US" altLang="zh-TW" sz="1600" dirty="0"/>
          </a:p>
          <a:p>
            <a:pPr lvl="1">
              <a:lnSpc>
                <a:spcPct val="140000"/>
              </a:lnSpc>
            </a:pPr>
            <a:r>
              <a:rPr lang="zh-TW" altLang="zh-CN" sz="1600" dirty="0"/>
              <a:t>通过以太坊的地址生成流程，</a:t>
            </a:r>
            <a:r>
              <a:rPr lang="zh-CN" altLang="en-US" sz="1600" dirty="0"/>
              <a:t>根据</a:t>
            </a:r>
            <a:r>
              <a:rPr lang="en-US" altLang="zh-CN" sz="1600" dirty="0"/>
              <a:t>Alice</a:t>
            </a:r>
            <a:r>
              <a:rPr lang="zh-TW" altLang="zh-CN" sz="1600" dirty="0"/>
              <a:t>的公钥计算出对应的</a:t>
            </a:r>
            <a:r>
              <a:rPr lang="en-US" altLang="zh-CN" sz="1600" dirty="0"/>
              <a:t>Alice</a:t>
            </a:r>
            <a:r>
              <a:rPr lang="zh-TW" altLang="zh-CN" sz="1600" dirty="0"/>
              <a:t>的以太坊地址</a:t>
            </a:r>
            <a:endParaRPr lang="en-US" altLang="zh-TW" sz="1600" dirty="0"/>
          </a:p>
          <a:p>
            <a:pPr lvl="1">
              <a:lnSpc>
                <a:spcPct val="140000"/>
              </a:lnSpc>
            </a:pPr>
            <a:r>
              <a:rPr lang="zh-TW" altLang="zh-CN" sz="1600" dirty="0"/>
              <a:t>如果交易受到篡改，计算通过交易哈希和签名计算得到的地址便是错误的</a:t>
            </a:r>
            <a:endParaRPr lang="en-US" altLang="zh-CN" sz="16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460018" y="3819654"/>
            <a:ext cx="6460577" cy="2332038"/>
          </a:xfrm>
          <a:prstGeom prst="rect">
            <a:avLst/>
          </a:prstGeom>
          <a:noFill/>
        </p:spPr>
      </p:pic>
      <p:sp>
        <p:nvSpPr>
          <p:cNvPr id="5" name="文本框 4"/>
          <p:cNvSpPr txBox="1"/>
          <p:nvPr/>
        </p:nvSpPr>
        <p:spPr>
          <a:xfrm>
            <a:off x="4991236" y="6223395"/>
            <a:ext cx="1398140" cy="307777"/>
          </a:xfrm>
          <a:prstGeom prst="rect">
            <a:avLst/>
          </a:prstGeom>
          <a:noFill/>
        </p:spPr>
        <p:txBody>
          <a:bodyPr wrap="none" rtlCol="0">
            <a:spAutoFit/>
          </a:bodyPr>
          <a:lstStyle/>
          <a:p>
            <a:r>
              <a:rPr lang="en-US" altLang="zh-CN" sz="1400" dirty="0"/>
              <a:t>Alice</a:t>
            </a:r>
            <a:r>
              <a:rPr lang="zh-CN" altLang="en-US" sz="1400" dirty="0"/>
              <a:t>向</a:t>
            </a:r>
            <a:r>
              <a:rPr lang="en-US" altLang="zh-CN" sz="1400" dirty="0"/>
              <a:t>Bob</a:t>
            </a:r>
            <a:r>
              <a:rPr lang="zh-CN" altLang="en-US" sz="1400" dirty="0"/>
              <a:t>转账</a:t>
            </a:r>
          </a:p>
        </p:txBody>
      </p:sp>
    </p:spTree>
    <p:extLst>
      <p:ext uri="{BB962C8B-B14F-4D97-AF65-F5344CB8AC3E}">
        <p14:creationId xmlns:p14="http://schemas.microsoft.com/office/powerpoint/2010/main" val="155078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交易重放问题</a:t>
            </a:r>
            <a:endParaRPr lang="en-US" altLang="zh-CN" dirty="0"/>
          </a:p>
          <a:p>
            <a:pPr lvl="1">
              <a:lnSpc>
                <a:spcPct val="140000"/>
              </a:lnSpc>
            </a:pPr>
            <a:r>
              <a:rPr lang="zh-TW" altLang="zh-CN" dirty="0"/>
              <a:t>在以太坊的模型中，交易的合法性检验在于转账发起者的账户余额</a:t>
            </a:r>
            <a:endParaRPr lang="en-US" altLang="zh-TW" dirty="0"/>
          </a:p>
          <a:p>
            <a:pPr lvl="1">
              <a:lnSpc>
                <a:spcPct val="140000"/>
              </a:lnSpc>
            </a:pPr>
            <a:r>
              <a:rPr lang="zh-TW" altLang="zh-CN" dirty="0"/>
              <a:t>如果没有其他手段来使得发起过的交易失效，那么这个交易将可以被无限次的重新发起而不需要发起者的同意，因为发起者的签名对于交易始终是有效的。</a:t>
            </a:r>
            <a:endParaRPr lang="en-US" altLang="zh-TW" dirty="0"/>
          </a:p>
          <a:p>
            <a:pPr marL="457200" lvl="1" indent="0">
              <a:lnSpc>
                <a:spcPct val="140000"/>
              </a:lnSpc>
              <a:buNone/>
            </a:pPr>
            <a:endParaRPr lang="en-US" altLang="zh-CN" dirty="0"/>
          </a:p>
          <a:p>
            <a:pPr lvl="1">
              <a:lnSpc>
                <a:spcPct val="140000"/>
              </a:lnSpc>
            </a:pP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5080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交易重放问题</a:t>
            </a:r>
            <a:endParaRPr lang="en-US" altLang="zh-CN" dirty="0"/>
          </a:p>
          <a:p>
            <a:pPr lvl="1">
              <a:lnSpc>
                <a:spcPct val="140000"/>
              </a:lnSpc>
            </a:pPr>
            <a:r>
              <a:rPr lang="zh-CN" altLang="en-US" sz="2000" dirty="0"/>
              <a:t>如何判断这笔交易是</a:t>
            </a:r>
            <a:r>
              <a:rPr lang="en-US" altLang="zh-CN" sz="2000" dirty="0"/>
              <a:t>Alice</a:t>
            </a:r>
            <a:r>
              <a:rPr lang="zh-CN" altLang="en-US" sz="2000" dirty="0"/>
              <a:t>继续向</a:t>
            </a:r>
            <a:r>
              <a:rPr lang="en-US" altLang="zh-CN" sz="2000" dirty="0"/>
              <a:t>Bob</a:t>
            </a:r>
            <a:r>
              <a:rPr lang="zh-CN" altLang="en-US" sz="2000" dirty="0"/>
              <a:t>转账，还是在没有</a:t>
            </a:r>
            <a:r>
              <a:rPr lang="en-US" altLang="zh-CN" sz="2000" dirty="0"/>
              <a:t>Alice</a:t>
            </a:r>
            <a:r>
              <a:rPr lang="zh-CN" altLang="en-US" sz="2000" dirty="0"/>
              <a:t>同意的情况下进行的一次恶意的攻击行为？</a:t>
            </a:r>
            <a:endParaRPr lang="zh-CN" altLang="zh-CN" sz="2000" dirty="0"/>
          </a:p>
          <a:p>
            <a:pPr lvl="1">
              <a:lnSpc>
                <a:spcPct val="140000"/>
              </a:lnSpc>
            </a:pPr>
            <a:endParaRPr lang="en-US" altLang="zh-CN" dirty="0"/>
          </a:p>
          <a:p>
            <a:pPr lvl="1">
              <a:lnSpc>
                <a:spcPct val="140000"/>
              </a:lnSpc>
            </a:pP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p:cNvPicPr/>
          <p:nvPr/>
        </p:nvPicPr>
        <p:blipFill>
          <a:blip r:embed="rId3" cstate="print">
            <a:extLst>
              <a:ext uri="{28A0092B-C50C-407E-A947-70E740481C1C}">
                <a14:useLocalDpi xmlns:a14="http://schemas.microsoft.com/office/drawing/2010/main" val="0"/>
              </a:ext>
            </a:extLst>
          </a:blip>
          <a:srcRect t="5526"/>
          <a:stretch>
            <a:fillRect/>
          </a:stretch>
        </p:blipFill>
        <p:spPr>
          <a:xfrm>
            <a:off x="1878475" y="3208885"/>
            <a:ext cx="7649845" cy="2644458"/>
          </a:xfrm>
          <a:prstGeom prst="rect">
            <a:avLst/>
          </a:prstGeom>
          <a:noFill/>
        </p:spPr>
      </p:pic>
      <p:sp>
        <p:nvSpPr>
          <p:cNvPr id="5" name="文本框 4"/>
          <p:cNvSpPr txBox="1"/>
          <p:nvPr/>
        </p:nvSpPr>
        <p:spPr>
          <a:xfrm>
            <a:off x="4803150" y="5979631"/>
            <a:ext cx="1800493" cy="307777"/>
          </a:xfrm>
          <a:prstGeom prst="rect">
            <a:avLst/>
          </a:prstGeom>
          <a:noFill/>
        </p:spPr>
        <p:txBody>
          <a:bodyPr wrap="none" rtlCol="0">
            <a:spAutoFit/>
          </a:bodyPr>
          <a:lstStyle/>
          <a:p>
            <a:r>
              <a:rPr lang="zh-CN" altLang="en-US" sz="1400" dirty="0"/>
              <a:t>无法识别的交易重放</a:t>
            </a:r>
          </a:p>
        </p:txBody>
      </p:sp>
    </p:spTree>
    <p:extLst>
      <p:ext uri="{BB962C8B-B14F-4D97-AF65-F5344CB8AC3E}">
        <p14:creationId xmlns:p14="http://schemas.microsoft.com/office/powerpoint/2010/main" val="3378939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en-US" altLang="zh-CN" dirty="0"/>
              <a:t>Nonce</a:t>
            </a:r>
            <a:r>
              <a:rPr lang="zh-CN" altLang="en-US" dirty="0"/>
              <a:t>计数器：计算交易次数和序列</a:t>
            </a:r>
            <a:endParaRPr lang="en-US" altLang="zh-CN" dirty="0"/>
          </a:p>
          <a:p>
            <a:pPr lvl="1">
              <a:lnSpc>
                <a:spcPct val="140000"/>
              </a:lnSpc>
            </a:pPr>
            <a:r>
              <a:rPr lang="zh-TW" altLang="zh-CN" dirty="0"/>
              <a:t>只有账户的</a:t>
            </a:r>
            <a:r>
              <a:rPr lang="en-US" altLang="zh-CN" dirty="0"/>
              <a:t>Nonce</a:t>
            </a:r>
            <a:r>
              <a:rPr lang="zh-TW" altLang="zh-CN" dirty="0"/>
              <a:t>和交易的</a:t>
            </a:r>
            <a:r>
              <a:rPr lang="en-US" altLang="zh-CN" dirty="0"/>
              <a:t>Nonce</a:t>
            </a:r>
            <a:r>
              <a:rPr lang="zh-TW" altLang="zh-CN" dirty="0"/>
              <a:t>能够对应的情况下，交易才是合法的</a:t>
            </a:r>
            <a:endParaRPr lang="en-US" altLang="zh-CN" dirty="0"/>
          </a:p>
          <a:p>
            <a:pPr lvl="1">
              <a:lnSpc>
                <a:spcPct val="140000"/>
              </a:lnSpc>
            </a:pPr>
            <a:r>
              <a:rPr lang="zh-TW" altLang="zh-CN" dirty="0"/>
              <a:t>当一个交易执行完毕之后，账户的</a:t>
            </a:r>
            <a:r>
              <a:rPr lang="en-US" altLang="zh-CN" dirty="0"/>
              <a:t>Nonce</a:t>
            </a:r>
            <a:r>
              <a:rPr lang="zh-TW" altLang="zh-CN" dirty="0"/>
              <a:t>值增加</a:t>
            </a:r>
            <a:r>
              <a:rPr lang="zh-CN" altLang="en-US" dirty="0"/>
              <a:t>，</a:t>
            </a:r>
            <a:r>
              <a:rPr lang="zh-TW" altLang="zh-CN" dirty="0"/>
              <a:t>原本执行完毕的交易中的</a:t>
            </a:r>
            <a:r>
              <a:rPr lang="en-US" altLang="zh-CN" dirty="0"/>
              <a:t>Nonce</a:t>
            </a:r>
            <a:r>
              <a:rPr lang="zh-TW" altLang="zh-CN" dirty="0"/>
              <a:t>值就无法与现在账户的</a:t>
            </a:r>
            <a:r>
              <a:rPr lang="en-US" altLang="zh-CN" dirty="0"/>
              <a:t>Nonce</a:t>
            </a:r>
            <a:r>
              <a:rPr lang="zh-TW" altLang="zh-CN" dirty="0"/>
              <a:t>值匹配</a:t>
            </a:r>
            <a:endParaRPr lang="en-US" altLang="zh-TW" dirty="0"/>
          </a:p>
          <a:p>
            <a:pPr lvl="1">
              <a:lnSpc>
                <a:spcPct val="140000"/>
              </a:lnSpc>
            </a:pPr>
            <a:r>
              <a:rPr lang="zh-TW" altLang="zh-CN" dirty="0"/>
              <a:t>修改对应的</a:t>
            </a:r>
            <a:r>
              <a:rPr lang="en-US" altLang="zh-CN" dirty="0"/>
              <a:t>Nonce</a:t>
            </a:r>
            <a:r>
              <a:rPr lang="zh-TW" altLang="zh-CN" dirty="0"/>
              <a:t>值，意味着原有交易的签名失效，需要发起者的重新签名</a:t>
            </a: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74163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sz="2000" dirty="0"/>
              <a:t>实例：</a:t>
            </a:r>
            <a:r>
              <a:rPr lang="en-US" altLang="zh-CN" sz="2000" dirty="0"/>
              <a:t>Nonce</a:t>
            </a:r>
            <a:r>
              <a:rPr lang="zh-CN" altLang="en-US" sz="2000" dirty="0"/>
              <a:t>计数器</a:t>
            </a:r>
            <a:endParaRPr lang="en-US" altLang="zh-CN" sz="2000" dirty="0"/>
          </a:p>
          <a:p>
            <a:pPr lvl="1">
              <a:lnSpc>
                <a:spcPct val="140000"/>
              </a:lnSpc>
            </a:pPr>
            <a:r>
              <a:rPr lang="en-US" altLang="zh-CN" sz="1600" dirty="0"/>
              <a:t>Alice</a:t>
            </a:r>
            <a:r>
              <a:rPr lang="zh-TW" altLang="zh-CN" sz="1600" dirty="0"/>
              <a:t>向</a:t>
            </a:r>
            <a:r>
              <a:rPr lang="en-US" altLang="zh-CN" sz="1600" dirty="0"/>
              <a:t>Bob</a:t>
            </a:r>
            <a:r>
              <a:rPr lang="zh-TW" altLang="zh-CN" sz="1600" dirty="0"/>
              <a:t>转账之前，</a:t>
            </a:r>
            <a:r>
              <a:rPr lang="en-US" altLang="zh-CN" sz="1600" dirty="0"/>
              <a:t>Alice</a:t>
            </a:r>
            <a:r>
              <a:rPr lang="zh-TW" altLang="zh-CN" sz="1600" dirty="0"/>
              <a:t>的</a:t>
            </a:r>
            <a:r>
              <a:rPr lang="en-US" altLang="zh-CN" sz="1600" dirty="0"/>
              <a:t>Nonce</a:t>
            </a:r>
            <a:r>
              <a:rPr lang="zh-TW" altLang="zh-CN" sz="1600" dirty="0"/>
              <a:t>值为</a:t>
            </a:r>
            <a:r>
              <a:rPr lang="en-US" altLang="zh-CN" sz="1600" dirty="0"/>
              <a:t>0</a:t>
            </a:r>
          </a:p>
          <a:p>
            <a:pPr lvl="1">
              <a:lnSpc>
                <a:spcPct val="140000"/>
              </a:lnSpc>
            </a:pPr>
            <a:r>
              <a:rPr lang="zh-TW" altLang="zh-CN" sz="1600" dirty="0"/>
              <a:t>当</a:t>
            </a:r>
            <a:r>
              <a:rPr lang="en-US" altLang="zh-CN" sz="1600" dirty="0"/>
              <a:t>Alice</a:t>
            </a:r>
            <a:r>
              <a:rPr lang="zh-TW" altLang="zh-CN" sz="1600" dirty="0"/>
              <a:t>向</a:t>
            </a:r>
            <a:r>
              <a:rPr lang="en-US" altLang="zh-CN" sz="1600" dirty="0"/>
              <a:t>Bob</a:t>
            </a:r>
            <a:r>
              <a:rPr lang="zh-TW" altLang="zh-CN" sz="1600" dirty="0"/>
              <a:t>转账</a:t>
            </a:r>
            <a:r>
              <a:rPr lang="en-US" altLang="zh-CN" sz="1600" dirty="0"/>
              <a:t>1 ETH</a:t>
            </a:r>
            <a:r>
              <a:rPr lang="zh-TW" altLang="zh-CN" sz="1600" dirty="0"/>
              <a:t>后，</a:t>
            </a:r>
            <a:r>
              <a:rPr lang="en-US" altLang="zh-CN" sz="1600" dirty="0"/>
              <a:t>Alice</a:t>
            </a:r>
            <a:r>
              <a:rPr lang="zh-TW" altLang="zh-CN" sz="1600" dirty="0"/>
              <a:t>的</a:t>
            </a:r>
            <a:r>
              <a:rPr lang="en-US" altLang="zh-CN" sz="1600" dirty="0"/>
              <a:t>Nonce</a:t>
            </a:r>
            <a:r>
              <a:rPr lang="zh-TW" altLang="zh-CN" sz="1600" dirty="0"/>
              <a:t>值变成</a:t>
            </a:r>
            <a:r>
              <a:rPr lang="en-US" altLang="zh-CN" sz="1600" dirty="0"/>
              <a:t>1</a:t>
            </a:r>
          </a:p>
          <a:p>
            <a:pPr lvl="1">
              <a:lnSpc>
                <a:spcPct val="140000"/>
              </a:lnSpc>
            </a:pPr>
            <a:r>
              <a:rPr lang="en-US" altLang="zh-CN" sz="1600" dirty="0"/>
              <a:t>Nonce</a:t>
            </a:r>
            <a:r>
              <a:rPr lang="zh-TW" altLang="zh-CN" sz="1600" dirty="0"/>
              <a:t>值为</a:t>
            </a:r>
            <a:r>
              <a:rPr lang="en-US" altLang="zh-CN" sz="1600" dirty="0"/>
              <a:t>1</a:t>
            </a:r>
            <a:r>
              <a:rPr lang="zh-TW" altLang="zh-CN" sz="1600" dirty="0"/>
              <a:t>并且具有合法签名的交易</a:t>
            </a:r>
            <a:r>
              <a:rPr lang="en-US" altLang="zh-CN" sz="1600" dirty="0"/>
              <a:t>2</a:t>
            </a:r>
            <a:r>
              <a:rPr lang="zh-TW" altLang="zh-CN" sz="1600" dirty="0"/>
              <a:t>将会是一个合法的交易</a:t>
            </a:r>
            <a:endParaRPr lang="en-US" altLang="zh-CN" sz="1400" dirty="0"/>
          </a:p>
          <a:p>
            <a:pPr lvl="1">
              <a:lnSpc>
                <a:spcPct val="140000"/>
              </a:lnSpc>
            </a:pPr>
            <a:r>
              <a:rPr lang="zh-TW" altLang="zh-CN" sz="1600" dirty="0"/>
              <a:t>对于重新提交的交易</a:t>
            </a:r>
            <a:r>
              <a:rPr lang="en-US" altLang="zh-CN" sz="1600" dirty="0"/>
              <a:t>1</a:t>
            </a:r>
            <a:r>
              <a:rPr lang="zh-TW" altLang="zh-CN" sz="1600" dirty="0"/>
              <a:t>而言，此时的交易记录的</a:t>
            </a:r>
            <a:r>
              <a:rPr lang="en-US" altLang="zh-CN" sz="1600" dirty="0"/>
              <a:t>Nonce</a:t>
            </a:r>
            <a:r>
              <a:rPr lang="zh-TW" altLang="zh-CN" sz="1600" dirty="0"/>
              <a:t>值依旧为</a:t>
            </a:r>
            <a:r>
              <a:rPr lang="en-US" altLang="zh-CN" sz="1600" dirty="0"/>
              <a:t>0</a:t>
            </a:r>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512543" y="3741618"/>
            <a:ext cx="6212356" cy="2672080"/>
          </a:xfrm>
          <a:prstGeom prst="rect">
            <a:avLst/>
          </a:prstGeom>
          <a:noFill/>
        </p:spPr>
      </p:pic>
      <p:sp>
        <p:nvSpPr>
          <p:cNvPr id="5" name="文本框 4"/>
          <p:cNvSpPr txBox="1"/>
          <p:nvPr/>
        </p:nvSpPr>
        <p:spPr>
          <a:xfrm>
            <a:off x="4643935" y="6413698"/>
            <a:ext cx="1949573" cy="307777"/>
          </a:xfrm>
          <a:prstGeom prst="rect">
            <a:avLst/>
          </a:prstGeom>
          <a:noFill/>
        </p:spPr>
        <p:txBody>
          <a:bodyPr wrap="none" rtlCol="0">
            <a:spAutoFit/>
          </a:bodyPr>
          <a:lstStyle/>
          <a:p>
            <a:r>
              <a:rPr lang="en-US" altLang="zh-CN" sz="1400" dirty="0"/>
              <a:t>Nonce</a:t>
            </a:r>
            <a:r>
              <a:rPr lang="zh-CN" altLang="en-US" sz="1400" dirty="0"/>
              <a:t>值防止重复交易</a:t>
            </a:r>
          </a:p>
        </p:txBody>
      </p:sp>
    </p:spTree>
    <p:extLst>
      <p:ext uri="{BB962C8B-B14F-4D97-AF65-F5344CB8AC3E}">
        <p14:creationId xmlns:p14="http://schemas.microsoft.com/office/powerpoint/2010/main" val="250016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en-US" altLang="zh-CN" dirty="0"/>
              <a:t>Nonce</a:t>
            </a:r>
            <a:r>
              <a:rPr lang="zh-CN" altLang="en-US" dirty="0"/>
              <a:t>的其他用途</a:t>
            </a:r>
            <a:endParaRPr lang="en-US" altLang="zh-CN" dirty="0"/>
          </a:p>
          <a:p>
            <a:pPr lvl="1">
              <a:lnSpc>
                <a:spcPct val="140000"/>
              </a:lnSpc>
            </a:pPr>
            <a:r>
              <a:rPr lang="zh-TW" altLang="zh-CN" dirty="0"/>
              <a:t>控制账户发起的交易的顺序，从而实现一些相对复杂的功能。</a:t>
            </a:r>
            <a:endParaRPr lang="en-US" altLang="zh-TW" dirty="0"/>
          </a:p>
          <a:p>
            <a:pPr lvl="1">
              <a:lnSpc>
                <a:spcPct val="140000"/>
              </a:lnSpc>
            </a:pPr>
            <a:r>
              <a:rPr lang="zh-TW" altLang="zh-CN" dirty="0"/>
              <a:t>通过重复提交一个相同</a:t>
            </a:r>
            <a:r>
              <a:rPr lang="en-US" altLang="zh-CN" dirty="0"/>
              <a:t>Nonce</a:t>
            </a:r>
            <a:r>
              <a:rPr lang="zh-TW" altLang="zh-CN" dirty="0"/>
              <a:t>值的交易来使得一个已经提交但是尚未被确认的交易变得不合法，从而实现一定程度的撤销功能。</a:t>
            </a:r>
            <a:endParaRPr lang="en-US" altLang="zh-TW" dirty="0"/>
          </a:p>
          <a:p>
            <a:pPr lvl="1">
              <a:lnSpc>
                <a:spcPct val="140000"/>
              </a:lnSpc>
            </a:pPr>
            <a:r>
              <a:rPr lang="en-US" altLang="zh-CN" dirty="0"/>
              <a:t>… </a:t>
            </a:r>
          </a:p>
          <a:p>
            <a:pPr marL="0" indent="0">
              <a:lnSpc>
                <a:spcPct val="140000"/>
              </a:lnSpc>
              <a:buNone/>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958641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以太坊简介</a:t>
            </a:r>
            <a:endParaRPr kumimoji="1" lang="en-US" altLang="zh-CN" dirty="0"/>
          </a:p>
          <a:p>
            <a:pPr marL="0" indent="0">
              <a:lnSpc>
                <a:spcPct val="130000"/>
              </a:lnSpc>
              <a:buNone/>
            </a:pPr>
            <a:r>
              <a:rPr kumimoji="1" lang="en-US" altLang="zh-CN" dirty="0"/>
              <a:t>1.2</a:t>
            </a:r>
            <a:r>
              <a:rPr kumimoji="1" lang="zh-CN" altLang="en-US" dirty="0"/>
              <a:t> 以太坊基本架构及原理</a:t>
            </a:r>
            <a:endParaRPr kumimoji="1" lang="en-US" altLang="zh-CN" dirty="0"/>
          </a:p>
          <a:p>
            <a:pPr marL="0" indent="0">
              <a:lnSpc>
                <a:spcPct val="130000"/>
              </a:lnSpc>
              <a:buNone/>
            </a:pPr>
            <a:r>
              <a:rPr kumimoji="1" lang="en-US" altLang="zh-CN" dirty="0"/>
              <a:t>1.3</a:t>
            </a:r>
            <a:r>
              <a:rPr kumimoji="1" lang="zh-CN" altLang="en-US" dirty="0"/>
              <a:t> 以太坊账户模型与转账</a:t>
            </a:r>
            <a:endParaRPr kumimoji="1" lang="en-US" altLang="zh-CN" dirty="0"/>
          </a:p>
          <a:p>
            <a:pPr marL="0" indent="0">
              <a:lnSpc>
                <a:spcPct val="130000"/>
              </a:lnSpc>
              <a:buNone/>
            </a:pPr>
            <a:r>
              <a:rPr kumimoji="1" lang="en-US" altLang="zh-CN" dirty="0">
                <a:solidFill>
                  <a:srgbClr val="C00000"/>
                </a:solidFill>
              </a:rPr>
              <a:t>1.4</a:t>
            </a:r>
            <a:r>
              <a:rPr kumimoji="1" lang="zh-CN" altLang="en-US" dirty="0">
                <a:solidFill>
                  <a:srgbClr val="C00000"/>
                </a:solidFill>
              </a:rPr>
              <a:t> 智能合约</a:t>
            </a:r>
            <a:endParaRPr kumimoji="1" lang="en-US" altLang="zh-CN" dirty="0">
              <a:solidFill>
                <a:srgbClr val="C00000"/>
              </a:solidFill>
            </a:endParaRPr>
          </a:p>
          <a:p>
            <a:pPr marL="0" indent="0">
              <a:lnSpc>
                <a:spcPct val="130000"/>
              </a:lnSpc>
              <a:buNone/>
            </a:pPr>
            <a:r>
              <a:rPr kumimoji="1" lang="en-US" altLang="zh-CN" dirty="0"/>
              <a:t>1.5</a:t>
            </a:r>
            <a:r>
              <a:rPr kumimoji="1" lang="zh-CN" altLang="en-US" dirty="0"/>
              <a:t> 以太坊交易</a:t>
            </a:r>
            <a:endParaRPr kumimoji="1" lang="en-US" altLang="zh-CN" dirty="0"/>
          </a:p>
          <a:p>
            <a:pPr marL="0" indent="0">
              <a:lnSpc>
                <a:spcPct val="130000"/>
              </a:lnSpc>
              <a:buNone/>
            </a:pPr>
            <a:r>
              <a:rPr kumimoji="1" lang="en-US" altLang="zh-CN" dirty="0"/>
              <a:t>1.6</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6" name="矩形标注 6">
            <a:extLst>
              <a:ext uri="{FF2B5EF4-FFF2-40B4-BE49-F238E27FC236}">
                <a16:creationId xmlns:a16="http://schemas.microsoft.com/office/drawing/2014/main" id="{15329BE1-E9DC-44F9-9A24-93FC306DFD0B}"/>
              </a:ext>
            </a:extLst>
          </p:cNvPr>
          <p:cNvSpPr/>
          <p:nvPr/>
        </p:nvSpPr>
        <p:spPr>
          <a:xfrm>
            <a:off x="7245531" y="2524626"/>
            <a:ext cx="4281889" cy="1808747"/>
          </a:xfrm>
          <a:prstGeom prst="wedgeRectCallout">
            <a:avLst>
              <a:gd name="adj1" fmla="val -81204"/>
              <a:gd name="adj2" fmla="val 739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状态模型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智能合约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驱动智能合约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66057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定义：智能合约</a:t>
            </a:r>
            <a:endParaRPr lang="en-US" altLang="zh-CN" dirty="0"/>
          </a:p>
          <a:p>
            <a:pPr lvl="1">
              <a:lnSpc>
                <a:spcPct val="140000"/>
              </a:lnSpc>
            </a:pPr>
            <a:r>
              <a:rPr lang="zh-TW" altLang="zh-CN" dirty="0"/>
              <a:t>一段在区块链上执行的代码，它依托于区块链系统在参与者之间实现对执行的一致认可</a:t>
            </a:r>
            <a:endParaRPr lang="en-US" altLang="zh-TW" dirty="0"/>
          </a:p>
          <a:p>
            <a:pPr>
              <a:lnSpc>
                <a:spcPct val="140000"/>
              </a:lnSpc>
            </a:pPr>
            <a:endParaRPr lang="en-US" altLang="zh-CN" sz="24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894489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marL="360680" indent="-360680">
              <a:lnSpc>
                <a:spcPct val="130000"/>
              </a:lnSpc>
            </a:pPr>
            <a:r>
              <a:rPr lang="zh-CN" altLang="en-US" dirty="0"/>
              <a:t>背景</a:t>
            </a:r>
            <a:endParaRPr lang="en-US" altLang="zh-CN" dirty="0"/>
          </a:p>
          <a:p>
            <a:pPr lvl="1">
              <a:lnSpc>
                <a:spcPct val="140000"/>
              </a:lnSpc>
            </a:pPr>
            <a:r>
              <a:rPr lang="zh-TW" altLang="zh-CN" dirty="0"/>
              <a:t>在账户模型中，用户的余额通过地址上的账户数据来表示，具体为账户数据结构中的一个余额的数值</a:t>
            </a:r>
            <a:endParaRPr lang="en-US" altLang="zh-TW" dirty="0"/>
          </a:p>
          <a:p>
            <a:pPr lvl="1">
              <a:lnSpc>
                <a:spcPct val="140000"/>
              </a:lnSpc>
            </a:pPr>
            <a:r>
              <a:rPr lang="zh-TW" altLang="zh-CN" dirty="0"/>
              <a:t>在转账交易的过程中，通过转账预先定义好的语义，在发起者的账户中减去交易中定义好的转账金额，在接受者的账户中增加相应的金额</a:t>
            </a:r>
            <a:endParaRPr lang="en-US" altLang="zh-TW" dirty="0"/>
          </a:p>
          <a:p>
            <a:pPr lvl="1">
              <a:lnSpc>
                <a:spcPct val="140000"/>
              </a:lnSpc>
            </a:pPr>
            <a:r>
              <a:rPr lang="zh-TW" altLang="zh-CN" dirty="0"/>
              <a:t>可以把账户的余额泛化成一种</a:t>
            </a:r>
            <a:r>
              <a:rPr lang="zh-TW" altLang="zh-CN" dirty="0">
                <a:solidFill>
                  <a:srgbClr val="C00000"/>
                </a:solidFill>
              </a:rPr>
              <a:t>账户的状态</a:t>
            </a:r>
            <a:r>
              <a:rPr lang="zh-TW" altLang="zh-CN" dirty="0"/>
              <a:t>，而把转账交易当作是</a:t>
            </a:r>
            <a:r>
              <a:rPr lang="zh-TW" altLang="zh-CN" dirty="0">
                <a:solidFill>
                  <a:srgbClr val="C00000"/>
                </a:solidFill>
              </a:rPr>
              <a:t>改变状态的一个方法</a:t>
            </a:r>
            <a:endParaRPr lang="en-US" altLang="zh-TW" dirty="0">
              <a:solidFill>
                <a:srgbClr val="C00000"/>
              </a:solidFill>
            </a:endParaRPr>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23727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lvl="1">
              <a:lnSpc>
                <a:spcPct val="140000"/>
              </a:lnSpc>
            </a:pPr>
            <a:r>
              <a:rPr lang="zh-CN" altLang="en-US" sz="2000" dirty="0"/>
              <a:t>只要约定好的变换规则是固定的，就可以不断地通过变换规则不停地作用到原有状态上产生新的状态</a:t>
            </a:r>
            <a:endParaRPr lang="en-US" altLang="zh-CN" sz="2000" dirty="0"/>
          </a:p>
          <a:p>
            <a:pPr lvl="1">
              <a:lnSpc>
                <a:spcPct val="140000"/>
              </a:lnSpc>
            </a:pPr>
            <a:r>
              <a:rPr lang="zh-TW" altLang="zh-CN" sz="2000" dirty="0"/>
              <a:t>对于有着相同的初始状态的参与者们来说，经过完全相同的变换过程，最后必然得到完全相同的当前状态。</a:t>
            </a:r>
            <a:endParaRPr lang="en-US" altLang="zh-CN" sz="20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545809" y="3299460"/>
            <a:ext cx="5744210" cy="2866390"/>
          </a:xfrm>
          <a:prstGeom prst="rect">
            <a:avLst/>
          </a:prstGeom>
          <a:noFill/>
        </p:spPr>
      </p:pic>
      <p:sp>
        <p:nvSpPr>
          <p:cNvPr id="10" name="文本框 9"/>
          <p:cNvSpPr txBox="1"/>
          <p:nvPr/>
        </p:nvSpPr>
        <p:spPr>
          <a:xfrm>
            <a:off x="4643935" y="6259809"/>
            <a:ext cx="2339102" cy="307777"/>
          </a:xfrm>
          <a:prstGeom prst="rect">
            <a:avLst/>
          </a:prstGeom>
          <a:noFill/>
        </p:spPr>
        <p:txBody>
          <a:bodyPr wrap="none" rtlCol="0">
            <a:spAutoFit/>
          </a:bodyPr>
          <a:lstStyle/>
          <a:p>
            <a:r>
              <a:rPr lang="zh-CN" altLang="en-US" sz="1400" dirty="0"/>
              <a:t>三种系统下的状态变换例子</a:t>
            </a:r>
          </a:p>
        </p:txBody>
      </p:sp>
    </p:spTree>
    <p:extLst>
      <p:ext uri="{BB962C8B-B14F-4D97-AF65-F5344CB8AC3E}">
        <p14:creationId xmlns:p14="http://schemas.microsoft.com/office/powerpoint/2010/main" val="1303570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状态模型上的代码执行</a:t>
            </a:r>
            <a:endParaRPr lang="en-US" altLang="zh-CN" dirty="0"/>
          </a:p>
          <a:p>
            <a:pPr lvl="1">
              <a:lnSpc>
                <a:spcPct val="140000"/>
              </a:lnSpc>
            </a:pPr>
            <a:r>
              <a:rPr lang="zh-TW" altLang="zh-CN" dirty="0"/>
              <a:t>把计算机程序执行过程中的变量等数据一同</a:t>
            </a:r>
            <a:r>
              <a:rPr lang="zh-CN" altLang="zh-CN" dirty="0"/>
              <a:t>存储</a:t>
            </a:r>
            <a:r>
              <a:rPr lang="zh-TW" altLang="zh-CN" dirty="0"/>
              <a:t>到区块链上，交易的过程则是执行一段约定好的计算机程序</a:t>
            </a:r>
            <a:endParaRPr lang="en-US" altLang="zh-TW" dirty="0"/>
          </a:p>
          <a:p>
            <a:pPr lvl="1">
              <a:lnSpc>
                <a:spcPct val="140000"/>
              </a:lnSpc>
            </a:pPr>
            <a:r>
              <a:rPr lang="zh-TW" altLang="zh-CN" dirty="0"/>
              <a:t>在整个流程中，这些存储的数据是一个状态，执行的代码是一种特定的变换</a:t>
            </a:r>
            <a:endParaRPr lang="en-US" altLang="zh-TW" dirty="0"/>
          </a:p>
          <a:p>
            <a:pPr lvl="1">
              <a:lnSpc>
                <a:spcPct val="140000"/>
              </a:lnSpc>
            </a:pPr>
            <a:r>
              <a:rPr lang="zh-TW" altLang="zh-CN" dirty="0"/>
              <a:t>执行的过程是一个单射，对于当前的状态，不能得到多种结果</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450767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智能合约的代码执行</a:t>
            </a:r>
            <a:endParaRPr lang="en-US" altLang="zh-CN" dirty="0"/>
          </a:p>
          <a:p>
            <a:pPr lvl="1">
              <a:lnSpc>
                <a:spcPct val="140000"/>
              </a:lnSpc>
            </a:pPr>
            <a:r>
              <a:rPr lang="zh-CN" altLang="en-US" dirty="0"/>
              <a:t>利用</a:t>
            </a:r>
            <a:r>
              <a:rPr lang="zh-TW" altLang="zh-CN" dirty="0"/>
              <a:t>提前约定好的代码来管理和变化存储在以太坊上的状态变量</a:t>
            </a:r>
            <a:endParaRPr lang="en-US" altLang="zh-TW" dirty="0"/>
          </a:p>
          <a:p>
            <a:pPr lvl="1">
              <a:lnSpc>
                <a:spcPct val="140000"/>
              </a:lnSpc>
            </a:pPr>
            <a:r>
              <a:rPr lang="zh-TW" altLang="zh-CN" dirty="0"/>
              <a:t>利用智能合约的代码来自定义交易过程中的状态变换过程</a:t>
            </a:r>
            <a:endParaRPr lang="en-US" altLang="zh-TW" dirty="0"/>
          </a:p>
          <a:p>
            <a:pPr lvl="1">
              <a:lnSpc>
                <a:spcPct val="140000"/>
              </a:lnSpc>
            </a:pPr>
            <a:r>
              <a:rPr lang="zh-TW" altLang="zh-CN" dirty="0"/>
              <a:t>在可以受到以太坊系统的参与者一致认可的条件下不断执行和变化，实现</a:t>
            </a:r>
            <a:r>
              <a:rPr lang="en-US" altLang="zh-CN" dirty="0"/>
              <a:t>“</a:t>
            </a:r>
            <a:r>
              <a:rPr lang="zh-TW" altLang="zh-CN" dirty="0"/>
              <a:t>世界状态机</a:t>
            </a:r>
            <a:r>
              <a:rPr lang="en-US" altLang="zh-CN" dirty="0"/>
              <a:t>”</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4052043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sz="2400" dirty="0"/>
              <a:t>实例：记录</a:t>
            </a:r>
            <a:r>
              <a:rPr lang="en-US" altLang="zh-CN" sz="2400" dirty="0"/>
              <a:t>Alice</a:t>
            </a:r>
            <a:r>
              <a:rPr lang="zh-CN" altLang="en-US" sz="2400" dirty="0"/>
              <a:t>个人信息的智能合约</a:t>
            </a:r>
            <a:endParaRPr lang="en-US" altLang="zh-CN" sz="2400" dirty="0"/>
          </a:p>
          <a:p>
            <a:pPr lvl="1">
              <a:lnSpc>
                <a:spcPct val="140000"/>
              </a:lnSpc>
            </a:pPr>
            <a:r>
              <a:rPr lang="zh-CN" altLang="en-US" sz="2000" dirty="0"/>
              <a:t>合约使用状态模型保存个人信息</a:t>
            </a:r>
            <a:r>
              <a:rPr lang="en-US" altLang="zh-CN" sz="2000" dirty="0"/>
              <a:t>&lt;name: “Alice”, age: 20, height: 178&gt;</a:t>
            </a:r>
          </a:p>
          <a:p>
            <a:pPr lvl="1">
              <a:lnSpc>
                <a:spcPct val="140000"/>
              </a:lnSpc>
            </a:pPr>
            <a:r>
              <a:rPr lang="zh-CN" altLang="en-US" sz="2000" dirty="0"/>
              <a:t>制定</a:t>
            </a:r>
            <a:r>
              <a:rPr lang="en-US" altLang="zh-CN" sz="2000" dirty="0"/>
              <a:t>Grow</a:t>
            </a:r>
            <a:r>
              <a:rPr lang="zh-CN" altLang="en-US" sz="2000" dirty="0"/>
              <a:t>和</a:t>
            </a:r>
            <a:r>
              <a:rPr lang="en-US" altLang="zh-CN" sz="2000" dirty="0"/>
              <a:t>Rename</a:t>
            </a:r>
            <a:r>
              <a:rPr lang="zh-CN" altLang="en-US" sz="2000" dirty="0"/>
              <a:t>两种方法来进行状态修改</a:t>
            </a:r>
            <a:endParaRPr lang="en-US" altLang="zh-CN" sz="2000" dirty="0"/>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205766" y="3682365"/>
            <a:ext cx="6424295" cy="2673985"/>
          </a:xfrm>
          <a:prstGeom prst="rect">
            <a:avLst/>
          </a:prstGeom>
          <a:noFill/>
        </p:spPr>
      </p:pic>
      <p:sp>
        <p:nvSpPr>
          <p:cNvPr id="10" name="文本框 9"/>
          <p:cNvSpPr txBox="1"/>
          <p:nvPr/>
        </p:nvSpPr>
        <p:spPr>
          <a:xfrm>
            <a:off x="4333321" y="6413698"/>
            <a:ext cx="2169184" cy="307777"/>
          </a:xfrm>
          <a:prstGeom prst="rect">
            <a:avLst/>
          </a:prstGeom>
          <a:noFill/>
        </p:spPr>
        <p:txBody>
          <a:bodyPr wrap="none" rtlCol="0">
            <a:spAutoFit/>
          </a:bodyPr>
          <a:lstStyle/>
          <a:p>
            <a:r>
              <a:rPr lang="zh-CN" altLang="en-US" sz="1400" dirty="0"/>
              <a:t>记录</a:t>
            </a:r>
            <a:r>
              <a:rPr lang="en-US" altLang="zh-CN" sz="1400" dirty="0"/>
              <a:t>Alice</a:t>
            </a:r>
            <a:r>
              <a:rPr lang="zh-CN" altLang="en-US" sz="1400" dirty="0"/>
              <a:t>个人信息的合约</a:t>
            </a:r>
          </a:p>
        </p:txBody>
      </p:sp>
    </p:spTree>
    <p:extLst>
      <p:ext uri="{BB962C8B-B14F-4D97-AF65-F5344CB8AC3E}">
        <p14:creationId xmlns:p14="http://schemas.microsoft.com/office/powerpoint/2010/main" val="372688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sz="2400" dirty="0"/>
              <a:t>实例：记录</a:t>
            </a:r>
            <a:r>
              <a:rPr lang="en-US" altLang="zh-CN" sz="2400" dirty="0"/>
              <a:t>Alice</a:t>
            </a:r>
            <a:r>
              <a:rPr lang="zh-CN" altLang="en-US" sz="2400" dirty="0"/>
              <a:t>个人信息的智能合约</a:t>
            </a:r>
            <a:endParaRPr lang="en-US" altLang="zh-CN" sz="2400" dirty="0"/>
          </a:p>
          <a:p>
            <a:pPr lvl="1">
              <a:lnSpc>
                <a:spcPct val="140000"/>
              </a:lnSpc>
            </a:pPr>
            <a:r>
              <a:rPr lang="zh-CN" altLang="en-US" sz="2000" dirty="0"/>
              <a:t>状态转移过程一：执行</a:t>
            </a:r>
            <a:r>
              <a:rPr lang="en-US" altLang="zh-CN" sz="2000" dirty="0"/>
              <a:t>Grow</a:t>
            </a:r>
            <a:r>
              <a:rPr lang="zh-CN" altLang="en-US" sz="2000" dirty="0"/>
              <a:t>（</a:t>
            </a:r>
            <a:r>
              <a:rPr lang="en-US" altLang="zh-CN" sz="2000" dirty="0"/>
              <a:t>1</a:t>
            </a:r>
            <a:r>
              <a:rPr lang="zh-CN" altLang="en-US" sz="2000" dirty="0"/>
              <a:t>，</a:t>
            </a:r>
            <a:r>
              <a:rPr lang="en-US" altLang="zh-CN" sz="2000" dirty="0"/>
              <a:t>1</a:t>
            </a:r>
            <a:r>
              <a:rPr lang="zh-CN" altLang="en-US" sz="2000" dirty="0"/>
              <a:t>）</a:t>
            </a:r>
            <a:endParaRPr lang="en-US" altLang="zh-CN" sz="2000" dirty="0"/>
          </a:p>
          <a:p>
            <a:pPr lvl="1">
              <a:lnSpc>
                <a:spcPct val="140000"/>
              </a:lnSpc>
            </a:pPr>
            <a:r>
              <a:rPr lang="zh-CN" altLang="en-US" sz="2000" dirty="0"/>
              <a:t>状态转移过程二：执行</a:t>
            </a:r>
            <a:r>
              <a:rPr lang="en-US" altLang="zh-CN" sz="2000" dirty="0"/>
              <a:t>Rename</a:t>
            </a:r>
            <a:r>
              <a:rPr lang="zh-TW" altLang="zh-CN" sz="2000" dirty="0"/>
              <a:t>（</a:t>
            </a:r>
            <a:r>
              <a:rPr lang="en-US" altLang="zh-CN" sz="2000" dirty="0"/>
              <a:t>“Cathy”</a:t>
            </a:r>
            <a:r>
              <a:rPr lang="zh-TW" altLang="zh-CN" sz="2000" dirty="0"/>
              <a:t>）</a:t>
            </a:r>
            <a:endParaRPr lang="en-US" altLang="zh-TW" sz="2000" dirty="0"/>
          </a:p>
          <a:p>
            <a:pPr lvl="1">
              <a:lnSpc>
                <a:spcPct val="140000"/>
              </a:lnSpc>
            </a:pPr>
            <a:r>
              <a:rPr lang="zh-CN" altLang="en-US" sz="2000" dirty="0"/>
              <a:t>状态变换结果：</a:t>
            </a:r>
            <a:r>
              <a:rPr lang="en-US" altLang="zh-CN" sz="2000" dirty="0"/>
              <a:t>&lt;name: “Cathy”, age: 21, height: 179&gt;</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205766" y="3681044"/>
            <a:ext cx="6424295" cy="2673985"/>
          </a:xfrm>
          <a:prstGeom prst="rect">
            <a:avLst/>
          </a:prstGeom>
          <a:noFill/>
        </p:spPr>
      </p:pic>
      <p:sp>
        <p:nvSpPr>
          <p:cNvPr id="10" name="文本框 9"/>
          <p:cNvSpPr txBox="1"/>
          <p:nvPr/>
        </p:nvSpPr>
        <p:spPr>
          <a:xfrm>
            <a:off x="4333321" y="6413698"/>
            <a:ext cx="2169184" cy="307777"/>
          </a:xfrm>
          <a:prstGeom prst="rect">
            <a:avLst/>
          </a:prstGeom>
          <a:noFill/>
        </p:spPr>
        <p:txBody>
          <a:bodyPr wrap="none" rtlCol="0">
            <a:spAutoFit/>
          </a:bodyPr>
          <a:lstStyle/>
          <a:p>
            <a:r>
              <a:rPr lang="zh-CN" altLang="en-US" sz="1400" dirty="0"/>
              <a:t>记录</a:t>
            </a:r>
            <a:r>
              <a:rPr lang="en-US" altLang="zh-CN" sz="1400" dirty="0"/>
              <a:t>Alice</a:t>
            </a:r>
            <a:r>
              <a:rPr lang="zh-CN" altLang="en-US" sz="1400" dirty="0"/>
              <a:t>个人信息的合约</a:t>
            </a:r>
          </a:p>
        </p:txBody>
      </p:sp>
    </p:spTree>
    <p:extLst>
      <p:ext uri="{BB962C8B-B14F-4D97-AF65-F5344CB8AC3E}">
        <p14:creationId xmlns:p14="http://schemas.microsoft.com/office/powerpoint/2010/main" val="1959123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合约账户与数据存储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背景</a:t>
            </a:r>
            <a:endParaRPr lang="en-US" altLang="zh-CN" dirty="0"/>
          </a:p>
          <a:p>
            <a:pPr lvl="1">
              <a:lnSpc>
                <a:spcPct val="140000"/>
              </a:lnSpc>
            </a:pPr>
            <a:r>
              <a:rPr lang="zh-TW" altLang="zh-CN" dirty="0"/>
              <a:t>对于智能合约与状态的实体，以太坊同样使用了账户作为一个合约实例对象的抽象，它基本上是普通账户的扩展</a:t>
            </a:r>
            <a:endParaRPr lang="en-US" altLang="zh-TW"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638495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合约账户与数据存储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定义</a:t>
            </a:r>
            <a:endParaRPr lang="en-US" altLang="zh-CN" dirty="0"/>
          </a:p>
          <a:p>
            <a:pPr lvl="1">
              <a:lnSpc>
                <a:spcPct val="140000"/>
              </a:lnSpc>
            </a:pPr>
            <a:r>
              <a:rPr lang="zh-CN" altLang="en-US" dirty="0"/>
              <a:t>合约账户</a:t>
            </a:r>
            <a:endParaRPr lang="en-US" altLang="zh-CN" dirty="0"/>
          </a:p>
          <a:p>
            <a:pPr lvl="2">
              <a:lnSpc>
                <a:spcPct val="140000"/>
              </a:lnSpc>
            </a:pPr>
            <a:r>
              <a:rPr lang="zh-CN" altLang="en-US" dirty="0"/>
              <a:t>表</a:t>
            </a:r>
            <a:r>
              <a:rPr lang="zh-TW" altLang="zh-CN" dirty="0"/>
              <a:t>示合约实例对象</a:t>
            </a:r>
            <a:r>
              <a:rPr lang="zh-CN" altLang="en-US" dirty="0"/>
              <a:t>的</a:t>
            </a:r>
            <a:r>
              <a:rPr lang="zh-TW" altLang="zh-CN" dirty="0"/>
              <a:t>账户被称为合约账户</a:t>
            </a:r>
            <a:r>
              <a:rPr lang="zh-CN" altLang="en-US" dirty="0"/>
              <a:t>，</a:t>
            </a:r>
            <a:r>
              <a:rPr lang="zh-TW" altLang="zh-CN" dirty="0"/>
              <a:t>它的地址并不是由公钥产生，而是通过特定的算法在创建合约的时候生成</a:t>
            </a:r>
            <a:endParaRPr lang="en-US" altLang="zh-CN" dirty="0"/>
          </a:p>
          <a:p>
            <a:pPr lvl="1">
              <a:lnSpc>
                <a:spcPct val="140000"/>
              </a:lnSpc>
            </a:pPr>
            <a:r>
              <a:rPr lang="zh-CN" altLang="en-US" dirty="0"/>
              <a:t>外部账户</a:t>
            </a:r>
            <a:endParaRPr lang="en-US" altLang="zh-CN" dirty="0"/>
          </a:p>
          <a:p>
            <a:pPr lvl="2">
              <a:lnSpc>
                <a:spcPct val="140000"/>
              </a:lnSpc>
            </a:pPr>
            <a:r>
              <a:rPr lang="zh-TW" altLang="zh-CN" dirty="0"/>
              <a:t>表示用户余额的账户则被称之为外部账户（</a:t>
            </a:r>
            <a:r>
              <a:rPr lang="en-US" altLang="zh-CN" dirty="0"/>
              <a:t>Externally Owned Accounts</a:t>
            </a:r>
            <a:r>
              <a:rPr lang="zh-TW" altLang="zh-CN" dirty="0"/>
              <a:t>），这些账户受外部私钥控制，由外部的用户所操控 。这里的外部是相对于以太坊运行机制而言的</a:t>
            </a:r>
            <a:endParaRPr lang="en-US" altLang="zh-TW"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219779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合约账户与数据存储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fontScale="92500" lnSpcReduction="20000"/>
          </a:bodyPr>
          <a:lstStyle/>
          <a:p>
            <a:pPr>
              <a:lnSpc>
                <a:spcPct val="140000"/>
              </a:lnSpc>
            </a:pPr>
            <a:r>
              <a:rPr lang="zh-CN" altLang="en-US" dirty="0"/>
              <a:t>合约账户内容</a:t>
            </a:r>
            <a:endParaRPr lang="en-US" altLang="zh-CN" dirty="0"/>
          </a:p>
          <a:p>
            <a:pPr lvl="1">
              <a:lnSpc>
                <a:spcPct val="140000"/>
              </a:lnSpc>
            </a:pPr>
            <a:r>
              <a:rPr lang="zh-CN" altLang="en-US" dirty="0"/>
              <a:t>数据结构</a:t>
            </a:r>
            <a:endParaRPr lang="en-US" altLang="zh-CN" dirty="0"/>
          </a:p>
          <a:p>
            <a:pPr lvl="2">
              <a:lnSpc>
                <a:spcPct val="140000"/>
              </a:lnSpc>
            </a:pPr>
            <a:r>
              <a:rPr lang="zh-TW" altLang="zh-CN" dirty="0"/>
              <a:t>合约账户的数据结构基于原本外部合约账户，主要扩展了存储合约代码和存储合约状态的字段</a:t>
            </a:r>
            <a:endParaRPr lang="en-US" altLang="zh-TW" dirty="0"/>
          </a:p>
          <a:p>
            <a:pPr lvl="1">
              <a:lnSpc>
                <a:spcPct val="140000"/>
              </a:lnSpc>
            </a:pPr>
            <a:r>
              <a:rPr lang="zh-CN" altLang="en-US" dirty="0"/>
              <a:t>计算机代码</a:t>
            </a:r>
            <a:endParaRPr lang="en-US" altLang="zh-CN" dirty="0"/>
          </a:p>
          <a:p>
            <a:pPr lvl="2">
              <a:lnSpc>
                <a:spcPct val="140000"/>
              </a:lnSpc>
            </a:pPr>
            <a:r>
              <a:rPr lang="zh-TW" altLang="zh-CN" dirty="0"/>
              <a:t>合约的计算机代码通过机器码的形式保存在合约机器码的字段中</a:t>
            </a:r>
            <a:endParaRPr lang="en-US" altLang="zh-TW" dirty="0"/>
          </a:p>
          <a:p>
            <a:pPr lvl="1">
              <a:lnSpc>
                <a:spcPct val="140000"/>
              </a:lnSpc>
            </a:pPr>
            <a:r>
              <a:rPr lang="zh-CN" altLang="en-US" dirty="0"/>
              <a:t>状态存储</a:t>
            </a:r>
            <a:endParaRPr lang="en-US" altLang="zh-CN" dirty="0"/>
          </a:p>
          <a:p>
            <a:pPr lvl="2">
              <a:lnSpc>
                <a:spcPct val="140000"/>
              </a:lnSpc>
            </a:pPr>
            <a:r>
              <a:rPr lang="zh-TW" altLang="zh-CN" dirty="0"/>
              <a:t>合约的状态存储保存在一个存储的映射表之中，账户的内部只保留了整个存储表的哈希值</a:t>
            </a:r>
            <a:endParaRPr lang="en-US" altLang="zh-TW" dirty="0"/>
          </a:p>
          <a:p>
            <a:pPr lvl="1">
              <a:lnSpc>
                <a:spcPct val="140000"/>
              </a:lnSpc>
            </a:pPr>
            <a:r>
              <a:rPr lang="zh-TW" altLang="zh-CN" dirty="0"/>
              <a:t>合约账户不由具体公钥和私钥进行控制，不能够从合约地址发起任何以太坊的交易，所以在绝大多数情况下合约的</a:t>
            </a:r>
            <a:r>
              <a:rPr lang="en-US" altLang="zh-CN" dirty="0"/>
              <a:t>Nonce</a:t>
            </a:r>
            <a:r>
              <a:rPr lang="zh-TW" altLang="zh-CN" dirty="0"/>
              <a:t>值不会改变</a:t>
            </a:r>
            <a:endParaRPr lang="en-US" altLang="zh-TW" dirty="0"/>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15673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合约账户与数据存储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fontScale="92500" lnSpcReduction="10000"/>
          </a:bodyPr>
          <a:lstStyle/>
          <a:p>
            <a:pPr>
              <a:lnSpc>
                <a:spcPct val="140000"/>
              </a:lnSpc>
            </a:pPr>
            <a:r>
              <a:rPr lang="zh-CN" altLang="en-US" dirty="0"/>
              <a:t>实例：记录</a:t>
            </a:r>
            <a:r>
              <a:rPr lang="en-US" altLang="zh-CN" dirty="0"/>
              <a:t>Alice</a:t>
            </a:r>
            <a:r>
              <a:rPr lang="zh-CN" altLang="en-US" dirty="0"/>
              <a:t>信息合约的数据存储</a:t>
            </a:r>
            <a:endParaRPr lang="en-US" altLang="zh-CN" dirty="0">
              <a:solidFill>
                <a:srgbClr val="C00000"/>
              </a:solidFill>
            </a:endParaRPr>
          </a:p>
          <a:p>
            <a:pPr lvl="1">
              <a:lnSpc>
                <a:spcPct val="140000"/>
              </a:lnSpc>
            </a:pPr>
            <a:r>
              <a:rPr lang="zh-CN" altLang="en-US" dirty="0"/>
              <a:t>合约操作</a:t>
            </a:r>
            <a:endParaRPr lang="en-US" altLang="zh-CN" dirty="0"/>
          </a:p>
          <a:p>
            <a:pPr lvl="2">
              <a:lnSpc>
                <a:spcPct val="140000"/>
              </a:lnSpc>
            </a:pPr>
            <a:r>
              <a:rPr lang="en-US" altLang="zh-CN" dirty="0"/>
              <a:t>Grow</a:t>
            </a:r>
            <a:r>
              <a:rPr lang="zh-CN" altLang="en-US" dirty="0"/>
              <a:t>和</a:t>
            </a:r>
            <a:r>
              <a:rPr lang="en-US" altLang="zh-CN" dirty="0"/>
              <a:t>Rename</a:t>
            </a:r>
            <a:r>
              <a:rPr lang="zh-CN" altLang="en-US" dirty="0"/>
              <a:t>操作以机器码的形式保存</a:t>
            </a:r>
            <a:endParaRPr lang="en-US" altLang="zh-CN" dirty="0"/>
          </a:p>
          <a:p>
            <a:pPr lvl="1">
              <a:lnSpc>
                <a:spcPct val="140000"/>
              </a:lnSpc>
            </a:pPr>
            <a:r>
              <a:rPr lang="zh-CN" altLang="en-US" dirty="0"/>
              <a:t>合约变量</a:t>
            </a:r>
            <a:endParaRPr lang="en-US" altLang="zh-CN" dirty="0"/>
          </a:p>
          <a:p>
            <a:pPr lvl="2">
              <a:lnSpc>
                <a:spcPct val="140000"/>
              </a:lnSpc>
            </a:pPr>
            <a:r>
              <a:rPr lang="zh-CN" altLang="en-US" dirty="0"/>
              <a:t>变量存储</a:t>
            </a:r>
            <a:endParaRPr lang="en-US" altLang="zh-CN" dirty="0"/>
          </a:p>
          <a:p>
            <a:pPr lvl="3">
              <a:lnSpc>
                <a:spcPct val="140000"/>
              </a:lnSpc>
            </a:pPr>
            <a:r>
              <a:rPr lang="zh-TW" altLang="zh-CN" dirty="0"/>
              <a:t>姓名保存在变量存储表</a:t>
            </a:r>
            <a:r>
              <a:rPr lang="en-US" altLang="zh-CN" dirty="0"/>
              <a:t>0x0000000</a:t>
            </a:r>
            <a:endParaRPr lang="en-US" altLang="zh-TW" dirty="0"/>
          </a:p>
          <a:p>
            <a:pPr lvl="3">
              <a:lnSpc>
                <a:spcPct val="140000"/>
              </a:lnSpc>
            </a:pPr>
            <a:r>
              <a:rPr lang="zh-TW" altLang="zh-CN" dirty="0"/>
              <a:t>年龄保存在变量存储表</a:t>
            </a:r>
            <a:r>
              <a:rPr lang="en-US" altLang="zh-CN" dirty="0"/>
              <a:t>0x0000001</a:t>
            </a:r>
          </a:p>
          <a:p>
            <a:pPr lvl="3">
              <a:lnSpc>
                <a:spcPct val="140000"/>
              </a:lnSpc>
            </a:pPr>
            <a:r>
              <a:rPr lang="zh-TW" altLang="zh-CN" dirty="0"/>
              <a:t>身高保存在变量存储表</a:t>
            </a:r>
            <a:r>
              <a:rPr lang="en-US" altLang="zh-CN" dirty="0"/>
              <a:t>0x00000002</a:t>
            </a:r>
          </a:p>
          <a:p>
            <a:pPr lvl="2">
              <a:lnSpc>
                <a:spcPct val="140000"/>
              </a:lnSpc>
            </a:pPr>
            <a:r>
              <a:rPr lang="zh-CN" altLang="en-US" dirty="0"/>
              <a:t>变量的哈希值</a:t>
            </a:r>
            <a:endParaRPr lang="en-US" altLang="zh-CN" dirty="0"/>
          </a:p>
          <a:p>
            <a:pPr lvl="3">
              <a:lnSpc>
                <a:spcPct val="140000"/>
              </a:lnSpc>
            </a:pPr>
            <a:r>
              <a:rPr lang="zh-CN" altLang="en-US" dirty="0"/>
              <a:t>对整个变量存储表计算得到哈希值</a:t>
            </a:r>
            <a:r>
              <a:rPr lang="en-US" altLang="zh-CN" dirty="0"/>
              <a:t>0xb39a372c93a8b8b970e359a978fba643f94ac966c0d862e27da7770d8f485396</a:t>
            </a:r>
            <a:r>
              <a:rPr lang="zh-CN" altLang="en-US" dirty="0"/>
              <a:t>，保存在合约账户中</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7117224" y="1590944"/>
            <a:ext cx="4560425" cy="3346510"/>
          </a:xfrm>
          <a:prstGeom prst="rect">
            <a:avLst/>
          </a:prstGeom>
          <a:noFill/>
        </p:spPr>
      </p:pic>
      <p:sp>
        <p:nvSpPr>
          <p:cNvPr id="10" name="文本框 9"/>
          <p:cNvSpPr txBox="1"/>
          <p:nvPr/>
        </p:nvSpPr>
        <p:spPr>
          <a:xfrm>
            <a:off x="8227885" y="5006564"/>
            <a:ext cx="2339102" cy="307777"/>
          </a:xfrm>
          <a:prstGeom prst="rect">
            <a:avLst/>
          </a:prstGeom>
          <a:noFill/>
        </p:spPr>
        <p:txBody>
          <a:bodyPr wrap="none" rtlCol="0">
            <a:spAutoFit/>
          </a:bodyPr>
          <a:lstStyle/>
          <a:p>
            <a:r>
              <a:rPr lang="zh-CN" altLang="en-US" sz="1400" dirty="0"/>
              <a:t>合约账户的数据存储与结构</a:t>
            </a:r>
          </a:p>
        </p:txBody>
      </p:sp>
    </p:spTree>
    <p:extLst>
      <p:ext uri="{BB962C8B-B14F-4D97-AF65-F5344CB8AC3E}">
        <p14:creationId xmlns:p14="http://schemas.microsoft.com/office/powerpoint/2010/main" val="2522713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合约地址的生成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背景：</a:t>
            </a:r>
            <a:endParaRPr lang="en-US" altLang="zh-CN" dirty="0"/>
          </a:p>
          <a:p>
            <a:pPr lvl="1">
              <a:lnSpc>
                <a:spcPct val="140000"/>
              </a:lnSpc>
            </a:pPr>
            <a:r>
              <a:rPr lang="zh-TW" altLang="zh-CN" dirty="0"/>
              <a:t>合约地址并不取决于外部的公钥，而是通过特定的算法计算得到。在以太坊中提供了两种生成合约地址的方法</a:t>
            </a:r>
            <a:endParaRPr lang="en-US" altLang="zh-TW" dirty="0"/>
          </a:p>
          <a:p>
            <a:pPr>
              <a:lnSpc>
                <a:spcPct val="140000"/>
              </a:lnSpc>
            </a:pPr>
            <a:r>
              <a:rPr lang="zh-CN" altLang="en-US" dirty="0"/>
              <a:t>合约地址生成方法</a:t>
            </a:r>
            <a:endParaRPr lang="en-US" altLang="zh-CN" dirty="0">
              <a:solidFill>
                <a:srgbClr val="C00000"/>
              </a:solidFill>
            </a:endParaRPr>
          </a:p>
          <a:p>
            <a:pPr lvl="1">
              <a:lnSpc>
                <a:spcPct val="140000"/>
              </a:lnSpc>
            </a:pPr>
            <a:r>
              <a:rPr lang="zh-TW" altLang="zh-CN" dirty="0"/>
              <a:t>通过合约创建者的地址和</a:t>
            </a:r>
            <a:r>
              <a:rPr lang="en-US" altLang="zh-CN" dirty="0"/>
              <a:t>Nonce</a:t>
            </a:r>
            <a:r>
              <a:rPr lang="zh-TW" altLang="zh-CN" dirty="0"/>
              <a:t>计算得到</a:t>
            </a:r>
            <a:endParaRPr lang="en-US" altLang="zh-TW" dirty="0"/>
          </a:p>
          <a:p>
            <a:pPr lvl="1">
              <a:lnSpc>
                <a:spcPct val="140000"/>
              </a:lnSpc>
            </a:pPr>
            <a:r>
              <a:rPr lang="zh-TW" altLang="zh-CN" dirty="0"/>
              <a:t>通过合约创建者地址、指定的初始化值和合约代码的哈希值计算得到</a:t>
            </a:r>
            <a:endParaRPr lang="en-US" altLang="zh-TW" dirty="0"/>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54041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合约地址的生成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lnSpcReduction="10000"/>
          </a:bodyPr>
          <a:lstStyle/>
          <a:p>
            <a:pPr marL="360363" lvl="1" indent="-360363">
              <a:lnSpc>
                <a:spcPct val="140000"/>
              </a:lnSpc>
              <a:buFont typeface="Wingdings" pitchFamily="2" charset="2"/>
              <a:buChar char="Ø"/>
            </a:pPr>
            <a:r>
              <a:rPr lang="zh-CN" altLang="en-US" sz="2800" dirty="0"/>
              <a:t>实例：</a:t>
            </a:r>
            <a:r>
              <a:rPr lang="zh-TW" altLang="zh-CN" sz="2800" dirty="0"/>
              <a:t>通过合约创建者的地址和</a:t>
            </a:r>
            <a:r>
              <a:rPr lang="en-US" altLang="zh-CN" sz="2800" dirty="0"/>
              <a:t>Nonce</a:t>
            </a:r>
            <a:r>
              <a:rPr lang="zh-CN" altLang="en-US" sz="2800" dirty="0"/>
              <a:t>生成合约地址</a:t>
            </a:r>
            <a:endParaRPr lang="en-US" altLang="zh-CN" sz="2800" dirty="0"/>
          </a:p>
          <a:p>
            <a:pPr lvl="1">
              <a:lnSpc>
                <a:spcPct val="140000"/>
              </a:lnSpc>
            </a:pPr>
            <a:r>
              <a:rPr lang="zh-CN" altLang="en-US" dirty="0"/>
              <a:t>输入：</a:t>
            </a:r>
            <a:endParaRPr lang="en-US" altLang="zh-CN" dirty="0"/>
          </a:p>
          <a:p>
            <a:pPr lvl="2">
              <a:lnSpc>
                <a:spcPct val="140000"/>
              </a:lnSpc>
            </a:pPr>
            <a:r>
              <a:rPr lang="zh-TW" altLang="zh-CN" dirty="0"/>
              <a:t>创建者地址</a:t>
            </a:r>
            <a:r>
              <a:rPr lang="zh-CN" altLang="en-US" dirty="0"/>
              <a:t>：</a:t>
            </a:r>
            <a:endParaRPr lang="en-US" altLang="zh-CN" dirty="0"/>
          </a:p>
          <a:p>
            <a:pPr lvl="2">
              <a:lnSpc>
                <a:spcPct val="140000"/>
              </a:lnSpc>
            </a:pPr>
            <a:r>
              <a:rPr lang="zh-TW" altLang="zh-CN" dirty="0"/>
              <a:t>Nonce值</a:t>
            </a:r>
            <a:r>
              <a:rPr lang="zh-CN" altLang="en-US" dirty="0"/>
              <a:t>：</a:t>
            </a:r>
            <a:endParaRPr lang="en-US" altLang="zh-TW" dirty="0"/>
          </a:p>
          <a:p>
            <a:pPr lvl="1">
              <a:lnSpc>
                <a:spcPct val="140000"/>
              </a:lnSpc>
            </a:pPr>
            <a:r>
              <a:rPr lang="zh-CN" altLang="en-US" dirty="0"/>
              <a:t>使用</a:t>
            </a:r>
            <a:r>
              <a:rPr lang="zh-TW" altLang="zh-CN" dirty="0"/>
              <a:t>以太坊自定义的RLP（Recursive Length Prefix）编码格式</a:t>
            </a:r>
            <a:r>
              <a:rPr lang="zh-CN" altLang="en-US" dirty="0"/>
              <a:t>序列化数据</a:t>
            </a:r>
            <a:endParaRPr lang="en-US" altLang="zh-CN" dirty="0"/>
          </a:p>
          <a:p>
            <a:pPr lvl="1">
              <a:lnSpc>
                <a:spcPct val="140000"/>
              </a:lnSpc>
            </a:pPr>
            <a:endParaRPr lang="en-US" altLang="zh-CN" dirty="0"/>
          </a:p>
          <a:p>
            <a:pPr lvl="1">
              <a:lnSpc>
                <a:spcPct val="140000"/>
              </a:lnSpc>
            </a:pPr>
            <a:r>
              <a:rPr lang="zh-CN" altLang="en-US" dirty="0"/>
              <a:t>将序列化数据通过</a:t>
            </a:r>
            <a:r>
              <a:rPr lang="en-US" altLang="zh-CN" dirty="0"/>
              <a:t>SHA256</a:t>
            </a:r>
            <a:r>
              <a:rPr lang="zh-CN" altLang="en-US" dirty="0"/>
              <a:t>计算，得到长度为</a:t>
            </a:r>
            <a:r>
              <a:rPr lang="en-US" altLang="zh-CN" dirty="0"/>
              <a:t>256</a:t>
            </a:r>
            <a:r>
              <a:rPr lang="zh-CN" altLang="en-US" dirty="0"/>
              <a:t>位的哈希，值，取最后的</a:t>
            </a:r>
            <a:r>
              <a:rPr lang="en-US" altLang="zh-CN" dirty="0"/>
              <a:t>160</a:t>
            </a:r>
            <a:r>
              <a:rPr lang="zh-CN" altLang="en-US" dirty="0"/>
              <a:t>位</a:t>
            </a:r>
            <a:endParaRPr lang="en-US" altLang="zh-CN" dirty="0"/>
          </a:p>
          <a:p>
            <a:pPr marL="457200" lvl="1" indent="0">
              <a:lnSpc>
                <a:spcPct val="140000"/>
              </a:lnSpc>
              <a:buNone/>
            </a:pPr>
            <a:r>
              <a:rPr lang="en-US" altLang="zh-CN" dirty="0"/>
              <a:t> </a:t>
            </a:r>
          </a:p>
          <a:p>
            <a:pPr lvl="1">
              <a:lnSpc>
                <a:spcPct val="140000"/>
              </a:lnSpc>
            </a:pPr>
            <a:endParaRPr lang="en-US" altLang="zh-TW" dirty="0"/>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2553043951"/>
              </p:ext>
            </p:extLst>
          </p:nvPr>
        </p:nvGraphicFramePr>
        <p:xfrm>
          <a:off x="3505199" y="2687614"/>
          <a:ext cx="5697970" cy="370840"/>
        </p:xfrm>
        <a:graphic>
          <a:graphicData uri="http://schemas.openxmlformats.org/drawingml/2006/table">
            <a:tbl>
              <a:tblPr firstRow="1" bandRow="1">
                <a:tableStyleId>{5C22544A-7EE6-4342-B048-85BDC9FD1C3A}</a:tableStyleId>
              </a:tblPr>
              <a:tblGrid>
                <a:gridCol w="5697970">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zh-TW" altLang="zh-CN" dirty="0">
                          <a:solidFill>
                            <a:schemeClr val="tx1"/>
                          </a:solidFill>
                        </a:rPr>
                        <a:t>0x238661F085A338F04B0C7C956A796B57018151F0</a:t>
                      </a:r>
                      <a:endParaRPr lang="en-US" altLang="zh-TW" dirty="0">
                        <a:solidFill>
                          <a:schemeClr val="tx1"/>
                        </a:solidFill>
                      </a:endParaRPr>
                    </a:p>
                  </a:txBody>
                  <a:tcPr/>
                </a:tc>
                <a:extLst>
                  <a:ext uri="{0D108BD9-81ED-4DB2-BD59-A6C34878D82A}">
                    <a16:rowId xmlns:a16="http://schemas.microsoft.com/office/drawing/2014/main" val="1253995539"/>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855407472"/>
              </p:ext>
            </p:extLst>
          </p:nvPr>
        </p:nvGraphicFramePr>
        <p:xfrm>
          <a:off x="3355975" y="3212916"/>
          <a:ext cx="311150" cy="370840"/>
        </p:xfrm>
        <a:graphic>
          <a:graphicData uri="http://schemas.openxmlformats.org/drawingml/2006/table">
            <a:tbl>
              <a:tblPr firstRow="1" bandRow="1">
                <a:tableStyleId>{5C22544A-7EE6-4342-B048-85BDC9FD1C3A}</a:tableStyleId>
              </a:tblPr>
              <a:tblGrid>
                <a:gridCol w="311150">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zh-TW" altLang="zh-CN" dirty="0">
                          <a:solidFill>
                            <a:schemeClr val="tx1"/>
                          </a:solidFill>
                        </a:rPr>
                        <a:t>0</a:t>
                      </a:r>
                      <a:endParaRPr lang="en-US" altLang="zh-TW" dirty="0">
                        <a:solidFill>
                          <a:schemeClr val="tx1"/>
                        </a:solidFill>
                      </a:endParaRPr>
                    </a:p>
                  </a:txBody>
                  <a:tcPr/>
                </a:tc>
                <a:extLst>
                  <a:ext uri="{0D108BD9-81ED-4DB2-BD59-A6C34878D82A}">
                    <a16:rowId xmlns:a16="http://schemas.microsoft.com/office/drawing/2014/main" val="1253995539"/>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217207112"/>
              </p:ext>
            </p:extLst>
          </p:nvPr>
        </p:nvGraphicFramePr>
        <p:xfrm>
          <a:off x="1616074" y="4696289"/>
          <a:ext cx="6442076" cy="370840"/>
        </p:xfrm>
        <a:graphic>
          <a:graphicData uri="http://schemas.openxmlformats.org/drawingml/2006/table">
            <a:tbl>
              <a:tblPr firstRow="1" bandRow="1">
                <a:tableStyleId>{5C22544A-7EE6-4342-B048-85BDC9FD1C3A}</a:tableStyleId>
              </a:tblPr>
              <a:tblGrid>
                <a:gridCol w="6442076">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0XD694238661F085A338F04B0C7C956A796B57018151F080</a:t>
                      </a:r>
                    </a:p>
                  </a:txBody>
                  <a:tcPr/>
                </a:tc>
                <a:extLst>
                  <a:ext uri="{0D108BD9-81ED-4DB2-BD59-A6C34878D82A}">
                    <a16:rowId xmlns:a16="http://schemas.microsoft.com/office/drawing/2014/main" val="1253995539"/>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464970857"/>
              </p:ext>
            </p:extLst>
          </p:nvPr>
        </p:nvGraphicFramePr>
        <p:xfrm>
          <a:off x="1616074" y="6170930"/>
          <a:ext cx="5556251" cy="370840"/>
        </p:xfrm>
        <a:graphic>
          <a:graphicData uri="http://schemas.openxmlformats.org/drawingml/2006/table">
            <a:tbl>
              <a:tblPr firstRow="1" bandRow="1">
                <a:tableStyleId>{5C22544A-7EE6-4342-B048-85BDC9FD1C3A}</a:tableStyleId>
              </a:tblPr>
              <a:tblGrid>
                <a:gridCol w="5556251">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0x5499F82BE656085c9636d85b559df2B17d5db33A</a:t>
                      </a:r>
                    </a:p>
                  </a:txBody>
                  <a:tcPr/>
                </a:tc>
                <a:extLst>
                  <a:ext uri="{0D108BD9-81ED-4DB2-BD59-A6C34878D82A}">
                    <a16:rowId xmlns:a16="http://schemas.microsoft.com/office/drawing/2014/main" val="1253995539"/>
                  </a:ext>
                </a:extLst>
              </a:tr>
            </a:tbl>
          </a:graphicData>
        </a:graphic>
      </p:graphicFrame>
    </p:spTree>
    <p:extLst>
      <p:ext uri="{BB962C8B-B14F-4D97-AF65-F5344CB8AC3E}">
        <p14:creationId xmlns:p14="http://schemas.microsoft.com/office/powerpoint/2010/main" val="4236818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合约地址的生成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marL="360363" lvl="1" indent="-360363">
              <a:lnSpc>
                <a:spcPct val="140000"/>
              </a:lnSpc>
              <a:buFont typeface="Wingdings" pitchFamily="2" charset="2"/>
              <a:buChar char="Ø"/>
            </a:pPr>
            <a:r>
              <a:rPr lang="zh-CN" altLang="en-US" sz="2800" dirty="0"/>
              <a:t>实例：</a:t>
            </a:r>
            <a:r>
              <a:rPr lang="zh-TW" altLang="zh-CN" sz="2800" dirty="0"/>
              <a:t>通过合约创建者的地址和</a:t>
            </a:r>
            <a:r>
              <a:rPr lang="en-US" altLang="zh-CN" sz="2800" dirty="0"/>
              <a:t>Nonce</a:t>
            </a:r>
            <a:r>
              <a:rPr lang="zh-CN" altLang="en-US" sz="2800" dirty="0"/>
              <a:t>生成合约地址</a:t>
            </a:r>
            <a:endParaRPr lang="en-US" altLang="zh-CN" sz="2800" dirty="0"/>
          </a:p>
          <a:p>
            <a:pPr lvl="1">
              <a:lnSpc>
                <a:spcPct val="140000"/>
              </a:lnSpc>
            </a:pPr>
            <a:r>
              <a:rPr lang="zh-TW" altLang="zh-CN" dirty="0"/>
              <a:t>创建合约的时候需要使用到Nonce值</a:t>
            </a:r>
            <a:endParaRPr lang="en-US" altLang="zh-TW" dirty="0"/>
          </a:p>
          <a:p>
            <a:pPr lvl="1">
              <a:lnSpc>
                <a:spcPct val="140000"/>
              </a:lnSpc>
            </a:pPr>
            <a:r>
              <a:rPr lang="zh-TW" altLang="zh-CN" dirty="0"/>
              <a:t>当出现合约创建合约的情况的时候，创建其他合约的合约账户的Nonce值便需要改变，</a:t>
            </a:r>
            <a:r>
              <a:rPr lang="zh-CN" altLang="en-US" dirty="0"/>
              <a:t>否则该</a:t>
            </a:r>
            <a:r>
              <a:rPr lang="zh-TW" altLang="zh-CN" dirty="0"/>
              <a:t>合约账户每一次计算得到的新合约地址都</a:t>
            </a:r>
            <a:r>
              <a:rPr lang="zh-CN" altLang="en-US" dirty="0"/>
              <a:t>相同</a:t>
            </a:r>
            <a:endParaRPr lang="zh-CN" altLang="zh-CN" dirty="0"/>
          </a:p>
          <a:p>
            <a:pPr lvl="1">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945031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驱动智能合约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marL="360363" lvl="1" indent="-360363">
              <a:lnSpc>
                <a:spcPct val="140000"/>
              </a:lnSpc>
              <a:buFont typeface="Wingdings" pitchFamily="2" charset="2"/>
              <a:buChar char="Ø"/>
            </a:pPr>
            <a:r>
              <a:rPr lang="zh-CN" altLang="en-US" sz="2800" dirty="0"/>
              <a:t>背景</a:t>
            </a:r>
          </a:p>
          <a:p>
            <a:pPr lvl="1">
              <a:lnSpc>
                <a:spcPct val="140000"/>
              </a:lnSpc>
            </a:pPr>
            <a:r>
              <a:rPr lang="zh-TW" altLang="zh-CN" dirty="0"/>
              <a:t>在状态模型的框架下，以太坊的状态通过交易来改变，智能合约的状态变化同样使用交易来实现。</a:t>
            </a:r>
            <a:endParaRPr lang="en-US" altLang="zh-TW" dirty="0"/>
          </a:p>
          <a:p>
            <a:pPr lvl="1">
              <a:lnSpc>
                <a:spcPct val="140000"/>
              </a:lnSpc>
            </a:pPr>
            <a:r>
              <a:rPr lang="zh-TW" altLang="zh-CN" dirty="0"/>
              <a:t>在整个合约的生命周期中，所有的状态变换都是通过执行特定交易来实现的，智能合约的每次运行都是通过交易来驱动。</a:t>
            </a:r>
            <a:endParaRPr lang="zh-CN" altLang="zh-CN" dirty="0"/>
          </a:p>
          <a:p>
            <a:pPr lvl="1">
              <a:lnSpc>
                <a:spcPct val="140000"/>
              </a:lnSpc>
            </a:pPr>
            <a:endParaRPr lang="en-US" altLang="zh-CN" sz="2400" dirty="0">
              <a:solidFill>
                <a:srgbClr val="C00000"/>
              </a:solidFill>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755584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调用合约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marL="360363" lvl="1" indent="-360363">
              <a:lnSpc>
                <a:spcPct val="140000"/>
              </a:lnSpc>
              <a:buFont typeface="Wingdings" pitchFamily="2" charset="2"/>
              <a:buChar char="Ø"/>
            </a:pPr>
            <a:r>
              <a:rPr lang="zh-CN" altLang="en-US" sz="2800" dirty="0"/>
              <a:t>背景</a:t>
            </a:r>
          </a:p>
          <a:p>
            <a:pPr lvl="1">
              <a:lnSpc>
                <a:spcPct val="140000"/>
              </a:lnSpc>
            </a:pPr>
            <a:r>
              <a:rPr lang="zh-TW" altLang="zh-CN" dirty="0"/>
              <a:t>在一次交易中，以太坊按照事先的约定执行智能合约的代码，最后得到运行的结果</a:t>
            </a:r>
            <a:endParaRPr lang="en-US" altLang="zh-TW" dirty="0"/>
          </a:p>
          <a:p>
            <a:pPr>
              <a:lnSpc>
                <a:spcPct val="140000"/>
              </a:lnSpc>
            </a:pPr>
            <a:r>
              <a:rPr lang="zh-CN" altLang="en-US" dirty="0"/>
              <a:t>定义</a:t>
            </a:r>
            <a:endParaRPr lang="en-US" altLang="zh-TW" dirty="0"/>
          </a:p>
          <a:p>
            <a:pPr lvl="1">
              <a:lnSpc>
                <a:spcPct val="140000"/>
              </a:lnSpc>
            </a:pPr>
            <a:r>
              <a:rPr lang="zh-TW" altLang="zh-CN" dirty="0"/>
              <a:t>智能合约作为交易的接收方，按照交易发起者指定的函数和参数进行执行</a:t>
            </a:r>
            <a:r>
              <a:rPr lang="zh-CN" altLang="en-US" dirty="0"/>
              <a:t>，</a:t>
            </a:r>
            <a:r>
              <a:rPr lang="zh-TW" altLang="zh-CN" dirty="0"/>
              <a:t>这些</a:t>
            </a:r>
            <a:r>
              <a:rPr lang="zh-TW" altLang="zh-CN" dirty="0">
                <a:solidFill>
                  <a:srgbClr val="C00000"/>
                </a:solidFill>
              </a:rPr>
              <a:t>接收者是合约账户地址的交易</a:t>
            </a:r>
            <a:r>
              <a:rPr lang="zh-TW" altLang="zh-CN" dirty="0"/>
              <a:t>也被称作</a:t>
            </a:r>
            <a:r>
              <a:rPr lang="zh-TW" altLang="zh-CN" dirty="0">
                <a:solidFill>
                  <a:srgbClr val="C00000"/>
                </a:solidFill>
              </a:rPr>
              <a:t>合约调用</a:t>
            </a:r>
            <a:endParaRPr lang="en-US" altLang="zh-TW" dirty="0">
              <a:solidFill>
                <a:srgbClr val="C00000"/>
              </a:solidFill>
            </a:endParaRPr>
          </a:p>
          <a:p>
            <a:pPr lvl="1">
              <a:lnSpc>
                <a:spcPct val="140000"/>
              </a:lnSpc>
            </a:pPr>
            <a:endParaRPr lang="en-US" altLang="zh-CN" sz="2400" dirty="0">
              <a:solidFill>
                <a:srgbClr val="C00000"/>
              </a:solidFill>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63196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调用合约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marL="360363" lvl="1" indent="-360363">
              <a:lnSpc>
                <a:spcPct val="140000"/>
              </a:lnSpc>
              <a:buFont typeface="Wingdings" pitchFamily="2" charset="2"/>
              <a:buChar char="Ø"/>
            </a:pPr>
            <a:r>
              <a:rPr lang="zh-CN" altLang="en-US" sz="2800" dirty="0"/>
              <a:t>如何调用合约函数</a:t>
            </a:r>
          </a:p>
          <a:p>
            <a:pPr lvl="1">
              <a:lnSpc>
                <a:spcPct val="140000"/>
              </a:lnSpc>
            </a:pPr>
            <a:r>
              <a:rPr lang="zh-CN" altLang="en-US" dirty="0"/>
              <a:t>交易接收方</a:t>
            </a:r>
            <a:endParaRPr lang="en-US" altLang="zh-CN" dirty="0"/>
          </a:p>
          <a:p>
            <a:pPr lvl="2">
              <a:lnSpc>
                <a:spcPct val="140000"/>
              </a:lnSpc>
            </a:pPr>
            <a:r>
              <a:rPr lang="zh-CN" altLang="en-US" dirty="0"/>
              <a:t>指定智能合约所在地址作为交易接收方</a:t>
            </a:r>
            <a:endParaRPr lang="en-US" altLang="zh-CN" dirty="0"/>
          </a:p>
          <a:p>
            <a:pPr lvl="1">
              <a:lnSpc>
                <a:spcPct val="140000"/>
              </a:lnSpc>
            </a:pPr>
            <a:r>
              <a:rPr lang="en-US" altLang="zh-CN" dirty="0"/>
              <a:t>data</a:t>
            </a:r>
            <a:r>
              <a:rPr lang="zh-TW" altLang="zh-CN" dirty="0"/>
              <a:t>字段</a:t>
            </a:r>
            <a:endParaRPr lang="en-US" altLang="zh-TW" dirty="0"/>
          </a:p>
          <a:p>
            <a:pPr lvl="2">
              <a:lnSpc>
                <a:spcPct val="140000"/>
              </a:lnSpc>
            </a:pPr>
            <a:r>
              <a:rPr lang="zh-TW" altLang="zh-CN" dirty="0"/>
              <a:t>为了实现调用过程中指定智能合约的不同函数以及携带函数的参数，以太坊在交易中加入了</a:t>
            </a:r>
            <a:r>
              <a:rPr lang="en-US" altLang="zh-CN" dirty="0"/>
              <a:t>data</a:t>
            </a:r>
            <a:r>
              <a:rPr lang="zh-TW" altLang="zh-CN" dirty="0"/>
              <a:t>字段用于存放这些数据。</a:t>
            </a:r>
            <a:endParaRPr lang="en-US" altLang="zh-TW" dirty="0"/>
          </a:p>
          <a:p>
            <a:pPr lvl="1">
              <a:lnSpc>
                <a:spcPct val="140000"/>
              </a:lnSpc>
            </a:pPr>
            <a:r>
              <a:rPr lang="zh-CN" altLang="en-US" dirty="0"/>
              <a:t>合约函数索引</a:t>
            </a:r>
            <a:endParaRPr lang="en-US" altLang="zh-CN" dirty="0"/>
          </a:p>
          <a:p>
            <a:pPr lvl="2">
              <a:lnSpc>
                <a:spcPct val="140000"/>
              </a:lnSpc>
            </a:pPr>
            <a:r>
              <a:rPr lang="zh-TW" altLang="zh-CN" dirty="0"/>
              <a:t>在现有的</a:t>
            </a:r>
            <a:r>
              <a:rPr lang="en-US" altLang="zh-CN" dirty="0"/>
              <a:t>ABI</a:t>
            </a:r>
            <a:r>
              <a:rPr lang="zh-TW" altLang="zh-CN" dirty="0"/>
              <a:t>约定中，使用了函数名的哈希值作为调用过程中函数的索引，并在这个哈希值的后面附上经过序列化编码的参数。</a:t>
            </a:r>
            <a:endParaRPr lang="zh-CN" altLang="zh-CN" dirty="0"/>
          </a:p>
          <a:p>
            <a:pPr lvl="1">
              <a:lnSpc>
                <a:spcPct val="140000"/>
              </a:lnSpc>
            </a:pPr>
            <a:endParaRPr lang="en-US" altLang="zh-CN" sz="2400" dirty="0">
              <a:solidFill>
                <a:srgbClr val="C00000"/>
              </a:solidFill>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674220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调用合约</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3274142492"/>
              </p:ext>
            </p:extLst>
          </p:nvPr>
        </p:nvGraphicFramePr>
        <p:xfrm>
          <a:off x="1718756" y="4543231"/>
          <a:ext cx="5556251" cy="370840"/>
        </p:xfrm>
        <a:graphic>
          <a:graphicData uri="http://schemas.openxmlformats.org/drawingml/2006/table">
            <a:tbl>
              <a:tblPr firstRow="1" bandRow="1">
                <a:tableStyleId>{5C22544A-7EE6-4342-B048-85BDC9FD1C3A}</a:tableStyleId>
              </a:tblPr>
              <a:tblGrid>
                <a:gridCol w="5556251">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0x5499F82BE656085c9636d85b559df2B17d5db33A</a:t>
                      </a:r>
                    </a:p>
                  </a:txBody>
                  <a:tcPr/>
                </a:tc>
                <a:extLst>
                  <a:ext uri="{0D108BD9-81ED-4DB2-BD59-A6C34878D82A}">
                    <a16:rowId xmlns:a16="http://schemas.microsoft.com/office/drawing/2014/main" val="1253995539"/>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523342364"/>
              </p:ext>
            </p:extLst>
          </p:nvPr>
        </p:nvGraphicFramePr>
        <p:xfrm>
          <a:off x="1718756" y="6147547"/>
          <a:ext cx="1548319" cy="370840"/>
        </p:xfrm>
        <a:graphic>
          <a:graphicData uri="http://schemas.openxmlformats.org/drawingml/2006/table">
            <a:tbl>
              <a:tblPr firstRow="1" bandRow="1">
                <a:tableStyleId>{5C22544A-7EE6-4342-B048-85BDC9FD1C3A}</a:tableStyleId>
              </a:tblPr>
              <a:tblGrid>
                <a:gridCol w="1548319">
                  <a:extLst>
                    <a:ext uri="{9D8B030D-6E8A-4147-A177-3AD203B41FA5}">
                      <a16:colId xmlns:a16="http://schemas.microsoft.com/office/drawing/2014/main" val="453482468"/>
                    </a:ext>
                  </a:extLst>
                </a:gridCol>
              </a:tblGrid>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0xddb774da</a:t>
                      </a:r>
                    </a:p>
                  </a:txBody>
                  <a:tcPr/>
                </a:tc>
                <a:extLst>
                  <a:ext uri="{0D108BD9-81ED-4DB2-BD59-A6C34878D82A}">
                    <a16:rowId xmlns:a16="http://schemas.microsoft.com/office/drawing/2014/main" val="1253995539"/>
                  </a:ext>
                </a:extLst>
              </a:tr>
            </a:tbl>
          </a:graphicData>
        </a:graphic>
      </p:graphicFrame>
      <p:sp>
        <p:nvSpPr>
          <p:cNvPr id="5" name="内容占位符 4"/>
          <p:cNvSpPr>
            <a:spLocks noGrp="1"/>
          </p:cNvSpPr>
          <p:nvPr>
            <p:ph idx="1"/>
          </p:nvPr>
        </p:nvSpPr>
        <p:spPr/>
        <p:txBody>
          <a:bodyPr/>
          <a:lstStyle/>
          <a:p>
            <a:pPr>
              <a:lnSpc>
                <a:spcPct val="140000"/>
              </a:lnSpc>
            </a:pPr>
            <a:r>
              <a:rPr lang="zh-CN" altLang="en-US" dirty="0"/>
              <a:t>实例：智能合约的调用</a:t>
            </a:r>
            <a:endParaRPr lang="en-US" altLang="zh-CN" dirty="0"/>
          </a:p>
          <a:p>
            <a:pPr lvl="1">
              <a:lnSpc>
                <a:spcPct val="140000"/>
              </a:lnSpc>
            </a:pPr>
            <a:r>
              <a:rPr lang="zh-TW" altLang="zh-CN" dirty="0"/>
              <a:t>调用信息合约中的</a:t>
            </a:r>
            <a:r>
              <a:rPr lang="en-US" altLang="zh-CN" dirty="0"/>
              <a:t>Grow(int256, int256) </a:t>
            </a:r>
            <a:r>
              <a:rPr lang="zh-TW" altLang="zh-CN" dirty="0"/>
              <a:t>函数，</a:t>
            </a:r>
            <a:r>
              <a:rPr lang="zh-CN" altLang="en-US" dirty="0"/>
              <a:t>需要</a:t>
            </a:r>
            <a:r>
              <a:rPr lang="zh-TW" altLang="zh-CN" dirty="0"/>
              <a:t>知道</a:t>
            </a:r>
            <a:endParaRPr lang="en-US" altLang="zh-TW" dirty="0"/>
          </a:p>
          <a:p>
            <a:pPr lvl="2">
              <a:lnSpc>
                <a:spcPct val="140000"/>
              </a:lnSpc>
            </a:pPr>
            <a:r>
              <a:rPr lang="zh-TW" altLang="zh-CN" dirty="0"/>
              <a:t>合约账户地址</a:t>
            </a:r>
            <a:endParaRPr lang="en-US" altLang="zh-TW" dirty="0"/>
          </a:p>
          <a:p>
            <a:pPr lvl="2">
              <a:lnSpc>
                <a:spcPct val="140000"/>
              </a:lnSpc>
            </a:pPr>
            <a:r>
              <a:rPr lang="zh-TW" altLang="zh-CN" dirty="0"/>
              <a:t>被调用的合约函数</a:t>
            </a:r>
            <a:endParaRPr lang="en-US" altLang="zh-TW" dirty="0"/>
          </a:p>
          <a:p>
            <a:pPr lvl="1">
              <a:lnSpc>
                <a:spcPct val="140000"/>
              </a:lnSpc>
            </a:pPr>
            <a:r>
              <a:rPr lang="zh-CN" altLang="en-US" dirty="0"/>
              <a:t>合约账户地址</a:t>
            </a:r>
            <a:endParaRPr lang="en-US" altLang="zh-CN" dirty="0"/>
          </a:p>
          <a:p>
            <a:pPr lvl="1">
              <a:lnSpc>
                <a:spcPct val="140000"/>
              </a:lnSpc>
            </a:pPr>
            <a:endParaRPr lang="en-US" altLang="zh-CN" dirty="0"/>
          </a:p>
          <a:p>
            <a:pPr lvl="1">
              <a:lnSpc>
                <a:spcPct val="140000"/>
              </a:lnSpc>
            </a:pPr>
            <a:r>
              <a:rPr lang="zh-CN" altLang="en-US" dirty="0"/>
              <a:t>被调用的合约函数</a:t>
            </a:r>
            <a:endParaRPr lang="en-US" altLang="zh-CN" dirty="0"/>
          </a:p>
          <a:p>
            <a:pPr lvl="2">
              <a:lnSpc>
                <a:spcPct val="140000"/>
              </a:lnSpc>
            </a:pPr>
            <a:r>
              <a:rPr lang="zh-TW" altLang="zh-CN" dirty="0"/>
              <a:t>计算</a:t>
            </a:r>
            <a:r>
              <a:rPr lang="en-US" altLang="zh-CN" dirty="0"/>
              <a:t>Grow(int256, int256)</a:t>
            </a:r>
            <a:r>
              <a:rPr lang="zh-CN" altLang="en-US" dirty="0"/>
              <a:t>的</a:t>
            </a:r>
            <a:r>
              <a:rPr lang="en-US" altLang="zh-CN" dirty="0"/>
              <a:t>SHA256</a:t>
            </a:r>
            <a:r>
              <a:rPr lang="zh-TW" altLang="zh-CN" dirty="0"/>
              <a:t>哈希值并取前</a:t>
            </a:r>
            <a:r>
              <a:rPr lang="en-US" altLang="zh-CN" dirty="0"/>
              <a:t>64</a:t>
            </a:r>
            <a:r>
              <a:rPr lang="zh-TW" altLang="zh-CN" dirty="0"/>
              <a:t>位，</a:t>
            </a:r>
            <a:r>
              <a:rPr lang="zh-CN" altLang="en-US" dirty="0"/>
              <a:t>得到</a:t>
            </a:r>
            <a:endParaRPr lang="en-US" altLang="zh-CN" dirty="0"/>
          </a:p>
          <a:p>
            <a:pPr lvl="1">
              <a:lnSpc>
                <a:spcPct val="140000"/>
              </a:lnSpc>
            </a:pPr>
            <a:endParaRPr lang="en-US" altLang="zh-CN" dirty="0"/>
          </a:p>
          <a:p>
            <a:pPr marL="0" indent="0">
              <a:buNone/>
            </a:pPr>
            <a:endParaRPr lang="zh-CN" altLang="en-US" dirty="0"/>
          </a:p>
        </p:txBody>
      </p:sp>
    </p:spTree>
    <p:extLst>
      <p:ext uri="{BB962C8B-B14F-4D97-AF65-F5344CB8AC3E}">
        <p14:creationId xmlns:p14="http://schemas.microsoft.com/office/powerpoint/2010/main" val="3978599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调用合约</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3530355" y="4309442"/>
            <a:ext cx="5131290" cy="2271559"/>
          </a:xfrm>
          <a:prstGeom prst="rect">
            <a:avLst/>
          </a:prstGeom>
          <a:noFill/>
        </p:spPr>
      </p:pic>
      <p:sp>
        <p:nvSpPr>
          <p:cNvPr id="5" name="文本框 4"/>
          <p:cNvSpPr txBox="1"/>
          <p:nvPr/>
        </p:nvSpPr>
        <p:spPr>
          <a:xfrm>
            <a:off x="5465058" y="6538138"/>
            <a:ext cx="1261884" cy="276999"/>
          </a:xfrm>
          <a:prstGeom prst="rect">
            <a:avLst/>
          </a:prstGeom>
          <a:noFill/>
        </p:spPr>
        <p:txBody>
          <a:bodyPr wrap="none" rtlCol="0">
            <a:spAutoFit/>
          </a:bodyPr>
          <a:lstStyle/>
          <a:p>
            <a:r>
              <a:rPr lang="zh-CN" altLang="zh-CN" sz="1200" dirty="0"/>
              <a:t>智能合约的调</a:t>
            </a:r>
            <a:r>
              <a:rPr lang="zh-CN" altLang="en-US" sz="1200" dirty="0"/>
              <a:t>用</a:t>
            </a:r>
          </a:p>
        </p:txBody>
      </p:sp>
      <p:sp>
        <p:nvSpPr>
          <p:cNvPr id="12" name="内容占位符 11"/>
          <p:cNvSpPr>
            <a:spLocks noGrp="1"/>
          </p:cNvSpPr>
          <p:nvPr>
            <p:ph idx="1"/>
          </p:nvPr>
        </p:nvSpPr>
        <p:spPr/>
        <p:txBody>
          <a:bodyPr/>
          <a:lstStyle/>
          <a:p>
            <a:pPr>
              <a:lnSpc>
                <a:spcPct val="140000"/>
              </a:lnSpc>
            </a:pPr>
            <a:r>
              <a:rPr lang="zh-CN" altLang="en-US" sz="2400" dirty="0"/>
              <a:t>实例：调用智能合约函数</a:t>
            </a:r>
            <a:r>
              <a:rPr lang="en-US" altLang="zh-CN" sz="2400" dirty="0"/>
              <a:t>Grow(1,1)</a:t>
            </a:r>
          </a:p>
          <a:p>
            <a:pPr lvl="1">
              <a:lnSpc>
                <a:spcPct val="140000"/>
              </a:lnSpc>
            </a:pPr>
            <a:r>
              <a:rPr lang="zh-CN" altLang="en-US" sz="2000" dirty="0"/>
              <a:t>构造交易</a:t>
            </a:r>
            <a:endParaRPr lang="en-US" altLang="zh-CN" sz="2000" dirty="0"/>
          </a:p>
          <a:p>
            <a:pPr lvl="2">
              <a:lnSpc>
                <a:spcPct val="140000"/>
              </a:lnSpc>
            </a:pPr>
            <a:r>
              <a:rPr lang="zh-CN" altLang="en-US" sz="1800" dirty="0"/>
              <a:t>交易接收方：合约账户地址</a:t>
            </a:r>
            <a:endParaRPr lang="en-US" altLang="zh-CN" sz="1800" dirty="0"/>
          </a:p>
          <a:p>
            <a:pPr lvl="2">
              <a:lnSpc>
                <a:spcPct val="140000"/>
              </a:lnSpc>
            </a:pPr>
            <a:r>
              <a:rPr lang="en-US" altLang="zh-CN" sz="1800" dirty="0"/>
              <a:t>Data</a:t>
            </a:r>
            <a:r>
              <a:rPr lang="zh-CN" altLang="en-US" sz="1800" dirty="0"/>
              <a:t>字段：</a:t>
            </a:r>
            <a:r>
              <a:rPr lang="en-US" altLang="zh-CN" sz="1800" dirty="0"/>
              <a:t>0xddbb774da0000…00010000…0001</a:t>
            </a:r>
          </a:p>
          <a:p>
            <a:pPr lvl="3">
              <a:lnSpc>
                <a:spcPct val="140000"/>
              </a:lnSpc>
            </a:pPr>
            <a:r>
              <a:rPr lang="en-US" altLang="zh-CN" sz="1600" dirty="0"/>
              <a:t>0xddb774da</a:t>
            </a:r>
            <a:r>
              <a:rPr lang="zh-TW" altLang="zh-CN" sz="1600" dirty="0"/>
              <a:t>是要调用的函数</a:t>
            </a:r>
            <a:endParaRPr lang="en-US" altLang="zh-TW" sz="1600" dirty="0"/>
          </a:p>
          <a:p>
            <a:pPr lvl="3">
              <a:lnSpc>
                <a:spcPct val="140000"/>
              </a:lnSpc>
            </a:pPr>
            <a:r>
              <a:rPr lang="en-US" altLang="zh-CN" sz="1600" dirty="0"/>
              <a:t>0x0000…0001</a:t>
            </a:r>
            <a:r>
              <a:rPr lang="zh-TW" altLang="zh-CN" sz="1600" dirty="0"/>
              <a:t>和</a:t>
            </a:r>
            <a:r>
              <a:rPr lang="en-US" altLang="zh-CN" sz="1600" dirty="0"/>
              <a:t>0x0000…0001</a:t>
            </a:r>
            <a:r>
              <a:rPr lang="zh-TW" altLang="zh-CN" sz="1600" dirty="0"/>
              <a:t>是</a:t>
            </a:r>
            <a:r>
              <a:rPr lang="en-US" altLang="zh-CN" sz="1600" dirty="0"/>
              <a:t>256</a:t>
            </a:r>
            <a:r>
              <a:rPr lang="zh-TW" altLang="zh-CN" sz="1600" dirty="0"/>
              <a:t>位的参数</a:t>
            </a:r>
            <a:endParaRPr lang="en-US" altLang="zh-TW" sz="1600" dirty="0"/>
          </a:p>
        </p:txBody>
      </p:sp>
    </p:spTree>
    <p:extLst>
      <p:ext uri="{BB962C8B-B14F-4D97-AF65-F5344CB8AC3E}">
        <p14:creationId xmlns:p14="http://schemas.microsoft.com/office/powerpoint/2010/main" val="3427047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创建合约</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r>
              <a:rPr lang="zh-CN" altLang="en-US" dirty="0"/>
              <a:t>背景</a:t>
            </a:r>
            <a:endParaRPr lang="en-US" altLang="zh-CN" dirty="0"/>
          </a:p>
          <a:p>
            <a:pPr lvl="1">
              <a:lnSpc>
                <a:spcPct val="140000"/>
              </a:lnSpc>
            </a:pPr>
            <a:r>
              <a:rPr lang="zh-CN" altLang="en-US" dirty="0"/>
              <a:t>智能合约的代码存储在账户之中，账户中的代码从无到有同样也是一种状态的变化</a:t>
            </a:r>
            <a:endParaRPr lang="en-US" altLang="zh-CN" dirty="0"/>
          </a:p>
          <a:p>
            <a:pPr>
              <a:lnSpc>
                <a:spcPct val="140000"/>
              </a:lnSpc>
            </a:pPr>
            <a:r>
              <a:rPr lang="zh-CN" altLang="en-US" dirty="0"/>
              <a:t>定义</a:t>
            </a:r>
          </a:p>
          <a:p>
            <a:pPr lvl="1">
              <a:lnSpc>
                <a:spcPct val="140000"/>
              </a:lnSpc>
            </a:pPr>
            <a:r>
              <a:rPr lang="zh-CN" altLang="en-US" dirty="0"/>
              <a:t>通过</a:t>
            </a:r>
            <a:r>
              <a:rPr lang="zh-CN" altLang="en-US" dirty="0">
                <a:solidFill>
                  <a:srgbClr val="C00000"/>
                </a:solidFill>
              </a:rPr>
              <a:t>发送交易将代码存储到以太坊的合约账户之中</a:t>
            </a:r>
            <a:r>
              <a:rPr lang="zh-CN" altLang="en-US" dirty="0"/>
              <a:t>，这个过程便是</a:t>
            </a:r>
            <a:r>
              <a:rPr lang="zh-CN" altLang="en-US" dirty="0">
                <a:solidFill>
                  <a:srgbClr val="C00000"/>
                </a:solidFill>
              </a:rPr>
              <a:t>合约的创建</a:t>
            </a:r>
            <a:r>
              <a:rPr lang="zh-CN" altLang="en-US" dirty="0"/>
              <a:t>，也叫作合约的部署</a:t>
            </a:r>
          </a:p>
          <a:p>
            <a:pPr marL="0" indent="0">
              <a:buNone/>
            </a:pPr>
            <a:endParaRPr lang="en-US" altLang="zh-CN" dirty="0">
              <a:solidFill>
                <a:srgbClr val="C00000"/>
              </a:solidFill>
            </a:endParaRPr>
          </a:p>
        </p:txBody>
      </p:sp>
    </p:spTree>
    <p:extLst>
      <p:ext uri="{BB962C8B-B14F-4D97-AF65-F5344CB8AC3E}">
        <p14:creationId xmlns:p14="http://schemas.microsoft.com/office/powerpoint/2010/main" val="925778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创建合约</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智能合约的创建问题</a:t>
            </a:r>
            <a:endParaRPr lang="en-US" altLang="zh-CN" dirty="0"/>
          </a:p>
          <a:p>
            <a:pPr lvl="1">
              <a:lnSpc>
                <a:spcPct val="130000"/>
              </a:lnSpc>
            </a:pPr>
            <a:r>
              <a:rPr lang="zh-CN" altLang="en-US" dirty="0"/>
              <a:t>发送交易的时候，不会有合约账户地址和合约账户</a:t>
            </a:r>
          </a:p>
          <a:p>
            <a:pPr lvl="1">
              <a:lnSpc>
                <a:spcPct val="130000"/>
              </a:lnSpc>
            </a:pPr>
            <a:r>
              <a:rPr lang="zh-CN" altLang="en-US" dirty="0"/>
              <a:t>发送交易的时候，不会有可以被执行的智能合约代码</a:t>
            </a:r>
            <a:endParaRPr lang="en-US" altLang="zh-CN" dirty="0"/>
          </a:p>
        </p:txBody>
      </p:sp>
    </p:spTree>
    <p:extLst>
      <p:ext uri="{BB962C8B-B14F-4D97-AF65-F5344CB8AC3E}">
        <p14:creationId xmlns:p14="http://schemas.microsoft.com/office/powerpoint/2010/main" val="1130881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创建合约</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以太坊的特殊化处理</a:t>
            </a:r>
            <a:endParaRPr lang="en-US" altLang="zh-CN" dirty="0"/>
          </a:p>
          <a:p>
            <a:pPr lvl="1">
              <a:lnSpc>
                <a:spcPct val="130000"/>
              </a:lnSpc>
            </a:pPr>
            <a:r>
              <a:rPr lang="zh-CN" altLang="en-US" sz="2000" dirty="0"/>
              <a:t>创建合约的交易没有接收地址，交易中的</a:t>
            </a:r>
            <a:r>
              <a:rPr lang="en-US" altLang="zh-CN" sz="2000" dirty="0"/>
              <a:t>To</a:t>
            </a:r>
            <a:r>
              <a:rPr lang="zh-CN" altLang="en-US" sz="2000" dirty="0"/>
              <a:t>字段始终为</a:t>
            </a:r>
            <a:r>
              <a:rPr lang="en-US" altLang="zh-CN" sz="2000" dirty="0"/>
              <a:t>0</a:t>
            </a:r>
            <a:r>
              <a:rPr lang="zh-CN" altLang="en-US" sz="2000" dirty="0"/>
              <a:t>。同样地，对于一个接收地址为</a:t>
            </a:r>
            <a:r>
              <a:rPr lang="en-US" altLang="zh-CN" sz="2000" dirty="0"/>
              <a:t>0</a:t>
            </a:r>
            <a:r>
              <a:rPr lang="zh-CN" altLang="en-US" sz="2000" dirty="0"/>
              <a:t>的交易，以太坊都会认为是一个创建合约的交易。在检查交易无误之后，以太坊会根据发送者的地址和</a:t>
            </a:r>
            <a:r>
              <a:rPr lang="en-US" altLang="zh-CN" sz="2000" dirty="0"/>
              <a:t>Nonce</a:t>
            </a:r>
            <a:r>
              <a:rPr lang="zh-CN" altLang="en-US" sz="2000" dirty="0"/>
              <a:t>值计算出这个交易创建的合约的账户地址</a:t>
            </a:r>
            <a:endParaRPr lang="en-US" altLang="zh-CN" sz="2000" dirty="0"/>
          </a:p>
          <a:p>
            <a:pPr lvl="1">
              <a:lnSpc>
                <a:spcPct val="130000"/>
              </a:lnSpc>
            </a:pPr>
            <a:r>
              <a:rPr lang="zh-TW" altLang="zh-CN" sz="2000" dirty="0"/>
              <a:t>交易的</a:t>
            </a:r>
            <a:r>
              <a:rPr lang="en-US" altLang="zh-CN" sz="2000" dirty="0"/>
              <a:t>data</a:t>
            </a:r>
            <a:r>
              <a:rPr lang="zh-TW" altLang="zh-CN" sz="2000" dirty="0"/>
              <a:t>字段不再是作为执行过程中的参数，而是直接运行交易</a:t>
            </a:r>
            <a:r>
              <a:rPr lang="en-US" altLang="zh-CN" sz="2000" dirty="0"/>
              <a:t>data</a:t>
            </a:r>
            <a:r>
              <a:rPr lang="zh-TW" altLang="zh-CN" sz="2000" dirty="0"/>
              <a:t>字段中的内容。创建合约的时候，需要将合约的代码和一些初始化的代码放置到交易的</a:t>
            </a:r>
            <a:r>
              <a:rPr lang="en-US" altLang="zh-CN" sz="2000" dirty="0"/>
              <a:t>data</a:t>
            </a:r>
            <a:r>
              <a:rPr lang="zh-TW" altLang="zh-CN" sz="2000" dirty="0"/>
              <a:t>字段之中，经过运行之后得到合约的初始状态。</a:t>
            </a:r>
            <a:endParaRPr lang="zh-CN" altLang="en-US" sz="2000" dirty="0"/>
          </a:p>
        </p:txBody>
      </p:sp>
    </p:spTree>
    <p:extLst>
      <p:ext uri="{BB962C8B-B14F-4D97-AF65-F5344CB8AC3E}">
        <p14:creationId xmlns:p14="http://schemas.microsoft.com/office/powerpoint/2010/main" val="3007111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停机问题与</a:t>
            </a:r>
            <a:r>
              <a:rPr kumimoji="1" lang="en-US" altLang="zh-CN" dirty="0"/>
              <a:t>Gas</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CN" altLang="en-US" dirty="0"/>
              <a:t>一个交易如果调用的智能合约存在死循环，那么这个交易的执行将不会停止，这对于整个以太坊系统来说是一个严重的打击</a:t>
            </a:r>
            <a:endParaRPr lang="en-US" altLang="zh-CN" dirty="0"/>
          </a:p>
          <a:p>
            <a:pPr lvl="1">
              <a:lnSpc>
                <a:spcPct val="130000"/>
              </a:lnSpc>
            </a:pPr>
            <a:r>
              <a:rPr lang="zh-CN" altLang="en-US" dirty="0"/>
              <a:t>停机问题</a:t>
            </a:r>
            <a:endParaRPr lang="en-US" altLang="zh-CN" dirty="0"/>
          </a:p>
          <a:p>
            <a:pPr lvl="2">
              <a:lnSpc>
                <a:spcPct val="130000"/>
              </a:lnSpc>
            </a:pPr>
            <a:r>
              <a:rPr lang="zh-CN" altLang="en-US" dirty="0"/>
              <a:t>对于</a:t>
            </a:r>
            <a:r>
              <a:rPr lang="zh-TW" altLang="zh-CN" dirty="0"/>
              <a:t>一个图灵机而言，任何人都不可能判断它是不是能够在有限的时间内结束运行</a:t>
            </a:r>
            <a:endParaRPr lang="en-US" altLang="zh-CN" dirty="0"/>
          </a:p>
          <a:p>
            <a:pPr lvl="1">
              <a:lnSpc>
                <a:spcPct val="130000"/>
              </a:lnSpc>
            </a:pPr>
            <a:endParaRPr lang="en-US" altLang="zh-CN" dirty="0"/>
          </a:p>
        </p:txBody>
      </p:sp>
    </p:spTree>
    <p:extLst>
      <p:ext uri="{BB962C8B-B14F-4D97-AF65-F5344CB8AC3E}">
        <p14:creationId xmlns:p14="http://schemas.microsoft.com/office/powerpoint/2010/main" val="2812161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停机问题与</a:t>
            </a:r>
            <a:r>
              <a:rPr kumimoji="1" lang="en-US" altLang="zh-CN" dirty="0"/>
              <a:t>Gas</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en-US" altLang="zh-CN" dirty="0"/>
              <a:t>Gas</a:t>
            </a:r>
            <a:r>
              <a:rPr lang="zh-CN" altLang="en-US" dirty="0"/>
              <a:t>机制：保证智能合约能够在有限时间内能够终止</a:t>
            </a:r>
            <a:endParaRPr lang="en-US" altLang="zh-CN" dirty="0"/>
          </a:p>
          <a:p>
            <a:pPr lvl="1">
              <a:lnSpc>
                <a:spcPct val="130000"/>
              </a:lnSpc>
            </a:pPr>
            <a:r>
              <a:rPr lang="zh-TW" altLang="zh-CN" dirty="0"/>
              <a:t>以太坊智能合约运行的每一个操作都规定了需要消耗的</a:t>
            </a:r>
            <a:r>
              <a:rPr lang="en-US" altLang="zh-CN" dirty="0"/>
              <a:t>Gas</a:t>
            </a:r>
            <a:r>
              <a:rPr lang="zh-TW" altLang="zh-CN" dirty="0"/>
              <a:t>的数值，并要求交易的发起者预先支付</a:t>
            </a:r>
            <a:r>
              <a:rPr lang="en-US" altLang="zh-CN" dirty="0"/>
              <a:t>Gas</a:t>
            </a:r>
            <a:r>
              <a:rPr lang="zh-TW" altLang="zh-CN" dirty="0"/>
              <a:t>额度</a:t>
            </a:r>
            <a:endParaRPr lang="en-US" altLang="zh-TW" dirty="0"/>
          </a:p>
          <a:p>
            <a:pPr lvl="1">
              <a:lnSpc>
                <a:spcPct val="130000"/>
              </a:lnSpc>
            </a:pPr>
            <a:r>
              <a:rPr lang="zh-TW" altLang="zh-CN" dirty="0"/>
              <a:t>每次运行智能合约代码的时候，每一步操作都会消耗掉一些预先支付的</a:t>
            </a:r>
            <a:r>
              <a:rPr lang="en-US" altLang="zh-CN" dirty="0"/>
              <a:t>Gas</a:t>
            </a:r>
            <a:r>
              <a:rPr lang="zh-TW" altLang="zh-CN" dirty="0"/>
              <a:t>值，直到交易中预支付的</a:t>
            </a:r>
            <a:r>
              <a:rPr lang="en-US" altLang="zh-CN" dirty="0"/>
              <a:t>Gas</a:t>
            </a:r>
            <a:r>
              <a:rPr lang="zh-TW" altLang="zh-CN" dirty="0"/>
              <a:t>额度被消耗殆尽</a:t>
            </a:r>
            <a:endParaRPr lang="en-US" altLang="zh-CN" dirty="0"/>
          </a:p>
        </p:txBody>
      </p:sp>
    </p:spTree>
    <p:extLst>
      <p:ext uri="{BB962C8B-B14F-4D97-AF65-F5344CB8AC3E}">
        <p14:creationId xmlns:p14="http://schemas.microsoft.com/office/powerpoint/2010/main" val="203417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以太坊虚拟机</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CN" altLang="en-US" dirty="0"/>
              <a:t>智能合约的代码以何种格式存储和运行？</a:t>
            </a:r>
            <a:endParaRPr lang="en-US" altLang="zh-CN" dirty="0"/>
          </a:p>
          <a:p>
            <a:pPr lvl="2">
              <a:lnSpc>
                <a:spcPct val="130000"/>
              </a:lnSpc>
            </a:pPr>
            <a:r>
              <a:rPr lang="zh-CN" altLang="en-US" dirty="0"/>
              <a:t>使用高级语言：对于去中心化的网络来说，参与的节点类型可能各有千秋，可能得到不同的执行结果</a:t>
            </a:r>
            <a:endParaRPr lang="en-US" altLang="zh-CN" dirty="0"/>
          </a:p>
          <a:p>
            <a:pPr lvl="2">
              <a:lnSpc>
                <a:spcPct val="130000"/>
              </a:lnSpc>
            </a:pPr>
            <a:r>
              <a:rPr lang="zh-CN" altLang="en-US" dirty="0"/>
              <a:t>使用机器码：合约的执行跟特定架构相关</a:t>
            </a:r>
            <a:endParaRPr lang="en-US" altLang="zh-CN" dirty="0"/>
          </a:p>
          <a:p>
            <a:pPr lvl="2">
              <a:lnSpc>
                <a:spcPct val="130000"/>
              </a:lnSpc>
            </a:pPr>
            <a:r>
              <a:rPr lang="zh-CN" altLang="en-US" dirty="0">
                <a:solidFill>
                  <a:srgbClr val="C00000"/>
                </a:solidFill>
              </a:rPr>
              <a:t>折中方法</a:t>
            </a:r>
            <a:r>
              <a:rPr lang="zh-CN" altLang="en-US" dirty="0"/>
              <a:t>：使用统一的虚拟架构和机器码</a:t>
            </a:r>
            <a:endParaRPr lang="en-US" altLang="zh-CN" dirty="0"/>
          </a:p>
        </p:txBody>
      </p:sp>
    </p:spTree>
    <p:extLst>
      <p:ext uri="{BB962C8B-B14F-4D97-AF65-F5344CB8AC3E}">
        <p14:creationId xmlns:p14="http://schemas.microsoft.com/office/powerpoint/2010/main" val="35521951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以太坊虚拟机</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以太坊虚拟机：一个</a:t>
            </a:r>
            <a:r>
              <a:rPr lang="en-US" altLang="zh-CN" dirty="0"/>
              <a:t>256</a:t>
            </a:r>
            <a:r>
              <a:rPr lang="zh-CN" altLang="en-US" dirty="0"/>
              <a:t>位的栈虚拟机</a:t>
            </a:r>
          </a:p>
          <a:p>
            <a:pPr lvl="1">
              <a:lnSpc>
                <a:spcPct val="130000"/>
              </a:lnSpc>
            </a:pPr>
            <a:r>
              <a:rPr lang="en-US" altLang="zh-CN" dirty="0"/>
              <a:t>256</a:t>
            </a:r>
            <a:r>
              <a:rPr lang="zh-TW" altLang="zh-CN" dirty="0"/>
              <a:t>位</a:t>
            </a:r>
            <a:r>
              <a:rPr lang="zh-CN" altLang="en-US" dirty="0"/>
              <a:t>：</a:t>
            </a:r>
            <a:endParaRPr lang="en-US" altLang="zh-CN" dirty="0"/>
          </a:p>
          <a:p>
            <a:pPr lvl="2">
              <a:lnSpc>
                <a:spcPct val="130000"/>
              </a:lnSpc>
            </a:pPr>
            <a:r>
              <a:rPr lang="zh-TW" altLang="zh-CN" dirty="0"/>
              <a:t>指执行过程中的数据宽度是</a:t>
            </a:r>
            <a:r>
              <a:rPr lang="en-US" altLang="zh-CN" dirty="0"/>
              <a:t>256</a:t>
            </a:r>
            <a:r>
              <a:rPr lang="zh-TW" altLang="zh-CN" dirty="0"/>
              <a:t>位，相比之下普通的</a:t>
            </a:r>
            <a:r>
              <a:rPr lang="en-US" altLang="zh-CN" dirty="0"/>
              <a:t>x86</a:t>
            </a:r>
            <a:r>
              <a:rPr lang="zh-TW" altLang="zh-CN" dirty="0"/>
              <a:t>或者</a:t>
            </a:r>
            <a:r>
              <a:rPr lang="en-US" altLang="zh-CN" dirty="0"/>
              <a:t>ARM</a:t>
            </a:r>
            <a:r>
              <a:rPr lang="zh-TW" altLang="zh-CN" dirty="0"/>
              <a:t>架构通常是</a:t>
            </a:r>
            <a:r>
              <a:rPr lang="en-US" altLang="zh-CN" dirty="0"/>
              <a:t>32</a:t>
            </a:r>
            <a:r>
              <a:rPr lang="zh-TW" altLang="zh-CN" dirty="0"/>
              <a:t>位或者</a:t>
            </a:r>
            <a:r>
              <a:rPr lang="en-US" altLang="zh-CN" dirty="0"/>
              <a:t>64</a:t>
            </a:r>
            <a:r>
              <a:rPr lang="zh-TW" altLang="zh-CN" dirty="0"/>
              <a:t>位；</a:t>
            </a:r>
            <a:endParaRPr lang="en-US" altLang="zh-TW" dirty="0"/>
          </a:p>
          <a:p>
            <a:pPr lvl="1">
              <a:lnSpc>
                <a:spcPct val="130000"/>
              </a:lnSpc>
            </a:pPr>
            <a:r>
              <a:rPr lang="zh-TW" altLang="zh-CN" dirty="0"/>
              <a:t>栈虚拟机</a:t>
            </a:r>
            <a:r>
              <a:rPr lang="zh-CN" altLang="en-US" dirty="0"/>
              <a:t>：</a:t>
            </a:r>
            <a:endParaRPr lang="en-US" altLang="zh-CN" dirty="0"/>
          </a:p>
          <a:p>
            <a:pPr lvl="2">
              <a:lnSpc>
                <a:spcPct val="130000"/>
              </a:lnSpc>
            </a:pPr>
            <a:r>
              <a:rPr lang="zh-TW" altLang="zh-CN" dirty="0"/>
              <a:t>指</a:t>
            </a:r>
            <a:r>
              <a:rPr lang="en-US" altLang="zh-CN" dirty="0"/>
              <a:t>EVM</a:t>
            </a:r>
            <a:r>
              <a:rPr lang="zh-TW" altLang="zh-CN" dirty="0"/>
              <a:t>的执行流程基于一个栈结构，所有的指令都是操作栈顶的数据</a:t>
            </a:r>
            <a:endParaRPr lang="en-US" altLang="zh-TW" dirty="0"/>
          </a:p>
          <a:p>
            <a:pPr lvl="1">
              <a:lnSpc>
                <a:spcPct val="130000"/>
              </a:lnSpc>
            </a:pPr>
            <a:endParaRPr lang="en-US" altLang="zh-CN" dirty="0">
              <a:solidFill>
                <a:srgbClr val="C00000"/>
              </a:solidFill>
            </a:endParaRPr>
          </a:p>
          <a:p>
            <a:pPr lvl="1">
              <a:lnSpc>
                <a:spcPct val="130000"/>
              </a:lnSpc>
            </a:pPr>
            <a:endParaRPr lang="en-US" altLang="zh-CN" dirty="0"/>
          </a:p>
        </p:txBody>
      </p:sp>
    </p:spTree>
    <p:extLst>
      <p:ext uri="{BB962C8B-B14F-4D97-AF65-F5344CB8AC3E}">
        <p14:creationId xmlns:p14="http://schemas.microsoft.com/office/powerpoint/2010/main" val="42431038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以太坊虚拟机</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以太坊虚拟机指令</a:t>
            </a:r>
            <a:endParaRPr lang="en-US" altLang="zh-CN" dirty="0"/>
          </a:p>
          <a:p>
            <a:pPr lvl="1">
              <a:lnSpc>
                <a:spcPct val="130000"/>
              </a:lnSpc>
            </a:pPr>
            <a:r>
              <a:rPr lang="zh-CN" altLang="en-US" dirty="0"/>
              <a:t>智能合约的编写</a:t>
            </a:r>
            <a:endParaRPr lang="en-US" altLang="zh-CN" dirty="0"/>
          </a:p>
          <a:p>
            <a:pPr lvl="2">
              <a:lnSpc>
                <a:spcPct val="130000"/>
              </a:lnSpc>
            </a:pPr>
            <a:r>
              <a:rPr lang="zh-TW" altLang="zh-CN" dirty="0"/>
              <a:t>开发者使用类似于</a:t>
            </a:r>
            <a:r>
              <a:rPr lang="en-US" altLang="zh-CN" dirty="0"/>
              <a:t>Solidity</a:t>
            </a:r>
            <a:r>
              <a:rPr lang="zh-TW" altLang="zh-CN" dirty="0"/>
              <a:t>或者</a:t>
            </a:r>
            <a:r>
              <a:rPr lang="en-US" altLang="zh-CN" dirty="0" err="1"/>
              <a:t>Vyper</a:t>
            </a:r>
            <a:r>
              <a:rPr lang="zh-TW" altLang="zh-CN" dirty="0"/>
              <a:t>这些上层的高级语言来编写智能合约的代码</a:t>
            </a:r>
            <a:endParaRPr lang="en-US" altLang="zh-TW" dirty="0"/>
          </a:p>
          <a:p>
            <a:pPr lvl="1">
              <a:lnSpc>
                <a:spcPct val="130000"/>
              </a:lnSpc>
            </a:pPr>
            <a:r>
              <a:rPr lang="zh-CN" altLang="en-US" dirty="0"/>
              <a:t>智能合约的编译</a:t>
            </a:r>
            <a:endParaRPr lang="en-US" altLang="zh-TW" dirty="0"/>
          </a:p>
          <a:p>
            <a:pPr lvl="2">
              <a:lnSpc>
                <a:spcPct val="130000"/>
              </a:lnSpc>
            </a:pPr>
            <a:r>
              <a:rPr lang="zh-TW" altLang="zh-CN" dirty="0"/>
              <a:t>将</a:t>
            </a:r>
            <a:r>
              <a:rPr lang="zh-CN" altLang="en-US" dirty="0"/>
              <a:t>高级语言编写的智能合约</a:t>
            </a:r>
            <a:r>
              <a:rPr lang="zh-TW" altLang="zh-CN" dirty="0"/>
              <a:t>编译成</a:t>
            </a:r>
            <a:r>
              <a:rPr lang="en-US" altLang="zh-CN" dirty="0"/>
              <a:t>EVM</a:t>
            </a:r>
            <a:r>
              <a:rPr lang="zh-TW" altLang="zh-CN" dirty="0"/>
              <a:t>能够识别的机器码指令，</a:t>
            </a:r>
            <a:r>
              <a:rPr lang="zh-CN" altLang="en-US" dirty="0"/>
              <a:t>从而能够</a:t>
            </a:r>
            <a:r>
              <a:rPr lang="zh-TW" altLang="zh-CN" dirty="0"/>
              <a:t>在以太坊的平台上使用</a:t>
            </a:r>
            <a:r>
              <a:rPr lang="en-US" altLang="zh-CN" dirty="0"/>
              <a:t>EVM</a:t>
            </a:r>
            <a:r>
              <a:rPr lang="zh-TW" altLang="zh-CN" dirty="0"/>
              <a:t>执行</a:t>
            </a:r>
            <a:endParaRPr lang="zh-CN" altLang="zh-CN" dirty="0"/>
          </a:p>
          <a:p>
            <a:pPr lvl="1">
              <a:lnSpc>
                <a:spcPct val="130000"/>
              </a:lnSpc>
            </a:pPr>
            <a:endParaRPr lang="en-US" altLang="zh-CN" dirty="0">
              <a:solidFill>
                <a:srgbClr val="C00000"/>
              </a:solidFill>
            </a:endParaRPr>
          </a:p>
          <a:p>
            <a:pPr lvl="1">
              <a:lnSpc>
                <a:spcPct val="130000"/>
              </a:lnSpc>
            </a:pPr>
            <a:endParaRPr lang="en-US" altLang="zh-CN" dirty="0"/>
          </a:p>
        </p:txBody>
      </p:sp>
    </p:spTree>
    <p:extLst>
      <p:ext uri="{BB962C8B-B14F-4D97-AF65-F5344CB8AC3E}">
        <p14:creationId xmlns:p14="http://schemas.microsoft.com/office/powerpoint/2010/main" val="24051680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以太坊简介</a:t>
            </a:r>
            <a:endParaRPr kumimoji="1" lang="en-US" altLang="zh-CN" dirty="0"/>
          </a:p>
          <a:p>
            <a:pPr marL="0" indent="0">
              <a:lnSpc>
                <a:spcPct val="130000"/>
              </a:lnSpc>
              <a:buNone/>
            </a:pPr>
            <a:r>
              <a:rPr kumimoji="1" lang="en-US" altLang="zh-CN" dirty="0"/>
              <a:t>1.2</a:t>
            </a:r>
            <a:r>
              <a:rPr kumimoji="1" lang="zh-CN" altLang="en-US" dirty="0"/>
              <a:t> 以太坊基本架构及原理</a:t>
            </a:r>
            <a:endParaRPr kumimoji="1" lang="en-US" altLang="zh-CN" dirty="0"/>
          </a:p>
          <a:p>
            <a:pPr marL="0" indent="0">
              <a:lnSpc>
                <a:spcPct val="130000"/>
              </a:lnSpc>
              <a:buNone/>
            </a:pPr>
            <a:r>
              <a:rPr kumimoji="1" lang="en-US" altLang="zh-CN" dirty="0"/>
              <a:t>1.3</a:t>
            </a:r>
            <a:r>
              <a:rPr kumimoji="1" lang="zh-CN" altLang="en-US" dirty="0"/>
              <a:t> 以太坊账户模型与转账</a:t>
            </a:r>
            <a:endParaRPr kumimoji="1" lang="en-US" altLang="zh-CN" dirty="0"/>
          </a:p>
          <a:p>
            <a:pPr marL="0" indent="0">
              <a:lnSpc>
                <a:spcPct val="130000"/>
              </a:lnSpc>
              <a:buNone/>
            </a:pPr>
            <a:r>
              <a:rPr kumimoji="1" lang="en-US" altLang="zh-CN" dirty="0"/>
              <a:t>1.4</a:t>
            </a:r>
            <a:r>
              <a:rPr kumimoji="1" lang="zh-CN" altLang="en-US" dirty="0"/>
              <a:t> 智能合约</a:t>
            </a:r>
            <a:endParaRPr kumimoji="1" lang="en-US" altLang="zh-CN" dirty="0"/>
          </a:p>
          <a:p>
            <a:pPr marL="0" indent="0">
              <a:lnSpc>
                <a:spcPct val="130000"/>
              </a:lnSpc>
              <a:buNone/>
            </a:pPr>
            <a:r>
              <a:rPr kumimoji="1" lang="en-US" altLang="zh-CN" dirty="0">
                <a:solidFill>
                  <a:srgbClr val="C00000"/>
                </a:solidFill>
              </a:rPr>
              <a:t>1.5</a:t>
            </a:r>
            <a:r>
              <a:rPr kumimoji="1" lang="zh-CN" altLang="en-US" dirty="0">
                <a:solidFill>
                  <a:srgbClr val="C00000"/>
                </a:solidFill>
              </a:rPr>
              <a:t> 以太坊交易</a:t>
            </a:r>
            <a:endParaRPr kumimoji="1" lang="en-US" altLang="zh-CN" dirty="0">
              <a:solidFill>
                <a:srgbClr val="C00000"/>
              </a:solidFill>
            </a:endParaRPr>
          </a:p>
          <a:p>
            <a:pPr marL="0" indent="0">
              <a:lnSpc>
                <a:spcPct val="130000"/>
              </a:lnSpc>
              <a:buNone/>
            </a:pPr>
            <a:r>
              <a:rPr kumimoji="1" lang="en-US" altLang="zh-CN" dirty="0"/>
              <a:t>1.6</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6" name="矩形标注 6">
            <a:extLst>
              <a:ext uri="{FF2B5EF4-FFF2-40B4-BE49-F238E27FC236}">
                <a16:creationId xmlns:a16="http://schemas.microsoft.com/office/drawing/2014/main" id="{FF5036DF-48B8-42B8-B32A-3ADF52554582}"/>
              </a:ext>
            </a:extLst>
          </p:cNvPr>
          <p:cNvSpPr/>
          <p:nvPr/>
        </p:nvSpPr>
        <p:spPr>
          <a:xfrm>
            <a:off x="6913000" y="3200400"/>
            <a:ext cx="4281889" cy="1733504"/>
          </a:xfrm>
          <a:prstGeom prst="wedgeRectCallout">
            <a:avLst>
              <a:gd name="adj1" fmla="val -82424"/>
              <a:gd name="adj2" fmla="val 2410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交易内容</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交易费用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交易的周期</a:t>
            </a:r>
          </a:p>
        </p:txBody>
      </p:sp>
    </p:spTree>
    <p:extLst>
      <p:ext uri="{BB962C8B-B14F-4D97-AF65-F5344CB8AC3E}">
        <p14:creationId xmlns:p14="http://schemas.microsoft.com/office/powerpoint/2010/main" val="2090864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交易内容</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TW" altLang="zh-CN" dirty="0"/>
              <a:t>在以太坊中，交易承载了账户转账和创建、调用合约等功能，数据的内容更为复杂，大体上可以粗略的分为三个部分，即</a:t>
            </a:r>
            <a:r>
              <a:rPr lang="zh-TW" altLang="zh-CN" dirty="0">
                <a:solidFill>
                  <a:srgbClr val="C00000"/>
                </a:solidFill>
              </a:rPr>
              <a:t>基本的交易，驱动智能合约和交易的签名</a:t>
            </a:r>
            <a:endParaRPr lang="en-US" altLang="zh-CN" dirty="0">
              <a:solidFill>
                <a:srgbClr val="C00000"/>
              </a:solidFill>
            </a:endParaRPr>
          </a:p>
          <a:p>
            <a:pPr lvl="1">
              <a:lnSpc>
                <a:spcPct val="130000"/>
              </a:lnSpc>
            </a:pPr>
            <a:endParaRPr lang="en-US" altLang="zh-CN" dirty="0"/>
          </a:p>
        </p:txBody>
      </p:sp>
    </p:spTree>
    <p:extLst>
      <p:ext uri="{BB962C8B-B14F-4D97-AF65-F5344CB8AC3E}">
        <p14:creationId xmlns:p14="http://schemas.microsoft.com/office/powerpoint/2010/main" val="42493603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交易内容</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基本交易内容</a:t>
            </a:r>
            <a:endParaRPr lang="en-US" altLang="zh-CN" dirty="0"/>
          </a:p>
          <a:p>
            <a:pPr lvl="1">
              <a:lnSpc>
                <a:spcPct val="130000"/>
              </a:lnSpc>
            </a:pPr>
            <a:r>
              <a:rPr lang="en-US" altLang="zh-CN" dirty="0"/>
              <a:t>from</a:t>
            </a:r>
            <a:r>
              <a:rPr lang="zh-CN" altLang="en-US" dirty="0"/>
              <a:t>：交易发送者的地址。发送者地址可以通过合约的签名信息</a:t>
            </a:r>
            <a:r>
              <a:rPr lang="en-US" altLang="zh-CN" dirty="0"/>
              <a:t>&lt;r, s, v&gt;</a:t>
            </a:r>
            <a:r>
              <a:rPr lang="zh-CN" altLang="en-US" dirty="0"/>
              <a:t>计算得到，实现上交易的数据结构中并不会存储发送者地址</a:t>
            </a:r>
          </a:p>
          <a:p>
            <a:pPr lvl="1">
              <a:lnSpc>
                <a:spcPct val="130000"/>
              </a:lnSpc>
            </a:pPr>
            <a:r>
              <a:rPr lang="en-US" altLang="zh-CN" dirty="0"/>
              <a:t>to</a:t>
            </a:r>
            <a:r>
              <a:rPr lang="zh-CN" altLang="en-US" dirty="0"/>
              <a:t>：交易接收者的地址。在进行转账时是接受转账金额的地址，在创建合约时设置为</a:t>
            </a:r>
            <a:r>
              <a:rPr lang="en-US" altLang="zh-CN" dirty="0"/>
              <a:t>0x0000...000</a:t>
            </a:r>
            <a:r>
              <a:rPr lang="zh-CN" altLang="en-US" dirty="0"/>
              <a:t>，在调用合约时则是合约的地址</a:t>
            </a:r>
          </a:p>
          <a:p>
            <a:pPr lvl="1">
              <a:lnSpc>
                <a:spcPct val="130000"/>
              </a:lnSpc>
            </a:pPr>
            <a:r>
              <a:rPr lang="en-US" altLang="zh-CN" dirty="0"/>
              <a:t>value</a:t>
            </a:r>
            <a:r>
              <a:rPr lang="zh-CN" altLang="en-US" dirty="0"/>
              <a:t>：交易的金额，单位是</a:t>
            </a:r>
            <a:r>
              <a:rPr lang="en-US" altLang="zh-CN" dirty="0"/>
              <a:t>Wei</a:t>
            </a:r>
            <a:r>
              <a:rPr lang="zh-CN" altLang="en-US" dirty="0"/>
              <a:t>。</a:t>
            </a:r>
            <a:r>
              <a:rPr lang="en-US" altLang="zh-CN" dirty="0"/>
              <a:t>Wei</a:t>
            </a:r>
            <a:r>
              <a:rPr lang="zh-CN" altLang="en-US" dirty="0"/>
              <a:t>是以太币最小单位，我们常说的</a:t>
            </a:r>
            <a:r>
              <a:rPr lang="en-US" altLang="zh-CN" dirty="0"/>
              <a:t>1</a:t>
            </a:r>
            <a:r>
              <a:rPr lang="zh-CN" altLang="en-US" dirty="0"/>
              <a:t>个以太币是单位</a:t>
            </a:r>
            <a:r>
              <a:rPr lang="en-US" altLang="zh-CN" dirty="0"/>
              <a:t>Ether</a:t>
            </a:r>
            <a:r>
              <a:rPr lang="zh-CN" altLang="en-US" dirty="0"/>
              <a:t>，</a:t>
            </a:r>
            <a:r>
              <a:rPr lang="en-US" altLang="zh-CN" dirty="0"/>
              <a:t>1 Ether =10^18 Wei</a:t>
            </a:r>
            <a:endParaRPr lang="zh-CN" altLang="en-US" dirty="0"/>
          </a:p>
          <a:p>
            <a:pPr lvl="1">
              <a:lnSpc>
                <a:spcPct val="130000"/>
              </a:lnSpc>
            </a:pPr>
            <a:endParaRPr lang="en-US" altLang="zh-CN" dirty="0"/>
          </a:p>
        </p:txBody>
      </p:sp>
    </p:spTree>
    <p:extLst>
      <p:ext uri="{BB962C8B-B14F-4D97-AF65-F5344CB8AC3E}">
        <p14:creationId xmlns:p14="http://schemas.microsoft.com/office/powerpoint/2010/main" val="2558920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交易内容</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lnSpcReduction="10000"/>
          </a:bodyPr>
          <a:lstStyle/>
          <a:p>
            <a:pPr>
              <a:lnSpc>
                <a:spcPct val="130000"/>
              </a:lnSpc>
            </a:pPr>
            <a:r>
              <a:rPr lang="zh-TW" altLang="zh-CN" dirty="0"/>
              <a:t>驱动智能合约</a:t>
            </a:r>
            <a:endParaRPr lang="en-US" altLang="zh-TW" dirty="0"/>
          </a:p>
          <a:p>
            <a:pPr lvl="1">
              <a:lnSpc>
                <a:spcPct val="130000"/>
              </a:lnSpc>
            </a:pPr>
            <a:r>
              <a:rPr lang="en-US" altLang="zh-CN" dirty="0"/>
              <a:t>data</a:t>
            </a:r>
            <a:r>
              <a:rPr lang="zh-CN" altLang="en-US" dirty="0"/>
              <a:t>：交易附带数据，传递创建合约的代码和构造函数，或调用合约的函数及参数</a:t>
            </a:r>
          </a:p>
          <a:p>
            <a:pPr lvl="1">
              <a:lnSpc>
                <a:spcPct val="130000"/>
              </a:lnSpc>
            </a:pPr>
            <a:r>
              <a:rPr lang="en-US" altLang="zh-CN" dirty="0"/>
              <a:t>nonce</a:t>
            </a:r>
            <a:r>
              <a:rPr lang="zh-CN" altLang="en-US" dirty="0"/>
              <a:t>：交易发送者累计发出的交易数量，用于区分一个账户的不同交易及顺序</a:t>
            </a:r>
          </a:p>
          <a:p>
            <a:pPr lvl="1">
              <a:lnSpc>
                <a:spcPct val="130000"/>
              </a:lnSpc>
            </a:pPr>
            <a:r>
              <a:rPr lang="en-US" altLang="zh-CN" dirty="0" err="1"/>
              <a:t>gasPrice</a:t>
            </a:r>
            <a:r>
              <a:rPr lang="zh-CN" altLang="en-US" dirty="0"/>
              <a:t>：发送者支付给矿工的</a:t>
            </a:r>
            <a:r>
              <a:rPr lang="en-US" altLang="zh-CN" dirty="0"/>
              <a:t>gas</a:t>
            </a:r>
            <a:r>
              <a:rPr lang="zh-CN" altLang="en-US" dirty="0"/>
              <a:t>的价格，用于实现从</a:t>
            </a:r>
            <a:r>
              <a:rPr lang="en-US" altLang="zh-CN" dirty="0"/>
              <a:t>Gas</a:t>
            </a:r>
            <a:r>
              <a:rPr lang="zh-CN" altLang="en-US" dirty="0"/>
              <a:t>到以太坊货币单位的转换，从而计算使用的</a:t>
            </a:r>
            <a:r>
              <a:rPr lang="en-US" altLang="zh-CN" dirty="0"/>
              <a:t>Gas</a:t>
            </a:r>
            <a:r>
              <a:rPr lang="zh-CN" altLang="en-US" dirty="0"/>
              <a:t>的总价格</a:t>
            </a:r>
          </a:p>
          <a:p>
            <a:pPr lvl="1">
              <a:lnSpc>
                <a:spcPct val="130000"/>
              </a:lnSpc>
            </a:pPr>
            <a:r>
              <a:rPr lang="en-US" altLang="zh-CN" dirty="0" err="1"/>
              <a:t>gasLimit</a:t>
            </a:r>
            <a:r>
              <a:rPr lang="zh-CN" altLang="en-US" dirty="0"/>
              <a:t>：该交易允许消耗的最大的</a:t>
            </a:r>
            <a:r>
              <a:rPr lang="en-US" altLang="zh-CN" dirty="0"/>
              <a:t>gas</a:t>
            </a:r>
            <a:r>
              <a:rPr lang="zh-CN" altLang="en-US" dirty="0"/>
              <a:t>，用于解决智能合约不能停机的问题</a:t>
            </a:r>
          </a:p>
          <a:p>
            <a:pPr lvl="1">
              <a:lnSpc>
                <a:spcPct val="130000"/>
              </a:lnSpc>
            </a:pPr>
            <a:endParaRPr lang="en-US" altLang="zh-CN" dirty="0"/>
          </a:p>
        </p:txBody>
      </p:sp>
    </p:spTree>
    <p:extLst>
      <p:ext uri="{BB962C8B-B14F-4D97-AF65-F5344CB8AC3E}">
        <p14:creationId xmlns:p14="http://schemas.microsoft.com/office/powerpoint/2010/main" val="63296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交易内容</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交易的签名</a:t>
            </a:r>
            <a:endParaRPr lang="en-US" altLang="zh-CN" dirty="0"/>
          </a:p>
          <a:p>
            <a:pPr lvl="1">
              <a:lnSpc>
                <a:spcPct val="130000"/>
              </a:lnSpc>
            </a:pPr>
            <a:r>
              <a:rPr lang="en-US" altLang="zh-CN" dirty="0"/>
              <a:t>hash</a:t>
            </a:r>
            <a:r>
              <a:rPr lang="zh-CN" altLang="en-US" dirty="0"/>
              <a:t>：由以上字段生成的哈希值，也作为交易的</a:t>
            </a:r>
            <a:r>
              <a:rPr lang="en-US" altLang="zh-CN" dirty="0"/>
              <a:t>id</a:t>
            </a:r>
            <a:r>
              <a:rPr lang="zh-CN" altLang="en-US" dirty="0"/>
              <a:t>。</a:t>
            </a:r>
          </a:p>
          <a:p>
            <a:pPr lvl="1">
              <a:lnSpc>
                <a:spcPct val="130000"/>
              </a:lnSpc>
            </a:pPr>
            <a:r>
              <a:rPr lang="en-US" altLang="zh-CN" dirty="0"/>
              <a:t>r</a:t>
            </a:r>
            <a:r>
              <a:rPr lang="zh-CN" altLang="en-US" dirty="0"/>
              <a:t>、</a:t>
            </a:r>
            <a:r>
              <a:rPr lang="en-US" altLang="zh-CN" dirty="0"/>
              <a:t>s</a:t>
            </a:r>
            <a:r>
              <a:rPr lang="zh-CN" altLang="en-US" dirty="0"/>
              <a:t>、</a:t>
            </a:r>
            <a:r>
              <a:rPr lang="en-US" altLang="zh-CN" dirty="0"/>
              <a:t>v</a:t>
            </a:r>
            <a:r>
              <a:rPr lang="zh-CN" altLang="en-US" dirty="0"/>
              <a:t>：用于</a:t>
            </a:r>
            <a:r>
              <a:rPr lang="en-US" altLang="zh-CN" dirty="0"/>
              <a:t>ECDSA</a:t>
            </a:r>
            <a:r>
              <a:rPr lang="zh-CN" altLang="en-US" dirty="0"/>
              <a:t>验证的参数，由发送者的私钥对交易的哈希做数字签名生成，用于确认转账的合法性。</a:t>
            </a:r>
          </a:p>
          <a:p>
            <a:pPr lvl="1">
              <a:lnSpc>
                <a:spcPct val="130000"/>
              </a:lnSpc>
            </a:pPr>
            <a:endParaRPr lang="en-US" altLang="zh-CN" dirty="0"/>
          </a:p>
        </p:txBody>
      </p:sp>
    </p:spTree>
    <p:extLst>
      <p:ext uri="{BB962C8B-B14F-4D97-AF65-F5344CB8AC3E}">
        <p14:creationId xmlns:p14="http://schemas.microsoft.com/office/powerpoint/2010/main" val="38865368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交易费用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en-US" altLang="zh-CN" dirty="0"/>
              <a:t>Gas</a:t>
            </a:r>
            <a:r>
              <a:rPr lang="zh-CN" altLang="en-US" dirty="0"/>
              <a:t>机制不仅可以保证合约停机，同时可以对交易执行的成本进行归一化计算，以太坊中通过</a:t>
            </a:r>
            <a:r>
              <a:rPr lang="en-US" altLang="zh-CN" dirty="0"/>
              <a:t>Gas</a:t>
            </a:r>
            <a:r>
              <a:rPr lang="zh-CN" altLang="en-US" dirty="0"/>
              <a:t>进行计算交易的费用</a:t>
            </a:r>
            <a:endParaRPr lang="en-US" altLang="zh-CN" dirty="0"/>
          </a:p>
          <a:p>
            <a:pPr>
              <a:lnSpc>
                <a:spcPct val="130000"/>
              </a:lnSpc>
            </a:pPr>
            <a:r>
              <a:rPr lang="zh-CN" altLang="en-US" dirty="0"/>
              <a:t>主要概念</a:t>
            </a:r>
            <a:endParaRPr lang="en-US" altLang="zh-CN" dirty="0"/>
          </a:p>
          <a:p>
            <a:pPr lvl="1">
              <a:lnSpc>
                <a:spcPct val="130000"/>
              </a:lnSpc>
            </a:pPr>
            <a:r>
              <a:rPr lang="en-US" altLang="zh-CN" dirty="0"/>
              <a:t>Gas</a:t>
            </a:r>
            <a:r>
              <a:rPr lang="zh-CN" altLang="en-US" dirty="0"/>
              <a:t>：以太坊中资源消耗的基础单位</a:t>
            </a:r>
          </a:p>
          <a:p>
            <a:pPr lvl="1">
              <a:lnSpc>
                <a:spcPct val="130000"/>
              </a:lnSpc>
            </a:pPr>
            <a:r>
              <a:rPr lang="en-US" altLang="zh-CN" dirty="0" err="1"/>
              <a:t>GasLimit</a:t>
            </a:r>
            <a:r>
              <a:rPr lang="en-US" altLang="zh-CN" dirty="0"/>
              <a:t>: </a:t>
            </a:r>
            <a:r>
              <a:rPr lang="zh-CN" altLang="en-US" dirty="0"/>
              <a:t>允许消耗的最大</a:t>
            </a:r>
            <a:r>
              <a:rPr lang="en-US" altLang="zh-CN" dirty="0"/>
              <a:t>Gas</a:t>
            </a:r>
            <a:r>
              <a:rPr lang="zh-CN" altLang="en-US" dirty="0"/>
              <a:t>值</a:t>
            </a:r>
          </a:p>
          <a:p>
            <a:pPr lvl="1">
              <a:lnSpc>
                <a:spcPct val="130000"/>
              </a:lnSpc>
            </a:pPr>
            <a:r>
              <a:rPr lang="en-US" altLang="zh-CN" dirty="0" err="1"/>
              <a:t>GasUsed</a:t>
            </a:r>
            <a:r>
              <a:rPr lang="zh-CN" altLang="en-US" dirty="0"/>
              <a:t>：执行后消耗的最大</a:t>
            </a:r>
            <a:r>
              <a:rPr lang="en-US" altLang="zh-CN" dirty="0"/>
              <a:t>Gas</a:t>
            </a:r>
            <a:r>
              <a:rPr lang="zh-CN" altLang="en-US" dirty="0"/>
              <a:t>值</a:t>
            </a:r>
          </a:p>
          <a:p>
            <a:pPr lvl="1">
              <a:lnSpc>
                <a:spcPct val="130000"/>
              </a:lnSpc>
            </a:pPr>
            <a:r>
              <a:rPr lang="en-US" altLang="zh-CN" dirty="0" err="1"/>
              <a:t>GasPrice</a:t>
            </a:r>
            <a:r>
              <a:rPr lang="zh-CN" altLang="en-US" dirty="0"/>
              <a:t>：用户为消耗的每个</a:t>
            </a:r>
            <a:r>
              <a:rPr lang="en-US" altLang="zh-CN" dirty="0"/>
              <a:t>Gas</a:t>
            </a:r>
            <a:r>
              <a:rPr lang="zh-CN" altLang="en-US" dirty="0"/>
              <a:t>单位支付的以太币</a:t>
            </a:r>
          </a:p>
        </p:txBody>
      </p:sp>
    </p:spTree>
    <p:extLst>
      <p:ext uri="{BB962C8B-B14F-4D97-AF65-F5344CB8AC3E}">
        <p14:creationId xmlns:p14="http://schemas.microsoft.com/office/powerpoint/2010/main" val="11317253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交易费用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en-US" altLang="zh-CN" dirty="0"/>
              <a:t>Gas</a:t>
            </a:r>
            <a:r>
              <a:rPr lang="zh-CN" altLang="en-US" dirty="0"/>
              <a:t>与</a:t>
            </a:r>
            <a:r>
              <a:rPr lang="en-US" altLang="zh-CN" dirty="0" err="1"/>
              <a:t>GasUsed</a:t>
            </a:r>
            <a:endParaRPr lang="en-US" altLang="zh-CN" dirty="0"/>
          </a:p>
          <a:p>
            <a:pPr lvl="1">
              <a:lnSpc>
                <a:spcPct val="130000"/>
              </a:lnSpc>
            </a:pPr>
            <a:r>
              <a:rPr lang="zh-CN" altLang="zh-CN" dirty="0"/>
              <a:t>在交易的执行过程中，每笔交易都带有基础</a:t>
            </a:r>
            <a:r>
              <a:rPr lang="en-US" altLang="zh-CN" dirty="0"/>
              <a:t>Gas</a:t>
            </a:r>
            <a:r>
              <a:rPr lang="zh-CN" altLang="zh-CN" dirty="0"/>
              <a:t>消耗值，用户在创建或调用智能合约的过程中，对以太坊虚拟机的不同操作都将消耗不同值的</a:t>
            </a:r>
            <a:r>
              <a:rPr lang="en-US" altLang="zh-CN" dirty="0"/>
              <a:t>Gas</a:t>
            </a:r>
            <a:r>
              <a:rPr lang="zh-CN" altLang="en-US" dirty="0"/>
              <a:t>。</a:t>
            </a:r>
            <a:endParaRPr lang="en-US" altLang="zh-CN" dirty="0"/>
          </a:p>
          <a:p>
            <a:pPr lvl="1">
              <a:lnSpc>
                <a:spcPct val="130000"/>
              </a:lnSpc>
            </a:pPr>
            <a:r>
              <a:rPr lang="zh-CN" altLang="zh-CN" dirty="0"/>
              <a:t>基础的交易</a:t>
            </a:r>
            <a:r>
              <a:rPr lang="en-US" altLang="zh-CN" dirty="0"/>
              <a:t>Gas</a:t>
            </a:r>
            <a:r>
              <a:rPr lang="zh-CN" altLang="zh-CN" dirty="0"/>
              <a:t>值加上以太坊虚拟机运行时的</a:t>
            </a:r>
            <a:r>
              <a:rPr lang="en-US" altLang="zh-CN" dirty="0"/>
              <a:t>Gas</a:t>
            </a:r>
            <a:r>
              <a:rPr lang="zh-CN" altLang="zh-CN" dirty="0"/>
              <a:t>消耗值，即构成了交易的</a:t>
            </a:r>
            <a:r>
              <a:rPr lang="en-US" altLang="zh-CN" dirty="0" err="1"/>
              <a:t>GasUsed</a:t>
            </a:r>
            <a:r>
              <a:rPr lang="zh-CN" altLang="zh-CN" dirty="0"/>
              <a:t>。</a:t>
            </a:r>
          </a:p>
          <a:p>
            <a:pPr lvl="1">
              <a:lnSpc>
                <a:spcPct val="130000"/>
              </a:lnSpc>
            </a:pPr>
            <a:endParaRPr lang="zh-CN" altLang="en-US" dirty="0"/>
          </a:p>
        </p:txBody>
      </p:sp>
    </p:spTree>
    <p:extLst>
      <p:ext uri="{BB962C8B-B14F-4D97-AF65-F5344CB8AC3E}">
        <p14:creationId xmlns:p14="http://schemas.microsoft.com/office/powerpoint/2010/main" val="942203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交易费用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en-US" altLang="zh-CN" dirty="0" err="1"/>
              <a:t>GasLimit</a:t>
            </a:r>
            <a:endParaRPr lang="en-US" altLang="zh-CN" dirty="0"/>
          </a:p>
          <a:p>
            <a:pPr lvl="1">
              <a:lnSpc>
                <a:spcPct val="130000"/>
              </a:lnSpc>
            </a:pPr>
            <a:r>
              <a:rPr lang="zh-CN" altLang="zh-CN" dirty="0"/>
              <a:t>交易的</a:t>
            </a:r>
            <a:r>
              <a:rPr lang="en-US" altLang="zh-CN" dirty="0" err="1"/>
              <a:t>GasUsed</a:t>
            </a:r>
            <a:r>
              <a:rPr lang="zh-CN" altLang="zh-CN" dirty="0"/>
              <a:t>是实时计算的，即以太坊虚拟机的每步操作都将计算累积一次，如果交易的</a:t>
            </a:r>
            <a:r>
              <a:rPr lang="en-US" altLang="zh-CN" dirty="0" err="1"/>
              <a:t>GasUsed</a:t>
            </a:r>
            <a:r>
              <a:rPr lang="zh-CN" altLang="zh-CN" dirty="0"/>
              <a:t>超过了用户定义的</a:t>
            </a:r>
            <a:r>
              <a:rPr lang="en-US" altLang="zh-CN" dirty="0" err="1"/>
              <a:t>GasLimit</a:t>
            </a:r>
            <a:r>
              <a:rPr lang="zh-CN" altLang="zh-CN" dirty="0"/>
              <a:t>，则判定为</a:t>
            </a:r>
            <a:r>
              <a:rPr lang="en-US" altLang="zh-CN" dirty="0"/>
              <a:t>Gas</a:t>
            </a:r>
            <a:r>
              <a:rPr lang="zh-CN" altLang="zh-CN" dirty="0"/>
              <a:t>不足，交易执行失败。</a:t>
            </a:r>
            <a:endParaRPr lang="zh-CN" altLang="en-US" dirty="0"/>
          </a:p>
        </p:txBody>
      </p:sp>
    </p:spTree>
    <p:extLst>
      <p:ext uri="{BB962C8B-B14F-4D97-AF65-F5344CB8AC3E}">
        <p14:creationId xmlns:p14="http://schemas.microsoft.com/office/powerpoint/2010/main" val="42619863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交易费用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en-US" altLang="zh-CN" dirty="0" err="1"/>
              <a:t>GasPrice</a:t>
            </a:r>
            <a:endParaRPr lang="en-US" altLang="zh-CN" dirty="0"/>
          </a:p>
          <a:p>
            <a:pPr lvl="1">
              <a:lnSpc>
                <a:spcPct val="130000"/>
              </a:lnSpc>
            </a:pPr>
            <a:r>
              <a:rPr lang="zh-CN" altLang="zh-CN" dirty="0"/>
              <a:t>交易执行完成后，将得到交易的</a:t>
            </a:r>
            <a:r>
              <a:rPr lang="en-US" altLang="zh-CN" dirty="0" err="1"/>
              <a:t>GasUsed</a:t>
            </a:r>
            <a:r>
              <a:rPr lang="zh-CN" altLang="zh-CN" dirty="0"/>
              <a:t>乘上</a:t>
            </a:r>
            <a:r>
              <a:rPr lang="en-US" altLang="zh-CN" dirty="0" err="1"/>
              <a:t>GasPrice</a:t>
            </a:r>
            <a:r>
              <a:rPr lang="zh-CN" altLang="zh-CN" dirty="0"/>
              <a:t>，即为用户该笔交易应付的手续费，这一手续费从交易发起账户扣除，加到区块</a:t>
            </a:r>
            <a:r>
              <a:rPr lang="en-US" altLang="zh-CN" dirty="0" err="1"/>
              <a:t>Coinbase</a:t>
            </a:r>
            <a:r>
              <a:rPr lang="zh-CN" altLang="zh-CN" dirty="0"/>
              <a:t>账户中</a:t>
            </a:r>
            <a:r>
              <a:rPr lang="zh-CN" altLang="en-US" dirty="0"/>
              <a:t>。</a:t>
            </a:r>
            <a:endParaRPr lang="en-US" altLang="zh-CN" dirty="0"/>
          </a:p>
          <a:p>
            <a:pPr lvl="1">
              <a:lnSpc>
                <a:spcPct val="130000"/>
              </a:lnSpc>
            </a:pPr>
            <a:r>
              <a:rPr lang="zh-CN" altLang="zh-CN" dirty="0"/>
              <a:t>挖到区块的节点除了得到区块奖励外，还将得到运行以太坊智能合约的手续费。同样地，区块中也带有</a:t>
            </a:r>
            <a:r>
              <a:rPr lang="en-US" altLang="zh-CN" dirty="0" err="1"/>
              <a:t>GasLimit</a:t>
            </a:r>
            <a:r>
              <a:rPr lang="zh-CN" altLang="zh-CN" dirty="0"/>
              <a:t>和</a:t>
            </a:r>
            <a:r>
              <a:rPr lang="en-US" altLang="zh-CN" dirty="0" err="1"/>
              <a:t>GasUsed</a:t>
            </a:r>
            <a:r>
              <a:rPr lang="zh-CN" altLang="zh-CN" dirty="0"/>
              <a:t>字段。</a:t>
            </a:r>
          </a:p>
          <a:p>
            <a:pPr marL="457200" lvl="1" indent="0">
              <a:lnSpc>
                <a:spcPct val="130000"/>
              </a:lnSpc>
              <a:buNone/>
            </a:pPr>
            <a:endParaRPr lang="zh-CN" altLang="en-US" dirty="0"/>
          </a:p>
        </p:txBody>
      </p:sp>
    </p:spTree>
    <p:extLst>
      <p:ext uri="{BB962C8B-B14F-4D97-AF65-F5344CB8AC3E}">
        <p14:creationId xmlns:p14="http://schemas.microsoft.com/office/powerpoint/2010/main" val="1715851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交易费用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en-US" altLang="zh-CN" dirty="0"/>
              <a:t>Gas</a:t>
            </a:r>
            <a:r>
              <a:rPr lang="zh-CN" altLang="en-US" dirty="0"/>
              <a:t>的弊端</a:t>
            </a:r>
            <a:endParaRPr lang="en-US" altLang="zh-CN" dirty="0"/>
          </a:p>
          <a:p>
            <a:pPr lvl="1">
              <a:lnSpc>
                <a:spcPct val="130000"/>
              </a:lnSpc>
            </a:pPr>
            <a:r>
              <a:rPr lang="zh-CN" altLang="zh-CN" dirty="0"/>
              <a:t>以太坊虚拟机的每个操作的定价是以太坊社区的开发者决定的，定价的合理性也时常受到质疑。在以太坊两百多万的区块高度上，曾经出现过针对</a:t>
            </a:r>
            <a:r>
              <a:rPr lang="en-US" altLang="zh-CN" dirty="0"/>
              <a:t>Gas</a:t>
            </a:r>
            <a:r>
              <a:rPr lang="zh-CN" altLang="zh-CN" dirty="0"/>
              <a:t>定价不合理的攻击</a:t>
            </a:r>
            <a:r>
              <a:rPr lang="zh-CN" altLang="en-US" dirty="0"/>
              <a:t>。</a:t>
            </a:r>
          </a:p>
        </p:txBody>
      </p:sp>
    </p:spTree>
    <p:extLst>
      <p:ext uri="{BB962C8B-B14F-4D97-AF65-F5344CB8AC3E}">
        <p14:creationId xmlns:p14="http://schemas.microsoft.com/office/powerpoint/2010/main" val="829923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交易的周期</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以太坊交易周期</a:t>
            </a:r>
            <a:endParaRPr lang="en-US" altLang="zh-CN" dirty="0"/>
          </a:p>
          <a:p>
            <a:pPr lvl="1">
              <a:lnSpc>
                <a:spcPct val="130000"/>
              </a:lnSpc>
            </a:pPr>
            <a:r>
              <a:rPr lang="zh-CN" altLang="en-US" dirty="0"/>
              <a:t>发起</a:t>
            </a:r>
            <a:endParaRPr lang="en-US" altLang="zh-CN" dirty="0"/>
          </a:p>
          <a:p>
            <a:pPr lvl="1">
              <a:lnSpc>
                <a:spcPct val="130000"/>
              </a:lnSpc>
            </a:pPr>
            <a:r>
              <a:rPr lang="zh-CN" altLang="en-US" dirty="0"/>
              <a:t>广播</a:t>
            </a:r>
            <a:endParaRPr lang="en-US" altLang="zh-CN" dirty="0"/>
          </a:p>
          <a:p>
            <a:pPr lvl="1">
              <a:lnSpc>
                <a:spcPct val="130000"/>
              </a:lnSpc>
            </a:pPr>
            <a:r>
              <a:rPr lang="zh-CN" altLang="en-US" dirty="0"/>
              <a:t>打包与执行</a:t>
            </a:r>
            <a:endParaRPr lang="en-US" altLang="zh-CN" dirty="0"/>
          </a:p>
          <a:p>
            <a:pPr lvl="1">
              <a:lnSpc>
                <a:spcPct val="130000"/>
              </a:lnSpc>
            </a:pPr>
            <a:r>
              <a:rPr lang="zh-CN" altLang="en-US" dirty="0"/>
              <a:t>验证与执行</a:t>
            </a:r>
            <a:endParaRPr lang="en-US" altLang="zh-CN" dirty="0"/>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277684" y="2710952"/>
            <a:ext cx="5803095" cy="2186305"/>
          </a:xfrm>
          <a:prstGeom prst="rect">
            <a:avLst/>
          </a:prstGeom>
          <a:noFill/>
          <a:ln>
            <a:noFill/>
          </a:ln>
        </p:spPr>
      </p:pic>
      <p:sp>
        <p:nvSpPr>
          <p:cNvPr id="5" name="文本框 4"/>
          <p:cNvSpPr txBox="1"/>
          <p:nvPr/>
        </p:nvSpPr>
        <p:spPr>
          <a:xfrm>
            <a:off x="7972425" y="5002266"/>
            <a:ext cx="1261884" cy="276999"/>
          </a:xfrm>
          <a:prstGeom prst="rect">
            <a:avLst/>
          </a:prstGeom>
          <a:noFill/>
        </p:spPr>
        <p:txBody>
          <a:bodyPr wrap="none" rtlCol="0">
            <a:spAutoFit/>
          </a:bodyPr>
          <a:lstStyle/>
          <a:p>
            <a:r>
              <a:rPr lang="zh-CN" altLang="en-US" sz="1200" dirty="0"/>
              <a:t>以太坊交易周期</a:t>
            </a:r>
          </a:p>
        </p:txBody>
      </p:sp>
    </p:spTree>
    <p:extLst>
      <p:ext uri="{BB962C8B-B14F-4D97-AF65-F5344CB8AC3E}">
        <p14:creationId xmlns:p14="http://schemas.microsoft.com/office/powerpoint/2010/main" val="4220734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发起</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lnSpcReduction="20000"/>
          </a:bodyPr>
          <a:lstStyle/>
          <a:p>
            <a:pPr>
              <a:lnSpc>
                <a:spcPct val="130000"/>
              </a:lnSpc>
            </a:pPr>
            <a:r>
              <a:rPr lang="zh-CN" altLang="en-US" dirty="0"/>
              <a:t>发起</a:t>
            </a:r>
            <a:endParaRPr lang="en-US" altLang="zh-CN" dirty="0"/>
          </a:p>
          <a:p>
            <a:pPr lvl="1">
              <a:lnSpc>
                <a:spcPct val="130000"/>
              </a:lnSpc>
            </a:pPr>
            <a:r>
              <a:rPr lang="zh-CN" altLang="en-US" dirty="0"/>
              <a:t>设定交易内容</a:t>
            </a:r>
            <a:endParaRPr lang="en-US" altLang="zh-CN" dirty="0"/>
          </a:p>
          <a:p>
            <a:pPr lvl="2">
              <a:lnSpc>
                <a:spcPct val="130000"/>
              </a:lnSpc>
            </a:pPr>
            <a:r>
              <a:rPr lang="zh-TW" altLang="zh-CN" dirty="0"/>
              <a:t>用户在本地的以太坊钱包软件中选择要发送交易的地址（</a:t>
            </a:r>
            <a:r>
              <a:rPr lang="en-US" altLang="zh-CN" dirty="0"/>
              <a:t>from</a:t>
            </a:r>
            <a:r>
              <a:rPr lang="zh-TW" altLang="zh-CN" dirty="0"/>
              <a:t>），输入目标地址（</a:t>
            </a:r>
            <a:r>
              <a:rPr lang="en-US" altLang="zh-CN" dirty="0"/>
              <a:t>to</a:t>
            </a:r>
            <a:r>
              <a:rPr lang="zh-TW" altLang="zh-CN" dirty="0"/>
              <a:t>）、金额（</a:t>
            </a:r>
            <a:r>
              <a:rPr lang="en-US" altLang="zh-CN" dirty="0"/>
              <a:t>value</a:t>
            </a:r>
            <a:r>
              <a:rPr lang="zh-TW" altLang="zh-CN" dirty="0"/>
              <a:t>）、是否部署或调用合约（</a:t>
            </a:r>
            <a:r>
              <a:rPr lang="en-US" altLang="zh-CN" dirty="0"/>
              <a:t>data</a:t>
            </a:r>
            <a:r>
              <a:rPr lang="zh-TW" altLang="zh-CN" dirty="0"/>
              <a:t>）、手续费单价（</a:t>
            </a:r>
            <a:r>
              <a:rPr lang="en-US" altLang="zh-CN" dirty="0" err="1"/>
              <a:t>gasPrice</a:t>
            </a:r>
            <a:r>
              <a:rPr lang="zh-TW" altLang="zh-CN" dirty="0"/>
              <a:t>）等</a:t>
            </a:r>
            <a:endParaRPr lang="en-US" altLang="zh-TW" dirty="0"/>
          </a:p>
          <a:p>
            <a:pPr lvl="1">
              <a:lnSpc>
                <a:spcPct val="130000"/>
              </a:lnSpc>
            </a:pPr>
            <a:r>
              <a:rPr lang="zh-CN" altLang="en-US" dirty="0"/>
              <a:t>发起交易</a:t>
            </a:r>
            <a:endParaRPr lang="en-US" altLang="zh-CN" dirty="0"/>
          </a:p>
          <a:p>
            <a:pPr lvl="2">
              <a:lnSpc>
                <a:spcPct val="130000"/>
              </a:lnSpc>
            </a:pPr>
            <a:r>
              <a:rPr lang="zh-CN" altLang="en-US" dirty="0"/>
              <a:t>用户</a:t>
            </a:r>
            <a:r>
              <a:rPr lang="zh-TW" altLang="zh-CN" dirty="0"/>
              <a:t>确认发送至以太坊节点，多个用户各自保有钱包私钥，而通过同一个以太坊节点广播交易</a:t>
            </a:r>
            <a:endParaRPr lang="en-US" altLang="zh-TW" dirty="0"/>
          </a:p>
          <a:p>
            <a:pPr lvl="1">
              <a:lnSpc>
                <a:spcPct val="130000"/>
              </a:lnSpc>
            </a:pPr>
            <a:r>
              <a:rPr lang="zh-CN" altLang="en-US" dirty="0"/>
              <a:t>以太坊钱包软件补充内容</a:t>
            </a:r>
            <a:endParaRPr lang="en-US" altLang="zh-CN" dirty="0"/>
          </a:p>
          <a:p>
            <a:pPr lvl="2">
              <a:lnSpc>
                <a:spcPct val="130000"/>
              </a:lnSpc>
            </a:pPr>
            <a:r>
              <a:rPr lang="zh-TW" altLang="zh-CN" dirty="0"/>
              <a:t>以太坊钱包软件将自动为用户得出交易所需的燃料上限（</a:t>
            </a:r>
            <a:r>
              <a:rPr lang="en-US" altLang="zh-CN" dirty="0" err="1"/>
              <a:t>gasLimit</a:t>
            </a:r>
            <a:r>
              <a:rPr lang="zh-TW" altLang="zh-CN" dirty="0"/>
              <a:t>），并给出用户地址对应的</a:t>
            </a:r>
            <a:r>
              <a:rPr lang="en-US" altLang="zh-CN" dirty="0"/>
              <a:t>nonce</a:t>
            </a:r>
            <a:r>
              <a:rPr lang="zh-TW" altLang="zh-CN" dirty="0"/>
              <a:t>值，最后使用私钥得到</a:t>
            </a:r>
            <a:r>
              <a:rPr lang="en-US" altLang="zh-CN" dirty="0"/>
              <a:t>r</a:t>
            </a:r>
            <a:r>
              <a:rPr lang="zh-TW" altLang="zh-CN" dirty="0"/>
              <a:t>、</a:t>
            </a:r>
            <a:r>
              <a:rPr lang="en-US" altLang="zh-CN" dirty="0"/>
              <a:t>s</a:t>
            </a:r>
            <a:r>
              <a:rPr lang="zh-TW" altLang="zh-CN" dirty="0"/>
              <a:t>、</a:t>
            </a:r>
            <a:r>
              <a:rPr lang="en-US" altLang="zh-CN" dirty="0"/>
              <a:t>v</a:t>
            </a:r>
            <a:r>
              <a:rPr lang="zh-TW" altLang="zh-CN" dirty="0"/>
              <a:t>，最终将交易序列化后发送到网络中</a:t>
            </a:r>
            <a:endParaRPr lang="en-US" altLang="zh-TW" dirty="0"/>
          </a:p>
          <a:p>
            <a:pPr lvl="2">
              <a:lnSpc>
                <a:spcPct val="130000"/>
              </a:lnSpc>
            </a:pPr>
            <a:r>
              <a:rPr lang="zh-TW" altLang="zh-CN" dirty="0"/>
              <a:t>部分客户端中，</a:t>
            </a:r>
            <a:r>
              <a:rPr lang="en-US" altLang="zh-CN" dirty="0" err="1"/>
              <a:t>gasLimit</a:t>
            </a:r>
            <a:r>
              <a:rPr lang="zh-TW" altLang="zh-CN" dirty="0"/>
              <a:t>与</a:t>
            </a:r>
            <a:r>
              <a:rPr lang="en-US" altLang="zh-CN" dirty="0"/>
              <a:t>nonce</a:t>
            </a:r>
            <a:r>
              <a:rPr lang="zh-TW" altLang="zh-CN" dirty="0"/>
              <a:t>也可以是用户自定义的。</a:t>
            </a:r>
            <a:endParaRPr lang="en-US" altLang="zh-CN" dirty="0"/>
          </a:p>
        </p:txBody>
      </p:sp>
    </p:spTree>
    <p:extLst>
      <p:ext uri="{BB962C8B-B14F-4D97-AF65-F5344CB8AC3E}">
        <p14:creationId xmlns:p14="http://schemas.microsoft.com/office/powerpoint/2010/main" val="33906450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广播</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广播</a:t>
            </a:r>
            <a:endParaRPr lang="en-US" altLang="zh-CN" dirty="0"/>
          </a:p>
          <a:p>
            <a:pPr lvl="1">
              <a:lnSpc>
                <a:spcPct val="130000"/>
              </a:lnSpc>
            </a:pPr>
            <a:r>
              <a:rPr lang="zh-TW" altLang="zh-CN" dirty="0"/>
              <a:t>节点收到（或自己发起）交易后，对交易进行验证</a:t>
            </a:r>
            <a:r>
              <a:rPr lang="zh-CN" altLang="zh-CN" dirty="0"/>
              <a:t> </a:t>
            </a:r>
            <a:endParaRPr lang="en-US" altLang="zh-CN" dirty="0"/>
          </a:p>
          <a:p>
            <a:pPr lvl="1">
              <a:lnSpc>
                <a:spcPct val="130000"/>
              </a:lnSpc>
            </a:pPr>
            <a:r>
              <a:rPr lang="zh-TW" altLang="zh-CN" dirty="0"/>
              <a:t>节点验证交易为合法交易后，将交易加入节点的交易池中</a:t>
            </a:r>
            <a:r>
              <a:rPr lang="zh-CN" altLang="zh-CN" dirty="0"/>
              <a:t> </a:t>
            </a:r>
            <a:endParaRPr lang="en-US" altLang="zh-CN" dirty="0"/>
          </a:p>
          <a:p>
            <a:pPr lvl="1">
              <a:lnSpc>
                <a:spcPct val="130000"/>
              </a:lnSpc>
            </a:pPr>
            <a:r>
              <a:rPr lang="zh-TW" altLang="zh-CN" dirty="0"/>
              <a:t>节点验证交易通过后，除了加入节点的交易池中，还会根据</a:t>
            </a:r>
            <a:r>
              <a:rPr lang="en-US" altLang="zh-CN" dirty="0"/>
              <a:t>P2P</a:t>
            </a:r>
            <a:r>
              <a:rPr lang="zh-TW" altLang="zh-CN" dirty="0"/>
              <a:t>网络广播的策略向相邻节点继续广播该交易</a:t>
            </a:r>
            <a:endParaRPr lang="zh-CN" altLang="zh-CN" dirty="0"/>
          </a:p>
        </p:txBody>
      </p:sp>
    </p:spTree>
    <p:extLst>
      <p:ext uri="{BB962C8B-B14F-4D97-AF65-F5344CB8AC3E}">
        <p14:creationId xmlns:p14="http://schemas.microsoft.com/office/powerpoint/2010/main" val="6230252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打包与执行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打包与执行</a:t>
            </a:r>
            <a:endParaRPr lang="en-US" altLang="zh-CN" dirty="0"/>
          </a:p>
          <a:p>
            <a:pPr lvl="1">
              <a:lnSpc>
                <a:spcPct val="130000"/>
              </a:lnSpc>
            </a:pPr>
            <a:r>
              <a:rPr lang="zh-TW" altLang="zh-CN" dirty="0"/>
              <a:t>交易进入内存池后，具有挖矿功能的全节点，开始打包下一个区块</a:t>
            </a:r>
            <a:r>
              <a:rPr lang="zh-CN" altLang="zh-CN" dirty="0"/>
              <a:t> </a:t>
            </a:r>
            <a:endParaRPr lang="en-US" altLang="zh-CN" dirty="0"/>
          </a:p>
          <a:p>
            <a:pPr lvl="1">
              <a:lnSpc>
                <a:spcPct val="130000"/>
              </a:lnSpc>
            </a:pPr>
            <a:r>
              <a:rPr lang="zh-TW" altLang="zh-CN" dirty="0"/>
              <a:t>节点将交易打包时，对交易进行逐个执行</a:t>
            </a:r>
            <a:r>
              <a:rPr lang="zh-CN" altLang="en-US" dirty="0"/>
              <a:t>，</a:t>
            </a:r>
            <a:r>
              <a:rPr lang="zh-TW" altLang="zh-CN" dirty="0"/>
              <a:t>每笔以太坊交易都是对以太坊状态的修改</a:t>
            </a:r>
            <a:endParaRPr lang="en-US" altLang="zh-TW" dirty="0"/>
          </a:p>
          <a:p>
            <a:pPr lvl="1">
              <a:lnSpc>
                <a:spcPct val="130000"/>
              </a:lnSpc>
            </a:pPr>
            <a:r>
              <a:rPr lang="zh-TW" altLang="zh-CN" dirty="0"/>
              <a:t>在所有需要打包的交易执行后，交易、状态以及收据的信息也会打包到区块中</a:t>
            </a:r>
            <a:endParaRPr lang="en-US" altLang="zh-TW" dirty="0"/>
          </a:p>
          <a:p>
            <a:pPr lvl="1">
              <a:lnSpc>
                <a:spcPct val="130000"/>
              </a:lnSpc>
            </a:pPr>
            <a:r>
              <a:rPr lang="zh-TW" altLang="zh-CN" dirty="0"/>
              <a:t>记账节点在打包交易并获得合法的区块后，将区块（包含交易数据）广播到网络中的相邻节点</a:t>
            </a:r>
            <a:endParaRPr lang="zh-CN" altLang="zh-CN" dirty="0"/>
          </a:p>
          <a:p>
            <a:pPr lvl="1">
              <a:lnSpc>
                <a:spcPct val="130000"/>
              </a:lnSpc>
            </a:pPr>
            <a:endParaRPr lang="zh-CN" altLang="zh-CN" dirty="0"/>
          </a:p>
        </p:txBody>
      </p:sp>
    </p:spTree>
    <p:extLst>
      <p:ext uri="{BB962C8B-B14F-4D97-AF65-F5344CB8AC3E}">
        <p14:creationId xmlns:p14="http://schemas.microsoft.com/office/powerpoint/2010/main" val="3549173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打包与执行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交易类型：</a:t>
            </a:r>
            <a:r>
              <a:rPr lang="zh-TW" altLang="zh-CN" dirty="0"/>
              <a:t>根据</a:t>
            </a:r>
            <a:r>
              <a:rPr lang="en-US" altLang="zh-CN" dirty="0"/>
              <a:t>to</a:t>
            </a:r>
            <a:r>
              <a:rPr lang="zh-TW" altLang="zh-CN" dirty="0"/>
              <a:t>值的不同，将交易分为</a:t>
            </a:r>
            <a:r>
              <a:rPr lang="en-US" altLang="zh-CN" dirty="0"/>
              <a:t>3</a:t>
            </a:r>
            <a:r>
              <a:rPr lang="zh-CN" altLang="en-US" dirty="0"/>
              <a:t>种执行类型</a:t>
            </a:r>
            <a:endParaRPr lang="zh-CN" altLang="zh-CN" dirty="0"/>
          </a:p>
          <a:p>
            <a:pPr lvl="1">
              <a:lnSpc>
                <a:spcPct val="130000"/>
              </a:lnSpc>
            </a:pPr>
            <a:r>
              <a:rPr lang="zh-TW" altLang="zh-CN" dirty="0"/>
              <a:t>创建合约交易</a:t>
            </a:r>
            <a:endParaRPr lang="en-US" altLang="zh-TW" dirty="0"/>
          </a:p>
          <a:p>
            <a:pPr lvl="1">
              <a:lnSpc>
                <a:spcPct val="130000"/>
              </a:lnSpc>
            </a:pPr>
            <a:r>
              <a:rPr lang="zh-CN" altLang="en-US" dirty="0"/>
              <a:t>调用合约交易 </a:t>
            </a:r>
            <a:endParaRPr lang="en-US" altLang="zh-CN" dirty="0"/>
          </a:p>
          <a:p>
            <a:pPr lvl="1">
              <a:lnSpc>
                <a:spcPct val="130000"/>
              </a:lnSpc>
            </a:pPr>
            <a:r>
              <a:rPr lang="zh-TW" altLang="zh-CN" dirty="0"/>
              <a:t>普通转账交易</a:t>
            </a:r>
            <a:r>
              <a:rPr lang="zh-CN" altLang="zh-CN" dirty="0"/>
              <a:t> </a:t>
            </a:r>
          </a:p>
        </p:txBody>
      </p:sp>
    </p:spTree>
    <p:extLst>
      <p:ext uri="{BB962C8B-B14F-4D97-AF65-F5344CB8AC3E}">
        <p14:creationId xmlns:p14="http://schemas.microsoft.com/office/powerpoint/2010/main" val="865571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打包与执行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TW" altLang="zh-CN" dirty="0"/>
              <a:t>创建合约交易</a:t>
            </a:r>
            <a:r>
              <a:rPr lang="zh-CN" altLang="en-US" dirty="0"/>
              <a:t>：</a:t>
            </a:r>
            <a:r>
              <a:rPr lang="en-US" altLang="zh-CN" dirty="0"/>
              <a:t> to</a:t>
            </a:r>
            <a:r>
              <a:rPr lang="zh-TW" altLang="zh-CN" dirty="0"/>
              <a:t>为空的交易</a:t>
            </a:r>
            <a:r>
              <a:rPr lang="zh-CN" altLang="zh-CN" dirty="0"/>
              <a:t> </a:t>
            </a:r>
            <a:endParaRPr lang="en-US" altLang="zh-CN" dirty="0">
              <a:solidFill>
                <a:srgbClr val="C00000"/>
              </a:solidFill>
            </a:endParaRPr>
          </a:p>
          <a:p>
            <a:pPr lvl="1">
              <a:lnSpc>
                <a:spcPct val="130000"/>
              </a:lnSpc>
            </a:pPr>
            <a:r>
              <a:rPr lang="en-US" altLang="zh-CN" dirty="0"/>
              <a:t>EVM</a:t>
            </a:r>
            <a:r>
              <a:rPr lang="zh-TW" altLang="zh-CN" dirty="0"/>
              <a:t>根据</a:t>
            </a:r>
            <a:r>
              <a:rPr lang="en-US" altLang="zh-CN" dirty="0"/>
              <a:t>from</a:t>
            </a:r>
            <a:r>
              <a:rPr lang="zh-TW" altLang="zh-CN" dirty="0"/>
              <a:t>值及</a:t>
            </a:r>
            <a:r>
              <a:rPr lang="en-US" altLang="zh-CN" dirty="0"/>
              <a:t>nonce</a:t>
            </a:r>
            <a:r>
              <a:rPr lang="zh-TW" altLang="zh-CN" dirty="0"/>
              <a:t>值生成合约地址</a:t>
            </a:r>
            <a:endParaRPr lang="en-US" altLang="zh-TW" dirty="0"/>
          </a:p>
          <a:p>
            <a:pPr lvl="1">
              <a:lnSpc>
                <a:spcPct val="130000"/>
              </a:lnSpc>
            </a:pPr>
            <a:r>
              <a:rPr lang="zh-TW" altLang="zh-CN" dirty="0"/>
              <a:t>执行</a:t>
            </a:r>
            <a:r>
              <a:rPr lang="en-US" altLang="zh-CN" dirty="0"/>
              <a:t>data</a:t>
            </a:r>
            <a:r>
              <a:rPr lang="zh-TW" altLang="zh-CN" dirty="0"/>
              <a:t>中对应的智能合约代码</a:t>
            </a:r>
            <a:endParaRPr lang="en-US" altLang="zh-TW" dirty="0"/>
          </a:p>
          <a:p>
            <a:pPr lvl="1">
              <a:lnSpc>
                <a:spcPct val="130000"/>
              </a:lnSpc>
            </a:pPr>
            <a:r>
              <a:rPr lang="zh-TW" altLang="zh-CN" dirty="0"/>
              <a:t>将合约</a:t>
            </a:r>
            <a:r>
              <a:rPr lang="en-US" altLang="zh-CN" dirty="0"/>
              <a:t>EVM</a:t>
            </a:r>
            <a:r>
              <a:rPr lang="zh-TW" altLang="zh-CN" dirty="0"/>
              <a:t>代码存储到合约地址中</a:t>
            </a:r>
            <a:r>
              <a:rPr lang="zh-CN" altLang="zh-CN" dirty="0"/>
              <a:t> </a:t>
            </a:r>
          </a:p>
        </p:txBody>
      </p:sp>
    </p:spTree>
    <p:extLst>
      <p:ext uri="{BB962C8B-B14F-4D97-AF65-F5344CB8AC3E}">
        <p14:creationId xmlns:p14="http://schemas.microsoft.com/office/powerpoint/2010/main" val="15725758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打包与执行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调用合约交易：</a:t>
            </a:r>
            <a:r>
              <a:rPr lang="en-US" altLang="zh-CN" dirty="0"/>
              <a:t>to</a:t>
            </a:r>
            <a:r>
              <a:rPr lang="zh-TW" altLang="zh-CN" dirty="0"/>
              <a:t>为合约账户的交易</a:t>
            </a:r>
            <a:endParaRPr lang="en-US" altLang="zh-TW" dirty="0"/>
          </a:p>
          <a:p>
            <a:pPr lvl="1">
              <a:lnSpc>
                <a:spcPct val="130000"/>
              </a:lnSpc>
            </a:pPr>
            <a:r>
              <a:rPr lang="en-US" altLang="zh-CN" dirty="0"/>
              <a:t>EVM</a:t>
            </a:r>
            <a:r>
              <a:rPr lang="zh-TW" altLang="zh-CN" dirty="0"/>
              <a:t>将从世界状态中获取</a:t>
            </a:r>
            <a:r>
              <a:rPr lang="en-US" altLang="zh-CN" dirty="0"/>
              <a:t>to</a:t>
            </a:r>
            <a:r>
              <a:rPr lang="zh-TW" altLang="zh-CN" dirty="0"/>
              <a:t>地址中存储的</a:t>
            </a:r>
            <a:r>
              <a:rPr lang="en-US" altLang="zh-CN" dirty="0"/>
              <a:t>EVM</a:t>
            </a:r>
            <a:r>
              <a:rPr lang="zh-TW" altLang="zh-CN" dirty="0"/>
              <a:t>代码</a:t>
            </a:r>
            <a:endParaRPr lang="en-US" altLang="zh-TW" dirty="0"/>
          </a:p>
          <a:p>
            <a:pPr lvl="2">
              <a:lnSpc>
                <a:spcPct val="130000"/>
              </a:lnSpc>
            </a:pPr>
            <a:r>
              <a:rPr lang="en-US" altLang="zh-CN" dirty="0"/>
              <a:t>to</a:t>
            </a:r>
            <a:r>
              <a:rPr lang="zh-TW" altLang="zh-CN" dirty="0"/>
              <a:t>地址中存储的是合约本身</a:t>
            </a:r>
            <a:endParaRPr lang="en-US" altLang="zh-TW" dirty="0"/>
          </a:p>
          <a:p>
            <a:pPr lvl="1">
              <a:lnSpc>
                <a:spcPct val="130000"/>
              </a:lnSpc>
            </a:pPr>
            <a:r>
              <a:rPr lang="zh-TW" altLang="zh-CN" dirty="0"/>
              <a:t>执行交易的</a:t>
            </a:r>
            <a:r>
              <a:rPr lang="en-US" altLang="zh-CN" dirty="0"/>
              <a:t>data</a:t>
            </a:r>
            <a:r>
              <a:rPr lang="zh-TW" altLang="zh-CN" dirty="0"/>
              <a:t>字段中包含的代码</a:t>
            </a:r>
            <a:endParaRPr lang="en-US" altLang="zh-TW" dirty="0"/>
          </a:p>
          <a:p>
            <a:pPr lvl="2">
              <a:lnSpc>
                <a:spcPct val="130000"/>
              </a:lnSpc>
            </a:pPr>
            <a:r>
              <a:rPr lang="en-US" altLang="zh-CN" dirty="0"/>
              <a:t>data</a:t>
            </a:r>
            <a:r>
              <a:rPr lang="zh-TW" altLang="zh-CN" dirty="0"/>
              <a:t>中则包含了调用合约的相应函数及其参数</a:t>
            </a:r>
            <a:endParaRPr lang="en-US" altLang="zh-TW" dirty="0"/>
          </a:p>
          <a:p>
            <a:pPr lvl="1">
              <a:lnSpc>
                <a:spcPct val="130000"/>
              </a:lnSpc>
            </a:pPr>
            <a:r>
              <a:rPr lang="zh-TW" altLang="zh-CN" dirty="0"/>
              <a:t>本质上讲，对合约的调用，是对合约状态的修改。</a:t>
            </a:r>
            <a:r>
              <a:rPr lang="zh-CN" altLang="zh-CN" dirty="0"/>
              <a:t> </a:t>
            </a:r>
            <a:endParaRPr lang="en-US" altLang="zh-TW" dirty="0"/>
          </a:p>
          <a:p>
            <a:pPr marL="457200" lvl="1" indent="0">
              <a:lnSpc>
                <a:spcPct val="130000"/>
              </a:lnSpc>
              <a:buNone/>
            </a:pPr>
            <a:endParaRPr lang="en-US" altLang="zh-TW" dirty="0"/>
          </a:p>
        </p:txBody>
      </p:sp>
    </p:spTree>
    <p:extLst>
      <p:ext uri="{BB962C8B-B14F-4D97-AF65-F5344CB8AC3E}">
        <p14:creationId xmlns:p14="http://schemas.microsoft.com/office/powerpoint/2010/main" val="21389068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打包与执行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TW" altLang="zh-CN" dirty="0"/>
              <a:t>普通转账交易：</a:t>
            </a:r>
            <a:r>
              <a:rPr lang="en-US" altLang="zh-CN" dirty="0"/>
              <a:t>to</a:t>
            </a:r>
            <a:r>
              <a:rPr lang="zh-TW" altLang="zh-CN" dirty="0"/>
              <a:t>为外部账户的交易</a:t>
            </a:r>
            <a:endParaRPr lang="en-US" altLang="zh-TW" dirty="0"/>
          </a:p>
          <a:p>
            <a:pPr lvl="1">
              <a:lnSpc>
                <a:spcPct val="130000"/>
              </a:lnSpc>
            </a:pPr>
            <a:r>
              <a:rPr lang="zh-TW" altLang="zh-CN" dirty="0"/>
              <a:t>直接将以太币金额从</a:t>
            </a:r>
            <a:r>
              <a:rPr lang="en-US" altLang="zh-CN" dirty="0"/>
              <a:t>from</a:t>
            </a:r>
            <a:r>
              <a:rPr lang="zh-TW" altLang="zh-CN" dirty="0"/>
              <a:t>转到</a:t>
            </a:r>
            <a:r>
              <a:rPr lang="en-US" altLang="zh-CN" dirty="0"/>
              <a:t>to</a:t>
            </a:r>
            <a:r>
              <a:rPr lang="zh-TW" altLang="zh-CN" dirty="0"/>
              <a:t>。</a:t>
            </a:r>
            <a:endParaRPr lang="zh-CN" altLang="zh-CN" dirty="0"/>
          </a:p>
        </p:txBody>
      </p:sp>
    </p:spTree>
    <p:extLst>
      <p:ext uri="{BB962C8B-B14F-4D97-AF65-F5344CB8AC3E}">
        <p14:creationId xmlns:p14="http://schemas.microsoft.com/office/powerpoint/2010/main" val="12217897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验证与执行</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验证与执行</a:t>
            </a:r>
            <a:endParaRPr lang="en-US" altLang="zh-CN" dirty="0"/>
          </a:p>
          <a:p>
            <a:pPr lvl="1"/>
            <a:r>
              <a:rPr lang="zh-TW" altLang="zh-CN" dirty="0"/>
              <a:t>没有获得记账权的节点，在收到广播的区块后，对区块进行合法性的验证，并进行交易的执行</a:t>
            </a:r>
            <a:endParaRPr lang="en-US" altLang="zh-TW" dirty="0"/>
          </a:p>
          <a:p>
            <a:pPr lvl="1"/>
            <a:r>
              <a:rPr lang="zh-TW" altLang="zh-CN" dirty="0"/>
              <a:t>验证的内容与执行的过程与</a:t>
            </a:r>
            <a:r>
              <a:rPr lang="en-US" altLang="zh-CN" dirty="0"/>
              <a:t>2</a:t>
            </a:r>
            <a:r>
              <a:rPr lang="zh-TW" altLang="zh-CN" dirty="0"/>
              <a:t>、</a:t>
            </a:r>
            <a:r>
              <a:rPr lang="en-US" altLang="zh-CN" dirty="0"/>
              <a:t>3</a:t>
            </a:r>
            <a:r>
              <a:rPr lang="zh-TW" altLang="zh-CN" dirty="0"/>
              <a:t>中的相同</a:t>
            </a:r>
            <a:r>
              <a:rPr lang="zh-CN" altLang="en-US" dirty="0"/>
              <a:t>，</a:t>
            </a:r>
            <a:r>
              <a:rPr lang="zh-TW" altLang="zh-CN" dirty="0"/>
              <a:t>保证智能合约执行的去中心化</a:t>
            </a:r>
            <a:endParaRPr lang="zh-CN" altLang="zh-CN" dirty="0"/>
          </a:p>
          <a:p>
            <a:pPr lvl="2">
              <a:lnSpc>
                <a:spcPct val="130000"/>
              </a:lnSpc>
            </a:pPr>
            <a:endParaRPr lang="zh-CN" altLang="zh-CN" dirty="0"/>
          </a:p>
        </p:txBody>
      </p:sp>
    </p:spTree>
    <p:extLst>
      <p:ext uri="{BB962C8B-B14F-4D97-AF65-F5344CB8AC3E}">
        <p14:creationId xmlns:p14="http://schemas.microsoft.com/office/powerpoint/2010/main" val="4222318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以太坊简介</a:t>
            </a:r>
            <a:endParaRPr kumimoji="1" lang="en-US" altLang="zh-CN" dirty="0"/>
          </a:p>
          <a:p>
            <a:pPr marL="0" indent="0">
              <a:lnSpc>
                <a:spcPct val="130000"/>
              </a:lnSpc>
              <a:buNone/>
            </a:pPr>
            <a:r>
              <a:rPr kumimoji="1" lang="en-US" altLang="zh-CN" dirty="0"/>
              <a:t>1.2</a:t>
            </a:r>
            <a:r>
              <a:rPr kumimoji="1" lang="zh-CN" altLang="en-US" dirty="0"/>
              <a:t> 以太坊基本架构及原理</a:t>
            </a:r>
            <a:endParaRPr kumimoji="1" lang="en-US" altLang="zh-CN" dirty="0"/>
          </a:p>
          <a:p>
            <a:pPr marL="0" indent="0">
              <a:lnSpc>
                <a:spcPct val="130000"/>
              </a:lnSpc>
              <a:buNone/>
            </a:pPr>
            <a:r>
              <a:rPr kumimoji="1" lang="en-US" altLang="zh-CN" dirty="0"/>
              <a:t>1.3</a:t>
            </a:r>
            <a:r>
              <a:rPr kumimoji="1" lang="zh-CN" altLang="en-US" dirty="0"/>
              <a:t> 以太坊账户模型与转账</a:t>
            </a:r>
            <a:endParaRPr kumimoji="1" lang="en-US" altLang="zh-CN" dirty="0"/>
          </a:p>
          <a:p>
            <a:pPr marL="0" indent="0">
              <a:lnSpc>
                <a:spcPct val="130000"/>
              </a:lnSpc>
              <a:buNone/>
            </a:pPr>
            <a:r>
              <a:rPr kumimoji="1" lang="en-US" altLang="zh-CN" dirty="0"/>
              <a:t>1.4</a:t>
            </a:r>
            <a:r>
              <a:rPr kumimoji="1" lang="zh-CN" altLang="en-US" dirty="0"/>
              <a:t> 智能合约</a:t>
            </a:r>
            <a:endParaRPr kumimoji="1" lang="en-US" altLang="zh-CN" dirty="0"/>
          </a:p>
          <a:p>
            <a:pPr marL="0" indent="0">
              <a:lnSpc>
                <a:spcPct val="130000"/>
              </a:lnSpc>
              <a:buNone/>
            </a:pPr>
            <a:r>
              <a:rPr kumimoji="1" lang="en-US" altLang="zh-CN" dirty="0"/>
              <a:t>1.5</a:t>
            </a:r>
            <a:r>
              <a:rPr kumimoji="1" lang="zh-CN" altLang="en-US" dirty="0"/>
              <a:t> 以太坊交易</a:t>
            </a:r>
            <a:endParaRPr kumimoji="1" lang="en-US" altLang="zh-CN" dirty="0"/>
          </a:p>
          <a:p>
            <a:pPr marL="0" indent="0">
              <a:lnSpc>
                <a:spcPct val="130000"/>
              </a:lnSpc>
              <a:buNone/>
            </a:pPr>
            <a:r>
              <a:rPr kumimoji="1" lang="en-US" altLang="zh-CN" dirty="0">
                <a:solidFill>
                  <a:srgbClr val="C00000"/>
                </a:solidFill>
              </a:rPr>
              <a:t>1.6</a:t>
            </a:r>
            <a:r>
              <a:rPr kumimoji="1" lang="zh-CN" altLang="en-US" dirty="0">
                <a:solidFill>
                  <a:srgbClr val="C00000"/>
                </a:solidFill>
              </a:rPr>
              <a:t> 数据结构及存储</a:t>
            </a:r>
            <a:endParaRPr kumimoji="1" lang="en-US" altLang="zh-CN" dirty="0">
              <a:solidFill>
                <a:srgbClr val="C00000"/>
              </a:solidFill>
            </a:endParaRPr>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sp>
        <p:nvSpPr>
          <p:cNvPr id="6" name="矩形标注 6">
            <a:extLst>
              <a:ext uri="{FF2B5EF4-FFF2-40B4-BE49-F238E27FC236}">
                <a16:creationId xmlns:a16="http://schemas.microsoft.com/office/drawing/2014/main" id="{19D019F0-A28F-47A4-9260-6369B4464F0D}"/>
              </a:ext>
            </a:extLst>
          </p:cNvPr>
          <p:cNvSpPr/>
          <p:nvPr/>
        </p:nvSpPr>
        <p:spPr>
          <a:xfrm>
            <a:off x="7154092" y="3291840"/>
            <a:ext cx="4281889" cy="1737669"/>
          </a:xfrm>
          <a:prstGeom prst="wedgeRectCallout">
            <a:avLst>
              <a:gd name="adj1" fmla="val -94322"/>
              <a:gd name="adj2" fmla="val 4667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区块与叔块</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Merkle Patricia </a:t>
            </a:r>
            <a:r>
              <a:rPr kumimoji="1" lang="en-US" altLang="zh-CN" sz="2400" dirty="0" err="1">
                <a:solidFill>
                  <a:prstClr val="black"/>
                </a:solidFill>
                <a:latin typeface="Microsoft YaHei" panose="020B0503020204020204" pitchFamily="34" charset="-122"/>
                <a:ea typeface="Microsoft YaHei" panose="020B0503020204020204" pitchFamily="34" charset="-122"/>
              </a:rPr>
              <a:t>Trie</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布隆过滤器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24799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区块与叔块</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TW" altLang="zh-CN" dirty="0"/>
              <a:t>以太坊的区块同样是打包成一批执行的交易，它的数据结构同样分成了区块头和区块体。</a:t>
            </a:r>
            <a:r>
              <a:rPr lang="zh-CN" altLang="zh-CN" dirty="0"/>
              <a:t> </a:t>
            </a:r>
            <a:endParaRPr lang="en-US" altLang="zh-CN" dirty="0">
              <a:solidFill>
                <a:srgbClr val="C00000"/>
              </a:solidFill>
            </a:endParaRPr>
          </a:p>
        </p:txBody>
      </p:sp>
      <p:pic>
        <p:nvPicPr>
          <p:cNvPr id="9" name="图片 8">
            <a:extLst>
              <a:ext uri="{FF2B5EF4-FFF2-40B4-BE49-F238E27FC236}">
                <a16:creationId xmlns:a16="http://schemas.microsoft.com/office/drawing/2014/main" id="{BDD09948-4550-1D49-99DE-9DD7D49950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178126" y="3333732"/>
            <a:ext cx="7835748" cy="2893169"/>
          </a:xfrm>
          <a:prstGeom prst="rect">
            <a:avLst/>
          </a:prstGeom>
          <a:noFill/>
        </p:spPr>
      </p:pic>
    </p:spTree>
    <p:extLst>
      <p:ext uri="{BB962C8B-B14F-4D97-AF65-F5344CB8AC3E}">
        <p14:creationId xmlns:p14="http://schemas.microsoft.com/office/powerpoint/2010/main" val="24764078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区块与叔块</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以太坊区块头内容</a:t>
            </a:r>
            <a:endParaRPr lang="en-US" altLang="zh-CN" dirty="0"/>
          </a:p>
          <a:p>
            <a:pPr lvl="1">
              <a:lnSpc>
                <a:spcPct val="130000"/>
              </a:lnSpc>
            </a:pPr>
            <a:r>
              <a:rPr lang="zh-TW" altLang="zh-CN" dirty="0"/>
              <a:t>记录以太坊状态的状态根</a:t>
            </a:r>
            <a:r>
              <a:rPr lang="zh-CN" altLang="zh-CN" dirty="0"/>
              <a:t> </a:t>
            </a:r>
            <a:endParaRPr lang="en-US" altLang="zh-TW" dirty="0"/>
          </a:p>
          <a:p>
            <a:pPr lvl="1">
              <a:lnSpc>
                <a:spcPct val="130000"/>
              </a:lnSpc>
            </a:pPr>
            <a:r>
              <a:rPr lang="zh-CN" altLang="en-US" dirty="0"/>
              <a:t>交易列表、</a:t>
            </a:r>
            <a:r>
              <a:rPr lang="zh-TW" altLang="zh-CN" dirty="0"/>
              <a:t>收据列表和叔块列表对应的哈希值</a:t>
            </a:r>
            <a:r>
              <a:rPr lang="zh-CN" altLang="zh-CN" dirty="0"/>
              <a:t> </a:t>
            </a:r>
            <a:endParaRPr lang="en-US" altLang="zh-CN" dirty="0"/>
          </a:p>
          <a:p>
            <a:pPr lvl="1">
              <a:lnSpc>
                <a:spcPct val="130000"/>
              </a:lnSpc>
            </a:pPr>
            <a:r>
              <a:rPr lang="zh-TW" altLang="zh-CN" dirty="0"/>
              <a:t>最长不超过</a:t>
            </a:r>
            <a:r>
              <a:rPr lang="en-US" altLang="zh-CN" dirty="0"/>
              <a:t>100KB</a:t>
            </a:r>
            <a:r>
              <a:rPr lang="zh-TW" altLang="zh-CN" dirty="0"/>
              <a:t>的额外数据</a:t>
            </a:r>
            <a:r>
              <a:rPr lang="zh-CN" altLang="zh-CN" dirty="0"/>
              <a:t> </a:t>
            </a:r>
            <a:endParaRPr lang="en-US" altLang="zh-CN" dirty="0">
              <a:solidFill>
                <a:srgbClr val="C00000"/>
              </a:solidFill>
            </a:endParaRPr>
          </a:p>
          <a:p>
            <a:pPr>
              <a:lnSpc>
                <a:spcPct val="130000"/>
              </a:lnSpc>
            </a:pPr>
            <a:r>
              <a:rPr lang="zh-CN" altLang="en-US" dirty="0"/>
              <a:t>以太坊区块体内容</a:t>
            </a:r>
            <a:endParaRPr lang="en-US" altLang="zh-CN" dirty="0"/>
          </a:p>
          <a:p>
            <a:pPr lvl="1">
              <a:lnSpc>
                <a:spcPct val="130000"/>
              </a:lnSpc>
            </a:pPr>
            <a:r>
              <a:rPr lang="zh-TW" altLang="zh-CN" dirty="0"/>
              <a:t>交易组成的交易列表</a:t>
            </a:r>
            <a:r>
              <a:rPr lang="zh-CN" altLang="zh-CN" dirty="0"/>
              <a:t> </a:t>
            </a:r>
            <a:endParaRPr lang="en-US" altLang="zh-CN" dirty="0"/>
          </a:p>
          <a:p>
            <a:pPr lvl="1">
              <a:lnSpc>
                <a:spcPct val="130000"/>
              </a:lnSpc>
            </a:pPr>
            <a:r>
              <a:rPr lang="zh-TW" altLang="zh-CN" dirty="0"/>
              <a:t>由交易执行信息组成的收据列表</a:t>
            </a:r>
            <a:r>
              <a:rPr lang="zh-CN" altLang="zh-CN" dirty="0"/>
              <a:t> </a:t>
            </a:r>
            <a:endParaRPr lang="en-US" altLang="zh-CN" dirty="0"/>
          </a:p>
          <a:p>
            <a:pPr lvl="1">
              <a:lnSpc>
                <a:spcPct val="130000"/>
              </a:lnSpc>
            </a:pPr>
            <a:r>
              <a:rPr lang="zh-TW" altLang="zh-CN" dirty="0"/>
              <a:t>用于改进以太坊共识过程的叔块列表</a:t>
            </a:r>
            <a:r>
              <a:rPr lang="zh-CN" altLang="zh-CN" dirty="0"/>
              <a:t> </a:t>
            </a:r>
            <a:endParaRPr lang="en-US" altLang="zh-CN" dirty="0">
              <a:solidFill>
                <a:srgbClr val="C00000"/>
              </a:solidFill>
            </a:endParaRPr>
          </a:p>
        </p:txBody>
      </p:sp>
    </p:spTree>
    <p:extLst>
      <p:ext uri="{BB962C8B-B14F-4D97-AF65-F5344CB8AC3E}">
        <p14:creationId xmlns:p14="http://schemas.microsoft.com/office/powerpoint/2010/main" val="1913453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世界状态</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85000" lnSpcReduction="20000"/>
          </a:bodyPr>
          <a:lstStyle/>
          <a:p>
            <a:pPr>
              <a:lnSpc>
                <a:spcPct val="130000"/>
              </a:lnSpc>
            </a:pPr>
            <a:r>
              <a:rPr lang="zh-CN" altLang="en-US" dirty="0"/>
              <a:t>背景</a:t>
            </a:r>
            <a:endParaRPr lang="en-US" altLang="zh-CN" dirty="0"/>
          </a:p>
          <a:p>
            <a:pPr lvl="1">
              <a:lnSpc>
                <a:spcPct val="130000"/>
              </a:lnSpc>
            </a:pPr>
            <a:r>
              <a:rPr lang="zh-TW" altLang="zh-CN" dirty="0"/>
              <a:t>由于以太坊使用了状态模型，在区块中除了保存交易列表之外，还附带了当前区块中交易执行结束状态相关的信息</a:t>
            </a:r>
            <a:r>
              <a:rPr lang="zh-CN" altLang="zh-CN" dirty="0"/>
              <a:t> </a:t>
            </a:r>
            <a:endParaRPr lang="en-US" altLang="zh-CN" dirty="0"/>
          </a:p>
          <a:p>
            <a:pPr>
              <a:lnSpc>
                <a:spcPct val="130000"/>
              </a:lnSpc>
            </a:pPr>
            <a:r>
              <a:rPr lang="zh-CN" altLang="en-US" dirty="0"/>
              <a:t>定义</a:t>
            </a:r>
            <a:endParaRPr lang="en-US" altLang="zh-CN" dirty="0"/>
          </a:p>
          <a:p>
            <a:pPr lvl="1">
              <a:lnSpc>
                <a:spcPct val="130000"/>
              </a:lnSpc>
            </a:pPr>
            <a:r>
              <a:rPr lang="zh-TW" altLang="zh-CN" dirty="0"/>
              <a:t>在以太坊中账户内部存在着各自的状态，他们在特定交易下发生变化</a:t>
            </a:r>
            <a:r>
              <a:rPr lang="zh-CN" altLang="en-US" dirty="0"/>
              <a:t>，</a:t>
            </a:r>
            <a:r>
              <a:rPr lang="zh-TW" altLang="zh-CN" dirty="0"/>
              <a:t>将以太坊中所有存在的账户的状态全部汇总到一起，就可以得到一个全局的状态，它也被称作“世界状态</a:t>
            </a:r>
            <a:r>
              <a:rPr lang="zh-CN" altLang="en-US" dirty="0"/>
              <a:t>”</a:t>
            </a:r>
            <a:endParaRPr lang="en-US" altLang="zh-CN" dirty="0"/>
          </a:p>
          <a:p>
            <a:pPr>
              <a:lnSpc>
                <a:spcPct val="130000"/>
              </a:lnSpc>
            </a:pPr>
            <a:r>
              <a:rPr lang="zh-CN" altLang="en-US" dirty="0"/>
              <a:t>状态根</a:t>
            </a:r>
            <a:endParaRPr lang="en-US" altLang="zh-TW" dirty="0"/>
          </a:p>
          <a:p>
            <a:pPr lvl="1">
              <a:lnSpc>
                <a:spcPct val="130000"/>
              </a:lnSpc>
            </a:pPr>
            <a:r>
              <a:rPr lang="zh-TW" altLang="zh-CN" dirty="0"/>
              <a:t>在区块头中，保存了对世界状态的一个信息摘要，也就是状态的哈希值。这个状态的哈希值在区块头中被叫作状态根，这是因为状态根的计算是通过一个特殊的树状哈希数据结构来实现的，计算出来的哈希值处于这种树状哈希结构的根。</a:t>
            </a:r>
            <a:endParaRPr lang="zh-CN" altLang="zh-CN" dirty="0"/>
          </a:p>
          <a:p>
            <a:pPr lvl="1">
              <a:lnSpc>
                <a:spcPct val="130000"/>
              </a:lnSpc>
            </a:pPr>
            <a:endParaRPr lang="en-US" altLang="zh-CN" dirty="0">
              <a:solidFill>
                <a:srgbClr val="C00000"/>
              </a:solidFill>
            </a:endParaRPr>
          </a:p>
        </p:txBody>
      </p:sp>
    </p:spTree>
    <p:extLst>
      <p:ext uri="{BB962C8B-B14F-4D97-AF65-F5344CB8AC3E}">
        <p14:creationId xmlns:p14="http://schemas.microsoft.com/office/powerpoint/2010/main" val="19041403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叔块</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定义</a:t>
            </a:r>
            <a:endParaRPr lang="en-US" altLang="zh-CN" dirty="0"/>
          </a:p>
          <a:p>
            <a:pPr lvl="1">
              <a:lnSpc>
                <a:spcPct val="130000"/>
              </a:lnSpc>
            </a:pPr>
            <a:r>
              <a:rPr lang="zh-TW" altLang="zh-CN" dirty="0"/>
              <a:t>以太坊定义了不在主链但被主链区块记录的满足难度的区块为叔块。</a:t>
            </a:r>
            <a:r>
              <a:rPr lang="zh-CN" altLang="zh-CN" dirty="0"/>
              <a:t> </a:t>
            </a:r>
            <a:endParaRPr lang="en-US" altLang="zh-CN" dirty="0"/>
          </a:p>
          <a:p>
            <a:pPr>
              <a:lnSpc>
                <a:spcPct val="130000"/>
              </a:lnSpc>
            </a:pPr>
            <a:r>
              <a:rPr lang="zh-CN" altLang="en-US" dirty="0"/>
              <a:t>作用</a:t>
            </a:r>
            <a:endParaRPr lang="en-US" altLang="zh-CN" dirty="0"/>
          </a:p>
          <a:p>
            <a:pPr lvl="1">
              <a:lnSpc>
                <a:spcPct val="130000"/>
              </a:lnSpc>
            </a:pPr>
            <a:r>
              <a:rPr lang="zh-TW" altLang="zh-CN" dirty="0"/>
              <a:t>在尽可能减少两个相邻区块产生时间的条件下，尽量收缩和统一整个区块链的主链，同时通过叔块的激励来维护矿工的积极性。</a:t>
            </a:r>
            <a:r>
              <a:rPr lang="zh-CN" altLang="zh-CN" dirty="0"/>
              <a:t> </a:t>
            </a:r>
            <a:endParaRPr lang="en-US" altLang="zh-CN" dirty="0">
              <a:solidFill>
                <a:srgbClr val="C00000"/>
              </a:solidFill>
            </a:endParaRPr>
          </a:p>
        </p:txBody>
      </p:sp>
    </p:spTree>
    <p:extLst>
      <p:ext uri="{BB962C8B-B14F-4D97-AF65-F5344CB8AC3E}">
        <p14:creationId xmlns:p14="http://schemas.microsoft.com/office/powerpoint/2010/main" val="27565341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叔块</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sz="2400" dirty="0"/>
              <a:t>实例</a:t>
            </a:r>
            <a:endParaRPr lang="en-US" altLang="zh-CN" sz="2400" dirty="0"/>
          </a:p>
          <a:p>
            <a:pPr lvl="1">
              <a:lnSpc>
                <a:spcPct val="130000"/>
              </a:lnSpc>
            </a:pPr>
            <a:r>
              <a:rPr lang="zh-TW" altLang="zh-CN" sz="2000" dirty="0"/>
              <a:t>创世区块后产生了三个分叉，其中中间的分叉被选为主链，其他两个区块可以被后继的区块当作叔块</a:t>
            </a:r>
            <a:r>
              <a:rPr lang="zh-CN" altLang="zh-CN" sz="2000" dirty="0"/>
              <a:t> </a:t>
            </a:r>
            <a:endParaRPr lang="en-US" altLang="zh-CN" sz="2000" dirty="0"/>
          </a:p>
          <a:p>
            <a:pPr lvl="1">
              <a:lnSpc>
                <a:spcPct val="130000"/>
              </a:lnSpc>
            </a:pPr>
            <a:r>
              <a:rPr lang="zh-TW" altLang="zh-CN" sz="2000" dirty="0"/>
              <a:t>被纳入主链之中，获得一定的收益补偿</a:t>
            </a:r>
            <a:endParaRPr lang="en-US" altLang="zh-TW" sz="2000" dirty="0"/>
          </a:p>
          <a:p>
            <a:pPr lvl="1">
              <a:lnSpc>
                <a:spcPct val="130000"/>
              </a:lnSpc>
            </a:pPr>
            <a:r>
              <a:rPr lang="zh-TW" altLang="zh-CN" sz="2000" dirty="0"/>
              <a:t>其他矿工在打包区块的时候，可以自主的选择合法的</a:t>
            </a:r>
            <a:r>
              <a:rPr lang="en-US" altLang="zh-CN" sz="2000" dirty="0"/>
              <a:t>0</a:t>
            </a:r>
            <a:r>
              <a:rPr lang="zh-TW" altLang="zh-CN" sz="2000" dirty="0"/>
              <a:t>到</a:t>
            </a:r>
            <a:r>
              <a:rPr lang="en-US" altLang="zh-CN" sz="2000" dirty="0"/>
              <a:t>2</a:t>
            </a:r>
            <a:r>
              <a:rPr lang="zh-TW" altLang="zh-CN" sz="2000" dirty="0"/>
              <a:t>个叔块打包到新区块的区块头</a:t>
            </a:r>
            <a:r>
              <a:rPr lang="zh-CN" altLang="zh-CN" sz="2000" dirty="0"/>
              <a:t> </a:t>
            </a:r>
            <a:endParaRPr lang="en-US" altLang="zh-TW" sz="2000" dirty="0"/>
          </a:p>
        </p:txBody>
      </p:sp>
      <p:pic>
        <p:nvPicPr>
          <p:cNvPr id="9" name="图片 8">
            <a:extLst>
              <a:ext uri="{FF2B5EF4-FFF2-40B4-BE49-F238E27FC236}">
                <a16:creationId xmlns:a16="http://schemas.microsoft.com/office/drawing/2014/main" id="{EC88FF07-A8F6-7A40-8EF9-FCD249B376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2038" y="3959925"/>
            <a:ext cx="5551752" cy="2532949"/>
          </a:xfrm>
          <a:prstGeom prst="rect">
            <a:avLst/>
          </a:prstGeom>
          <a:noFill/>
        </p:spPr>
      </p:pic>
      <p:sp>
        <p:nvSpPr>
          <p:cNvPr id="5" name="文本框 4">
            <a:extLst>
              <a:ext uri="{FF2B5EF4-FFF2-40B4-BE49-F238E27FC236}">
                <a16:creationId xmlns:a16="http://schemas.microsoft.com/office/drawing/2014/main" id="{A49015A5-7E03-704F-B557-080FBBDC1127}"/>
              </a:ext>
            </a:extLst>
          </p:cNvPr>
          <p:cNvSpPr txBox="1"/>
          <p:nvPr/>
        </p:nvSpPr>
        <p:spPr>
          <a:xfrm>
            <a:off x="3989164" y="6346190"/>
            <a:ext cx="2857499" cy="276999"/>
          </a:xfrm>
          <a:prstGeom prst="rect">
            <a:avLst/>
          </a:prstGeom>
          <a:noFill/>
        </p:spPr>
        <p:txBody>
          <a:bodyPr wrap="square" rtlCol="0">
            <a:spAutoFit/>
          </a:bodyPr>
          <a:lstStyle/>
          <a:p>
            <a:r>
              <a:rPr lang="zh-CN" altLang="zh-CN" sz="1200" dirty="0"/>
              <a:t>以太坊的</a:t>
            </a:r>
            <a:r>
              <a:rPr lang="en-US" altLang="zh-CN" sz="1200" dirty="0"/>
              <a:t>GOHST</a:t>
            </a:r>
            <a:r>
              <a:rPr lang="zh-CN" altLang="zh-CN" sz="1200" dirty="0"/>
              <a:t>和叔块（灰色）结构 </a:t>
            </a:r>
            <a:endParaRPr kumimoji="1" lang="zh-CN" altLang="en-US" sz="1200" dirty="0"/>
          </a:p>
        </p:txBody>
      </p:sp>
    </p:spTree>
    <p:extLst>
      <p:ext uri="{BB962C8B-B14F-4D97-AF65-F5344CB8AC3E}">
        <p14:creationId xmlns:p14="http://schemas.microsoft.com/office/powerpoint/2010/main" val="19833354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收据</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a:bodyPr>
          <a:lstStyle/>
          <a:p>
            <a:pPr>
              <a:lnSpc>
                <a:spcPct val="130000"/>
              </a:lnSpc>
            </a:pPr>
            <a:r>
              <a:rPr lang="zh-CN" altLang="en-US" dirty="0"/>
              <a:t>定义</a:t>
            </a:r>
            <a:endParaRPr lang="en-US" altLang="zh-CN" dirty="0"/>
          </a:p>
          <a:p>
            <a:pPr lvl="1">
              <a:lnSpc>
                <a:spcPct val="130000"/>
              </a:lnSpc>
            </a:pPr>
            <a:r>
              <a:rPr lang="zh-TW" altLang="zh-CN" dirty="0"/>
              <a:t>收据是对应交易的数据结构，代表了交易执行的一些中间状态的写入和交易的执行结果等信息</a:t>
            </a:r>
            <a:r>
              <a:rPr lang="zh-CN" altLang="zh-CN" sz="2000" dirty="0"/>
              <a:t> </a:t>
            </a:r>
            <a:endParaRPr lang="en-US" altLang="zh-CN" sz="2000" dirty="0"/>
          </a:p>
          <a:p>
            <a:pPr>
              <a:lnSpc>
                <a:spcPct val="130000"/>
              </a:lnSpc>
            </a:pPr>
            <a:r>
              <a:rPr lang="zh-CN" altLang="en-US" dirty="0"/>
              <a:t>内容</a:t>
            </a:r>
            <a:endParaRPr lang="en-US" altLang="zh-CN" dirty="0"/>
          </a:p>
          <a:p>
            <a:pPr lvl="1">
              <a:lnSpc>
                <a:spcPct val="130000"/>
              </a:lnSpc>
            </a:pPr>
            <a:r>
              <a:rPr lang="zh-TW" altLang="zh-CN" dirty="0"/>
              <a:t>以太坊的智能合约向虚拟机输出</a:t>
            </a:r>
            <a:r>
              <a:rPr lang="zh-CN" altLang="en-US" dirty="0"/>
              <a:t>的</a:t>
            </a:r>
            <a:r>
              <a:rPr lang="zh-TW" altLang="zh-CN" dirty="0"/>
              <a:t>一些执行日志</a:t>
            </a:r>
            <a:endParaRPr lang="en-US" altLang="zh-TW" dirty="0"/>
          </a:p>
          <a:p>
            <a:pPr lvl="1">
              <a:lnSpc>
                <a:spcPct val="130000"/>
              </a:lnSpc>
            </a:pPr>
            <a:r>
              <a:rPr lang="zh-TW" altLang="zh-CN" dirty="0"/>
              <a:t>智能合约运行的</a:t>
            </a:r>
            <a:r>
              <a:rPr lang="en-US" altLang="zh-CN" dirty="0"/>
              <a:t>Gas</a:t>
            </a:r>
            <a:r>
              <a:rPr lang="zh-TW" altLang="zh-CN" dirty="0"/>
              <a:t>信息</a:t>
            </a:r>
            <a:endParaRPr lang="en-US" altLang="zh-TW" dirty="0"/>
          </a:p>
          <a:p>
            <a:pPr lvl="1">
              <a:lnSpc>
                <a:spcPct val="130000"/>
              </a:lnSpc>
            </a:pPr>
            <a:r>
              <a:rPr lang="zh-TW" altLang="zh-CN" dirty="0"/>
              <a:t>单个交易执行完毕后以太坊的状态根</a:t>
            </a:r>
            <a:endParaRPr lang="en-US" altLang="zh-TW" dirty="0"/>
          </a:p>
          <a:p>
            <a:pPr lvl="1">
              <a:lnSpc>
                <a:spcPct val="130000"/>
              </a:lnSpc>
            </a:pPr>
            <a:r>
              <a:rPr lang="zh-TW" altLang="zh-CN" dirty="0"/>
              <a:t>交易创建智能合约的时候，如果执行成功会把新建合约的地址写到收据之中</a:t>
            </a:r>
            <a:endParaRPr lang="en-US" altLang="zh-TW" sz="2000" dirty="0"/>
          </a:p>
        </p:txBody>
      </p:sp>
    </p:spTree>
    <p:extLst>
      <p:ext uri="{BB962C8B-B14F-4D97-AF65-F5344CB8AC3E}">
        <p14:creationId xmlns:p14="http://schemas.microsoft.com/office/powerpoint/2010/main" val="35782193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TW" altLang="zh-CN" dirty="0"/>
              <a:t>在每个区块头中，以太坊都要对全体地址和账户的哈希值进行计算，得到一个世界状态的状态根</a:t>
            </a:r>
            <a:endParaRPr lang="en-US" altLang="zh-TW" dirty="0"/>
          </a:p>
          <a:p>
            <a:pPr lvl="1">
              <a:lnSpc>
                <a:spcPct val="130000"/>
              </a:lnSpc>
            </a:pPr>
            <a:r>
              <a:rPr lang="zh-TW" altLang="zh-CN" dirty="0"/>
              <a:t>直接把整个地址到账户的映射表拼接成二进制进行哈希计算的话，整个过程的开销将会十分巨大</a:t>
            </a:r>
            <a:endParaRPr lang="en-US" altLang="zh-TW" dirty="0"/>
          </a:p>
          <a:p>
            <a:pPr lvl="1">
              <a:lnSpc>
                <a:spcPct val="130000"/>
              </a:lnSpc>
            </a:pPr>
            <a:r>
              <a:rPr lang="zh-TW" altLang="zh-CN" dirty="0"/>
              <a:t>单个区块中的全部交易可能仅仅改变了几十个账户中的状态，但是节点仍然要重新遍历数万甚至数千万的账户来计算状态根</a:t>
            </a:r>
            <a:r>
              <a:rPr lang="zh-CN" altLang="zh-CN" sz="2000" dirty="0"/>
              <a:t> </a:t>
            </a:r>
            <a:endParaRPr lang="en-US" altLang="zh-TW" sz="2000" dirty="0"/>
          </a:p>
        </p:txBody>
      </p:sp>
    </p:spTree>
    <p:extLst>
      <p:ext uri="{BB962C8B-B14F-4D97-AF65-F5344CB8AC3E}">
        <p14:creationId xmlns:p14="http://schemas.microsoft.com/office/powerpoint/2010/main" val="6604310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normAutofit/>
              </a:bodyPr>
              <a:lstStyle/>
              <a:p>
                <a:pPr>
                  <a:lnSpc>
                    <a:spcPct val="130000"/>
                  </a:lnSpc>
                </a:pPr>
                <a:r>
                  <a:rPr lang="zh-CN" altLang="en-US" dirty="0"/>
                  <a:t>比特币 </a:t>
                </a:r>
                <a:r>
                  <a:rPr lang="en-US" altLang="zh-CN" dirty="0"/>
                  <a:t>Merkle Tree</a:t>
                </a:r>
              </a:p>
              <a:p>
                <a:pPr lvl="1">
                  <a:lnSpc>
                    <a:spcPct val="130000"/>
                  </a:lnSpc>
                </a:pPr>
                <a:r>
                  <a:rPr lang="zh-TW" altLang="zh-CN" dirty="0"/>
                  <a:t>在比特币中，Merkle Tree被用来组织交易列表计算哈希</a:t>
                </a:r>
                <a:endParaRPr lang="en-US" altLang="zh-TW" dirty="0"/>
              </a:p>
              <a:p>
                <a:pPr lvl="1">
                  <a:lnSpc>
                    <a:spcPct val="130000"/>
                  </a:lnSpc>
                </a:pPr>
                <a:r>
                  <a:rPr lang="zh-TW" altLang="zh-CN" dirty="0"/>
                  <a:t>对于以太坊全体账户这种映射表的结构来说，Merkle Tree的能力还是稍显不足</a:t>
                </a:r>
                <a:endParaRPr lang="en-US" altLang="zh-TW" sz="2000" dirty="0"/>
              </a:p>
              <a:p>
                <a:pPr lvl="2">
                  <a:lnSpc>
                    <a:spcPct val="130000"/>
                  </a:lnSpc>
                </a:pPr>
                <a:r>
                  <a:rPr lang="zh-TW" altLang="zh-CN" dirty="0"/>
                  <a:t>假如使用账户地址作为列表的下标，那么潜在的列表长度是</a:t>
                </a:r>
                <a14:m>
                  <m:oMath xmlns:m="http://schemas.openxmlformats.org/officeDocument/2006/math">
                    <m:sSup>
                      <m:sSupPr>
                        <m:ctrlPr>
                          <a:rPr lang="zh-CN" altLang="zh-CN" i="1">
                            <a:latin typeface="Cambria Math" panose="02040503050406030204" pitchFamily="18" charset="0"/>
                          </a:rPr>
                        </m:ctrlPr>
                      </m:sSupPr>
                      <m:e>
                        <m:r>
                          <a:rPr lang="zh-TW" altLang="zh-CN">
                            <a:latin typeface="Cambria Math" panose="02040503050406030204" pitchFamily="18" charset="0"/>
                          </a:rPr>
                          <m:t>2</m:t>
                        </m:r>
                      </m:e>
                      <m:sup>
                        <m:r>
                          <a:rPr lang="zh-TW" altLang="zh-CN">
                            <a:latin typeface="Cambria Math" panose="02040503050406030204" pitchFamily="18" charset="0"/>
                          </a:rPr>
                          <m:t>160</m:t>
                        </m:r>
                      </m:sup>
                    </m:sSup>
                  </m:oMath>
                </a14:m>
                <a:r>
                  <a:rPr lang="zh-CN" altLang="zh-CN" sz="1600" dirty="0">
                    <a:effectLst/>
                  </a:rPr>
                  <a:t> </a:t>
                </a:r>
                <a:endParaRPr lang="en-US" altLang="zh-CN" sz="1600" dirty="0">
                  <a:effectLst/>
                </a:endParaRPr>
              </a:p>
              <a:p>
                <a:pPr lvl="2">
                  <a:lnSpc>
                    <a:spcPct val="130000"/>
                  </a:lnSpc>
                </a:pPr>
                <a:r>
                  <a:rPr lang="zh-TW" altLang="zh-CN" dirty="0"/>
                  <a:t>这个长度为</a:t>
                </a:r>
                <a14:m>
                  <m:oMath xmlns:m="http://schemas.openxmlformats.org/officeDocument/2006/math">
                    <m:sSup>
                      <m:sSupPr>
                        <m:ctrlPr>
                          <a:rPr lang="zh-CN" altLang="zh-CN" i="1">
                            <a:latin typeface="Cambria Math" panose="02040503050406030204" pitchFamily="18" charset="0"/>
                          </a:rPr>
                        </m:ctrlPr>
                      </m:sSupPr>
                      <m:e>
                        <m:r>
                          <a:rPr lang="zh-TW" altLang="zh-CN">
                            <a:latin typeface="Cambria Math" panose="02040503050406030204" pitchFamily="18" charset="0"/>
                          </a:rPr>
                          <m:t>2</m:t>
                        </m:r>
                      </m:e>
                      <m:sup>
                        <m:r>
                          <a:rPr lang="zh-TW" altLang="zh-CN">
                            <a:latin typeface="Cambria Math" panose="02040503050406030204" pitchFamily="18" charset="0"/>
                          </a:rPr>
                          <m:t>160</m:t>
                        </m:r>
                      </m:sup>
                    </m:sSup>
                  </m:oMath>
                </a14:m>
                <a:r>
                  <a:rPr lang="zh-TW" altLang="zh-CN" dirty="0"/>
                  <a:t>的列表构成的Merkle Tree将会非常巨大，总共具有</a:t>
                </a:r>
                <a14:m>
                  <m:oMath xmlns:m="http://schemas.openxmlformats.org/officeDocument/2006/math">
                    <m:sSup>
                      <m:sSupPr>
                        <m:ctrlPr>
                          <a:rPr lang="zh-CN" altLang="zh-CN" i="1">
                            <a:latin typeface="Cambria Math" panose="02040503050406030204" pitchFamily="18" charset="0"/>
                          </a:rPr>
                        </m:ctrlPr>
                      </m:sSupPr>
                      <m:e>
                        <m:r>
                          <a:rPr lang="zh-TW" altLang="zh-CN">
                            <a:latin typeface="Cambria Math" panose="02040503050406030204" pitchFamily="18" charset="0"/>
                          </a:rPr>
                          <m:t>2</m:t>
                        </m:r>
                      </m:e>
                      <m:sup>
                        <m:r>
                          <a:rPr lang="zh-TW" altLang="zh-CN">
                            <a:latin typeface="Cambria Math" panose="02040503050406030204" pitchFamily="18" charset="0"/>
                          </a:rPr>
                          <m:t>161</m:t>
                        </m:r>
                      </m:sup>
                    </m:sSup>
                  </m:oMath>
                </a14:m>
                <a:r>
                  <a:rPr lang="zh-TW" altLang="zh-CN" dirty="0"/>
                  <a:t>个节点</a:t>
                </a:r>
                <a:r>
                  <a:rPr lang="zh-CN" altLang="zh-CN" sz="1600" dirty="0">
                    <a:effectLst/>
                  </a:rPr>
                  <a:t> </a:t>
                </a:r>
                <a:endParaRPr lang="en-US" altLang="zh-TW" sz="1600" dirty="0"/>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blipFill>
                <a:blip r:embed="rId3"/>
                <a:stretch>
                  <a:fillRect l="-1043" r="-6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08148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dirty="0"/>
              <a:t>以太坊 </a:t>
            </a:r>
            <a:r>
              <a:rPr lang="en-US" altLang="zh-CN" dirty="0"/>
              <a:t>Merkle Patricia </a:t>
            </a:r>
            <a:r>
              <a:rPr lang="en-US" altLang="zh-CN" dirty="0" err="1"/>
              <a:t>Trie</a:t>
            </a:r>
            <a:endParaRPr lang="en-US" altLang="zh-CN" dirty="0"/>
          </a:p>
          <a:p>
            <a:pPr lvl="1">
              <a:lnSpc>
                <a:spcPct val="130000"/>
              </a:lnSpc>
            </a:pPr>
            <a:r>
              <a:rPr lang="zh-TW" altLang="zh-CN" dirty="0"/>
              <a:t>使用16叉压缩前缀树（或者叫做基数树，Radix Tree）作为地址到账户的一个索引</a:t>
            </a:r>
            <a:r>
              <a:rPr lang="zh-CN" altLang="zh-CN" sz="1600" dirty="0"/>
              <a:t> </a:t>
            </a:r>
            <a:endParaRPr lang="en-US" altLang="zh-CN" sz="1600" dirty="0"/>
          </a:p>
          <a:p>
            <a:pPr lvl="1">
              <a:lnSpc>
                <a:spcPct val="130000"/>
              </a:lnSpc>
            </a:pPr>
            <a:r>
              <a:rPr lang="zh-TW" altLang="zh-CN" dirty="0"/>
              <a:t>利用Merkle Tree的思想对每一层节点合并计算所有子节点的哈希</a:t>
            </a:r>
            <a:r>
              <a:rPr lang="zh-CN" altLang="en-US" dirty="0"/>
              <a:t>，</a:t>
            </a:r>
            <a:r>
              <a:rPr lang="zh-TW" altLang="zh-CN" dirty="0"/>
              <a:t>得到根哈希值</a:t>
            </a:r>
            <a:r>
              <a:rPr lang="zh-CN" altLang="zh-CN" sz="1600" dirty="0"/>
              <a:t> </a:t>
            </a:r>
            <a:endParaRPr lang="en-US" altLang="zh-CN" sz="1600" dirty="0"/>
          </a:p>
          <a:p>
            <a:pPr>
              <a:lnSpc>
                <a:spcPct val="130000"/>
              </a:lnSpc>
            </a:pPr>
            <a:r>
              <a:rPr lang="zh-CN" altLang="en-US" dirty="0"/>
              <a:t>兼具</a:t>
            </a:r>
            <a:r>
              <a:rPr lang="en-US" altLang="zh-CN" dirty="0"/>
              <a:t>Merkle Tree</a:t>
            </a:r>
            <a:r>
              <a:rPr lang="zh-CN" altLang="en-US" dirty="0"/>
              <a:t>和压缩前缀树的优点</a:t>
            </a:r>
            <a:endParaRPr lang="en-US" altLang="zh-CN" dirty="0"/>
          </a:p>
          <a:p>
            <a:pPr lvl="1">
              <a:lnSpc>
                <a:spcPct val="130000"/>
              </a:lnSpc>
            </a:pPr>
            <a:r>
              <a:rPr lang="zh-TW" altLang="zh-CN" dirty="0"/>
              <a:t>实现有效的哈希证明</a:t>
            </a:r>
            <a:endParaRPr lang="en-US" altLang="zh-TW" dirty="0"/>
          </a:p>
          <a:p>
            <a:pPr lvl="1">
              <a:lnSpc>
                <a:spcPct val="130000"/>
              </a:lnSpc>
            </a:pPr>
            <a:r>
              <a:rPr lang="zh-TW" altLang="zh-CN" dirty="0"/>
              <a:t>实现修改叶子节点数据后快速重新计算哈希值</a:t>
            </a:r>
            <a:endParaRPr lang="en-US" altLang="zh-TW" dirty="0"/>
          </a:p>
          <a:p>
            <a:pPr lvl="1">
              <a:lnSpc>
                <a:spcPct val="130000"/>
              </a:lnSpc>
            </a:pPr>
            <a:r>
              <a:rPr lang="zh-TW" altLang="zh-CN" dirty="0"/>
              <a:t>对数据进行索引，能够更快地根据地址查询对应的账户</a:t>
            </a:r>
            <a:endParaRPr lang="en-US" altLang="zh-CN" sz="2000" dirty="0"/>
          </a:p>
          <a:p>
            <a:pPr lvl="1">
              <a:lnSpc>
                <a:spcPct val="130000"/>
              </a:lnSpc>
            </a:pPr>
            <a:endParaRPr lang="en-US" altLang="zh-TW" sz="1600" dirty="0"/>
          </a:p>
        </p:txBody>
      </p:sp>
    </p:spTree>
    <p:extLst>
      <p:ext uri="{BB962C8B-B14F-4D97-AF65-F5344CB8AC3E}">
        <p14:creationId xmlns:p14="http://schemas.microsoft.com/office/powerpoint/2010/main" val="2827566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压缩前缀树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sz="2000" dirty="0"/>
              <a:t>定义</a:t>
            </a:r>
            <a:endParaRPr lang="en-US" altLang="zh-CN" sz="2000" dirty="0"/>
          </a:p>
          <a:p>
            <a:pPr lvl="1">
              <a:lnSpc>
                <a:spcPct val="130000"/>
              </a:lnSpc>
            </a:pPr>
            <a:r>
              <a:rPr lang="zh-TW" altLang="zh-CN" sz="1800" dirty="0"/>
              <a:t>压缩前缀树是指由公共前缀组成的一</a:t>
            </a:r>
            <a:r>
              <a:rPr lang="zh-CN" altLang="zh-CN" sz="1800" dirty="0"/>
              <a:t>棵</a:t>
            </a:r>
            <a:r>
              <a:rPr lang="zh-TW" altLang="zh-CN" sz="1800" dirty="0"/>
              <a:t>字典树</a:t>
            </a:r>
            <a:endParaRPr lang="en-US" altLang="zh-TW" sz="1800" dirty="0"/>
          </a:p>
          <a:p>
            <a:pPr>
              <a:lnSpc>
                <a:spcPct val="130000"/>
              </a:lnSpc>
            </a:pPr>
            <a:r>
              <a:rPr lang="zh-CN" altLang="en-US" sz="2000" dirty="0"/>
              <a:t>压缩前缀树的查找</a:t>
            </a:r>
            <a:endParaRPr lang="en-US" altLang="zh-TW" sz="2000" dirty="0"/>
          </a:p>
          <a:p>
            <a:pPr lvl="1">
              <a:lnSpc>
                <a:spcPct val="130000"/>
              </a:lnSpc>
            </a:pPr>
            <a:r>
              <a:rPr lang="zh-TW" altLang="zh-CN" sz="1800" dirty="0"/>
              <a:t>如我们要在字典中搜索</a:t>
            </a:r>
            <a:r>
              <a:rPr lang="en-US" altLang="zh-CN" sz="1800" dirty="0"/>
              <a:t>Alice</a:t>
            </a:r>
            <a:r>
              <a:rPr lang="zh-TW" altLang="zh-CN" sz="1800" dirty="0"/>
              <a:t>这个单词，会先在字典中查找</a:t>
            </a:r>
            <a:r>
              <a:rPr lang="en-US" altLang="zh-CN" sz="1800" dirty="0"/>
              <a:t>A</a:t>
            </a:r>
            <a:r>
              <a:rPr lang="zh-TW" altLang="zh-CN" sz="1800" dirty="0"/>
              <a:t>开头的所有部分，然后进而查找</a:t>
            </a:r>
            <a:r>
              <a:rPr lang="en-US" altLang="zh-CN" sz="1800" dirty="0"/>
              <a:t>Al</a:t>
            </a:r>
            <a:r>
              <a:rPr lang="zh-TW" altLang="zh-CN" sz="1800" dirty="0"/>
              <a:t>开头的部分，最后找到单词</a:t>
            </a:r>
            <a:r>
              <a:rPr lang="en-US" altLang="zh-CN" sz="1800" dirty="0"/>
              <a:t>Alice</a:t>
            </a:r>
            <a:r>
              <a:rPr lang="zh-CN" altLang="en-US" sz="1800" dirty="0"/>
              <a:t>。压缩前缀树的原理也是类似地，将共同前缀的部分组成一个子树，然后随着层级向下逐层细分。</a:t>
            </a:r>
            <a:endParaRPr lang="en-US" altLang="zh-TW" sz="1800" dirty="0"/>
          </a:p>
        </p:txBody>
      </p:sp>
      <p:pic>
        <p:nvPicPr>
          <p:cNvPr id="11" name="图片 10">
            <a:extLst>
              <a:ext uri="{FF2B5EF4-FFF2-40B4-BE49-F238E27FC236}">
                <a16:creationId xmlns:a16="http://schemas.microsoft.com/office/drawing/2014/main" id="{A3BE4FDB-17C3-884F-B14E-7751BB3915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008883" y="4017689"/>
            <a:ext cx="4818051" cy="2427467"/>
          </a:xfrm>
          <a:prstGeom prst="rect">
            <a:avLst/>
          </a:prstGeom>
          <a:noFill/>
        </p:spPr>
      </p:pic>
      <p:sp>
        <p:nvSpPr>
          <p:cNvPr id="12" name="文本框 11">
            <a:extLst>
              <a:ext uri="{FF2B5EF4-FFF2-40B4-BE49-F238E27FC236}">
                <a16:creationId xmlns:a16="http://schemas.microsoft.com/office/drawing/2014/main" id="{9811B671-D669-7F4D-936F-9C021B5A26DD}"/>
              </a:ext>
            </a:extLst>
          </p:cNvPr>
          <p:cNvSpPr txBox="1"/>
          <p:nvPr/>
        </p:nvSpPr>
        <p:spPr>
          <a:xfrm>
            <a:off x="4381406" y="6400412"/>
            <a:ext cx="2073003" cy="276999"/>
          </a:xfrm>
          <a:prstGeom prst="rect">
            <a:avLst/>
          </a:prstGeom>
          <a:noFill/>
        </p:spPr>
        <p:txBody>
          <a:bodyPr wrap="none" rtlCol="0">
            <a:spAutoFit/>
          </a:bodyPr>
          <a:lstStyle/>
          <a:p>
            <a:r>
              <a:rPr lang="zh-CN" altLang="zh-CN" sz="1200" dirty="0"/>
              <a:t>四个单词构成的压缩前缀树 </a:t>
            </a:r>
            <a:endParaRPr kumimoji="1" lang="zh-CN" altLang="en-US" sz="1200" dirty="0"/>
          </a:p>
        </p:txBody>
      </p:sp>
    </p:spTree>
    <p:extLst>
      <p:ext uri="{BB962C8B-B14F-4D97-AF65-F5344CB8AC3E}">
        <p14:creationId xmlns:p14="http://schemas.microsoft.com/office/powerpoint/2010/main" val="31324731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MPT</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lnSpcReduction="10000"/>
          </a:bodyPr>
          <a:lstStyle/>
          <a:p>
            <a:pPr>
              <a:lnSpc>
                <a:spcPct val="130000"/>
              </a:lnSpc>
            </a:pPr>
            <a:r>
              <a:rPr lang="zh-CN" altLang="en-US" dirty="0"/>
              <a:t>背景</a:t>
            </a:r>
            <a:endParaRPr lang="en-US" altLang="zh-CN" dirty="0">
              <a:solidFill>
                <a:srgbClr val="C00000"/>
              </a:solidFill>
            </a:endParaRPr>
          </a:p>
          <a:p>
            <a:pPr lvl="1">
              <a:lnSpc>
                <a:spcPct val="130000"/>
              </a:lnSpc>
            </a:pPr>
            <a:r>
              <a:rPr lang="zh-TW" altLang="zh-CN" dirty="0"/>
              <a:t>如果把单词和箭头都换成哈希值，然后计算每个中间节点的哈希值，便得到了</a:t>
            </a:r>
            <a:r>
              <a:rPr lang="en-US" altLang="zh-CN" dirty="0"/>
              <a:t>MPT</a:t>
            </a:r>
            <a:endParaRPr lang="en-US" altLang="zh-CN" dirty="0">
              <a:solidFill>
                <a:srgbClr val="C00000"/>
              </a:solidFill>
            </a:endParaRPr>
          </a:p>
          <a:p>
            <a:pPr>
              <a:lnSpc>
                <a:spcPct val="130000"/>
              </a:lnSpc>
            </a:pPr>
            <a:r>
              <a:rPr lang="en-US" altLang="zh-CN" dirty="0"/>
              <a:t>MPT</a:t>
            </a:r>
            <a:r>
              <a:rPr lang="zh-CN" altLang="en-US" dirty="0"/>
              <a:t>的构造</a:t>
            </a:r>
            <a:endParaRPr lang="en-US" altLang="zh-CN" dirty="0">
              <a:solidFill>
                <a:srgbClr val="C00000"/>
              </a:solidFill>
            </a:endParaRPr>
          </a:p>
          <a:p>
            <a:pPr lvl="1">
              <a:lnSpc>
                <a:spcPct val="130000"/>
              </a:lnSpc>
            </a:pPr>
            <a:r>
              <a:rPr lang="zh-TW" altLang="zh-CN" dirty="0"/>
              <a:t>按照所有数据的地址（或者键值）来构建一</a:t>
            </a:r>
            <a:r>
              <a:rPr lang="zh-CN" altLang="zh-CN" dirty="0"/>
              <a:t>棵</a:t>
            </a:r>
            <a:r>
              <a:rPr lang="zh-TW" altLang="zh-CN" dirty="0"/>
              <a:t>压缩前缀树</a:t>
            </a:r>
            <a:r>
              <a:rPr lang="zh-CN" altLang="zh-CN" dirty="0"/>
              <a:t> </a:t>
            </a:r>
            <a:endParaRPr lang="en-US" altLang="zh-CN" dirty="0"/>
          </a:p>
          <a:p>
            <a:pPr lvl="2">
              <a:lnSpc>
                <a:spcPct val="130000"/>
              </a:lnSpc>
            </a:pPr>
            <a:r>
              <a:rPr lang="zh-TW" altLang="zh-CN" dirty="0"/>
              <a:t>由于地址是以</a:t>
            </a:r>
            <a:r>
              <a:rPr lang="en-US" altLang="zh-CN" dirty="0"/>
              <a:t>16</a:t>
            </a:r>
            <a:r>
              <a:rPr lang="zh-TW" altLang="zh-CN" dirty="0"/>
              <a:t>进制为编码的，我们使用</a:t>
            </a:r>
            <a:r>
              <a:rPr lang="en-US" altLang="zh-CN" dirty="0"/>
              <a:t>0123456789abcdef</a:t>
            </a:r>
            <a:r>
              <a:rPr lang="zh-TW" altLang="zh-CN" dirty="0"/>
              <a:t>作为每一个编码的单元</a:t>
            </a:r>
            <a:endParaRPr lang="en-US" altLang="zh-TW" dirty="0"/>
          </a:p>
          <a:p>
            <a:pPr lvl="1">
              <a:lnSpc>
                <a:spcPct val="130000"/>
              </a:lnSpc>
            </a:pPr>
            <a:r>
              <a:rPr lang="zh-TW" altLang="zh-CN" dirty="0"/>
              <a:t>按照构建得到的压缩前缀树，从叶子节点开始，逐步计算每一层的哈希值，并将其汇合到父节点中，与</a:t>
            </a:r>
            <a:r>
              <a:rPr lang="en-US" altLang="zh-CN" dirty="0"/>
              <a:t>Merkle Tree</a:t>
            </a:r>
            <a:r>
              <a:rPr lang="zh-TW" altLang="zh-CN" dirty="0"/>
              <a:t>的计算过程类似</a:t>
            </a:r>
            <a:endParaRPr lang="en-US" altLang="zh-TW" dirty="0"/>
          </a:p>
        </p:txBody>
      </p:sp>
    </p:spTree>
    <p:extLst>
      <p:ext uri="{BB962C8B-B14F-4D97-AF65-F5344CB8AC3E}">
        <p14:creationId xmlns:p14="http://schemas.microsoft.com/office/powerpoint/2010/main" val="15536539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MPT</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838200" y="1510758"/>
                <a:ext cx="5802630" cy="4586694"/>
              </a:xfrm>
            </p:spPr>
            <p:txBody>
              <a:bodyPr>
                <a:normAutofit fontScale="85000" lnSpcReduction="20000"/>
              </a:bodyPr>
              <a:lstStyle/>
              <a:p>
                <a:pPr>
                  <a:lnSpc>
                    <a:spcPct val="130000"/>
                  </a:lnSpc>
                </a:pPr>
                <a:r>
                  <a:rPr lang="zh-CN" altLang="en-US" dirty="0"/>
                  <a:t>实例：根哈希值的计算</a:t>
                </a:r>
                <a:endParaRPr lang="en-US" altLang="zh-CN" dirty="0"/>
              </a:p>
              <a:p>
                <a:pPr lvl="1">
                  <a:lnSpc>
                    <a:spcPct val="130000"/>
                  </a:lnSpc>
                </a:pPr>
                <a:r>
                  <a:rPr lang="zh-TW" altLang="zh-CN" dirty="0"/>
                  <a:t>计算叶子节点的哈希值</a:t>
                </a:r>
                <a:endParaRPr lang="en-US" altLang="zh-TW" dirty="0"/>
              </a:p>
              <a:p>
                <a:pPr lvl="2">
                  <a:lnSpc>
                    <a:spcPct val="130000"/>
                  </a:lnSpc>
                </a:pPr>
                <a:r>
                  <a:rPr lang="zh-TW" altLang="zh-CN" dirty="0"/>
                  <a:t>空前缀加上数据</a:t>
                </a:r>
                <a:r>
                  <a:rPr lang="en-US" altLang="zh-CN" dirty="0"/>
                  <a:t>1</a:t>
                </a:r>
                <a:r>
                  <a:rPr lang="zh-TW" altLang="zh-CN" dirty="0"/>
                  <a:t>的哈希值，得到哈希值</a:t>
                </a:r>
                <a:r>
                  <a:rPr lang="en-US" altLang="zh-CN" dirty="0"/>
                  <a:t>H1 = H(“” +</a:t>
                </a:r>
                <a:r>
                  <a:rPr lang="zh-TW" altLang="zh-CN" dirty="0"/>
                  <a:t>账户</a:t>
                </a:r>
                <a:r>
                  <a:rPr lang="en-US" altLang="zh-CN" dirty="0"/>
                  <a:t>1</a:t>
                </a:r>
                <a:r>
                  <a:rPr lang="zh-TW" altLang="zh-CN" dirty="0"/>
                  <a:t>哈希</a:t>
                </a:r>
                <a:r>
                  <a:rPr lang="en-US" altLang="zh-CN" dirty="0"/>
                  <a:t> )</a:t>
                </a:r>
                <a:r>
                  <a:rPr lang="zh-TW" altLang="zh-CN" dirty="0"/>
                  <a:t>。</a:t>
                </a:r>
                <a:r>
                  <a:rPr lang="en-US" altLang="zh-CN" dirty="0"/>
                  <a:t>H2</a:t>
                </a:r>
                <a:r>
                  <a:rPr lang="zh-TW" altLang="zh-CN" dirty="0"/>
                  <a:t>、</a:t>
                </a:r>
                <a:r>
                  <a:rPr lang="en-US" altLang="zh-CN" dirty="0"/>
                  <a:t>H3</a:t>
                </a:r>
                <a:r>
                  <a:rPr lang="zh-TW" altLang="zh-CN" dirty="0"/>
                  <a:t>、</a:t>
                </a:r>
                <a:r>
                  <a:rPr lang="en-US" altLang="zh-CN" dirty="0"/>
                  <a:t>H4</a:t>
                </a:r>
                <a:r>
                  <a:rPr lang="zh-TW" altLang="zh-CN" dirty="0"/>
                  <a:t>的计算类似</a:t>
                </a:r>
                <a:r>
                  <a:rPr lang="zh-CN" altLang="en-US" dirty="0"/>
                  <a:t>。</a:t>
                </a:r>
                <a:endParaRPr lang="zh-CN" altLang="zh-CN" dirty="0"/>
              </a:p>
              <a:p>
                <a:pPr lvl="1">
                  <a:lnSpc>
                    <a:spcPct val="130000"/>
                  </a:lnSpc>
                </a:pPr>
                <a:r>
                  <a:rPr lang="zh-TW" altLang="zh-CN" dirty="0"/>
                  <a:t>计算父节点哈希值</a:t>
                </a:r>
                <a:endParaRPr lang="en-US" altLang="zh-TW" dirty="0"/>
              </a:p>
              <a:p>
                <a:pPr lvl="2">
                  <a:lnSpc>
                    <a:spcPct val="130000"/>
                  </a:lnSpc>
                </a:pPr>
                <a:r>
                  <a:rPr lang="zh-TW" altLang="zh-CN" dirty="0"/>
                  <a:t>将前缀和子分支的哈希值一同进行哈希，得到哈希值</a:t>
                </a:r>
                <a:r>
                  <a:rPr lang="en-US" altLang="zh-CN" dirty="0"/>
                  <a:t>H5 = H(</a:t>
                </a:r>
                <a:r>
                  <a:rPr lang="en-US" altLang="zh-CN" dirty="0" err="1"/>
                  <a:t>bc</a:t>
                </a:r>
                <a:r>
                  <a:rPr lang="en-US" altLang="zh-CN" dirty="0"/>
                  <a:t> + H1 + H2 + “” + … + “”)</a:t>
                </a:r>
                <a:r>
                  <a:rPr lang="zh-CN" altLang="en-US" dirty="0"/>
                  <a:t>，</a:t>
                </a:r>
                <a:r>
                  <a:rPr lang="zh-TW" altLang="zh-CN" dirty="0"/>
                  <a:t>注意其他子分支不存在，值都是空</a:t>
                </a:r>
                <a:r>
                  <a:rPr lang="zh-CN" altLang="en-US" dirty="0"/>
                  <a:t>。</a:t>
                </a:r>
                <a:r>
                  <a:rPr lang="zh-CN" altLang="zh-CN" dirty="0"/>
                  <a:t> </a:t>
                </a:r>
                <a:endParaRPr lang="en-US" altLang="zh-CN" dirty="0"/>
              </a:p>
              <a:p>
                <a:pPr lvl="1">
                  <a:lnSpc>
                    <a:spcPct val="130000"/>
                  </a:lnSpc>
                </a:pPr>
                <a:r>
                  <a:rPr lang="zh-TW" altLang="zh-CN" dirty="0"/>
                  <a:t>逐层计算得到根哈希值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𝑟𝑜𝑜𝑡</m:t>
                        </m:r>
                      </m:sub>
                    </m:sSub>
                  </m:oMath>
                </a14:m>
                <a:endParaRPr lang="en-US" altLang="zh-CN" dirty="0"/>
              </a:p>
              <a:p>
                <a:pPr lvl="2">
                  <a:lnSpc>
                    <a:spcPct val="130000"/>
                  </a:lnSpc>
                </a:pPr>
                <a:r>
                  <a:rPr lang="zh-TW" altLang="zh-CN" dirty="0"/>
                  <a:t>根哈希值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𝑟𝑜𝑜𝑡</m:t>
                        </m:r>
                      </m:sub>
                    </m:sSub>
                  </m:oMath>
                </a14:m>
                <a:r>
                  <a:rPr lang="en-US" altLang="zh-CN" dirty="0"/>
                  <a:t>=H(“” + “” + … + “” + H5 + “” + … + “” + H6 + “”)</a:t>
                </a:r>
                <a:r>
                  <a:rPr lang="zh-CN" altLang="zh-CN" dirty="0">
                    <a:effectLst/>
                  </a:rPr>
                  <a:t> </a:t>
                </a:r>
                <a:r>
                  <a:rPr lang="zh-CN" altLang="en-US" dirty="0">
                    <a:effectLst/>
                  </a:rPr>
                  <a:t>，</a:t>
                </a:r>
                <a:r>
                  <a:rPr lang="zh-TW" altLang="zh-CN" dirty="0"/>
                  <a:t>注意到这个节点的公共前缀为空</a:t>
                </a:r>
                <a:r>
                  <a:rPr lang="zh-CN" altLang="zh-CN" dirty="0"/>
                  <a:t> </a:t>
                </a:r>
                <a:r>
                  <a:rPr lang="zh-CN" altLang="en-US" dirty="0"/>
                  <a:t>。</a:t>
                </a:r>
                <a:endParaRPr lang="en-US" altLang="zh-CN" dirty="0"/>
              </a:p>
              <a:p>
                <a:pPr>
                  <a:lnSpc>
                    <a:spcPct val="130000"/>
                  </a:lnSpc>
                </a:pPr>
                <a:endParaRPr lang="en-US" altLang="zh-CN" dirty="0"/>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838200" y="1510758"/>
                <a:ext cx="5802630" cy="4586694"/>
              </a:xfrm>
              <a:blipFill>
                <a:blip r:embed="rId3"/>
                <a:stretch>
                  <a:fillRect l="-1472" t="-798"/>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330FE994-1755-E841-9D69-932FB77CB26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789420" y="1830964"/>
            <a:ext cx="4798695" cy="3946282"/>
          </a:xfrm>
          <a:prstGeom prst="rect">
            <a:avLst/>
          </a:prstGeom>
          <a:noFill/>
        </p:spPr>
      </p:pic>
      <p:sp>
        <p:nvSpPr>
          <p:cNvPr id="5" name="文本框 4">
            <a:extLst>
              <a:ext uri="{FF2B5EF4-FFF2-40B4-BE49-F238E27FC236}">
                <a16:creationId xmlns:a16="http://schemas.microsoft.com/office/drawing/2014/main" id="{13F6863E-4747-7B4A-95CB-B102DD7F64F2}"/>
              </a:ext>
            </a:extLst>
          </p:cNvPr>
          <p:cNvSpPr txBox="1"/>
          <p:nvPr/>
        </p:nvSpPr>
        <p:spPr>
          <a:xfrm>
            <a:off x="8869680" y="5928298"/>
            <a:ext cx="944489" cy="276999"/>
          </a:xfrm>
          <a:prstGeom prst="rect">
            <a:avLst/>
          </a:prstGeom>
          <a:noFill/>
        </p:spPr>
        <p:txBody>
          <a:bodyPr wrap="none" rtlCol="0">
            <a:spAutoFit/>
          </a:bodyPr>
          <a:lstStyle/>
          <a:p>
            <a:r>
              <a:rPr lang="en-US" altLang="zh-CN" sz="1200" dirty="0"/>
              <a:t>MPT</a:t>
            </a:r>
            <a:r>
              <a:rPr lang="zh-CN" altLang="zh-CN" sz="1200" dirty="0"/>
              <a:t>的构建</a:t>
            </a:r>
            <a:endParaRPr kumimoji="1" lang="zh-CN" altLang="en-US" sz="1200" dirty="0"/>
          </a:p>
        </p:txBody>
      </p:sp>
    </p:spTree>
    <p:extLst>
      <p:ext uri="{BB962C8B-B14F-4D97-AF65-F5344CB8AC3E}">
        <p14:creationId xmlns:p14="http://schemas.microsoft.com/office/powerpoint/2010/main" val="12966993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a:xfrm>
            <a:off x="838199" y="1510758"/>
            <a:ext cx="10523221" cy="4586694"/>
          </a:xfrm>
        </p:spPr>
        <p:txBody>
          <a:bodyPr>
            <a:normAutofit/>
          </a:bodyPr>
          <a:lstStyle/>
          <a:p>
            <a:pPr>
              <a:lnSpc>
                <a:spcPct val="130000"/>
              </a:lnSpc>
            </a:pPr>
            <a:r>
              <a:rPr lang="zh-CN" altLang="en-US" dirty="0"/>
              <a:t>状态树</a:t>
            </a:r>
            <a:endParaRPr lang="en-US" altLang="zh-TW" dirty="0"/>
          </a:p>
          <a:p>
            <a:pPr lvl="1">
              <a:lnSpc>
                <a:spcPct val="130000"/>
              </a:lnSpc>
            </a:pPr>
            <a:r>
              <a:rPr lang="zh-TW" altLang="zh-CN" dirty="0"/>
              <a:t>以太坊用来记录各个账号的状态</a:t>
            </a:r>
            <a:r>
              <a:rPr lang="zh-CN" altLang="en-US" dirty="0"/>
              <a:t>的树，</a:t>
            </a:r>
            <a:r>
              <a:rPr lang="zh-TW" altLang="zh-CN" dirty="0"/>
              <a:t>树的键是账户地址，值是账户的详细信息。</a:t>
            </a:r>
            <a:r>
              <a:rPr lang="zh-CN" altLang="zh-CN" dirty="0"/>
              <a:t> </a:t>
            </a:r>
            <a:endParaRPr lang="en-US" altLang="zh-CN" dirty="0"/>
          </a:p>
          <a:p>
            <a:pPr lvl="1">
              <a:lnSpc>
                <a:spcPct val="130000"/>
              </a:lnSpc>
            </a:pPr>
            <a:endParaRPr lang="en-US" altLang="zh-CN" dirty="0"/>
          </a:p>
        </p:txBody>
      </p:sp>
    </p:spTree>
    <p:extLst>
      <p:ext uri="{BB962C8B-B14F-4D97-AF65-F5344CB8AC3E}">
        <p14:creationId xmlns:p14="http://schemas.microsoft.com/office/powerpoint/2010/main" val="7033918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a:xfrm>
            <a:off x="838200" y="1510758"/>
            <a:ext cx="5802630" cy="4586694"/>
          </a:xfrm>
        </p:spPr>
        <p:txBody>
          <a:bodyPr>
            <a:normAutofit/>
          </a:bodyPr>
          <a:lstStyle/>
          <a:p>
            <a:pPr>
              <a:lnSpc>
                <a:spcPct val="130000"/>
              </a:lnSpc>
            </a:pPr>
            <a:r>
              <a:rPr lang="zh-CN" altLang="en-US" dirty="0"/>
              <a:t>实例：</a:t>
            </a:r>
            <a:r>
              <a:rPr lang="zh-CN" altLang="zh-CN" dirty="0"/>
              <a:t>以太坊中状态树的变换</a:t>
            </a:r>
            <a:endParaRPr lang="en-US" altLang="zh-CN" dirty="0"/>
          </a:p>
          <a:p>
            <a:pPr lvl="1">
              <a:lnSpc>
                <a:spcPct val="130000"/>
              </a:lnSpc>
            </a:pPr>
            <a:r>
              <a:rPr lang="zh-TW" altLang="zh-CN" dirty="0"/>
              <a:t>当前的区块的世界观中有状态为</a:t>
            </a:r>
            <a:r>
              <a:rPr lang="en-US" altLang="zh-CN" dirty="0"/>
              <a:t>A</a:t>
            </a:r>
            <a:r>
              <a:rPr lang="zh-TW" altLang="zh-CN" dirty="0"/>
              <a:t>、</a:t>
            </a:r>
            <a:r>
              <a:rPr lang="en-US" altLang="zh-CN" dirty="0"/>
              <a:t>B</a:t>
            </a:r>
            <a:r>
              <a:rPr lang="zh-TW" altLang="zh-CN" dirty="0"/>
              <a:t>和</a:t>
            </a:r>
            <a:r>
              <a:rPr lang="en-US" altLang="zh-CN" dirty="0"/>
              <a:t>C</a:t>
            </a:r>
            <a:r>
              <a:rPr lang="zh-TW" altLang="zh-CN" dirty="0"/>
              <a:t>三个账户</a:t>
            </a:r>
            <a:endParaRPr lang="en-US" altLang="zh-TW" dirty="0"/>
          </a:p>
          <a:p>
            <a:pPr lvl="1">
              <a:lnSpc>
                <a:spcPct val="130000"/>
              </a:lnSpc>
            </a:pPr>
            <a:r>
              <a:rPr lang="zh-TW" altLang="zh-CN" dirty="0"/>
              <a:t>经过交易</a:t>
            </a:r>
            <a:r>
              <a:rPr lang="en-US" altLang="zh-CN" dirty="0"/>
              <a:t>T</a:t>
            </a:r>
            <a:r>
              <a:rPr lang="zh-TW" altLang="zh-CN" dirty="0"/>
              <a:t>之后，账户</a:t>
            </a:r>
            <a:r>
              <a:rPr lang="en-US" altLang="zh-CN" dirty="0"/>
              <a:t>C</a:t>
            </a:r>
            <a:r>
              <a:rPr lang="zh-TW" altLang="zh-CN" dirty="0"/>
              <a:t>的状态变成了</a:t>
            </a:r>
            <a:r>
              <a:rPr lang="en-US" altLang="zh-CN" dirty="0"/>
              <a:t>C’</a:t>
            </a:r>
            <a:r>
              <a:rPr lang="zh-TW" altLang="zh-CN" dirty="0"/>
              <a:t>，</a:t>
            </a:r>
            <a:r>
              <a:rPr lang="zh-CN" altLang="en-US" dirty="0"/>
              <a:t>计算</a:t>
            </a:r>
            <a:r>
              <a:rPr lang="zh-TW" altLang="zh-CN" dirty="0"/>
              <a:t>下一个状态树的根</a:t>
            </a:r>
            <a:r>
              <a:rPr lang="en-US" altLang="zh-CN" dirty="0"/>
              <a:t>S’</a:t>
            </a:r>
          </a:p>
          <a:p>
            <a:pPr lvl="1">
              <a:lnSpc>
                <a:spcPct val="130000"/>
              </a:lnSpc>
            </a:pPr>
            <a:r>
              <a:rPr lang="zh-CN" altLang="en-US" dirty="0"/>
              <a:t>以太坊</a:t>
            </a:r>
            <a:r>
              <a:rPr lang="zh-TW" altLang="zh-CN" dirty="0"/>
              <a:t>将交易</a:t>
            </a:r>
            <a:r>
              <a:rPr lang="en-US" altLang="zh-CN" dirty="0"/>
              <a:t>T</a:t>
            </a:r>
            <a:r>
              <a:rPr lang="zh-TW" altLang="zh-CN" dirty="0"/>
              <a:t>和状态树根</a:t>
            </a:r>
            <a:r>
              <a:rPr lang="en-US" altLang="zh-CN" dirty="0"/>
              <a:t>S’</a:t>
            </a:r>
            <a:r>
              <a:rPr lang="zh-TW" altLang="zh-CN" dirty="0"/>
              <a:t>记录在下一个区块之中</a:t>
            </a:r>
            <a:endParaRPr lang="en-US" altLang="zh-CN" dirty="0"/>
          </a:p>
        </p:txBody>
      </p:sp>
      <p:pic>
        <p:nvPicPr>
          <p:cNvPr id="10" name="图片 9">
            <a:extLst>
              <a:ext uri="{FF2B5EF4-FFF2-40B4-BE49-F238E27FC236}">
                <a16:creationId xmlns:a16="http://schemas.microsoft.com/office/drawing/2014/main" id="{B5CA0FD2-FC40-A64A-A494-8638F3C820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141960" y="2030234"/>
            <a:ext cx="4361291" cy="3547741"/>
          </a:xfrm>
          <a:prstGeom prst="rect">
            <a:avLst/>
          </a:prstGeom>
          <a:noFill/>
        </p:spPr>
      </p:pic>
      <p:sp>
        <p:nvSpPr>
          <p:cNvPr id="11" name="文本框 10">
            <a:extLst>
              <a:ext uri="{FF2B5EF4-FFF2-40B4-BE49-F238E27FC236}">
                <a16:creationId xmlns:a16="http://schemas.microsoft.com/office/drawing/2014/main" id="{04F6DBAD-FCDA-3647-8E99-F227AADB3AAE}"/>
              </a:ext>
            </a:extLst>
          </p:cNvPr>
          <p:cNvSpPr txBox="1"/>
          <p:nvPr/>
        </p:nvSpPr>
        <p:spPr>
          <a:xfrm>
            <a:off x="8563675" y="5739216"/>
            <a:ext cx="1723549" cy="276999"/>
          </a:xfrm>
          <a:prstGeom prst="rect">
            <a:avLst/>
          </a:prstGeom>
          <a:noFill/>
        </p:spPr>
        <p:txBody>
          <a:bodyPr wrap="none" rtlCol="0">
            <a:spAutoFit/>
          </a:bodyPr>
          <a:lstStyle/>
          <a:p>
            <a:r>
              <a:rPr lang="zh-CN" altLang="zh-CN" sz="1200" dirty="0"/>
              <a:t>以太坊中状态树的变换</a:t>
            </a:r>
            <a:endParaRPr kumimoji="1" lang="zh-CN" altLang="en-US" sz="1200" dirty="0"/>
          </a:p>
        </p:txBody>
      </p:sp>
    </p:spTree>
    <p:extLst>
      <p:ext uri="{BB962C8B-B14F-4D97-AF65-F5344CB8AC3E}">
        <p14:creationId xmlns:p14="http://schemas.microsoft.com/office/powerpoint/2010/main" val="8945137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合约存储树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合约存储树</a:t>
            </a:r>
            <a:endParaRPr lang="en-US" altLang="zh-CN" dirty="0"/>
          </a:p>
          <a:p>
            <a:pPr lvl="1">
              <a:lnSpc>
                <a:spcPct val="130000"/>
              </a:lnSpc>
            </a:pPr>
            <a:r>
              <a:rPr lang="zh-TW" altLang="zh-CN" dirty="0"/>
              <a:t>合约账户下的存储也是一个映射表，它记录了从存储地址到存储值的一个映射关系</a:t>
            </a:r>
            <a:endParaRPr lang="en-US" altLang="zh-TW" dirty="0"/>
          </a:p>
          <a:p>
            <a:pPr lvl="1">
              <a:lnSpc>
                <a:spcPct val="130000"/>
              </a:lnSpc>
            </a:pPr>
            <a:r>
              <a:rPr lang="zh-TW" altLang="zh-CN" dirty="0"/>
              <a:t>在合约账户的数据结构中存储了这个映射表的哈希值</a:t>
            </a:r>
            <a:r>
              <a:rPr lang="zh-CN" altLang="en-US" dirty="0"/>
              <a:t>，</a:t>
            </a:r>
            <a:r>
              <a:rPr lang="zh-TW" altLang="zh-CN" dirty="0"/>
              <a:t>这个哈希值被称作存储根（</a:t>
            </a:r>
            <a:r>
              <a:rPr lang="en-US" altLang="zh-CN" dirty="0"/>
              <a:t>Storage Root</a:t>
            </a:r>
            <a:r>
              <a:rPr lang="zh-TW" altLang="zh-CN" dirty="0"/>
              <a:t>），它同样是由一棵</a:t>
            </a:r>
            <a:r>
              <a:rPr lang="en-US" altLang="zh-CN" dirty="0"/>
              <a:t>MPT</a:t>
            </a:r>
            <a:r>
              <a:rPr lang="zh-TW" altLang="zh-CN" dirty="0"/>
              <a:t>来维护和计算</a:t>
            </a:r>
            <a:endParaRPr lang="en-US" altLang="zh-TW" dirty="0"/>
          </a:p>
        </p:txBody>
      </p:sp>
    </p:spTree>
    <p:extLst>
      <p:ext uri="{BB962C8B-B14F-4D97-AF65-F5344CB8AC3E}">
        <p14:creationId xmlns:p14="http://schemas.microsoft.com/office/powerpoint/2010/main" val="14745553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交易树和收据树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交易树和收据树</a:t>
            </a:r>
            <a:endParaRPr lang="en-US" altLang="zh-CN" dirty="0"/>
          </a:p>
          <a:p>
            <a:pPr lvl="1">
              <a:lnSpc>
                <a:spcPct val="130000"/>
              </a:lnSpc>
            </a:pPr>
            <a:r>
              <a:rPr lang="zh-TW" altLang="zh-CN" dirty="0"/>
              <a:t>与比特币中的Merkle Tree类似的，对于区块中的所有交易和交易对应的收据，都可以使用MPT进行组织和证明</a:t>
            </a:r>
            <a:endParaRPr lang="en-US" altLang="zh-TW" dirty="0"/>
          </a:p>
          <a:p>
            <a:pPr lvl="1">
              <a:lnSpc>
                <a:spcPct val="130000"/>
              </a:lnSpc>
            </a:pPr>
            <a:r>
              <a:rPr lang="zh-TW" altLang="zh-CN" dirty="0"/>
              <a:t>MPT的构建不再是通过账户地址来进行，而是通过交易或者收据在区块中的序号来构建MPT</a:t>
            </a:r>
            <a:endParaRPr lang="en-US" altLang="zh-TW" dirty="0"/>
          </a:p>
        </p:txBody>
      </p:sp>
    </p:spTree>
    <p:extLst>
      <p:ext uri="{BB962C8B-B14F-4D97-AF65-F5344CB8AC3E}">
        <p14:creationId xmlns:p14="http://schemas.microsoft.com/office/powerpoint/2010/main" val="1311873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布隆过滤器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dirty="0"/>
              <a:t>用途</a:t>
            </a:r>
            <a:endParaRPr lang="en-US" altLang="zh-CN" dirty="0"/>
          </a:p>
          <a:p>
            <a:pPr lvl="1">
              <a:lnSpc>
                <a:spcPct val="130000"/>
              </a:lnSpc>
            </a:pPr>
            <a:r>
              <a:rPr lang="zh-TW" altLang="zh-CN" dirty="0"/>
              <a:t>以太坊中通过布隆过滤器对收据的日志进行索引</a:t>
            </a:r>
            <a:r>
              <a:rPr lang="zh-CN" altLang="en-US" dirty="0"/>
              <a:t>。</a:t>
            </a:r>
            <a:endParaRPr lang="en-US" altLang="zh-CN" dirty="0"/>
          </a:p>
          <a:p>
            <a:pPr>
              <a:lnSpc>
                <a:spcPct val="130000"/>
              </a:lnSpc>
            </a:pPr>
            <a:r>
              <a:rPr lang="zh-CN" altLang="en-US" dirty="0"/>
              <a:t>优点</a:t>
            </a:r>
            <a:endParaRPr lang="en-US" altLang="zh-CN" dirty="0"/>
          </a:p>
          <a:p>
            <a:pPr lvl="1">
              <a:lnSpc>
                <a:spcPct val="130000"/>
              </a:lnSpc>
            </a:pPr>
            <a:r>
              <a:rPr lang="zh-TW" altLang="zh-CN" dirty="0"/>
              <a:t>布隆过滤器可以用于检索一个值是否在一个集合中。在容忍一定的误识别率的条件下，它有着远超过一般算法的空间效率和时间效率。</a:t>
            </a:r>
            <a:r>
              <a:rPr lang="zh-CN" altLang="zh-CN" dirty="0"/>
              <a:t> </a:t>
            </a:r>
            <a:endParaRPr lang="en-US" altLang="zh-CN" dirty="0">
              <a:solidFill>
                <a:srgbClr val="C00000"/>
              </a:solidFill>
            </a:endParaRPr>
          </a:p>
          <a:p>
            <a:pPr>
              <a:lnSpc>
                <a:spcPct val="130000"/>
              </a:lnSpc>
            </a:pPr>
            <a:r>
              <a:rPr lang="zh-CN" altLang="en-US" dirty="0"/>
              <a:t>原理</a:t>
            </a:r>
            <a:endParaRPr lang="en-US" altLang="zh-CN" dirty="0"/>
          </a:p>
          <a:p>
            <a:pPr lvl="1">
              <a:lnSpc>
                <a:spcPct val="130000"/>
              </a:lnSpc>
            </a:pPr>
            <a:r>
              <a:rPr lang="zh-TW" altLang="zh-CN" dirty="0"/>
              <a:t>通过多个哈希函数将键值映射到位图之中，并在位图中合并集合中所有键值的映射结果。对于一个键值，如果经过同样的哈希函数映射之后，出现了在位图中没有出现的标记位，那么这个键值必定不存在于集合之中</a:t>
            </a:r>
            <a:r>
              <a:rPr lang="zh-CN" altLang="en-US" dirty="0"/>
              <a:t>。</a:t>
            </a:r>
            <a:endParaRPr lang="en-US" altLang="zh-CN" dirty="0">
              <a:solidFill>
                <a:srgbClr val="C00000"/>
              </a:solidFill>
            </a:endParaRPr>
          </a:p>
        </p:txBody>
      </p:sp>
    </p:spTree>
    <p:extLst>
      <p:ext uri="{BB962C8B-B14F-4D97-AF65-F5344CB8AC3E}">
        <p14:creationId xmlns:p14="http://schemas.microsoft.com/office/powerpoint/2010/main" val="27432435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布隆过滤器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实例</a:t>
            </a:r>
            <a:endParaRPr lang="en-US" altLang="zh-CN" dirty="0"/>
          </a:p>
          <a:p>
            <a:pPr lvl="1">
              <a:lnSpc>
                <a:spcPct val="130000"/>
              </a:lnSpc>
            </a:pPr>
            <a:r>
              <a:rPr lang="zh-TW" altLang="zh-CN" dirty="0"/>
              <a:t>在进行哈希方式</a:t>
            </a:r>
            <a:r>
              <a:rPr lang="en-US" altLang="zh-CN" dirty="0"/>
              <a:t>B</a:t>
            </a:r>
            <a:r>
              <a:rPr lang="zh-TW" altLang="zh-CN" dirty="0"/>
              <a:t>之后</a:t>
            </a:r>
            <a:r>
              <a:rPr lang="zh-CN" altLang="en-US" dirty="0"/>
              <a:t>，若</a:t>
            </a:r>
            <a:r>
              <a:rPr lang="zh-TW" altLang="zh-CN" dirty="0"/>
              <a:t>日志地址</a:t>
            </a:r>
            <a:r>
              <a:rPr lang="en-US" altLang="zh-CN" dirty="0"/>
              <a:t>Y</a:t>
            </a:r>
            <a:r>
              <a:rPr lang="zh-TW" altLang="zh-CN" dirty="0"/>
              <a:t>的哈希出现了新的标记位，那么日志地址</a:t>
            </a:r>
            <a:r>
              <a:rPr lang="en-US" altLang="zh-CN" dirty="0"/>
              <a:t>Y</a:t>
            </a:r>
            <a:r>
              <a:rPr lang="zh-TW" altLang="zh-CN" dirty="0"/>
              <a:t>必然不存在于原有四个日志地址之中</a:t>
            </a:r>
            <a:endParaRPr lang="en-US" altLang="zh-CN" dirty="0"/>
          </a:p>
        </p:txBody>
      </p:sp>
      <p:pic>
        <p:nvPicPr>
          <p:cNvPr id="9" name="图片 8">
            <a:extLst>
              <a:ext uri="{FF2B5EF4-FFF2-40B4-BE49-F238E27FC236}">
                <a16:creationId xmlns:a16="http://schemas.microsoft.com/office/drawing/2014/main" id="{050164F6-C058-A44E-8DA0-C751444DBC4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327082" y="3429000"/>
            <a:ext cx="5537835" cy="2904310"/>
          </a:xfrm>
          <a:prstGeom prst="rect">
            <a:avLst/>
          </a:prstGeom>
          <a:noFill/>
          <a:ln>
            <a:noFill/>
          </a:ln>
        </p:spPr>
      </p:pic>
      <p:sp>
        <p:nvSpPr>
          <p:cNvPr id="5" name="文本框 4">
            <a:extLst>
              <a:ext uri="{FF2B5EF4-FFF2-40B4-BE49-F238E27FC236}">
                <a16:creationId xmlns:a16="http://schemas.microsoft.com/office/drawing/2014/main" id="{B85E35F0-F291-3A4A-981B-AC5F5D9BA6FE}"/>
              </a:ext>
            </a:extLst>
          </p:cNvPr>
          <p:cNvSpPr txBox="1"/>
          <p:nvPr/>
        </p:nvSpPr>
        <p:spPr>
          <a:xfrm>
            <a:off x="5388113" y="6333310"/>
            <a:ext cx="1415772" cy="276999"/>
          </a:xfrm>
          <a:prstGeom prst="rect">
            <a:avLst/>
          </a:prstGeom>
          <a:noFill/>
        </p:spPr>
        <p:txBody>
          <a:bodyPr wrap="none" rtlCol="0">
            <a:spAutoFit/>
          </a:bodyPr>
          <a:lstStyle/>
          <a:p>
            <a:r>
              <a:rPr lang="zh-CN" altLang="zh-CN" sz="1200" dirty="0"/>
              <a:t>日志的布隆过滤器</a:t>
            </a:r>
            <a:endParaRPr kumimoji="1" lang="zh-CN" altLang="en-US" sz="1200" dirty="0"/>
          </a:p>
        </p:txBody>
      </p:sp>
    </p:spTree>
    <p:extLst>
      <p:ext uri="{BB962C8B-B14F-4D97-AF65-F5344CB8AC3E}">
        <p14:creationId xmlns:p14="http://schemas.microsoft.com/office/powerpoint/2010/main" val="36603049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以太坊的基本架构及原理</a:t>
            </a:r>
            <a:endParaRPr kumimoji="1" lang="en-US" altLang="zh-CN" dirty="0"/>
          </a:p>
          <a:p>
            <a:pPr>
              <a:lnSpc>
                <a:spcPct val="120000"/>
              </a:lnSpc>
            </a:pPr>
            <a:r>
              <a:rPr kumimoji="1" lang="zh-CN" altLang="en-US" dirty="0"/>
              <a:t>以太坊账户模型与转账原理</a:t>
            </a:r>
            <a:endParaRPr kumimoji="1" lang="en-US" altLang="zh-CN" dirty="0"/>
          </a:p>
          <a:p>
            <a:pPr>
              <a:lnSpc>
                <a:spcPct val="120000"/>
              </a:lnSpc>
            </a:pPr>
            <a:r>
              <a:rPr kumimoji="1" lang="zh-CN" altLang="en-US" dirty="0"/>
              <a:t>智能合约运行原理</a:t>
            </a:r>
            <a:endParaRPr kumimoji="1" lang="en-US" altLang="zh-CN" dirty="0"/>
          </a:p>
          <a:p>
            <a:pPr>
              <a:lnSpc>
                <a:spcPct val="120000"/>
              </a:lnSpc>
            </a:pPr>
            <a:r>
              <a:rPr kumimoji="1" lang="zh-CN" altLang="en-US" dirty="0"/>
              <a:t>以太坊交易方式</a:t>
            </a:r>
            <a:endParaRPr kumimoji="1" lang="en-US" altLang="zh-CN" dirty="0"/>
          </a:p>
          <a:p>
            <a:pPr>
              <a:lnSpc>
                <a:spcPct val="120000"/>
              </a:lnSpc>
            </a:pPr>
            <a:r>
              <a:rPr kumimoji="1" lang="zh-CN" altLang="en-US" dirty="0"/>
              <a:t>以太坊数据结构与存储方式</a:t>
            </a:r>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10151</TotalTime>
  <Words>6146</Words>
  <Application>Microsoft Office PowerPoint</Application>
  <PresentationFormat>宽屏</PresentationFormat>
  <Paragraphs>747</Paragraphs>
  <Slides>90</Slides>
  <Notes>88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90</vt:i4>
      </vt:variant>
    </vt:vector>
  </HeadingPairs>
  <TitlesOfParts>
    <vt:vector size="98" baseType="lpstr">
      <vt:lpstr>等线</vt:lpstr>
      <vt:lpstr>Microsoft YaHei</vt:lpstr>
      <vt:lpstr>Microsoft YaHei</vt:lpstr>
      <vt:lpstr>Arial</vt:lpstr>
      <vt:lpstr>Cambria Math</vt:lpstr>
      <vt:lpstr>Courier New</vt:lpstr>
      <vt:lpstr>Wingdings</vt:lpstr>
      <vt:lpstr>Office 主题​​</vt:lpstr>
      <vt:lpstr>第三章 以太坊</vt:lpstr>
      <vt:lpstr>本章内容</vt:lpstr>
      <vt:lpstr>以太坊(Ethereum)简介</vt:lpstr>
      <vt:lpstr>以太坊的诞生与发展</vt:lpstr>
      <vt:lpstr>以太坊与比特币对比</vt:lpstr>
      <vt:lpstr>以太坊特色与应用</vt:lpstr>
      <vt:lpstr>本章内容</vt:lpstr>
      <vt:lpstr>以太坊基本架构及原理</vt:lpstr>
      <vt:lpstr>以太坊基本架构及原理</vt:lpstr>
      <vt:lpstr>以太坊基本架构及原理</vt:lpstr>
      <vt:lpstr>以太坊简易架构图</vt:lpstr>
      <vt:lpstr>以太坊基本原理及例子</vt:lpstr>
      <vt:lpstr>以太坊基本原理及例子</vt:lpstr>
      <vt:lpstr>本章内容</vt:lpstr>
      <vt:lpstr>以太坊账户模型</vt:lpstr>
      <vt:lpstr>以太坊账户模型</vt:lpstr>
      <vt:lpstr>以太坊账户模型</vt:lpstr>
      <vt:lpstr>转账</vt:lpstr>
      <vt:lpstr>Nonce</vt:lpstr>
      <vt:lpstr>Nonce</vt:lpstr>
      <vt:lpstr>Nonce</vt:lpstr>
      <vt:lpstr>Nonce</vt:lpstr>
      <vt:lpstr>Nonce</vt:lpstr>
      <vt:lpstr>本章内容</vt:lpstr>
      <vt:lpstr>智能合约</vt:lpstr>
      <vt:lpstr>状态模型</vt:lpstr>
      <vt:lpstr>状态模型</vt:lpstr>
      <vt:lpstr>智能合约</vt:lpstr>
      <vt:lpstr>智能合约</vt:lpstr>
      <vt:lpstr>智能合约</vt:lpstr>
      <vt:lpstr>智能合约</vt:lpstr>
      <vt:lpstr>合约账户与数据存储</vt:lpstr>
      <vt:lpstr>合约账户与数据存储</vt:lpstr>
      <vt:lpstr>合约账户与数据存储</vt:lpstr>
      <vt:lpstr>合约账户与数据存储</vt:lpstr>
      <vt:lpstr>合约地址的生成</vt:lpstr>
      <vt:lpstr>合约地址的生成</vt:lpstr>
      <vt:lpstr>合约地址的生成</vt:lpstr>
      <vt:lpstr>驱动智能合约</vt:lpstr>
      <vt:lpstr>调用合约</vt:lpstr>
      <vt:lpstr>调用合约</vt:lpstr>
      <vt:lpstr>调用合约</vt:lpstr>
      <vt:lpstr>调用合约</vt:lpstr>
      <vt:lpstr>创建合约</vt:lpstr>
      <vt:lpstr>创建合约</vt:lpstr>
      <vt:lpstr>创建合约</vt:lpstr>
      <vt:lpstr>停机问题与Gas</vt:lpstr>
      <vt:lpstr>停机问题与Gas</vt:lpstr>
      <vt:lpstr>以太坊虚拟机</vt:lpstr>
      <vt:lpstr>以太坊虚拟机</vt:lpstr>
      <vt:lpstr>以太坊虚拟机</vt:lpstr>
      <vt:lpstr>本章内容</vt:lpstr>
      <vt:lpstr>交易内容</vt:lpstr>
      <vt:lpstr>交易内容</vt:lpstr>
      <vt:lpstr>交易内容</vt:lpstr>
      <vt:lpstr>交易内容</vt:lpstr>
      <vt:lpstr>交易费用</vt:lpstr>
      <vt:lpstr>交易费用</vt:lpstr>
      <vt:lpstr>交易费用</vt:lpstr>
      <vt:lpstr>交易费用</vt:lpstr>
      <vt:lpstr>交易费用</vt:lpstr>
      <vt:lpstr>交易的周期</vt:lpstr>
      <vt:lpstr>发起</vt:lpstr>
      <vt:lpstr>广播</vt:lpstr>
      <vt:lpstr>打包与执行</vt:lpstr>
      <vt:lpstr>打包与执行</vt:lpstr>
      <vt:lpstr>打包与执行</vt:lpstr>
      <vt:lpstr>打包与执行</vt:lpstr>
      <vt:lpstr>打包与执行</vt:lpstr>
      <vt:lpstr>验证与执行</vt:lpstr>
      <vt:lpstr>本章内容</vt:lpstr>
      <vt:lpstr>区块与叔块</vt:lpstr>
      <vt:lpstr>区块与叔块</vt:lpstr>
      <vt:lpstr>世界状态</vt:lpstr>
      <vt:lpstr>叔块</vt:lpstr>
      <vt:lpstr>叔块</vt:lpstr>
      <vt:lpstr>收据</vt:lpstr>
      <vt:lpstr>Merkle Patricia Trie </vt:lpstr>
      <vt:lpstr>Merkle Patricia Trie </vt:lpstr>
      <vt:lpstr>Merkle Patricia Trie </vt:lpstr>
      <vt:lpstr>压缩前缀树</vt:lpstr>
      <vt:lpstr>MPT</vt:lpstr>
      <vt:lpstr>MPT</vt:lpstr>
      <vt:lpstr>状态树</vt:lpstr>
      <vt:lpstr>状态树</vt:lpstr>
      <vt:lpstr>合约存储树</vt:lpstr>
      <vt:lpstr>交易树和收据树</vt:lpstr>
      <vt:lpstr>布隆过滤器 </vt:lpstr>
      <vt:lpstr>布隆过滤器 </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Canhui Wang</cp:lastModifiedBy>
  <cp:revision>1370</cp:revision>
  <dcterms:created xsi:type="dcterms:W3CDTF">2021-01-06T05:35:51Z</dcterms:created>
  <dcterms:modified xsi:type="dcterms:W3CDTF">2025-05-06T09:49:17Z</dcterms:modified>
</cp:coreProperties>
</file>