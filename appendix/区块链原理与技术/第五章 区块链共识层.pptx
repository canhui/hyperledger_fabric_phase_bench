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autoCompressPictures="0">
  <p:sldMasterIdLst>
    <p:sldMasterId id="2147483648" r:id="rId1"/>
  </p:sldMasterIdLst>
  <p:notesMasterIdLst>
    <p:notesMasterId r:id="rId46"/>
  </p:notesMasterIdLst>
  <p:sldIdLst>
    <p:sldId id="1257" r:id="rId2"/>
    <p:sldId id="1062" r:id="rId3"/>
    <p:sldId id="1260" r:id="rId4"/>
    <p:sldId id="1261" r:id="rId5"/>
    <p:sldId id="1262" r:id="rId6"/>
    <p:sldId id="1263" r:id="rId7"/>
    <p:sldId id="1264" r:id="rId8"/>
    <p:sldId id="1265" r:id="rId9"/>
    <p:sldId id="1258" r:id="rId10"/>
    <p:sldId id="1269" r:id="rId11"/>
    <p:sldId id="1270" r:id="rId12"/>
    <p:sldId id="1271" r:id="rId13"/>
    <p:sldId id="1272" r:id="rId14"/>
    <p:sldId id="1259" r:id="rId15"/>
    <p:sldId id="1273" r:id="rId16"/>
    <p:sldId id="1274" r:id="rId17"/>
    <p:sldId id="1275" r:id="rId18"/>
    <p:sldId id="1276" r:id="rId19"/>
    <p:sldId id="1277" r:id="rId20"/>
    <p:sldId id="1278" r:id="rId21"/>
    <p:sldId id="1279" r:id="rId22"/>
    <p:sldId id="1280" r:id="rId23"/>
    <p:sldId id="1281" r:id="rId24"/>
    <p:sldId id="1282" r:id="rId25"/>
    <p:sldId id="1283" r:id="rId26"/>
    <p:sldId id="1284" r:id="rId27"/>
    <p:sldId id="1285" r:id="rId28"/>
    <p:sldId id="1286" r:id="rId29"/>
    <p:sldId id="1287" r:id="rId30"/>
    <p:sldId id="1288" r:id="rId31"/>
    <p:sldId id="1289" r:id="rId32"/>
    <p:sldId id="1290" r:id="rId33"/>
    <p:sldId id="1291" r:id="rId34"/>
    <p:sldId id="1292" r:id="rId35"/>
    <p:sldId id="1293" r:id="rId36"/>
    <p:sldId id="1294" r:id="rId37"/>
    <p:sldId id="1295" r:id="rId38"/>
    <p:sldId id="1296" r:id="rId39"/>
    <p:sldId id="1297" r:id="rId40"/>
    <p:sldId id="1298" r:id="rId41"/>
    <p:sldId id="1299" r:id="rId42"/>
    <p:sldId id="1300" r:id="rId43"/>
    <p:sldId id="1301" r:id="rId44"/>
    <p:sldId id="994" r:id="rId4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CA4DC5EF-F422-4A4A-AE2D-E811906D492D}">
          <p14:sldIdLst>
            <p14:sldId id="1257"/>
            <p14:sldId id="1062"/>
            <p14:sldId id="1260"/>
            <p14:sldId id="1261"/>
            <p14:sldId id="1262"/>
            <p14:sldId id="1263"/>
            <p14:sldId id="1264"/>
            <p14:sldId id="1265"/>
            <p14:sldId id="1258"/>
            <p14:sldId id="1269"/>
            <p14:sldId id="1270"/>
            <p14:sldId id="1271"/>
            <p14:sldId id="1272"/>
            <p14:sldId id="1259"/>
            <p14:sldId id="1273"/>
            <p14:sldId id="1274"/>
            <p14:sldId id="1275"/>
            <p14:sldId id="1276"/>
            <p14:sldId id="1277"/>
            <p14:sldId id="1278"/>
            <p14:sldId id="1279"/>
            <p14:sldId id="1280"/>
            <p14:sldId id="1281"/>
            <p14:sldId id="1282"/>
            <p14:sldId id="1283"/>
            <p14:sldId id="1284"/>
            <p14:sldId id="1285"/>
            <p14:sldId id="1286"/>
            <p14:sldId id="1287"/>
            <p14:sldId id="1288"/>
            <p14:sldId id="1289"/>
            <p14:sldId id="1290"/>
            <p14:sldId id="1291"/>
            <p14:sldId id="1292"/>
            <p14:sldId id="1293"/>
            <p14:sldId id="1294"/>
            <p14:sldId id="1295"/>
            <p14:sldId id="1296"/>
            <p14:sldId id="1297"/>
            <p14:sldId id="1298"/>
            <p14:sldId id="1299"/>
            <p14:sldId id="1300"/>
            <p14:sldId id="1301"/>
            <p14:sldId id="99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CC"/>
    <a:srgbClr val="0000FF"/>
    <a:srgbClr val="5B307E"/>
    <a:srgbClr val="B962FF"/>
    <a:srgbClr val="FDCB0B"/>
    <a:srgbClr val="FFD700"/>
    <a:srgbClr val="F9BC12"/>
    <a:srgbClr val="FFD801"/>
    <a:srgbClr val="EFB914"/>
    <a:srgbClr val="F5BD1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79487" autoAdjust="0"/>
  </p:normalViewPr>
  <p:slideViewPr>
    <p:cSldViewPr snapToGrid="0" snapToObjects="1">
      <p:cViewPr varScale="1">
        <p:scale>
          <a:sx n="57" d="100"/>
          <a:sy n="57" d="100"/>
        </p:scale>
        <p:origin x="1218" y="66"/>
      </p:cViewPr>
      <p:guideLst/>
    </p:cSldViewPr>
  </p:slideViewPr>
  <p:outlineViewPr>
    <p:cViewPr>
      <p:scale>
        <a:sx n="33" d="100"/>
        <a:sy n="33" d="100"/>
      </p:scale>
      <p:origin x="0" y="-2640"/>
    </p:cViewPr>
  </p:outlineViewPr>
  <p:notesTextViewPr>
    <p:cViewPr>
      <p:scale>
        <a:sx n="145" d="100"/>
        <a:sy n="145" d="100"/>
      </p:scale>
      <p:origin x="0" y="0"/>
    </p:cViewPr>
  </p:notesTextViewPr>
  <p:sorterViewPr>
    <p:cViewPr>
      <p:scale>
        <a:sx n="173" d="100"/>
        <a:sy n="173"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5E8472-67E5-DE40-B53F-0C0FEA434AA0}" type="datetimeFigureOut">
              <a:rPr kumimoji="1" lang="zh-CN" altLang="en-US" smtClean="0"/>
              <a:t>2025/6/5</a:t>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40B8802-914A-7C41-BC77-CC54DEE99EEF}" type="slidenum">
              <a:rPr kumimoji="1" lang="zh-CN" altLang="en-US" smtClean="0"/>
              <a:t>‹#›</a:t>
            </a:fld>
            <a:endParaRPr kumimoji="1" lang="zh-CN" altLang="en-US"/>
          </a:p>
        </p:txBody>
      </p:sp>
    </p:spTree>
    <p:extLst>
      <p:ext uri="{BB962C8B-B14F-4D97-AF65-F5344CB8AC3E}">
        <p14:creationId xmlns:p14="http://schemas.microsoft.com/office/powerpoint/2010/main" val="39560254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en-US" altLang="zh-CN"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0</a:t>
            </a:fld>
            <a:endParaRPr kumimoji="1" lang="zh-CN" altLang="en-US"/>
          </a:p>
        </p:txBody>
      </p:sp>
    </p:spTree>
    <p:extLst>
      <p:ext uri="{BB962C8B-B14F-4D97-AF65-F5344CB8AC3E}">
        <p14:creationId xmlns:p14="http://schemas.microsoft.com/office/powerpoint/2010/main" val="11119099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a:t>
            </a:fld>
            <a:endParaRPr kumimoji="1" lang="zh-CN" altLang="en-US"/>
          </a:p>
        </p:txBody>
      </p:sp>
    </p:spTree>
    <p:extLst>
      <p:ext uri="{BB962C8B-B14F-4D97-AF65-F5344CB8AC3E}">
        <p14:creationId xmlns:p14="http://schemas.microsoft.com/office/powerpoint/2010/main" val="1112933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2</a:t>
            </a:fld>
            <a:endParaRPr kumimoji="1" lang="zh-CN" altLang="en-US"/>
          </a:p>
        </p:txBody>
      </p:sp>
    </p:spTree>
    <p:extLst>
      <p:ext uri="{BB962C8B-B14F-4D97-AF65-F5344CB8AC3E}">
        <p14:creationId xmlns:p14="http://schemas.microsoft.com/office/powerpoint/2010/main" val="251943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3</a:t>
            </a:fld>
            <a:endParaRPr kumimoji="1" lang="zh-CN" altLang="en-US"/>
          </a:p>
        </p:txBody>
      </p:sp>
    </p:spTree>
    <p:extLst>
      <p:ext uri="{BB962C8B-B14F-4D97-AF65-F5344CB8AC3E}">
        <p14:creationId xmlns:p14="http://schemas.microsoft.com/office/powerpoint/2010/main" val="41531621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4</a:t>
            </a:fld>
            <a:endParaRPr kumimoji="1" lang="zh-CN" altLang="en-US"/>
          </a:p>
        </p:txBody>
      </p:sp>
    </p:spTree>
    <p:extLst>
      <p:ext uri="{BB962C8B-B14F-4D97-AF65-F5344CB8AC3E}">
        <p14:creationId xmlns:p14="http://schemas.microsoft.com/office/powerpoint/2010/main" val="33630143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5</a:t>
            </a:fld>
            <a:endParaRPr kumimoji="1" lang="zh-CN" altLang="en-US"/>
          </a:p>
        </p:txBody>
      </p:sp>
    </p:spTree>
    <p:extLst>
      <p:ext uri="{BB962C8B-B14F-4D97-AF65-F5344CB8AC3E}">
        <p14:creationId xmlns:p14="http://schemas.microsoft.com/office/powerpoint/2010/main" val="7960653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图</a:t>
            </a:r>
            <a:r>
              <a:rPr kumimoji="1" lang="en-US" altLang="zh-CN" dirty="0"/>
              <a:t>5.1-(a)</a:t>
            </a:r>
            <a:r>
              <a:rPr kumimoji="1" lang="zh-CN" altLang="en-US" dirty="0"/>
              <a:t>不能满足线性一致性但是能够满足顺序一致性。首先，因为在全局时钟下，事情发生的顺序应该是</a:t>
            </a:r>
            <a:r>
              <a:rPr kumimoji="1" lang="en-US" altLang="zh-CN" dirty="0"/>
              <a:t>{P2:Write(y,2),P1:Write(x,4),P2:Read(x,0),P1:Read(y,2)}</a:t>
            </a:r>
            <a:r>
              <a:rPr kumimoji="1" lang="zh-CN" altLang="en-US" dirty="0"/>
              <a:t>，因为</a:t>
            </a:r>
            <a:r>
              <a:rPr kumimoji="1" lang="en-US" altLang="zh-CN" dirty="0"/>
              <a:t>P1:Write(x,4)</a:t>
            </a:r>
            <a:r>
              <a:rPr kumimoji="1" lang="zh-CN" altLang="en-US" dirty="0"/>
              <a:t>发生在</a:t>
            </a:r>
            <a:r>
              <a:rPr kumimoji="1" lang="en-US" altLang="zh-CN" dirty="0"/>
              <a:t>P2:Read(x,0)</a:t>
            </a:r>
            <a:r>
              <a:rPr kumimoji="1" lang="zh-CN" altLang="en-US" dirty="0"/>
              <a:t>前，所以不满足线性一致性，即</a:t>
            </a:r>
            <a:r>
              <a:rPr kumimoji="1" lang="en-US" altLang="zh-CN" dirty="0"/>
              <a:t>P2:Read(x,0)</a:t>
            </a:r>
            <a:r>
              <a:rPr kumimoji="1" lang="zh-CN" altLang="en-US" dirty="0"/>
              <a:t>应为</a:t>
            </a:r>
            <a:r>
              <a:rPr kumimoji="1" lang="en-US" altLang="zh-CN" dirty="0"/>
              <a:t>P2:Read(x,4)</a:t>
            </a:r>
            <a:r>
              <a:rPr kumimoji="1" lang="zh-CN" altLang="en-US" dirty="0"/>
              <a:t>。但是，图</a:t>
            </a:r>
            <a:r>
              <a:rPr kumimoji="1" lang="en-US" altLang="zh-CN" dirty="0"/>
              <a:t>5.1-(a)</a:t>
            </a:r>
            <a:r>
              <a:rPr kumimoji="1" lang="zh-CN" altLang="en-US" dirty="0"/>
              <a:t>是满足顺序一致性的，在每个进程看来，情况是这样的</a:t>
            </a:r>
            <a:r>
              <a:rPr kumimoji="1" lang="en-US" altLang="zh-CN" dirty="0"/>
              <a:t>{Write(y,2),Read(x,0),Write(x,4),Read(y,2)}</a:t>
            </a:r>
            <a:r>
              <a:rPr kumimoji="1" lang="zh-CN" altLang="en-US" dirty="0"/>
              <a:t>，顺序一致性不需要保证有上帝视角看到全局时钟，只需要有一个合理的全局顺序就行。图</a:t>
            </a:r>
            <a:r>
              <a:rPr kumimoji="1" lang="en-US" altLang="zh-CN" dirty="0"/>
              <a:t>5.1-(b)</a:t>
            </a:r>
            <a:r>
              <a:rPr kumimoji="1" lang="zh-CN" altLang="en-US" dirty="0"/>
              <a:t>能够满足线性一致性，因为不通过上帝视角得出来的结果为</a:t>
            </a:r>
            <a:r>
              <a:rPr kumimoji="1" lang="en-US" altLang="zh-CN" dirty="0"/>
              <a:t>{Write(y,2),Write(x,4),Read(x,4),Read(y,2)}</a:t>
            </a:r>
            <a:r>
              <a:rPr kumimoji="1" lang="zh-CN" altLang="en-US" dirty="0"/>
              <a:t>的确和全局时钟下事情发生的顺序一致。图</a:t>
            </a:r>
            <a:r>
              <a:rPr kumimoji="1" lang="en-US" altLang="zh-CN" dirty="0"/>
              <a:t>5.1-(c)</a:t>
            </a:r>
            <a:r>
              <a:rPr kumimoji="1" lang="zh-CN" altLang="en-US" dirty="0"/>
              <a:t>连顺序一致性都不能满足，因为经过推导，也不能得到一个自洽的全局的序。</a:t>
            </a:r>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6</a:t>
            </a:fld>
            <a:endParaRPr kumimoji="1" lang="zh-CN" altLang="en-US"/>
          </a:p>
        </p:txBody>
      </p:sp>
    </p:spTree>
    <p:extLst>
      <p:ext uri="{BB962C8B-B14F-4D97-AF65-F5344CB8AC3E}">
        <p14:creationId xmlns:p14="http://schemas.microsoft.com/office/powerpoint/2010/main" val="37212524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7</a:t>
            </a:fld>
            <a:endParaRPr kumimoji="1" lang="zh-CN" altLang="en-US"/>
          </a:p>
        </p:txBody>
      </p:sp>
    </p:spTree>
    <p:extLst>
      <p:ext uri="{BB962C8B-B14F-4D97-AF65-F5344CB8AC3E}">
        <p14:creationId xmlns:p14="http://schemas.microsoft.com/office/powerpoint/2010/main" val="24700264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8</a:t>
            </a:fld>
            <a:endParaRPr kumimoji="1" lang="zh-CN" altLang="en-US"/>
          </a:p>
        </p:txBody>
      </p:sp>
    </p:spTree>
    <p:extLst>
      <p:ext uri="{BB962C8B-B14F-4D97-AF65-F5344CB8AC3E}">
        <p14:creationId xmlns:p14="http://schemas.microsoft.com/office/powerpoint/2010/main" val="146124616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）同步（</a:t>
            </a:r>
            <a:r>
              <a:rPr lang="en-US" altLang="zh-CN" sz="1200" kern="1200" dirty="0">
                <a:solidFill>
                  <a:schemeClr val="tx1"/>
                </a:solidFill>
                <a:effectLst/>
                <a:latin typeface="+mn-lt"/>
                <a:ea typeface="+mn-ea"/>
                <a:cs typeface="+mn-cs"/>
              </a:rPr>
              <a:t>synchrony</a:t>
            </a:r>
            <a:r>
              <a:rPr lang="zh-CN" altLang="zh-CN" sz="1200" kern="1200" dirty="0">
                <a:solidFill>
                  <a:schemeClr val="tx1"/>
                </a:solidFill>
                <a:effectLst/>
                <a:latin typeface="+mn-lt"/>
                <a:ea typeface="+mn-ea"/>
                <a:cs typeface="+mn-cs"/>
              </a:rPr>
              <a:t>）：指系统中各个节点的时钟误差存在上限；节点所发出的消息，在一个确定的时间内，肯定会到达目标节点（传输时间有上界，且上界已知）。对于同步系统，可以很容易的判断消息是否丢失。</a:t>
            </a:r>
          </a:p>
          <a:p>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）异步（</a:t>
            </a:r>
            <a:r>
              <a:rPr lang="en-US" altLang="zh-CN" sz="1200" kern="1200" dirty="0">
                <a:solidFill>
                  <a:schemeClr val="tx1"/>
                </a:solidFill>
                <a:effectLst/>
                <a:latin typeface="+mn-lt"/>
                <a:ea typeface="+mn-ea"/>
                <a:cs typeface="+mn-cs"/>
              </a:rPr>
              <a:t>asynchrony</a:t>
            </a:r>
            <a:r>
              <a:rPr lang="zh-CN" altLang="zh-CN" sz="1200" kern="1200" dirty="0">
                <a:solidFill>
                  <a:schemeClr val="tx1"/>
                </a:solidFill>
                <a:effectLst/>
                <a:latin typeface="+mn-lt"/>
                <a:ea typeface="+mn-ea"/>
                <a:cs typeface="+mn-cs"/>
              </a:rPr>
              <a:t>）：指系统中各个节点可能存在较大的时钟差异；节点所发出的消息，不能确定一定会到达目标节点，可能会丢失（传输时间无上界）。这就无法判断某个消息迟迟没有被目标节点响应是因为出了什么问题（目标节点故障还是传输故障）？在我们的现实生活中，大多数系统都是异步系统。</a:t>
            </a:r>
          </a:p>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9</a:t>
            </a:fld>
            <a:endParaRPr kumimoji="1" lang="zh-CN" altLang="en-US"/>
          </a:p>
        </p:txBody>
      </p:sp>
    </p:spTree>
    <p:extLst>
      <p:ext uri="{BB962C8B-B14F-4D97-AF65-F5344CB8AC3E}">
        <p14:creationId xmlns:p14="http://schemas.microsoft.com/office/powerpoint/2010/main" val="206877953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10</a:t>
            </a:fld>
            <a:endParaRPr kumimoji="1" lang="zh-CN" altLang="en-US"/>
          </a:p>
        </p:txBody>
      </p:sp>
    </p:spTree>
    <p:extLst>
      <p:ext uri="{BB962C8B-B14F-4D97-AF65-F5344CB8AC3E}">
        <p14:creationId xmlns:p14="http://schemas.microsoft.com/office/powerpoint/2010/main" val="132042792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11</a:t>
            </a:fld>
            <a:endParaRPr kumimoji="1" lang="zh-CN" altLang="en-US"/>
          </a:p>
        </p:txBody>
      </p:sp>
    </p:spTree>
    <p:extLst>
      <p:ext uri="{BB962C8B-B14F-4D97-AF65-F5344CB8AC3E}">
        <p14:creationId xmlns:p14="http://schemas.microsoft.com/office/powerpoint/2010/main" val="139927203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12</a:t>
            </a:fld>
            <a:endParaRPr kumimoji="1" lang="zh-CN" altLang="en-US"/>
          </a:p>
        </p:txBody>
      </p:sp>
    </p:spTree>
    <p:extLst>
      <p:ext uri="{BB962C8B-B14F-4D97-AF65-F5344CB8AC3E}">
        <p14:creationId xmlns:p14="http://schemas.microsoft.com/office/powerpoint/2010/main" val="236369498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13</a:t>
            </a:fld>
            <a:endParaRPr kumimoji="1" lang="zh-CN" altLang="en-US"/>
          </a:p>
        </p:txBody>
      </p:sp>
    </p:spTree>
    <p:extLst>
      <p:ext uri="{BB962C8B-B14F-4D97-AF65-F5344CB8AC3E}">
        <p14:creationId xmlns:p14="http://schemas.microsoft.com/office/powerpoint/2010/main" val="230650778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14</a:t>
            </a:fld>
            <a:endParaRPr kumimoji="1" lang="zh-CN" altLang="en-US"/>
          </a:p>
        </p:txBody>
      </p:sp>
    </p:spTree>
    <p:extLst>
      <p:ext uri="{BB962C8B-B14F-4D97-AF65-F5344CB8AC3E}">
        <p14:creationId xmlns:p14="http://schemas.microsoft.com/office/powerpoint/2010/main" val="58418490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15</a:t>
            </a:fld>
            <a:endParaRPr kumimoji="1" lang="zh-CN" altLang="en-US"/>
          </a:p>
        </p:txBody>
      </p:sp>
    </p:spTree>
    <p:extLst>
      <p:ext uri="{BB962C8B-B14F-4D97-AF65-F5344CB8AC3E}">
        <p14:creationId xmlns:p14="http://schemas.microsoft.com/office/powerpoint/2010/main" val="82551496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ea typeface="+mn-ea"/>
                <a:cs typeface="+mn-cs"/>
              </a:rPr>
              <a:t>PBFT</a:t>
            </a:r>
            <a:r>
              <a:rPr lang="zh-CN" altLang="en-US" sz="1200" kern="1200" dirty="0">
                <a:solidFill>
                  <a:schemeClr val="tx1"/>
                </a:solidFill>
                <a:effectLst/>
                <a:latin typeface="+mn-lt"/>
                <a:ea typeface="+mn-ea"/>
                <a:cs typeface="+mn-cs"/>
              </a:rPr>
              <a:t>应用于联盟链的场景而不应用于公有链的场景有下面有三个原因：</a:t>
            </a:r>
          </a:p>
          <a:p>
            <a:r>
              <a:rPr lang="zh-CN" altLang="en-US"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1</a:t>
            </a:r>
            <a:r>
              <a:rPr lang="zh-CN" altLang="en-US"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PBFT</a:t>
            </a:r>
            <a:r>
              <a:rPr lang="zh-CN" altLang="en-US" sz="1200" kern="1200" dirty="0">
                <a:solidFill>
                  <a:schemeClr val="tx1"/>
                </a:solidFill>
                <a:effectLst/>
                <a:latin typeface="+mn-lt"/>
                <a:ea typeface="+mn-ea"/>
                <a:cs typeface="+mn-cs"/>
              </a:rPr>
              <a:t>在网络不稳定的情况下延迟很高；</a:t>
            </a:r>
          </a:p>
          <a:p>
            <a:r>
              <a:rPr lang="zh-CN" altLang="en-US"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2</a:t>
            </a:r>
            <a:r>
              <a:rPr lang="zh-CN" altLang="en-US" sz="1200" kern="1200" dirty="0">
                <a:solidFill>
                  <a:schemeClr val="tx1"/>
                </a:solidFill>
                <a:effectLst/>
                <a:latin typeface="+mn-lt"/>
                <a:ea typeface="+mn-ea"/>
                <a:cs typeface="+mn-cs"/>
              </a:rPr>
              <a:t>）基于投票机制，而投票集合是有限的，否则无法满足少数服从多数的原则；</a:t>
            </a:r>
          </a:p>
          <a:p>
            <a:r>
              <a:rPr lang="zh-CN" altLang="en-US"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3</a:t>
            </a:r>
            <a:r>
              <a:rPr lang="zh-CN" altLang="en-US" sz="1200" kern="1200" dirty="0">
                <a:solidFill>
                  <a:schemeClr val="tx1"/>
                </a:solidFill>
                <a:effectLst/>
                <a:latin typeface="+mn-lt"/>
                <a:ea typeface="+mn-ea"/>
                <a:cs typeface="+mn-cs"/>
              </a:rPr>
              <a:t>）通信复杂度</a:t>
            </a:r>
            <a:r>
              <a:rPr lang="en-US" altLang="zh-CN" sz="1200" kern="1200" dirty="0">
                <a:solidFill>
                  <a:schemeClr val="tx1"/>
                </a:solidFill>
                <a:effectLst/>
                <a:latin typeface="+mn-lt"/>
                <a:ea typeface="+mn-ea"/>
                <a:cs typeface="+mn-cs"/>
              </a:rPr>
              <a:t>O(N^2 )</a:t>
            </a:r>
            <a:r>
              <a:rPr lang="zh-CN" altLang="en-US" sz="1200" kern="1200" dirty="0">
                <a:solidFill>
                  <a:schemeClr val="tx1"/>
                </a:solidFill>
                <a:effectLst/>
                <a:latin typeface="+mn-lt"/>
                <a:ea typeface="+mn-ea"/>
                <a:cs typeface="+mn-cs"/>
              </a:rPr>
              <a:t>过高，可拓展性比较低，一般的系统在达到</a:t>
            </a:r>
            <a:r>
              <a:rPr lang="en-US" altLang="zh-CN" sz="1200" kern="1200" dirty="0">
                <a:solidFill>
                  <a:schemeClr val="tx1"/>
                </a:solidFill>
                <a:effectLst/>
                <a:latin typeface="+mn-lt"/>
                <a:ea typeface="+mn-ea"/>
                <a:cs typeface="+mn-cs"/>
              </a:rPr>
              <a:t>100</a:t>
            </a:r>
            <a:r>
              <a:rPr lang="zh-CN" altLang="en-US" sz="1200" kern="1200" dirty="0">
                <a:solidFill>
                  <a:schemeClr val="tx1"/>
                </a:solidFill>
                <a:effectLst/>
                <a:latin typeface="+mn-lt"/>
                <a:ea typeface="+mn-ea"/>
                <a:cs typeface="+mn-cs"/>
              </a:rPr>
              <a:t>左右的节点个数时，性能下降非常快。</a:t>
            </a:r>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16</a:t>
            </a:fld>
            <a:endParaRPr kumimoji="1" lang="zh-CN" altLang="en-US"/>
          </a:p>
        </p:txBody>
      </p:sp>
    </p:spTree>
    <p:extLst>
      <p:ext uri="{BB962C8B-B14F-4D97-AF65-F5344CB8AC3E}">
        <p14:creationId xmlns:p14="http://schemas.microsoft.com/office/powerpoint/2010/main" val="304935527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17</a:t>
            </a:fld>
            <a:endParaRPr kumimoji="1" lang="zh-CN" altLang="en-US"/>
          </a:p>
        </p:txBody>
      </p:sp>
    </p:spTree>
    <p:extLst>
      <p:ext uri="{BB962C8B-B14F-4D97-AF65-F5344CB8AC3E}">
        <p14:creationId xmlns:p14="http://schemas.microsoft.com/office/powerpoint/2010/main" val="144863459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cs typeface="+mn-cs"/>
              </a:rPr>
              <a:t>在该轮共识中，</a:t>
            </a:r>
            <a:r>
              <a:rPr lang="en-US" altLang="zh-CN" sz="1200" kern="1200" dirty="0">
                <a:solidFill>
                  <a:schemeClr val="tx1"/>
                </a:solidFill>
                <a:effectLst/>
                <a:latin typeface="+mn-lt"/>
                <a:ea typeface="+mn-ea"/>
                <a:cs typeface="+mn-cs"/>
              </a:rPr>
              <a:t>0</a:t>
            </a:r>
            <a:r>
              <a:rPr lang="zh-CN" altLang="en-US" sz="1200" kern="1200" dirty="0">
                <a:solidFill>
                  <a:schemeClr val="tx1"/>
                </a:solidFill>
                <a:effectLst/>
                <a:latin typeface="+mn-lt"/>
                <a:ea typeface="+mn-ea"/>
                <a:cs typeface="+mn-cs"/>
              </a:rPr>
              <a:t>是主节点（负责为共识网络提供共识对象），而</a:t>
            </a:r>
            <a:r>
              <a:rPr lang="en-US" altLang="zh-CN" sz="1200" kern="1200" dirty="0">
                <a:solidFill>
                  <a:schemeClr val="tx1"/>
                </a:solidFill>
                <a:effectLst/>
                <a:latin typeface="+mn-lt"/>
                <a:ea typeface="+mn-ea"/>
                <a:cs typeface="+mn-cs"/>
              </a:rPr>
              <a:t>1-3</a:t>
            </a:r>
            <a:r>
              <a:rPr lang="zh-CN" altLang="en-US" sz="1200" kern="1200" dirty="0">
                <a:solidFill>
                  <a:schemeClr val="tx1"/>
                </a:solidFill>
                <a:effectLst/>
                <a:latin typeface="+mn-lt"/>
                <a:ea typeface="+mn-ea"/>
                <a:cs typeface="+mn-cs"/>
              </a:rPr>
              <a:t>均是验证节点。收到客户端向主节点发起请求后，系统将进行</a:t>
            </a:r>
            <a:r>
              <a:rPr lang="en-US" altLang="zh-CN" sz="1200" kern="1200" dirty="0">
                <a:solidFill>
                  <a:schemeClr val="tx1"/>
                </a:solidFill>
                <a:effectLst/>
                <a:latin typeface="+mn-lt"/>
                <a:ea typeface="+mn-ea"/>
                <a:cs typeface="+mn-cs"/>
              </a:rPr>
              <a:t>PBFT</a:t>
            </a:r>
            <a:r>
              <a:rPr lang="zh-CN" altLang="en-US" sz="1200" kern="1200" dirty="0">
                <a:solidFill>
                  <a:schemeClr val="tx1"/>
                </a:solidFill>
                <a:effectLst/>
                <a:latin typeface="+mn-lt"/>
                <a:ea typeface="+mn-ea"/>
                <a:cs typeface="+mn-cs"/>
              </a:rPr>
              <a:t>核心的三阶段共识；其中预准备阶段和准备阶段是为了确保同一个主节点发出的消息在同一个视图中是顺序一致的，而准备阶段和提交阶段是为了确保消息在不同的视图之间是顺序一致的</a:t>
            </a:r>
            <a:endParaRPr lang="zh-CN"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18</a:t>
            </a:fld>
            <a:endParaRPr kumimoji="1" lang="zh-CN" altLang="en-US"/>
          </a:p>
        </p:txBody>
      </p:sp>
    </p:spTree>
    <p:extLst>
      <p:ext uri="{BB962C8B-B14F-4D97-AF65-F5344CB8AC3E}">
        <p14:creationId xmlns:p14="http://schemas.microsoft.com/office/powerpoint/2010/main" val="274681877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cs typeface="+mn-cs"/>
              </a:rPr>
              <a:t>其中</a:t>
            </a:r>
            <a:r>
              <a:rPr lang="en-US" altLang="zh-CN" sz="1200" kern="1200" dirty="0">
                <a:solidFill>
                  <a:schemeClr val="tx1"/>
                </a:solidFill>
                <a:effectLst/>
                <a:latin typeface="+mn-lt"/>
                <a:ea typeface="+mn-ea"/>
                <a:cs typeface="+mn-cs"/>
              </a:rPr>
              <a:t>PRE-PREPARE</a:t>
            </a:r>
            <a:r>
              <a:rPr lang="zh-CN" altLang="en-US" sz="1200" kern="1200" dirty="0">
                <a:solidFill>
                  <a:schemeClr val="tx1"/>
                </a:solidFill>
                <a:effectLst/>
                <a:latin typeface="+mn-lt"/>
                <a:ea typeface="+mn-ea"/>
                <a:cs typeface="+mn-cs"/>
              </a:rPr>
              <a:t>代表当前消息所处的协议阶段，</a:t>
            </a:r>
            <a:r>
              <a:rPr lang="en-US" altLang="zh-CN" sz="1200" kern="1200" dirty="0">
                <a:solidFill>
                  <a:schemeClr val="tx1"/>
                </a:solidFill>
                <a:effectLst/>
                <a:latin typeface="+mn-lt"/>
                <a:ea typeface="+mn-ea"/>
                <a:cs typeface="+mn-cs"/>
              </a:rPr>
              <a:t>v</a:t>
            </a:r>
            <a:r>
              <a:rPr lang="zh-CN" altLang="en-US" sz="1200" kern="1200" dirty="0">
                <a:solidFill>
                  <a:schemeClr val="tx1"/>
                </a:solidFill>
                <a:effectLst/>
                <a:latin typeface="+mn-lt"/>
                <a:ea typeface="+mn-ea"/>
                <a:cs typeface="+mn-cs"/>
              </a:rPr>
              <a:t>为当前视图的编号，</a:t>
            </a:r>
            <a:r>
              <a:rPr lang="en-US" altLang="zh-CN" sz="1200" kern="1200" dirty="0">
                <a:solidFill>
                  <a:schemeClr val="tx1"/>
                </a:solidFill>
                <a:effectLst/>
                <a:latin typeface="+mn-lt"/>
                <a:ea typeface="+mn-ea"/>
                <a:cs typeface="+mn-cs"/>
              </a:rPr>
              <a:t>n</a:t>
            </a:r>
            <a:r>
              <a:rPr lang="zh-CN" altLang="en-US" sz="1200" kern="1200" dirty="0">
                <a:solidFill>
                  <a:schemeClr val="tx1"/>
                </a:solidFill>
                <a:effectLst/>
                <a:latin typeface="+mn-lt"/>
                <a:ea typeface="+mn-ea"/>
                <a:cs typeface="+mn-cs"/>
              </a:rPr>
              <a:t>为主节点广播消息的一个唯一递增编号，</a:t>
            </a:r>
            <a:r>
              <a:rPr lang="en-US" altLang="zh-CN" sz="1200" kern="1200" dirty="0">
                <a:solidFill>
                  <a:schemeClr val="tx1"/>
                </a:solidFill>
                <a:effectLst/>
                <a:latin typeface="+mn-lt"/>
                <a:ea typeface="+mn-ea"/>
                <a:cs typeface="+mn-cs"/>
              </a:rPr>
              <a:t>d</a:t>
            </a:r>
            <a:r>
              <a:rPr lang="zh-CN" altLang="en-US" sz="1200" kern="1200" dirty="0">
                <a:solidFill>
                  <a:schemeClr val="tx1"/>
                </a:solidFill>
                <a:effectLst/>
                <a:latin typeface="+mn-lt"/>
                <a:ea typeface="+mn-ea"/>
                <a:cs typeface="+mn-cs"/>
              </a:rPr>
              <a:t>为消息</a:t>
            </a:r>
            <a:r>
              <a:rPr lang="en-US" altLang="zh-CN" sz="1200" kern="1200" dirty="0">
                <a:solidFill>
                  <a:schemeClr val="tx1"/>
                </a:solidFill>
                <a:effectLst/>
                <a:latin typeface="+mn-lt"/>
                <a:ea typeface="+mn-ea"/>
                <a:cs typeface="+mn-cs"/>
              </a:rPr>
              <a:t>m</a:t>
            </a:r>
            <a:r>
              <a:rPr lang="zh-CN" altLang="en-US" sz="1200" kern="1200" dirty="0">
                <a:solidFill>
                  <a:schemeClr val="tx1"/>
                </a:solidFill>
                <a:effectLst/>
                <a:latin typeface="+mn-lt"/>
                <a:ea typeface="+mn-ea"/>
                <a:cs typeface="+mn-cs"/>
              </a:rPr>
              <a:t>的摘要，</a:t>
            </a:r>
            <a:r>
              <a:rPr lang="en-US" altLang="zh-CN" sz="1200" kern="1200" dirty="0">
                <a:solidFill>
                  <a:schemeClr val="tx1"/>
                </a:solidFill>
                <a:effectLst/>
                <a:latin typeface="+mn-lt"/>
                <a:ea typeface="+mn-ea"/>
                <a:cs typeface="+mn-cs"/>
              </a:rPr>
              <a:t>m</a:t>
            </a:r>
            <a:r>
              <a:rPr lang="zh-CN" altLang="en-US" sz="1200" kern="1200" dirty="0">
                <a:solidFill>
                  <a:schemeClr val="tx1"/>
                </a:solidFill>
                <a:effectLst/>
                <a:latin typeface="+mn-lt"/>
                <a:ea typeface="+mn-ea"/>
                <a:cs typeface="+mn-cs"/>
              </a:rPr>
              <a:t>为客户端发来的消息，在区块链中可以视为交易</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验证节点对于消息的检验如下所示：</a:t>
            </a:r>
          </a:p>
          <a:p>
            <a:r>
              <a:rPr lang="zh-CN" altLang="en-US" sz="1200" kern="1200" dirty="0">
                <a:solidFill>
                  <a:schemeClr val="tx1"/>
                </a:solidFill>
                <a:effectLst/>
                <a:latin typeface="+mn-lt"/>
                <a:ea typeface="+mn-ea"/>
                <a:cs typeface="+mn-cs"/>
              </a:rPr>
              <a:t>	检查收到的消息摘要</a:t>
            </a:r>
            <a:r>
              <a:rPr lang="en-US" altLang="zh-CN" sz="1200" kern="1200" dirty="0">
                <a:solidFill>
                  <a:schemeClr val="tx1"/>
                </a:solidFill>
                <a:effectLst/>
                <a:latin typeface="+mn-lt"/>
                <a:ea typeface="+mn-ea"/>
                <a:cs typeface="+mn-cs"/>
              </a:rPr>
              <a:t>d</a:t>
            </a:r>
            <a:r>
              <a:rPr lang="zh-CN" altLang="en-US" sz="1200" kern="1200" dirty="0">
                <a:solidFill>
                  <a:schemeClr val="tx1"/>
                </a:solidFill>
                <a:effectLst/>
                <a:latin typeface="+mn-lt"/>
                <a:ea typeface="+mn-ea"/>
                <a:cs typeface="+mn-cs"/>
              </a:rPr>
              <a:t>与自己对</a:t>
            </a:r>
            <a:r>
              <a:rPr lang="en-US" altLang="zh-CN" sz="1200" kern="1200" dirty="0">
                <a:solidFill>
                  <a:schemeClr val="tx1"/>
                </a:solidFill>
                <a:effectLst/>
                <a:latin typeface="+mn-lt"/>
                <a:ea typeface="+mn-ea"/>
                <a:cs typeface="+mn-cs"/>
              </a:rPr>
              <a:t>m</a:t>
            </a:r>
            <a:r>
              <a:rPr lang="zh-CN" altLang="en-US" sz="1200" kern="1200" dirty="0">
                <a:solidFill>
                  <a:schemeClr val="tx1"/>
                </a:solidFill>
                <a:effectLst/>
                <a:latin typeface="+mn-lt"/>
                <a:ea typeface="+mn-ea"/>
                <a:cs typeface="+mn-cs"/>
              </a:rPr>
              <a:t>生成的摘要是否一致，确保消息的完整性。</a:t>
            </a:r>
          </a:p>
          <a:p>
            <a:r>
              <a:rPr lang="zh-CN" altLang="en-US" sz="1200" kern="1200" dirty="0">
                <a:solidFill>
                  <a:schemeClr val="tx1"/>
                </a:solidFill>
                <a:effectLst/>
                <a:latin typeface="+mn-lt"/>
                <a:ea typeface="+mn-ea"/>
                <a:cs typeface="+mn-cs"/>
              </a:rPr>
              <a:t>	检查</a:t>
            </a:r>
            <a:r>
              <a:rPr lang="en-US" altLang="zh-CN" sz="1200" kern="1200" dirty="0">
                <a:solidFill>
                  <a:schemeClr val="tx1"/>
                </a:solidFill>
                <a:effectLst/>
                <a:latin typeface="+mn-lt"/>
                <a:ea typeface="+mn-ea"/>
                <a:cs typeface="+mn-cs"/>
              </a:rPr>
              <a:t>v</a:t>
            </a:r>
            <a:r>
              <a:rPr lang="zh-CN" altLang="en-US" sz="1200" kern="1200" dirty="0">
                <a:solidFill>
                  <a:schemeClr val="tx1"/>
                </a:solidFill>
                <a:effectLst/>
                <a:latin typeface="+mn-lt"/>
                <a:ea typeface="+mn-ea"/>
                <a:cs typeface="+mn-cs"/>
              </a:rPr>
              <a:t>是否与当前视图的编号是否一致。</a:t>
            </a:r>
          </a:p>
          <a:p>
            <a:r>
              <a:rPr lang="zh-CN" altLang="en-US" sz="1200" kern="1200" dirty="0">
                <a:solidFill>
                  <a:schemeClr val="tx1"/>
                </a:solidFill>
                <a:effectLst/>
                <a:latin typeface="+mn-lt"/>
                <a:ea typeface="+mn-ea"/>
                <a:cs typeface="+mn-cs"/>
              </a:rPr>
              <a:t>	检查序号为</a:t>
            </a:r>
            <a:r>
              <a:rPr lang="en-US" altLang="zh-CN" sz="1200" kern="1200" dirty="0">
                <a:solidFill>
                  <a:schemeClr val="tx1"/>
                </a:solidFill>
                <a:effectLst/>
                <a:latin typeface="+mn-lt"/>
                <a:ea typeface="+mn-ea"/>
                <a:cs typeface="+mn-cs"/>
              </a:rPr>
              <a:t>n</a:t>
            </a:r>
            <a:r>
              <a:rPr lang="zh-CN" altLang="en-US" sz="1200" kern="1200" dirty="0">
                <a:solidFill>
                  <a:schemeClr val="tx1"/>
                </a:solidFill>
                <a:effectLst/>
                <a:latin typeface="+mn-lt"/>
                <a:ea typeface="+mn-ea"/>
                <a:cs typeface="+mn-cs"/>
              </a:rPr>
              <a:t>是否在高低水位区间</a:t>
            </a:r>
            <a:r>
              <a:rPr lang="en-US" altLang="zh-CN" sz="1200" kern="1200" dirty="0">
                <a:solidFill>
                  <a:schemeClr val="tx1"/>
                </a:solidFill>
                <a:effectLst/>
                <a:latin typeface="+mn-lt"/>
                <a:ea typeface="+mn-ea"/>
                <a:cs typeface="+mn-cs"/>
              </a:rPr>
              <a:t>[</a:t>
            </a:r>
            <a:r>
              <a:rPr lang="en-US" altLang="zh-CN" sz="1200" kern="1200" dirty="0" err="1">
                <a:solidFill>
                  <a:schemeClr val="tx1"/>
                </a:solidFill>
                <a:effectLst/>
                <a:latin typeface="+mn-lt"/>
                <a:ea typeface="+mn-ea"/>
                <a:cs typeface="+mn-cs"/>
              </a:rPr>
              <a:t>h,H</a:t>
            </a:r>
            <a:r>
              <a:rPr lang="en-US" altLang="zh-CN"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之间，防止主节点恶意地快速消耗可用的序号。</a:t>
            </a:r>
          </a:p>
          <a:p>
            <a:r>
              <a:rPr lang="zh-CN" altLang="en-US" sz="1200" kern="1200" dirty="0">
                <a:solidFill>
                  <a:schemeClr val="tx1"/>
                </a:solidFill>
                <a:effectLst/>
                <a:latin typeface="+mn-lt"/>
                <a:ea typeface="+mn-ea"/>
                <a:cs typeface="+mn-cs"/>
              </a:rPr>
              <a:t>	检查之前是否已经收到相同</a:t>
            </a:r>
            <a:r>
              <a:rPr lang="en-US" altLang="zh-CN" sz="1200" kern="1200" dirty="0">
                <a:solidFill>
                  <a:schemeClr val="tx1"/>
                </a:solidFill>
                <a:effectLst/>
                <a:latin typeface="+mn-lt"/>
                <a:ea typeface="+mn-ea"/>
                <a:cs typeface="+mn-cs"/>
              </a:rPr>
              <a:t>n</a:t>
            </a:r>
            <a:r>
              <a:rPr lang="zh-CN" altLang="en-US"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v</a:t>
            </a:r>
            <a:r>
              <a:rPr lang="zh-CN" altLang="en-US" sz="1200" kern="1200" dirty="0">
                <a:solidFill>
                  <a:schemeClr val="tx1"/>
                </a:solidFill>
                <a:effectLst/>
                <a:latin typeface="+mn-lt"/>
                <a:ea typeface="+mn-ea"/>
                <a:cs typeface="+mn-cs"/>
              </a:rPr>
              <a:t>，但不同摘要</a:t>
            </a:r>
            <a:r>
              <a:rPr lang="en-US" altLang="zh-CN" sz="1200" kern="1200" dirty="0">
                <a:solidFill>
                  <a:schemeClr val="tx1"/>
                </a:solidFill>
                <a:effectLst/>
                <a:latin typeface="+mn-lt"/>
                <a:ea typeface="+mn-ea"/>
                <a:cs typeface="+mn-cs"/>
              </a:rPr>
              <a:t>d</a:t>
            </a:r>
            <a:r>
              <a:rPr lang="zh-CN" altLang="en-US" sz="1200" kern="1200" dirty="0">
                <a:solidFill>
                  <a:schemeClr val="tx1"/>
                </a:solidFill>
                <a:effectLst/>
                <a:latin typeface="+mn-lt"/>
                <a:ea typeface="+mn-ea"/>
                <a:cs typeface="+mn-cs"/>
              </a:rPr>
              <a:t>的消息</a:t>
            </a:r>
            <a:r>
              <a:rPr lang="en-US" altLang="zh-CN" sz="1200" kern="1200" dirty="0">
                <a:solidFill>
                  <a:schemeClr val="tx1"/>
                </a:solidFill>
                <a:effectLst/>
                <a:latin typeface="+mn-lt"/>
                <a:ea typeface="+mn-ea"/>
                <a:cs typeface="+mn-cs"/>
              </a:rPr>
              <a:t>m</a:t>
            </a:r>
            <a:r>
              <a:rPr lang="zh-CN" altLang="en-US" sz="1200" kern="1200" dirty="0">
                <a:solidFill>
                  <a:schemeClr val="tx1"/>
                </a:solidFill>
                <a:effectLst/>
                <a:latin typeface="+mn-lt"/>
                <a:ea typeface="+mn-ea"/>
                <a:cs typeface="+mn-cs"/>
              </a:rPr>
              <a:t>，保证验证节点只处理具有相同</a:t>
            </a:r>
            <a:r>
              <a:rPr lang="en-US" altLang="zh-CN" sz="1200" kern="1200" dirty="0">
                <a:solidFill>
                  <a:schemeClr val="tx1"/>
                </a:solidFill>
                <a:effectLst/>
                <a:latin typeface="+mn-lt"/>
                <a:ea typeface="+mn-ea"/>
                <a:cs typeface="+mn-cs"/>
              </a:rPr>
              <a:t>n</a:t>
            </a:r>
            <a:r>
              <a:rPr lang="zh-CN" altLang="en-US"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v</a:t>
            </a:r>
            <a:r>
              <a:rPr lang="zh-CN" altLang="en-US" sz="1200" kern="1200" dirty="0">
                <a:solidFill>
                  <a:schemeClr val="tx1"/>
                </a:solidFill>
                <a:effectLst/>
                <a:latin typeface="+mn-lt"/>
                <a:ea typeface="+mn-ea"/>
                <a:cs typeface="+mn-cs"/>
              </a:rPr>
              <a:t>的消息中的一个。</a:t>
            </a:r>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19</a:t>
            </a:fld>
            <a:endParaRPr kumimoji="1" lang="zh-CN" altLang="en-US"/>
          </a:p>
        </p:txBody>
      </p:sp>
    </p:spTree>
    <p:extLst>
      <p:ext uri="{BB962C8B-B14F-4D97-AF65-F5344CB8AC3E}">
        <p14:creationId xmlns:p14="http://schemas.microsoft.com/office/powerpoint/2010/main" val="85326907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20</a:t>
            </a:fld>
            <a:endParaRPr kumimoji="1" lang="zh-CN" altLang="en-US"/>
          </a:p>
        </p:txBody>
      </p:sp>
    </p:spTree>
    <p:extLst>
      <p:ext uri="{BB962C8B-B14F-4D97-AF65-F5344CB8AC3E}">
        <p14:creationId xmlns:p14="http://schemas.microsoft.com/office/powerpoint/2010/main" val="351783227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21</a:t>
            </a:fld>
            <a:endParaRPr kumimoji="1" lang="zh-CN" altLang="en-US"/>
          </a:p>
        </p:txBody>
      </p:sp>
    </p:spTree>
    <p:extLst>
      <p:ext uri="{BB962C8B-B14F-4D97-AF65-F5344CB8AC3E}">
        <p14:creationId xmlns:p14="http://schemas.microsoft.com/office/powerpoint/2010/main" val="161668044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22</a:t>
            </a:fld>
            <a:endParaRPr kumimoji="1" lang="zh-CN" altLang="en-US"/>
          </a:p>
        </p:txBody>
      </p:sp>
    </p:spTree>
    <p:extLst>
      <p:ext uri="{BB962C8B-B14F-4D97-AF65-F5344CB8AC3E}">
        <p14:creationId xmlns:p14="http://schemas.microsoft.com/office/powerpoint/2010/main" val="142823688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23</a:t>
            </a:fld>
            <a:endParaRPr kumimoji="1" lang="zh-CN" altLang="en-US"/>
          </a:p>
        </p:txBody>
      </p:sp>
    </p:spTree>
    <p:extLst>
      <p:ext uri="{BB962C8B-B14F-4D97-AF65-F5344CB8AC3E}">
        <p14:creationId xmlns:p14="http://schemas.microsoft.com/office/powerpoint/2010/main" val="23622268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在正常的情况下，客户端发过来的请求</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𝑚</m:t>
                    </m:r>
                  </m:oMath>
                </a14:m>
                <a:r>
                  <a:rPr lang="zh-CN" altLang="zh-CN" sz="1200" kern="1200" dirty="0">
                    <a:solidFill>
                      <a:schemeClr val="tx1"/>
                    </a:solidFill>
                    <a:effectLst/>
                    <a:latin typeface="+mn-lt"/>
                    <a:ea typeface="+mn-ea"/>
                    <a:cs typeface="+mn-cs"/>
                  </a:rPr>
                  <a:t>都是由当前视图指定的主节点广播到网络中，但是当主节点宕机或者作恶，又或者是全网超过</a:t>
                </a:r>
                <a:r>
                  <a:rPr lang="en-US" altLang="zh-CN" sz="1200" kern="1200" dirty="0">
                    <a:solidFill>
                      <a:schemeClr val="tx1"/>
                    </a:solidFill>
                    <a:effectLst/>
                    <a:latin typeface="+mn-lt"/>
                    <a:ea typeface="+mn-ea"/>
                    <a:cs typeface="+mn-cs"/>
                  </a:rPr>
                  <a:t>1/3</a:t>
                </a:r>
                <a:r>
                  <a:rPr lang="zh-CN" altLang="zh-CN" sz="1200" kern="1200" dirty="0">
                    <a:solidFill>
                      <a:schemeClr val="tx1"/>
                    </a:solidFill>
                    <a:effectLst/>
                    <a:latin typeface="+mn-lt"/>
                    <a:ea typeface="+mn-ea"/>
                    <a:cs typeface="+mn-cs"/>
                  </a:rPr>
                  <a:t>的节点宕机时，则当前视图内的消息无法在全网达成共识。此时，</a:t>
                </a:r>
                <a:r>
                  <a:rPr lang="en-US" altLang="zh-CN" sz="1200" kern="1200" dirty="0">
                    <a:solidFill>
                      <a:schemeClr val="tx1"/>
                    </a:solidFill>
                    <a:effectLst/>
                    <a:latin typeface="+mn-lt"/>
                    <a:ea typeface="+mn-ea"/>
                    <a:cs typeface="+mn-cs"/>
                  </a:rPr>
                  <a:t>PBFT</a:t>
                </a:r>
                <a:r>
                  <a:rPr lang="zh-CN" altLang="zh-CN" sz="1200" kern="1200" dirty="0">
                    <a:solidFill>
                      <a:schemeClr val="tx1"/>
                    </a:solidFill>
                    <a:effectLst/>
                    <a:latin typeface="+mn-lt"/>
                    <a:ea typeface="+mn-ea"/>
                    <a:cs typeface="+mn-cs"/>
                  </a:rPr>
                  <a:t>将通过视图切换协议来将使得全网的节点切换到新的视图中对未完成的请求继续共识，避免节点无限期地等待，从而保证系统的可用性</a:t>
                </a:r>
                <a:endParaRPr lang="zh-CN" altLang="en-US" sz="1200" kern="1200" dirty="0">
                  <a:solidFill>
                    <a:schemeClr val="tx1"/>
                  </a:solidFill>
                  <a:effectLst/>
                  <a:latin typeface="+mn-lt"/>
                  <a:ea typeface="+mn-ea"/>
                  <a:cs typeface="+mn-cs"/>
                </a:endParaRPr>
              </a:p>
            </p:txBody>
          </p:sp>
        </mc:Choice>
        <mc:Fallback xmlns="">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在正常的情况下，客户端发过来的请求</a:t>
                </a:r>
                <a:r>
                  <a:rPr lang="en-US" altLang="zh-CN" sz="1200" i="0" kern="1200">
                    <a:solidFill>
                      <a:schemeClr val="tx1"/>
                    </a:solidFill>
                    <a:effectLst/>
                    <a:latin typeface="+mn-lt"/>
                    <a:ea typeface="+mn-ea"/>
                    <a:cs typeface="+mn-cs"/>
                  </a:rPr>
                  <a:t>𝑚</a:t>
                </a:r>
                <a:r>
                  <a:rPr lang="zh-CN" altLang="zh-CN" sz="1200" kern="1200" dirty="0">
                    <a:solidFill>
                      <a:schemeClr val="tx1"/>
                    </a:solidFill>
                    <a:effectLst/>
                    <a:latin typeface="+mn-lt"/>
                    <a:ea typeface="+mn-ea"/>
                    <a:cs typeface="+mn-cs"/>
                  </a:rPr>
                  <a:t>都是由当前视图指定的主节点广播到网络中，但是当主节点宕机或者作恶，又或者是全网超过</a:t>
                </a:r>
                <a:r>
                  <a:rPr lang="en-US" altLang="zh-CN" sz="1200" kern="1200" dirty="0">
                    <a:solidFill>
                      <a:schemeClr val="tx1"/>
                    </a:solidFill>
                    <a:effectLst/>
                    <a:latin typeface="+mn-lt"/>
                    <a:ea typeface="+mn-ea"/>
                    <a:cs typeface="+mn-cs"/>
                  </a:rPr>
                  <a:t>1/3</a:t>
                </a:r>
                <a:r>
                  <a:rPr lang="zh-CN" altLang="zh-CN" sz="1200" kern="1200" dirty="0">
                    <a:solidFill>
                      <a:schemeClr val="tx1"/>
                    </a:solidFill>
                    <a:effectLst/>
                    <a:latin typeface="+mn-lt"/>
                    <a:ea typeface="+mn-ea"/>
                    <a:cs typeface="+mn-cs"/>
                  </a:rPr>
                  <a:t>的节点宕机时，则当前视图内的消息无法在全网达成共识。此时，</a:t>
                </a:r>
                <a:r>
                  <a:rPr lang="en-US" altLang="zh-CN" sz="1200" kern="1200" dirty="0">
                    <a:solidFill>
                      <a:schemeClr val="tx1"/>
                    </a:solidFill>
                    <a:effectLst/>
                    <a:latin typeface="+mn-lt"/>
                    <a:ea typeface="+mn-ea"/>
                    <a:cs typeface="+mn-cs"/>
                  </a:rPr>
                  <a:t>PBFT</a:t>
                </a:r>
                <a:r>
                  <a:rPr lang="zh-CN" altLang="zh-CN" sz="1200" kern="1200" dirty="0">
                    <a:solidFill>
                      <a:schemeClr val="tx1"/>
                    </a:solidFill>
                    <a:effectLst/>
                    <a:latin typeface="+mn-lt"/>
                    <a:ea typeface="+mn-ea"/>
                    <a:cs typeface="+mn-cs"/>
                  </a:rPr>
                  <a:t>将通过视图切换协议来将使得全网的节点切换到新的视图中对未完成的请求继续共识，避免节点无限期地等待，从而保证系统的可用性</a:t>
                </a:r>
                <a:endParaRPr lang="zh-CN" altLang="en-US" sz="1200" kern="1200" dirty="0" smtClean="0">
                  <a:solidFill>
                    <a:schemeClr val="tx1"/>
                  </a:solidFill>
                  <a:effectLst/>
                  <a:latin typeface="+mn-lt"/>
                  <a:ea typeface="+mn-ea"/>
                  <a:cs typeface="+mn-cs"/>
                </a:endParaRPr>
              </a:p>
            </p:txBody>
          </p:sp>
        </mc:Fallback>
      </mc:AlternateContent>
      <p:sp>
        <p:nvSpPr>
          <p:cNvPr id="4" name="灯片编号占位符 3"/>
          <p:cNvSpPr>
            <a:spLocks noGrp="1"/>
          </p:cNvSpPr>
          <p:nvPr>
            <p:ph type="sldNum" sz="quarter" idx="5"/>
          </p:nvPr>
        </p:nvSpPr>
        <p:spPr/>
        <p:txBody>
          <a:bodyPr/>
          <a:lstStyle/>
          <a:p>
            <a:fld id="{840B8802-914A-7C41-BC77-CC54DEE99EEF}" type="slidenum">
              <a:rPr kumimoji="1" lang="zh-CN" altLang="en-US" smtClean="0"/>
              <a:t>24</a:t>
            </a:fld>
            <a:endParaRPr kumimoji="1" lang="zh-CN" altLang="en-US"/>
          </a:p>
        </p:txBody>
      </p:sp>
    </p:spTree>
    <p:extLst>
      <p:ext uri="{BB962C8B-B14F-4D97-AF65-F5344CB8AC3E}">
        <p14:creationId xmlns:p14="http://schemas.microsoft.com/office/powerpoint/2010/main" val="152701357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注意，当主节点</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𝑖</m:t>
                    </m:r>
                  </m:oMath>
                </a14:m>
                <a:r>
                  <a:rPr lang="zh-CN" altLang="zh-CN" sz="1200" kern="1200" dirty="0">
                    <a:solidFill>
                      <a:schemeClr val="tx1"/>
                    </a:solidFill>
                    <a:effectLst/>
                    <a:latin typeface="+mn-lt"/>
                    <a:ea typeface="+mn-ea"/>
                    <a:cs typeface="+mn-cs"/>
                  </a:rPr>
                  <a:t>收到</a:t>
                </a:r>
                <a14:m>
                  <m:oMath xmlns:m="http://schemas.openxmlformats.org/officeDocument/2006/math">
                    <m:r>
                      <a:rPr lang="en-US" altLang="zh-CN" sz="1200" kern="1200">
                        <a:solidFill>
                          <a:schemeClr val="tx1"/>
                        </a:solidFill>
                        <a:effectLst/>
                        <a:latin typeface="Cambria Math" panose="02040503050406030204" pitchFamily="18" charset="0"/>
                        <a:ea typeface="+mn-ea"/>
                        <a:cs typeface="+mn-cs"/>
                      </a:rPr>
                      <m:t>2</m:t>
                    </m:r>
                    <m:r>
                      <a:rPr lang="en-US" altLang="zh-CN" sz="1200" i="1" kern="1200">
                        <a:solidFill>
                          <a:schemeClr val="tx1"/>
                        </a:solidFill>
                        <a:effectLst/>
                        <a:latin typeface="Cambria Math" panose="02040503050406030204" pitchFamily="18" charset="0"/>
                        <a:ea typeface="+mn-ea"/>
                        <a:cs typeface="+mn-cs"/>
                      </a:rPr>
                      <m:t>𝐹</m:t>
                    </m:r>
                    <m:r>
                      <a:rPr lang="en-US" altLang="zh-CN" sz="1200" kern="1200">
                        <a:solidFill>
                          <a:schemeClr val="tx1"/>
                        </a:solidFill>
                        <a:effectLst/>
                        <a:latin typeface="Cambria Math" panose="02040503050406030204" pitchFamily="18" charset="0"/>
                        <a:ea typeface="+mn-ea"/>
                        <a:cs typeface="+mn-cs"/>
                      </a:rPr>
                      <m:t>+1</m:t>
                    </m:r>
                  </m:oMath>
                </a14:m>
                <a:r>
                  <a:rPr lang="zh-CN" altLang="zh-CN" sz="1200" kern="1200" dirty="0">
                    <a:solidFill>
                      <a:schemeClr val="tx1"/>
                    </a:solidFill>
                    <a:effectLst/>
                    <a:latin typeface="+mn-lt"/>
                    <a:ea typeface="+mn-ea"/>
                    <a:cs typeface="+mn-cs"/>
                  </a:rPr>
                  <a:t>个</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𝑉𝐼𝐸𝑊</m:t>
                    </m:r>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𝐶𝐻𝐴𝑁𝐺𝐸</m:t>
                    </m:r>
                  </m:oMath>
                </a14:m>
                <a:r>
                  <a:rPr lang="zh-CN" altLang="zh-CN" sz="1200" kern="1200" dirty="0">
                    <a:solidFill>
                      <a:schemeClr val="tx1"/>
                    </a:solidFill>
                    <a:effectLst/>
                    <a:latin typeface="+mn-lt"/>
                    <a:ea typeface="+mn-ea"/>
                    <a:cs typeface="+mn-cs"/>
                  </a:rPr>
                  <a:t>消息，可以确认高度为</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𝑛</m:t>
                    </m:r>
                  </m:oMath>
                </a14:m>
                <a:r>
                  <a:rPr lang="zh-CN" altLang="zh-CN" sz="1200" kern="1200" dirty="0">
                    <a:solidFill>
                      <a:schemeClr val="tx1"/>
                    </a:solidFill>
                    <a:effectLst/>
                    <a:latin typeface="+mn-lt"/>
                    <a:ea typeface="+mn-ea"/>
                    <a:cs typeface="+mn-cs"/>
                  </a:rPr>
                  <a:t>的稳定检查点之间的消息在视图切换的过程中不会丢失，但是当前检查点之后，下一个检查点之前的已经达到</a:t>
                </a:r>
                <a:r>
                  <a:rPr lang="en-US" altLang="zh-CN" sz="1200" kern="1200" dirty="0">
                    <a:solidFill>
                      <a:schemeClr val="tx1"/>
                    </a:solidFill>
                    <a:effectLst/>
                    <a:latin typeface="+mn-lt"/>
                    <a:ea typeface="+mn-ea"/>
                    <a:cs typeface="+mn-cs"/>
                  </a:rPr>
                  <a:t>PREPARED</a:t>
                </a:r>
                <a:r>
                  <a:rPr lang="zh-CN" altLang="zh-CN" sz="1200" kern="1200" dirty="0">
                    <a:solidFill>
                      <a:schemeClr val="tx1"/>
                    </a:solidFill>
                    <a:effectLst/>
                    <a:latin typeface="+mn-lt"/>
                    <a:ea typeface="+mn-ea"/>
                    <a:cs typeface="+mn-cs"/>
                  </a:rPr>
                  <a:t>状态的消息会丢失。因此，新视图的主节点会把旧视图中已经达到</a:t>
                </a:r>
                <a:r>
                  <a:rPr lang="en-US" altLang="zh-CN" sz="1200" kern="1200" dirty="0">
                    <a:solidFill>
                      <a:schemeClr val="tx1"/>
                    </a:solidFill>
                    <a:effectLst/>
                    <a:latin typeface="+mn-lt"/>
                    <a:ea typeface="+mn-ea"/>
                    <a:cs typeface="+mn-cs"/>
                  </a:rPr>
                  <a:t>PREPARED</a:t>
                </a:r>
                <a:r>
                  <a:rPr lang="zh-CN" altLang="zh-CN" sz="1200" kern="1200" dirty="0">
                    <a:solidFill>
                      <a:schemeClr val="tx1"/>
                    </a:solidFill>
                    <a:effectLst/>
                    <a:latin typeface="+mn-lt"/>
                    <a:ea typeface="+mn-ea"/>
                    <a:cs typeface="+mn-cs"/>
                  </a:rPr>
                  <a:t>状态的消息转换为</a:t>
                </a:r>
                <a:r>
                  <a:rPr lang="en-US" altLang="zh-CN" sz="1200" kern="1200" dirty="0">
                    <a:solidFill>
                      <a:schemeClr val="tx1"/>
                    </a:solidFill>
                    <a:effectLst/>
                    <a:latin typeface="+mn-lt"/>
                    <a:ea typeface="+mn-ea"/>
                    <a:cs typeface="+mn-cs"/>
                  </a:rPr>
                  <a:t>PRE-PREPARE</a:t>
                </a:r>
                <a:r>
                  <a:rPr lang="zh-CN" altLang="zh-CN" sz="1200" kern="1200" dirty="0">
                    <a:solidFill>
                      <a:schemeClr val="tx1"/>
                    </a:solidFill>
                    <a:effectLst/>
                    <a:latin typeface="+mn-lt"/>
                    <a:ea typeface="+mn-ea"/>
                    <a:cs typeface="+mn-cs"/>
                  </a:rPr>
                  <a:t>消息，重新广播到网络中了。</a:t>
                </a:r>
                <a:r>
                  <a:rPr lang="en-US" altLang="zh-CN" sz="1200" kern="1200" dirty="0">
                    <a:solidFill>
                      <a:schemeClr val="tx1"/>
                    </a:solidFill>
                    <a:effectLst/>
                    <a:latin typeface="+mn-lt"/>
                    <a:ea typeface="+mn-ea"/>
                    <a:cs typeface="+mn-cs"/>
                  </a:rPr>
                  <a:t>PRE-PREPARE</a:t>
                </a:r>
                <a:r>
                  <a:rPr lang="zh-CN" altLang="zh-CN" sz="1200" kern="1200" dirty="0">
                    <a:solidFill>
                      <a:schemeClr val="tx1"/>
                    </a:solidFill>
                    <a:effectLst/>
                    <a:latin typeface="+mn-lt"/>
                    <a:ea typeface="+mn-ea"/>
                    <a:cs typeface="+mn-cs"/>
                  </a:rPr>
                  <a:t>消息集合的选取规则如下所示：</a:t>
                </a:r>
              </a:p>
              <a:p>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）选取</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𝑉</m:t>
                    </m:r>
                  </m:oMath>
                </a14:m>
                <a:r>
                  <a:rPr lang="zh-CN" altLang="zh-CN" sz="1200" kern="1200" dirty="0">
                    <a:solidFill>
                      <a:schemeClr val="tx1"/>
                    </a:solidFill>
                    <a:effectLst/>
                    <a:latin typeface="+mn-lt"/>
                    <a:ea typeface="+mn-ea"/>
                    <a:cs typeface="+mn-cs"/>
                  </a:rPr>
                  <a:t>中高度最低的稳定检查点的编号</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𝑚𝑖𝑛</m:t>
                    </m:r>
                  </m:oMath>
                </a14:m>
                <a:r>
                  <a:rPr lang="zh-CN" altLang="zh-CN" sz="1200" kern="1200" dirty="0">
                    <a:solidFill>
                      <a:schemeClr val="tx1"/>
                    </a:solidFill>
                    <a:effectLst/>
                    <a:latin typeface="+mn-lt"/>
                    <a:ea typeface="+mn-ea"/>
                    <a:cs typeface="+mn-cs"/>
                  </a:rPr>
                  <a:t>，以及</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𝑉</m:t>
                    </m:r>
                  </m:oMath>
                </a14:m>
                <a:r>
                  <a:rPr lang="zh-CN" altLang="zh-CN" sz="1200" kern="1200" dirty="0">
                    <a:solidFill>
                      <a:schemeClr val="tx1"/>
                    </a:solidFill>
                    <a:effectLst/>
                    <a:latin typeface="+mn-lt"/>
                    <a:ea typeface="+mn-ea"/>
                    <a:cs typeface="+mn-cs"/>
                  </a:rPr>
                  <a:t>中已达到</a:t>
                </a:r>
                <a:r>
                  <a:rPr lang="en-US" altLang="zh-CN" sz="1200" kern="1200" dirty="0">
                    <a:solidFill>
                      <a:schemeClr val="tx1"/>
                    </a:solidFill>
                    <a:effectLst/>
                    <a:latin typeface="+mn-lt"/>
                    <a:ea typeface="+mn-ea"/>
                    <a:cs typeface="+mn-cs"/>
                  </a:rPr>
                  <a:t>PREPARED</a:t>
                </a:r>
                <a:r>
                  <a:rPr lang="zh-CN" altLang="zh-CN" sz="1200" kern="1200" dirty="0">
                    <a:solidFill>
                      <a:schemeClr val="tx1"/>
                    </a:solidFill>
                    <a:effectLst/>
                    <a:latin typeface="+mn-lt"/>
                    <a:ea typeface="+mn-ea"/>
                    <a:cs typeface="+mn-cs"/>
                  </a:rPr>
                  <a:t>状态消息的最大编号</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𝑚𝑎𝑥</m:t>
                    </m:r>
                  </m:oMath>
                </a14:m>
                <a:r>
                  <a:rPr lang="zh-CN" altLang="zh-CN" sz="1200" kern="1200" dirty="0">
                    <a:solidFill>
                      <a:schemeClr val="tx1"/>
                    </a:solidFill>
                    <a:effectLst/>
                    <a:latin typeface="+mn-lt"/>
                    <a:ea typeface="+mn-ea"/>
                    <a:cs typeface="+mn-cs"/>
                  </a:rPr>
                  <a:t>。</a:t>
                </a:r>
              </a:p>
              <a:p>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）对于</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𝑚𝑖𝑛</m:t>
                    </m:r>
                  </m:oMath>
                </a14:m>
                <a:r>
                  <a:rPr lang="zh-CN" altLang="zh-CN" sz="1200" kern="1200" dirty="0">
                    <a:solidFill>
                      <a:schemeClr val="tx1"/>
                    </a:solidFill>
                    <a:effectLst/>
                    <a:latin typeface="+mn-lt"/>
                    <a:ea typeface="+mn-ea"/>
                    <a:cs typeface="+mn-cs"/>
                  </a:rPr>
                  <a:t>和</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𝑚𝑎𝑥</m:t>
                    </m:r>
                  </m:oMath>
                </a14:m>
                <a:r>
                  <a:rPr lang="zh-CN" altLang="zh-CN" sz="1200" kern="1200" dirty="0">
                    <a:solidFill>
                      <a:schemeClr val="tx1"/>
                    </a:solidFill>
                    <a:effectLst/>
                    <a:latin typeface="+mn-lt"/>
                    <a:ea typeface="+mn-ea"/>
                    <a:cs typeface="+mn-cs"/>
                  </a:rPr>
                  <a:t>之间的每个序号</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𝑛</m:t>
                    </m:r>
                  </m:oMath>
                </a14:m>
                <a:r>
                  <a:rPr lang="zh-CN" altLang="zh-CN" sz="1200" kern="1200" dirty="0">
                    <a:solidFill>
                      <a:schemeClr val="tx1"/>
                    </a:solidFill>
                    <a:effectLst/>
                    <a:latin typeface="+mn-lt"/>
                    <a:ea typeface="+mn-ea"/>
                    <a:cs typeface="+mn-cs"/>
                  </a:rPr>
                  <a:t>，如果存在某个</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𝑃</m:t>
                    </m:r>
                  </m:oMath>
                </a14:m>
                <a:r>
                  <a:rPr lang="zh-CN" altLang="zh-CN" sz="1200" kern="1200" dirty="0">
                    <a:solidFill>
                      <a:schemeClr val="tx1"/>
                    </a:solidFill>
                    <a:effectLst/>
                    <a:latin typeface="+mn-lt"/>
                    <a:ea typeface="+mn-ea"/>
                    <a:cs typeface="+mn-cs"/>
                  </a:rPr>
                  <a:t>中，则创建</a:t>
                </a:r>
                <a14:m>
                  <m:oMath xmlns:m="http://schemas.openxmlformats.org/officeDocument/2006/math">
                    <m:r>
                      <a:rPr lang="en-US" altLang="zh-CN" sz="1200" kern="1200">
                        <a:solidFill>
                          <a:schemeClr val="tx1"/>
                        </a:solidFill>
                        <a:effectLst/>
                        <a:latin typeface="Cambria Math" panose="02040503050406030204" pitchFamily="18" charset="0"/>
                        <a:ea typeface="+mn-ea"/>
                        <a:cs typeface="+mn-cs"/>
                      </a:rPr>
                      <m:t>&lt;</m:t>
                    </m:r>
                    <m:r>
                      <a:rPr lang="en-US" altLang="zh-CN" sz="1200" i="1" kern="1200">
                        <a:solidFill>
                          <a:schemeClr val="tx1"/>
                        </a:solidFill>
                        <a:effectLst/>
                        <a:latin typeface="Cambria Math" panose="02040503050406030204" pitchFamily="18" charset="0"/>
                        <a:ea typeface="+mn-ea"/>
                        <a:cs typeface="+mn-cs"/>
                      </a:rPr>
                      <m:t>&lt;</m:t>
                    </m:r>
                    <m:r>
                      <a:rPr lang="en-US" altLang="zh-CN" sz="1200" i="1" kern="1200">
                        <a:solidFill>
                          <a:schemeClr val="tx1"/>
                        </a:solidFill>
                        <a:effectLst/>
                        <a:latin typeface="Cambria Math" panose="02040503050406030204" pitchFamily="18" charset="0"/>
                        <a:ea typeface="+mn-ea"/>
                        <a:cs typeface="+mn-cs"/>
                      </a:rPr>
                      <m:t>𝑃𝑅𝐸</m:t>
                    </m:r>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𝑃𝑅𝐸𝑃𝐴𝑅𝐸</m:t>
                    </m:r>
                    <m:r>
                      <a:rPr lang="en-US" altLang="zh-CN" sz="1200" kern="1200">
                        <a:solidFill>
                          <a:schemeClr val="tx1"/>
                        </a:solidFill>
                        <a:effectLst/>
                        <a:latin typeface="Cambria Math" panose="02040503050406030204" pitchFamily="18" charset="0"/>
                        <a:ea typeface="+mn-ea"/>
                        <a:cs typeface="+mn-cs"/>
                      </a:rPr>
                      <m:t>, </m:t>
                    </m:r>
                    <m:r>
                      <a:rPr lang="en-US" altLang="zh-CN" sz="1200" i="1" kern="1200">
                        <a:solidFill>
                          <a:schemeClr val="tx1"/>
                        </a:solidFill>
                        <a:effectLst/>
                        <a:latin typeface="Cambria Math" panose="02040503050406030204" pitchFamily="18" charset="0"/>
                        <a:ea typeface="+mn-ea"/>
                        <a:cs typeface="+mn-cs"/>
                      </a:rPr>
                      <m:t>𝑣</m:t>
                    </m:r>
                    <m:r>
                      <a:rPr lang="en-US" altLang="zh-CN" sz="1200" kern="1200">
                        <a:solidFill>
                          <a:schemeClr val="tx1"/>
                        </a:solidFill>
                        <a:effectLst/>
                        <a:latin typeface="Cambria Math" panose="02040503050406030204" pitchFamily="18" charset="0"/>
                        <a:ea typeface="+mn-ea"/>
                        <a:cs typeface="+mn-cs"/>
                      </a:rPr>
                      <m:t>+1, </m:t>
                    </m:r>
                    <m:r>
                      <a:rPr lang="en-US" altLang="zh-CN" sz="1200" i="1" kern="1200">
                        <a:solidFill>
                          <a:schemeClr val="tx1"/>
                        </a:solidFill>
                        <a:effectLst/>
                        <a:latin typeface="Cambria Math" panose="02040503050406030204" pitchFamily="18" charset="0"/>
                        <a:ea typeface="+mn-ea"/>
                        <a:cs typeface="+mn-cs"/>
                      </a:rPr>
                      <m:t>𝑛</m:t>
                    </m:r>
                    <m:r>
                      <a:rPr lang="en-US" altLang="zh-CN" sz="1200" kern="1200">
                        <a:solidFill>
                          <a:schemeClr val="tx1"/>
                        </a:solidFill>
                        <a:effectLst/>
                        <a:latin typeface="Cambria Math" panose="02040503050406030204" pitchFamily="18" charset="0"/>
                        <a:ea typeface="+mn-ea"/>
                        <a:cs typeface="+mn-cs"/>
                      </a:rPr>
                      <m:t>, </m:t>
                    </m:r>
                    <m:r>
                      <a:rPr lang="en-US" altLang="zh-CN" sz="1200" i="1" kern="1200">
                        <a:solidFill>
                          <a:schemeClr val="tx1"/>
                        </a:solidFill>
                        <a:effectLst/>
                        <a:latin typeface="Cambria Math" panose="02040503050406030204" pitchFamily="18" charset="0"/>
                        <a:ea typeface="+mn-ea"/>
                        <a:cs typeface="+mn-cs"/>
                      </a:rPr>
                      <m:t>𝑑</m:t>
                    </m:r>
                    <m:r>
                      <a:rPr lang="en-US" altLang="zh-CN" sz="1200" kern="1200">
                        <a:solidFill>
                          <a:schemeClr val="tx1"/>
                        </a:solidFill>
                        <a:effectLst/>
                        <a:latin typeface="Cambria Math" panose="02040503050406030204" pitchFamily="18" charset="0"/>
                        <a:ea typeface="+mn-ea"/>
                        <a:cs typeface="+mn-cs"/>
                      </a:rPr>
                      <m:t>&gt;</m:t>
                    </m:r>
                    <m:r>
                      <a:rPr lang="en-US" altLang="zh-CN" sz="1200" i="1" kern="1200">
                        <a:solidFill>
                          <a:schemeClr val="tx1"/>
                        </a:solidFill>
                        <a:effectLst/>
                        <a:latin typeface="Cambria Math" panose="02040503050406030204" pitchFamily="18" charset="0"/>
                        <a:ea typeface="+mn-ea"/>
                        <a:cs typeface="+mn-cs"/>
                      </a:rPr>
                      <m:t>, </m:t>
                    </m:r>
                    <m:r>
                      <a:rPr lang="en-US" altLang="zh-CN" sz="1200" i="1" kern="1200">
                        <a:solidFill>
                          <a:schemeClr val="tx1"/>
                        </a:solidFill>
                        <a:effectLst/>
                        <a:latin typeface="Cambria Math" panose="02040503050406030204" pitchFamily="18" charset="0"/>
                        <a:ea typeface="+mn-ea"/>
                        <a:cs typeface="+mn-cs"/>
                      </a:rPr>
                      <m:t>𝑚</m:t>
                    </m:r>
                    <m:r>
                      <a:rPr lang="en-US" altLang="zh-CN" sz="1200" kern="1200">
                        <a:solidFill>
                          <a:schemeClr val="tx1"/>
                        </a:solidFill>
                        <a:effectLst/>
                        <a:latin typeface="Cambria Math" panose="02040503050406030204" pitchFamily="18" charset="0"/>
                        <a:ea typeface="+mn-ea"/>
                        <a:cs typeface="+mn-cs"/>
                      </a:rPr>
                      <m:t>&gt;</m:t>
                    </m:r>
                  </m:oMath>
                </a14:m>
                <a:r>
                  <a:rPr lang="zh-CN" altLang="zh-CN" sz="1200" kern="1200" dirty="0">
                    <a:solidFill>
                      <a:schemeClr val="tx1"/>
                    </a:solidFill>
                    <a:effectLst/>
                    <a:latin typeface="+mn-lt"/>
                    <a:ea typeface="+mn-ea"/>
                    <a:cs typeface="+mn-cs"/>
                  </a:rPr>
                  <a:t>消息；否则，则创建一个空的</a:t>
                </a:r>
                <a:r>
                  <a:rPr lang="en-US" altLang="zh-CN" sz="1200" kern="1200" dirty="0">
                    <a:solidFill>
                      <a:schemeClr val="tx1"/>
                    </a:solidFill>
                    <a:effectLst/>
                    <a:latin typeface="+mn-lt"/>
                    <a:ea typeface="+mn-ea"/>
                    <a:cs typeface="+mn-cs"/>
                  </a:rPr>
                  <a:t>PRE-PREPARE</a:t>
                </a:r>
                <a:r>
                  <a:rPr lang="zh-CN" altLang="zh-CN" sz="1200" kern="1200" dirty="0">
                    <a:solidFill>
                      <a:schemeClr val="tx1"/>
                    </a:solidFill>
                    <a:effectLst/>
                    <a:latin typeface="+mn-lt"/>
                    <a:ea typeface="+mn-ea"/>
                    <a:cs typeface="+mn-cs"/>
                  </a:rPr>
                  <a:t>消息</a:t>
                </a:r>
                <a14:m>
                  <m:oMath xmlns:m="http://schemas.openxmlformats.org/officeDocument/2006/math">
                    <m:r>
                      <a:rPr lang="en-US" altLang="zh-CN" sz="1200" kern="1200">
                        <a:solidFill>
                          <a:schemeClr val="tx1"/>
                        </a:solidFill>
                        <a:effectLst/>
                        <a:latin typeface="Cambria Math" panose="02040503050406030204" pitchFamily="18" charset="0"/>
                        <a:ea typeface="+mn-ea"/>
                        <a:cs typeface="+mn-cs"/>
                      </a:rPr>
                      <m:t>&lt;</m:t>
                    </m:r>
                    <m:r>
                      <a:rPr lang="en-US" altLang="zh-CN" sz="1200" i="1" kern="1200">
                        <a:solidFill>
                          <a:schemeClr val="tx1"/>
                        </a:solidFill>
                        <a:effectLst/>
                        <a:latin typeface="Cambria Math" panose="02040503050406030204" pitchFamily="18" charset="0"/>
                        <a:ea typeface="+mn-ea"/>
                        <a:cs typeface="+mn-cs"/>
                      </a:rPr>
                      <m:t>&lt;</m:t>
                    </m:r>
                    <m:r>
                      <a:rPr lang="en-US" altLang="zh-CN" sz="1200" i="1" kern="1200">
                        <a:solidFill>
                          <a:schemeClr val="tx1"/>
                        </a:solidFill>
                        <a:effectLst/>
                        <a:latin typeface="Cambria Math" panose="02040503050406030204" pitchFamily="18" charset="0"/>
                        <a:ea typeface="+mn-ea"/>
                        <a:cs typeface="+mn-cs"/>
                      </a:rPr>
                      <m:t>𝑃𝑅𝐸</m:t>
                    </m:r>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𝑃𝑅𝐸𝑃𝐴𝑅𝐸</m:t>
                    </m:r>
                    <m:r>
                      <a:rPr lang="en-US" altLang="zh-CN" sz="1200" kern="1200">
                        <a:solidFill>
                          <a:schemeClr val="tx1"/>
                        </a:solidFill>
                        <a:effectLst/>
                        <a:latin typeface="Cambria Math" panose="02040503050406030204" pitchFamily="18" charset="0"/>
                        <a:ea typeface="+mn-ea"/>
                        <a:cs typeface="+mn-cs"/>
                      </a:rPr>
                      <m:t>, </m:t>
                    </m:r>
                    <m:r>
                      <a:rPr lang="en-US" altLang="zh-CN" sz="1200" i="1" kern="1200">
                        <a:solidFill>
                          <a:schemeClr val="tx1"/>
                        </a:solidFill>
                        <a:effectLst/>
                        <a:latin typeface="Cambria Math" panose="02040503050406030204" pitchFamily="18" charset="0"/>
                        <a:ea typeface="+mn-ea"/>
                        <a:cs typeface="+mn-cs"/>
                      </a:rPr>
                      <m:t>𝑣</m:t>
                    </m:r>
                    <m:r>
                      <a:rPr lang="en-US" altLang="zh-CN" sz="1200" kern="1200">
                        <a:solidFill>
                          <a:schemeClr val="tx1"/>
                        </a:solidFill>
                        <a:effectLst/>
                        <a:latin typeface="Cambria Math" panose="02040503050406030204" pitchFamily="18" charset="0"/>
                        <a:ea typeface="+mn-ea"/>
                        <a:cs typeface="+mn-cs"/>
                      </a:rPr>
                      <m:t>+1, </m:t>
                    </m:r>
                    <m:r>
                      <a:rPr lang="en-US" altLang="zh-CN" sz="1200" i="1" kern="1200">
                        <a:solidFill>
                          <a:schemeClr val="tx1"/>
                        </a:solidFill>
                        <a:effectLst/>
                        <a:latin typeface="Cambria Math" panose="02040503050406030204" pitchFamily="18" charset="0"/>
                        <a:ea typeface="+mn-ea"/>
                        <a:cs typeface="+mn-cs"/>
                      </a:rPr>
                      <m:t>𝑛</m:t>
                    </m:r>
                    <m:r>
                      <a:rPr lang="en-US" altLang="zh-CN" sz="1200" kern="1200">
                        <a:solidFill>
                          <a:schemeClr val="tx1"/>
                        </a:solidFill>
                        <a:effectLst/>
                        <a:latin typeface="Cambria Math" panose="02040503050406030204" pitchFamily="18" charset="0"/>
                        <a:ea typeface="+mn-ea"/>
                        <a:cs typeface="+mn-cs"/>
                      </a:rPr>
                      <m:t>, </m:t>
                    </m:r>
                    <m:r>
                      <a:rPr lang="en-US" altLang="zh-CN" sz="1200" i="1" kern="1200">
                        <a:solidFill>
                          <a:schemeClr val="tx1"/>
                        </a:solidFill>
                        <a:effectLst/>
                        <a:latin typeface="Cambria Math" panose="02040503050406030204" pitchFamily="18" charset="0"/>
                        <a:ea typeface="+mn-ea"/>
                        <a:cs typeface="+mn-cs"/>
                      </a:rPr>
                      <m:t>𝑑</m:t>
                    </m:r>
                    <m:r>
                      <a:rPr lang="en-US" altLang="zh-CN" sz="1200"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𝑛𝑢𝑙𝑙</m:t>
                    </m:r>
                    <m:r>
                      <a:rPr lang="en-US" altLang="zh-CN" sz="1200"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&gt;, </m:t>
                    </m:r>
                    <m:r>
                      <a:rPr lang="en-US" altLang="zh-CN" sz="1200" i="1" kern="1200">
                        <a:solidFill>
                          <a:schemeClr val="tx1"/>
                        </a:solidFill>
                        <a:effectLst/>
                        <a:latin typeface="Cambria Math" panose="02040503050406030204" pitchFamily="18" charset="0"/>
                        <a:ea typeface="+mn-ea"/>
                        <a:cs typeface="+mn-cs"/>
                      </a:rPr>
                      <m:t>𝑚</m:t>
                    </m:r>
                    <m:r>
                      <a:rPr lang="en-US" altLang="zh-CN" sz="1200"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𝑛𝑢𝑙𝑙</m:t>
                    </m:r>
                    <m:r>
                      <a:rPr lang="en-US" altLang="zh-CN" sz="1200"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&gt;</m:t>
                    </m:r>
                  </m:oMath>
                </a14:m>
                <a:r>
                  <a:rPr lang="zh-CN" altLang="zh-CN" sz="1200" kern="1200" dirty="0">
                    <a:solidFill>
                      <a:schemeClr val="tx1"/>
                    </a:solidFill>
                    <a:effectLst/>
                    <a:latin typeface="+mn-lt"/>
                    <a:ea typeface="+mn-ea"/>
                    <a:cs typeface="+mn-cs"/>
                  </a:rPr>
                  <a:t>，其中</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𝑑</m:t>
                    </m:r>
                    <m:r>
                      <a:rPr lang="en-US" altLang="zh-CN" sz="1200"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𝑛𝑢𝑙𝑙</m:t>
                    </m:r>
                    <m:r>
                      <a:rPr lang="en-US" altLang="zh-CN" sz="1200" kern="1200">
                        <a:solidFill>
                          <a:schemeClr val="tx1"/>
                        </a:solidFill>
                        <a:effectLst/>
                        <a:latin typeface="Cambria Math" panose="02040503050406030204" pitchFamily="18" charset="0"/>
                        <a:ea typeface="+mn-ea"/>
                        <a:cs typeface="+mn-cs"/>
                      </a:rPr>
                      <m:t>)</m:t>
                    </m:r>
                  </m:oMath>
                </a14:m>
                <a:r>
                  <a:rPr lang="zh-CN" altLang="zh-CN" sz="1200" kern="1200" dirty="0">
                    <a:solidFill>
                      <a:schemeClr val="tx1"/>
                    </a:solidFill>
                    <a:effectLst/>
                    <a:latin typeface="+mn-lt"/>
                    <a:ea typeface="+mn-ea"/>
                    <a:cs typeface="+mn-cs"/>
                  </a:rPr>
                  <a:t>为空消息摘要，</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𝑚</m:t>
                    </m:r>
                    <m:d>
                      <m:dPr>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𝑛𝑢𝑙𝑙</m:t>
                        </m:r>
                      </m:e>
                    </m:d>
                  </m:oMath>
                </a14:m>
                <a:r>
                  <a:rPr lang="zh-CN" altLang="zh-CN" sz="1200" kern="1200" dirty="0">
                    <a:solidFill>
                      <a:schemeClr val="tx1"/>
                    </a:solidFill>
                    <a:effectLst/>
                    <a:latin typeface="+mn-lt"/>
                    <a:ea typeface="+mn-ea"/>
                    <a:cs typeface="+mn-cs"/>
                  </a:rPr>
                  <a:t>为空消息。</a:t>
                </a:r>
              </a:p>
            </p:txBody>
          </p:sp>
        </mc:Choice>
        <mc:Fallback xmlns="">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注意，当主节点</a:t>
                </a:r>
                <a:r>
                  <a:rPr lang="en-US" altLang="zh-CN" sz="1200" i="0" kern="1200">
                    <a:solidFill>
                      <a:schemeClr val="tx1"/>
                    </a:solidFill>
                    <a:effectLst/>
                    <a:latin typeface="+mn-lt"/>
                    <a:ea typeface="+mn-ea"/>
                    <a:cs typeface="+mn-cs"/>
                  </a:rPr>
                  <a:t>𝑖</a:t>
                </a:r>
                <a:r>
                  <a:rPr lang="zh-CN" altLang="zh-CN" sz="1200" kern="1200" dirty="0">
                    <a:solidFill>
                      <a:schemeClr val="tx1"/>
                    </a:solidFill>
                    <a:effectLst/>
                    <a:latin typeface="+mn-lt"/>
                    <a:ea typeface="+mn-ea"/>
                    <a:cs typeface="+mn-cs"/>
                  </a:rPr>
                  <a:t>收到</a:t>
                </a:r>
                <a:r>
                  <a:rPr lang="en-US" altLang="zh-CN" sz="1200" i="0" kern="1200">
                    <a:solidFill>
                      <a:schemeClr val="tx1"/>
                    </a:solidFill>
                    <a:effectLst/>
                    <a:latin typeface="+mn-lt"/>
                    <a:ea typeface="+mn-ea"/>
                    <a:cs typeface="+mn-cs"/>
                  </a:rPr>
                  <a:t>2𝐹+1</a:t>
                </a:r>
                <a:r>
                  <a:rPr lang="zh-CN" altLang="zh-CN" sz="1200" kern="1200" dirty="0">
                    <a:solidFill>
                      <a:schemeClr val="tx1"/>
                    </a:solidFill>
                    <a:effectLst/>
                    <a:latin typeface="+mn-lt"/>
                    <a:ea typeface="+mn-ea"/>
                    <a:cs typeface="+mn-cs"/>
                  </a:rPr>
                  <a:t>个</a:t>
                </a:r>
                <a:r>
                  <a:rPr lang="en-US" altLang="zh-CN" sz="1200" i="0" kern="1200">
                    <a:solidFill>
                      <a:schemeClr val="tx1"/>
                    </a:solidFill>
                    <a:effectLst/>
                    <a:latin typeface="+mn-lt"/>
                    <a:ea typeface="+mn-ea"/>
                    <a:cs typeface="+mn-cs"/>
                  </a:rPr>
                  <a:t>𝑉𝐼𝐸𝑊−𝐶𝐻𝐴𝑁𝐺𝐸</a:t>
                </a:r>
                <a:r>
                  <a:rPr lang="zh-CN" altLang="zh-CN" sz="1200" kern="1200" dirty="0">
                    <a:solidFill>
                      <a:schemeClr val="tx1"/>
                    </a:solidFill>
                    <a:effectLst/>
                    <a:latin typeface="+mn-lt"/>
                    <a:ea typeface="+mn-ea"/>
                    <a:cs typeface="+mn-cs"/>
                  </a:rPr>
                  <a:t>消息，可以确认高度为</a:t>
                </a:r>
                <a:r>
                  <a:rPr lang="en-US" altLang="zh-CN" sz="1200" i="0" kern="1200">
                    <a:solidFill>
                      <a:schemeClr val="tx1"/>
                    </a:solidFill>
                    <a:effectLst/>
                    <a:latin typeface="+mn-lt"/>
                    <a:ea typeface="+mn-ea"/>
                    <a:cs typeface="+mn-cs"/>
                  </a:rPr>
                  <a:t>𝑛</a:t>
                </a:r>
                <a:r>
                  <a:rPr lang="zh-CN" altLang="zh-CN" sz="1200" kern="1200" dirty="0">
                    <a:solidFill>
                      <a:schemeClr val="tx1"/>
                    </a:solidFill>
                    <a:effectLst/>
                    <a:latin typeface="+mn-lt"/>
                    <a:ea typeface="+mn-ea"/>
                    <a:cs typeface="+mn-cs"/>
                  </a:rPr>
                  <a:t>的稳定检查点之间的消息在视图切换的过程中不会丢失，但是当前检查点之后，下一个检查点之前的已经达到</a:t>
                </a:r>
                <a:r>
                  <a:rPr lang="en-US" altLang="zh-CN" sz="1200" kern="1200" dirty="0">
                    <a:solidFill>
                      <a:schemeClr val="tx1"/>
                    </a:solidFill>
                    <a:effectLst/>
                    <a:latin typeface="+mn-lt"/>
                    <a:ea typeface="+mn-ea"/>
                    <a:cs typeface="+mn-cs"/>
                  </a:rPr>
                  <a:t>PREPARED</a:t>
                </a:r>
                <a:r>
                  <a:rPr lang="zh-CN" altLang="zh-CN" sz="1200" kern="1200" dirty="0">
                    <a:solidFill>
                      <a:schemeClr val="tx1"/>
                    </a:solidFill>
                    <a:effectLst/>
                    <a:latin typeface="+mn-lt"/>
                    <a:ea typeface="+mn-ea"/>
                    <a:cs typeface="+mn-cs"/>
                  </a:rPr>
                  <a:t>状态的消息会丢失。因此，新视图的主节点会把旧视图中已经达到</a:t>
                </a:r>
                <a:r>
                  <a:rPr lang="en-US" altLang="zh-CN" sz="1200" kern="1200" dirty="0">
                    <a:solidFill>
                      <a:schemeClr val="tx1"/>
                    </a:solidFill>
                    <a:effectLst/>
                    <a:latin typeface="+mn-lt"/>
                    <a:ea typeface="+mn-ea"/>
                    <a:cs typeface="+mn-cs"/>
                  </a:rPr>
                  <a:t>PREPARED</a:t>
                </a:r>
                <a:r>
                  <a:rPr lang="zh-CN" altLang="zh-CN" sz="1200" kern="1200" dirty="0">
                    <a:solidFill>
                      <a:schemeClr val="tx1"/>
                    </a:solidFill>
                    <a:effectLst/>
                    <a:latin typeface="+mn-lt"/>
                    <a:ea typeface="+mn-ea"/>
                    <a:cs typeface="+mn-cs"/>
                  </a:rPr>
                  <a:t>状态的消息转换为</a:t>
                </a:r>
                <a:r>
                  <a:rPr lang="en-US" altLang="zh-CN" sz="1200" kern="1200" dirty="0">
                    <a:solidFill>
                      <a:schemeClr val="tx1"/>
                    </a:solidFill>
                    <a:effectLst/>
                    <a:latin typeface="+mn-lt"/>
                    <a:ea typeface="+mn-ea"/>
                    <a:cs typeface="+mn-cs"/>
                  </a:rPr>
                  <a:t>PRE-PREPARE</a:t>
                </a:r>
                <a:r>
                  <a:rPr lang="zh-CN" altLang="zh-CN" sz="1200" kern="1200" dirty="0">
                    <a:solidFill>
                      <a:schemeClr val="tx1"/>
                    </a:solidFill>
                    <a:effectLst/>
                    <a:latin typeface="+mn-lt"/>
                    <a:ea typeface="+mn-ea"/>
                    <a:cs typeface="+mn-cs"/>
                  </a:rPr>
                  <a:t>消息，重新广播到网络中了。</a:t>
                </a:r>
                <a:r>
                  <a:rPr lang="en-US" altLang="zh-CN" sz="1200" kern="1200" dirty="0">
                    <a:solidFill>
                      <a:schemeClr val="tx1"/>
                    </a:solidFill>
                    <a:effectLst/>
                    <a:latin typeface="+mn-lt"/>
                    <a:ea typeface="+mn-ea"/>
                    <a:cs typeface="+mn-cs"/>
                  </a:rPr>
                  <a:t>PRE-PREPARE</a:t>
                </a:r>
                <a:r>
                  <a:rPr lang="zh-CN" altLang="zh-CN" sz="1200" kern="1200" dirty="0">
                    <a:solidFill>
                      <a:schemeClr val="tx1"/>
                    </a:solidFill>
                    <a:effectLst/>
                    <a:latin typeface="+mn-lt"/>
                    <a:ea typeface="+mn-ea"/>
                    <a:cs typeface="+mn-cs"/>
                  </a:rPr>
                  <a:t>消息集合的选取规则如下所示：</a:t>
                </a:r>
              </a:p>
              <a:p>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）选取</a:t>
                </a:r>
                <a:r>
                  <a:rPr lang="en-US" altLang="zh-CN" sz="1200" i="0" kern="1200">
                    <a:solidFill>
                      <a:schemeClr val="tx1"/>
                    </a:solidFill>
                    <a:effectLst/>
                    <a:latin typeface="+mn-lt"/>
                    <a:ea typeface="+mn-ea"/>
                    <a:cs typeface="+mn-cs"/>
                  </a:rPr>
                  <a:t>𝑉</a:t>
                </a:r>
                <a:r>
                  <a:rPr lang="zh-CN" altLang="zh-CN" sz="1200" kern="1200" dirty="0">
                    <a:solidFill>
                      <a:schemeClr val="tx1"/>
                    </a:solidFill>
                    <a:effectLst/>
                    <a:latin typeface="+mn-lt"/>
                    <a:ea typeface="+mn-ea"/>
                    <a:cs typeface="+mn-cs"/>
                  </a:rPr>
                  <a:t>中高度最低的稳定检查点的编号</a:t>
                </a:r>
                <a:r>
                  <a:rPr lang="en-US" altLang="zh-CN" sz="1200" i="0" kern="1200">
                    <a:solidFill>
                      <a:schemeClr val="tx1"/>
                    </a:solidFill>
                    <a:effectLst/>
                    <a:latin typeface="+mn-lt"/>
                    <a:ea typeface="+mn-ea"/>
                    <a:cs typeface="+mn-cs"/>
                  </a:rPr>
                  <a:t>𝑚𝑖𝑛</a:t>
                </a:r>
                <a:r>
                  <a:rPr lang="zh-CN" altLang="zh-CN" sz="1200" kern="1200" dirty="0">
                    <a:solidFill>
                      <a:schemeClr val="tx1"/>
                    </a:solidFill>
                    <a:effectLst/>
                    <a:latin typeface="+mn-lt"/>
                    <a:ea typeface="+mn-ea"/>
                    <a:cs typeface="+mn-cs"/>
                  </a:rPr>
                  <a:t>，以及</a:t>
                </a:r>
                <a:r>
                  <a:rPr lang="en-US" altLang="zh-CN" sz="1200" i="0" kern="1200">
                    <a:solidFill>
                      <a:schemeClr val="tx1"/>
                    </a:solidFill>
                    <a:effectLst/>
                    <a:latin typeface="+mn-lt"/>
                    <a:ea typeface="+mn-ea"/>
                    <a:cs typeface="+mn-cs"/>
                  </a:rPr>
                  <a:t>𝑉</a:t>
                </a:r>
                <a:r>
                  <a:rPr lang="zh-CN" altLang="zh-CN" sz="1200" kern="1200" dirty="0">
                    <a:solidFill>
                      <a:schemeClr val="tx1"/>
                    </a:solidFill>
                    <a:effectLst/>
                    <a:latin typeface="+mn-lt"/>
                    <a:ea typeface="+mn-ea"/>
                    <a:cs typeface="+mn-cs"/>
                  </a:rPr>
                  <a:t>中已达到</a:t>
                </a:r>
                <a:r>
                  <a:rPr lang="en-US" altLang="zh-CN" sz="1200" kern="1200" dirty="0">
                    <a:solidFill>
                      <a:schemeClr val="tx1"/>
                    </a:solidFill>
                    <a:effectLst/>
                    <a:latin typeface="+mn-lt"/>
                    <a:ea typeface="+mn-ea"/>
                    <a:cs typeface="+mn-cs"/>
                  </a:rPr>
                  <a:t>PREPARED</a:t>
                </a:r>
                <a:r>
                  <a:rPr lang="zh-CN" altLang="zh-CN" sz="1200" kern="1200" dirty="0">
                    <a:solidFill>
                      <a:schemeClr val="tx1"/>
                    </a:solidFill>
                    <a:effectLst/>
                    <a:latin typeface="+mn-lt"/>
                    <a:ea typeface="+mn-ea"/>
                    <a:cs typeface="+mn-cs"/>
                  </a:rPr>
                  <a:t>状态消息的最大编号</a:t>
                </a:r>
                <a:r>
                  <a:rPr lang="en-US" altLang="zh-CN" sz="1200" i="0" kern="1200">
                    <a:solidFill>
                      <a:schemeClr val="tx1"/>
                    </a:solidFill>
                    <a:effectLst/>
                    <a:latin typeface="+mn-lt"/>
                    <a:ea typeface="+mn-ea"/>
                    <a:cs typeface="+mn-cs"/>
                  </a:rPr>
                  <a:t>𝑚𝑎𝑥</a:t>
                </a:r>
                <a:r>
                  <a:rPr lang="zh-CN" altLang="zh-CN" sz="1200" kern="1200" dirty="0">
                    <a:solidFill>
                      <a:schemeClr val="tx1"/>
                    </a:solidFill>
                    <a:effectLst/>
                    <a:latin typeface="+mn-lt"/>
                    <a:ea typeface="+mn-ea"/>
                    <a:cs typeface="+mn-cs"/>
                  </a:rPr>
                  <a:t>。</a:t>
                </a:r>
              </a:p>
              <a:p>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）对于</a:t>
                </a:r>
                <a:r>
                  <a:rPr lang="en-US" altLang="zh-CN" sz="1200" i="0" kern="1200">
                    <a:solidFill>
                      <a:schemeClr val="tx1"/>
                    </a:solidFill>
                    <a:effectLst/>
                    <a:latin typeface="+mn-lt"/>
                    <a:ea typeface="+mn-ea"/>
                    <a:cs typeface="+mn-cs"/>
                  </a:rPr>
                  <a:t>𝑚𝑖𝑛</a:t>
                </a:r>
                <a:r>
                  <a:rPr lang="zh-CN" altLang="zh-CN" sz="1200" kern="1200" dirty="0">
                    <a:solidFill>
                      <a:schemeClr val="tx1"/>
                    </a:solidFill>
                    <a:effectLst/>
                    <a:latin typeface="+mn-lt"/>
                    <a:ea typeface="+mn-ea"/>
                    <a:cs typeface="+mn-cs"/>
                  </a:rPr>
                  <a:t>和</a:t>
                </a:r>
                <a:r>
                  <a:rPr lang="en-US" altLang="zh-CN" sz="1200" i="0" kern="1200">
                    <a:solidFill>
                      <a:schemeClr val="tx1"/>
                    </a:solidFill>
                    <a:effectLst/>
                    <a:latin typeface="+mn-lt"/>
                    <a:ea typeface="+mn-ea"/>
                    <a:cs typeface="+mn-cs"/>
                  </a:rPr>
                  <a:t>𝑚𝑎𝑥</a:t>
                </a:r>
                <a:r>
                  <a:rPr lang="zh-CN" altLang="zh-CN" sz="1200" kern="1200" dirty="0">
                    <a:solidFill>
                      <a:schemeClr val="tx1"/>
                    </a:solidFill>
                    <a:effectLst/>
                    <a:latin typeface="+mn-lt"/>
                    <a:ea typeface="+mn-ea"/>
                    <a:cs typeface="+mn-cs"/>
                  </a:rPr>
                  <a:t>之间的每个序号</a:t>
                </a:r>
                <a:r>
                  <a:rPr lang="en-US" altLang="zh-CN" sz="1200" i="0" kern="1200">
                    <a:solidFill>
                      <a:schemeClr val="tx1"/>
                    </a:solidFill>
                    <a:effectLst/>
                    <a:latin typeface="+mn-lt"/>
                    <a:ea typeface="+mn-ea"/>
                    <a:cs typeface="+mn-cs"/>
                  </a:rPr>
                  <a:t>𝑛</a:t>
                </a:r>
                <a:r>
                  <a:rPr lang="zh-CN" altLang="zh-CN" sz="1200" kern="1200" dirty="0">
                    <a:solidFill>
                      <a:schemeClr val="tx1"/>
                    </a:solidFill>
                    <a:effectLst/>
                    <a:latin typeface="+mn-lt"/>
                    <a:ea typeface="+mn-ea"/>
                    <a:cs typeface="+mn-cs"/>
                  </a:rPr>
                  <a:t>，如果存在某个</a:t>
                </a:r>
                <a:r>
                  <a:rPr lang="en-US" altLang="zh-CN" sz="1200" i="0" kern="1200">
                    <a:solidFill>
                      <a:schemeClr val="tx1"/>
                    </a:solidFill>
                    <a:effectLst/>
                    <a:latin typeface="+mn-lt"/>
                    <a:ea typeface="+mn-ea"/>
                    <a:cs typeface="+mn-cs"/>
                  </a:rPr>
                  <a:t>𝑃</a:t>
                </a:r>
                <a:r>
                  <a:rPr lang="zh-CN" altLang="zh-CN" sz="1200" kern="1200" dirty="0">
                    <a:solidFill>
                      <a:schemeClr val="tx1"/>
                    </a:solidFill>
                    <a:effectLst/>
                    <a:latin typeface="+mn-lt"/>
                    <a:ea typeface="+mn-ea"/>
                    <a:cs typeface="+mn-cs"/>
                  </a:rPr>
                  <a:t>中，则创建</a:t>
                </a:r>
                <a:r>
                  <a:rPr lang="en-US" altLang="zh-CN" sz="1200" i="0" kern="1200">
                    <a:solidFill>
                      <a:schemeClr val="tx1"/>
                    </a:solidFill>
                    <a:effectLst/>
                    <a:latin typeface="+mn-lt"/>
                    <a:ea typeface="+mn-ea"/>
                    <a:cs typeface="+mn-cs"/>
                  </a:rPr>
                  <a:t>&lt;&lt;𝑃𝑅𝐸−𝑃𝑅𝐸𝑃𝐴𝑅𝐸, 𝑣+1, 𝑛, 𝑑&gt;, 𝑚&gt;</a:t>
                </a:r>
                <a:r>
                  <a:rPr lang="zh-CN" altLang="zh-CN" sz="1200" kern="1200" dirty="0">
                    <a:solidFill>
                      <a:schemeClr val="tx1"/>
                    </a:solidFill>
                    <a:effectLst/>
                    <a:latin typeface="+mn-lt"/>
                    <a:ea typeface="+mn-ea"/>
                    <a:cs typeface="+mn-cs"/>
                  </a:rPr>
                  <a:t>消息；否则，则创建一个空的</a:t>
                </a:r>
                <a:r>
                  <a:rPr lang="en-US" altLang="zh-CN" sz="1200" kern="1200" dirty="0">
                    <a:solidFill>
                      <a:schemeClr val="tx1"/>
                    </a:solidFill>
                    <a:effectLst/>
                    <a:latin typeface="+mn-lt"/>
                    <a:ea typeface="+mn-ea"/>
                    <a:cs typeface="+mn-cs"/>
                  </a:rPr>
                  <a:t>PRE-PREPARE</a:t>
                </a:r>
                <a:r>
                  <a:rPr lang="zh-CN" altLang="zh-CN" sz="1200" kern="1200" dirty="0">
                    <a:solidFill>
                      <a:schemeClr val="tx1"/>
                    </a:solidFill>
                    <a:effectLst/>
                    <a:latin typeface="+mn-lt"/>
                    <a:ea typeface="+mn-ea"/>
                    <a:cs typeface="+mn-cs"/>
                  </a:rPr>
                  <a:t>消息</a:t>
                </a:r>
                <a:r>
                  <a:rPr lang="en-US" altLang="zh-CN" sz="1200" i="0" kern="1200">
                    <a:solidFill>
                      <a:schemeClr val="tx1"/>
                    </a:solidFill>
                    <a:effectLst/>
                    <a:latin typeface="+mn-lt"/>
                    <a:ea typeface="+mn-ea"/>
                    <a:cs typeface="+mn-cs"/>
                  </a:rPr>
                  <a:t>&lt;&lt;𝑃𝑅𝐸−𝑃𝑅𝐸𝑃𝐴𝑅𝐸, 𝑣+1, 𝑛, 𝑑(𝑛𝑢𝑙𝑙)&gt;, 𝑚(𝑛𝑢𝑙𝑙)&gt;</a:t>
                </a:r>
                <a:r>
                  <a:rPr lang="zh-CN" altLang="zh-CN" sz="1200" kern="1200" dirty="0">
                    <a:solidFill>
                      <a:schemeClr val="tx1"/>
                    </a:solidFill>
                    <a:effectLst/>
                    <a:latin typeface="+mn-lt"/>
                    <a:ea typeface="+mn-ea"/>
                    <a:cs typeface="+mn-cs"/>
                  </a:rPr>
                  <a:t>，其中</a:t>
                </a:r>
                <a:r>
                  <a:rPr lang="en-US" altLang="zh-CN" sz="1200" i="0" kern="1200">
                    <a:solidFill>
                      <a:schemeClr val="tx1"/>
                    </a:solidFill>
                    <a:effectLst/>
                    <a:latin typeface="+mn-lt"/>
                    <a:ea typeface="+mn-ea"/>
                    <a:cs typeface="+mn-cs"/>
                  </a:rPr>
                  <a:t>𝑑(𝑛𝑢𝑙𝑙)</a:t>
                </a:r>
                <a:r>
                  <a:rPr lang="zh-CN" altLang="zh-CN" sz="1200" kern="1200" dirty="0">
                    <a:solidFill>
                      <a:schemeClr val="tx1"/>
                    </a:solidFill>
                    <a:effectLst/>
                    <a:latin typeface="+mn-lt"/>
                    <a:ea typeface="+mn-ea"/>
                    <a:cs typeface="+mn-cs"/>
                  </a:rPr>
                  <a:t>为空消息摘要，</a:t>
                </a:r>
                <a:r>
                  <a:rPr lang="en-US" altLang="zh-CN" sz="1200" i="0" kern="1200">
                    <a:solidFill>
                      <a:schemeClr val="tx1"/>
                    </a:solidFill>
                    <a:effectLst/>
                    <a:latin typeface="+mn-lt"/>
                    <a:ea typeface="+mn-ea"/>
                    <a:cs typeface="+mn-cs"/>
                  </a:rPr>
                  <a:t>𝑚</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𝑛𝑢𝑙𝑙)</a:t>
                </a:r>
                <a:r>
                  <a:rPr lang="zh-CN" altLang="zh-CN" sz="1200" kern="1200" dirty="0">
                    <a:solidFill>
                      <a:schemeClr val="tx1"/>
                    </a:solidFill>
                    <a:effectLst/>
                    <a:latin typeface="+mn-lt"/>
                    <a:ea typeface="+mn-ea"/>
                    <a:cs typeface="+mn-cs"/>
                  </a:rPr>
                  <a:t>为空消息。</a:t>
                </a:r>
              </a:p>
            </p:txBody>
          </p:sp>
        </mc:Fallback>
      </mc:AlternateContent>
      <p:sp>
        <p:nvSpPr>
          <p:cNvPr id="4" name="灯片编号占位符 3"/>
          <p:cNvSpPr>
            <a:spLocks noGrp="1"/>
          </p:cNvSpPr>
          <p:nvPr>
            <p:ph type="sldNum" sz="quarter" idx="5"/>
          </p:nvPr>
        </p:nvSpPr>
        <p:spPr/>
        <p:txBody>
          <a:bodyPr/>
          <a:lstStyle/>
          <a:p>
            <a:fld id="{840B8802-914A-7C41-BC77-CC54DEE99EEF}" type="slidenum">
              <a:rPr kumimoji="1" lang="zh-CN" altLang="en-US" smtClean="0"/>
              <a:t>25</a:t>
            </a:fld>
            <a:endParaRPr kumimoji="1" lang="zh-CN" altLang="en-US"/>
          </a:p>
        </p:txBody>
      </p:sp>
    </p:spTree>
    <p:extLst>
      <p:ext uri="{BB962C8B-B14F-4D97-AF65-F5344CB8AC3E}">
        <p14:creationId xmlns:p14="http://schemas.microsoft.com/office/powerpoint/2010/main" val="276826931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cs typeface="+mn-cs"/>
                  </a:rPr>
                  <a:t>等待</a:t>
                </a:r>
                <a:r>
                  <a:rPr lang="en-US" altLang="zh-CN" sz="1200" kern="1200" dirty="0">
                    <a:solidFill>
                      <a:schemeClr val="tx1"/>
                    </a:solidFill>
                    <a:effectLst/>
                    <a:latin typeface="+mn-lt"/>
                    <a:ea typeface="+mn-ea"/>
                    <a:cs typeface="+mn-cs"/>
                  </a:rPr>
                  <a:t>2F+1</a:t>
                </a:r>
                <a:r>
                  <a:rPr lang="zh-CN" altLang="en-US" sz="1200" kern="1200" dirty="0">
                    <a:solidFill>
                      <a:schemeClr val="tx1"/>
                    </a:solidFill>
                    <a:effectLst/>
                    <a:latin typeface="+mn-lt"/>
                    <a:ea typeface="+mn-ea"/>
                    <a:cs typeface="+mn-cs"/>
                  </a:rPr>
                  <a:t>个</a:t>
                </a:r>
                <a:r>
                  <a:rPr lang="en-US" altLang="zh-CN" sz="1200" kern="1200" dirty="0">
                    <a:solidFill>
                      <a:schemeClr val="tx1"/>
                    </a:solidFill>
                    <a:effectLst/>
                    <a:latin typeface="+mn-lt"/>
                    <a:ea typeface="+mn-ea"/>
                    <a:cs typeface="+mn-cs"/>
                  </a:rPr>
                  <a:t>VIEW-CHANGE</a:t>
                </a:r>
                <a:r>
                  <a:rPr lang="zh-CN" altLang="en-US" sz="1200" kern="1200" dirty="0">
                    <a:solidFill>
                      <a:schemeClr val="tx1"/>
                    </a:solidFill>
                    <a:effectLst/>
                    <a:latin typeface="+mn-lt"/>
                    <a:ea typeface="+mn-ea"/>
                    <a:cs typeface="+mn-cs"/>
                  </a:rPr>
                  <a:t>消息：</a:t>
                </a:r>
              </a:p>
              <a:p>
                <a:r>
                  <a:rPr lang="zh-CN" altLang="en-US" sz="1200" kern="1200" dirty="0">
                    <a:solidFill>
                      <a:schemeClr val="tx1"/>
                    </a:solidFill>
                    <a:effectLst/>
                    <a:latin typeface="+mn-lt"/>
                    <a:ea typeface="+mn-ea"/>
                    <a:cs typeface="+mn-cs"/>
                  </a:rPr>
                  <a:t>	当新视图的主节点收到</a:t>
                </a:r>
                <a:r>
                  <a:rPr lang="en-US" altLang="zh-CN" sz="1200" kern="1200" dirty="0">
                    <a:solidFill>
                      <a:schemeClr val="tx1"/>
                    </a:solidFill>
                    <a:effectLst/>
                    <a:latin typeface="+mn-lt"/>
                    <a:ea typeface="+mn-ea"/>
                    <a:cs typeface="+mn-cs"/>
                  </a:rPr>
                  <a:t>2F+1</a:t>
                </a:r>
                <a:r>
                  <a:rPr lang="zh-CN" altLang="en-US" sz="1200" kern="1200" dirty="0">
                    <a:solidFill>
                      <a:schemeClr val="tx1"/>
                    </a:solidFill>
                    <a:effectLst/>
                    <a:latin typeface="+mn-lt"/>
                    <a:ea typeface="+mn-ea"/>
                    <a:cs typeface="+mn-cs"/>
                  </a:rPr>
                  <a:t>个</a:t>
                </a:r>
                <a:r>
                  <a:rPr lang="en-US" altLang="zh-CN" sz="1200" kern="1200" dirty="0">
                    <a:solidFill>
                      <a:schemeClr val="tx1"/>
                    </a:solidFill>
                    <a:effectLst/>
                    <a:latin typeface="+mn-lt"/>
                    <a:ea typeface="+mn-ea"/>
                    <a:cs typeface="+mn-cs"/>
                  </a:rPr>
                  <a:t>VIEW-CHANGE</a:t>
                </a:r>
                <a:r>
                  <a:rPr lang="zh-CN" altLang="en-US" sz="1200" kern="1200" dirty="0">
                    <a:solidFill>
                      <a:schemeClr val="tx1"/>
                    </a:solidFill>
                    <a:effectLst/>
                    <a:latin typeface="+mn-lt"/>
                    <a:ea typeface="+mn-ea"/>
                    <a:cs typeface="+mn-cs"/>
                  </a:rPr>
                  <a:t>消息，则广播</a:t>
                </a:r>
                <a:r>
                  <a:rPr lang="en-US" altLang="zh-CN" sz="1200" kern="1200" dirty="0">
                    <a:solidFill>
                      <a:schemeClr val="tx1"/>
                    </a:solidFill>
                    <a:effectLst/>
                    <a:latin typeface="+mn-lt"/>
                    <a:ea typeface="+mn-ea"/>
                    <a:cs typeface="+mn-cs"/>
                  </a:rPr>
                  <a:t>NEW-VIEW</a:t>
                </a:r>
                <a:r>
                  <a:rPr lang="zh-CN" altLang="en-US" sz="1200" kern="1200" dirty="0">
                    <a:solidFill>
                      <a:schemeClr val="tx1"/>
                    </a:solidFill>
                    <a:effectLst/>
                    <a:latin typeface="+mn-lt"/>
                    <a:ea typeface="+mn-ea"/>
                    <a:cs typeface="+mn-cs"/>
                  </a:rPr>
                  <a:t>消息，并切换到预准备阶段，开始新视图的共识。</a:t>
                </a:r>
              </a:p>
              <a:p>
                <a:r>
                  <a:rPr lang="zh-CN" altLang="en-US" sz="1200" kern="1200" dirty="0">
                    <a:solidFill>
                      <a:schemeClr val="tx1"/>
                    </a:solidFill>
                    <a:effectLst/>
                    <a:latin typeface="+mn-lt"/>
                    <a:ea typeface="+mn-ea"/>
                    <a:cs typeface="+mn-cs"/>
                  </a:rPr>
                  <a:t>	当验证节点收到</a:t>
                </a:r>
                <a:r>
                  <a:rPr lang="en-US" altLang="zh-CN" sz="1200" kern="1200" dirty="0">
                    <a:solidFill>
                      <a:schemeClr val="tx1"/>
                    </a:solidFill>
                    <a:effectLst/>
                    <a:latin typeface="+mn-lt"/>
                    <a:ea typeface="+mn-ea"/>
                    <a:cs typeface="+mn-cs"/>
                  </a:rPr>
                  <a:t>2F+1</a:t>
                </a:r>
                <a:r>
                  <a:rPr lang="zh-CN" altLang="en-US" sz="1200" kern="1200" dirty="0">
                    <a:solidFill>
                      <a:schemeClr val="tx1"/>
                    </a:solidFill>
                    <a:effectLst/>
                    <a:latin typeface="+mn-lt"/>
                    <a:ea typeface="+mn-ea"/>
                    <a:cs typeface="+mn-cs"/>
                  </a:rPr>
                  <a:t>个</a:t>
                </a:r>
                <a:r>
                  <a:rPr lang="en-US" altLang="zh-CN" sz="1200" kern="1200" dirty="0">
                    <a:solidFill>
                      <a:schemeClr val="tx1"/>
                    </a:solidFill>
                    <a:effectLst/>
                    <a:latin typeface="+mn-lt"/>
                    <a:ea typeface="+mn-ea"/>
                    <a:cs typeface="+mn-cs"/>
                  </a:rPr>
                  <a:t>VIEW-CHANGE</a:t>
                </a:r>
                <a:r>
                  <a:rPr lang="zh-CN" altLang="en-US" sz="1200" kern="1200" dirty="0">
                    <a:solidFill>
                      <a:schemeClr val="tx1"/>
                    </a:solidFill>
                    <a:effectLst/>
                    <a:latin typeface="+mn-lt"/>
                    <a:ea typeface="+mn-ea"/>
                    <a:cs typeface="+mn-cs"/>
                  </a:rPr>
                  <a:t>消息，则切换到等待请求状态；若在这之前收到主节点</a:t>
                </a:r>
                <a:r>
                  <a:rPr lang="en-US" altLang="zh-CN" sz="1200" kern="1200" dirty="0">
                    <a:solidFill>
                      <a:schemeClr val="tx1"/>
                    </a:solidFill>
                    <a:effectLst/>
                    <a:latin typeface="+mn-lt"/>
                    <a:ea typeface="+mn-ea"/>
                    <a:cs typeface="+mn-cs"/>
                  </a:rPr>
                  <a:t>NEW-VIEW</a:t>
                </a:r>
                <a:r>
                  <a:rPr lang="zh-CN" altLang="en-US" sz="1200" kern="1200" dirty="0">
                    <a:solidFill>
                      <a:schemeClr val="tx1"/>
                    </a:solidFill>
                    <a:effectLst/>
                    <a:latin typeface="+mn-lt"/>
                    <a:ea typeface="+mn-ea"/>
                    <a:cs typeface="+mn-cs"/>
                  </a:rPr>
                  <a:t>消息，则开始新视图的共识，切换至准备阶段。</a:t>
                </a:r>
              </a:p>
              <a:p>
                <a:r>
                  <a:rPr lang="zh-CN" altLang="en-US" sz="1200" kern="1200" dirty="0">
                    <a:solidFill>
                      <a:schemeClr val="tx1"/>
                    </a:solidFill>
                    <a:effectLst/>
                    <a:latin typeface="+mn-lt"/>
                    <a:ea typeface="+mn-ea"/>
                    <a:cs typeface="+mn-cs"/>
                  </a:rPr>
                  <a:t>	若超时，节点广播编号为</a:t>
                </a:r>
                <a:r>
                  <a:rPr lang="en-US" altLang="zh-CN" sz="1200" kern="1200" dirty="0">
                    <a:solidFill>
                      <a:schemeClr val="tx1"/>
                    </a:solidFill>
                    <a:effectLst/>
                    <a:latin typeface="+mn-lt"/>
                    <a:ea typeface="+mn-ea"/>
                    <a:cs typeface="+mn-cs"/>
                  </a:rPr>
                  <a:t>v+1</a:t>
                </a:r>
                <a:r>
                  <a:rPr lang="zh-CN" altLang="en-US" sz="1200" kern="1200" dirty="0">
                    <a:solidFill>
                      <a:schemeClr val="tx1"/>
                    </a:solidFill>
                    <a:effectLst/>
                    <a:latin typeface="+mn-lt"/>
                    <a:ea typeface="+mn-ea"/>
                    <a:cs typeface="+mn-cs"/>
                  </a:rPr>
                  <a:t>的</a:t>
                </a:r>
                <a:r>
                  <a:rPr lang="en-US" altLang="zh-CN" sz="1200" kern="1200" dirty="0">
                    <a:solidFill>
                      <a:schemeClr val="tx1"/>
                    </a:solidFill>
                    <a:effectLst/>
                    <a:latin typeface="+mn-lt"/>
                    <a:ea typeface="+mn-ea"/>
                    <a:cs typeface="+mn-cs"/>
                  </a:rPr>
                  <a:t>VIEW-CHANGE</a:t>
                </a:r>
                <a:r>
                  <a:rPr lang="zh-CN" altLang="en-US" sz="1200" kern="1200" dirty="0">
                    <a:solidFill>
                      <a:schemeClr val="tx1"/>
                    </a:solidFill>
                    <a:effectLst/>
                    <a:latin typeface="+mn-lt"/>
                    <a:ea typeface="+mn-ea"/>
                    <a:cs typeface="+mn-cs"/>
                  </a:rPr>
                  <a:t>消息，继续视图切换的协议，直到新视图切换成功。</a:t>
                </a:r>
              </a:p>
              <a:p>
                <a:endParaRPr lang="zh-CN" altLang="zh-CN" sz="1200" kern="1200" dirty="0">
                  <a:solidFill>
                    <a:schemeClr val="tx1"/>
                  </a:solidFill>
                  <a:effectLst/>
                  <a:latin typeface="+mn-lt"/>
                  <a:ea typeface="+mn-ea"/>
                  <a:cs typeface="+mn-cs"/>
                </a:endParaRPr>
              </a:p>
            </p:txBody>
          </p:sp>
        </mc:Choice>
        <mc:Fallback xmlns="">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注意，当主节点</a:t>
                </a:r>
                <a:r>
                  <a:rPr lang="en-US" altLang="zh-CN" sz="1200" i="0" kern="1200">
                    <a:solidFill>
                      <a:schemeClr val="tx1"/>
                    </a:solidFill>
                    <a:effectLst/>
                    <a:latin typeface="+mn-lt"/>
                    <a:ea typeface="+mn-ea"/>
                    <a:cs typeface="+mn-cs"/>
                  </a:rPr>
                  <a:t>𝑖</a:t>
                </a:r>
                <a:r>
                  <a:rPr lang="zh-CN" altLang="zh-CN" sz="1200" kern="1200" dirty="0">
                    <a:solidFill>
                      <a:schemeClr val="tx1"/>
                    </a:solidFill>
                    <a:effectLst/>
                    <a:latin typeface="+mn-lt"/>
                    <a:ea typeface="+mn-ea"/>
                    <a:cs typeface="+mn-cs"/>
                  </a:rPr>
                  <a:t>收到</a:t>
                </a:r>
                <a:r>
                  <a:rPr lang="en-US" altLang="zh-CN" sz="1200" i="0" kern="1200">
                    <a:solidFill>
                      <a:schemeClr val="tx1"/>
                    </a:solidFill>
                    <a:effectLst/>
                    <a:latin typeface="+mn-lt"/>
                    <a:ea typeface="+mn-ea"/>
                    <a:cs typeface="+mn-cs"/>
                  </a:rPr>
                  <a:t>2𝐹+1</a:t>
                </a:r>
                <a:r>
                  <a:rPr lang="zh-CN" altLang="zh-CN" sz="1200" kern="1200" dirty="0">
                    <a:solidFill>
                      <a:schemeClr val="tx1"/>
                    </a:solidFill>
                    <a:effectLst/>
                    <a:latin typeface="+mn-lt"/>
                    <a:ea typeface="+mn-ea"/>
                    <a:cs typeface="+mn-cs"/>
                  </a:rPr>
                  <a:t>个</a:t>
                </a:r>
                <a:r>
                  <a:rPr lang="en-US" altLang="zh-CN" sz="1200" i="0" kern="1200">
                    <a:solidFill>
                      <a:schemeClr val="tx1"/>
                    </a:solidFill>
                    <a:effectLst/>
                    <a:latin typeface="+mn-lt"/>
                    <a:ea typeface="+mn-ea"/>
                    <a:cs typeface="+mn-cs"/>
                  </a:rPr>
                  <a:t>𝑉𝐼𝐸𝑊−𝐶𝐻𝐴𝑁𝐺𝐸</a:t>
                </a:r>
                <a:r>
                  <a:rPr lang="zh-CN" altLang="zh-CN" sz="1200" kern="1200" dirty="0">
                    <a:solidFill>
                      <a:schemeClr val="tx1"/>
                    </a:solidFill>
                    <a:effectLst/>
                    <a:latin typeface="+mn-lt"/>
                    <a:ea typeface="+mn-ea"/>
                    <a:cs typeface="+mn-cs"/>
                  </a:rPr>
                  <a:t>消息，可以确认高度为</a:t>
                </a:r>
                <a:r>
                  <a:rPr lang="en-US" altLang="zh-CN" sz="1200" i="0" kern="1200">
                    <a:solidFill>
                      <a:schemeClr val="tx1"/>
                    </a:solidFill>
                    <a:effectLst/>
                    <a:latin typeface="+mn-lt"/>
                    <a:ea typeface="+mn-ea"/>
                    <a:cs typeface="+mn-cs"/>
                  </a:rPr>
                  <a:t>𝑛</a:t>
                </a:r>
                <a:r>
                  <a:rPr lang="zh-CN" altLang="zh-CN" sz="1200" kern="1200" dirty="0">
                    <a:solidFill>
                      <a:schemeClr val="tx1"/>
                    </a:solidFill>
                    <a:effectLst/>
                    <a:latin typeface="+mn-lt"/>
                    <a:ea typeface="+mn-ea"/>
                    <a:cs typeface="+mn-cs"/>
                  </a:rPr>
                  <a:t>的稳定检查点之间的消息在视图切换的过程中不会丢失，但是当前检查点之后，下一个检查点之前的已经达到</a:t>
                </a:r>
                <a:r>
                  <a:rPr lang="en-US" altLang="zh-CN" sz="1200" kern="1200" dirty="0">
                    <a:solidFill>
                      <a:schemeClr val="tx1"/>
                    </a:solidFill>
                    <a:effectLst/>
                    <a:latin typeface="+mn-lt"/>
                    <a:ea typeface="+mn-ea"/>
                    <a:cs typeface="+mn-cs"/>
                  </a:rPr>
                  <a:t>PREPARED</a:t>
                </a:r>
                <a:r>
                  <a:rPr lang="zh-CN" altLang="zh-CN" sz="1200" kern="1200" dirty="0">
                    <a:solidFill>
                      <a:schemeClr val="tx1"/>
                    </a:solidFill>
                    <a:effectLst/>
                    <a:latin typeface="+mn-lt"/>
                    <a:ea typeface="+mn-ea"/>
                    <a:cs typeface="+mn-cs"/>
                  </a:rPr>
                  <a:t>状态的消息会丢失。因此，新视图的主节点会把旧视图中已经达到</a:t>
                </a:r>
                <a:r>
                  <a:rPr lang="en-US" altLang="zh-CN" sz="1200" kern="1200" dirty="0">
                    <a:solidFill>
                      <a:schemeClr val="tx1"/>
                    </a:solidFill>
                    <a:effectLst/>
                    <a:latin typeface="+mn-lt"/>
                    <a:ea typeface="+mn-ea"/>
                    <a:cs typeface="+mn-cs"/>
                  </a:rPr>
                  <a:t>PREPARED</a:t>
                </a:r>
                <a:r>
                  <a:rPr lang="zh-CN" altLang="zh-CN" sz="1200" kern="1200" dirty="0">
                    <a:solidFill>
                      <a:schemeClr val="tx1"/>
                    </a:solidFill>
                    <a:effectLst/>
                    <a:latin typeface="+mn-lt"/>
                    <a:ea typeface="+mn-ea"/>
                    <a:cs typeface="+mn-cs"/>
                  </a:rPr>
                  <a:t>状态的消息转换为</a:t>
                </a:r>
                <a:r>
                  <a:rPr lang="en-US" altLang="zh-CN" sz="1200" kern="1200" dirty="0">
                    <a:solidFill>
                      <a:schemeClr val="tx1"/>
                    </a:solidFill>
                    <a:effectLst/>
                    <a:latin typeface="+mn-lt"/>
                    <a:ea typeface="+mn-ea"/>
                    <a:cs typeface="+mn-cs"/>
                  </a:rPr>
                  <a:t>PRE-PREPARE</a:t>
                </a:r>
                <a:r>
                  <a:rPr lang="zh-CN" altLang="zh-CN" sz="1200" kern="1200" dirty="0">
                    <a:solidFill>
                      <a:schemeClr val="tx1"/>
                    </a:solidFill>
                    <a:effectLst/>
                    <a:latin typeface="+mn-lt"/>
                    <a:ea typeface="+mn-ea"/>
                    <a:cs typeface="+mn-cs"/>
                  </a:rPr>
                  <a:t>消息，重新广播到网络中了。</a:t>
                </a:r>
                <a:r>
                  <a:rPr lang="en-US" altLang="zh-CN" sz="1200" kern="1200" dirty="0">
                    <a:solidFill>
                      <a:schemeClr val="tx1"/>
                    </a:solidFill>
                    <a:effectLst/>
                    <a:latin typeface="+mn-lt"/>
                    <a:ea typeface="+mn-ea"/>
                    <a:cs typeface="+mn-cs"/>
                  </a:rPr>
                  <a:t>PRE-PREPARE</a:t>
                </a:r>
                <a:r>
                  <a:rPr lang="zh-CN" altLang="zh-CN" sz="1200" kern="1200" dirty="0">
                    <a:solidFill>
                      <a:schemeClr val="tx1"/>
                    </a:solidFill>
                    <a:effectLst/>
                    <a:latin typeface="+mn-lt"/>
                    <a:ea typeface="+mn-ea"/>
                    <a:cs typeface="+mn-cs"/>
                  </a:rPr>
                  <a:t>消息集合的选取规则如下所示：</a:t>
                </a:r>
              </a:p>
              <a:p>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）选取</a:t>
                </a:r>
                <a:r>
                  <a:rPr lang="en-US" altLang="zh-CN" sz="1200" i="0" kern="1200">
                    <a:solidFill>
                      <a:schemeClr val="tx1"/>
                    </a:solidFill>
                    <a:effectLst/>
                    <a:latin typeface="+mn-lt"/>
                    <a:ea typeface="+mn-ea"/>
                    <a:cs typeface="+mn-cs"/>
                  </a:rPr>
                  <a:t>𝑉</a:t>
                </a:r>
                <a:r>
                  <a:rPr lang="zh-CN" altLang="zh-CN" sz="1200" kern="1200" dirty="0">
                    <a:solidFill>
                      <a:schemeClr val="tx1"/>
                    </a:solidFill>
                    <a:effectLst/>
                    <a:latin typeface="+mn-lt"/>
                    <a:ea typeface="+mn-ea"/>
                    <a:cs typeface="+mn-cs"/>
                  </a:rPr>
                  <a:t>中高度最低的稳定检查点的编号</a:t>
                </a:r>
                <a:r>
                  <a:rPr lang="en-US" altLang="zh-CN" sz="1200" i="0" kern="1200">
                    <a:solidFill>
                      <a:schemeClr val="tx1"/>
                    </a:solidFill>
                    <a:effectLst/>
                    <a:latin typeface="+mn-lt"/>
                    <a:ea typeface="+mn-ea"/>
                    <a:cs typeface="+mn-cs"/>
                  </a:rPr>
                  <a:t>𝑚𝑖𝑛</a:t>
                </a:r>
                <a:r>
                  <a:rPr lang="zh-CN" altLang="zh-CN" sz="1200" kern="1200" dirty="0">
                    <a:solidFill>
                      <a:schemeClr val="tx1"/>
                    </a:solidFill>
                    <a:effectLst/>
                    <a:latin typeface="+mn-lt"/>
                    <a:ea typeface="+mn-ea"/>
                    <a:cs typeface="+mn-cs"/>
                  </a:rPr>
                  <a:t>，以及</a:t>
                </a:r>
                <a:r>
                  <a:rPr lang="en-US" altLang="zh-CN" sz="1200" i="0" kern="1200">
                    <a:solidFill>
                      <a:schemeClr val="tx1"/>
                    </a:solidFill>
                    <a:effectLst/>
                    <a:latin typeface="+mn-lt"/>
                    <a:ea typeface="+mn-ea"/>
                    <a:cs typeface="+mn-cs"/>
                  </a:rPr>
                  <a:t>𝑉</a:t>
                </a:r>
                <a:r>
                  <a:rPr lang="zh-CN" altLang="zh-CN" sz="1200" kern="1200" dirty="0">
                    <a:solidFill>
                      <a:schemeClr val="tx1"/>
                    </a:solidFill>
                    <a:effectLst/>
                    <a:latin typeface="+mn-lt"/>
                    <a:ea typeface="+mn-ea"/>
                    <a:cs typeface="+mn-cs"/>
                  </a:rPr>
                  <a:t>中已达到</a:t>
                </a:r>
                <a:r>
                  <a:rPr lang="en-US" altLang="zh-CN" sz="1200" kern="1200" dirty="0">
                    <a:solidFill>
                      <a:schemeClr val="tx1"/>
                    </a:solidFill>
                    <a:effectLst/>
                    <a:latin typeface="+mn-lt"/>
                    <a:ea typeface="+mn-ea"/>
                    <a:cs typeface="+mn-cs"/>
                  </a:rPr>
                  <a:t>PREPARED</a:t>
                </a:r>
                <a:r>
                  <a:rPr lang="zh-CN" altLang="zh-CN" sz="1200" kern="1200" dirty="0">
                    <a:solidFill>
                      <a:schemeClr val="tx1"/>
                    </a:solidFill>
                    <a:effectLst/>
                    <a:latin typeface="+mn-lt"/>
                    <a:ea typeface="+mn-ea"/>
                    <a:cs typeface="+mn-cs"/>
                  </a:rPr>
                  <a:t>状态消息的最大编号</a:t>
                </a:r>
                <a:r>
                  <a:rPr lang="en-US" altLang="zh-CN" sz="1200" i="0" kern="1200">
                    <a:solidFill>
                      <a:schemeClr val="tx1"/>
                    </a:solidFill>
                    <a:effectLst/>
                    <a:latin typeface="+mn-lt"/>
                    <a:ea typeface="+mn-ea"/>
                    <a:cs typeface="+mn-cs"/>
                  </a:rPr>
                  <a:t>𝑚𝑎𝑥</a:t>
                </a:r>
                <a:r>
                  <a:rPr lang="zh-CN" altLang="zh-CN" sz="1200" kern="1200" dirty="0">
                    <a:solidFill>
                      <a:schemeClr val="tx1"/>
                    </a:solidFill>
                    <a:effectLst/>
                    <a:latin typeface="+mn-lt"/>
                    <a:ea typeface="+mn-ea"/>
                    <a:cs typeface="+mn-cs"/>
                  </a:rPr>
                  <a:t>。</a:t>
                </a:r>
              </a:p>
              <a:p>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）对于</a:t>
                </a:r>
                <a:r>
                  <a:rPr lang="en-US" altLang="zh-CN" sz="1200" i="0" kern="1200">
                    <a:solidFill>
                      <a:schemeClr val="tx1"/>
                    </a:solidFill>
                    <a:effectLst/>
                    <a:latin typeface="+mn-lt"/>
                    <a:ea typeface="+mn-ea"/>
                    <a:cs typeface="+mn-cs"/>
                  </a:rPr>
                  <a:t>𝑚𝑖𝑛</a:t>
                </a:r>
                <a:r>
                  <a:rPr lang="zh-CN" altLang="zh-CN" sz="1200" kern="1200" dirty="0">
                    <a:solidFill>
                      <a:schemeClr val="tx1"/>
                    </a:solidFill>
                    <a:effectLst/>
                    <a:latin typeface="+mn-lt"/>
                    <a:ea typeface="+mn-ea"/>
                    <a:cs typeface="+mn-cs"/>
                  </a:rPr>
                  <a:t>和</a:t>
                </a:r>
                <a:r>
                  <a:rPr lang="en-US" altLang="zh-CN" sz="1200" i="0" kern="1200">
                    <a:solidFill>
                      <a:schemeClr val="tx1"/>
                    </a:solidFill>
                    <a:effectLst/>
                    <a:latin typeface="+mn-lt"/>
                    <a:ea typeface="+mn-ea"/>
                    <a:cs typeface="+mn-cs"/>
                  </a:rPr>
                  <a:t>𝑚𝑎𝑥</a:t>
                </a:r>
                <a:r>
                  <a:rPr lang="zh-CN" altLang="zh-CN" sz="1200" kern="1200" dirty="0">
                    <a:solidFill>
                      <a:schemeClr val="tx1"/>
                    </a:solidFill>
                    <a:effectLst/>
                    <a:latin typeface="+mn-lt"/>
                    <a:ea typeface="+mn-ea"/>
                    <a:cs typeface="+mn-cs"/>
                  </a:rPr>
                  <a:t>之间的每个序号</a:t>
                </a:r>
                <a:r>
                  <a:rPr lang="en-US" altLang="zh-CN" sz="1200" i="0" kern="1200">
                    <a:solidFill>
                      <a:schemeClr val="tx1"/>
                    </a:solidFill>
                    <a:effectLst/>
                    <a:latin typeface="+mn-lt"/>
                    <a:ea typeface="+mn-ea"/>
                    <a:cs typeface="+mn-cs"/>
                  </a:rPr>
                  <a:t>𝑛</a:t>
                </a:r>
                <a:r>
                  <a:rPr lang="zh-CN" altLang="zh-CN" sz="1200" kern="1200" dirty="0">
                    <a:solidFill>
                      <a:schemeClr val="tx1"/>
                    </a:solidFill>
                    <a:effectLst/>
                    <a:latin typeface="+mn-lt"/>
                    <a:ea typeface="+mn-ea"/>
                    <a:cs typeface="+mn-cs"/>
                  </a:rPr>
                  <a:t>，如果存在某个</a:t>
                </a:r>
                <a:r>
                  <a:rPr lang="en-US" altLang="zh-CN" sz="1200" i="0" kern="1200">
                    <a:solidFill>
                      <a:schemeClr val="tx1"/>
                    </a:solidFill>
                    <a:effectLst/>
                    <a:latin typeface="+mn-lt"/>
                    <a:ea typeface="+mn-ea"/>
                    <a:cs typeface="+mn-cs"/>
                  </a:rPr>
                  <a:t>𝑃</a:t>
                </a:r>
                <a:r>
                  <a:rPr lang="zh-CN" altLang="zh-CN" sz="1200" kern="1200" dirty="0">
                    <a:solidFill>
                      <a:schemeClr val="tx1"/>
                    </a:solidFill>
                    <a:effectLst/>
                    <a:latin typeface="+mn-lt"/>
                    <a:ea typeface="+mn-ea"/>
                    <a:cs typeface="+mn-cs"/>
                  </a:rPr>
                  <a:t>中，则创建</a:t>
                </a:r>
                <a:r>
                  <a:rPr lang="en-US" altLang="zh-CN" sz="1200" i="0" kern="1200">
                    <a:solidFill>
                      <a:schemeClr val="tx1"/>
                    </a:solidFill>
                    <a:effectLst/>
                    <a:latin typeface="+mn-lt"/>
                    <a:ea typeface="+mn-ea"/>
                    <a:cs typeface="+mn-cs"/>
                  </a:rPr>
                  <a:t>&lt;&lt;𝑃𝑅𝐸−𝑃𝑅𝐸𝑃𝐴𝑅𝐸, 𝑣+1, 𝑛, 𝑑&gt;, 𝑚&gt;</a:t>
                </a:r>
                <a:r>
                  <a:rPr lang="zh-CN" altLang="zh-CN" sz="1200" kern="1200" dirty="0">
                    <a:solidFill>
                      <a:schemeClr val="tx1"/>
                    </a:solidFill>
                    <a:effectLst/>
                    <a:latin typeface="+mn-lt"/>
                    <a:ea typeface="+mn-ea"/>
                    <a:cs typeface="+mn-cs"/>
                  </a:rPr>
                  <a:t>消息；否则，则创建一个空的</a:t>
                </a:r>
                <a:r>
                  <a:rPr lang="en-US" altLang="zh-CN" sz="1200" kern="1200" dirty="0">
                    <a:solidFill>
                      <a:schemeClr val="tx1"/>
                    </a:solidFill>
                    <a:effectLst/>
                    <a:latin typeface="+mn-lt"/>
                    <a:ea typeface="+mn-ea"/>
                    <a:cs typeface="+mn-cs"/>
                  </a:rPr>
                  <a:t>PRE-PREPARE</a:t>
                </a:r>
                <a:r>
                  <a:rPr lang="zh-CN" altLang="zh-CN" sz="1200" kern="1200" dirty="0">
                    <a:solidFill>
                      <a:schemeClr val="tx1"/>
                    </a:solidFill>
                    <a:effectLst/>
                    <a:latin typeface="+mn-lt"/>
                    <a:ea typeface="+mn-ea"/>
                    <a:cs typeface="+mn-cs"/>
                  </a:rPr>
                  <a:t>消息</a:t>
                </a:r>
                <a:r>
                  <a:rPr lang="en-US" altLang="zh-CN" sz="1200" i="0" kern="1200">
                    <a:solidFill>
                      <a:schemeClr val="tx1"/>
                    </a:solidFill>
                    <a:effectLst/>
                    <a:latin typeface="+mn-lt"/>
                    <a:ea typeface="+mn-ea"/>
                    <a:cs typeface="+mn-cs"/>
                  </a:rPr>
                  <a:t>&lt;&lt;𝑃𝑅𝐸−𝑃𝑅𝐸𝑃𝐴𝑅𝐸, 𝑣+1, 𝑛, 𝑑(𝑛𝑢𝑙𝑙)&gt;, 𝑚(𝑛𝑢𝑙𝑙)&gt;</a:t>
                </a:r>
                <a:r>
                  <a:rPr lang="zh-CN" altLang="zh-CN" sz="1200" kern="1200" dirty="0">
                    <a:solidFill>
                      <a:schemeClr val="tx1"/>
                    </a:solidFill>
                    <a:effectLst/>
                    <a:latin typeface="+mn-lt"/>
                    <a:ea typeface="+mn-ea"/>
                    <a:cs typeface="+mn-cs"/>
                  </a:rPr>
                  <a:t>，其中</a:t>
                </a:r>
                <a:r>
                  <a:rPr lang="en-US" altLang="zh-CN" sz="1200" i="0" kern="1200">
                    <a:solidFill>
                      <a:schemeClr val="tx1"/>
                    </a:solidFill>
                    <a:effectLst/>
                    <a:latin typeface="+mn-lt"/>
                    <a:ea typeface="+mn-ea"/>
                    <a:cs typeface="+mn-cs"/>
                  </a:rPr>
                  <a:t>𝑑(𝑛𝑢𝑙𝑙)</a:t>
                </a:r>
                <a:r>
                  <a:rPr lang="zh-CN" altLang="zh-CN" sz="1200" kern="1200" dirty="0">
                    <a:solidFill>
                      <a:schemeClr val="tx1"/>
                    </a:solidFill>
                    <a:effectLst/>
                    <a:latin typeface="+mn-lt"/>
                    <a:ea typeface="+mn-ea"/>
                    <a:cs typeface="+mn-cs"/>
                  </a:rPr>
                  <a:t>为空消息摘要，</a:t>
                </a:r>
                <a:r>
                  <a:rPr lang="en-US" altLang="zh-CN" sz="1200" i="0" kern="1200">
                    <a:solidFill>
                      <a:schemeClr val="tx1"/>
                    </a:solidFill>
                    <a:effectLst/>
                    <a:latin typeface="+mn-lt"/>
                    <a:ea typeface="+mn-ea"/>
                    <a:cs typeface="+mn-cs"/>
                  </a:rPr>
                  <a:t>𝑚</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𝑛𝑢𝑙𝑙)</a:t>
                </a:r>
                <a:r>
                  <a:rPr lang="zh-CN" altLang="zh-CN" sz="1200" kern="1200" dirty="0">
                    <a:solidFill>
                      <a:schemeClr val="tx1"/>
                    </a:solidFill>
                    <a:effectLst/>
                    <a:latin typeface="+mn-lt"/>
                    <a:ea typeface="+mn-ea"/>
                    <a:cs typeface="+mn-cs"/>
                  </a:rPr>
                  <a:t>为空消息。</a:t>
                </a:r>
              </a:p>
            </p:txBody>
          </p:sp>
        </mc:Fallback>
      </mc:AlternateContent>
      <p:sp>
        <p:nvSpPr>
          <p:cNvPr id="4" name="灯片编号占位符 3"/>
          <p:cNvSpPr>
            <a:spLocks noGrp="1"/>
          </p:cNvSpPr>
          <p:nvPr>
            <p:ph type="sldNum" sz="quarter" idx="5"/>
          </p:nvPr>
        </p:nvSpPr>
        <p:spPr/>
        <p:txBody>
          <a:bodyPr/>
          <a:lstStyle/>
          <a:p>
            <a:fld id="{840B8802-914A-7C41-BC77-CC54DEE99EEF}" type="slidenum">
              <a:rPr kumimoji="1" lang="zh-CN" altLang="en-US" smtClean="0"/>
              <a:t>26</a:t>
            </a:fld>
            <a:endParaRPr kumimoji="1" lang="zh-CN" altLang="en-US"/>
          </a:p>
        </p:txBody>
      </p:sp>
    </p:spTree>
    <p:extLst>
      <p:ext uri="{BB962C8B-B14F-4D97-AF65-F5344CB8AC3E}">
        <p14:creationId xmlns:p14="http://schemas.microsoft.com/office/powerpoint/2010/main" val="335335490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cs typeface="+mn-cs"/>
                  </a:rPr>
                  <a:t>即全网的节点最少为</a:t>
                </a:r>
                <a:r>
                  <a:rPr lang="en-US" altLang="zh-CN" sz="1200" kern="1200" dirty="0">
                    <a:solidFill>
                      <a:schemeClr val="tx1"/>
                    </a:solidFill>
                    <a:effectLst/>
                    <a:latin typeface="+mn-lt"/>
                    <a:ea typeface="+mn-ea"/>
                    <a:cs typeface="+mn-cs"/>
                  </a:rPr>
                  <a:t>3F+1</a:t>
                </a:r>
                <a:r>
                  <a:rPr lang="zh-CN" altLang="en-US" sz="1200" kern="1200" dirty="0">
                    <a:solidFill>
                      <a:schemeClr val="tx1"/>
                    </a:solidFill>
                    <a:effectLst/>
                    <a:latin typeface="+mn-lt"/>
                    <a:ea typeface="+mn-ea"/>
                    <a:cs typeface="+mn-cs"/>
                  </a:rPr>
                  <a:t>个，而容错性为</a:t>
                </a:r>
                <a:r>
                  <a:rPr lang="en-US" altLang="zh-CN" sz="1200" kern="1200" dirty="0">
                    <a:solidFill>
                      <a:schemeClr val="tx1"/>
                    </a:solidFill>
                    <a:effectLst/>
                    <a:latin typeface="+mn-lt"/>
                    <a:ea typeface="+mn-ea"/>
                    <a:cs typeface="+mn-cs"/>
                  </a:rPr>
                  <a:t>F/N&lt;=F/(3F+1)</a:t>
                </a:r>
                <a:r>
                  <a:rPr lang="zh-CN" altLang="en-US" sz="1200" kern="1200" dirty="0">
                    <a:solidFill>
                      <a:schemeClr val="tx1"/>
                    </a:solidFill>
                    <a:effectLst/>
                    <a:latin typeface="+mn-lt"/>
                    <a:ea typeface="+mn-ea"/>
                    <a:cs typeface="+mn-cs"/>
                  </a:rPr>
                  <a:t>，也就是</a:t>
                </a:r>
                <a:r>
                  <a:rPr lang="en-US" altLang="zh-CN" sz="1200" kern="1200" dirty="0">
                    <a:solidFill>
                      <a:schemeClr val="tx1"/>
                    </a:solidFill>
                    <a:effectLst/>
                    <a:latin typeface="+mn-lt"/>
                    <a:ea typeface="+mn-ea"/>
                    <a:cs typeface="+mn-cs"/>
                  </a:rPr>
                  <a:t>1/3</a:t>
                </a:r>
              </a:p>
            </p:txBody>
          </p:sp>
        </mc:Choice>
        <mc:Fallback xmlns="">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注意，当主节点</a:t>
                </a:r>
                <a:r>
                  <a:rPr lang="en-US" altLang="zh-CN" sz="1200" i="0" kern="1200">
                    <a:solidFill>
                      <a:schemeClr val="tx1"/>
                    </a:solidFill>
                    <a:effectLst/>
                    <a:latin typeface="+mn-lt"/>
                    <a:ea typeface="+mn-ea"/>
                    <a:cs typeface="+mn-cs"/>
                  </a:rPr>
                  <a:t>𝑖</a:t>
                </a:r>
                <a:r>
                  <a:rPr lang="zh-CN" altLang="zh-CN" sz="1200" kern="1200" dirty="0">
                    <a:solidFill>
                      <a:schemeClr val="tx1"/>
                    </a:solidFill>
                    <a:effectLst/>
                    <a:latin typeface="+mn-lt"/>
                    <a:ea typeface="+mn-ea"/>
                    <a:cs typeface="+mn-cs"/>
                  </a:rPr>
                  <a:t>收到</a:t>
                </a:r>
                <a:r>
                  <a:rPr lang="en-US" altLang="zh-CN" sz="1200" i="0" kern="1200">
                    <a:solidFill>
                      <a:schemeClr val="tx1"/>
                    </a:solidFill>
                    <a:effectLst/>
                    <a:latin typeface="+mn-lt"/>
                    <a:ea typeface="+mn-ea"/>
                    <a:cs typeface="+mn-cs"/>
                  </a:rPr>
                  <a:t>2𝐹+1</a:t>
                </a:r>
                <a:r>
                  <a:rPr lang="zh-CN" altLang="zh-CN" sz="1200" kern="1200" dirty="0">
                    <a:solidFill>
                      <a:schemeClr val="tx1"/>
                    </a:solidFill>
                    <a:effectLst/>
                    <a:latin typeface="+mn-lt"/>
                    <a:ea typeface="+mn-ea"/>
                    <a:cs typeface="+mn-cs"/>
                  </a:rPr>
                  <a:t>个</a:t>
                </a:r>
                <a:r>
                  <a:rPr lang="en-US" altLang="zh-CN" sz="1200" i="0" kern="1200">
                    <a:solidFill>
                      <a:schemeClr val="tx1"/>
                    </a:solidFill>
                    <a:effectLst/>
                    <a:latin typeface="+mn-lt"/>
                    <a:ea typeface="+mn-ea"/>
                    <a:cs typeface="+mn-cs"/>
                  </a:rPr>
                  <a:t>𝑉𝐼𝐸𝑊−𝐶𝐻𝐴𝑁𝐺𝐸</a:t>
                </a:r>
                <a:r>
                  <a:rPr lang="zh-CN" altLang="zh-CN" sz="1200" kern="1200" dirty="0">
                    <a:solidFill>
                      <a:schemeClr val="tx1"/>
                    </a:solidFill>
                    <a:effectLst/>
                    <a:latin typeface="+mn-lt"/>
                    <a:ea typeface="+mn-ea"/>
                    <a:cs typeface="+mn-cs"/>
                  </a:rPr>
                  <a:t>消息，可以确认高度为</a:t>
                </a:r>
                <a:r>
                  <a:rPr lang="en-US" altLang="zh-CN" sz="1200" i="0" kern="1200">
                    <a:solidFill>
                      <a:schemeClr val="tx1"/>
                    </a:solidFill>
                    <a:effectLst/>
                    <a:latin typeface="+mn-lt"/>
                    <a:ea typeface="+mn-ea"/>
                    <a:cs typeface="+mn-cs"/>
                  </a:rPr>
                  <a:t>𝑛</a:t>
                </a:r>
                <a:r>
                  <a:rPr lang="zh-CN" altLang="zh-CN" sz="1200" kern="1200" dirty="0">
                    <a:solidFill>
                      <a:schemeClr val="tx1"/>
                    </a:solidFill>
                    <a:effectLst/>
                    <a:latin typeface="+mn-lt"/>
                    <a:ea typeface="+mn-ea"/>
                    <a:cs typeface="+mn-cs"/>
                  </a:rPr>
                  <a:t>的稳定检查点之间的消息在视图切换的过程中不会丢失，但是当前检查点之后，下一个检查点之前的已经达到</a:t>
                </a:r>
                <a:r>
                  <a:rPr lang="en-US" altLang="zh-CN" sz="1200" kern="1200" dirty="0">
                    <a:solidFill>
                      <a:schemeClr val="tx1"/>
                    </a:solidFill>
                    <a:effectLst/>
                    <a:latin typeface="+mn-lt"/>
                    <a:ea typeface="+mn-ea"/>
                    <a:cs typeface="+mn-cs"/>
                  </a:rPr>
                  <a:t>PREPARED</a:t>
                </a:r>
                <a:r>
                  <a:rPr lang="zh-CN" altLang="zh-CN" sz="1200" kern="1200" dirty="0">
                    <a:solidFill>
                      <a:schemeClr val="tx1"/>
                    </a:solidFill>
                    <a:effectLst/>
                    <a:latin typeface="+mn-lt"/>
                    <a:ea typeface="+mn-ea"/>
                    <a:cs typeface="+mn-cs"/>
                  </a:rPr>
                  <a:t>状态的消息会丢失。因此，新视图的主节点会把旧视图中已经达到</a:t>
                </a:r>
                <a:r>
                  <a:rPr lang="en-US" altLang="zh-CN" sz="1200" kern="1200" dirty="0">
                    <a:solidFill>
                      <a:schemeClr val="tx1"/>
                    </a:solidFill>
                    <a:effectLst/>
                    <a:latin typeface="+mn-lt"/>
                    <a:ea typeface="+mn-ea"/>
                    <a:cs typeface="+mn-cs"/>
                  </a:rPr>
                  <a:t>PREPARED</a:t>
                </a:r>
                <a:r>
                  <a:rPr lang="zh-CN" altLang="zh-CN" sz="1200" kern="1200" dirty="0">
                    <a:solidFill>
                      <a:schemeClr val="tx1"/>
                    </a:solidFill>
                    <a:effectLst/>
                    <a:latin typeface="+mn-lt"/>
                    <a:ea typeface="+mn-ea"/>
                    <a:cs typeface="+mn-cs"/>
                  </a:rPr>
                  <a:t>状态的消息转换为</a:t>
                </a:r>
                <a:r>
                  <a:rPr lang="en-US" altLang="zh-CN" sz="1200" kern="1200" dirty="0">
                    <a:solidFill>
                      <a:schemeClr val="tx1"/>
                    </a:solidFill>
                    <a:effectLst/>
                    <a:latin typeface="+mn-lt"/>
                    <a:ea typeface="+mn-ea"/>
                    <a:cs typeface="+mn-cs"/>
                  </a:rPr>
                  <a:t>PRE-PREPARE</a:t>
                </a:r>
                <a:r>
                  <a:rPr lang="zh-CN" altLang="zh-CN" sz="1200" kern="1200" dirty="0">
                    <a:solidFill>
                      <a:schemeClr val="tx1"/>
                    </a:solidFill>
                    <a:effectLst/>
                    <a:latin typeface="+mn-lt"/>
                    <a:ea typeface="+mn-ea"/>
                    <a:cs typeface="+mn-cs"/>
                  </a:rPr>
                  <a:t>消息，重新广播到网络中了。</a:t>
                </a:r>
                <a:r>
                  <a:rPr lang="en-US" altLang="zh-CN" sz="1200" kern="1200" dirty="0">
                    <a:solidFill>
                      <a:schemeClr val="tx1"/>
                    </a:solidFill>
                    <a:effectLst/>
                    <a:latin typeface="+mn-lt"/>
                    <a:ea typeface="+mn-ea"/>
                    <a:cs typeface="+mn-cs"/>
                  </a:rPr>
                  <a:t>PRE-PREPARE</a:t>
                </a:r>
                <a:r>
                  <a:rPr lang="zh-CN" altLang="zh-CN" sz="1200" kern="1200" dirty="0">
                    <a:solidFill>
                      <a:schemeClr val="tx1"/>
                    </a:solidFill>
                    <a:effectLst/>
                    <a:latin typeface="+mn-lt"/>
                    <a:ea typeface="+mn-ea"/>
                    <a:cs typeface="+mn-cs"/>
                  </a:rPr>
                  <a:t>消息集合的选取规则如下所示：</a:t>
                </a:r>
              </a:p>
              <a:p>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）选取</a:t>
                </a:r>
                <a:r>
                  <a:rPr lang="en-US" altLang="zh-CN" sz="1200" i="0" kern="1200">
                    <a:solidFill>
                      <a:schemeClr val="tx1"/>
                    </a:solidFill>
                    <a:effectLst/>
                    <a:latin typeface="+mn-lt"/>
                    <a:ea typeface="+mn-ea"/>
                    <a:cs typeface="+mn-cs"/>
                  </a:rPr>
                  <a:t>𝑉</a:t>
                </a:r>
                <a:r>
                  <a:rPr lang="zh-CN" altLang="zh-CN" sz="1200" kern="1200" dirty="0">
                    <a:solidFill>
                      <a:schemeClr val="tx1"/>
                    </a:solidFill>
                    <a:effectLst/>
                    <a:latin typeface="+mn-lt"/>
                    <a:ea typeface="+mn-ea"/>
                    <a:cs typeface="+mn-cs"/>
                  </a:rPr>
                  <a:t>中高度最低的稳定检查点的编号</a:t>
                </a:r>
                <a:r>
                  <a:rPr lang="en-US" altLang="zh-CN" sz="1200" i="0" kern="1200">
                    <a:solidFill>
                      <a:schemeClr val="tx1"/>
                    </a:solidFill>
                    <a:effectLst/>
                    <a:latin typeface="+mn-lt"/>
                    <a:ea typeface="+mn-ea"/>
                    <a:cs typeface="+mn-cs"/>
                  </a:rPr>
                  <a:t>𝑚𝑖𝑛</a:t>
                </a:r>
                <a:r>
                  <a:rPr lang="zh-CN" altLang="zh-CN" sz="1200" kern="1200" dirty="0">
                    <a:solidFill>
                      <a:schemeClr val="tx1"/>
                    </a:solidFill>
                    <a:effectLst/>
                    <a:latin typeface="+mn-lt"/>
                    <a:ea typeface="+mn-ea"/>
                    <a:cs typeface="+mn-cs"/>
                  </a:rPr>
                  <a:t>，以及</a:t>
                </a:r>
                <a:r>
                  <a:rPr lang="en-US" altLang="zh-CN" sz="1200" i="0" kern="1200">
                    <a:solidFill>
                      <a:schemeClr val="tx1"/>
                    </a:solidFill>
                    <a:effectLst/>
                    <a:latin typeface="+mn-lt"/>
                    <a:ea typeface="+mn-ea"/>
                    <a:cs typeface="+mn-cs"/>
                  </a:rPr>
                  <a:t>𝑉</a:t>
                </a:r>
                <a:r>
                  <a:rPr lang="zh-CN" altLang="zh-CN" sz="1200" kern="1200" dirty="0">
                    <a:solidFill>
                      <a:schemeClr val="tx1"/>
                    </a:solidFill>
                    <a:effectLst/>
                    <a:latin typeface="+mn-lt"/>
                    <a:ea typeface="+mn-ea"/>
                    <a:cs typeface="+mn-cs"/>
                  </a:rPr>
                  <a:t>中已达到</a:t>
                </a:r>
                <a:r>
                  <a:rPr lang="en-US" altLang="zh-CN" sz="1200" kern="1200" dirty="0">
                    <a:solidFill>
                      <a:schemeClr val="tx1"/>
                    </a:solidFill>
                    <a:effectLst/>
                    <a:latin typeface="+mn-lt"/>
                    <a:ea typeface="+mn-ea"/>
                    <a:cs typeface="+mn-cs"/>
                  </a:rPr>
                  <a:t>PREPARED</a:t>
                </a:r>
                <a:r>
                  <a:rPr lang="zh-CN" altLang="zh-CN" sz="1200" kern="1200" dirty="0">
                    <a:solidFill>
                      <a:schemeClr val="tx1"/>
                    </a:solidFill>
                    <a:effectLst/>
                    <a:latin typeface="+mn-lt"/>
                    <a:ea typeface="+mn-ea"/>
                    <a:cs typeface="+mn-cs"/>
                  </a:rPr>
                  <a:t>状态消息的最大编号</a:t>
                </a:r>
                <a:r>
                  <a:rPr lang="en-US" altLang="zh-CN" sz="1200" i="0" kern="1200">
                    <a:solidFill>
                      <a:schemeClr val="tx1"/>
                    </a:solidFill>
                    <a:effectLst/>
                    <a:latin typeface="+mn-lt"/>
                    <a:ea typeface="+mn-ea"/>
                    <a:cs typeface="+mn-cs"/>
                  </a:rPr>
                  <a:t>𝑚𝑎𝑥</a:t>
                </a:r>
                <a:r>
                  <a:rPr lang="zh-CN" altLang="zh-CN" sz="1200" kern="1200" dirty="0">
                    <a:solidFill>
                      <a:schemeClr val="tx1"/>
                    </a:solidFill>
                    <a:effectLst/>
                    <a:latin typeface="+mn-lt"/>
                    <a:ea typeface="+mn-ea"/>
                    <a:cs typeface="+mn-cs"/>
                  </a:rPr>
                  <a:t>。</a:t>
                </a:r>
              </a:p>
              <a:p>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）对于</a:t>
                </a:r>
                <a:r>
                  <a:rPr lang="en-US" altLang="zh-CN" sz="1200" i="0" kern="1200">
                    <a:solidFill>
                      <a:schemeClr val="tx1"/>
                    </a:solidFill>
                    <a:effectLst/>
                    <a:latin typeface="+mn-lt"/>
                    <a:ea typeface="+mn-ea"/>
                    <a:cs typeface="+mn-cs"/>
                  </a:rPr>
                  <a:t>𝑚𝑖𝑛</a:t>
                </a:r>
                <a:r>
                  <a:rPr lang="zh-CN" altLang="zh-CN" sz="1200" kern="1200" dirty="0">
                    <a:solidFill>
                      <a:schemeClr val="tx1"/>
                    </a:solidFill>
                    <a:effectLst/>
                    <a:latin typeface="+mn-lt"/>
                    <a:ea typeface="+mn-ea"/>
                    <a:cs typeface="+mn-cs"/>
                  </a:rPr>
                  <a:t>和</a:t>
                </a:r>
                <a:r>
                  <a:rPr lang="en-US" altLang="zh-CN" sz="1200" i="0" kern="1200">
                    <a:solidFill>
                      <a:schemeClr val="tx1"/>
                    </a:solidFill>
                    <a:effectLst/>
                    <a:latin typeface="+mn-lt"/>
                    <a:ea typeface="+mn-ea"/>
                    <a:cs typeface="+mn-cs"/>
                  </a:rPr>
                  <a:t>𝑚𝑎𝑥</a:t>
                </a:r>
                <a:r>
                  <a:rPr lang="zh-CN" altLang="zh-CN" sz="1200" kern="1200" dirty="0">
                    <a:solidFill>
                      <a:schemeClr val="tx1"/>
                    </a:solidFill>
                    <a:effectLst/>
                    <a:latin typeface="+mn-lt"/>
                    <a:ea typeface="+mn-ea"/>
                    <a:cs typeface="+mn-cs"/>
                  </a:rPr>
                  <a:t>之间的每个序号</a:t>
                </a:r>
                <a:r>
                  <a:rPr lang="en-US" altLang="zh-CN" sz="1200" i="0" kern="1200">
                    <a:solidFill>
                      <a:schemeClr val="tx1"/>
                    </a:solidFill>
                    <a:effectLst/>
                    <a:latin typeface="+mn-lt"/>
                    <a:ea typeface="+mn-ea"/>
                    <a:cs typeface="+mn-cs"/>
                  </a:rPr>
                  <a:t>𝑛</a:t>
                </a:r>
                <a:r>
                  <a:rPr lang="zh-CN" altLang="zh-CN" sz="1200" kern="1200" dirty="0">
                    <a:solidFill>
                      <a:schemeClr val="tx1"/>
                    </a:solidFill>
                    <a:effectLst/>
                    <a:latin typeface="+mn-lt"/>
                    <a:ea typeface="+mn-ea"/>
                    <a:cs typeface="+mn-cs"/>
                  </a:rPr>
                  <a:t>，如果存在某个</a:t>
                </a:r>
                <a:r>
                  <a:rPr lang="en-US" altLang="zh-CN" sz="1200" i="0" kern="1200">
                    <a:solidFill>
                      <a:schemeClr val="tx1"/>
                    </a:solidFill>
                    <a:effectLst/>
                    <a:latin typeface="+mn-lt"/>
                    <a:ea typeface="+mn-ea"/>
                    <a:cs typeface="+mn-cs"/>
                  </a:rPr>
                  <a:t>𝑃</a:t>
                </a:r>
                <a:r>
                  <a:rPr lang="zh-CN" altLang="zh-CN" sz="1200" kern="1200" dirty="0">
                    <a:solidFill>
                      <a:schemeClr val="tx1"/>
                    </a:solidFill>
                    <a:effectLst/>
                    <a:latin typeface="+mn-lt"/>
                    <a:ea typeface="+mn-ea"/>
                    <a:cs typeface="+mn-cs"/>
                  </a:rPr>
                  <a:t>中，则创建</a:t>
                </a:r>
                <a:r>
                  <a:rPr lang="en-US" altLang="zh-CN" sz="1200" i="0" kern="1200">
                    <a:solidFill>
                      <a:schemeClr val="tx1"/>
                    </a:solidFill>
                    <a:effectLst/>
                    <a:latin typeface="+mn-lt"/>
                    <a:ea typeface="+mn-ea"/>
                    <a:cs typeface="+mn-cs"/>
                  </a:rPr>
                  <a:t>&lt;&lt;𝑃𝑅𝐸−𝑃𝑅𝐸𝑃𝐴𝑅𝐸, 𝑣+1, 𝑛, 𝑑&gt;, 𝑚&gt;</a:t>
                </a:r>
                <a:r>
                  <a:rPr lang="zh-CN" altLang="zh-CN" sz="1200" kern="1200" dirty="0">
                    <a:solidFill>
                      <a:schemeClr val="tx1"/>
                    </a:solidFill>
                    <a:effectLst/>
                    <a:latin typeface="+mn-lt"/>
                    <a:ea typeface="+mn-ea"/>
                    <a:cs typeface="+mn-cs"/>
                  </a:rPr>
                  <a:t>消息；否则，则创建一个空的</a:t>
                </a:r>
                <a:r>
                  <a:rPr lang="en-US" altLang="zh-CN" sz="1200" kern="1200" dirty="0">
                    <a:solidFill>
                      <a:schemeClr val="tx1"/>
                    </a:solidFill>
                    <a:effectLst/>
                    <a:latin typeface="+mn-lt"/>
                    <a:ea typeface="+mn-ea"/>
                    <a:cs typeface="+mn-cs"/>
                  </a:rPr>
                  <a:t>PRE-PREPARE</a:t>
                </a:r>
                <a:r>
                  <a:rPr lang="zh-CN" altLang="zh-CN" sz="1200" kern="1200" dirty="0">
                    <a:solidFill>
                      <a:schemeClr val="tx1"/>
                    </a:solidFill>
                    <a:effectLst/>
                    <a:latin typeface="+mn-lt"/>
                    <a:ea typeface="+mn-ea"/>
                    <a:cs typeface="+mn-cs"/>
                  </a:rPr>
                  <a:t>消息</a:t>
                </a:r>
                <a:r>
                  <a:rPr lang="en-US" altLang="zh-CN" sz="1200" i="0" kern="1200">
                    <a:solidFill>
                      <a:schemeClr val="tx1"/>
                    </a:solidFill>
                    <a:effectLst/>
                    <a:latin typeface="+mn-lt"/>
                    <a:ea typeface="+mn-ea"/>
                    <a:cs typeface="+mn-cs"/>
                  </a:rPr>
                  <a:t>&lt;&lt;𝑃𝑅𝐸−𝑃𝑅𝐸𝑃𝐴𝑅𝐸, 𝑣+1, 𝑛, 𝑑(𝑛𝑢𝑙𝑙)&gt;, 𝑚(𝑛𝑢𝑙𝑙)&gt;</a:t>
                </a:r>
                <a:r>
                  <a:rPr lang="zh-CN" altLang="zh-CN" sz="1200" kern="1200" dirty="0">
                    <a:solidFill>
                      <a:schemeClr val="tx1"/>
                    </a:solidFill>
                    <a:effectLst/>
                    <a:latin typeface="+mn-lt"/>
                    <a:ea typeface="+mn-ea"/>
                    <a:cs typeface="+mn-cs"/>
                  </a:rPr>
                  <a:t>，其中</a:t>
                </a:r>
                <a:r>
                  <a:rPr lang="en-US" altLang="zh-CN" sz="1200" i="0" kern="1200">
                    <a:solidFill>
                      <a:schemeClr val="tx1"/>
                    </a:solidFill>
                    <a:effectLst/>
                    <a:latin typeface="+mn-lt"/>
                    <a:ea typeface="+mn-ea"/>
                    <a:cs typeface="+mn-cs"/>
                  </a:rPr>
                  <a:t>𝑑(𝑛𝑢𝑙𝑙)</a:t>
                </a:r>
                <a:r>
                  <a:rPr lang="zh-CN" altLang="zh-CN" sz="1200" kern="1200" dirty="0">
                    <a:solidFill>
                      <a:schemeClr val="tx1"/>
                    </a:solidFill>
                    <a:effectLst/>
                    <a:latin typeface="+mn-lt"/>
                    <a:ea typeface="+mn-ea"/>
                    <a:cs typeface="+mn-cs"/>
                  </a:rPr>
                  <a:t>为空消息摘要，</a:t>
                </a:r>
                <a:r>
                  <a:rPr lang="en-US" altLang="zh-CN" sz="1200" i="0" kern="1200">
                    <a:solidFill>
                      <a:schemeClr val="tx1"/>
                    </a:solidFill>
                    <a:effectLst/>
                    <a:latin typeface="+mn-lt"/>
                    <a:ea typeface="+mn-ea"/>
                    <a:cs typeface="+mn-cs"/>
                  </a:rPr>
                  <a:t>𝑚</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𝑛𝑢𝑙𝑙)</a:t>
                </a:r>
                <a:r>
                  <a:rPr lang="zh-CN" altLang="zh-CN" sz="1200" kern="1200" dirty="0">
                    <a:solidFill>
                      <a:schemeClr val="tx1"/>
                    </a:solidFill>
                    <a:effectLst/>
                    <a:latin typeface="+mn-lt"/>
                    <a:ea typeface="+mn-ea"/>
                    <a:cs typeface="+mn-cs"/>
                  </a:rPr>
                  <a:t>为空消息。</a:t>
                </a:r>
              </a:p>
            </p:txBody>
          </p:sp>
        </mc:Fallback>
      </mc:AlternateContent>
      <p:sp>
        <p:nvSpPr>
          <p:cNvPr id="4" name="灯片编号占位符 3"/>
          <p:cNvSpPr>
            <a:spLocks noGrp="1"/>
          </p:cNvSpPr>
          <p:nvPr>
            <p:ph type="sldNum" sz="quarter" idx="5"/>
          </p:nvPr>
        </p:nvSpPr>
        <p:spPr/>
        <p:txBody>
          <a:bodyPr/>
          <a:lstStyle/>
          <a:p>
            <a:fld id="{840B8802-914A-7C41-BC77-CC54DEE99EEF}" type="slidenum">
              <a:rPr kumimoji="1" lang="zh-CN" altLang="en-US" smtClean="0"/>
              <a:t>27</a:t>
            </a:fld>
            <a:endParaRPr kumimoji="1" lang="zh-CN" altLang="en-US"/>
          </a:p>
        </p:txBody>
      </p:sp>
    </p:spTree>
    <p:extLst>
      <p:ext uri="{BB962C8B-B14F-4D97-AF65-F5344CB8AC3E}">
        <p14:creationId xmlns:p14="http://schemas.microsoft.com/office/powerpoint/2010/main" val="189055967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endParaRPr lang="en-US" altLang="zh-CN" sz="1200" kern="1200" dirty="0">
                  <a:solidFill>
                    <a:schemeClr val="tx1"/>
                  </a:solidFill>
                  <a:effectLst/>
                  <a:latin typeface="+mn-lt"/>
                  <a:ea typeface="+mn-ea"/>
                  <a:cs typeface="+mn-cs"/>
                </a:endParaRPr>
              </a:p>
            </p:txBody>
          </p:sp>
        </mc:Choice>
        <mc:Fallback xmlns="">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注意，当主节点</a:t>
                </a:r>
                <a:r>
                  <a:rPr lang="en-US" altLang="zh-CN" sz="1200" i="0" kern="1200">
                    <a:solidFill>
                      <a:schemeClr val="tx1"/>
                    </a:solidFill>
                    <a:effectLst/>
                    <a:latin typeface="+mn-lt"/>
                    <a:ea typeface="+mn-ea"/>
                    <a:cs typeface="+mn-cs"/>
                  </a:rPr>
                  <a:t>𝑖</a:t>
                </a:r>
                <a:r>
                  <a:rPr lang="zh-CN" altLang="zh-CN" sz="1200" kern="1200" dirty="0">
                    <a:solidFill>
                      <a:schemeClr val="tx1"/>
                    </a:solidFill>
                    <a:effectLst/>
                    <a:latin typeface="+mn-lt"/>
                    <a:ea typeface="+mn-ea"/>
                    <a:cs typeface="+mn-cs"/>
                  </a:rPr>
                  <a:t>收到</a:t>
                </a:r>
                <a:r>
                  <a:rPr lang="en-US" altLang="zh-CN" sz="1200" i="0" kern="1200">
                    <a:solidFill>
                      <a:schemeClr val="tx1"/>
                    </a:solidFill>
                    <a:effectLst/>
                    <a:latin typeface="+mn-lt"/>
                    <a:ea typeface="+mn-ea"/>
                    <a:cs typeface="+mn-cs"/>
                  </a:rPr>
                  <a:t>2𝐹+1</a:t>
                </a:r>
                <a:r>
                  <a:rPr lang="zh-CN" altLang="zh-CN" sz="1200" kern="1200" dirty="0">
                    <a:solidFill>
                      <a:schemeClr val="tx1"/>
                    </a:solidFill>
                    <a:effectLst/>
                    <a:latin typeface="+mn-lt"/>
                    <a:ea typeface="+mn-ea"/>
                    <a:cs typeface="+mn-cs"/>
                  </a:rPr>
                  <a:t>个</a:t>
                </a:r>
                <a:r>
                  <a:rPr lang="en-US" altLang="zh-CN" sz="1200" i="0" kern="1200">
                    <a:solidFill>
                      <a:schemeClr val="tx1"/>
                    </a:solidFill>
                    <a:effectLst/>
                    <a:latin typeface="+mn-lt"/>
                    <a:ea typeface="+mn-ea"/>
                    <a:cs typeface="+mn-cs"/>
                  </a:rPr>
                  <a:t>𝑉𝐼𝐸𝑊−𝐶𝐻𝐴𝑁𝐺𝐸</a:t>
                </a:r>
                <a:r>
                  <a:rPr lang="zh-CN" altLang="zh-CN" sz="1200" kern="1200" dirty="0">
                    <a:solidFill>
                      <a:schemeClr val="tx1"/>
                    </a:solidFill>
                    <a:effectLst/>
                    <a:latin typeface="+mn-lt"/>
                    <a:ea typeface="+mn-ea"/>
                    <a:cs typeface="+mn-cs"/>
                  </a:rPr>
                  <a:t>消息，可以确认高度为</a:t>
                </a:r>
                <a:r>
                  <a:rPr lang="en-US" altLang="zh-CN" sz="1200" i="0" kern="1200">
                    <a:solidFill>
                      <a:schemeClr val="tx1"/>
                    </a:solidFill>
                    <a:effectLst/>
                    <a:latin typeface="+mn-lt"/>
                    <a:ea typeface="+mn-ea"/>
                    <a:cs typeface="+mn-cs"/>
                  </a:rPr>
                  <a:t>𝑛</a:t>
                </a:r>
                <a:r>
                  <a:rPr lang="zh-CN" altLang="zh-CN" sz="1200" kern="1200" dirty="0">
                    <a:solidFill>
                      <a:schemeClr val="tx1"/>
                    </a:solidFill>
                    <a:effectLst/>
                    <a:latin typeface="+mn-lt"/>
                    <a:ea typeface="+mn-ea"/>
                    <a:cs typeface="+mn-cs"/>
                  </a:rPr>
                  <a:t>的稳定检查点之间的消息在视图切换的过程中不会丢失，但是当前检查点之后，下一个检查点之前的已经达到</a:t>
                </a:r>
                <a:r>
                  <a:rPr lang="en-US" altLang="zh-CN" sz="1200" kern="1200" dirty="0">
                    <a:solidFill>
                      <a:schemeClr val="tx1"/>
                    </a:solidFill>
                    <a:effectLst/>
                    <a:latin typeface="+mn-lt"/>
                    <a:ea typeface="+mn-ea"/>
                    <a:cs typeface="+mn-cs"/>
                  </a:rPr>
                  <a:t>PREPARED</a:t>
                </a:r>
                <a:r>
                  <a:rPr lang="zh-CN" altLang="zh-CN" sz="1200" kern="1200" dirty="0">
                    <a:solidFill>
                      <a:schemeClr val="tx1"/>
                    </a:solidFill>
                    <a:effectLst/>
                    <a:latin typeface="+mn-lt"/>
                    <a:ea typeface="+mn-ea"/>
                    <a:cs typeface="+mn-cs"/>
                  </a:rPr>
                  <a:t>状态的消息会丢失。因此，新视图的主节点会把旧视图中已经达到</a:t>
                </a:r>
                <a:r>
                  <a:rPr lang="en-US" altLang="zh-CN" sz="1200" kern="1200" dirty="0">
                    <a:solidFill>
                      <a:schemeClr val="tx1"/>
                    </a:solidFill>
                    <a:effectLst/>
                    <a:latin typeface="+mn-lt"/>
                    <a:ea typeface="+mn-ea"/>
                    <a:cs typeface="+mn-cs"/>
                  </a:rPr>
                  <a:t>PREPARED</a:t>
                </a:r>
                <a:r>
                  <a:rPr lang="zh-CN" altLang="zh-CN" sz="1200" kern="1200" dirty="0">
                    <a:solidFill>
                      <a:schemeClr val="tx1"/>
                    </a:solidFill>
                    <a:effectLst/>
                    <a:latin typeface="+mn-lt"/>
                    <a:ea typeface="+mn-ea"/>
                    <a:cs typeface="+mn-cs"/>
                  </a:rPr>
                  <a:t>状态的消息转换为</a:t>
                </a:r>
                <a:r>
                  <a:rPr lang="en-US" altLang="zh-CN" sz="1200" kern="1200" dirty="0">
                    <a:solidFill>
                      <a:schemeClr val="tx1"/>
                    </a:solidFill>
                    <a:effectLst/>
                    <a:latin typeface="+mn-lt"/>
                    <a:ea typeface="+mn-ea"/>
                    <a:cs typeface="+mn-cs"/>
                  </a:rPr>
                  <a:t>PRE-PREPARE</a:t>
                </a:r>
                <a:r>
                  <a:rPr lang="zh-CN" altLang="zh-CN" sz="1200" kern="1200" dirty="0">
                    <a:solidFill>
                      <a:schemeClr val="tx1"/>
                    </a:solidFill>
                    <a:effectLst/>
                    <a:latin typeface="+mn-lt"/>
                    <a:ea typeface="+mn-ea"/>
                    <a:cs typeface="+mn-cs"/>
                  </a:rPr>
                  <a:t>消息，重新广播到网络中了。</a:t>
                </a:r>
                <a:r>
                  <a:rPr lang="en-US" altLang="zh-CN" sz="1200" kern="1200" dirty="0">
                    <a:solidFill>
                      <a:schemeClr val="tx1"/>
                    </a:solidFill>
                    <a:effectLst/>
                    <a:latin typeface="+mn-lt"/>
                    <a:ea typeface="+mn-ea"/>
                    <a:cs typeface="+mn-cs"/>
                  </a:rPr>
                  <a:t>PRE-PREPARE</a:t>
                </a:r>
                <a:r>
                  <a:rPr lang="zh-CN" altLang="zh-CN" sz="1200" kern="1200" dirty="0">
                    <a:solidFill>
                      <a:schemeClr val="tx1"/>
                    </a:solidFill>
                    <a:effectLst/>
                    <a:latin typeface="+mn-lt"/>
                    <a:ea typeface="+mn-ea"/>
                    <a:cs typeface="+mn-cs"/>
                  </a:rPr>
                  <a:t>消息集合的选取规则如下所示：</a:t>
                </a:r>
              </a:p>
              <a:p>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）选取</a:t>
                </a:r>
                <a:r>
                  <a:rPr lang="en-US" altLang="zh-CN" sz="1200" i="0" kern="1200">
                    <a:solidFill>
                      <a:schemeClr val="tx1"/>
                    </a:solidFill>
                    <a:effectLst/>
                    <a:latin typeface="+mn-lt"/>
                    <a:ea typeface="+mn-ea"/>
                    <a:cs typeface="+mn-cs"/>
                  </a:rPr>
                  <a:t>𝑉</a:t>
                </a:r>
                <a:r>
                  <a:rPr lang="zh-CN" altLang="zh-CN" sz="1200" kern="1200" dirty="0">
                    <a:solidFill>
                      <a:schemeClr val="tx1"/>
                    </a:solidFill>
                    <a:effectLst/>
                    <a:latin typeface="+mn-lt"/>
                    <a:ea typeface="+mn-ea"/>
                    <a:cs typeface="+mn-cs"/>
                  </a:rPr>
                  <a:t>中高度最低的稳定检查点的编号</a:t>
                </a:r>
                <a:r>
                  <a:rPr lang="en-US" altLang="zh-CN" sz="1200" i="0" kern="1200">
                    <a:solidFill>
                      <a:schemeClr val="tx1"/>
                    </a:solidFill>
                    <a:effectLst/>
                    <a:latin typeface="+mn-lt"/>
                    <a:ea typeface="+mn-ea"/>
                    <a:cs typeface="+mn-cs"/>
                  </a:rPr>
                  <a:t>𝑚𝑖𝑛</a:t>
                </a:r>
                <a:r>
                  <a:rPr lang="zh-CN" altLang="zh-CN" sz="1200" kern="1200" dirty="0">
                    <a:solidFill>
                      <a:schemeClr val="tx1"/>
                    </a:solidFill>
                    <a:effectLst/>
                    <a:latin typeface="+mn-lt"/>
                    <a:ea typeface="+mn-ea"/>
                    <a:cs typeface="+mn-cs"/>
                  </a:rPr>
                  <a:t>，以及</a:t>
                </a:r>
                <a:r>
                  <a:rPr lang="en-US" altLang="zh-CN" sz="1200" i="0" kern="1200">
                    <a:solidFill>
                      <a:schemeClr val="tx1"/>
                    </a:solidFill>
                    <a:effectLst/>
                    <a:latin typeface="+mn-lt"/>
                    <a:ea typeface="+mn-ea"/>
                    <a:cs typeface="+mn-cs"/>
                  </a:rPr>
                  <a:t>𝑉</a:t>
                </a:r>
                <a:r>
                  <a:rPr lang="zh-CN" altLang="zh-CN" sz="1200" kern="1200" dirty="0">
                    <a:solidFill>
                      <a:schemeClr val="tx1"/>
                    </a:solidFill>
                    <a:effectLst/>
                    <a:latin typeface="+mn-lt"/>
                    <a:ea typeface="+mn-ea"/>
                    <a:cs typeface="+mn-cs"/>
                  </a:rPr>
                  <a:t>中已达到</a:t>
                </a:r>
                <a:r>
                  <a:rPr lang="en-US" altLang="zh-CN" sz="1200" kern="1200" dirty="0">
                    <a:solidFill>
                      <a:schemeClr val="tx1"/>
                    </a:solidFill>
                    <a:effectLst/>
                    <a:latin typeface="+mn-lt"/>
                    <a:ea typeface="+mn-ea"/>
                    <a:cs typeface="+mn-cs"/>
                  </a:rPr>
                  <a:t>PREPARED</a:t>
                </a:r>
                <a:r>
                  <a:rPr lang="zh-CN" altLang="zh-CN" sz="1200" kern="1200" dirty="0">
                    <a:solidFill>
                      <a:schemeClr val="tx1"/>
                    </a:solidFill>
                    <a:effectLst/>
                    <a:latin typeface="+mn-lt"/>
                    <a:ea typeface="+mn-ea"/>
                    <a:cs typeface="+mn-cs"/>
                  </a:rPr>
                  <a:t>状态消息的最大编号</a:t>
                </a:r>
                <a:r>
                  <a:rPr lang="en-US" altLang="zh-CN" sz="1200" i="0" kern="1200">
                    <a:solidFill>
                      <a:schemeClr val="tx1"/>
                    </a:solidFill>
                    <a:effectLst/>
                    <a:latin typeface="+mn-lt"/>
                    <a:ea typeface="+mn-ea"/>
                    <a:cs typeface="+mn-cs"/>
                  </a:rPr>
                  <a:t>𝑚𝑎𝑥</a:t>
                </a:r>
                <a:r>
                  <a:rPr lang="zh-CN" altLang="zh-CN" sz="1200" kern="1200" dirty="0">
                    <a:solidFill>
                      <a:schemeClr val="tx1"/>
                    </a:solidFill>
                    <a:effectLst/>
                    <a:latin typeface="+mn-lt"/>
                    <a:ea typeface="+mn-ea"/>
                    <a:cs typeface="+mn-cs"/>
                  </a:rPr>
                  <a:t>。</a:t>
                </a:r>
              </a:p>
              <a:p>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）对于</a:t>
                </a:r>
                <a:r>
                  <a:rPr lang="en-US" altLang="zh-CN" sz="1200" i="0" kern="1200">
                    <a:solidFill>
                      <a:schemeClr val="tx1"/>
                    </a:solidFill>
                    <a:effectLst/>
                    <a:latin typeface="+mn-lt"/>
                    <a:ea typeface="+mn-ea"/>
                    <a:cs typeface="+mn-cs"/>
                  </a:rPr>
                  <a:t>𝑚𝑖𝑛</a:t>
                </a:r>
                <a:r>
                  <a:rPr lang="zh-CN" altLang="zh-CN" sz="1200" kern="1200" dirty="0">
                    <a:solidFill>
                      <a:schemeClr val="tx1"/>
                    </a:solidFill>
                    <a:effectLst/>
                    <a:latin typeface="+mn-lt"/>
                    <a:ea typeface="+mn-ea"/>
                    <a:cs typeface="+mn-cs"/>
                  </a:rPr>
                  <a:t>和</a:t>
                </a:r>
                <a:r>
                  <a:rPr lang="en-US" altLang="zh-CN" sz="1200" i="0" kern="1200">
                    <a:solidFill>
                      <a:schemeClr val="tx1"/>
                    </a:solidFill>
                    <a:effectLst/>
                    <a:latin typeface="+mn-lt"/>
                    <a:ea typeface="+mn-ea"/>
                    <a:cs typeface="+mn-cs"/>
                  </a:rPr>
                  <a:t>𝑚𝑎𝑥</a:t>
                </a:r>
                <a:r>
                  <a:rPr lang="zh-CN" altLang="zh-CN" sz="1200" kern="1200" dirty="0">
                    <a:solidFill>
                      <a:schemeClr val="tx1"/>
                    </a:solidFill>
                    <a:effectLst/>
                    <a:latin typeface="+mn-lt"/>
                    <a:ea typeface="+mn-ea"/>
                    <a:cs typeface="+mn-cs"/>
                  </a:rPr>
                  <a:t>之间的每个序号</a:t>
                </a:r>
                <a:r>
                  <a:rPr lang="en-US" altLang="zh-CN" sz="1200" i="0" kern="1200">
                    <a:solidFill>
                      <a:schemeClr val="tx1"/>
                    </a:solidFill>
                    <a:effectLst/>
                    <a:latin typeface="+mn-lt"/>
                    <a:ea typeface="+mn-ea"/>
                    <a:cs typeface="+mn-cs"/>
                  </a:rPr>
                  <a:t>𝑛</a:t>
                </a:r>
                <a:r>
                  <a:rPr lang="zh-CN" altLang="zh-CN" sz="1200" kern="1200" dirty="0">
                    <a:solidFill>
                      <a:schemeClr val="tx1"/>
                    </a:solidFill>
                    <a:effectLst/>
                    <a:latin typeface="+mn-lt"/>
                    <a:ea typeface="+mn-ea"/>
                    <a:cs typeface="+mn-cs"/>
                  </a:rPr>
                  <a:t>，如果存在某个</a:t>
                </a:r>
                <a:r>
                  <a:rPr lang="en-US" altLang="zh-CN" sz="1200" i="0" kern="1200">
                    <a:solidFill>
                      <a:schemeClr val="tx1"/>
                    </a:solidFill>
                    <a:effectLst/>
                    <a:latin typeface="+mn-lt"/>
                    <a:ea typeface="+mn-ea"/>
                    <a:cs typeface="+mn-cs"/>
                  </a:rPr>
                  <a:t>𝑃</a:t>
                </a:r>
                <a:r>
                  <a:rPr lang="zh-CN" altLang="zh-CN" sz="1200" kern="1200" dirty="0">
                    <a:solidFill>
                      <a:schemeClr val="tx1"/>
                    </a:solidFill>
                    <a:effectLst/>
                    <a:latin typeface="+mn-lt"/>
                    <a:ea typeface="+mn-ea"/>
                    <a:cs typeface="+mn-cs"/>
                  </a:rPr>
                  <a:t>中，则创建</a:t>
                </a:r>
                <a:r>
                  <a:rPr lang="en-US" altLang="zh-CN" sz="1200" i="0" kern="1200">
                    <a:solidFill>
                      <a:schemeClr val="tx1"/>
                    </a:solidFill>
                    <a:effectLst/>
                    <a:latin typeface="+mn-lt"/>
                    <a:ea typeface="+mn-ea"/>
                    <a:cs typeface="+mn-cs"/>
                  </a:rPr>
                  <a:t>&lt;&lt;𝑃𝑅𝐸−𝑃𝑅𝐸𝑃𝐴𝑅𝐸, 𝑣+1, 𝑛, 𝑑&gt;, 𝑚&gt;</a:t>
                </a:r>
                <a:r>
                  <a:rPr lang="zh-CN" altLang="zh-CN" sz="1200" kern="1200" dirty="0">
                    <a:solidFill>
                      <a:schemeClr val="tx1"/>
                    </a:solidFill>
                    <a:effectLst/>
                    <a:latin typeface="+mn-lt"/>
                    <a:ea typeface="+mn-ea"/>
                    <a:cs typeface="+mn-cs"/>
                  </a:rPr>
                  <a:t>消息；否则，则创建一个空的</a:t>
                </a:r>
                <a:r>
                  <a:rPr lang="en-US" altLang="zh-CN" sz="1200" kern="1200" dirty="0">
                    <a:solidFill>
                      <a:schemeClr val="tx1"/>
                    </a:solidFill>
                    <a:effectLst/>
                    <a:latin typeface="+mn-lt"/>
                    <a:ea typeface="+mn-ea"/>
                    <a:cs typeface="+mn-cs"/>
                  </a:rPr>
                  <a:t>PRE-PREPARE</a:t>
                </a:r>
                <a:r>
                  <a:rPr lang="zh-CN" altLang="zh-CN" sz="1200" kern="1200" dirty="0">
                    <a:solidFill>
                      <a:schemeClr val="tx1"/>
                    </a:solidFill>
                    <a:effectLst/>
                    <a:latin typeface="+mn-lt"/>
                    <a:ea typeface="+mn-ea"/>
                    <a:cs typeface="+mn-cs"/>
                  </a:rPr>
                  <a:t>消息</a:t>
                </a:r>
                <a:r>
                  <a:rPr lang="en-US" altLang="zh-CN" sz="1200" i="0" kern="1200">
                    <a:solidFill>
                      <a:schemeClr val="tx1"/>
                    </a:solidFill>
                    <a:effectLst/>
                    <a:latin typeface="+mn-lt"/>
                    <a:ea typeface="+mn-ea"/>
                    <a:cs typeface="+mn-cs"/>
                  </a:rPr>
                  <a:t>&lt;&lt;𝑃𝑅𝐸−𝑃𝑅𝐸𝑃𝐴𝑅𝐸, 𝑣+1, 𝑛, 𝑑(𝑛𝑢𝑙𝑙)&gt;, 𝑚(𝑛𝑢𝑙𝑙)&gt;</a:t>
                </a:r>
                <a:r>
                  <a:rPr lang="zh-CN" altLang="zh-CN" sz="1200" kern="1200" dirty="0">
                    <a:solidFill>
                      <a:schemeClr val="tx1"/>
                    </a:solidFill>
                    <a:effectLst/>
                    <a:latin typeface="+mn-lt"/>
                    <a:ea typeface="+mn-ea"/>
                    <a:cs typeface="+mn-cs"/>
                  </a:rPr>
                  <a:t>，其中</a:t>
                </a:r>
                <a:r>
                  <a:rPr lang="en-US" altLang="zh-CN" sz="1200" i="0" kern="1200">
                    <a:solidFill>
                      <a:schemeClr val="tx1"/>
                    </a:solidFill>
                    <a:effectLst/>
                    <a:latin typeface="+mn-lt"/>
                    <a:ea typeface="+mn-ea"/>
                    <a:cs typeface="+mn-cs"/>
                  </a:rPr>
                  <a:t>𝑑(𝑛𝑢𝑙𝑙)</a:t>
                </a:r>
                <a:r>
                  <a:rPr lang="zh-CN" altLang="zh-CN" sz="1200" kern="1200" dirty="0">
                    <a:solidFill>
                      <a:schemeClr val="tx1"/>
                    </a:solidFill>
                    <a:effectLst/>
                    <a:latin typeface="+mn-lt"/>
                    <a:ea typeface="+mn-ea"/>
                    <a:cs typeface="+mn-cs"/>
                  </a:rPr>
                  <a:t>为空消息摘要，</a:t>
                </a:r>
                <a:r>
                  <a:rPr lang="en-US" altLang="zh-CN" sz="1200" i="0" kern="1200">
                    <a:solidFill>
                      <a:schemeClr val="tx1"/>
                    </a:solidFill>
                    <a:effectLst/>
                    <a:latin typeface="+mn-lt"/>
                    <a:ea typeface="+mn-ea"/>
                    <a:cs typeface="+mn-cs"/>
                  </a:rPr>
                  <a:t>𝑚</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𝑛𝑢𝑙𝑙)</a:t>
                </a:r>
                <a:r>
                  <a:rPr lang="zh-CN" altLang="zh-CN" sz="1200" kern="1200" dirty="0">
                    <a:solidFill>
                      <a:schemeClr val="tx1"/>
                    </a:solidFill>
                    <a:effectLst/>
                    <a:latin typeface="+mn-lt"/>
                    <a:ea typeface="+mn-ea"/>
                    <a:cs typeface="+mn-cs"/>
                  </a:rPr>
                  <a:t>为空消息。</a:t>
                </a:r>
              </a:p>
            </p:txBody>
          </p:sp>
        </mc:Fallback>
      </mc:AlternateContent>
      <p:sp>
        <p:nvSpPr>
          <p:cNvPr id="4" name="灯片编号占位符 3"/>
          <p:cNvSpPr>
            <a:spLocks noGrp="1"/>
          </p:cNvSpPr>
          <p:nvPr>
            <p:ph type="sldNum" sz="quarter" idx="5"/>
          </p:nvPr>
        </p:nvSpPr>
        <p:spPr/>
        <p:txBody>
          <a:bodyPr/>
          <a:lstStyle/>
          <a:p>
            <a:fld id="{840B8802-914A-7C41-BC77-CC54DEE99EEF}" type="slidenum">
              <a:rPr kumimoji="1" lang="zh-CN" altLang="en-US" smtClean="0"/>
              <a:t>28</a:t>
            </a:fld>
            <a:endParaRPr kumimoji="1" lang="zh-CN" altLang="en-US"/>
          </a:p>
        </p:txBody>
      </p:sp>
    </p:spTree>
    <p:extLst>
      <p:ext uri="{BB962C8B-B14F-4D97-AF65-F5344CB8AC3E}">
        <p14:creationId xmlns:p14="http://schemas.microsoft.com/office/powerpoint/2010/main" val="99661091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cs typeface="+mn-cs"/>
                  </a:rPr>
                  <a:t>工作量证明</a:t>
                </a:r>
                <a:r>
                  <a:rPr lang="en-US" altLang="zh-CN" sz="1200" kern="1200" dirty="0">
                    <a:solidFill>
                      <a:schemeClr val="tx1"/>
                    </a:solidFill>
                    <a:effectLst/>
                    <a:latin typeface="+mn-lt"/>
                    <a:ea typeface="+mn-ea"/>
                    <a:cs typeface="+mn-cs"/>
                  </a:rPr>
                  <a:t>1/2</a:t>
                </a:r>
                <a:r>
                  <a:rPr lang="zh-CN" altLang="en-US" sz="1200" kern="1200" dirty="0">
                    <a:solidFill>
                      <a:schemeClr val="tx1"/>
                    </a:solidFill>
                    <a:effectLst/>
                    <a:latin typeface="+mn-lt"/>
                    <a:ea typeface="+mn-ea"/>
                    <a:cs typeface="+mn-cs"/>
                  </a:rPr>
                  <a:t>的容错阈值比</a:t>
                </a:r>
                <a:r>
                  <a:rPr lang="en-US" altLang="zh-CN" sz="1200" kern="1200" dirty="0">
                    <a:solidFill>
                      <a:schemeClr val="tx1"/>
                    </a:solidFill>
                    <a:effectLst/>
                    <a:latin typeface="+mn-lt"/>
                    <a:ea typeface="+mn-ea"/>
                    <a:cs typeface="+mn-cs"/>
                  </a:rPr>
                  <a:t>BFT</a:t>
                </a:r>
                <a:r>
                  <a:rPr lang="zh-CN" altLang="en-US" sz="1200" kern="1200" dirty="0">
                    <a:solidFill>
                      <a:schemeClr val="tx1"/>
                    </a:solidFill>
                    <a:effectLst/>
                    <a:latin typeface="+mn-lt"/>
                    <a:ea typeface="+mn-ea"/>
                    <a:cs typeface="+mn-cs"/>
                  </a:rPr>
                  <a:t>类共识机制</a:t>
                </a:r>
                <a:r>
                  <a:rPr lang="en-US" altLang="zh-CN" sz="1200" kern="1200" dirty="0">
                    <a:solidFill>
                      <a:schemeClr val="tx1"/>
                    </a:solidFill>
                    <a:effectLst/>
                    <a:latin typeface="+mn-lt"/>
                    <a:ea typeface="+mn-ea"/>
                    <a:cs typeface="+mn-cs"/>
                  </a:rPr>
                  <a:t>1/3</a:t>
                </a:r>
                <a:r>
                  <a:rPr lang="zh-CN" altLang="en-US" sz="1200" kern="1200" dirty="0">
                    <a:solidFill>
                      <a:schemeClr val="tx1"/>
                    </a:solidFill>
                    <a:effectLst/>
                    <a:latin typeface="+mn-lt"/>
                    <a:ea typeface="+mn-ea"/>
                    <a:cs typeface="+mn-cs"/>
                  </a:rPr>
                  <a:t>的容错阈值要高，其主要原因是</a:t>
                </a:r>
                <a:r>
                  <a:rPr lang="en-US" altLang="zh-CN" sz="1200" kern="1200" dirty="0">
                    <a:solidFill>
                      <a:schemeClr val="tx1"/>
                    </a:solidFill>
                    <a:effectLst/>
                    <a:latin typeface="+mn-lt"/>
                    <a:ea typeface="+mn-ea"/>
                    <a:cs typeface="+mn-cs"/>
                  </a:rPr>
                  <a:t>BFT</a:t>
                </a:r>
                <a:r>
                  <a:rPr lang="zh-CN" altLang="en-US" sz="1200" kern="1200" dirty="0">
                    <a:solidFill>
                      <a:schemeClr val="tx1"/>
                    </a:solidFill>
                    <a:effectLst/>
                    <a:latin typeface="+mn-lt"/>
                    <a:ea typeface="+mn-ea"/>
                    <a:cs typeface="+mn-cs"/>
                  </a:rPr>
                  <a:t>类共识机制解决拜占庭将军问题的框架是通过投票的方法实现的，而工作量证明是通过争夺记账权的方式而非以合作投票的方式解决拜占庭将军问题</a:t>
                </a:r>
                <a:endParaRPr lang="en-US" altLang="zh-CN" sz="1200" kern="1200" dirty="0">
                  <a:solidFill>
                    <a:schemeClr val="tx1"/>
                  </a:solidFill>
                  <a:effectLst/>
                  <a:latin typeface="+mn-lt"/>
                  <a:ea typeface="+mn-ea"/>
                  <a:cs typeface="+mn-cs"/>
                </a:endParaRPr>
              </a:p>
            </p:txBody>
          </p:sp>
        </mc:Choice>
        <mc:Fallback xmlns="">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注意，当主节点</a:t>
                </a:r>
                <a:r>
                  <a:rPr lang="en-US" altLang="zh-CN" sz="1200" i="0" kern="1200">
                    <a:solidFill>
                      <a:schemeClr val="tx1"/>
                    </a:solidFill>
                    <a:effectLst/>
                    <a:latin typeface="+mn-lt"/>
                    <a:ea typeface="+mn-ea"/>
                    <a:cs typeface="+mn-cs"/>
                  </a:rPr>
                  <a:t>𝑖</a:t>
                </a:r>
                <a:r>
                  <a:rPr lang="zh-CN" altLang="zh-CN" sz="1200" kern="1200" dirty="0">
                    <a:solidFill>
                      <a:schemeClr val="tx1"/>
                    </a:solidFill>
                    <a:effectLst/>
                    <a:latin typeface="+mn-lt"/>
                    <a:ea typeface="+mn-ea"/>
                    <a:cs typeface="+mn-cs"/>
                  </a:rPr>
                  <a:t>收到</a:t>
                </a:r>
                <a:r>
                  <a:rPr lang="en-US" altLang="zh-CN" sz="1200" i="0" kern="1200">
                    <a:solidFill>
                      <a:schemeClr val="tx1"/>
                    </a:solidFill>
                    <a:effectLst/>
                    <a:latin typeface="+mn-lt"/>
                    <a:ea typeface="+mn-ea"/>
                    <a:cs typeface="+mn-cs"/>
                  </a:rPr>
                  <a:t>2𝐹+1</a:t>
                </a:r>
                <a:r>
                  <a:rPr lang="zh-CN" altLang="zh-CN" sz="1200" kern="1200" dirty="0">
                    <a:solidFill>
                      <a:schemeClr val="tx1"/>
                    </a:solidFill>
                    <a:effectLst/>
                    <a:latin typeface="+mn-lt"/>
                    <a:ea typeface="+mn-ea"/>
                    <a:cs typeface="+mn-cs"/>
                  </a:rPr>
                  <a:t>个</a:t>
                </a:r>
                <a:r>
                  <a:rPr lang="en-US" altLang="zh-CN" sz="1200" i="0" kern="1200">
                    <a:solidFill>
                      <a:schemeClr val="tx1"/>
                    </a:solidFill>
                    <a:effectLst/>
                    <a:latin typeface="+mn-lt"/>
                    <a:ea typeface="+mn-ea"/>
                    <a:cs typeface="+mn-cs"/>
                  </a:rPr>
                  <a:t>𝑉𝐼𝐸𝑊−𝐶𝐻𝐴𝑁𝐺𝐸</a:t>
                </a:r>
                <a:r>
                  <a:rPr lang="zh-CN" altLang="zh-CN" sz="1200" kern="1200" dirty="0">
                    <a:solidFill>
                      <a:schemeClr val="tx1"/>
                    </a:solidFill>
                    <a:effectLst/>
                    <a:latin typeface="+mn-lt"/>
                    <a:ea typeface="+mn-ea"/>
                    <a:cs typeface="+mn-cs"/>
                  </a:rPr>
                  <a:t>消息，可以确认高度为</a:t>
                </a:r>
                <a:r>
                  <a:rPr lang="en-US" altLang="zh-CN" sz="1200" i="0" kern="1200">
                    <a:solidFill>
                      <a:schemeClr val="tx1"/>
                    </a:solidFill>
                    <a:effectLst/>
                    <a:latin typeface="+mn-lt"/>
                    <a:ea typeface="+mn-ea"/>
                    <a:cs typeface="+mn-cs"/>
                  </a:rPr>
                  <a:t>𝑛</a:t>
                </a:r>
                <a:r>
                  <a:rPr lang="zh-CN" altLang="zh-CN" sz="1200" kern="1200" dirty="0">
                    <a:solidFill>
                      <a:schemeClr val="tx1"/>
                    </a:solidFill>
                    <a:effectLst/>
                    <a:latin typeface="+mn-lt"/>
                    <a:ea typeface="+mn-ea"/>
                    <a:cs typeface="+mn-cs"/>
                  </a:rPr>
                  <a:t>的稳定检查点之间的消息在视图切换的过程中不会丢失，但是当前检查点之后，下一个检查点之前的已经达到</a:t>
                </a:r>
                <a:r>
                  <a:rPr lang="en-US" altLang="zh-CN" sz="1200" kern="1200" dirty="0">
                    <a:solidFill>
                      <a:schemeClr val="tx1"/>
                    </a:solidFill>
                    <a:effectLst/>
                    <a:latin typeface="+mn-lt"/>
                    <a:ea typeface="+mn-ea"/>
                    <a:cs typeface="+mn-cs"/>
                  </a:rPr>
                  <a:t>PREPARED</a:t>
                </a:r>
                <a:r>
                  <a:rPr lang="zh-CN" altLang="zh-CN" sz="1200" kern="1200" dirty="0">
                    <a:solidFill>
                      <a:schemeClr val="tx1"/>
                    </a:solidFill>
                    <a:effectLst/>
                    <a:latin typeface="+mn-lt"/>
                    <a:ea typeface="+mn-ea"/>
                    <a:cs typeface="+mn-cs"/>
                  </a:rPr>
                  <a:t>状态的消息会丢失。因此，新视图的主节点会把旧视图中已经达到</a:t>
                </a:r>
                <a:r>
                  <a:rPr lang="en-US" altLang="zh-CN" sz="1200" kern="1200" dirty="0">
                    <a:solidFill>
                      <a:schemeClr val="tx1"/>
                    </a:solidFill>
                    <a:effectLst/>
                    <a:latin typeface="+mn-lt"/>
                    <a:ea typeface="+mn-ea"/>
                    <a:cs typeface="+mn-cs"/>
                  </a:rPr>
                  <a:t>PREPARED</a:t>
                </a:r>
                <a:r>
                  <a:rPr lang="zh-CN" altLang="zh-CN" sz="1200" kern="1200" dirty="0">
                    <a:solidFill>
                      <a:schemeClr val="tx1"/>
                    </a:solidFill>
                    <a:effectLst/>
                    <a:latin typeface="+mn-lt"/>
                    <a:ea typeface="+mn-ea"/>
                    <a:cs typeface="+mn-cs"/>
                  </a:rPr>
                  <a:t>状态的消息转换为</a:t>
                </a:r>
                <a:r>
                  <a:rPr lang="en-US" altLang="zh-CN" sz="1200" kern="1200" dirty="0">
                    <a:solidFill>
                      <a:schemeClr val="tx1"/>
                    </a:solidFill>
                    <a:effectLst/>
                    <a:latin typeface="+mn-lt"/>
                    <a:ea typeface="+mn-ea"/>
                    <a:cs typeface="+mn-cs"/>
                  </a:rPr>
                  <a:t>PRE-PREPARE</a:t>
                </a:r>
                <a:r>
                  <a:rPr lang="zh-CN" altLang="zh-CN" sz="1200" kern="1200" dirty="0">
                    <a:solidFill>
                      <a:schemeClr val="tx1"/>
                    </a:solidFill>
                    <a:effectLst/>
                    <a:latin typeface="+mn-lt"/>
                    <a:ea typeface="+mn-ea"/>
                    <a:cs typeface="+mn-cs"/>
                  </a:rPr>
                  <a:t>消息，重新广播到网络中了。</a:t>
                </a:r>
                <a:r>
                  <a:rPr lang="en-US" altLang="zh-CN" sz="1200" kern="1200" dirty="0">
                    <a:solidFill>
                      <a:schemeClr val="tx1"/>
                    </a:solidFill>
                    <a:effectLst/>
                    <a:latin typeface="+mn-lt"/>
                    <a:ea typeface="+mn-ea"/>
                    <a:cs typeface="+mn-cs"/>
                  </a:rPr>
                  <a:t>PRE-PREPARE</a:t>
                </a:r>
                <a:r>
                  <a:rPr lang="zh-CN" altLang="zh-CN" sz="1200" kern="1200" dirty="0">
                    <a:solidFill>
                      <a:schemeClr val="tx1"/>
                    </a:solidFill>
                    <a:effectLst/>
                    <a:latin typeface="+mn-lt"/>
                    <a:ea typeface="+mn-ea"/>
                    <a:cs typeface="+mn-cs"/>
                  </a:rPr>
                  <a:t>消息集合的选取规则如下所示：</a:t>
                </a:r>
              </a:p>
              <a:p>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）选取</a:t>
                </a:r>
                <a:r>
                  <a:rPr lang="en-US" altLang="zh-CN" sz="1200" i="0" kern="1200">
                    <a:solidFill>
                      <a:schemeClr val="tx1"/>
                    </a:solidFill>
                    <a:effectLst/>
                    <a:latin typeface="+mn-lt"/>
                    <a:ea typeface="+mn-ea"/>
                    <a:cs typeface="+mn-cs"/>
                  </a:rPr>
                  <a:t>𝑉</a:t>
                </a:r>
                <a:r>
                  <a:rPr lang="zh-CN" altLang="zh-CN" sz="1200" kern="1200" dirty="0">
                    <a:solidFill>
                      <a:schemeClr val="tx1"/>
                    </a:solidFill>
                    <a:effectLst/>
                    <a:latin typeface="+mn-lt"/>
                    <a:ea typeface="+mn-ea"/>
                    <a:cs typeface="+mn-cs"/>
                  </a:rPr>
                  <a:t>中高度最低的稳定检查点的编号</a:t>
                </a:r>
                <a:r>
                  <a:rPr lang="en-US" altLang="zh-CN" sz="1200" i="0" kern="1200">
                    <a:solidFill>
                      <a:schemeClr val="tx1"/>
                    </a:solidFill>
                    <a:effectLst/>
                    <a:latin typeface="+mn-lt"/>
                    <a:ea typeface="+mn-ea"/>
                    <a:cs typeface="+mn-cs"/>
                  </a:rPr>
                  <a:t>𝑚𝑖𝑛</a:t>
                </a:r>
                <a:r>
                  <a:rPr lang="zh-CN" altLang="zh-CN" sz="1200" kern="1200" dirty="0">
                    <a:solidFill>
                      <a:schemeClr val="tx1"/>
                    </a:solidFill>
                    <a:effectLst/>
                    <a:latin typeface="+mn-lt"/>
                    <a:ea typeface="+mn-ea"/>
                    <a:cs typeface="+mn-cs"/>
                  </a:rPr>
                  <a:t>，以及</a:t>
                </a:r>
                <a:r>
                  <a:rPr lang="en-US" altLang="zh-CN" sz="1200" i="0" kern="1200">
                    <a:solidFill>
                      <a:schemeClr val="tx1"/>
                    </a:solidFill>
                    <a:effectLst/>
                    <a:latin typeface="+mn-lt"/>
                    <a:ea typeface="+mn-ea"/>
                    <a:cs typeface="+mn-cs"/>
                  </a:rPr>
                  <a:t>𝑉</a:t>
                </a:r>
                <a:r>
                  <a:rPr lang="zh-CN" altLang="zh-CN" sz="1200" kern="1200" dirty="0">
                    <a:solidFill>
                      <a:schemeClr val="tx1"/>
                    </a:solidFill>
                    <a:effectLst/>
                    <a:latin typeface="+mn-lt"/>
                    <a:ea typeface="+mn-ea"/>
                    <a:cs typeface="+mn-cs"/>
                  </a:rPr>
                  <a:t>中已达到</a:t>
                </a:r>
                <a:r>
                  <a:rPr lang="en-US" altLang="zh-CN" sz="1200" kern="1200" dirty="0">
                    <a:solidFill>
                      <a:schemeClr val="tx1"/>
                    </a:solidFill>
                    <a:effectLst/>
                    <a:latin typeface="+mn-lt"/>
                    <a:ea typeface="+mn-ea"/>
                    <a:cs typeface="+mn-cs"/>
                  </a:rPr>
                  <a:t>PREPARED</a:t>
                </a:r>
                <a:r>
                  <a:rPr lang="zh-CN" altLang="zh-CN" sz="1200" kern="1200" dirty="0">
                    <a:solidFill>
                      <a:schemeClr val="tx1"/>
                    </a:solidFill>
                    <a:effectLst/>
                    <a:latin typeface="+mn-lt"/>
                    <a:ea typeface="+mn-ea"/>
                    <a:cs typeface="+mn-cs"/>
                  </a:rPr>
                  <a:t>状态消息的最大编号</a:t>
                </a:r>
                <a:r>
                  <a:rPr lang="en-US" altLang="zh-CN" sz="1200" i="0" kern="1200">
                    <a:solidFill>
                      <a:schemeClr val="tx1"/>
                    </a:solidFill>
                    <a:effectLst/>
                    <a:latin typeface="+mn-lt"/>
                    <a:ea typeface="+mn-ea"/>
                    <a:cs typeface="+mn-cs"/>
                  </a:rPr>
                  <a:t>𝑚𝑎𝑥</a:t>
                </a:r>
                <a:r>
                  <a:rPr lang="zh-CN" altLang="zh-CN" sz="1200" kern="1200" dirty="0">
                    <a:solidFill>
                      <a:schemeClr val="tx1"/>
                    </a:solidFill>
                    <a:effectLst/>
                    <a:latin typeface="+mn-lt"/>
                    <a:ea typeface="+mn-ea"/>
                    <a:cs typeface="+mn-cs"/>
                  </a:rPr>
                  <a:t>。</a:t>
                </a:r>
              </a:p>
              <a:p>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）对于</a:t>
                </a:r>
                <a:r>
                  <a:rPr lang="en-US" altLang="zh-CN" sz="1200" i="0" kern="1200">
                    <a:solidFill>
                      <a:schemeClr val="tx1"/>
                    </a:solidFill>
                    <a:effectLst/>
                    <a:latin typeface="+mn-lt"/>
                    <a:ea typeface="+mn-ea"/>
                    <a:cs typeface="+mn-cs"/>
                  </a:rPr>
                  <a:t>𝑚𝑖𝑛</a:t>
                </a:r>
                <a:r>
                  <a:rPr lang="zh-CN" altLang="zh-CN" sz="1200" kern="1200" dirty="0">
                    <a:solidFill>
                      <a:schemeClr val="tx1"/>
                    </a:solidFill>
                    <a:effectLst/>
                    <a:latin typeface="+mn-lt"/>
                    <a:ea typeface="+mn-ea"/>
                    <a:cs typeface="+mn-cs"/>
                  </a:rPr>
                  <a:t>和</a:t>
                </a:r>
                <a:r>
                  <a:rPr lang="en-US" altLang="zh-CN" sz="1200" i="0" kern="1200">
                    <a:solidFill>
                      <a:schemeClr val="tx1"/>
                    </a:solidFill>
                    <a:effectLst/>
                    <a:latin typeface="+mn-lt"/>
                    <a:ea typeface="+mn-ea"/>
                    <a:cs typeface="+mn-cs"/>
                  </a:rPr>
                  <a:t>𝑚𝑎𝑥</a:t>
                </a:r>
                <a:r>
                  <a:rPr lang="zh-CN" altLang="zh-CN" sz="1200" kern="1200" dirty="0">
                    <a:solidFill>
                      <a:schemeClr val="tx1"/>
                    </a:solidFill>
                    <a:effectLst/>
                    <a:latin typeface="+mn-lt"/>
                    <a:ea typeface="+mn-ea"/>
                    <a:cs typeface="+mn-cs"/>
                  </a:rPr>
                  <a:t>之间的每个序号</a:t>
                </a:r>
                <a:r>
                  <a:rPr lang="en-US" altLang="zh-CN" sz="1200" i="0" kern="1200">
                    <a:solidFill>
                      <a:schemeClr val="tx1"/>
                    </a:solidFill>
                    <a:effectLst/>
                    <a:latin typeface="+mn-lt"/>
                    <a:ea typeface="+mn-ea"/>
                    <a:cs typeface="+mn-cs"/>
                  </a:rPr>
                  <a:t>𝑛</a:t>
                </a:r>
                <a:r>
                  <a:rPr lang="zh-CN" altLang="zh-CN" sz="1200" kern="1200" dirty="0">
                    <a:solidFill>
                      <a:schemeClr val="tx1"/>
                    </a:solidFill>
                    <a:effectLst/>
                    <a:latin typeface="+mn-lt"/>
                    <a:ea typeface="+mn-ea"/>
                    <a:cs typeface="+mn-cs"/>
                  </a:rPr>
                  <a:t>，如果存在某个</a:t>
                </a:r>
                <a:r>
                  <a:rPr lang="en-US" altLang="zh-CN" sz="1200" i="0" kern="1200">
                    <a:solidFill>
                      <a:schemeClr val="tx1"/>
                    </a:solidFill>
                    <a:effectLst/>
                    <a:latin typeface="+mn-lt"/>
                    <a:ea typeface="+mn-ea"/>
                    <a:cs typeface="+mn-cs"/>
                  </a:rPr>
                  <a:t>𝑃</a:t>
                </a:r>
                <a:r>
                  <a:rPr lang="zh-CN" altLang="zh-CN" sz="1200" kern="1200" dirty="0">
                    <a:solidFill>
                      <a:schemeClr val="tx1"/>
                    </a:solidFill>
                    <a:effectLst/>
                    <a:latin typeface="+mn-lt"/>
                    <a:ea typeface="+mn-ea"/>
                    <a:cs typeface="+mn-cs"/>
                  </a:rPr>
                  <a:t>中，则创建</a:t>
                </a:r>
                <a:r>
                  <a:rPr lang="en-US" altLang="zh-CN" sz="1200" i="0" kern="1200">
                    <a:solidFill>
                      <a:schemeClr val="tx1"/>
                    </a:solidFill>
                    <a:effectLst/>
                    <a:latin typeface="+mn-lt"/>
                    <a:ea typeface="+mn-ea"/>
                    <a:cs typeface="+mn-cs"/>
                  </a:rPr>
                  <a:t>&lt;&lt;𝑃𝑅𝐸−𝑃𝑅𝐸𝑃𝐴𝑅𝐸, 𝑣+1, 𝑛, 𝑑&gt;, 𝑚&gt;</a:t>
                </a:r>
                <a:r>
                  <a:rPr lang="zh-CN" altLang="zh-CN" sz="1200" kern="1200" dirty="0">
                    <a:solidFill>
                      <a:schemeClr val="tx1"/>
                    </a:solidFill>
                    <a:effectLst/>
                    <a:latin typeface="+mn-lt"/>
                    <a:ea typeface="+mn-ea"/>
                    <a:cs typeface="+mn-cs"/>
                  </a:rPr>
                  <a:t>消息；否则，则创建一个空的</a:t>
                </a:r>
                <a:r>
                  <a:rPr lang="en-US" altLang="zh-CN" sz="1200" kern="1200" dirty="0">
                    <a:solidFill>
                      <a:schemeClr val="tx1"/>
                    </a:solidFill>
                    <a:effectLst/>
                    <a:latin typeface="+mn-lt"/>
                    <a:ea typeface="+mn-ea"/>
                    <a:cs typeface="+mn-cs"/>
                  </a:rPr>
                  <a:t>PRE-PREPARE</a:t>
                </a:r>
                <a:r>
                  <a:rPr lang="zh-CN" altLang="zh-CN" sz="1200" kern="1200" dirty="0">
                    <a:solidFill>
                      <a:schemeClr val="tx1"/>
                    </a:solidFill>
                    <a:effectLst/>
                    <a:latin typeface="+mn-lt"/>
                    <a:ea typeface="+mn-ea"/>
                    <a:cs typeface="+mn-cs"/>
                  </a:rPr>
                  <a:t>消息</a:t>
                </a:r>
                <a:r>
                  <a:rPr lang="en-US" altLang="zh-CN" sz="1200" i="0" kern="1200">
                    <a:solidFill>
                      <a:schemeClr val="tx1"/>
                    </a:solidFill>
                    <a:effectLst/>
                    <a:latin typeface="+mn-lt"/>
                    <a:ea typeface="+mn-ea"/>
                    <a:cs typeface="+mn-cs"/>
                  </a:rPr>
                  <a:t>&lt;&lt;𝑃𝑅𝐸−𝑃𝑅𝐸𝑃𝐴𝑅𝐸, 𝑣+1, 𝑛, 𝑑(𝑛𝑢𝑙𝑙)&gt;, 𝑚(𝑛𝑢𝑙𝑙)&gt;</a:t>
                </a:r>
                <a:r>
                  <a:rPr lang="zh-CN" altLang="zh-CN" sz="1200" kern="1200" dirty="0">
                    <a:solidFill>
                      <a:schemeClr val="tx1"/>
                    </a:solidFill>
                    <a:effectLst/>
                    <a:latin typeface="+mn-lt"/>
                    <a:ea typeface="+mn-ea"/>
                    <a:cs typeface="+mn-cs"/>
                  </a:rPr>
                  <a:t>，其中</a:t>
                </a:r>
                <a:r>
                  <a:rPr lang="en-US" altLang="zh-CN" sz="1200" i="0" kern="1200">
                    <a:solidFill>
                      <a:schemeClr val="tx1"/>
                    </a:solidFill>
                    <a:effectLst/>
                    <a:latin typeface="+mn-lt"/>
                    <a:ea typeface="+mn-ea"/>
                    <a:cs typeface="+mn-cs"/>
                  </a:rPr>
                  <a:t>𝑑(𝑛𝑢𝑙𝑙)</a:t>
                </a:r>
                <a:r>
                  <a:rPr lang="zh-CN" altLang="zh-CN" sz="1200" kern="1200" dirty="0">
                    <a:solidFill>
                      <a:schemeClr val="tx1"/>
                    </a:solidFill>
                    <a:effectLst/>
                    <a:latin typeface="+mn-lt"/>
                    <a:ea typeface="+mn-ea"/>
                    <a:cs typeface="+mn-cs"/>
                  </a:rPr>
                  <a:t>为空消息摘要，</a:t>
                </a:r>
                <a:r>
                  <a:rPr lang="en-US" altLang="zh-CN" sz="1200" i="0" kern="1200">
                    <a:solidFill>
                      <a:schemeClr val="tx1"/>
                    </a:solidFill>
                    <a:effectLst/>
                    <a:latin typeface="+mn-lt"/>
                    <a:ea typeface="+mn-ea"/>
                    <a:cs typeface="+mn-cs"/>
                  </a:rPr>
                  <a:t>𝑚</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𝑛𝑢𝑙𝑙)</a:t>
                </a:r>
                <a:r>
                  <a:rPr lang="zh-CN" altLang="zh-CN" sz="1200" kern="1200" dirty="0">
                    <a:solidFill>
                      <a:schemeClr val="tx1"/>
                    </a:solidFill>
                    <a:effectLst/>
                    <a:latin typeface="+mn-lt"/>
                    <a:ea typeface="+mn-ea"/>
                    <a:cs typeface="+mn-cs"/>
                  </a:rPr>
                  <a:t>为空消息。</a:t>
                </a:r>
              </a:p>
            </p:txBody>
          </p:sp>
        </mc:Fallback>
      </mc:AlternateContent>
      <p:sp>
        <p:nvSpPr>
          <p:cNvPr id="4" name="灯片编号占位符 3"/>
          <p:cNvSpPr>
            <a:spLocks noGrp="1"/>
          </p:cNvSpPr>
          <p:nvPr>
            <p:ph type="sldNum" sz="quarter" idx="5"/>
          </p:nvPr>
        </p:nvSpPr>
        <p:spPr/>
        <p:txBody>
          <a:bodyPr/>
          <a:lstStyle/>
          <a:p>
            <a:fld id="{840B8802-914A-7C41-BC77-CC54DEE99EEF}" type="slidenum">
              <a:rPr kumimoji="1" lang="zh-CN" altLang="en-US" smtClean="0"/>
              <a:t>29</a:t>
            </a:fld>
            <a:endParaRPr kumimoji="1" lang="zh-CN" altLang="en-US"/>
          </a:p>
        </p:txBody>
      </p:sp>
    </p:spTree>
    <p:extLst>
      <p:ext uri="{BB962C8B-B14F-4D97-AF65-F5344CB8AC3E}">
        <p14:creationId xmlns:p14="http://schemas.microsoft.com/office/powerpoint/2010/main" val="69622680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endParaRPr lang="en-US" altLang="zh-CN" sz="1200" kern="1200" dirty="0">
                  <a:solidFill>
                    <a:schemeClr val="tx1"/>
                  </a:solidFill>
                  <a:effectLst/>
                  <a:latin typeface="+mn-lt"/>
                  <a:ea typeface="+mn-ea"/>
                  <a:cs typeface="+mn-cs"/>
                </a:endParaRPr>
              </a:p>
            </p:txBody>
          </p:sp>
        </mc:Choice>
        <mc:Fallback xmlns="">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注意，当主节点</a:t>
                </a:r>
                <a:r>
                  <a:rPr lang="en-US" altLang="zh-CN" sz="1200" i="0" kern="1200">
                    <a:solidFill>
                      <a:schemeClr val="tx1"/>
                    </a:solidFill>
                    <a:effectLst/>
                    <a:latin typeface="+mn-lt"/>
                    <a:ea typeface="+mn-ea"/>
                    <a:cs typeface="+mn-cs"/>
                  </a:rPr>
                  <a:t>𝑖</a:t>
                </a:r>
                <a:r>
                  <a:rPr lang="zh-CN" altLang="zh-CN" sz="1200" kern="1200" dirty="0">
                    <a:solidFill>
                      <a:schemeClr val="tx1"/>
                    </a:solidFill>
                    <a:effectLst/>
                    <a:latin typeface="+mn-lt"/>
                    <a:ea typeface="+mn-ea"/>
                    <a:cs typeface="+mn-cs"/>
                  </a:rPr>
                  <a:t>收到</a:t>
                </a:r>
                <a:r>
                  <a:rPr lang="en-US" altLang="zh-CN" sz="1200" i="0" kern="1200">
                    <a:solidFill>
                      <a:schemeClr val="tx1"/>
                    </a:solidFill>
                    <a:effectLst/>
                    <a:latin typeface="+mn-lt"/>
                    <a:ea typeface="+mn-ea"/>
                    <a:cs typeface="+mn-cs"/>
                  </a:rPr>
                  <a:t>2𝐹+1</a:t>
                </a:r>
                <a:r>
                  <a:rPr lang="zh-CN" altLang="zh-CN" sz="1200" kern="1200" dirty="0">
                    <a:solidFill>
                      <a:schemeClr val="tx1"/>
                    </a:solidFill>
                    <a:effectLst/>
                    <a:latin typeface="+mn-lt"/>
                    <a:ea typeface="+mn-ea"/>
                    <a:cs typeface="+mn-cs"/>
                  </a:rPr>
                  <a:t>个</a:t>
                </a:r>
                <a:r>
                  <a:rPr lang="en-US" altLang="zh-CN" sz="1200" i="0" kern="1200">
                    <a:solidFill>
                      <a:schemeClr val="tx1"/>
                    </a:solidFill>
                    <a:effectLst/>
                    <a:latin typeface="+mn-lt"/>
                    <a:ea typeface="+mn-ea"/>
                    <a:cs typeface="+mn-cs"/>
                  </a:rPr>
                  <a:t>𝑉𝐼𝐸𝑊−𝐶𝐻𝐴𝑁𝐺𝐸</a:t>
                </a:r>
                <a:r>
                  <a:rPr lang="zh-CN" altLang="zh-CN" sz="1200" kern="1200" dirty="0">
                    <a:solidFill>
                      <a:schemeClr val="tx1"/>
                    </a:solidFill>
                    <a:effectLst/>
                    <a:latin typeface="+mn-lt"/>
                    <a:ea typeface="+mn-ea"/>
                    <a:cs typeface="+mn-cs"/>
                  </a:rPr>
                  <a:t>消息，可以确认高度为</a:t>
                </a:r>
                <a:r>
                  <a:rPr lang="en-US" altLang="zh-CN" sz="1200" i="0" kern="1200">
                    <a:solidFill>
                      <a:schemeClr val="tx1"/>
                    </a:solidFill>
                    <a:effectLst/>
                    <a:latin typeface="+mn-lt"/>
                    <a:ea typeface="+mn-ea"/>
                    <a:cs typeface="+mn-cs"/>
                  </a:rPr>
                  <a:t>𝑛</a:t>
                </a:r>
                <a:r>
                  <a:rPr lang="zh-CN" altLang="zh-CN" sz="1200" kern="1200" dirty="0">
                    <a:solidFill>
                      <a:schemeClr val="tx1"/>
                    </a:solidFill>
                    <a:effectLst/>
                    <a:latin typeface="+mn-lt"/>
                    <a:ea typeface="+mn-ea"/>
                    <a:cs typeface="+mn-cs"/>
                  </a:rPr>
                  <a:t>的稳定检查点之间的消息在视图切换的过程中不会丢失，但是当前检查点之后，下一个检查点之前的已经达到</a:t>
                </a:r>
                <a:r>
                  <a:rPr lang="en-US" altLang="zh-CN" sz="1200" kern="1200" dirty="0">
                    <a:solidFill>
                      <a:schemeClr val="tx1"/>
                    </a:solidFill>
                    <a:effectLst/>
                    <a:latin typeface="+mn-lt"/>
                    <a:ea typeface="+mn-ea"/>
                    <a:cs typeface="+mn-cs"/>
                  </a:rPr>
                  <a:t>PREPARED</a:t>
                </a:r>
                <a:r>
                  <a:rPr lang="zh-CN" altLang="zh-CN" sz="1200" kern="1200" dirty="0">
                    <a:solidFill>
                      <a:schemeClr val="tx1"/>
                    </a:solidFill>
                    <a:effectLst/>
                    <a:latin typeface="+mn-lt"/>
                    <a:ea typeface="+mn-ea"/>
                    <a:cs typeface="+mn-cs"/>
                  </a:rPr>
                  <a:t>状态的消息会丢失。因此，新视图的主节点会把旧视图中已经达到</a:t>
                </a:r>
                <a:r>
                  <a:rPr lang="en-US" altLang="zh-CN" sz="1200" kern="1200" dirty="0">
                    <a:solidFill>
                      <a:schemeClr val="tx1"/>
                    </a:solidFill>
                    <a:effectLst/>
                    <a:latin typeface="+mn-lt"/>
                    <a:ea typeface="+mn-ea"/>
                    <a:cs typeface="+mn-cs"/>
                  </a:rPr>
                  <a:t>PREPARED</a:t>
                </a:r>
                <a:r>
                  <a:rPr lang="zh-CN" altLang="zh-CN" sz="1200" kern="1200" dirty="0">
                    <a:solidFill>
                      <a:schemeClr val="tx1"/>
                    </a:solidFill>
                    <a:effectLst/>
                    <a:latin typeface="+mn-lt"/>
                    <a:ea typeface="+mn-ea"/>
                    <a:cs typeface="+mn-cs"/>
                  </a:rPr>
                  <a:t>状态的消息转换为</a:t>
                </a:r>
                <a:r>
                  <a:rPr lang="en-US" altLang="zh-CN" sz="1200" kern="1200" dirty="0">
                    <a:solidFill>
                      <a:schemeClr val="tx1"/>
                    </a:solidFill>
                    <a:effectLst/>
                    <a:latin typeface="+mn-lt"/>
                    <a:ea typeface="+mn-ea"/>
                    <a:cs typeface="+mn-cs"/>
                  </a:rPr>
                  <a:t>PRE-PREPARE</a:t>
                </a:r>
                <a:r>
                  <a:rPr lang="zh-CN" altLang="zh-CN" sz="1200" kern="1200" dirty="0">
                    <a:solidFill>
                      <a:schemeClr val="tx1"/>
                    </a:solidFill>
                    <a:effectLst/>
                    <a:latin typeface="+mn-lt"/>
                    <a:ea typeface="+mn-ea"/>
                    <a:cs typeface="+mn-cs"/>
                  </a:rPr>
                  <a:t>消息，重新广播到网络中了。</a:t>
                </a:r>
                <a:r>
                  <a:rPr lang="en-US" altLang="zh-CN" sz="1200" kern="1200" dirty="0">
                    <a:solidFill>
                      <a:schemeClr val="tx1"/>
                    </a:solidFill>
                    <a:effectLst/>
                    <a:latin typeface="+mn-lt"/>
                    <a:ea typeface="+mn-ea"/>
                    <a:cs typeface="+mn-cs"/>
                  </a:rPr>
                  <a:t>PRE-PREPARE</a:t>
                </a:r>
                <a:r>
                  <a:rPr lang="zh-CN" altLang="zh-CN" sz="1200" kern="1200" dirty="0">
                    <a:solidFill>
                      <a:schemeClr val="tx1"/>
                    </a:solidFill>
                    <a:effectLst/>
                    <a:latin typeface="+mn-lt"/>
                    <a:ea typeface="+mn-ea"/>
                    <a:cs typeface="+mn-cs"/>
                  </a:rPr>
                  <a:t>消息集合的选取规则如下所示：</a:t>
                </a:r>
              </a:p>
              <a:p>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）选取</a:t>
                </a:r>
                <a:r>
                  <a:rPr lang="en-US" altLang="zh-CN" sz="1200" i="0" kern="1200">
                    <a:solidFill>
                      <a:schemeClr val="tx1"/>
                    </a:solidFill>
                    <a:effectLst/>
                    <a:latin typeface="+mn-lt"/>
                    <a:ea typeface="+mn-ea"/>
                    <a:cs typeface="+mn-cs"/>
                  </a:rPr>
                  <a:t>𝑉</a:t>
                </a:r>
                <a:r>
                  <a:rPr lang="zh-CN" altLang="zh-CN" sz="1200" kern="1200" dirty="0">
                    <a:solidFill>
                      <a:schemeClr val="tx1"/>
                    </a:solidFill>
                    <a:effectLst/>
                    <a:latin typeface="+mn-lt"/>
                    <a:ea typeface="+mn-ea"/>
                    <a:cs typeface="+mn-cs"/>
                  </a:rPr>
                  <a:t>中高度最低的稳定检查点的编号</a:t>
                </a:r>
                <a:r>
                  <a:rPr lang="en-US" altLang="zh-CN" sz="1200" i="0" kern="1200">
                    <a:solidFill>
                      <a:schemeClr val="tx1"/>
                    </a:solidFill>
                    <a:effectLst/>
                    <a:latin typeface="+mn-lt"/>
                    <a:ea typeface="+mn-ea"/>
                    <a:cs typeface="+mn-cs"/>
                  </a:rPr>
                  <a:t>𝑚𝑖𝑛</a:t>
                </a:r>
                <a:r>
                  <a:rPr lang="zh-CN" altLang="zh-CN" sz="1200" kern="1200" dirty="0">
                    <a:solidFill>
                      <a:schemeClr val="tx1"/>
                    </a:solidFill>
                    <a:effectLst/>
                    <a:latin typeface="+mn-lt"/>
                    <a:ea typeface="+mn-ea"/>
                    <a:cs typeface="+mn-cs"/>
                  </a:rPr>
                  <a:t>，以及</a:t>
                </a:r>
                <a:r>
                  <a:rPr lang="en-US" altLang="zh-CN" sz="1200" i="0" kern="1200">
                    <a:solidFill>
                      <a:schemeClr val="tx1"/>
                    </a:solidFill>
                    <a:effectLst/>
                    <a:latin typeface="+mn-lt"/>
                    <a:ea typeface="+mn-ea"/>
                    <a:cs typeface="+mn-cs"/>
                  </a:rPr>
                  <a:t>𝑉</a:t>
                </a:r>
                <a:r>
                  <a:rPr lang="zh-CN" altLang="zh-CN" sz="1200" kern="1200" dirty="0">
                    <a:solidFill>
                      <a:schemeClr val="tx1"/>
                    </a:solidFill>
                    <a:effectLst/>
                    <a:latin typeface="+mn-lt"/>
                    <a:ea typeface="+mn-ea"/>
                    <a:cs typeface="+mn-cs"/>
                  </a:rPr>
                  <a:t>中已达到</a:t>
                </a:r>
                <a:r>
                  <a:rPr lang="en-US" altLang="zh-CN" sz="1200" kern="1200" dirty="0">
                    <a:solidFill>
                      <a:schemeClr val="tx1"/>
                    </a:solidFill>
                    <a:effectLst/>
                    <a:latin typeface="+mn-lt"/>
                    <a:ea typeface="+mn-ea"/>
                    <a:cs typeface="+mn-cs"/>
                  </a:rPr>
                  <a:t>PREPARED</a:t>
                </a:r>
                <a:r>
                  <a:rPr lang="zh-CN" altLang="zh-CN" sz="1200" kern="1200" dirty="0">
                    <a:solidFill>
                      <a:schemeClr val="tx1"/>
                    </a:solidFill>
                    <a:effectLst/>
                    <a:latin typeface="+mn-lt"/>
                    <a:ea typeface="+mn-ea"/>
                    <a:cs typeface="+mn-cs"/>
                  </a:rPr>
                  <a:t>状态消息的最大编号</a:t>
                </a:r>
                <a:r>
                  <a:rPr lang="en-US" altLang="zh-CN" sz="1200" i="0" kern="1200">
                    <a:solidFill>
                      <a:schemeClr val="tx1"/>
                    </a:solidFill>
                    <a:effectLst/>
                    <a:latin typeface="+mn-lt"/>
                    <a:ea typeface="+mn-ea"/>
                    <a:cs typeface="+mn-cs"/>
                  </a:rPr>
                  <a:t>𝑚𝑎𝑥</a:t>
                </a:r>
                <a:r>
                  <a:rPr lang="zh-CN" altLang="zh-CN" sz="1200" kern="1200" dirty="0">
                    <a:solidFill>
                      <a:schemeClr val="tx1"/>
                    </a:solidFill>
                    <a:effectLst/>
                    <a:latin typeface="+mn-lt"/>
                    <a:ea typeface="+mn-ea"/>
                    <a:cs typeface="+mn-cs"/>
                  </a:rPr>
                  <a:t>。</a:t>
                </a:r>
              </a:p>
              <a:p>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）对于</a:t>
                </a:r>
                <a:r>
                  <a:rPr lang="en-US" altLang="zh-CN" sz="1200" i="0" kern="1200">
                    <a:solidFill>
                      <a:schemeClr val="tx1"/>
                    </a:solidFill>
                    <a:effectLst/>
                    <a:latin typeface="+mn-lt"/>
                    <a:ea typeface="+mn-ea"/>
                    <a:cs typeface="+mn-cs"/>
                  </a:rPr>
                  <a:t>𝑚𝑖𝑛</a:t>
                </a:r>
                <a:r>
                  <a:rPr lang="zh-CN" altLang="zh-CN" sz="1200" kern="1200" dirty="0">
                    <a:solidFill>
                      <a:schemeClr val="tx1"/>
                    </a:solidFill>
                    <a:effectLst/>
                    <a:latin typeface="+mn-lt"/>
                    <a:ea typeface="+mn-ea"/>
                    <a:cs typeface="+mn-cs"/>
                  </a:rPr>
                  <a:t>和</a:t>
                </a:r>
                <a:r>
                  <a:rPr lang="en-US" altLang="zh-CN" sz="1200" i="0" kern="1200">
                    <a:solidFill>
                      <a:schemeClr val="tx1"/>
                    </a:solidFill>
                    <a:effectLst/>
                    <a:latin typeface="+mn-lt"/>
                    <a:ea typeface="+mn-ea"/>
                    <a:cs typeface="+mn-cs"/>
                  </a:rPr>
                  <a:t>𝑚𝑎𝑥</a:t>
                </a:r>
                <a:r>
                  <a:rPr lang="zh-CN" altLang="zh-CN" sz="1200" kern="1200" dirty="0">
                    <a:solidFill>
                      <a:schemeClr val="tx1"/>
                    </a:solidFill>
                    <a:effectLst/>
                    <a:latin typeface="+mn-lt"/>
                    <a:ea typeface="+mn-ea"/>
                    <a:cs typeface="+mn-cs"/>
                  </a:rPr>
                  <a:t>之间的每个序号</a:t>
                </a:r>
                <a:r>
                  <a:rPr lang="en-US" altLang="zh-CN" sz="1200" i="0" kern="1200">
                    <a:solidFill>
                      <a:schemeClr val="tx1"/>
                    </a:solidFill>
                    <a:effectLst/>
                    <a:latin typeface="+mn-lt"/>
                    <a:ea typeface="+mn-ea"/>
                    <a:cs typeface="+mn-cs"/>
                  </a:rPr>
                  <a:t>𝑛</a:t>
                </a:r>
                <a:r>
                  <a:rPr lang="zh-CN" altLang="zh-CN" sz="1200" kern="1200" dirty="0">
                    <a:solidFill>
                      <a:schemeClr val="tx1"/>
                    </a:solidFill>
                    <a:effectLst/>
                    <a:latin typeface="+mn-lt"/>
                    <a:ea typeface="+mn-ea"/>
                    <a:cs typeface="+mn-cs"/>
                  </a:rPr>
                  <a:t>，如果存在某个</a:t>
                </a:r>
                <a:r>
                  <a:rPr lang="en-US" altLang="zh-CN" sz="1200" i="0" kern="1200">
                    <a:solidFill>
                      <a:schemeClr val="tx1"/>
                    </a:solidFill>
                    <a:effectLst/>
                    <a:latin typeface="+mn-lt"/>
                    <a:ea typeface="+mn-ea"/>
                    <a:cs typeface="+mn-cs"/>
                  </a:rPr>
                  <a:t>𝑃</a:t>
                </a:r>
                <a:r>
                  <a:rPr lang="zh-CN" altLang="zh-CN" sz="1200" kern="1200" dirty="0">
                    <a:solidFill>
                      <a:schemeClr val="tx1"/>
                    </a:solidFill>
                    <a:effectLst/>
                    <a:latin typeface="+mn-lt"/>
                    <a:ea typeface="+mn-ea"/>
                    <a:cs typeface="+mn-cs"/>
                  </a:rPr>
                  <a:t>中，则创建</a:t>
                </a:r>
                <a:r>
                  <a:rPr lang="en-US" altLang="zh-CN" sz="1200" i="0" kern="1200">
                    <a:solidFill>
                      <a:schemeClr val="tx1"/>
                    </a:solidFill>
                    <a:effectLst/>
                    <a:latin typeface="+mn-lt"/>
                    <a:ea typeface="+mn-ea"/>
                    <a:cs typeface="+mn-cs"/>
                  </a:rPr>
                  <a:t>&lt;&lt;𝑃𝑅𝐸−𝑃𝑅𝐸𝑃𝐴𝑅𝐸, 𝑣+1, 𝑛, 𝑑&gt;, 𝑚&gt;</a:t>
                </a:r>
                <a:r>
                  <a:rPr lang="zh-CN" altLang="zh-CN" sz="1200" kern="1200" dirty="0">
                    <a:solidFill>
                      <a:schemeClr val="tx1"/>
                    </a:solidFill>
                    <a:effectLst/>
                    <a:latin typeface="+mn-lt"/>
                    <a:ea typeface="+mn-ea"/>
                    <a:cs typeface="+mn-cs"/>
                  </a:rPr>
                  <a:t>消息；否则，则创建一个空的</a:t>
                </a:r>
                <a:r>
                  <a:rPr lang="en-US" altLang="zh-CN" sz="1200" kern="1200" dirty="0">
                    <a:solidFill>
                      <a:schemeClr val="tx1"/>
                    </a:solidFill>
                    <a:effectLst/>
                    <a:latin typeface="+mn-lt"/>
                    <a:ea typeface="+mn-ea"/>
                    <a:cs typeface="+mn-cs"/>
                  </a:rPr>
                  <a:t>PRE-PREPARE</a:t>
                </a:r>
                <a:r>
                  <a:rPr lang="zh-CN" altLang="zh-CN" sz="1200" kern="1200" dirty="0">
                    <a:solidFill>
                      <a:schemeClr val="tx1"/>
                    </a:solidFill>
                    <a:effectLst/>
                    <a:latin typeface="+mn-lt"/>
                    <a:ea typeface="+mn-ea"/>
                    <a:cs typeface="+mn-cs"/>
                  </a:rPr>
                  <a:t>消息</a:t>
                </a:r>
                <a:r>
                  <a:rPr lang="en-US" altLang="zh-CN" sz="1200" i="0" kern="1200">
                    <a:solidFill>
                      <a:schemeClr val="tx1"/>
                    </a:solidFill>
                    <a:effectLst/>
                    <a:latin typeface="+mn-lt"/>
                    <a:ea typeface="+mn-ea"/>
                    <a:cs typeface="+mn-cs"/>
                  </a:rPr>
                  <a:t>&lt;&lt;𝑃𝑅𝐸−𝑃𝑅𝐸𝑃𝐴𝑅𝐸, 𝑣+1, 𝑛, 𝑑(𝑛𝑢𝑙𝑙)&gt;, 𝑚(𝑛𝑢𝑙𝑙)&gt;</a:t>
                </a:r>
                <a:r>
                  <a:rPr lang="zh-CN" altLang="zh-CN" sz="1200" kern="1200" dirty="0">
                    <a:solidFill>
                      <a:schemeClr val="tx1"/>
                    </a:solidFill>
                    <a:effectLst/>
                    <a:latin typeface="+mn-lt"/>
                    <a:ea typeface="+mn-ea"/>
                    <a:cs typeface="+mn-cs"/>
                  </a:rPr>
                  <a:t>，其中</a:t>
                </a:r>
                <a:r>
                  <a:rPr lang="en-US" altLang="zh-CN" sz="1200" i="0" kern="1200">
                    <a:solidFill>
                      <a:schemeClr val="tx1"/>
                    </a:solidFill>
                    <a:effectLst/>
                    <a:latin typeface="+mn-lt"/>
                    <a:ea typeface="+mn-ea"/>
                    <a:cs typeface="+mn-cs"/>
                  </a:rPr>
                  <a:t>𝑑(𝑛𝑢𝑙𝑙)</a:t>
                </a:r>
                <a:r>
                  <a:rPr lang="zh-CN" altLang="zh-CN" sz="1200" kern="1200" dirty="0">
                    <a:solidFill>
                      <a:schemeClr val="tx1"/>
                    </a:solidFill>
                    <a:effectLst/>
                    <a:latin typeface="+mn-lt"/>
                    <a:ea typeface="+mn-ea"/>
                    <a:cs typeface="+mn-cs"/>
                  </a:rPr>
                  <a:t>为空消息摘要，</a:t>
                </a:r>
                <a:r>
                  <a:rPr lang="en-US" altLang="zh-CN" sz="1200" i="0" kern="1200">
                    <a:solidFill>
                      <a:schemeClr val="tx1"/>
                    </a:solidFill>
                    <a:effectLst/>
                    <a:latin typeface="+mn-lt"/>
                    <a:ea typeface="+mn-ea"/>
                    <a:cs typeface="+mn-cs"/>
                  </a:rPr>
                  <a:t>𝑚</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𝑛𝑢𝑙𝑙)</a:t>
                </a:r>
                <a:r>
                  <a:rPr lang="zh-CN" altLang="zh-CN" sz="1200" kern="1200" dirty="0">
                    <a:solidFill>
                      <a:schemeClr val="tx1"/>
                    </a:solidFill>
                    <a:effectLst/>
                    <a:latin typeface="+mn-lt"/>
                    <a:ea typeface="+mn-ea"/>
                    <a:cs typeface="+mn-cs"/>
                  </a:rPr>
                  <a:t>为空消息。</a:t>
                </a:r>
              </a:p>
            </p:txBody>
          </p:sp>
        </mc:Fallback>
      </mc:AlternateContent>
      <p:sp>
        <p:nvSpPr>
          <p:cNvPr id="4" name="灯片编号占位符 3"/>
          <p:cNvSpPr>
            <a:spLocks noGrp="1"/>
          </p:cNvSpPr>
          <p:nvPr>
            <p:ph type="sldNum" sz="quarter" idx="5"/>
          </p:nvPr>
        </p:nvSpPr>
        <p:spPr/>
        <p:txBody>
          <a:bodyPr/>
          <a:lstStyle/>
          <a:p>
            <a:fld id="{840B8802-914A-7C41-BC77-CC54DEE99EEF}" type="slidenum">
              <a:rPr kumimoji="1" lang="zh-CN" altLang="en-US" smtClean="0"/>
              <a:t>30</a:t>
            </a:fld>
            <a:endParaRPr kumimoji="1" lang="zh-CN" altLang="en-US"/>
          </a:p>
        </p:txBody>
      </p:sp>
    </p:spTree>
    <p:extLst>
      <p:ext uri="{BB962C8B-B14F-4D97-AF65-F5344CB8AC3E}">
        <p14:creationId xmlns:p14="http://schemas.microsoft.com/office/powerpoint/2010/main" val="48945785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endParaRPr lang="en-US" altLang="zh-CN" sz="1200" kern="1200" dirty="0">
                  <a:solidFill>
                    <a:schemeClr val="tx1"/>
                  </a:solidFill>
                  <a:effectLst/>
                  <a:latin typeface="+mn-lt"/>
                  <a:ea typeface="+mn-ea"/>
                  <a:cs typeface="+mn-cs"/>
                </a:endParaRPr>
              </a:p>
            </p:txBody>
          </p:sp>
        </mc:Choice>
        <mc:Fallback xmlns="">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注意，当主节点</a:t>
                </a:r>
                <a:r>
                  <a:rPr lang="en-US" altLang="zh-CN" sz="1200" i="0" kern="1200">
                    <a:solidFill>
                      <a:schemeClr val="tx1"/>
                    </a:solidFill>
                    <a:effectLst/>
                    <a:latin typeface="+mn-lt"/>
                    <a:ea typeface="+mn-ea"/>
                    <a:cs typeface="+mn-cs"/>
                  </a:rPr>
                  <a:t>𝑖</a:t>
                </a:r>
                <a:r>
                  <a:rPr lang="zh-CN" altLang="zh-CN" sz="1200" kern="1200" dirty="0">
                    <a:solidFill>
                      <a:schemeClr val="tx1"/>
                    </a:solidFill>
                    <a:effectLst/>
                    <a:latin typeface="+mn-lt"/>
                    <a:ea typeface="+mn-ea"/>
                    <a:cs typeface="+mn-cs"/>
                  </a:rPr>
                  <a:t>收到</a:t>
                </a:r>
                <a:r>
                  <a:rPr lang="en-US" altLang="zh-CN" sz="1200" i="0" kern="1200">
                    <a:solidFill>
                      <a:schemeClr val="tx1"/>
                    </a:solidFill>
                    <a:effectLst/>
                    <a:latin typeface="+mn-lt"/>
                    <a:ea typeface="+mn-ea"/>
                    <a:cs typeface="+mn-cs"/>
                  </a:rPr>
                  <a:t>2𝐹+1</a:t>
                </a:r>
                <a:r>
                  <a:rPr lang="zh-CN" altLang="zh-CN" sz="1200" kern="1200" dirty="0">
                    <a:solidFill>
                      <a:schemeClr val="tx1"/>
                    </a:solidFill>
                    <a:effectLst/>
                    <a:latin typeface="+mn-lt"/>
                    <a:ea typeface="+mn-ea"/>
                    <a:cs typeface="+mn-cs"/>
                  </a:rPr>
                  <a:t>个</a:t>
                </a:r>
                <a:r>
                  <a:rPr lang="en-US" altLang="zh-CN" sz="1200" i="0" kern="1200">
                    <a:solidFill>
                      <a:schemeClr val="tx1"/>
                    </a:solidFill>
                    <a:effectLst/>
                    <a:latin typeface="+mn-lt"/>
                    <a:ea typeface="+mn-ea"/>
                    <a:cs typeface="+mn-cs"/>
                  </a:rPr>
                  <a:t>𝑉𝐼𝐸𝑊−𝐶𝐻𝐴𝑁𝐺𝐸</a:t>
                </a:r>
                <a:r>
                  <a:rPr lang="zh-CN" altLang="zh-CN" sz="1200" kern="1200" dirty="0">
                    <a:solidFill>
                      <a:schemeClr val="tx1"/>
                    </a:solidFill>
                    <a:effectLst/>
                    <a:latin typeface="+mn-lt"/>
                    <a:ea typeface="+mn-ea"/>
                    <a:cs typeface="+mn-cs"/>
                  </a:rPr>
                  <a:t>消息，可以确认高度为</a:t>
                </a:r>
                <a:r>
                  <a:rPr lang="en-US" altLang="zh-CN" sz="1200" i="0" kern="1200">
                    <a:solidFill>
                      <a:schemeClr val="tx1"/>
                    </a:solidFill>
                    <a:effectLst/>
                    <a:latin typeface="+mn-lt"/>
                    <a:ea typeface="+mn-ea"/>
                    <a:cs typeface="+mn-cs"/>
                  </a:rPr>
                  <a:t>𝑛</a:t>
                </a:r>
                <a:r>
                  <a:rPr lang="zh-CN" altLang="zh-CN" sz="1200" kern="1200" dirty="0">
                    <a:solidFill>
                      <a:schemeClr val="tx1"/>
                    </a:solidFill>
                    <a:effectLst/>
                    <a:latin typeface="+mn-lt"/>
                    <a:ea typeface="+mn-ea"/>
                    <a:cs typeface="+mn-cs"/>
                  </a:rPr>
                  <a:t>的稳定检查点之间的消息在视图切换的过程中不会丢失，但是当前检查点之后，下一个检查点之前的已经达到</a:t>
                </a:r>
                <a:r>
                  <a:rPr lang="en-US" altLang="zh-CN" sz="1200" kern="1200" dirty="0">
                    <a:solidFill>
                      <a:schemeClr val="tx1"/>
                    </a:solidFill>
                    <a:effectLst/>
                    <a:latin typeface="+mn-lt"/>
                    <a:ea typeface="+mn-ea"/>
                    <a:cs typeface="+mn-cs"/>
                  </a:rPr>
                  <a:t>PREPARED</a:t>
                </a:r>
                <a:r>
                  <a:rPr lang="zh-CN" altLang="zh-CN" sz="1200" kern="1200" dirty="0">
                    <a:solidFill>
                      <a:schemeClr val="tx1"/>
                    </a:solidFill>
                    <a:effectLst/>
                    <a:latin typeface="+mn-lt"/>
                    <a:ea typeface="+mn-ea"/>
                    <a:cs typeface="+mn-cs"/>
                  </a:rPr>
                  <a:t>状态的消息会丢失。因此，新视图的主节点会把旧视图中已经达到</a:t>
                </a:r>
                <a:r>
                  <a:rPr lang="en-US" altLang="zh-CN" sz="1200" kern="1200" dirty="0">
                    <a:solidFill>
                      <a:schemeClr val="tx1"/>
                    </a:solidFill>
                    <a:effectLst/>
                    <a:latin typeface="+mn-lt"/>
                    <a:ea typeface="+mn-ea"/>
                    <a:cs typeface="+mn-cs"/>
                  </a:rPr>
                  <a:t>PREPARED</a:t>
                </a:r>
                <a:r>
                  <a:rPr lang="zh-CN" altLang="zh-CN" sz="1200" kern="1200" dirty="0">
                    <a:solidFill>
                      <a:schemeClr val="tx1"/>
                    </a:solidFill>
                    <a:effectLst/>
                    <a:latin typeface="+mn-lt"/>
                    <a:ea typeface="+mn-ea"/>
                    <a:cs typeface="+mn-cs"/>
                  </a:rPr>
                  <a:t>状态的消息转换为</a:t>
                </a:r>
                <a:r>
                  <a:rPr lang="en-US" altLang="zh-CN" sz="1200" kern="1200" dirty="0">
                    <a:solidFill>
                      <a:schemeClr val="tx1"/>
                    </a:solidFill>
                    <a:effectLst/>
                    <a:latin typeface="+mn-lt"/>
                    <a:ea typeface="+mn-ea"/>
                    <a:cs typeface="+mn-cs"/>
                  </a:rPr>
                  <a:t>PRE-PREPARE</a:t>
                </a:r>
                <a:r>
                  <a:rPr lang="zh-CN" altLang="zh-CN" sz="1200" kern="1200" dirty="0">
                    <a:solidFill>
                      <a:schemeClr val="tx1"/>
                    </a:solidFill>
                    <a:effectLst/>
                    <a:latin typeface="+mn-lt"/>
                    <a:ea typeface="+mn-ea"/>
                    <a:cs typeface="+mn-cs"/>
                  </a:rPr>
                  <a:t>消息，重新广播到网络中了。</a:t>
                </a:r>
                <a:r>
                  <a:rPr lang="en-US" altLang="zh-CN" sz="1200" kern="1200" dirty="0">
                    <a:solidFill>
                      <a:schemeClr val="tx1"/>
                    </a:solidFill>
                    <a:effectLst/>
                    <a:latin typeface="+mn-lt"/>
                    <a:ea typeface="+mn-ea"/>
                    <a:cs typeface="+mn-cs"/>
                  </a:rPr>
                  <a:t>PRE-PREPARE</a:t>
                </a:r>
                <a:r>
                  <a:rPr lang="zh-CN" altLang="zh-CN" sz="1200" kern="1200" dirty="0">
                    <a:solidFill>
                      <a:schemeClr val="tx1"/>
                    </a:solidFill>
                    <a:effectLst/>
                    <a:latin typeface="+mn-lt"/>
                    <a:ea typeface="+mn-ea"/>
                    <a:cs typeface="+mn-cs"/>
                  </a:rPr>
                  <a:t>消息集合的选取规则如下所示：</a:t>
                </a:r>
              </a:p>
              <a:p>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）选取</a:t>
                </a:r>
                <a:r>
                  <a:rPr lang="en-US" altLang="zh-CN" sz="1200" i="0" kern="1200">
                    <a:solidFill>
                      <a:schemeClr val="tx1"/>
                    </a:solidFill>
                    <a:effectLst/>
                    <a:latin typeface="+mn-lt"/>
                    <a:ea typeface="+mn-ea"/>
                    <a:cs typeface="+mn-cs"/>
                  </a:rPr>
                  <a:t>𝑉</a:t>
                </a:r>
                <a:r>
                  <a:rPr lang="zh-CN" altLang="zh-CN" sz="1200" kern="1200" dirty="0">
                    <a:solidFill>
                      <a:schemeClr val="tx1"/>
                    </a:solidFill>
                    <a:effectLst/>
                    <a:latin typeface="+mn-lt"/>
                    <a:ea typeface="+mn-ea"/>
                    <a:cs typeface="+mn-cs"/>
                  </a:rPr>
                  <a:t>中高度最低的稳定检查点的编号</a:t>
                </a:r>
                <a:r>
                  <a:rPr lang="en-US" altLang="zh-CN" sz="1200" i="0" kern="1200">
                    <a:solidFill>
                      <a:schemeClr val="tx1"/>
                    </a:solidFill>
                    <a:effectLst/>
                    <a:latin typeface="+mn-lt"/>
                    <a:ea typeface="+mn-ea"/>
                    <a:cs typeface="+mn-cs"/>
                  </a:rPr>
                  <a:t>𝑚𝑖𝑛</a:t>
                </a:r>
                <a:r>
                  <a:rPr lang="zh-CN" altLang="zh-CN" sz="1200" kern="1200" dirty="0">
                    <a:solidFill>
                      <a:schemeClr val="tx1"/>
                    </a:solidFill>
                    <a:effectLst/>
                    <a:latin typeface="+mn-lt"/>
                    <a:ea typeface="+mn-ea"/>
                    <a:cs typeface="+mn-cs"/>
                  </a:rPr>
                  <a:t>，以及</a:t>
                </a:r>
                <a:r>
                  <a:rPr lang="en-US" altLang="zh-CN" sz="1200" i="0" kern="1200">
                    <a:solidFill>
                      <a:schemeClr val="tx1"/>
                    </a:solidFill>
                    <a:effectLst/>
                    <a:latin typeface="+mn-lt"/>
                    <a:ea typeface="+mn-ea"/>
                    <a:cs typeface="+mn-cs"/>
                  </a:rPr>
                  <a:t>𝑉</a:t>
                </a:r>
                <a:r>
                  <a:rPr lang="zh-CN" altLang="zh-CN" sz="1200" kern="1200" dirty="0">
                    <a:solidFill>
                      <a:schemeClr val="tx1"/>
                    </a:solidFill>
                    <a:effectLst/>
                    <a:latin typeface="+mn-lt"/>
                    <a:ea typeface="+mn-ea"/>
                    <a:cs typeface="+mn-cs"/>
                  </a:rPr>
                  <a:t>中已达到</a:t>
                </a:r>
                <a:r>
                  <a:rPr lang="en-US" altLang="zh-CN" sz="1200" kern="1200" dirty="0">
                    <a:solidFill>
                      <a:schemeClr val="tx1"/>
                    </a:solidFill>
                    <a:effectLst/>
                    <a:latin typeface="+mn-lt"/>
                    <a:ea typeface="+mn-ea"/>
                    <a:cs typeface="+mn-cs"/>
                  </a:rPr>
                  <a:t>PREPARED</a:t>
                </a:r>
                <a:r>
                  <a:rPr lang="zh-CN" altLang="zh-CN" sz="1200" kern="1200" dirty="0">
                    <a:solidFill>
                      <a:schemeClr val="tx1"/>
                    </a:solidFill>
                    <a:effectLst/>
                    <a:latin typeface="+mn-lt"/>
                    <a:ea typeface="+mn-ea"/>
                    <a:cs typeface="+mn-cs"/>
                  </a:rPr>
                  <a:t>状态消息的最大编号</a:t>
                </a:r>
                <a:r>
                  <a:rPr lang="en-US" altLang="zh-CN" sz="1200" i="0" kern="1200">
                    <a:solidFill>
                      <a:schemeClr val="tx1"/>
                    </a:solidFill>
                    <a:effectLst/>
                    <a:latin typeface="+mn-lt"/>
                    <a:ea typeface="+mn-ea"/>
                    <a:cs typeface="+mn-cs"/>
                  </a:rPr>
                  <a:t>𝑚𝑎𝑥</a:t>
                </a:r>
                <a:r>
                  <a:rPr lang="zh-CN" altLang="zh-CN" sz="1200" kern="1200" dirty="0">
                    <a:solidFill>
                      <a:schemeClr val="tx1"/>
                    </a:solidFill>
                    <a:effectLst/>
                    <a:latin typeface="+mn-lt"/>
                    <a:ea typeface="+mn-ea"/>
                    <a:cs typeface="+mn-cs"/>
                  </a:rPr>
                  <a:t>。</a:t>
                </a:r>
              </a:p>
              <a:p>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）对于</a:t>
                </a:r>
                <a:r>
                  <a:rPr lang="en-US" altLang="zh-CN" sz="1200" i="0" kern="1200">
                    <a:solidFill>
                      <a:schemeClr val="tx1"/>
                    </a:solidFill>
                    <a:effectLst/>
                    <a:latin typeface="+mn-lt"/>
                    <a:ea typeface="+mn-ea"/>
                    <a:cs typeface="+mn-cs"/>
                  </a:rPr>
                  <a:t>𝑚𝑖𝑛</a:t>
                </a:r>
                <a:r>
                  <a:rPr lang="zh-CN" altLang="zh-CN" sz="1200" kern="1200" dirty="0">
                    <a:solidFill>
                      <a:schemeClr val="tx1"/>
                    </a:solidFill>
                    <a:effectLst/>
                    <a:latin typeface="+mn-lt"/>
                    <a:ea typeface="+mn-ea"/>
                    <a:cs typeface="+mn-cs"/>
                  </a:rPr>
                  <a:t>和</a:t>
                </a:r>
                <a:r>
                  <a:rPr lang="en-US" altLang="zh-CN" sz="1200" i="0" kern="1200">
                    <a:solidFill>
                      <a:schemeClr val="tx1"/>
                    </a:solidFill>
                    <a:effectLst/>
                    <a:latin typeface="+mn-lt"/>
                    <a:ea typeface="+mn-ea"/>
                    <a:cs typeface="+mn-cs"/>
                  </a:rPr>
                  <a:t>𝑚𝑎𝑥</a:t>
                </a:r>
                <a:r>
                  <a:rPr lang="zh-CN" altLang="zh-CN" sz="1200" kern="1200" dirty="0">
                    <a:solidFill>
                      <a:schemeClr val="tx1"/>
                    </a:solidFill>
                    <a:effectLst/>
                    <a:latin typeface="+mn-lt"/>
                    <a:ea typeface="+mn-ea"/>
                    <a:cs typeface="+mn-cs"/>
                  </a:rPr>
                  <a:t>之间的每个序号</a:t>
                </a:r>
                <a:r>
                  <a:rPr lang="en-US" altLang="zh-CN" sz="1200" i="0" kern="1200">
                    <a:solidFill>
                      <a:schemeClr val="tx1"/>
                    </a:solidFill>
                    <a:effectLst/>
                    <a:latin typeface="+mn-lt"/>
                    <a:ea typeface="+mn-ea"/>
                    <a:cs typeface="+mn-cs"/>
                  </a:rPr>
                  <a:t>𝑛</a:t>
                </a:r>
                <a:r>
                  <a:rPr lang="zh-CN" altLang="zh-CN" sz="1200" kern="1200" dirty="0">
                    <a:solidFill>
                      <a:schemeClr val="tx1"/>
                    </a:solidFill>
                    <a:effectLst/>
                    <a:latin typeface="+mn-lt"/>
                    <a:ea typeface="+mn-ea"/>
                    <a:cs typeface="+mn-cs"/>
                  </a:rPr>
                  <a:t>，如果存在某个</a:t>
                </a:r>
                <a:r>
                  <a:rPr lang="en-US" altLang="zh-CN" sz="1200" i="0" kern="1200">
                    <a:solidFill>
                      <a:schemeClr val="tx1"/>
                    </a:solidFill>
                    <a:effectLst/>
                    <a:latin typeface="+mn-lt"/>
                    <a:ea typeface="+mn-ea"/>
                    <a:cs typeface="+mn-cs"/>
                  </a:rPr>
                  <a:t>𝑃</a:t>
                </a:r>
                <a:r>
                  <a:rPr lang="zh-CN" altLang="zh-CN" sz="1200" kern="1200" dirty="0">
                    <a:solidFill>
                      <a:schemeClr val="tx1"/>
                    </a:solidFill>
                    <a:effectLst/>
                    <a:latin typeface="+mn-lt"/>
                    <a:ea typeface="+mn-ea"/>
                    <a:cs typeface="+mn-cs"/>
                  </a:rPr>
                  <a:t>中，则创建</a:t>
                </a:r>
                <a:r>
                  <a:rPr lang="en-US" altLang="zh-CN" sz="1200" i="0" kern="1200">
                    <a:solidFill>
                      <a:schemeClr val="tx1"/>
                    </a:solidFill>
                    <a:effectLst/>
                    <a:latin typeface="+mn-lt"/>
                    <a:ea typeface="+mn-ea"/>
                    <a:cs typeface="+mn-cs"/>
                  </a:rPr>
                  <a:t>&lt;&lt;𝑃𝑅𝐸−𝑃𝑅𝐸𝑃𝐴𝑅𝐸, 𝑣+1, 𝑛, 𝑑&gt;, 𝑚&gt;</a:t>
                </a:r>
                <a:r>
                  <a:rPr lang="zh-CN" altLang="zh-CN" sz="1200" kern="1200" dirty="0">
                    <a:solidFill>
                      <a:schemeClr val="tx1"/>
                    </a:solidFill>
                    <a:effectLst/>
                    <a:latin typeface="+mn-lt"/>
                    <a:ea typeface="+mn-ea"/>
                    <a:cs typeface="+mn-cs"/>
                  </a:rPr>
                  <a:t>消息；否则，则创建一个空的</a:t>
                </a:r>
                <a:r>
                  <a:rPr lang="en-US" altLang="zh-CN" sz="1200" kern="1200" dirty="0">
                    <a:solidFill>
                      <a:schemeClr val="tx1"/>
                    </a:solidFill>
                    <a:effectLst/>
                    <a:latin typeface="+mn-lt"/>
                    <a:ea typeface="+mn-ea"/>
                    <a:cs typeface="+mn-cs"/>
                  </a:rPr>
                  <a:t>PRE-PREPARE</a:t>
                </a:r>
                <a:r>
                  <a:rPr lang="zh-CN" altLang="zh-CN" sz="1200" kern="1200" dirty="0">
                    <a:solidFill>
                      <a:schemeClr val="tx1"/>
                    </a:solidFill>
                    <a:effectLst/>
                    <a:latin typeface="+mn-lt"/>
                    <a:ea typeface="+mn-ea"/>
                    <a:cs typeface="+mn-cs"/>
                  </a:rPr>
                  <a:t>消息</a:t>
                </a:r>
                <a:r>
                  <a:rPr lang="en-US" altLang="zh-CN" sz="1200" i="0" kern="1200">
                    <a:solidFill>
                      <a:schemeClr val="tx1"/>
                    </a:solidFill>
                    <a:effectLst/>
                    <a:latin typeface="+mn-lt"/>
                    <a:ea typeface="+mn-ea"/>
                    <a:cs typeface="+mn-cs"/>
                  </a:rPr>
                  <a:t>&lt;&lt;𝑃𝑅𝐸−𝑃𝑅𝐸𝑃𝐴𝑅𝐸, 𝑣+1, 𝑛, 𝑑(𝑛𝑢𝑙𝑙)&gt;, 𝑚(𝑛𝑢𝑙𝑙)&gt;</a:t>
                </a:r>
                <a:r>
                  <a:rPr lang="zh-CN" altLang="zh-CN" sz="1200" kern="1200" dirty="0">
                    <a:solidFill>
                      <a:schemeClr val="tx1"/>
                    </a:solidFill>
                    <a:effectLst/>
                    <a:latin typeface="+mn-lt"/>
                    <a:ea typeface="+mn-ea"/>
                    <a:cs typeface="+mn-cs"/>
                  </a:rPr>
                  <a:t>，其中</a:t>
                </a:r>
                <a:r>
                  <a:rPr lang="en-US" altLang="zh-CN" sz="1200" i="0" kern="1200">
                    <a:solidFill>
                      <a:schemeClr val="tx1"/>
                    </a:solidFill>
                    <a:effectLst/>
                    <a:latin typeface="+mn-lt"/>
                    <a:ea typeface="+mn-ea"/>
                    <a:cs typeface="+mn-cs"/>
                  </a:rPr>
                  <a:t>𝑑(𝑛𝑢𝑙𝑙)</a:t>
                </a:r>
                <a:r>
                  <a:rPr lang="zh-CN" altLang="zh-CN" sz="1200" kern="1200" dirty="0">
                    <a:solidFill>
                      <a:schemeClr val="tx1"/>
                    </a:solidFill>
                    <a:effectLst/>
                    <a:latin typeface="+mn-lt"/>
                    <a:ea typeface="+mn-ea"/>
                    <a:cs typeface="+mn-cs"/>
                  </a:rPr>
                  <a:t>为空消息摘要，</a:t>
                </a:r>
                <a:r>
                  <a:rPr lang="en-US" altLang="zh-CN" sz="1200" i="0" kern="1200">
                    <a:solidFill>
                      <a:schemeClr val="tx1"/>
                    </a:solidFill>
                    <a:effectLst/>
                    <a:latin typeface="+mn-lt"/>
                    <a:ea typeface="+mn-ea"/>
                    <a:cs typeface="+mn-cs"/>
                  </a:rPr>
                  <a:t>𝑚</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𝑛𝑢𝑙𝑙)</a:t>
                </a:r>
                <a:r>
                  <a:rPr lang="zh-CN" altLang="zh-CN" sz="1200" kern="1200" dirty="0">
                    <a:solidFill>
                      <a:schemeClr val="tx1"/>
                    </a:solidFill>
                    <a:effectLst/>
                    <a:latin typeface="+mn-lt"/>
                    <a:ea typeface="+mn-ea"/>
                    <a:cs typeface="+mn-cs"/>
                  </a:rPr>
                  <a:t>为空消息。</a:t>
                </a:r>
              </a:p>
            </p:txBody>
          </p:sp>
        </mc:Fallback>
      </mc:AlternateContent>
      <p:sp>
        <p:nvSpPr>
          <p:cNvPr id="4" name="灯片编号占位符 3"/>
          <p:cNvSpPr>
            <a:spLocks noGrp="1"/>
          </p:cNvSpPr>
          <p:nvPr>
            <p:ph type="sldNum" sz="quarter" idx="5"/>
          </p:nvPr>
        </p:nvSpPr>
        <p:spPr/>
        <p:txBody>
          <a:bodyPr/>
          <a:lstStyle/>
          <a:p>
            <a:fld id="{840B8802-914A-7C41-BC77-CC54DEE99EEF}" type="slidenum">
              <a:rPr kumimoji="1" lang="zh-CN" altLang="en-US" smtClean="0"/>
              <a:t>31</a:t>
            </a:fld>
            <a:endParaRPr kumimoji="1" lang="zh-CN" altLang="en-US"/>
          </a:p>
        </p:txBody>
      </p:sp>
    </p:spTree>
    <p:extLst>
      <p:ext uri="{BB962C8B-B14F-4D97-AF65-F5344CB8AC3E}">
        <p14:creationId xmlns:p14="http://schemas.microsoft.com/office/powerpoint/2010/main" val="317617661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endParaRPr lang="en-US" altLang="zh-CN" sz="1200" kern="1200" dirty="0">
                  <a:solidFill>
                    <a:schemeClr val="tx1"/>
                  </a:solidFill>
                  <a:effectLst/>
                  <a:latin typeface="+mn-lt"/>
                  <a:ea typeface="+mn-ea"/>
                  <a:cs typeface="+mn-cs"/>
                </a:endParaRPr>
              </a:p>
            </p:txBody>
          </p:sp>
        </mc:Choice>
        <mc:Fallback xmlns="">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注意，当主节点</a:t>
                </a:r>
                <a:r>
                  <a:rPr lang="en-US" altLang="zh-CN" sz="1200" i="0" kern="1200">
                    <a:solidFill>
                      <a:schemeClr val="tx1"/>
                    </a:solidFill>
                    <a:effectLst/>
                    <a:latin typeface="+mn-lt"/>
                    <a:ea typeface="+mn-ea"/>
                    <a:cs typeface="+mn-cs"/>
                  </a:rPr>
                  <a:t>𝑖</a:t>
                </a:r>
                <a:r>
                  <a:rPr lang="zh-CN" altLang="zh-CN" sz="1200" kern="1200" dirty="0">
                    <a:solidFill>
                      <a:schemeClr val="tx1"/>
                    </a:solidFill>
                    <a:effectLst/>
                    <a:latin typeface="+mn-lt"/>
                    <a:ea typeface="+mn-ea"/>
                    <a:cs typeface="+mn-cs"/>
                  </a:rPr>
                  <a:t>收到</a:t>
                </a:r>
                <a:r>
                  <a:rPr lang="en-US" altLang="zh-CN" sz="1200" i="0" kern="1200">
                    <a:solidFill>
                      <a:schemeClr val="tx1"/>
                    </a:solidFill>
                    <a:effectLst/>
                    <a:latin typeface="+mn-lt"/>
                    <a:ea typeface="+mn-ea"/>
                    <a:cs typeface="+mn-cs"/>
                  </a:rPr>
                  <a:t>2𝐹+1</a:t>
                </a:r>
                <a:r>
                  <a:rPr lang="zh-CN" altLang="zh-CN" sz="1200" kern="1200" dirty="0">
                    <a:solidFill>
                      <a:schemeClr val="tx1"/>
                    </a:solidFill>
                    <a:effectLst/>
                    <a:latin typeface="+mn-lt"/>
                    <a:ea typeface="+mn-ea"/>
                    <a:cs typeface="+mn-cs"/>
                  </a:rPr>
                  <a:t>个</a:t>
                </a:r>
                <a:r>
                  <a:rPr lang="en-US" altLang="zh-CN" sz="1200" i="0" kern="1200">
                    <a:solidFill>
                      <a:schemeClr val="tx1"/>
                    </a:solidFill>
                    <a:effectLst/>
                    <a:latin typeface="+mn-lt"/>
                    <a:ea typeface="+mn-ea"/>
                    <a:cs typeface="+mn-cs"/>
                  </a:rPr>
                  <a:t>𝑉𝐼𝐸𝑊−𝐶𝐻𝐴𝑁𝐺𝐸</a:t>
                </a:r>
                <a:r>
                  <a:rPr lang="zh-CN" altLang="zh-CN" sz="1200" kern="1200" dirty="0">
                    <a:solidFill>
                      <a:schemeClr val="tx1"/>
                    </a:solidFill>
                    <a:effectLst/>
                    <a:latin typeface="+mn-lt"/>
                    <a:ea typeface="+mn-ea"/>
                    <a:cs typeface="+mn-cs"/>
                  </a:rPr>
                  <a:t>消息，可以确认高度为</a:t>
                </a:r>
                <a:r>
                  <a:rPr lang="en-US" altLang="zh-CN" sz="1200" i="0" kern="1200">
                    <a:solidFill>
                      <a:schemeClr val="tx1"/>
                    </a:solidFill>
                    <a:effectLst/>
                    <a:latin typeface="+mn-lt"/>
                    <a:ea typeface="+mn-ea"/>
                    <a:cs typeface="+mn-cs"/>
                  </a:rPr>
                  <a:t>𝑛</a:t>
                </a:r>
                <a:r>
                  <a:rPr lang="zh-CN" altLang="zh-CN" sz="1200" kern="1200" dirty="0">
                    <a:solidFill>
                      <a:schemeClr val="tx1"/>
                    </a:solidFill>
                    <a:effectLst/>
                    <a:latin typeface="+mn-lt"/>
                    <a:ea typeface="+mn-ea"/>
                    <a:cs typeface="+mn-cs"/>
                  </a:rPr>
                  <a:t>的稳定检查点之间的消息在视图切换的过程中不会丢失，但是当前检查点之后，下一个检查点之前的已经达到</a:t>
                </a:r>
                <a:r>
                  <a:rPr lang="en-US" altLang="zh-CN" sz="1200" kern="1200" dirty="0">
                    <a:solidFill>
                      <a:schemeClr val="tx1"/>
                    </a:solidFill>
                    <a:effectLst/>
                    <a:latin typeface="+mn-lt"/>
                    <a:ea typeface="+mn-ea"/>
                    <a:cs typeface="+mn-cs"/>
                  </a:rPr>
                  <a:t>PREPARED</a:t>
                </a:r>
                <a:r>
                  <a:rPr lang="zh-CN" altLang="zh-CN" sz="1200" kern="1200" dirty="0">
                    <a:solidFill>
                      <a:schemeClr val="tx1"/>
                    </a:solidFill>
                    <a:effectLst/>
                    <a:latin typeface="+mn-lt"/>
                    <a:ea typeface="+mn-ea"/>
                    <a:cs typeface="+mn-cs"/>
                  </a:rPr>
                  <a:t>状态的消息会丢失。因此，新视图的主节点会把旧视图中已经达到</a:t>
                </a:r>
                <a:r>
                  <a:rPr lang="en-US" altLang="zh-CN" sz="1200" kern="1200" dirty="0">
                    <a:solidFill>
                      <a:schemeClr val="tx1"/>
                    </a:solidFill>
                    <a:effectLst/>
                    <a:latin typeface="+mn-lt"/>
                    <a:ea typeface="+mn-ea"/>
                    <a:cs typeface="+mn-cs"/>
                  </a:rPr>
                  <a:t>PREPARED</a:t>
                </a:r>
                <a:r>
                  <a:rPr lang="zh-CN" altLang="zh-CN" sz="1200" kern="1200" dirty="0">
                    <a:solidFill>
                      <a:schemeClr val="tx1"/>
                    </a:solidFill>
                    <a:effectLst/>
                    <a:latin typeface="+mn-lt"/>
                    <a:ea typeface="+mn-ea"/>
                    <a:cs typeface="+mn-cs"/>
                  </a:rPr>
                  <a:t>状态的消息转换为</a:t>
                </a:r>
                <a:r>
                  <a:rPr lang="en-US" altLang="zh-CN" sz="1200" kern="1200" dirty="0">
                    <a:solidFill>
                      <a:schemeClr val="tx1"/>
                    </a:solidFill>
                    <a:effectLst/>
                    <a:latin typeface="+mn-lt"/>
                    <a:ea typeface="+mn-ea"/>
                    <a:cs typeface="+mn-cs"/>
                  </a:rPr>
                  <a:t>PRE-PREPARE</a:t>
                </a:r>
                <a:r>
                  <a:rPr lang="zh-CN" altLang="zh-CN" sz="1200" kern="1200" dirty="0">
                    <a:solidFill>
                      <a:schemeClr val="tx1"/>
                    </a:solidFill>
                    <a:effectLst/>
                    <a:latin typeface="+mn-lt"/>
                    <a:ea typeface="+mn-ea"/>
                    <a:cs typeface="+mn-cs"/>
                  </a:rPr>
                  <a:t>消息，重新广播到网络中了。</a:t>
                </a:r>
                <a:r>
                  <a:rPr lang="en-US" altLang="zh-CN" sz="1200" kern="1200" dirty="0">
                    <a:solidFill>
                      <a:schemeClr val="tx1"/>
                    </a:solidFill>
                    <a:effectLst/>
                    <a:latin typeface="+mn-lt"/>
                    <a:ea typeface="+mn-ea"/>
                    <a:cs typeface="+mn-cs"/>
                  </a:rPr>
                  <a:t>PRE-PREPARE</a:t>
                </a:r>
                <a:r>
                  <a:rPr lang="zh-CN" altLang="zh-CN" sz="1200" kern="1200" dirty="0">
                    <a:solidFill>
                      <a:schemeClr val="tx1"/>
                    </a:solidFill>
                    <a:effectLst/>
                    <a:latin typeface="+mn-lt"/>
                    <a:ea typeface="+mn-ea"/>
                    <a:cs typeface="+mn-cs"/>
                  </a:rPr>
                  <a:t>消息集合的选取规则如下所示：</a:t>
                </a:r>
              </a:p>
              <a:p>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）选取</a:t>
                </a:r>
                <a:r>
                  <a:rPr lang="en-US" altLang="zh-CN" sz="1200" i="0" kern="1200">
                    <a:solidFill>
                      <a:schemeClr val="tx1"/>
                    </a:solidFill>
                    <a:effectLst/>
                    <a:latin typeface="+mn-lt"/>
                    <a:ea typeface="+mn-ea"/>
                    <a:cs typeface="+mn-cs"/>
                  </a:rPr>
                  <a:t>𝑉</a:t>
                </a:r>
                <a:r>
                  <a:rPr lang="zh-CN" altLang="zh-CN" sz="1200" kern="1200" dirty="0">
                    <a:solidFill>
                      <a:schemeClr val="tx1"/>
                    </a:solidFill>
                    <a:effectLst/>
                    <a:latin typeface="+mn-lt"/>
                    <a:ea typeface="+mn-ea"/>
                    <a:cs typeface="+mn-cs"/>
                  </a:rPr>
                  <a:t>中高度最低的稳定检查点的编号</a:t>
                </a:r>
                <a:r>
                  <a:rPr lang="en-US" altLang="zh-CN" sz="1200" i="0" kern="1200">
                    <a:solidFill>
                      <a:schemeClr val="tx1"/>
                    </a:solidFill>
                    <a:effectLst/>
                    <a:latin typeface="+mn-lt"/>
                    <a:ea typeface="+mn-ea"/>
                    <a:cs typeface="+mn-cs"/>
                  </a:rPr>
                  <a:t>𝑚𝑖𝑛</a:t>
                </a:r>
                <a:r>
                  <a:rPr lang="zh-CN" altLang="zh-CN" sz="1200" kern="1200" dirty="0">
                    <a:solidFill>
                      <a:schemeClr val="tx1"/>
                    </a:solidFill>
                    <a:effectLst/>
                    <a:latin typeface="+mn-lt"/>
                    <a:ea typeface="+mn-ea"/>
                    <a:cs typeface="+mn-cs"/>
                  </a:rPr>
                  <a:t>，以及</a:t>
                </a:r>
                <a:r>
                  <a:rPr lang="en-US" altLang="zh-CN" sz="1200" i="0" kern="1200">
                    <a:solidFill>
                      <a:schemeClr val="tx1"/>
                    </a:solidFill>
                    <a:effectLst/>
                    <a:latin typeface="+mn-lt"/>
                    <a:ea typeface="+mn-ea"/>
                    <a:cs typeface="+mn-cs"/>
                  </a:rPr>
                  <a:t>𝑉</a:t>
                </a:r>
                <a:r>
                  <a:rPr lang="zh-CN" altLang="zh-CN" sz="1200" kern="1200" dirty="0">
                    <a:solidFill>
                      <a:schemeClr val="tx1"/>
                    </a:solidFill>
                    <a:effectLst/>
                    <a:latin typeface="+mn-lt"/>
                    <a:ea typeface="+mn-ea"/>
                    <a:cs typeface="+mn-cs"/>
                  </a:rPr>
                  <a:t>中已达到</a:t>
                </a:r>
                <a:r>
                  <a:rPr lang="en-US" altLang="zh-CN" sz="1200" kern="1200" dirty="0">
                    <a:solidFill>
                      <a:schemeClr val="tx1"/>
                    </a:solidFill>
                    <a:effectLst/>
                    <a:latin typeface="+mn-lt"/>
                    <a:ea typeface="+mn-ea"/>
                    <a:cs typeface="+mn-cs"/>
                  </a:rPr>
                  <a:t>PREPARED</a:t>
                </a:r>
                <a:r>
                  <a:rPr lang="zh-CN" altLang="zh-CN" sz="1200" kern="1200" dirty="0">
                    <a:solidFill>
                      <a:schemeClr val="tx1"/>
                    </a:solidFill>
                    <a:effectLst/>
                    <a:latin typeface="+mn-lt"/>
                    <a:ea typeface="+mn-ea"/>
                    <a:cs typeface="+mn-cs"/>
                  </a:rPr>
                  <a:t>状态消息的最大编号</a:t>
                </a:r>
                <a:r>
                  <a:rPr lang="en-US" altLang="zh-CN" sz="1200" i="0" kern="1200">
                    <a:solidFill>
                      <a:schemeClr val="tx1"/>
                    </a:solidFill>
                    <a:effectLst/>
                    <a:latin typeface="+mn-lt"/>
                    <a:ea typeface="+mn-ea"/>
                    <a:cs typeface="+mn-cs"/>
                  </a:rPr>
                  <a:t>𝑚𝑎𝑥</a:t>
                </a:r>
                <a:r>
                  <a:rPr lang="zh-CN" altLang="zh-CN" sz="1200" kern="1200" dirty="0">
                    <a:solidFill>
                      <a:schemeClr val="tx1"/>
                    </a:solidFill>
                    <a:effectLst/>
                    <a:latin typeface="+mn-lt"/>
                    <a:ea typeface="+mn-ea"/>
                    <a:cs typeface="+mn-cs"/>
                  </a:rPr>
                  <a:t>。</a:t>
                </a:r>
              </a:p>
              <a:p>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）对于</a:t>
                </a:r>
                <a:r>
                  <a:rPr lang="en-US" altLang="zh-CN" sz="1200" i="0" kern="1200">
                    <a:solidFill>
                      <a:schemeClr val="tx1"/>
                    </a:solidFill>
                    <a:effectLst/>
                    <a:latin typeface="+mn-lt"/>
                    <a:ea typeface="+mn-ea"/>
                    <a:cs typeface="+mn-cs"/>
                  </a:rPr>
                  <a:t>𝑚𝑖𝑛</a:t>
                </a:r>
                <a:r>
                  <a:rPr lang="zh-CN" altLang="zh-CN" sz="1200" kern="1200" dirty="0">
                    <a:solidFill>
                      <a:schemeClr val="tx1"/>
                    </a:solidFill>
                    <a:effectLst/>
                    <a:latin typeface="+mn-lt"/>
                    <a:ea typeface="+mn-ea"/>
                    <a:cs typeface="+mn-cs"/>
                  </a:rPr>
                  <a:t>和</a:t>
                </a:r>
                <a:r>
                  <a:rPr lang="en-US" altLang="zh-CN" sz="1200" i="0" kern="1200">
                    <a:solidFill>
                      <a:schemeClr val="tx1"/>
                    </a:solidFill>
                    <a:effectLst/>
                    <a:latin typeface="+mn-lt"/>
                    <a:ea typeface="+mn-ea"/>
                    <a:cs typeface="+mn-cs"/>
                  </a:rPr>
                  <a:t>𝑚𝑎𝑥</a:t>
                </a:r>
                <a:r>
                  <a:rPr lang="zh-CN" altLang="zh-CN" sz="1200" kern="1200" dirty="0">
                    <a:solidFill>
                      <a:schemeClr val="tx1"/>
                    </a:solidFill>
                    <a:effectLst/>
                    <a:latin typeface="+mn-lt"/>
                    <a:ea typeface="+mn-ea"/>
                    <a:cs typeface="+mn-cs"/>
                  </a:rPr>
                  <a:t>之间的每个序号</a:t>
                </a:r>
                <a:r>
                  <a:rPr lang="en-US" altLang="zh-CN" sz="1200" i="0" kern="1200">
                    <a:solidFill>
                      <a:schemeClr val="tx1"/>
                    </a:solidFill>
                    <a:effectLst/>
                    <a:latin typeface="+mn-lt"/>
                    <a:ea typeface="+mn-ea"/>
                    <a:cs typeface="+mn-cs"/>
                  </a:rPr>
                  <a:t>𝑛</a:t>
                </a:r>
                <a:r>
                  <a:rPr lang="zh-CN" altLang="zh-CN" sz="1200" kern="1200" dirty="0">
                    <a:solidFill>
                      <a:schemeClr val="tx1"/>
                    </a:solidFill>
                    <a:effectLst/>
                    <a:latin typeface="+mn-lt"/>
                    <a:ea typeface="+mn-ea"/>
                    <a:cs typeface="+mn-cs"/>
                  </a:rPr>
                  <a:t>，如果存在某个</a:t>
                </a:r>
                <a:r>
                  <a:rPr lang="en-US" altLang="zh-CN" sz="1200" i="0" kern="1200">
                    <a:solidFill>
                      <a:schemeClr val="tx1"/>
                    </a:solidFill>
                    <a:effectLst/>
                    <a:latin typeface="+mn-lt"/>
                    <a:ea typeface="+mn-ea"/>
                    <a:cs typeface="+mn-cs"/>
                  </a:rPr>
                  <a:t>𝑃</a:t>
                </a:r>
                <a:r>
                  <a:rPr lang="zh-CN" altLang="zh-CN" sz="1200" kern="1200" dirty="0">
                    <a:solidFill>
                      <a:schemeClr val="tx1"/>
                    </a:solidFill>
                    <a:effectLst/>
                    <a:latin typeface="+mn-lt"/>
                    <a:ea typeface="+mn-ea"/>
                    <a:cs typeface="+mn-cs"/>
                  </a:rPr>
                  <a:t>中，则创建</a:t>
                </a:r>
                <a:r>
                  <a:rPr lang="en-US" altLang="zh-CN" sz="1200" i="0" kern="1200">
                    <a:solidFill>
                      <a:schemeClr val="tx1"/>
                    </a:solidFill>
                    <a:effectLst/>
                    <a:latin typeface="+mn-lt"/>
                    <a:ea typeface="+mn-ea"/>
                    <a:cs typeface="+mn-cs"/>
                  </a:rPr>
                  <a:t>&lt;&lt;𝑃𝑅𝐸−𝑃𝑅𝐸𝑃𝐴𝑅𝐸, 𝑣+1, 𝑛, 𝑑&gt;, 𝑚&gt;</a:t>
                </a:r>
                <a:r>
                  <a:rPr lang="zh-CN" altLang="zh-CN" sz="1200" kern="1200" dirty="0">
                    <a:solidFill>
                      <a:schemeClr val="tx1"/>
                    </a:solidFill>
                    <a:effectLst/>
                    <a:latin typeface="+mn-lt"/>
                    <a:ea typeface="+mn-ea"/>
                    <a:cs typeface="+mn-cs"/>
                  </a:rPr>
                  <a:t>消息；否则，则创建一个空的</a:t>
                </a:r>
                <a:r>
                  <a:rPr lang="en-US" altLang="zh-CN" sz="1200" kern="1200" dirty="0">
                    <a:solidFill>
                      <a:schemeClr val="tx1"/>
                    </a:solidFill>
                    <a:effectLst/>
                    <a:latin typeface="+mn-lt"/>
                    <a:ea typeface="+mn-ea"/>
                    <a:cs typeface="+mn-cs"/>
                  </a:rPr>
                  <a:t>PRE-PREPARE</a:t>
                </a:r>
                <a:r>
                  <a:rPr lang="zh-CN" altLang="zh-CN" sz="1200" kern="1200" dirty="0">
                    <a:solidFill>
                      <a:schemeClr val="tx1"/>
                    </a:solidFill>
                    <a:effectLst/>
                    <a:latin typeface="+mn-lt"/>
                    <a:ea typeface="+mn-ea"/>
                    <a:cs typeface="+mn-cs"/>
                  </a:rPr>
                  <a:t>消息</a:t>
                </a:r>
                <a:r>
                  <a:rPr lang="en-US" altLang="zh-CN" sz="1200" i="0" kern="1200">
                    <a:solidFill>
                      <a:schemeClr val="tx1"/>
                    </a:solidFill>
                    <a:effectLst/>
                    <a:latin typeface="+mn-lt"/>
                    <a:ea typeface="+mn-ea"/>
                    <a:cs typeface="+mn-cs"/>
                  </a:rPr>
                  <a:t>&lt;&lt;𝑃𝑅𝐸−𝑃𝑅𝐸𝑃𝐴𝑅𝐸, 𝑣+1, 𝑛, 𝑑(𝑛𝑢𝑙𝑙)&gt;, 𝑚(𝑛𝑢𝑙𝑙)&gt;</a:t>
                </a:r>
                <a:r>
                  <a:rPr lang="zh-CN" altLang="zh-CN" sz="1200" kern="1200" dirty="0">
                    <a:solidFill>
                      <a:schemeClr val="tx1"/>
                    </a:solidFill>
                    <a:effectLst/>
                    <a:latin typeface="+mn-lt"/>
                    <a:ea typeface="+mn-ea"/>
                    <a:cs typeface="+mn-cs"/>
                  </a:rPr>
                  <a:t>，其中</a:t>
                </a:r>
                <a:r>
                  <a:rPr lang="en-US" altLang="zh-CN" sz="1200" i="0" kern="1200">
                    <a:solidFill>
                      <a:schemeClr val="tx1"/>
                    </a:solidFill>
                    <a:effectLst/>
                    <a:latin typeface="+mn-lt"/>
                    <a:ea typeface="+mn-ea"/>
                    <a:cs typeface="+mn-cs"/>
                  </a:rPr>
                  <a:t>𝑑(𝑛𝑢𝑙𝑙)</a:t>
                </a:r>
                <a:r>
                  <a:rPr lang="zh-CN" altLang="zh-CN" sz="1200" kern="1200" dirty="0">
                    <a:solidFill>
                      <a:schemeClr val="tx1"/>
                    </a:solidFill>
                    <a:effectLst/>
                    <a:latin typeface="+mn-lt"/>
                    <a:ea typeface="+mn-ea"/>
                    <a:cs typeface="+mn-cs"/>
                  </a:rPr>
                  <a:t>为空消息摘要，</a:t>
                </a:r>
                <a:r>
                  <a:rPr lang="en-US" altLang="zh-CN" sz="1200" i="0" kern="1200">
                    <a:solidFill>
                      <a:schemeClr val="tx1"/>
                    </a:solidFill>
                    <a:effectLst/>
                    <a:latin typeface="+mn-lt"/>
                    <a:ea typeface="+mn-ea"/>
                    <a:cs typeface="+mn-cs"/>
                  </a:rPr>
                  <a:t>𝑚</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𝑛𝑢𝑙𝑙)</a:t>
                </a:r>
                <a:r>
                  <a:rPr lang="zh-CN" altLang="zh-CN" sz="1200" kern="1200" dirty="0">
                    <a:solidFill>
                      <a:schemeClr val="tx1"/>
                    </a:solidFill>
                    <a:effectLst/>
                    <a:latin typeface="+mn-lt"/>
                    <a:ea typeface="+mn-ea"/>
                    <a:cs typeface="+mn-cs"/>
                  </a:rPr>
                  <a:t>为空消息。</a:t>
                </a:r>
              </a:p>
            </p:txBody>
          </p:sp>
        </mc:Fallback>
      </mc:AlternateContent>
      <p:sp>
        <p:nvSpPr>
          <p:cNvPr id="4" name="灯片编号占位符 3"/>
          <p:cNvSpPr>
            <a:spLocks noGrp="1"/>
          </p:cNvSpPr>
          <p:nvPr>
            <p:ph type="sldNum" sz="quarter" idx="5"/>
          </p:nvPr>
        </p:nvSpPr>
        <p:spPr/>
        <p:txBody>
          <a:bodyPr/>
          <a:lstStyle/>
          <a:p>
            <a:fld id="{840B8802-914A-7C41-BC77-CC54DEE99EEF}" type="slidenum">
              <a:rPr kumimoji="1" lang="zh-CN" altLang="en-US" smtClean="0"/>
              <a:t>32</a:t>
            </a:fld>
            <a:endParaRPr kumimoji="1" lang="zh-CN" altLang="en-US"/>
          </a:p>
        </p:txBody>
      </p:sp>
    </p:spTree>
    <p:extLst>
      <p:ext uri="{BB962C8B-B14F-4D97-AF65-F5344CB8AC3E}">
        <p14:creationId xmlns:p14="http://schemas.microsoft.com/office/powerpoint/2010/main" val="11615726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endParaRPr lang="en-US" altLang="zh-CN" sz="1200" kern="1200" dirty="0">
                  <a:solidFill>
                    <a:schemeClr val="tx1"/>
                  </a:solidFill>
                  <a:effectLst/>
                  <a:latin typeface="+mn-lt"/>
                  <a:ea typeface="+mn-ea"/>
                  <a:cs typeface="+mn-cs"/>
                </a:endParaRPr>
              </a:p>
            </p:txBody>
          </p:sp>
        </mc:Choice>
        <mc:Fallback xmlns="">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注意，当主节点</a:t>
                </a:r>
                <a:r>
                  <a:rPr lang="en-US" altLang="zh-CN" sz="1200" i="0" kern="1200">
                    <a:solidFill>
                      <a:schemeClr val="tx1"/>
                    </a:solidFill>
                    <a:effectLst/>
                    <a:latin typeface="+mn-lt"/>
                    <a:ea typeface="+mn-ea"/>
                    <a:cs typeface="+mn-cs"/>
                  </a:rPr>
                  <a:t>𝑖</a:t>
                </a:r>
                <a:r>
                  <a:rPr lang="zh-CN" altLang="zh-CN" sz="1200" kern="1200" dirty="0">
                    <a:solidFill>
                      <a:schemeClr val="tx1"/>
                    </a:solidFill>
                    <a:effectLst/>
                    <a:latin typeface="+mn-lt"/>
                    <a:ea typeface="+mn-ea"/>
                    <a:cs typeface="+mn-cs"/>
                  </a:rPr>
                  <a:t>收到</a:t>
                </a:r>
                <a:r>
                  <a:rPr lang="en-US" altLang="zh-CN" sz="1200" i="0" kern="1200">
                    <a:solidFill>
                      <a:schemeClr val="tx1"/>
                    </a:solidFill>
                    <a:effectLst/>
                    <a:latin typeface="+mn-lt"/>
                    <a:ea typeface="+mn-ea"/>
                    <a:cs typeface="+mn-cs"/>
                  </a:rPr>
                  <a:t>2𝐹+1</a:t>
                </a:r>
                <a:r>
                  <a:rPr lang="zh-CN" altLang="zh-CN" sz="1200" kern="1200" dirty="0">
                    <a:solidFill>
                      <a:schemeClr val="tx1"/>
                    </a:solidFill>
                    <a:effectLst/>
                    <a:latin typeface="+mn-lt"/>
                    <a:ea typeface="+mn-ea"/>
                    <a:cs typeface="+mn-cs"/>
                  </a:rPr>
                  <a:t>个</a:t>
                </a:r>
                <a:r>
                  <a:rPr lang="en-US" altLang="zh-CN" sz="1200" i="0" kern="1200">
                    <a:solidFill>
                      <a:schemeClr val="tx1"/>
                    </a:solidFill>
                    <a:effectLst/>
                    <a:latin typeface="+mn-lt"/>
                    <a:ea typeface="+mn-ea"/>
                    <a:cs typeface="+mn-cs"/>
                  </a:rPr>
                  <a:t>𝑉𝐼𝐸𝑊−𝐶𝐻𝐴𝑁𝐺𝐸</a:t>
                </a:r>
                <a:r>
                  <a:rPr lang="zh-CN" altLang="zh-CN" sz="1200" kern="1200" dirty="0">
                    <a:solidFill>
                      <a:schemeClr val="tx1"/>
                    </a:solidFill>
                    <a:effectLst/>
                    <a:latin typeface="+mn-lt"/>
                    <a:ea typeface="+mn-ea"/>
                    <a:cs typeface="+mn-cs"/>
                  </a:rPr>
                  <a:t>消息，可以确认高度为</a:t>
                </a:r>
                <a:r>
                  <a:rPr lang="en-US" altLang="zh-CN" sz="1200" i="0" kern="1200">
                    <a:solidFill>
                      <a:schemeClr val="tx1"/>
                    </a:solidFill>
                    <a:effectLst/>
                    <a:latin typeface="+mn-lt"/>
                    <a:ea typeface="+mn-ea"/>
                    <a:cs typeface="+mn-cs"/>
                  </a:rPr>
                  <a:t>𝑛</a:t>
                </a:r>
                <a:r>
                  <a:rPr lang="zh-CN" altLang="zh-CN" sz="1200" kern="1200" dirty="0">
                    <a:solidFill>
                      <a:schemeClr val="tx1"/>
                    </a:solidFill>
                    <a:effectLst/>
                    <a:latin typeface="+mn-lt"/>
                    <a:ea typeface="+mn-ea"/>
                    <a:cs typeface="+mn-cs"/>
                  </a:rPr>
                  <a:t>的稳定检查点之间的消息在视图切换的过程中不会丢失，但是当前检查点之后，下一个检查点之前的已经达到</a:t>
                </a:r>
                <a:r>
                  <a:rPr lang="en-US" altLang="zh-CN" sz="1200" kern="1200" dirty="0">
                    <a:solidFill>
                      <a:schemeClr val="tx1"/>
                    </a:solidFill>
                    <a:effectLst/>
                    <a:latin typeface="+mn-lt"/>
                    <a:ea typeface="+mn-ea"/>
                    <a:cs typeface="+mn-cs"/>
                  </a:rPr>
                  <a:t>PREPARED</a:t>
                </a:r>
                <a:r>
                  <a:rPr lang="zh-CN" altLang="zh-CN" sz="1200" kern="1200" dirty="0">
                    <a:solidFill>
                      <a:schemeClr val="tx1"/>
                    </a:solidFill>
                    <a:effectLst/>
                    <a:latin typeface="+mn-lt"/>
                    <a:ea typeface="+mn-ea"/>
                    <a:cs typeface="+mn-cs"/>
                  </a:rPr>
                  <a:t>状态的消息会丢失。因此，新视图的主节点会把旧视图中已经达到</a:t>
                </a:r>
                <a:r>
                  <a:rPr lang="en-US" altLang="zh-CN" sz="1200" kern="1200" dirty="0">
                    <a:solidFill>
                      <a:schemeClr val="tx1"/>
                    </a:solidFill>
                    <a:effectLst/>
                    <a:latin typeface="+mn-lt"/>
                    <a:ea typeface="+mn-ea"/>
                    <a:cs typeface="+mn-cs"/>
                  </a:rPr>
                  <a:t>PREPARED</a:t>
                </a:r>
                <a:r>
                  <a:rPr lang="zh-CN" altLang="zh-CN" sz="1200" kern="1200" dirty="0">
                    <a:solidFill>
                      <a:schemeClr val="tx1"/>
                    </a:solidFill>
                    <a:effectLst/>
                    <a:latin typeface="+mn-lt"/>
                    <a:ea typeface="+mn-ea"/>
                    <a:cs typeface="+mn-cs"/>
                  </a:rPr>
                  <a:t>状态的消息转换为</a:t>
                </a:r>
                <a:r>
                  <a:rPr lang="en-US" altLang="zh-CN" sz="1200" kern="1200" dirty="0">
                    <a:solidFill>
                      <a:schemeClr val="tx1"/>
                    </a:solidFill>
                    <a:effectLst/>
                    <a:latin typeface="+mn-lt"/>
                    <a:ea typeface="+mn-ea"/>
                    <a:cs typeface="+mn-cs"/>
                  </a:rPr>
                  <a:t>PRE-PREPARE</a:t>
                </a:r>
                <a:r>
                  <a:rPr lang="zh-CN" altLang="zh-CN" sz="1200" kern="1200" dirty="0">
                    <a:solidFill>
                      <a:schemeClr val="tx1"/>
                    </a:solidFill>
                    <a:effectLst/>
                    <a:latin typeface="+mn-lt"/>
                    <a:ea typeface="+mn-ea"/>
                    <a:cs typeface="+mn-cs"/>
                  </a:rPr>
                  <a:t>消息，重新广播到网络中了。</a:t>
                </a:r>
                <a:r>
                  <a:rPr lang="en-US" altLang="zh-CN" sz="1200" kern="1200" dirty="0">
                    <a:solidFill>
                      <a:schemeClr val="tx1"/>
                    </a:solidFill>
                    <a:effectLst/>
                    <a:latin typeface="+mn-lt"/>
                    <a:ea typeface="+mn-ea"/>
                    <a:cs typeface="+mn-cs"/>
                  </a:rPr>
                  <a:t>PRE-PREPARE</a:t>
                </a:r>
                <a:r>
                  <a:rPr lang="zh-CN" altLang="zh-CN" sz="1200" kern="1200" dirty="0">
                    <a:solidFill>
                      <a:schemeClr val="tx1"/>
                    </a:solidFill>
                    <a:effectLst/>
                    <a:latin typeface="+mn-lt"/>
                    <a:ea typeface="+mn-ea"/>
                    <a:cs typeface="+mn-cs"/>
                  </a:rPr>
                  <a:t>消息集合的选取规则如下所示：</a:t>
                </a:r>
              </a:p>
              <a:p>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）选取</a:t>
                </a:r>
                <a:r>
                  <a:rPr lang="en-US" altLang="zh-CN" sz="1200" i="0" kern="1200">
                    <a:solidFill>
                      <a:schemeClr val="tx1"/>
                    </a:solidFill>
                    <a:effectLst/>
                    <a:latin typeface="+mn-lt"/>
                    <a:ea typeface="+mn-ea"/>
                    <a:cs typeface="+mn-cs"/>
                  </a:rPr>
                  <a:t>𝑉</a:t>
                </a:r>
                <a:r>
                  <a:rPr lang="zh-CN" altLang="zh-CN" sz="1200" kern="1200" dirty="0">
                    <a:solidFill>
                      <a:schemeClr val="tx1"/>
                    </a:solidFill>
                    <a:effectLst/>
                    <a:latin typeface="+mn-lt"/>
                    <a:ea typeface="+mn-ea"/>
                    <a:cs typeface="+mn-cs"/>
                  </a:rPr>
                  <a:t>中高度最低的稳定检查点的编号</a:t>
                </a:r>
                <a:r>
                  <a:rPr lang="en-US" altLang="zh-CN" sz="1200" i="0" kern="1200">
                    <a:solidFill>
                      <a:schemeClr val="tx1"/>
                    </a:solidFill>
                    <a:effectLst/>
                    <a:latin typeface="+mn-lt"/>
                    <a:ea typeface="+mn-ea"/>
                    <a:cs typeface="+mn-cs"/>
                  </a:rPr>
                  <a:t>𝑚𝑖𝑛</a:t>
                </a:r>
                <a:r>
                  <a:rPr lang="zh-CN" altLang="zh-CN" sz="1200" kern="1200" dirty="0">
                    <a:solidFill>
                      <a:schemeClr val="tx1"/>
                    </a:solidFill>
                    <a:effectLst/>
                    <a:latin typeface="+mn-lt"/>
                    <a:ea typeface="+mn-ea"/>
                    <a:cs typeface="+mn-cs"/>
                  </a:rPr>
                  <a:t>，以及</a:t>
                </a:r>
                <a:r>
                  <a:rPr lang="en-US" altLang="zh-CN" sz="1200" i="0" kern="1200">
                    <a:solidFill>
                      <a:schemeClr val="tx1"/>
                    </a:solidFill>
                    <a:effectLst/>
                    <a:latin typeface="+mn-lt"/>
                    <a:ea typeface="+mn-ea"/>
                    <a:cs typeface="+mn-cs"/>
                  </a:rPr>
                  <a:t>𝑉</a:t>
                </a:r>
                <a:r>
                  <a:rPr lang="zh-CN" altLang="zh-CN" sz="1200" kern="1200" dirty="0">
                    <a:solidFill>
                      <a:schemeClr val="tx1"/>
                    </a:solidFill>
                    <a:effectLst/>
                    <a:latin typeface="+mn-lt"/>
                    <a:ea typeface="+mn-ea"/>
                    <a:cs typeface="+mn-cs"/>
                  </a:rPr>
                  <a:t>中已达到</a:t>
                </a:r>
                <a:r>
                  <a:rPr lang="en-US" altLang="zh-CN" sz="1200" kern="1200" dirty="0">
                    <a:solidFill>
                      <a:schemeClr val="tx1"/>
                    </a:solidFill>
                    <a:effectLst/>
                    <a:latin typeface="+mn-lt"/>
                    <a:ea typeface="+mn-ea"/>
                    <a:cs typeface="+mn-cs"/>
                  </a:rPr>
                  <a:t>PREPARED</a:t>
                </a:r>
                <a:r>
                  <a:rPr lang="zh-CN" altLang="zh-CN" sz="1200" kern="1200" dirty="0">
                    <a:solidFill>
                      <a:schemeClr val="tx1"/>
                    </a:solidFill>
                    <a:effectLst/>
                    <a:latin typeface="+mn-lt"/>
                    <a:ea typeface="+mn-ea"/>
                    <a:cs typeface="+mn-cs"/>
                  </a:rPr>
                  <a:t>状态消息的最大编号</a:t>
                </a:r>
                <a:r>
                  <a:rPr lang="en-US" altLang="zh-CN" sz="1200" i="0" kern="1200">
                    <a:solidFill>
                      <a:schemeClr val="tx1"/>
                    </a:solidFill>
                    <a:effectLst/>
                    <a:latin typeface="+mn-lt"/>
                    <a:ea typeface="+mn-ea"/>
                    <a:cs typeface="+mn-cs"/>
                  </a:rPr>
                  <a:t>𝑚𝑎𝑥</a:t>
                </a:r>
                <a:r>
                  <a:rPr lang="zh-CN" altLang="zh-CN" sz="1200" kern="1200" dirty="0">
                    <a:solidFill>
                      <a:schemeClr val="tx1"/>
                    </a:solidFill>
                    <a:effectLst/>
                    <a:latin typeface="+mn-lt"/>
                    <a:ea typeface="+mn-ea"/>
                    <a:cs typeface="+mn-cs"/>
                  </a:rPr>
                  <a:t>。</a:t>
                </a:r>
              </a:p>
              <a:p>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）对于</a:t>
                </a:r>
                <a:r>
                  <a:rPr lang="en-US" altLang="zh-CN" sz="1200" i="0" kern="1200">
                    <a:solidFill>
                      <a:schemeClr val="tx1"/>
                    </a:solidFill>
                    <a:effectLst/>
                    <a:latin typeface="+mn-lt"/>
                    <a:ea typeface="+mn-ea"/>
                    <a:cs typeface="+mn-cs"/>
                  </a:rPr>
                  <a:t>𝑚𝑖𝑛</a:t>
                </a:r>
                <a:r>
                  <a:rPr lang="zh-CN" altLang="zh-CN" sz="1200" kern="1200" dirty="0">
                    <a:solidFill>
                      <a:schemeClr val="tx1"/>
                    </a:solidFill>
                    <a:effectLst/>
                    <a:latin typeface="+mn-lt"/>
                    <a:ea typeface="+mn-ea"/>
                    <a:cs typeface="+mn-cs"/>
                  </a:rPr>
                  <a:t>和</a:t>
                </a:r>
                <a:r>
                  <a:rPr lang="en-US" altLang="zh-CN" sz="1200" i="0" kern="1200">
                    <a:solidFill>
                      <a:schemeClr val="tx1"/>
                    </a:solidFill>
                    <a:effectLst/>
                    <a:latin typeface="+mn-lt"/>
                    <a:ea typeface="+mn-ea"/>
                    <a:cs typeface="+mn-cs"/>
                  </a:rPr>
                  <a:t>𝑚𝑎𝑥</a:t>
                </a:r>
                <a:r>
                  <a:rPr lang="zh-CN" altLang="zh-CN" sz="1200" kern="1200" dirty="0">
                    <a:solidFill>
                      <a:schemeClr val="tx1"/>
                    </a:solidFill>
                    <a:effectLst/>
                    <a:latin typeface="+mn-lt"/>
                    <a:ea typeface="+mn-ea"/>
                    <a:cs typeface="+mn-cs"/>
                  </a:rPr>
                  <a:t>之间的每个序号</a:t>
                </a:r>
                <a:r>
                  <a:rPr lang="en-US" altLang="zh-CN" sz="1200" i="0" kern="1200">
                    <a:solidFill>
                      <a:schemeClr val="tx1"/>
                    </a:solidFill>
                    <a:effectLst/>
                    <a:latin typeface="+mn-lt"/>
                    <a:ea typeface="+mn-ea"/>
                    <a:cs typeface="+mn-cs"/>
                  </a:rPr>
                  <a:t>𝑛</a:t>
                </a:r>
                <a:r>
                  <a:rPr lang="zh-CN" altLang="zh-CN" sz="1200" kern="1200" dirty="0">
                    <a:solidFill>
                      <a:schemeClr val="tx1"/>
                    </a:solidFill>
                    <a:effectLst/>
                    <a:latin typeface="+mn-lt"/>
                    <a:ea typeface="+mn-ea"/>
                    <a:cs typeface="+mn-cs"/>
                  </a:rPr>
                  <a:t>，如果存在某个</a:t>
                </a:r>
                <a:r>
                  <a:rPr lang="en-US" altLang="zh-CN" sz="1200" i="0" kern="1200">
                    <a:solidFill>
                      <a:schemeClr val="tx1"/>
                    </a:solidFill>
                    <a:effectLst/>
                    <a:latin typeface="+mn-lt"/>
                    <a:ea typeface="+mn-ea"/>
                    <a:cs typeface="+mn-cs"/>
                  </a:rPr>
                  <a:t>𝑃</a:t>
                </a:r>
                <a:r>
                  <a:rPr lang="zh-CN" altLang="zh-CN" sz="1200" kern="1200" dirty="0">
                    <a:solidFill>
                      <a:schemeClr val="tx1"/>
                    </a:solidFill>
                    <a:effectLst/>
                    <a:latin typeface="+mn-lt"/>
                    <a:ea typeface="+mn-ea"/>
                    <a:cs typeface="+mn-cs"/>
                  </a:rPr>
                  <a:t>中，则创建</a:t>
                </a:r>
                <a:r>
                  <a:rPr lang="en-US" altLang="zh-CN" sz="1200" i="0" kern="1200">
                    <a:solidFill>
                      <a:schemeClr val="tx1"/>
                    </a:solidFill>
                    <a:effectLst/>
                    <a:latin typeface="+mn-lt"/>
                    <a:ea typeface="+mn-ea"/>
                    <a:cs typeface="+mn-cs"/>
                  </a:rPr>
                  <a:t>&lt;&lt;𝑃𝑅𝐸−𝑃𝑅𝐸𝑃𝐴𝑅𝐸, 𝑣+1, 𝑛, 𝑑&gt;, 𝑚&gt;</a:t>
                </a:r>
                <a:r>
                  <a:rPr lang="zh-CN" altLang="zh-CN" sz="1200" kern="1200" dirty="0">
                    <a:solidFill>
                      <a:schemeClr val="tx1"/>
                    </a:solidFill>
                    <a:effectLst/>
                    <a:latin typeface="+mn-lt"/>
                    <a:ea typeface="+mn-ea"/>
                    <a:cs typeface="+mn-cs"/>
                  </a:rPr>
                  <a:t>消息；否则，则创建一个空的</a:t>
                </a:r>
                <a:r>
                  <a:rPr lang="en-US" altLang="zh-CN" sz="1200" kern="1200" dirty="0">
                    <a:solidFill>
                      <a:schemeClr val="tx1"/>
                    </a:solidFill>
                    <a:effectLst/>
                    <a:latin typeface="+mn-lt"/>
                    <a:ea typeface="+mn-ea"/>
                    <a:cs typeface="+mn-cs"/>
                  </a:rPr>
                  <a:t>PRE-PREPARE</a:t>
                </a:r>
                <a:r>
                  <a:rPr lang="zh-CN" altLang="zh-CN" sz="1200" kern="1200" dirty="0">
                    <a:solidFill>
                      <a:schemeClr val="tx1"/>
                    </a:solidFill>
                    <a:effectLst/>
                    <a:latin typeface="+mn-lt"/>
                    <a:ea typeface="+mn-ea"/>
                    <a:cs typeface="+mn-cs"/>
                  </a:rPr>
                  <a:t>消息</a:t>
                </a:r>
                <a:r>
                  <a:rPr lang="en-US" altLang="zh-CN" sz="1200" i="0" kern="1200">
                    <a:solidFill>
                      <a:schemeClr val="tx1"/>
                    </a:solidFill>
                    <a:effectLst/>
                    <a:latin typeface="+mn-lt"/>
                    <a:ea typeface="+mn-ea"/>
                    <a:cs typeface="+mn-cs"/>
                  </a:rPr>
                  <a:t>&lt;&lt;𝑃𝑅𝐸−𝑃𝑅𝐸𝑃𝐴𝑅𝐸, 𝑣+1, 𝑛, 𝑑(𝑛𝑢𝑙𝑙)&gt;, 𝑚(𝑛𝑢𝑙𝑙)&gt;</a:t>
                </a:r>
                <a:r>
                  <a:rPr lang="zh-CN" altLang="zh-CN" sz="1200" kern="1200" dirty="0">
                    <a:solidFill>
                      <a:schemeClr val="tx1"/>
                    </a:solidFill>
                    <a:effectLst/>
                    <a:latin typeface="+mn-lt"/>
                    <a:ea typeface="+mn-ea"/>
                    <a:cs typeface="+mn-cs"/>
                  </a:rPr>
                  <a:t>，其中</a:t>
                </a:r>
                <a:r>
                  <a:rPr lang="en-US" altLang="zh-CN" sz="1200" i="0" kern="1200">
                    <a:solidFill>
                      <a:schemeClr val="tx1"/>
                    </a:solidFill>
                    <a:effectLst/>
                    <a:latin typeface="+mn-lt"/>
                    <a:ea typeface="+mn-ea"/>
                    <a:cs typeface="+mn-cs"/>
                  </a:rPr>
                  <a:t>𝑑(𝑛𝑢𝑙𝑙)</a:t>
                </a:r>
                <a:r>
                  <a:rPr lang="zh-CN" altLang="zh-CN" sz="1200" kern="1200" dirty="0">
                    <a:solidFill>
                      <a:schemeClr val="tx1"/>
                    </a:solidFill>
                    <a:effectLst/>
                    <a:latin typeface="+mn-lt"/>
                    <a:ea typeface="+mn-ea"/>
                    <a:cs typeface="+mn-cs"/>
                  </a:rPr>
                  <a:t>为空消息摘要，</a:t>
                </a:r>
                <a:r>
                  <a:rPr lang="en-US" altLang="zh-CN" sz="1200" i="0" kern="1200">
                    <a:solidFill>
                      <a:schemeClr val="tx1"/>
                    </a:solidFill>
                    <a:effectLst/>
                    <a:latin typeface="+mn-lt"/>
                    <a:ea typeface="+mn-ea"/>
                    <a:cs typeface="+mn-cs"/>
                  </a:rPr>
                  <a:t>𝑚</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𝑛𝑢𝑙𝑙)</a:t>
                </a:r>
                <a:r>
                  <a:rPr lang="zh-CN" altLang="zh-CN" sz="1200" kern="1200" dirty="0">
                    <a:solidFill>
                      <a:schemeClr val="tx1"/>
                    </a:solidFill>
                    <a:effectLst/>
                    <a:latin typeface="+mn-lt"/>
                    <a:ea typeface="+mn-ea"/>
                    <a:cs typeface="+mn-cs"/>
                  </a:rPr>
                  <a:t>为空消息。</a:t>
                </a:r>
              </a:p>
            </p:txBody>
          </p:sp>
        </mc:Fallback>
      </mc:AlternateContent>
      <p:sp>
        <p:nvSpPr>
          <p:cNvPr id="4" name="灯片编号占位符 3"/>
          <p:cNvSpPr>
            <a:spLocks noGrp="1"/>
          </p:cNvSpPr>
          <p:nvPr>
            <p:ph type="sldNum" sz="quarter" idx="5"/>
          </p:nvPr>
        </p:nvSpPr>
        <p:spPr/>
        <p:txBody>
          <a:bodyPr/>
          <a:lstStyle/>
          <a:p>
            <a:fld id="{840B8802-914A-7C41-BC77-CC54DEE99EEF}" type="slidenum">
              <a:rPr kumimoji="1" lang="zh-CN" altLang="en-US" smtClean="0"/>
              <a:t>33</a:t>
            </a:fld>
            <a:endParaRPr kumimoji="1" lang="zh-CN" altLang="en-US"/>
          </a:p>
        </p:txBody>
      </p:sp>
    </p:spTree>
    <p:extLst>
      <p:ext uri="{BB962C8B-B14F-4D97-AF65-F5344CB8AC3E}">
        <p14:creationId xmlns:p14="http://schemas.microsoft.com/office/powerpoint/2010/main" val="143078483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endParaRPr lang="en-US" altLang="zh-CN" sz="1200" kern="1200" dirty="0">
                  <a:solidFill>
                    <a:schemeClr val="tx1"/>
                  </a:solidFill>
                  <a:effectLst/>
                  <a:latin typeface="+mn-lt"/>
                  <a:ea typeface="+mn-ea"/>
                  <a:cs typeface="+mn-cs"/>
                </a:endParaRPr>
              </a:p>
            </p:txBody>
          </p:sp>
        </mc:Choice>
        <mc:Fallback xmlns="">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注意，当主节点</a:t>
                </a:r>
                <a:r>
                  <a:rPr lang="en-US" altLang="zh-CN" sz="1200" i="0" kern="1200">
                    <a:solidFill>
                      <a:schemeClr val="tx1"/>
                    </a:solidFill>
                    <a:effectLst/>
                    <a:latin typeface="+mn-lt"/>
                    <a:ea typeface="+mn-ea"/>
                    <a:cs typeface="+mn-cs"/>
                  </a:rPr>
                  <a:t>𝑖</a:t>
                </a:r>
                <a:r>
                  <a:rPr lang="zh-CN" altLang="zh-CN" sz="1200" kern="1200" dirty="0">
                    <a:solidFill>
                      <a:schemeClr val="tx1"/>
                    </a:solidFill>
                    <a:effectLst/>
                    <a:latin typeface="+mn-lt"/>
                    <a:ea typeface="+mn-ea"/>
                    <a:cs typeface="+mn-cs"/>
                  </a:rPr>
                  <a:t>收到</a:t>
                </a:r>
                <a:r>
                  <a:rPr lang="en-US" altLang="zh-CN" sz="1200" i="0" kern="1200">
                    <a:solidFill>
                      <a:schemeClr val="tx1"/>
                    </a:solidFill>
                    <a:effectLst/>
                    <a:latin typeface="+mn-lt"/>
                    <a:ea typeface="+mn-ea"/>
                    <a:cs typeface="+mn-cs"/>
                  </a:rPr>
                  <a:t>2𝐹+1</a:t>
                </a:r>
                <a:r>
                  <a:rPr lang="zh-CN" altLang="zh-CN" sz="1200" kern="1200" dirty="0">
                    <a:solidFill>
                      <a:schemeClr val="tx1"/>
                    </a:solidFill>
                    <a:effectLst/>
                    <a:latin typeface="+mn-lt"/>
                    <a:ea typeface="+mn-ea"/>
                    <a:cs typeface="+mn-cs"/>
                  </a:rPr>
                  <a:t>个</a:t>
                </a:r>
                <a:r>
                  <a:rPr lang="en-US" altLang="zh-CN" sz="1200" i="0" kern="1200">
                    <a:solidFill>
                      <a:schemeClr val="tx1"/>
                    </a:solidFill>
                    <a:effectLst/>
                    <a:latin typeface="+mn-lt"/>
                    <a:ea typeface="+mn-ea"/>
                    <a:cs typeface="+mn-cs"/>
                  </a:rPr>
                  <a:t>𝑉𝐼𝐸𝑊−𝐶𝐻𝐴𝑁𝐺𝐸</a:t>
                </a:r>
                <a:r>
                  <a:rPr lang="zh-CN" altLang="zh-CN" sz="1200" kern="1200" dirty="0">
                    <a:solidFill>
                      <a:schemeClr val="tx1"/>
                    </a:solidFill>
                    <a:effectLst/>
                    <a:latin typeface="+mn-lt"/>
                    <a:ea typeface="+mn-ea"/>
                    <a:cs typeface="+mn-cs"/>
                  </a:rPr>
                  <a:t>消息，可以确认高度为</a:t>
                </a:r>
                <a:r>
                  <a:rPr lang="en-US" altLang="zh-CN" sz="1200" i="0" kern="1200">
                    <a:solidFill>
                      <a:schemeClr val="tx1"/>
                    </a:solidFill>
                    <a:effectLst/>
                    <a:latin typeface="+mn-lt"/>
                    <a:ea typeface="+mn-ea"/>
                    <a:cs typeface="+mn-cs"/>
                  </a:rPr>
                  <a:t>𝑛</a:t>
                </a:r>
                <a:r>
                  <a:rPr lang="zh-CN" altLang="zh-CN" sz="1200" kern="1200" dirty="0">
                    <a:solidFill>
                      <a:schemeClr val="tx1"/>
                    </a:solidFill>
                    <a:effectLst/>
                    <a:latin typeface="+mn-lt"/>
                    <a:ea typeface="+mn-ea"/>
                    <a:cs typeface="+mn-cs"/>
                  </a:rPr>
                  <a:t>的稳定检查点之间的消息在视图切换的过程中不会丢失，但是当前检查点之后，下一个检查点之前的已经达到</a:t>
                </a:r>
                <a:r>
                  <a:rPr lang="en-US" altLang="zh-CN" sz="1200" kern="1200" dirty="0">
                    <a:solidFill>
                      <a:schemeClr val="tx1"/>
                    </a:solidFill>
                    <a:effectLst/>
                    <a:latin typeface="+mn-lt"/>
                    <a:ea typeface="+mn-ea"/>
                    <a:cs typeface="+mn-cs"/>
                  </a:rPr>
                  <a:t>PREPARED</a:t>
                </a:r>
                <a:r>
                  <a:rPr lang="zh-CN" altLang="zh-CN" sz="1200" kern="1200" dirty="0">
                    <a:solidFill>
                      <a:schemeClr val="tx1"/>
                    </a:solidFill>
                    <a:effectLst/>
                    <a:latin typeface="+mn-lt"/>
                    <a:ea typeface="+mn-ea"/>
                    <a:cs typeface="+mn-cs"/>
                  </a:rPr>
                  <a:t>状态的消息会丢失。因此，新视图的主节点会把旧视图中已经达到</a:t>
                </a:r>
                <a:r>
                  <a:rPr lang="en-US" altLang="zh-CN" sz="1200" kern="1200" dirty="0">
                    <a:solidFill>
                      <a:schemeClr val="tx1"/>
                    </a:solidFill>
                    <a:effectLst/>
                    <a:latin typeface="+mn-lt"/>
                    <a:ea typeface="+mn-ea"/>
                    <a:cs typeface="+mn-cs"/>
                  </a:rPr>
                  <a:t>PREPARED</a:t>
                </a:r>
                <a:r>
                  <a:rPr lang="zh-CN" altLang="zh-CN" sz="1200" kern="1200" dirty="0">
                    <a:solidFill>
                      <a:schemeClr val="tx1"/>
                    </a:solidFill>
                    <a:effectLst/>
                    <a:latin typeface="+mn-lt"/>
                    <a:ea typeface="+mn-ea"/>
                    <a:cs typeface="+mn-cs"/>
                  </a:rPr>
                  <a:t>状态的消息转换为</a:t>
                </a:r>
                <a:r>
                  <a:rPr lang="en-US" altLang="zh-CN" sz="1200" kern="1200" dirty="0">
                    <a:solidFill>
                      <a:schemeClr val="tx1"/>
                    </a:solidFill>
                    <a:effectLst/>
                    <a:latin typeface="+mn-lt"/>
                    <a:ea typeface="+mn-ea"/>
                    <a:cs typeface="+mn-cs"/>
                  </a:rPr>
                  <a:t>PRE-PREPARE</a:t>
                </a:r>
                <a:r>
                  <a:rPr lang="zh-CN" altLang="zh-CN" sz="1200" kern="1200" dirty="0">
                    <a:solidFill>
                      <a:schemeClr val="tx1"/>
                    </a:solidFill>
                    <a:effectLst/>
                    <a:latin typeface="+mn-lt"/>
                    <a:ea typeface="+mn-ea"/>
                    <a:cs typeface="+mn-cs"/>
                  </a:rPr>
                  <a:t>消息，重新广播到网络中了。</a:t>
                </a:r>
                <a:r>
                  <a:rPr lang="en-US" altLang="zh-CN" sz="1200" kern="1200" dirty="0">
                    <a:solidFill>
                      <a:schemeClr val="tx1"/>
                    </a:solidFill>
                    <a:effectLst/>
                    <a:latin typeface="+mn-lt"/>
                    <a:ea typeface="+mn-ea"/>
                    <a:cs typeface="+mn-cs"/>
                  </a:rPr>
                  <a:t>PRE-PREPARE</a:t>
                </a:r>
                <a:r>
                  <a:rPr lang="zh-CN" altLang="zh-CN" sz="1200" kern="1200" dirty="0">
                    <a:solidFill>
                      <a:schemeClr val="tx1"/>
                    </a:solidFill>
                    <a:effectLst/>
                    <a:latin typeface="+mn-lt"/>
                    <a:ea typeface="+mn-ea"/>
                    <a:cs typeface="+mn-cs"/>
                  </a:rPr>
                  <a:t>消息集合的选取规则如下所示：</a:t>
                </a:r>
              </a:p>
              <a:p>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）选取</a:t>
                </a:r>
                <a:r>
                  <a:rPr lang="en-US" altLang="zh-CN" sz="1200" i="0" kern="1200">
                    <a:solidFill>
                      <a:schemeClr val="tx1"/>
                    </a:solidFill>
                    <a:effectLst/>
                    <a:latin typeface="+mn-lt"/>
                    <a:ea typeface="+mn-ea"/>
                    <a:cs typeface="+mn-cs"/>
                  </a:rPr>
                  <a:t>𝑉</a:t>
                </a:r>
                <a:r>
                  <a:rPr lang="zh-CN" altLang="zh-CN" sz="1200" kern="1200" dirty="0">
                    <a:solidFill>
                      <a:schemeClr val="tx1"/>
                    </a:solidFill>
                    <a:effectLst/>
                    <a:latin typeface="+mn-lt"/>
                    <a:ea typeface="+mn-ea"/>
                    <a:cs typeface="+mn-cs"/>
                  </a:rPr>
                  <a:t>中高度最低的稳定检查点的编号</a:t>
                </a:r>
                <a:r>
                  <a:rPr lang="en-US" altLang="zh-CN" sz="1200" i="0" kern="1200">
                    <a:solidFill>
                      <a:schemeClr val="tx1"/>
                    </a:solidFill>
                    <a:effectLst/>
                    <a:latin typeface="+mn-lt"/>
                    <a:ea typeface="+mn-ea"/>
                    <a:cs typeface="+mn-cs"/>
                  </a:rPr>
                  <a:t>𝑚𝑖𝑛</a:t>
                </a:r>
                <a:r>
                  <a:rPr lang="zh-CN" altLang="zh-CN" sz="1200" kern="1200" dirty="0">
                    <a:solidFill>
                      <a:schemeClr val="tx1"/>
                    </a:solidFill>
                    <a:effectLst/>
                    <a:latin typeface="+mn-lt"/>
                    <a:ea typeface="+mn-ea"/>
                    <a:cs typeface="+mn-cs"/>
                  </a:rPr>
                  <a:t>，以及</a:t>
                </a:r>
                <a:r>
                  <a:rPr lang="en-US" altLang="zh-CN" sz="1200" i="0" kern="1200">
                    <a:solidFill>
                      <a:schemeClr val="tx1"/>
                    </a:solidFill>
                    <a:effectLst/>
                    <a:latin typeface="+mn-lt"/>
                    <a:ea typeface="+mn-ea"/>
                    <a:cs typeface="+mn-cs"/>
                  </a:rPr>
                  <a:t>𝑉</a:t>
                </a:r>
                <a:r>
                  <a:rPr lang="zh-CN" altLang="zh-CN" sz="1200" kern="1200" dirty="0">
                    <a:solidFill>
                      <a:schemeClr val="tx1"/>
                    </a:solidFill>
                    <a:effectLst/>
                    <a:latin typeface="+mn-lt"/>
                    <a:ea typeface="+mn-ea"/>
                    <a:cs typeface="+mn-cs"/>
                  </a:rPr>
                  <a:t>中已达到</a:t>
                </a:r>
                <a:r>
                  <a:rPr lang="en-US" altLang="zh-CN" sz="1200" kern="1200" dirty="0">
                    <a:solidFill>
                      <a:schemeClr val="tx1"/>
                    </a:solidFill>
                    <a:effectLst/>
                    <a:latin typeface="+mn-lt"/>
                    <a:ea typeface="+mn-ea"/>
                    <a:cs typeface="+mn-cs"/>
                  </a:rPr>
                  <a:t>PREPARED</a:t>
                </a:r>
                <a:r>
                  <a:rPr lang="zh-CN" altLang="zh-CN" sz="1200" kern="1200" dirty="0">
                    <a:solidFill>
                      <a:schemeClr val="tx1"/>
                    </a:solidFill>
                    <a:effectLst/>
                    <a:latin typeface="+mn-lt"/>
                    <a:ea typeface="+mn-ea"/>
                    <a:cs typeface="+mn-cs"/>
                  </a:rPr>
                  <a:t>状态消息的最大编号</a:t>
                </a:r>
                <a:r>
                  <a:rPr lang="en-US" altLang="zh-CN" sz="1200" i="0" kern="1200">
                    <a:solidFill>
                      <a:schemeClr val="tx1"/>
                    </a:solidFill>
                    <a:effectLst/>
                    <a:latin typeface="+mn-lt"/>
                    <a:ea typeface="+mn-ea"/>
                    <a:cs typeface="+mn-cs"/>
                  </a:rPr>
                  <a:t>𝑚𝑎𝑥</a:t>
                </a:r>
                <a:r>
                  <a:rPr lang="zh-CN" altLang="zh-CN" sz="1200" kern="1200" dirty="0">
                    <a:solidFill>
                      <a:schemeClr val="tx1"/>
                    </a:solidFill>
                    <a:effectLst/>
                    <a:latin typeface="+mn-lt"/>
                    <a:ea typeface="+mn-ea"/>
                    <a:cs typeface="+mn-cs"/>
                  </a:rPr>
                  <a:t>。</a:t>
                </a:r>
              </a:p>
              <a:p>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）对于</a:t>
                </a:r>
                <a:r>
                  <a:rPr lang="en-US" altLang="zh-CN" sz="1200" i="0" kern="1200">
                    <a:solidFill>
                      <a:schemeClr val="tx1"/>
                    </a:solidFill>
                    <a:effectLst/>
                    <a:latin typeface="+mn-lt"/>
                    <a:ea typeface="+mn-ea"/>
                    <a:cs typeface="+mn-cs"/>
                  </a:rPr>
                  <a:t>𝑚𝑖𝑛</a:t>
                </a:r>
                <a:r>
                  <a:rPr lang="zh-CN" altLang="zh-CN" sz="1200" kern="1200" dirty="0">
                    <a:solidFill>
                      <a:schemeClr val="tx1"/>
                    </a:solidFill>
                    <a:effectLst/>
                    <a:latin typeface="+mn-lt"/>
                    <a:ea typeface="+mn-ea"/>
                    <a:cs typeface="+mn-cs"/>
                  </a:rPr>
                  <a:t>和</a:t>
                </a:r>
                <a:r>
                  <a:rPr lang="en-US" altLang="zh-CN" sz="1200" i="0" kern="1200">
                    <a:solidFill>
                      <a:schemeClr val="tx1"/>
                    </a:solidFill>
                    <a:effectLst/>
                    <a:latin typeface="+mn-lt"/>
                    <a:ea typeface="+mn-ea"/>
                    <a:cs typeface="+mn-cs"/>
                  </a:rPr>
                  <a:t>𝑚𝑎𝑥</a:t>
                </a:r>
                <a:r>
                  <a:rPr lang="zh-CN" altLang="zh-CN" sz="1200" kern="1200" dirty="0">
                    <a:solidFill>
                      <a:schemeClr val="tx1"/>
                    </a:solidFill>
                    <a:effectLst/>
                    <a:latin typeface="+mn-lt"/>
                    <a:ea typeface="+mn-ea"/>
                    <a:cs typeface="+mn-cs"/>
                  </a:rPr>
                  <a:t>之间的每个序号</a:t>
                </a:r>
                <a:r>
                  <a:rPr lang="en-US" altLang="zh-CN" sz="1200" i="0" kern="1200">
                    <a:solidFill>
                      <a:schemeClr val="tx1"/>
                    </a:solidFill>
                    <a:effectLst/>
                    <a:latin typeface="+mn-lt"/>
                    <a:ea typeface="+mn-ea"/>
                    <a:cs typeface="+mn-cs"/>
                  </a:rPr>
                  <a:t>𝑛</a:t>
                </a:r>
                <a:r>
                  <a:rPr lang="zh-CN" altLang="zh-CN" sz="1200" kern="1200" dirty="0">
                    <a:solidFill>
                      <a:schemeClr val="tx1"/>
                    </a:solidFill>
                    <a:effectLst/>
                    <a:latin typeface="+mn-lt"/>
                    <a:ea typeface="+mn-ea"/>
                    <a:cs typeface="+mn-cs"/>
                  </a:rPr>
                  <a:t>，如果存在某个</a:t>
                </a:r>
                <a:r>
                  <a:rPr lang="en-US" altLang="zh-CN" sz="1200" i="0" kern="1200">
                    <a:solidFill>
                      <a:schemeClr val="tx1"/>
                    </a:solidFill>
                    <a:effectLst/>
                    <a:latin typeface="+mn-lt"/>
                    <a:ea typeface="+mn-ea"/>
                    <a:cs typeface="+mn-cs"/>
                  </a:rPr>
                  <a:t>𝑃</a:t>
                </a:r>
                <a:r>
                  <a:rPr lang="zh-CN" altLang="zh-CN" sz="1200" kern="1200" dirty="0">
                    <a:solidFill>
                      <a:schemeClr val="tx1"/>
                    </a:solidFill>
                    <a:effectLst/>
                    <a:latin typeface="+mn-lt"/>
                    <a:ea typeface="+mn-ea"/>
                    <a:cs typeface="+mn-cs"/>
                  </a:rPr>
                  <a:t>中，则创建</a:t>
                </a:r>
                <a:r>
                  <a:rPr lang="en-US" altLang="zh-CN" sz="1200" i="0" kern="1200">
                    <a:solidFill>
                      <a:schemeClr val="tx1"/>
                    </a:solidFill>
                    <a:effectLst/>
                    <a:latin typeface="+mn-lt"/>
                    <a:ea typeface="+mn-ea"/>
                    <a:cs typeface="+mn-cs"/>
                  </a:rPr>
                  <a:t>&lt;&lt;𝑃𝑅𝐸−𝑃𝑅𝐸𝑃𝐴𝑅𝐸, 𝑣+1, 𝑛, 𝑑&gt;, 𝑚&gt;</a:t>
                </a:r>
                <a:r>
                  <a:rPr lang="zh-CN" altLang="zh-CN" sz="1200" kern="1200" dirty="0">
                    <a:solidFill>
                      <a:schemeClr val="tx1"/>
                    </a:solidFill>
                    <a:effectLst/>
                    <a:latin typeface="+mn-lt"/>
                    <a:ea typeface="+mn-ea"/>
                    <a:cs typeface="+mn-cs"/>
                  </a:rPr>
                  <a:t>消息；否则，则创建一个空的</a:t>
                </a:r>
                <a:r>
                  <a:rPr lang="en-US" altLang="zh-CN" sz="1200" kern="1200" dirty="0">
                    <a:solidFill>
                      <a:schemeClr val="tx1"/>
                    </a:solidFill>
                    <a:effectLst/>
                    <a:latin typeface="+mn-lt"/>
                    <a:ea typeface="+mn-ea"/>
                    <a:cs typeface="+mn-cs"/>
                  </a:rPr>
                  <a:t>PRE-PREPARE</a:t>
                </a:r>
                <a:r>
                  <a:rPr lang="zh-CN" altLang="zh-CN" sz="1200" kern="1200" dirty="0">
                    <a:solidFill>
                      <a:schemeClr val="tx1"/>
                    </a:solidFill>
                    <a:effectLst/>
                    <a:latin typeface="+mn-lt"/>
                    <a:ea typeface="+mn-ea"/>
                    <a:cs typeface="+mn-cs"/>
                  </a:rPr>
                  <a:t>消息</a:t>
                </a:r>
                <a:r>
                  <a:rPr lang="en-US" altLang="zh-CN" sz="1200" i="0" kern="1200">
                    <a:solidFill>
                      <a:schemeClr val="tx1"/>
                    </a:solidFill>
                    <a:effectLst/>
                    <a:latin typeface="+mn-lt"/>
                    <a:ea typeface="+mn-ea"/>
                    <a:cs typeface="+mn-cs"/>
                  </a:rPr>
                  <a:t>&lt;&lt;𝑃𝑅𝐸−𝑃𝑅𝐸𝑃𝐴𝑅𝐸, 𝑣+1, 𝑛, 𝑑(𝑛𝑢𝑙𝑙)&gt;, 𝑚(𝑛𝑢𝑙𝑙)&gt;</a:t>
                </a:r>
                <a:r>
                  <a:rPr lang="zh-CN" altLang="zh-CN" sz="1200" kern="1200" dirty="0">
                    <a:solidFill>
                      <a:schemeClr val="tx1"/>
                    </a:solidFill>
                    <a:effectLst/>
                    <a:latin typeface="+mn-lt"/>
                    <a:ea typeface="+mn-ea"/>
                    <a:cs typeface="+mn-cs"/>
                  </a:rPr>
                  <a:t>，其中</a:t>
                </a:r>
                <a:r>
                  <a:rPr lang="en-US" altLang="zh-CN" sz="1200" i="0" kern="1200">
                    <a:solidFill>
                      <a:schemeClr val="tx1"/>
                    </a:solidFill>
                    <a:effectLst/>
                    <a:latin typeface="+mn-lt"/>
                    <a:ea typeface="+mn-ea"/>
                    <a:cs typeface="+mn-cs"/>
                  </a:rPr>
                  <a:t>𝑑(𝑛𝑢𝑙𝑙)</a:t>
                </a:r>
                <a:r>
                  <a:rPr lang="zh-CN" altLang="zh-CN" sz="1200" kern="1200" dirty="0">
                    <a:solidFill>
                      <a:schemeClr val="tx1"/>
                    </a:solidFill>
                    <a:effectLst/>
                    <a:latin typeface="+mn-lt"/>
                    <a:ea typeface="+mn-ea"/>
                    <a:cs typeface="+mn-cs"/>
                  </a:rPr>
                  <a:t>为空消息摘要，</a:t>
                </a:r>
                <a:r>
                  <a:rPr lang="en-US" altLang="zh-CN" sz="1200" i="0" kern="1200">
                    <a:solidFill>
                      <a:schemeClr val="tx1"/>
                    </a:solidFill>
                    <a:effectLst/>
                    <a:latin typeface="+mn-lt"/>
                    <a:ea typeface="+mn-ea"/>
                    <a:cs typeface="+mn-cs"/>
                  </a:rPr>
                  <a:t>𝑚</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𝑛𝑢𝑙𝑙)</a:t>
                </a:r>
                <a:r>
                  <a:rPr lang="zh-CN" altLang="zh-CN" sz="1200" kern="1200" dirty="0">
                    <a:solidFill>
                      <a:schemeClr val="tx1"/>
                    </a:solidFill>
                    <a:effectLst/>
                    <a:latin typeface="+mn-lt"/>
                    <a:ea typeface="+mn-ea"/>
                    <a:cs typeface="+mn-cs"/>
                  </a:rPr>
                  <a:t>为空消息。</a:t>
                </a:r>
              </a:p>
            </p:txBody>
          </p:sp>
        </mc:Fallback>
      </mc:AlternateContent>
      <p:sp>
        <p:nvSpPr>
          <p:cNvPr id="4" name="灯片编号占位符 3"/>
          <p:cNvSpPr>
            <a:spLocks noGrp="1"/>
          </p:cNvSpPr>
          <p:nvPr>
            <p:ph type="sldNum" sz="quarter" idx="5"/>
          </p:nvPr>
        </p:nvSpPr>
        <p:spPr/>
        <p:txBody>
          <a:bodyPr/>
          <a:lstStyle/>
          <a:p>
            <a:fld id="{840B8802-914A-7C41-BC77-CC54DEE99EEF}" type="slidenum">
              <a:rPr kumimoji="1" lang="zh-CN" altLang="en-US" smtClean="0"/>
              <a:t>34</a:t>
            </a:fld>
            <a:endParaRPr kumimoji="1" lang="zh-CN" altLang="en-US"/>
          </a:p>
        </p:txBody>
      </p:sp>
    </p:spTree>
    <p:extLst>
      <p:ext uri="{BB962C8B-B14F-4D97-AF65-F5344CB8AC3E}">
        <p14:creationId xmlns:p14="http://schemas.microsoft.com/office/powerpoint/2010/main" val="212375252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en-US" altLang="zh-CN" sz="1200" kern="1200" dirty="0">
                    <a:solidFill>
                      <a:schemeClr val="tx1"/>
                    </a:solidFill>
                    <a:effectLst/>
                    <a:latin typeface="+mn-lt"/>
                    <a:ea typeface="+mn-ea"/>
                    <a:cs typeface="+mn-cs"/>
                  </a:rPr>
                  <a:t>FNV</a:t>
                </a:r>
                <a:r>
                  <a:rPr lang="zh-CN" altLang="en-US" sz="1200" kern="1200" dirty="0">
                    <a:solidFill>
                      <a:schemeClr val="tx1"/>
                    </a:solidFill>
                    <a:effectLst/>
                    <a:latin typeface="+mn-lt"/>
                    <a:ea typeface="+mn-ea"/>
                    <a:cs typeface="+mn-cs"/>
                  </a:rPr>
                  <a:t>是一种非密码学的哈希函数，逻辑很简单，能快速对大量数据进行哈希并且保持较小的冲突率</a:t>
                </a:r>
                <a:endParaRPr lang="en-US" altLang="zh-CN" sz="1200" kern="1200" dirty="0">
                  <a:solidFill>
                    <a:schemeClr val="tx1"/>
                  </a:solidFill>
                  <a:effectLst/>
                  <a:latin typeface="+mn-lt"/>
                  <a:ea typeface="+mn-ea"/>
                  <a:cs typeface="+mn-cs"/>
                </a:endParaRPr>
              </a:p>
            </p:txBody>
          </p:sp>
        </mc:Choice>
        <mc:Fallback xmlns="">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注意，当主节点</a:t>
                </a:r>
                <a:r>
                  <a:rPr lang="en-US" altLang="zh-CN" sz="1200" i="0" kern="1200">
                    <a:solidFill>
                      <a:schemeClr val="tx1"/>
                    </a:solidFill>
                    <a:effectLst/>
                    <a:latin typeface="+mn-lt"/>
                    <a:ea typeface="+mn-ea"/>
                    <a:cs typeface="+mn-cs"/>
                  </a:rPr>
                  <a:t>𝑖</a:t>
                </a:r>
                <a:r>
                  <a:rPr lang="zh-CN" altLang="zh-CN" sz="1200" kern="1200" dirty="0">
                    <a:solidFill>
                      <a:schemeClr val="tx1"/>
                    </a:solidFill>
                    <a:effectLst/>
                    <a:latin typeface="+mn-lt"/>
                    <a:ea typeface="+mn-ea"/>
                    <a:cs typeface="+mn-cs"/>
                  </a:rPr>
                  <a:t>收到</a:t>
                </a:r>
                <a:r>
                  <a:rPr lang="en-US" altLang="zh-CN" sz="1200" i="0" kern="1200">
                    <a:solidFill>
                      <a:schemeClr val="tx1"/>
                    </a:solidFill>
                    <a:effectLst/>
                    <a:latin typeface="+mn-lt"/>
                    <a:ea typeface="+mn-ea"/>
                    <a:cs typeface="+mn-cs"/>
                  </a:rPr>
                  <a:t>2𝐹+1</a:t>
                </a:r>
                <a:r>
                  <a:rPr lang="zh-CN" altLang="zh-CN" sz="1200" kern="1200" dirty="0">
                    <a:solidFill>
                      <a:schemeClr val="tx1"/>
                    </a:solidFill>
                    <a:effectLst/>
                    <a:latin typeface="+mn-lt"/>
                    <a:ea typeface="+mn-ea"/>
                    <a:cs typeface="+mn-cs"/>
                  </a:rPr>
                  <a:t>个</a:t>
                </a:r>
                <a:r>
                  <a:rPr lang="en-US" altLang="zh-CN" sz="1200" i="0" kern="1200">
                    <a:solidFill>
                      <a:schemeClr val="tx1"/>
                    </a:solidFill>
                    <a:effectLst/>
                    <a:latin typeface="+mn-lt"/>
                    <a:ea typeface="+mn-ea"/>
                    <a:cs typeface="+mn-cs"/>
                  </a:rPr>
                  <a:t>𝑉𝐼𝐸𝑊−𝐶𝐻𝐴𝑁𝐺𝐸</a:t>
                </a:r>
                <a:r>
                  <a:rPr lang="zh-CN" altLang="zh-CN" sz="1200" kern="1200" dirty="0">
                    <a:solidFill>
                      <a:schemeClr val="tx1"/>
                    </a:solidFill>
                    <a:effectLst/>
                    <a:latin typeface="+mn-lt"/>
                    <a:ea typeface="+mn-ea"/>
                    <a:cs typeface="+mn-cs"/>
                  </a:rPr>
                  <a:t>消息，可以确认高度为</a:t>
                </a:r>
                <a:r>
                  <a:rPr lang="en-US" altLang="zh-CN" sz="1200" i="0" kern="1200">
                    <a:solidFill>
                      <a:schemeClr val="tx1"/>
                    </a:solidFill>
                    <a:effectLst/>
                    <a:latin typeface="+mn-lt"/>
                    <a:ea typeface="+mn-ea"/>
                    <a:cs typeface="+mn-cs"/>
                  </a:rPr>
                  <a:t>𝑛</a:t>
                </a:r>
                <a:r>
                  <a:rPr lang="zh-CN" altLang="zh-CN" sz="1200" kern="1200" dirty="0">
                    <a:solidFill>
                      <a:schemeClr val="tx1"/>
                    </a:solidFill>
                    <a:effectLst/>
                    <a:latin typeface="+mn-lt"/>
                    <a:ea typeface="+mn-ea"/>
                    <a:cs typeface="+mn-cs"/>
                  </a:rPr>
                  <a:t>的稳定检查点之间的消息在视图切换的过程中不会丢失，但是当前检查点之后，下一个检查点之前的已经达到</a:t>
                </a:r>
                <a:r>
                  <a:rPr lang="en-US" altLang="zh-CN" sz="1200" kern="1200" dirty="0">
                    <a:solidFill>
                      <a:schemeClr val="tx1"/>
                    </a:solidFill>
                    <a:effectLst/>
                    <a:latin typeface="+mn-lt"/>
                    <a:ea typeface="+mn-ea"/>
                    <a:cs typeface="+mn-cs"/>
                  </a:rPr>
                  <a:t>PREPARED</a:t>
                </a:r>
                <a:r>
                  <a:rPr lang="zh-CN" altLang="zh-CN" sz="1200" kern="1200" dirty="0">
                    <a:solidFill>
                      <a:schemeClr val="tx1"/>
                    </a:solidFill>
                    <a:effectLst/>
                    <a:latin typeface="+mn-lt"/>
                    <a:ea typeface="+mn-ea"/>
                    <a:cs typeface="+mn-cs"/>
                  </a:rPr>
                  <a:t>状态的消息会丢失。因此，新视图的主节点会把旧视图中已经达到</a:t>
                </a:r>
                <a:r>
                  <a:rPr lang="en-US" altLang="zh-CN" sz="1200" kern="1200" dirty="0">
                    <a:solidFill>
                      <a:schemeClr val="tx1"/>
                    </a:solidFill>
                    <a:effectLst/>
                    <a:latin typeface="+mn-lt"/>
                    <a:ea typeface="+mn-ea"/>
                    <a:cs typeface="+mn-cs"/>
                  </a:rPr>
                  <a:t>PREPARED</a:t>
                </a:r>
                <a:r>
                  <a:rPr lang="zh-CN" altLang="zh-CN" sz="1200" kern="1200" dirty="0">
                    <a:solidFill>
                      <a:schemeClr val="tx1"/>
                    </a:solidFill>
                    <a:effectLst/>
                    <a:latin typeface="+mn-lt"/>
                    <a:ea typeface="+mn-ea"/>
                    <a:cs typeface="+mn-cs"/>
                  </a:rPr>
                  <a:t>状态的消息转换为</a:t>
                </a:r>
                <a:r>
                  <a:rPr lang="en-US" altLang="zh-CN" sz="1200" kern="1200" dirty="0">
                    <a:solidFill>
                      <a:schemeClr val="tx1"/>
                    </a:solidFill>
                    <a:effectLst/>
                    <a:latin typeface="+mn-lt"/>
                    <a:ea typeface="+mn-ea"/>
                    <a:cs typeface="+mn-cs"/>
                  </a:rPr>
                  <a:t>PRE-PREPARE</a:t>
                </a:r>
                <a:r>
                  <a:rPr lang="zh-CN" altLang="zh-CN" sz="1200" kern="1200" dirty="0">
                    <a:solidFill>
                      <a:schemeClr val="tx1"/>
                    </a:solidFill>
                    <a:effectLst/>
                    <a:latin typeface="+mn-lt"/>
                    <a:ea typeface="+mn-ea"/>
                    <a:cs typeface="+mn-cs"/>
                  </a:rPr>
                  <a:t>消息，重新广播到网络中了。</a:t>
                </a:r>
                <a:r>
                  <a:rPr lang="en-US" altLang="zh-CN" sz="1200" kern="1200" dirty="0">
                    <a:solidFill>
                      <a:schemeClr val="tx1"/>
                    </a:solidFill>
                    <a:effectLst/>
                    <a:latin typeface="+mn-lt"/>
                    <a:ea typeface="+mn-ea"/>
                    <a:cs typeface="+mn-cs"/>
                  </a:rPr>
                  <a:t>PRE-PREPARE</a:t>
                </a:r>
                <a:r>
                  <a:rPr lang="zh-CN" altLang="zh-CN" sz="1200" kern="1200" dirty="0">
                    <a:solidFill>
                      <a:schemeClr val="tx1"/>
                    </a:solidFill>
                    <a:effectLst/>
                    <a:latin typeface="+mn-lt"/>
                    <a:ea typeface="+mn-ea"/>
                    <a:cs typeface="+mn-cs"/>
                  </a:rPr>
                  <a:t>消息集合的选取规则如下所示：</a:t>
                </a:r>
              </a:p>
              <a:p>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）选取</a:t>
                </a:r>
                <a:r>
                  <a:rPr lang="en-US" altLang="zh-CN" sz="1200" i="0" kern="1200">
                    <a:solidFill>
                      <a:schemeClr val="tx1"/>
                    </a:solidFill>
                    <a:effectLst/>
                    <a:latin typeface="+mn-lt"/>
                    <a:ea typeface="+mn-ea"/>
                    <a:cs typeface="+mn-cs"/>
                  </a:rPr>
                  <a:t>𝑉</a:t>
                </a:r>
                <a:r>
                  <a:rPr lang="zh-CN" altLang="zh-CN" sz="1200" kern="1200" dirty="0">
                    <a:solidFill>
                      <a:schemeClr val="tx1"/>
                    </a:solidFill>
                    <a:effectLst/>
                    <a:latin typeface="+mn-lt"/>
                    <a:ea typeface="+mn-ea"/>
                    <a:cs typeface="+mn-cs"/>
                  </a:rPr>
                  <a:t>中高度最低的稳定检查点的编号</a:t>
                </a:r>
                <a:r>
                  <a:rPr lang="en-US" altLang="zh-CN" sz="1200" i="0" kern="1200">
                    <a:solidFill>
                      <a:schemeClr val="tx1"/>
                    </a:solidFill>
                    <a:effectLst/>
                    <a:latin typeface="+mn-lt"/>
                    <a:ea typeface="+mn-ea"/>
                    <a:cs typeface="+mn-cs"/>
                  </a:rPr>
                  <a:t>𝑚𝑖𝑛</a:t>
                </a:r>
                <a:r>
                  <a:rPr lang="zh-CN" altLang="zh-CN" sz="1200" kern="1200" dirty="0">
                    <a:solidFill>
                      <a:schemeClr val="tx1"/>
                    </a:solidFill>
                    <a:effectLst/>
                    <a:latin typeface="+mn-lt"/>
                    <a:ea typeface="+mn-ea"/>
                    <a:cs typeface="+mn-cs"/>
                  </a:rPr>
                  <a:t>，以及</a:t>
                </a:r>
                <a:r>
                  <a:rPr lang="en-US" altLang="zh-CN" sz="1200" i="0" kern="1200">
                    <a:solidFill>
                      <a:schemeClr val="tx1"/>
                    </a:solidFill>
                    <a:effectLst/>
                    <a:latin typeface="+mn-lt"/>
                    <a:ea typeface="+mn-ea"/>
                    <a:cs typeface="+mn-cs"/>
                  </a:rPr>
                  <a:t>𝑉</a:t>
                </a:r>
                <a:r>
                  <a:rPr lang="zh-CN" altLang="zh-CN" sz="1200" kern="1200" dirty="0">
                    <a:solidFill>
                      <a:schemeClr val="tx1"/>
                    </a:solidFill>
                    <a:effectLst/>
                    <a:latin typeface="+mn-lt"/>
                    <a:ea typeface="+mn-ea"/>
                    <a:cs typeface="+mn-cs"/>
                  </a:rPr>
                  <a:t>中已达到</a:t>
                </a:r>
                <a:r>
                  <a:rPr lang="en-US" altLang="zh-CN" sz="1200" kern="1200" dirty="0">
                    <a:solidFill>
                      <a:schemeClr val="tx1"/>
                    </a:solidFill>
                    <a:effectLst/>
                    <a:latin typeface="+mn-lt"/>
                    <a:ea typeface="+mn-ea"/>
                    <a:cs typeface="+mn-cs"/>
                  </a:rPr>
                  <a:t>PREPARED</a:t>
                </a:r>
                <a:r>
                  <a:rPr lang="zh-CN" altLang="zh-CN" sz="1200" kern="1200" dirty="0">
                    <a:solidFill>
                      <a:schemeClr val="tx1"/>
                    </a:solidFill>
                    <a:effectLst/>
                    <a:latin typeface="+mn-lt"/>
                    <a:ea typeface="+mn-ea"/>
                    <a:cs typeface="+mn-cs"/>
                  </a:rPr>
                  <a:t>状态消息的最大编号</a:t>
                </a:r>
                <a:r>
                  <a:rPr lang="en-US" altLang="zh-CN" sz="1200" i="0" kern="1200">
                    <a:solidFill>
                      <a:schemeClr val="tx1"/>
                    </a:solidFill>
                    <a:effectLst/>
                    <a:latin typeface="+mn-lt"/>
                    <a:ea typeface="+mn-ea"/>
                    <a:cs typeface="+mn-cs"/>
                  </a:rPr>
                  <a:t>𝑚𝑎𝑥</a:t>
                </a:r>
                <a:r>
                  <a:rPr lang="zh-CN" altLang="zh-CN" sz="1200" kern="1200" dirty="0">
                    <a:solidFill>
                      <a:schemeClr val="tx1"/>
                    </a:solidFill>
                    <a:effectLst/>
                    <a:latin typeface="+mn-lt"/>
                    <a:ea typeface="+mn-ea"/>
                    <a:cs typeface="+mn-cs"/>
                  </a:rPr>
                  <a:t>。</a:t>
                </a:r>
              </a:p>
              <a:p>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）对于</a:t>
                </a:r>
                <a:r>
                  <a:rPr lang="en-US" altLang="zh-CN" sz="1200" i="0" kern="1200">
                    <a:solidFill>
                      <a:schemeClr val="tx1"/>
                    </a:solidFill>
                    <a:effectLst/>
                    <a:latin typeface="+mn-lt"/>
                    <a:ea typeface="+mn-ea"/>
                    <a:cs typeface="+mn-cs"/>
                  </a:rPr>
                  <a:t>𝑚𝑖𝑛</a:t>
                </a:r>
                <a:r>
                  <a:rPr lang="zh-CN" altLang="zh-CN" sz="1200" kern="1200" dirty="0">
                    <a:solidFill>
                      <a:schemeClr val="tx1"/>
                    </a:solidFill>
                    <a:effectLst/>
                    <a:latin typeface="+mn-lt"/>
                    <a:ea typeface="+mn-ea"/>
                    <a:cs typeface="+mn-cs"/>
                  </a:rPr>
                  <a:t>和</a:t>
                </a:r>
                <a:r>
                  <a:rPr lang="en-US" altLang="zh-CN" sz="1200" i="0" kern="1200">
                    <a:solidFill>
                      <a:schemeClr val="tx1"/>
                    </a:solidFill>
                    <a:effectLst/>
                    <a:latin typeface="+mn-lt"/>
                    <a:ea typeface="+mn-ea"/>
                    <a:cs typeface="+mn-cs"/>
                  </a:rPr>
                  <a:t>𝑚𝑎𝑥</a:t>
                </a:r>
                <a:r>
                  <a:rPr lang="zh-CN" altLang="zh-CN" sz="1200" kern="1200" dirty="0">
                    <a:solidFill>
                      <a:schemeClr val="tx1"/>
                    </a:solidFill>
                    <a:effectLst/>
                    <a:latin typeface="+mn-lt"/>
                    <a:ea typeface="+mn-ea"/>
                    <a:cs typeface="+mn-cs"/>
                  </a:rPr>
                  <a:t>之间的每个序号</a:t>
                </a:r>
                <a:r>
                  <a:rPr lang="en-US" altLang="zh-CN" sz="1200" i="0" kern="1200">
                    <a:solidFill>
                      <a:schemeClr val="tx1"/>
                    </a:solidFill>
                    <a:effectLst/>
                    <a:latin typeface="+mn-lt"/>
                    <a:ea typeface="+mn-ea"/>
                    <a:cs typeface="+mn-cs"/>
                  </a:rPr>
                  <a:t>𝑛</a:t>
                </a:r>
                <a:r>
                  <a:rPr lang="zh-CN" altLang="zh-CN" sz="1200" kern="1200" dirty="0">
                    <a:solidFill>
                      <a:schemeClr val="tx1"/>
                    </a:solidFill>
                    <a:effectLst/>
                    <a:latin typeface="+mn-lt"/>
                    <a:ea typeface="+mn-ea"/>
                    <a:cs typeface="+mn-cs"/>
                  </a:rPr>
                  <a:t>，如果存在某个</a:t>
                </a:r>
                <a:r>
                  <a:rPr lang="en-US" altLang="zh-CN" sz="1200" i="0" kern="1200">
                    <a:solidFill>
                      <a:schemeClr val="tx1"/>
                    </a:solidFill>
                    <a:effectLst/>
                    <a:latin typeface="+mn-lt"/>
                    <a:ea typeface="+mn-ea"/>
                    <a:cs typeface="+mn-cs"/>
                  </a:rPr>
                  <a:t>𝑃</a:t>
                </a:r>
                <a:r>
                  <a:rPr lang="zh-CN" altLang="zh-CN" sz="1200" kern="1200" dirty="0">
                    <a:solidFill>
                      <a:schemeClr val="tx1"/>
                    </a:solidFill>
                    <a:effectLst/>
                    <a:latin typeface="+mn-lt"/>
                    <a:ea typeface="+mn-ea"/>
                    <a:cs typeface="+mn-cs"/>
                  </a:rPr>
                  <a:t>中，则创建</a:t>
                </a:r>
                <a:r>
                  <a:rPr lang="en-US" altLang="zh-CN" sz="1200" i="0" kern="1200">
                    <a:solidFill>
                      <a:schemeClr val="tx1"/>
                    </a:solidFill>
                    <a:effectLst/>
                    <a:latin typeface="+mn-lt"/>
                    <a:ea typeface="+mn-ea"/>
                    <a:cs typeface="+mn-cs"/>
                  </a:rPr>
                  <a:t>&lt;&lt;𝑃𝑅𝐸−𝑃𝑅𝐸𝑃𝐴𝑅𝐸, 𝑣+1, 𝑛, 𝑑&gt;, 𝑚&gt;</a:t>
                </a:r>
                <a:r>
                  <a:rPr lang="zh-CN" altLang="zh-CN" sz="1200" kern="1200" dirty="0">
                    <a:solidFill>
                      <a:schemeClr val="tx1"/>
                    </a:solidFill>
                    <a:effectLst/>
                    <a:latin typeface="+mn-lt"/>
                    <a:ea typeface="+mn-ea"/>
                    <a:cs typeface="+mn-cs"/>
                  </a:rPr>
                  <a:t>消息；否则，则创建一个空的</a:t>
                </a:r>
                <a:r>
                  <a:rPr lang="en-US" altLang="zh-CN" sz="1200" kern="1200" dirty="0">
                    <a:solidFill>
                      <a:schemeClr val="tx1"/>
                    </a:solidFill>
                    <a:effectLst/>
                    <a:latin typeface="+mn-lt"/>
                    <a:ea typeface="+mn-ea"/>
                    <a:cs typeface="+mn-cs"/>
                  </a:rPr>
                  <a:t>PRE-PREPARE</a:t>
                </a:r>
                <a:r>
                  <a:rPr lang="zh-CN" altLang="zh-CN" sz="1200" kern="1200" dirty="0">
                    <a:solidFill>
                      <a:schemeClr val="tx1"/>
                    </a:solidFill>
                    <a:effectLst/>
                    <a:latin typeface="+mn-lt"/>
                    <a:ea typeface="+mn-ea"/>
                    <a:cs typeface="+mn-cs"/>
                  </a:rPr>
                  <a:t>消息</a:t>
                </a:r>
                <a:r>
                  <a:rPr lang="en-US" altLang="zh-CN" sz="1200" i="0" kern="1200">
                    <a:solidFill>
                      <a:schemeClr val="tx1"/>
                    </a:solidFill>
                    <a:effectLst/>
                    <a:latin typeface="+mn-lt"/>
                    <a:ea typeface="+mn-ea"/>
                    <a:cs typeface="+mn-cs"/>
                  </a:rPr>
                  <a:t>&lt;&lt;𝑃𝑅𝐸−𝑃𝑅𝐸𝑃𝐴𝑅𝐸, 𝑣+1, 𝑛, 𝑑(𝑛𝑢𝑙𝑙)&gt;, 𝑚(𝑛𝑢𝑙𝑙)&gt;</a:t>
                </a:r>
                <a:r>
                  <a:rPr lang="zh-CN" altLang="zh-CN" sz="1200" kern="1200" dirty="0">
                    <a:solidFill>
                      <a:schemeClr val="tx1"/>
                    </a:solidFill>
                    <a:effectLst/>
                    <a:latin typeface="+mn-lt"/>
                    <a:ea typeface="+mn-ea"/>
                    <a:cs typeface="+mn-cs"/>
                  </a:rPr>
                  <a:t>，其中</a:t>
                </a:r>
                <a:r>
                  <a:rPr lang="en-US" altLang="zh-CN" sz="1200" i="0" kern="1200">
                    <a:solidFill>
                      <a:schemeClr val="tx1"/>
                    </a:solidFill>
                    <a:effectLst/>
                    <a:latin typeface="+mn-lt"/>
                    <a:ea typeface="+mn-ea"/>
                    <a:cs typeface="+mn-cs"/>
                  </a:rPr>
                  <a:t>𝑑(𝑛𝑢𝑙𝑙)</a:t>
                </a:r>
                <a:r>
                  <a:rPr lang="zh-CN" altLang="zh-CN" sz="1200" kern="1200" dirty="0">
                    <a:solidFill>
                      <a:schemeClr val="tx1"/>
                    </a:solidFill>
                    <a:effectLst/>
                    <a:latin typeface="+mn-lt"/>
                    <a:ea typeface="+mn-ea"/>
                    <a:cs typeface="+mn-cs"/>
                  </a:rPr>
                  <a:t>为空消息摘要，</a:t>
                </a:r>
                <a:r>
                  <a:rPr lang="en-US" altLang="zh-CN" sz="1200" i="0" kern="1200">
                    <a:solidFill>
                      <a:schemeClr val="tx1"/>
                    </a:solidFill>
                    <a:effectLst/>
                    <a:latin typeface="+mn-lt"/>
                    <a:ea typeface="+mn-ea"/>
                    <a:cs typeface="+mn-cs"/>
                  </a:rPr>
                  <a:t>𝑚</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𝑛𝑢𝑙𝑙)</a:t>
                </a:r>
                <a:r>
                  <a:rPr lang="zh-CN" altLang="zh-CN" sz="1200" kern="1200" dirty="0">
                    <a:solidFill>
                      <a:schemeClr val="tx1"/>
                    </a:solidFill>
                    <a:effectLst/>
                    <a:latin typeface="+mn-lt"/>
                    <a:ea typeface="+mn-ea"/>
                    <a:cs typeface="+mn-cs"/>
                  </a:rPr>
                  <a:t>为空消息。</a:t>
                </a:r>
              </a:p>
            </p:txBody>
          </p:sp>
        </mc:Fallback>
      </mc:AlternateContent>
      <p:sp>
        <p:nvSpPr>
          <p:cNvPr id="4" name="灯片编号占位符 3"/>
          <p:cNvSpPr>
            <a:spLocks noGrp="1"/>
          </p:cNvSpPr>
          <p:nvPr>
            <p:ph type="sldNum" sz="quarter" idx="5"/>
          </p:nvPr>
        </p:nvSpPr>
        <p:spPr/>
        <p:txBody>
          <a:bodyPr/>
          <a:lstStyle/>
          <a:p>
            <a:fld id="{840B8802-914A-7C41-BC77-CC54DEE99EEF}" type="slidenum">
              <a:rPr kumimoji="1" lang="zh-CN" altLang="en-US" smtClean="0"/>
              <a:t>35</a:t>
            </a:fld>
            <a:endParaRPr kumimoji="1" lang="zh-CN" altLang="en-US"/>
          </a:p>
        </p:txBody>
      </p:sp>
    </p:spTree>
    <p:extLst>
      <p:ext uri="{BB962C8B-B14F-4D97-AF65-F5344CB8AC3E}">
        <p14:creationId xmlns:p14="http://schemas.microsoft.com/office/powerpoint/2010/main" val="7183614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endParaRPr lang="en-US" altLang="zh-CN" sz="1200" kern="1200" dirty="0">
                  <a:solidFill>
                    <a:schemeClr val="tx1"/>
                  </a:solidFill>
                  <a:effectLst/>
                  <a:latin typeface="+mn-lt"/>
                  <a:ea typeface="+mn-ea"/>
                  <a:cs typeface="+mn-cs"/>
                </a:endParaRPr>
              </a:p>
            </p:txBody>
          </p:sp>
        </mc:Choice>
        <mc:Fallback xmlns="">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注意，当主节点</a:t>
                </a:r>
                <a:r>
                  <a:rPr lang="en-US" altLang="zh-CN" sz="1200" i="0" kern="1200">
                    <a:solidFill>
                      <a:schemeClr val="tx1"/>
                    </a:solidFill>
                    <a:effectLst/>
                    <a:latin typeface="+mn-lt"/>
                    <a:ea typeface="+mn-ea"/>
                    <a:cs typeface="+mn-cs"/>
                  </a:rPr>
                  <a:t>𝑖</a:t>
                </a:r>
                <a:r>
                  <a:rPr lang="zh-CN" altLang="zh-CN" sz="1200" kern="1200" dirty="0">
                    <a:solidFill>
                      <a:schemeClr val="tx1"/>
                    </a:solidFill>
                    <a:effectLst/>
                    <a:latin typeface="+mn-lt"/>
                    <a:ea typeface="+mn-ea"/>
                    <a:cs typeface="+mn-cs"/>
                  </a:rPr>
                  <a:t>收到</a:t>
                </a:r>
                <a:r>
                  <a:rPr lang="en-US" altLang="zh-CN" sz="1200" i="0" kern="1200">
                    <a:solidFill>
                      <a:schemeClr val="tx1"/>
                    </a:solidFill>
                    <a:effectLst/>
                    <a:latin typeface="+mn-lt"/>
                    <a:ea typeface="+mn-ea"/>
                    <a:cs typeface="+mn-cs"/>
                  </a:rPr>
                  <a:t>2𝐹+1</a:t>
                </a:r>
                <a:r>
                  <a:rPr lang="zh-CN" altLang="zh-CN" sz="1200" kern="1200" dirty="0">
                    <a:solidFill>
                      <a:schemeClr val="tx1"/>
                    </a:solidFill>
                    <a:effectLst/>
                    <a:latin typeface="+mn-lt"/>
                    <a:ea typeface="+mn-ea"/>
                    <a:cs typeface="+mn-cs"/>
                  </a:rPr>
                  <a:t>个</a:t>
                </a:r>
                <a:r>
                  <a:rPr lang="en-US" altLang="zh-CN" sz="1200" i="0" kern="1200">
                    <a:solidFill>
                      <a:schemeClr val="tx1"/>
                    </a:solidFill>
                    <a:effectLst/>
                    <a:latin typeface="+mn-lt"/>
                    <a:ea typeface="+mn-ea"/>
                    <a:cs typeface="+mn-cs"/>
                  </a:rPr>
                  <a:t>𝑉𝐼𝐸𝑊−𝐶𝐻𝐴𝑁𝐺𝐸</a:t>
                </a:r>
                <a:r>
                  <a:rPr lang="zh-CN" altLang="zh-CN" sz="1200" kern="1200" dirty="0">
                    <a:solidFill>
                      <a:schemeClr val="tx1"/>
                    </a:solidFill>
                    <a:effectLst/>
                    <a:latin typeface="+mn-lt"/>
                    <a:ea typeface="+mn-ea"/>
                    <a:cs typeface="+mn-cs"/>
                  </a:rPr>
                  <a:t>消息，可以确认高度为</a:t>
                </a:r>
                <a:r>
                  <a:rPr lang="en-US" altLang="zh-CN" sz="1200" i="0" kern="1200">
                    <a:solidFill>
                      <a:schemeClr val="tx1"/>
                    </a:solidFill>
                    <a:effectLst/>
                    <a:latin typeface="+mn-lt"/>
                    <a:ea typeface="+mn-ea"/>
                    <a:cs typeface="+mn-cs"/>
                  </a:rPr>
                  <a:t>𝑛</a:t>
                </a:r>
                <a:r>
                  <a:rPr lang="zh-CN" altLang="zh-CN" sz="1200" kern="1200" dirty="0">
                    <a:solidFill>
                      <a:schemeClr val="tx1"/>
                    </a:solidFill>
                    <a:effectLst/>
                    <a:latin typeface="+mn-lt"/>
                    <a:ea typeface="+mn-ea"/>
                    <a:cs typeface="+mn-cs"/>
                  </a:rPr>
                  <a:t>的稳定检查点之间的消息在视图切换的过程中不会丢失，但是当前检查点之后，下一个检查点之前的已经达到</a:t>
                </a:r>
                <a:r>
                  <a:rPr lang="en-US" altLang="zh-CN" sz="1200" kern="1200" dirty="0">
                    <a:solidFill>
                      <a:schemeClr val="tx1"/>
                    </a:solidFill>
                    <a:effectLst/>
                    <a:latin typeface="+mn-lt"/>
                    <a:ea typeface="+mn-ea"/>
                    <a:cs typeface="+mn-cs"/>
                  </a:rPr>
                  <a:t>PREPARED</a:t>
                </a:r>
                <a:r>
                  <a:rPr lang="zh-CN" altLang="zh-CN" sz="1200" kern="1200" dirty="0">
                    <a:solidFill>
                      <a:schemeClr val="tx1"/>
                    </a:solidFill>
                    <a:effectLst/>
                    <a:latin typeface="+mn-lt"/>
                    <a:ea typeface="+mn-ea"/>
                    <a:cs typeface="+mn-cs"/>
                  </a:rPr>
                  <a:t>状态的消息会丢失。因此，新视图的主节点会把旧视图中已经达到</a:t>
                </a:r>
                <a:r>
                  <a:rPr lang="en-US" altLang="zh-CN" sz="1200" kern="1200" dirty="0">
                    <a:solidFill>
                      <a:schemeClr val="tx1"/>
                    </a:solidFill>
                    <a:effectLst/>
                    <a:latin typeface="+mn-lt"/>
                    <a:ea typeface="+mn-ea"/>
                    <a:cs typeface="+mn-cs"/>
                  </a:rPr>
                  <a:t>PREPARED</a:t>
                </a:r>
                <a:r>
                  <a:rPr lang="zh-CN" altLang="zh-CN" sz="1200" kern="1200" dirty="0">
                    <a:solidFill>
                      <a:schemeClr val="tx1"/>
                    </a:solidFill>
                    <a:effectLst/>
                    <a:latin typeface="+mn-lt"/>
                    <a:ea typeface="+mn-ea"/>
                    <a:cs typeface="+mn-cs"/>
                  </a:rPr>
                  <a:t>状态的消息转换为</a:t>
                </a:r>
                <a:r>
                  <a:rPr lang="en-US" altLang="zh-CN" sz="1200" kern="1200" dirty="0">
                    <a:solidFill>
                      <a:schemeClr val="tx1"/>
                    </a:solidFill>
                    <a:effectLst/>
                    <a:latin typeface="+mn-lt"/>
                    <a:ea typeface="+mn-ea"/>
                    <a:cs typeface="+mn-cs"/>
                  </a:rPr>
                  <a:t>PRE-PREPARE</a:t>
                </a:r>
                <a:r>
                  <a:rPr lang="zh-CN" altLang="zh-CN" sz="1200" kern="1200" dirty="0">
                    <a:solidFill>
                      <a:schemeClr val="tx1"/>
                    </a:solidFill>
                    <a:effectLst/>
                    <a:latin typeface="+mn-lt"/>
                    <a:ea typeface="+mn-ea"/>
                    <a:cs typeface="+mn-cs"/>
                  </a:rPr>
                  <a:t>消息，重新广播到网络中了。</a:t>
                </a:r>
                <a:r>
                  <a:rPr lang="en-US" altLang="zh-CN" sz="1200" kern="1200" dirty="0">
                    <a:solidFill>
                      <a:schemeClr val="tx1"/>
                    </a:solidFill>
                    <a:effectLst/>
                    <a:latin typeface="+mn-lt"/>
                    <a:ea typeface="+mn-ea"/>
                    <a:cs typeface="+mn-cs"/>
                  </a:rPr>
                  <a:t>PRE-PREPARE</a:t>
                </a:r>
                <a:r>
                  <a:rPr lang="zh-CN" altLang="zh-CN" sz="1200" kern="1200" dirty="0">
                    <a:solidFill>
                      <a:schemeClr val="tx1"/>
                    </a:solidFill>
                    <a:effectLst/>
                    <a:latin typeface="+mn-lt"/>
                    <a:ea typeface="+mn-ea"/>
                    <a:cs typeface="+mn-cs"/>
                  </a:rPr>
                  <a:t>消息集合的选取规则如下所示：</a:t>
                </a:r>
              </a:p>
              <a:p>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）选取</a:t>
                </a:r>
                <a:r>
                  <a:rPr lang="en-US" altLang="zh-CN" sz="1200" i="0" kern="1200">
                    <a:solidFill>
                      <a:schemeClr val="tx1"/>
                    </a:solidFill>
                    <a:effectLst/>
                    <a:latin typeface="+mn-lt"/>
                    <a:ea typeface="+mn-ea"/>
                    <a:cs typeface="+mn-cs"/>
                  </a:rPr>
                  <a:t>𝑉</a:t>
                </a:r>
                <a:r>
                  <a:rPr lang="zh-CN" altLang="zh-CN" sz="1200" kern="1200" dirty="0">
                    <a:solidFill>
                      <a:schemeClr val="tx1"/>
                    </a:solidFill>
                    <a:effectLst/>
                    <a:latin typeface="+mn-lt"/>
                    <a:ea typeface="+mn-ea"/>
                    <a:cs typeface="+mn-cs"/>
                  </a:rPr>
                  <a:t>中高度最低的稳定检查点的编号</a:t>
                </a:r>
                <a:r>
                  <a:rPr lang="en-US" altLang="zh-CN" sz="1200" i="0" kern="1200">
                    <a:solidFill>
                      <a:schemeClr val="tx1"/>
                    </a:solidFill>
                    <a:effectLst/>
                    <a:latin typeface="+mn-lt"/>
                    <a:ea typeface="+mn-ea"/>
                    <a:cs typeface="+mn-cs"/>
                  </a:rPr>
                  <a:t>𝑚𝑖𝑛</a:t>
                </a:r>
                <a:r>
                  <a:rPr lang="zh-CN" altLang="zh-CN" sz="1200" kern="1200" dirty="0">
                    <a:solidFill>
                      <a:schemeClr val="tx1"/>
                    </a:solidFill>
                    <a:effectLst/>
                    <a:latin typeface="+mn-lt"/>
                    <a:ea typeface="+mn-ea"/>
                    <a:cs typeface="+mn-cs"/>
                  </a:rPr>
                  <a:t>，以及</a:t>
                </a:r>
                <a:r>
                  <a:rPr lang="en-US" altLang="zh-CN" sz="1200" i="0" kern="1200">
                    <a:solidFill>
                      <a:schemeClr val="tx1"/>
                    </a:solidFill>
                    <a:effectLst/>
                    <a:latin typeface="+mn-lt"/>
                    <a:ea typeface="+mn-ea"/>
                    <a:cs typeface="+mn-cs"/>
                  </a:rPr>
                  <a:t>𝑉</a:t>
                </a:r>
                <a:r>
                  <a:rPr lang="zh-CN" altLang="zh-CN" sz="1200" kern="1200" dirty="0">
                    <a:solidFill>
                      <a:schemeClr val="tx1"/>
                    </a:solidFill>
                    <a:effectLst/>
                    <a:latin typeface="+mn-lt"/>
                    <a:ea typeface="+mn-ea"/>
                    <a:cs typeface="+mn-cs"/>
                  </a:rPr>
                  <a:t>中已达到</a:t>
                </a:r>
                <a:r>
                  <a:rPr lang="en-US" altLang="zh-CN" sz="1200" kern="1200" dirty="0">
                    <a:solidFill>
                      <a:schemeClr val="tx1"/>
                    </a:solidFill>
                    <a:effectLst/>
                    <a:latin typeface="+mn-lt"/>
                    <a:ea typeface="+mn-ea"/>
                    <a:cs typeface="+mn-cs"/>
                  </a:rPr>
                  <a:t>PREPARED</a:t>
                </a:r>
                <a:r>
                  <a:rPr lang="zh-CN" altLang="zh-CN" sz="1200" kern="1200" dirty="0">
                    <a:solidFill>
                      <a:schemeClr val="tx1"/>
                    </a:solidFill>
                    <a:effectLst/>
                    <a:latin typeface="+mn-lt"/>
                    <a:ea typeface="+mn-ea"/>
                    <a:cs typeface="+mn-cs"/>
                  </a:rPr>
                  <a:t>状态消息的最大编号</a:t>
                </a:r>
                <a:r>
                  <a:rPr lang="en-US" altLang="zh-CN" sz="1200" i="0" kern="1200">
                    <a:solidFill>
                      <a:schemeClr val="tx1"/>
                    </a:solidFill>
                    <a:effectLst/>
                    <a:latin typeface="+mn-lt"/>
                    <a:ea typeface="+mn-ea"/>
                    <a:cs typeface="+mn-cs"/>
                  </a:rPr>
                  <a:t>𝑚𝑎𝑥</a:t>
                </a:r>
                <a:r>
                  <a:rPr lang="zh-CN" altLang="zh-CN" sz="1200" kern="1200" dirty="0">
                    <a:solidFill>
                      <a:schemeClr val="tx1"/>
                    </a:solidFill>
                    <a:effectLst/>
                    <a:latin typeface="+mn-lt"/>
                    <a:ea typeface="+mn-ea"/>
                    <a:cs typeface="+mn-cs"/>
                  </a:rPr>
                  <a:t>。</a:t>
                </a:r>
              </a:p>
              <a:p>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）对于</a:t>
                </a:r>
                <a:r>
                  <a:rPr lang="en-US" altLang="zh-CN" sz="1200" i="0" kern="1200">
                    <a:solidFill>
                      <a:schemeClr val="tx1"/>
                    </a:solidFill>
                    <a:effectLst/>
                    <a:latin typeface="+mn-lt"/>
                    <a:ea typeface="+mn-ea"/>
                    <a:cs typeface="+mn-cs"/>
                  </a:rPr>
                  <a:t>𝑚𝑖𝑛</a:t>
                </a:r>
                <a:r>
                  <a:rPr lang="zh-CN" altLang="zh-CN" sz="1200" kern="1200" dirty="0">
                    <a:solidFill>
                      <a:schemeClr val="tx1"/>
                    </a:solidFill>
                    <a:effectLst/>
                    <a:latin typeface="+mn-lt"/>
                    <a:ea typeface="+mn-ea"/>
                    <a:cs typeface="+mn-cs"/>
                  </a:rPr>
                  <a:t>和</a:t>
                </a:r>
                <a:r>
                  <a:rPr lang="en-US" altLang="zh-CN" sz="1200" i="0" kern="1200">
                    <a:solidFill>
                      <a:schemeClr val="tx1"/>
                    </a:solidFill>
                    <a:effectLst/>
                    <a:latin typeface="+mn-lt"/>
                    <a:ea typeface="+mn-ea"/>
                    <a:cs typeface="+mn-cs"/>
                  </a:rPr>
                  <a:t>𝑚𝑎𝑥</a:t>
                </a:r>
                <a:r>
                  <a:rPr lang="zh-CN" altLang="zh-CN" sz="1200" kern="1200" dirty="0">
                    <a:solidFill>
                      <a:schemeClr val="tx1"/>
                    </a:solidFill>
                    <a:effectLst/>
                    <a:latin typeface="+mn-lt"/>
                    <a:ea typeface="+mn-ea"/>
                    <a:cs typeface="+mn-cs"/>
                  </a:rPr>
                  <a:t>之间的每个序号</a:t>
                </a:r>
                <a:r>
                  <a:rPr lang="en-US" altLang="zh-CN" sz="1200" i="0" kern="1200">
                    <a:solidFill>
                      <a:schemeClr val="tx1"/>
                    </a:solidFill>
                    <a:effectLst/>
                    <a:latin typeface="+mn-lt"/>
                    <a:ea typeface="+mn-ea"/>
                    <a:cs typeface="+mn-cs"/>
                  </a:rPr>
                  <a:t>𝑛</a:t>
                </a:r>
                <a:r>
                  <a:rPr lang="zh-CN" altLang="zh-CN" sz="1200" kern="1200" dirty="0">
                    <a:solidFill>
                      <a:schemeClr val="tx1"/>
                    </a:solidFill>
                    <a:effectLst/>
                    <a:latin typeface="+mn-lt"/>
                    <a:ea typeface="+mn-ea"/>
                    <a:cs typeface="+mn-cs"/>
                  </a:rPr>
                  <a:t>，如果存在某个</a:t>
                </a:r>
                <a:r>
                  <a:rPr lang="en-US" altLang="zh-CN" sz="1200" i="0" kern="1200">
                    <a:solidFill>
                      <a:schemeClr val="tx1"/>
                    </a:solidFill>
                    <a:effectLst/>
                    <a:latin typeface="+mn-lt"/>
                    <a:ea typeface="+mn-ea"/>
                    <a:cs typeface="+mn-cs"/>
                  </a:rPr>
                  <a:t>𝑃</a:t>
                </a:r>
                <a:r>
                  <a:rPr lang="zh-CN" altLang="zh-CN" sz="1200" kern="1200" dirty="0">
                    <a:solidFill>
                      <a:schemeClr val="tx1"/>
                    </a:solidFill>
                    <a:effectLst/>
                    <a:latin typeface="+mn-lt"/>
                    <a:ea typeface="+mn-ea"/>
                    <a:cs typeface="+mn-cs"/>
                  </a:rPr>
                  <a:t>中，则创建</a:t>
                </a:r>
                <a:r>
                  <a:rPr lang="en-US" altLang="zh-CN" sz="1200" i="0" kern="1200">
                    <a:solidFill>
                      <a:schemeClr val="tx1"/>
                    </a:solidFill>
                    <a:effectLst/>
                    <a:latin typeface="+mn-lt"/>
                    <a:ea typeface="+mn-ea"/>
                    <a:cs typeface="+mn-cs"/>
                  </a:rPr>
                  <a:t>&lt;&lt;𝑃𝑅𝐸−𝑃𝑅𝐸𝑃𝐴𝑅𝐸, 𝑣+1, 𝑛, 𝑑&gt;, 𝑚&gt;</a:t>
                </a:r>
                <a:r>
                  <a:rPr lang="zh-CN" altLang="zh-CN" sz="1200" kern="1200" dirty="0">
                    <a:solidFill>
                      <a:schemeClr val="tx1"/>
                    </a:solidFill>
                    <a:effectLst/>
                    <a:latin typeface="+mn-lt"/>
                    <a:ea typeface="+mn-ea"/>
                    <a:cs typeface="+mn-cs"/>
                  </a:rPr>
                  <a:t>消息；否则，则创建一个空的</a:t>
                </a:r>
                <a:r>
                  <a:rPr lang="en-US" altLang="zh-CN" sz="1200" kern="1200" dirty="0">
                    <a:solidFill>
                      <a:schemeClr val="tx1"/>
                    </a:solidFill>
                    <a:effectLst/>
                    <a:latin typeface="+mn-lt"/>
                    <a:ea typeface="+mn-ea"/>
                    <a:cs typeface="+mn-cs"/>
                  </a:rPr>
                  <a:t>PRE-PREPARE</a:t>
                </a:r>
                <a:r>
                  <a:rPr lang="zh-CN" altLang="zh-CN" sz="1200" kern="1200" dirty="0">
                    <a:solidFill>
                      <a:schemeClr val="tx1"/>
                    </a:solidFill>
                    <a:effectLst/>
                    <a:latin typeface="+mn-lt"/>
                    <a:ea typeface="+mn-ea"/>
                    <a:cs typeface="+mn-cs"/>
                  </a:rPr>
                  <a:t>消息</a:t>
                </a:r>
                <a:r>
                  <a:rPr lang="en-US" altLang="zh-CN" sz="1200" i="0" kern="1200">
                    <a:solidFill>
                      <a:schemeClr val="tx1"/>
                    </a:solidFill>
                    <a:effectLst/>
                    <a:latin typeface="+mn-lt"/>
                    <a:ea typeface="+mn-ea"/>
                    <a:cs typeface="+mn-cs"/>
                  </a:rPr>
                  <a:t>&lt;&lt;𝑃𝑅𝐸−𝑃𝑅𝐸𝑃𝐴𝑅𝐸, 𝑣+1, 𝑛, 𝑑(𝑛𝑢𝑙𝑙)&gt;, 𝑚(𝑛𝑢𝑙𝑙)&gt;</a:t>
                </a:r>
                <a:r>
                  <a:rPr lang="zh-CN" altLang="zh-CN" sz="1200" kern="1200" dirty="0">
                    <a:solidFill>
                      <a:schemeClr val="tx1"/>
                    </a:solidFill>
                    <a:effectLst/>
                    <a:latin typeface="+mn-lt"/>
                    <a:ea typeface="+mn-ea"/>
                    <a:cs typeface="+mn-cs"/>
                  </a:rPr>
                  <a:t>，其中</a:t>
                </a:r>
                <a:r>
                  <a:rPr lang="en-US" altLang="zh-CN" sz="1200" i="0" kern="1200">
                    <a:solidFill>
                      <a:schemeClr val="tx1"/>
                    </a:solidFill>
                    <a:effectLst/>
                    <a:latin typeface="+mn-lt"/>
                    <a:ea typeface="+mn-ea"/>
                    <a:cs typeface="+mn-cs"/>
                  </a:rPr>
                  <a:t>𝑑(𝑛𝑢𝑙𝑙)</a:t>
                </a:r>
                <a:r>
                  <a:rPr lang="zh-CN" altLang="zh-CN" sz="1200" kern="1200" dirty="0">
                    <a:solidFill>
                      <a:schemeClr val="tx1"/>
                    </a:solidFill>
                    <a:effectLst/>
                    <a:latin typeface="+mn-lt"/>
                    <a:ea typeface="+mn-ea"/>
                    <a:cs typeface="+mn-cs"/>
                  </a:rPr>
                  <a:t>为空消息摘要，</a:t>
                </a:r>
                <a:r>
                  <a:rPr lang="en-US" altLang="zh-CN" sz="1200" i="0" kern="1200">
                    <a:solidFill>
                      <a:schemeClr val="tx1"/>
                    </a:solidFill>
                    <a:effectLst/>
                    <a:latin typeface="+mn-lt"/>
                    <a:ea typeface="+mn-ea"/>
                    <a:cs typeface="+mn-cs"/>
                  </a:rPr>
                  <a:t>𝑚</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𝑛𝑢𝑙𝑙)</a:t>
                </a:r>
                <a:r>
                  <a:rPr lang="zh-CN" altLang="zh-CN" sz="1200" kern="1200" dirty="0">
                    <a:solidFill>
                      <a:schemeClr val="tx1"/>
                    </a:solidFill>
                    <a:effectLst/>
                    <a:latin typeface="+mn-lt"/>
                    <a:ea typeface="+mn-ea"/>
                    <a:cs typeface="+mn-cs"/>
                  </a:rPr>
                  <a:t>为空消息。</a:t>
                </a:r>
              </a:p>
            </p:txBody>
          </p:sp>
        </mc:Fallback>
      </mc:AlternateContent>
      <p:sp>
        <p:nvSpPr>
          <p:cNvPr id="4" name="灯片编号占位符 3"/>
          <p:cNvSpPr>
            <a:spLocks noGrp="1"/>
          </p:cNvSpPr>
          <p:nvPr>
            <p:ph type="sldNum" sz="quarter" idx="5"/>
          </p:nvPr>
        </p:nvSpPr>
        <p:spPr/>
        <p:txBody>
          <a:bodyPr/>
          <a:lstStyle/>
          <a:p>
            <a:fld id="{840B8802-914A-7C41-BC77-CC54DEE99EEF}" type="slidenum">
              <a:rPr kumimoji="1" lang="zh-CN" altLang="en-US" smtClean="0"/>
              <a:t>36</a:t>
            </a:fld>
            <a:endParaRPr kumimoji="1" lang="zh-CN" altLang="en-US"/>
          </a:p>
        </p:txBody>
      </p:sp>
    </p:spTree>
    <p:extLst>
      <p:ext uri="{BB962C8B-B14F-4D97-AF65-F5344CB8AC3E}">
        <p14:creationId xmlns:p14="http://schemas.microsoft.com/office/powerpoint/2010/main" val="79942152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endParaRPr lang="en-US" altLang="zh-CN" sz="1200" kern="1200" dirty="0">
                  <a:solidFill>
                    <a:schemeClr val="tx1"/>
                  </a:solidFill>
                  <a:effectLst/>
                  <a:latin typeface="+mn-lt"/>
                  <a:ea typeface="+mn-ea"/>
                  <a:cs typeface="+mn-cs"/>
                </a:endParaRPr>
              </a:p>
            </p:txBody>
          </p:sp>
        </mc:Choice>
        <mc:Fallback xmlns="">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注意，当主节点</a:t>
                </a:r>
                <a:r>
                  <a:rPr lang="en-US" altLang="zh-CN" sz="1200" i="0" kern="1200">
                    <a:solidFill>
                      <a:schemeClr val="tx1"/>
                    </a:solidFill>
                    <a:effectLst/>
                    <a:latin typeface="+mn-lt"/>
                    <a:ea typeface="+mn-ea"/>
                    <a:cs typeface="+mn-cs"/>
                  </a:rPr>
                  <a:t>𝑖</a:t>
                </a:r>
                <a:r>
                  <a:rPr lang="zh-CN" altLang="zh-CN" sz="1200" kern="1200" dirty="0">
                    <a:solidFill>
                      <a:schemeClr val="tx1"/>
                    </a:solidFill>
                    <a:effectLst/>
                    <a:latin typeface="+mn-lt"/>
                    <a:ea typeface="+mn-ea"/>
                    <a:cs typeface="+mn-cs"/>
                  </a:rPr>
                  <a:t>收到</a:t>
                </a:r>
                <a:r>
                  <a:rPr lang="en-US" altLang="zh-CN" sz="1200" i="0" kern="1200">
                    <a:solidFill>
                      <a:schemeClr val="tx1"/>
                    </a:solidFill>
                    <a:effectLst/>
                    <a:latin typeface="+mn-lt"/>
                    <a:ea typeface="+mn-ea"/>
                    <a:cs typeface="+mn-cs"/>
                  </a:rPr>
                  <a:t>2𝐹+1</a:t>
                </a:r>
                <a:r>
                  <a:rPr lang="zh-CN" altLang="zh-CN" sz="1200" kern="1200" dirty="0">
                    <a:solidFill>
                      <a:schemeClr val="tx1"/>
                    </a:solidFill>
                    <a:effectLst/>
                    <a:latin typeface="+mn-lt"/>
                    <a:ea typeface="+mn-ea"/>
                    <a:cs typeface="+mn-cs"/>
                  </a:rPr>
                  <a:t>个</a:t>
                </a:r>
                <a:r>
                  <a:rPr lang="en-US" altLang="zh-CN" sz="1200" i="0" kern="1200">
                    <a:solidFill>
                      <a:schemeClr val="tx1"/>
                    </a:solidFill>
                    <a:effectLst/>
                    <a:latin typeface="+mn-lt"/>
                    <a:ea typeface="+mn-ea"/>
                    <a:cs typeface="+mn-cs"/>
                  </a:rPr>
                  <a:t>𝑉𝐼𝐸𝑊−𝐶𝐻𝐴𝑁𝐺𝐸</a:t>
                </a:r>
                <a:r>
                  <a:rPr lang="zh-CN" altLang="zh-CN" sz="1200" kern="1200" dirty="0">
                    <a:solidFill>
                      <a:schemeClr val="tx1"/>
                    </a:solidFill>
                    <a:effectLst/>
                    <a:latin typeface="+mn-lt"/>
                    <a:ea typeface="+mn-ea"/>
                    <a:cs typeface="+mn-cs"/>
                  </a:rPr>
                  <a:t>消息，可以确认高度为</a:t>
                </a:r>
                <a:r>
                  <a:rPr lang="en-US" altLang="zh-CN" sz="1200" i="0" kern="1200">
                    <a:solidFill>
                      <a:schemeClr val="tx1"/>
                    </a:solidFill>
                    <a:effectLst/>
                    <a:latin typeface="+mn-lt"/>
                    <a:ea typeface="+mn-ea"/>
                    <a:cs typeface="+mn-cs"/>
                  </a:rPr>
                  <a:t>𝑛</a:t>
                </a:r>
                <a:r>
                  <a:rPr lang="zh-CN" altLang="zh-CN" sz="1200" kern="1200" dirty="0">
                    <a:solidFill>
                      <a:schemeClr val="tx1"/>
                    </a:solidFill>
                    <a:effectLst/>
                    <a:latin typeface="+mn-lt"/>
                    <a:ea typeface="+mn-ea"/>
                    <a:cs typeface="+mn-cs"/>
                  </a:rPr>
                  <a:t>的稳定检查点之间的消息在视图切换的过程中不会丢失，但是当前检查点之后，下一个检查点之前的已经达到</a:t>
                </a:r>
                <a:r>
                  <a:rPr lang="en-US" altLang="zh-CN" sz="1200" kern="1200" dirty="0">
                    <a:solidFill>
                      <a:schemeClr val="tx1"/>
                    </a:solidFill>
                    <a:effectLst/>
                    <a:latin typeface="+mn-lt"/>
                    <a:ea typeface="+mn-ea"/>
                    <a:cs typeface="+mn-cs"/>
                  </a:rPr>
                  <a:t>PREPARED</a:t>
                </a:r>
                <a:r>
                  <a:rPr lang="zh-CN" altLang="zh-CN" sz="1200" kern="1200" dirty="0">
                    <a:solidFill>
                      <a:schemeClr val="tx1"/>
                    </a:solidFill>
                    <a:effectLst/>
                    <a:latin typeface="+mn-lt"/>
                    <a:ea typeface="+mn-ea"/>
                    <a:cs typeface="+mn-cs"/>
                  </a:rPr>
                  <a:t>状态的消息会丢失。因此，新视图的主节点会把旧视图中已经达到</a:t>
                </a:r>
                <a:r>
                  <a:rPr lang="en-US" altLang="zh-CN" sz="1200" kern="1200" dirty="0">
                    <a:solidFill>
                      <a:schemeClr val="tx1"/>
                    </a:solidFill>
                    <a:effectLst/>
                    <a:latin typeface="+mn-lt"/>
                    <a:ea typeface="+mn-ea"/>
                    <a:cs typeface="+mn-cs"/>
                  </a:rPr>
                  <a:t>PREPARED</a:t>
                </a:r>
                <a:r>
                  <a:rPr lang="zh-CN" altLang="zh-CN" sz="1200" kern="1200" dirty="0">
                    <a:solidFill>
                      <a:schemeClr val="tx1"/>
                    </a:solidFill>
                    <a:effectLst/>
                    <a:latin typeface="+mn-lt"/>
                    <a:ea typeface="+mn-ea"/>
                    <a:cs typeface="+mn-cs"/>
                  </a:rPr>
                  <a:t>状态的消息转换为</a:t>
                </a:r>
                <a:r>
                  <a:rPr lang="en-US" altLang="zh-CN" sz="1200" kern="1200" dirty="0">
                    <a:solidFill>
                      <a:schemeClr val="tx1"/>
                    </a:solidFill>
                    <a:effectLst/>
                    <a:latin typeface="+mn-lt"/>
                    <a:ea typeface="+mn-ea"/>
                    <a:cs typeface="+mn-cs"/>
                  </a:rPr>
                  <a:t>PRE-PREPARE</a:t>
                </a:r>
                <a:r>
                  <a:rPr lang="zh-CN" altLang="zh-CN" sz="1200" kern="1200" dirty="0">
                    <a:solidFill>
                      <a:schemeClr val="tx1"/>
                    </a:solidFill>
                    <a:effectLst/>
                    <a:latin typeface="+mn-lt"/>
                    <a:ea typeface="+mn-ea"/>
                    <a:cs typeface="+mn-cs"/>
                  </a:rPr>
                  <a:t>消息，重新广播到网络中了。</a:t>
                </a:r>
                <a:r>
                  <a:rPr lang="en-US" altLang="zh-CN" sz="1200" kern="1200" dirty="0">
                    <a:solidFill>
                      <a:schemeClr val="tx1"/>
                    </a:solidFill>
                    <a:effectLst/>
                    <a:latin typeface="+mn-lt"/>
                    <a:ea typeface="+mn-ea"/>
                    <a:cs typeface="+mn-cs"/>
                  </a:rPr>
                  <a:t>PRE-PREPARE</a:t>
                </a:r>
                <a:r>
                  <a:rPr lang="zh-CN" altLang="zh-CN" sz="1200" kern="1200" dirty="0">
                    <a:solidFill>
                      <a:schemeClr val="tx1"/>
                    </a:solidFill>
                    <a:effectLst/>
                    <a:latin typeface="+mn-lt"/>
                    <a:ea typeface="+mn-ea"/>
                    <a:cs typeface="+mn-cs"/>
                  </a:rPr>
                  <a:t>消息集合的选取规则如下所示：</a:t>
                </a:r>
              </a:p>
              <a:p>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）选取</a:t>
                </a:r>
                <a:r>
                  <a:rPr lang="en-US" altLang="zh-CN" sz="1200" i="0" kern="1200">
                    <a:solidFill>
                      <a:schemeClr val="tx1"/>
                    </a:solidFill>
                    <a:effectLst/>
                    <a:latin typeface="+mn-lt"/>
                    <a:ea typeface="+mn-ea"/>
                    <a:cs typeface="+mn-cs"/>
                  </a:rPr>
                  <a:t>𝑉</a:t>
                </a:r>
                <a:r>
                  <a:rPr lang="zh-CN" altLang="zh-CN" sz="1200" kern="1200" dirty="0">
                    <a:solidFill>
                      <a:schemeClr val="tx1"/>
                    </a:solidFill>
                    <a:effectLst/>
                    <a:latin typeface="+mn-lt"/>
                    <a:ea typeface="+mn-ea"/>
                    <a:cs typeface="+mn-cs"/>
                  </a:rPr>
                  <a:t>中高度最低的稳定检查点的编号</a:t>
                </a:r>
                <a:r>
                  <a:rPr lang="en-US" altLang="zh-CN" sz="1200" i="0" kern="1200">
                    <a:solidFill>
                      <a:schemeClr val="tx1"/>
                    </a:solidFill>
                    <a:effectLst/>
                    <a:latin typeface="+mn-lt"/>
                    <a:ea typeface="+mn-ea"/>
                    <a:cs typeface="+mn-cs"/>
                  </a:rPr>
                  <a:t>𝑚𝑖𝑛</a:t>
                </a:r>
                <a:r>
                  <a:rPr lang="zh-CN" altLang="zh-CN" sz="1200" kern="1200" dirty="0">
                    <a:solidFill>
                      <a:schemeClr val="tx1"/>
                    </a:solidFill>
                    <a:effectLst/>
                    <a:latin typeface="+mn-lt"/>
                    <a:ea typeface="+mn-ea"/>
                    <a:cs typeface="+mn-cs"/>
                  </a:rPr>
                  <a:t>，以及</a:t>
                </a:r>
                <a:r>
                  <a:rPr lang="en-US" altLang="zh-CN" sz="1200" i="0" kern="1200">
                    <a:solidFill>
                      <a:schemeClr val="tx1"/>
                    </a:solidFill>
                    <a:effectLst/>
                    <a:latin typeface="+mn-lt"/>
                    <a:ea typeface="+mn-ea"/>
                    <a:cs typeface="+mn-cs"/>
                  </a:rPr>
                  <a:t>𝑉</a:t>
                </a:r>
                <a:r>
                  <a:rPr lang="zh-CN" altLang="zh-CN" sz="1200" kern="1200" dirty="0">
                    <a:solidFill>
                      <a:schemeClr val="tx1"/>
                    </a:solidFill>
                    <a:effectLst/>
                    <a:latin typeface="+mn-lt"/>
                    <a:ea typeface="+mn-ea"/>
                    <a:cs typeface="+mn-cs"/>
                  </a:rPr>
                  <a:t>中已达到</a:t>
                </a:r>
                <a:r>
                  <a:rPr lang="en-US" altLang="zh-CN" sz="1200" kern="1200" dirty="0">
                    <a:solidFill>
                      <a:schemeClr val="tx1"/>
                    </a:solidFill>
                    <a:effectLst/>
                    <a:latin typeface="+mn-lt"/>
                    <a:ea typeface="+mn-ea"/>
                    <a:cs typeface="+mn-cs"/>
                  </a:rPr>
                  <a:t>PREPARED</a:t>
                </a:r>
                <a:r>
                  <a:rPr lang="zh-CN" altLang="zh-CN" sz="1200" kern="1200" dirty="0">
                    <a:solidFill>
                      <a:schemeClr val="tx1"/>
                    </a:solidFill>
                    <a:effectLst/>
                    <a:latin typeface="+mn-lt"/>
                    <a:ea typeface="+mn-ea"/>
                    <a:cs typeface="+mn-cs"/>
                  </a:rPr>
                  <a:t>状态消息的最大编号</a:t>
                </a:r>
                <a:r>
                  <a:rPr lang="en-US" altLang="zh-CN" sz="1200" i="0" kern="1200">
                    <a:solidFill>
                      <a:schemeClr val="tx1"/>
                    </a:solidFill>
                    <a:effectLst/>
                    <a:latin typeface="+mn-lt"/>
                    <a:ea typeface="+mn-ea"/>
                    <a:cs typeface="+mn-cs"/>
                  </a:rPr>
                  <a:t>𝑚𝑎𝑥</a:t>
                </a:r>
                <a:r>
                  <a:rPr lang="zh-CN" altLang="zh-CN" sz="1200" kern="1200" dirty="0">
                    <a:solidFill>
                      <a:schemeClr val="tx1"/>
                    </a:solidFill>
                    <a:effectLst/>
                    <a:latin typeface="+mn-lt"/>
                    <a:ea typeface="+mn-ea"/>
                    <a:cs typeface="+mn-cs"/>
                  </a:rPr>
                  <a:t>。</a:t>
                </a:r>
              </a:p>
              <a:p>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）对于</a:t>
                </a:r>
                <a:r>
                  <a:rPr lang="en-US" altLang="zh-CN" sz="1200" i="0" kern="1200">
                    <a:solidFill>
                      <a:schemeClr val="tx1"/>
                    </a:solidFill>
                    <a:effectLst/>
                    <a:latin typeface="+mn-lt"/>
                    <a:ea typeface="+mn-ea"/>
                    <a:cs typeface="+mn-cs"/>
                  </a:rPr>
                  <a:t>𝑚𝑖𝑛</a:t>
                </a:r>
                <a:r>
                  <a:rPr lang="zh-CN" altLang="zh-CN" sz="1200" kern="1200" dirty="0">
                    <a:solidFill>
                      <a:schemeClr val="tx1"/>
                    </a:solidFill>
                    <a:effectLst/>
                    <a:latin typeface="+mn-lt"/>
                    <a:ea typeface="+mn-ea"/>
                    <a:cs typeface="+mn-cs"/>
                  </a:rPr>
                  <a:t>和</a:t>
                </a:r>
                <a:r>
                  <a:rPr lang="en-US" altLang="zh-CN" sz="1200" i="0" kern="1200">
                    <a:solidFill>
                      <a:schemeClr val="tx1"/>
                    </a:solidFill>
                    <a:effectLst/>
                    <a:latin typeface="+mn-lt"/>
                    <a:ea typeface="+mn-ea"/>
                    <a:cs typeface="+mn-cs"/>
                  </a:rPr>
                  <a:t>𝑚𝑎𝑥</a:t>
                </a:r>
                <a:r>
                  <a:rPr lang="zh-CN" altLang="zh-CN" sz="1200" kern="1200" dirty="0">
                    <a:solidFill>
                      <a:schemeClr val="tx1"/>
                    </a:solidFill>
                    <a:effectLst/>
                    <a:latin typeface="+mn-lt"/>
                    <a:ea typeface="+mn-ea"/>
                    <a:cs typeface="+mn-cs"/>
                  </a:rPr>
                  <a:t>之间的每个序号</a:t>
                </a:r>
                <a:r>
                  <a:rPr lang="en-US" altLang="zh-CN" sz="1200" i="0" kern="1200">
                    <a:solidFill>
                      <a:schemeClr val="tx1"/>
                    </a:solidFill>
                    <a:effectLst/>
                    <a:latin typeface="+mn-lt"/>
                    <a:ea typeface="+mn-ea"/>
                    <a:cs typeface="+mn-cs"/>
                  </a:rPr>
                  <a:t>𝑛</a:t>
                </a:r>
                <a:r>
                  <a:rPr lang="zh-CN" altLang="zh-CN" sz="1200" kern="1200" dirty="0">
                    <a:solidFill>
                      <a:schemeClr val="tx1"/>
                    </a:solidFill>
                    <a:effectLst/>
                    <a:latin typeface="+mn-lt"/>
                    <a:ea typeface="+mn-ea"/>
                    <a:cs typeface="+mn-cs"/>
                  </a:rPr>
                  <a:t>，如果存在某个</a:t>
                </a:r>
                <a:r>
                  <a:rPr lang="en-US" altLang="zh-CN" sz="1200" i="0" kern="1200">
                    <a:solidFill>
                      <a:schemeClr val="tx1"/>
                    </a:solidFill>
                    <a:effectLst/>
                    <a:latin typeface="+mn-lt"/>
                    <a:ea typeface="+mn-ea"/>
                    <a:cs typeface="+mn-cs"/>
                  </a:rPr>
                  <a:t>𝑃</a:t>
                </a:r>
                <a:r>
                  <a:rPr lang="zh-CN" altLang="zh-CN" sz="1200" kern="1200" dirty="0">
                    <a:solidFill>
                      <a:schemeClr val="tx1"/>
                    </a:solidFill>
                    <a:effectLst/>
                    <a:latin typeface="+mn-lt"/>
                    <a:ea typeface="+mn-ea"/>
                    <a:cs typeface="+mn-cs"/>
                  </a:rPr>
                  <a:t>中，则创建</a:t>
                </a:r>
                <a:r>
                  <a:rPr lang="en-US" altLang="zh-CN" sz="1200" i="0" kern="1200">
                    <a:solidFill>
                      <a:schemeClr val="tx1"/>
                    </a:solidFill>
                    <a:effectLst/>
                    <a:latin typeface="+mn-lt"/>
                    <a:ea typeface="+mn-ea"/>
                    <a:cs typeface="+mn-cs"/>
                  </a:rPr>
                  <a:t>&lt;&lt;𝑃𝑅𝐸−𝑃𝑅𝐸𝑃𝐴𝑅𝐸, 𝑣+1, 𝑛, 𝑑&gt;, 𝑚&gt;</a:t>
                </a:r>
                <a:r>
                  <a:rPr lang="zh-CN" altLang="zh-CN" sz="1200" kern="1200" dirty="0">
                    <a:solidFill>
                      <a:schemeClr val="tx1"/>
                    </a:solidFill>
                    <a:effectLst/>
                    <a:latin typeface="+mn-lt"/>
                    <a:ea typeface="+mn-ea"/>
                    <a:cs typeface="+mn-cs"/>
                  </a:rPr>
                  <a:t>消息；否则，则创建一个空的</a:t>
                </a:r>
                <a:r>
                  <a:rPr lang="en-US" altLang="zh-CN" sz="1200" kern="1200" dirty="0">
                    <a:solidFill>
                      <a:schemeClr val="tx1"/>
                    </a:solidFill>
                    <a:effectLst/>
                    <a:latin typeface="+mn-lt"/>
                    <a:ea typeface="+mn-ea"/>
                    <a:cs typeface="+mn-cs"/>
                  </a:rPr>
                  <a:t>PRE-PREPARE</a:t>
                </a:r>
                <a:r>
                  <a:rPr lang="zh-CN" altLang="zh-CN" sz="1200" kern="1200" dirty="0">
                    <a:solidFill>
                      <a:schemeClr val="tx1"/>
                    </a:solidFill>
                    <a:effectLst/>
                    <a:latin typeface="+mn-lt"/>
                    <a:ea typeface="+mn-ea"/>
                    <a:cs typeface="+mn-cs"/>
                  </a:rPr>
                  <a:t>消息</a:t>
                </a:r>
                <a:r>
                  <a:rPr lang="en-US" altLang="zh-CN" sz="1200" i="0" kern="1200">
                    <a:solidFill>
                      <a:schemeClr val="tx1"/>
                    </a:solidFill>
                    <a:effectLst/>
                    <a:latin typeface="+mn-lt"/>
                    <a:ea typeface="+mn-ea"/>
                    <a:cs typeface="+mn-cs"/>
                  </a:rPr>
                  <a:t>&lt;&lt;𝑃𝑅𝐸−𝑃𝑅𝐸𝑃𝐴𝑅𝐸, 𝑣+1, 𝑛, 𝑑(𝑛𝑢𝑙𝑙)&gt;, 𝑚(𝑛𝑢𝑙𝑙)&gt;</a:t>
                </a:r>
                <a:r>
                  <a:rPr lang="zh-CN" altLang="zh-CN" sz="1200" kern="1200" dirty="0">
                    <a:solidFill>
                      <a:schemeClr val="tx1"/>
                    </a:solidFill>
                    <a:effectLst/>
                    <a:latin typeface="+mn-lt"/>
                    <a:ea typeface="+mn-ea"/>
                    <a:cs typeface="+mn-cs"/>
                  </a:rPr>
                  <a:t>，其中</a:t>
                </a:r>
                <a:r>
                  <a:rPr lang="en-US" altLang="zh-CN" sz="1200" i="0" kern="1200">
                    <a:solidFill>
                      <a:schemeClr val="tx1"/>
                    </a:solidFill>
                    <a:effectLst/>
                    <a:latin typeface="+mn-lt"/>
                    <a:ea typeface="+mn-ea"/>
                    <a:cs typeface="+mn-cs"/>
                  </a:rPr>
                  <a:t>𝑑(𝑛𝑢𝑙𝑙)</a:t>
                </a:r>
                <a:r>
                  <a:rPr lang="zh-CN" altLang="zh-CN" sz="1200" kern="1200" dirty="0">
                    <a:solidFill>
                      <a:schemeClr val="tx1"/>
                    </a:solidFill>
                    <a:effectLst/>
                    <a:latin typeface="+mn-lt"/>
                    <a:ea typeface="+mn-ea"/>
                    <a:cs typeface="+mn-cs"/>
                  </a:rPr>
                  <a:t>为空消息摘要，</a:t>
                </a:r>
                <a:r>
                  <a:rPr lang="en-US" altLang="zh-CN" sz="1200" i="0" kern="1200">
                    <a:solidFill>
                      <a:schemeClr val="tx1"/>
                    </a:solidFill>
                    <a:effectLst/>
                    <a:latin typeface="+mn-lt"/>
                    <a:ea typeface="+mn-ea"/>
                    <a:cs typeface="+mn-cs"/>
                  </a:rPr>
                  <a:t>𝑚</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𝑛𝑢𝑙𝑙)</a:t>
                </a:r>
                <a:r>
                  <a:rPr lang="zh-CN" altLang="zh-CN" sz="1200" kern="1200" dirty="0">
                    <a:solidFill>
                      <a:schemeClr val="tx1"/>
                    </a:solidFill>
                    <a:effectLst/>
                    <a:latin typeface="+mn-lt"/>
                    <a:ea typeface="+mn-ea"/>
                    <a:cs typeface="+mn-cs"/>
                  </a:rPr>
                  <a:t>为空消息。</a:t>
                </a:r>
              </a:p>
            </p:txBody>
          </p:sp>
        </mc:Fallback>
      </mc:AlternateContent>
      <p:sp>
        <p:nvSpPr>
          <p:cNvPr id="4" name="灯片编号占位符 3"/>
          <p:cNvSpPr>
            <a:spLocks noGrp="1"/>
          </p:cNvSpPr>
          <p:nvPr>
            <p:ph type="sldNum" sz="quarter" idx="5"/>
          </p:nvPr>
        </p:nvSpPr>
        <p:spPr/>
        <p:txBody>
          <a:bodyPr/>
          <a:lstStyle/>
          <a:p>
            <a:fld id="{840B8802-914A-7C41-BC77-CC54DEE99EEF}" type="slidenum">
              <a:rPr kumimoji="1" lang="zh-CN" altLang="en-US" smtClean="0"/>
              <a:t>37</a:t>
            </a:fld>
            <a:endParaRPr kumimoji="1" lang="zh-CN" altLang="en-US"/>
          </a:p>
        </p:txBody>
      </p:sp>
    </p:spTree>
    <p:extLst>
      <p:ext uri="{BB962C8B-B14F-4D97-AF65-F5344CB8AC3E}">
        <p14:creationId xmlns:p14="http://schemas.microsoft.com/office/powerpoint/2010/main" val="36121790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endParaRPr lang="en-US" altLang="zh-CN" sz="1200" kern="1200" dirty="0">
                  <a:solidFill>
                    <a:schemeClr val="tx1"/>
                  </a:solidFill>
                  <a:effectLst/>
                  <a:latin typeface="+mn-lt"/>
                  <a:ea typeface="+mn-ea"/>
                  <a:cs typeface="+mn-cs"/>
                </a:endParaRPr>
              </a:p>
            </p:txBody>
          </p:sp>
        </mc:Choice>
        <mc:Fallback xmlns="">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注意，当主节点</a:t>
                </a:r>
                <a:r>
                  <a:rPr lang="en-US" altLang="zh-CN" sz="1200" i="0" kern="1200">
                    <a:solidFill>
                      <a:schemeClr val="tx1"/>
                    </a:solidFill>
                    <a:effectLst/>
                    <a:latin typeface="+mn-lt"/>
                    <a:ea typeface="+mn-ea"/>
                    <a:cs typeface="+mn-cs"/>
                  </a:rPr>
                  <a:t>𝑖</a:t>
                </a:r>
                <a:r>
                  <a:rPr lang="zh-CN" altLang="zh-CN" sz="1200" kern="1200" dirty="0">
                    <a:solidFill>
                      <a:schemeClr val="tx1"/>
                    </a:solidFill>
                    <a:effectLst/>
                    <a:latin typeface="+mn-lt"/>
                    <a:ea typeface="+mn-ea"/>
                    <a:cs typeface="+mn-cs"/>
                  </a:rPr>
                  <a:t>收到</a:t>
                </a:r>
                <a:r>
                  <a:rPr lang="en-US" altLang="zh-CN" sz="1200" i="0" kern="1200">
                    <a:solidFill>
                      <a:schemeClr val="tx1"/>
                    </a:solidFill>
                    <a:effectLst/>
                    <a:latin typeface="+mn-lt"/>
                    <a:ea typeface="+mn-ea"/>
                    <a:cs typeface="+mn-cs"/>
                  </a:rPr>
                  <a:t>2𝐹+1</a:t>
                </a:r>
                <a:r>
                  <a:rPr lang="zh-CN" altLang="zh-CN" sz="1200" kern="1200" dirty="0">
                    <a:solidFill>
                      <a:schemeClr val="tx1"/>
                    </a:solidFill>
                    <a:effectLst/>
                    <a:latin typeface="+mn-lt"/>
                    <a:ea typeface="+mn-ea"/>
                    <a:cs typeface="+mn-cs"/>
                  </a:rPr>
                  <a:t>个</a:t>
                </a:r>
                <a:r>
                  <a:rPr lang="en-US" altLang="zh-CN" sz="1200" i="0" kern="1200">
                    <a:solidFill>
                      <a:schemeClr val="tx1"/>
                    </a:solidFill>
                    <a:effectLst/>
                    <a:latin typeface="+mn-lt"/>
                    <a:ea typeface="+mn-ea"/>
                    <a:cs typeface="+mn-cs"/>
                  </a:rPr>
                  <a:t>𝑉𝐼𝐸𝑊−𝐶𝐻𝐴𝑁𝐺𝐸</a:t>
                </a:r>
                <a:r>
                  <a:rPr lang="zh-CN" altLang="zh-CN" sz="1200" kern="1200" dirty="0">
                    <a:solidFill>
                      <a:schemeClr val="tx1"/>
                    </a:solidFill>
                    <a:effectLst/>
                    <a:latin typeface="+mn-lt"/>
                    <a:ea typeface="+mn-ea"/>
                    <a:cs typeface="+mn-cs"/>
                  </a:rPr>
                  <a:t>消息，可以确认高度为</a:t>
                </a:r>
                <a:r>
                  <a:rPr lang="en-US" altLang="zh-CN" sz="1200" i="0" kern="1200">
                    <a:solidFill>
                      <a:schemeClr val="tx1"/>
                    </a:solidFill>
                    <a:effectLst/>
                    <a:latin typeface="+mn-lt"/>
                    <a:ea typeface="+mn-ea"/>
                    <a:cs typeface="+mn-cs"/>
                  </a:rPr>
                  <a:t>𝑛</a:t>
                </a:r>
                <a:r>
                  <a:rPr lang="zh-CN" altLang="zh-CN" sz="1200" kern="1200" dirty="0">
                    <a:solidFill>
                      <a:schemeClr val="tx1"/>
                    </a:solidFill>
                    <a:effectLst/>
                    <a:latin typeface="+mn-lt"/>
                    <a:ea typeface="+mn-ea"/>
                    <a:cs typeface="+mn-cs"/>
                  </a:rPr>
                  <a:t>的稳定检查点之间的消息在视图切换的过程中不会丢失，但是当前检查点之后，下一个检查点之前的已经达到</a:t>
                </a:r>
                <a:r>
                  <a:rPr lang="en-US" altLang="zh-CN" sz="1200" kern="1200" dirty="0">
                    <a:solidFill>
                      <a:schemeClr val="tx1"/>
                    </a:solidFill>
                    <a:effectLst/>
                    <a:latin typeface="+mn-lt"/>
                    <a:ea typeface="+mn-ea"/>
                    <a:cs typeface="+mn-cs"/>
                  </a:rPr>
                  <a:t>PREPARED</a:t>
                </a:r>
                <a:r>
                  <a:rPr lang="zh-CN" altLang="zh-CN" sz="1200" kern="1200" dirty="0">
                    <a:solidFill>
                      <a:schemeClr val="tx1"/>
                    </a:solidFill>
                    <a:effectLst/>
                    <a:latin typeface="+mn-lt"/>
                    <a:ea typeface="+mn-ea"/>
                    <a:cs typeface="+mn-cs"/>
                  </a:rPr>
                  <a:t>状态的消息会丢失。因此，新视图的主节点会把旧视图中已经达到</a:t>
                </a:r>
                <a:r>
                  <a:rPr lang="en-US" altLang="zh-CN" sz="1200" kern="1200" dirty="0">
                    <a:solidFill>
                      <a:schemeClr val="tx1"/>
                    </a:solidFill>
                    <a:effectLst/>
                    <a:latin typeface="+mn-lt"/>
                    <a:ea typeface="+mn-ea"/>
                    <a:cs typeface="+mn-cs"/>
                  </a:rPr>
                  <a:t>PREPARED</a:t>
                </a:r>
                <a:r>
                  <a:rPr lang="zh-CN" altLang="zh-CN" sz="1200" kern="1200" dirty="0">
                    <a:solidFill>
                      <a:schemeClr val="tx1"/>
                    </a:solidFill>
                    <a:effectLst/>
                    <a:latin typeface="+mn-lt"/>
                    <a:ea typeface="+mn-ea"/>
                    <a:cs typeface="+mn-cs"/>
                  </a:rPr>
                  <a:t>状态的消息转换为</a:t>
                </a:r>
                <a:r>
                  <a:rPr lang="en-US" altLang="zh-CN" sz="1200" kern="1200" dirty="0">
                    <a:solidFill>
                      <a:schemeClr val="tx1"/>
                    </a:solidFill>
                    <a:effectLst/>
                    <a:latin typeface="+mn-lt"/>
                    <a:ea typeface="+mn-ea"/>
                    <a:cs typeface="+mn-cs"/>
                  </a:rPr>
                  <a:t>PRE-PREPARE</a:t>
                </a:r>
                <a:r>
                  <a:rPr lang="zh-CN" altLang="zh-CN" sz="1200" kern="1200" dirty="0">
                    <a:solidFill>
                      <a:schemeClr val="tx1"/>
                    </a:solidFill>
                    <a:effectLst/>
                    <a:latin typeface="+mn-lt"/>
                    <a:ea typeface="+mn-ea"/>
                    <a:cs typeface="+mn-cs"/>
                  </a:rPr>
                  <a:t>消息，重新广播到网络中了。</a:t>
                </a:r>
                <a:r>
                  <a:rPr lang="en-US" altLang="zh-CN" sz="1200" kern="1200" dirty="0">
                    <a:solidFill>
                      <a:schemeClr val="tx1"/>
                    </a:solidFill>
                    <a:effectLst/>
                    <a:latin typeface="+mn-lt"/>
                    <a:ea typeface="+mn-ea"/>
                    <a:cs typeface="+mn-cs"/>
                  </a:rPr>
                  <a:t>PRE-PREPARE</a:t>
                </a:r>
                <a:r>
                  <a:rPr lang="zh-CN" altLang="zh-CN" sz="1200" kern="1200" dirty="0">
                    <a:solidFill>
                      <a:schemeClr val="tx1"/>
                    </a:solidFill>
                    <a:effectLst/>
                    <a:latin typeface="+mn-lt"/>
                    <a:ea typeface="+mn-ea"/>
                    <a:cs typeface="+mn-cs"/>
                  </a:rPr>
                  <a:t>消息集合的选取规则如下所示：</a:t>
                </a:r>
              </a:p>
              <a:p>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）选取</a:t>
                </a:r>
                <a:r>
                  <a:rPr lang="en-US" altLang="zh-CN" sz="1200" i="0" kern="1200">
                    <a:solidFill>
                      <a:schemeClr val="tx1"/>
                    </a:solidFill>
                    <a:effectLst/>
                    <a:latin typeface="+mn-lt"/>
                    <a:ea typeface="+mn-ea"/>
                    <a:cs typeface="+mn-cs"/>
                  </a:rPr>
                  <a:t>𝑉</a:t>
                </a:r>
                <a:r>
                  <a:rPr lang="zh-CN" altLang="zh-CN" sz="1200" kern="1200" dirty="0">
                    <a:solidFill>
                      <a:schemeClr val="tx1"/>
                    </a:solidFill>
                    <a:effectLst/>
                    <a:latin typeface="+mn-lt"/>
                    <a:ea typeface="+mn-ea"/>
                    <a:cs typeface="+mn-cs"/>
                  </a:rPr>
                  <a:t>中高度最低的稳定检查点的编号</a:t>
                </a:r>
                <a:r>
                  <a:rPr lang="en-US" altLang="zh-CN" sz="1200" i="0" kern="1200">
                    <a:solidFill>
                      <a:schemeClr val="tx1"/>
                    </a:solidFill>
                    <a:effectLst/>
                    <a:latin typeface="+mn-lt"/>
                    <a:ea typeface="+mn-ea"/>
                    <a:cs typeface="+mn-cs"/>
                  </a:rPr>
                  <a:t>𝑚𝑖𝑛</a:t>
                </a:r>
                <a:r>
                  <a:rPr lang="zh-CN" altLang="zh-CN" sz="1200" kern="1200" dirty="0">
                    <a:solidFill>
                      <a:schemeClr val="tx1"/>
                    </a:solidFill>
                    <a:effectLst/>
                    <a:latin typeface="+mn-lt"/>
                    <a:ea typeface="+mn-ea"/>
                    <a:cs typeface="+mn-cs"/>
                  </a:rPr>
                  <a:t>，以及</a:t>
                </a:r>
                <a:r>
                  <a:rPr lang="en-US" altLang="zh-CN" sz="1200" i="0" kern="1200">
                    <a:solidFill>
                      <a:schemeClr val="tx1"/>
                    </a:solidFill>
                    <a:effectLst/>
                    <a:latin typeface="+mn-lt"/>
                    <a:ea typeface="+mn-ea"/>
                    <a:cs typeface="+mn-cs"/>
                  </a:rPr>
                  <a:t>𝑉</a:t>
                </a:r>
                <a:r>
                  <a:rPr lang="zh-CN" altLang="zh-CN" sz="1200" kern="1200" dirty="0">
                    <a:solidFill>
                      <a:schemeClr val="tx1"/>
                    </a:solidFill>
                    <a:effectLst/>
                    <a:latin typeface="+mn-lt"/>
                    <a:ea typeface="+mn-ea"/>
                    <a:cs typeface="+mn-cs"/>
                  </a:rPr>
                  <a:t>中已达到</a:t>
                </a:r>
                <a:r>
                  <a:rPr lang="en-US" altLang="zh-CN" sz="1200" kern="1200" dirty="0">
                    <a:solidFill>
                      <a:schemeClr val="tx1"/>
                    </a:solidFill>
                    <a:effectLst/>
                    <a:latin typeface="+mn-lt"/>
                    <a:ea typeface="+mn-ea"/>
                    <a:cs typeface="+mn-cs"/>
                  </a:rPr>
                  <a:t>PREPARED</a:t>
                </a:r>
                <a:r>
                  <a:rPr lang="zh-CN" altLang="zh-CN" sz="1200" kern="1200" dirty="0">
                    <a:solidFill>
                      <a:schemeClr val="tx1"/>
                    </a:solidFill>
                    <a:effectLst/>
                    <a:latin typeface="+mn-lt"/>
                    <a:ea typeface="+mn-ea"/>
                    <a:cs typeface="+mn-cs"/>
                  </a:rPr>
                  <a:t>状态消息的最大编号</a:t>
                </a:r>
                <a:r>
                  <a:rPr lang="en-US" altLang="zh-CN" sz="1200" i="0" kern="1200">
                    <a:solidFill>
                      <a:schemeClr val="tx1"/>
                    </a:solidFill>
                    <a:effectLst/>
                    <a:latin typeface="+mn-lt"/>
                    <a:ea typeface="+mn-ea"/>
                    <a:cs typeface="+mn-cs"/>
                  </a:rPr>
                  <a:t>𝑚𝑎𝑥</a:t>
                </a:r>
                <a:r>
                  <a:rPr lang="zh-CN" altLang="zh-CN" sz="1200" kern="1200" dirty="0">
                    <a:solidFill>
                      <a:schemeClr val="tx1"/>
                    </a:solidFill>
                    <a:effectLst/>
                    <a:latin typeface="+mn-lt"/>
                    <a:ea typeface="+mn-ea"/>
                    <a:cs typeface="+mn-cs"/>
                  </a:rPr>
                  <a:t>。</a:t>
                </a:r>
              </a:p>
              <a:p>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）对于</a:t>
                </a:r>
                <a:r>
                  <a:rPr lang="en-US" altLang="zh-CN" sz="1200" i="0" kern="1200">
                    <a:solidFill>
                      <a:schemeClr val="tx1"/>
                    </a:solidFill>
                    <a:effectLst/>
                    <a:latin typeface="+mn-lt"/>
                    <a:ea typeface="+mn-ea"/>
                    <a:cs typeface="+mn-cs"/>
                  </a:rPr>
                  <a:t>𝑚𝑖𝑛</a:t>
                </a:r>
                <a:r>
                  <a:rPr lang="zh-CN" altLang="zh-CN" sz="1200" kern="1200" dirty="0">
                    <a:solidFill>
                      <a:schemeClr val="tx1"/>
                    </a:solidFill>
                    <a:effectLst/>
                    <a:latin typeface="+mn-lt"/>
                    <a:ea typeface="+mn-ea"/>
                    <a:cs typeface="+mn-cs"/>
                  </a:rPr>
                  <a:t>和</a:t>
                </a:r>
                <a:r>
                  <a:rPr lang="en-US" altLang="zh-CN" sz="1200" i="0" kern="1200">
                    <a:solidFill>
                      <a:schemeClr val="tx1"/>
                    </a:solidFill>
                    <a:effectLst/>
                    <a:latin typeface="+mn-lt"/>
                    <a:ea typeface="+mn-ea"/>
                    <a:cs typeface="+mn-cs"/>
                  </a:rPr>
                  <a:t>𝑚𝑎𝑥</a:t>
                </a:r>
                <a:r>
                  <a:rPr lang="zh-CN" altLang="zh-CN" sz="1200" kern="1200" dirty="0">
                    <a:solidFill>
                      <a:schemeClr val="tx1"/>
                    </a:solidFill>
                    <a:effectLst/>
                    <a:latin typeface="+mn-lt"/>
                    <a:ea typeface="+mn-ea"/>
                    <a:cs typeface="+mn-cs"/>
                  </a:rPr>
                  <a:t>之间的每个序号</a:t>
                </a:r>
                <a:r>
                  <a:rPr lang="en-US" altLang="zh-CN" sz="1200" i="0" kern="1200">
                    <a:solidFill>
                      <a:schemeClr val="tx1"/>
                    </a:solidFill>
                    <a:effectLst/>
                    <a:latin typeface="+mn-lt"/>
                    <a:ea typeface="+mn-ea"/>
                    <a:cs typeface="+mn-cs"/>
                  </a:rPr>
                  <a:t>𝑛</a:t>
                </a:r>
                <a:r>
                  <a:rPr lang="zh-CN" altLang="zh-CN" sz="1200" kern="1200" dirty="0">
                    <a:solidFill>
                      <a:schemeClr val="tx1"/>
                    </a:solidFill>
                    <a:effectLst/>
                    <a:latin typeface="+mn-lt"/>
                    <a:ea typeface="+mn-ea"/>
                    <a:cs typeface="+mn-cs"/>
                  </a:rPr>
                  <a:t>，如果存在某个</a:t>
                </a:r>
                <a:r>
                  <a:rPr lang="en-US" altLang="zh-CN" sz="1200" i="0" kern="1200">
                    <a:solidFill>
                      <a:schemeClr val="tx1"/>
                    </a:solidFill>
                    <a:effectLst/>
                    <a:latin typeface="+mn-lt"/>
                    <a:ea typeface="+mn-ea"/>
                    <a:cs typeface="+mn-cs"/>
                  </a:rPr>
                  <a:t>𝑃</a:t>
                </a:r>
                <a:r>
                  <a:rPr lang="zh-CN" altLang="zh-CN" sz="1200" kern="1200" dirty="0">
                    <a:solidFill>
                      <a:schemeClr val="tx1"/>
                    </a:solidFill>
                    <a:effectLst/>
                    <a:latin typeface="+mn-lt"/>
                    <a:ea typeface="+mn-ea"/>
                    <a:cs typeface="+mn-cs"/>
                  </a:rPr>
                  <a:t>中，则创建</a:t>
                </a:r>
                <a:r>
                  <a:rPr lang="en-US" altLang="zh-CN" sz="1200" i="0" kern="1200">
                    <a:solidFill>
                      <a:schemeClr val="tx1"/>
                    </a:solidFill>
                    <a:effectLst/>
                    <a:latin typeface="+mn-lt"/>
                    <a:ea typeface="+mn-ea"/>
                    <a:cs typeface="+mn-cs"/>
                  </a:rPr>
                  <a:t>&lt;&lt;𝑃𝑅𝐸−𝑃𝑅𝐸𝑃𝐴𝑅𝐸, 𝑣+1, 𝑛, 𝑑&gt;, 𝑚&gt;</a:t>
                </a:r>
                <a:r>
                  <a:rPr lang="zh-CN" altLang="zh-CN" sz="1200" kern="1200" dirty="0">
                    <a:solidFill>
                      <a:schemeClr val="tx1"/>
                    </a:solidFill>
                    <a:effectLst/>
                    <a:latin typeface="+mn-lt"/>
                    <a:ea typeface="+mn-ea"/>
                    <a:cs typeface="+mn-cs"/>
                  </a:rPr>
                  <a:t>消息；否则，则创建一个空的</a:t>
                </a:r>
                <a:r>
                  <a:rPr lang="en-US" altLang="zh-CN" sz="1200" kern="1200" dirty="0">
                    <a:solidFill>
                      <a:schemeClr val="tx1"/>
                    </a:solidFill>
                    <a:effectLst/>
                    <a:latin typeface="+mn-lt"/>
                    <a:ea typeface="+mn-ea"/>
                    <a:cs typeface="+mn-cs"/>
                  </a:rPr>
                  <a:t>PRE-PREPARE</a:t>
                </a:r>
                <a:r>
                  <a:rPr lang="zh-CN" altLang="zh-CN" sz="1200" kern="1200" dirty="0">
                    <a:solidFill>
                      <a:schemeClr val="tx1"/>
                    </a:solidFill>
                    <a:effectLst/>
                    <a:latin typeface="+mn-lt"/>
                    <a:ea typeface="+mn-ea"/>
                    <a:cs typeface="+mn-cs"/>
                  </a:rPr>
                  <a:t>消息</a:t>
                </a:r>
                <a:r>
                  <a:rPr lang="en-US" altLang="zh-CN" sz="1200" i="0" kern="1200">
                    <a:solidFill>
                      <a:schemeClr val="tx1"/>
                    </a:solidFill>
                    <a:effectLst/>
                    <a:latin typeface="+mn-lt"/>
                    <a:ea typeface="+mn-ea"/>
                    <a:cs typeface="+mn-cs"/>
                  </a:rPr>
                  <a:t>&lt;&lt;𝑃𝑅𝐸−𝑃𝑅𝐸𝑃𝐴𝑅𝐸, 𝑣+1, 𝑛, 𝑑(𝑛𝑢𝑙𝑙)&gt;, 𝑚(𝑛𝑢𝑙𝑙)&gt;</a:t>
                </a:r>
                <a:r>
                  <a:rPr lang="zh-CN" altLang="zh-CN" sz="1200" kern="1200" dirty="0">
                    <a:solidFill>
                      <a:schemeClr val="tx1"/>
                    </a:solidFill>
                    <a:effectLst/>
                    <a:latin typeface="+mn-lt"/>
                    <a:ea typeface="+mn-ea"/>
                    <a:cs typeface="+mn-cs"/>
                  </a:rPr>
                  <a:t>，其中</a:t>
                </a:r>
                <a:r>
                  <a:rPr lang="en-US" altLang="zh-CN" sz="1200" i="0" kern="1200">
                    <a:solidFill>
                      <a:schemeClr val="tx1"/>
                    </a:solidFill>
                    <a:effectLst/>
                    <a:latin typeface="+mn-lt"/>
                    <a:ea typeface="+mn-ea"/>
                    <a:cs typeface="+mn-cs"/>
                  </a:rPr>
                  <a:t>𝑑(𝑛𝑢𝑙𝑙)</a:t>
                </a:r>
                <a:r>
                  <a:rPr lang="zh-CN" altLang="zh-CN" sz="1200" kern="1200" dirty="0">
                    <a:solidFill>
                      <a:schemeClr val="tx1"/>
                    </a:solidFill>
                    <a:effectLst/>
                    <a:latin typeface="+mn-lt"/>
                    <a:ea typeface="+mn-ea"/>
                    <a:cs typeface="+mn-cs"/>
                  </a:rPr>
                  <a:t>为空消息摘要，</a:t>
                </a:r>
                <a:r>
                  <a:rPr lang="en-US" altLang="zh-CN" sz="1200" i="0" kern="1200">
                    <a:solidFill>
                      <a:schemeClr val="tx1"/>
                    </a:solidFill>
                    <a:effectLst/>
                    <a:latin typeface="+mn-lt"/>
                    <a:ea typeface="+mn-ea"/>
                    <a:cs typeface="+mn-cs"/>
                  </a:rPr>
                  <a:t>𝑚</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𝑛𝑢𝑙𝑙)</a:t>
                </a:r>
                <a:r>
                  <a:rPr lang="zh-CN" altLang="zh-CN" sz="1200" kern="1200" dirty="0">
                    <a:solidFill>
                      <a:schemeClr val="tx1"/>
                    </a:solidFill>
                    <a:effectLst/>
                    <a:latin typeface="+mn-lt"/>
                    <a:ea typeface="+mn-ea"/>
                    <a:cs typeface="+mn-cs"/>
                  </a:rPr>
                  <a:t>为空消息。</a:t>
                </a:r>
              </a:p>
            </p:txBody>
          </p:sp>
        </mc:Fallback>
      </mc:AlternateContent>
      <p:sp>
        <p:nvSpPr>
          <p:cNvPr id="4" name="灯片编号占位符 3"/>
          <p:cNvSpPr>
            <a:spLocks noGrp="1"/>
          </p:cNvSpPr>
          <p:nvPr>
            <p:ph type="sldNum" sz="quarter" idx="5"/>
          </p:nvPr>
        </p:nvSpPr>
        <p:spPr/>
        <p:txBody>
          <a:bodyPr/>
          <a:lstStyle/>
          <a:p>
            <a:fld id="{840B8802-914A-7C41-BC77-CC54DEE99EEF}" type="slidenum">
              <a:rPr kumimoji="1" lang="zh-CN" altLang="en-US" smtClean="0"/>
              <a:t>38</a:t>
            </a:fld>
            <a:endParaRPr kumimoji="1" lang="zh-CN" altLang="en-US"/>
          </a:p>
        </p:txBody>
      </p:sp>
    </p:spTree>
    <p:extLst>
      <p:ext uri="{BB962C8B-B14F-4D97-AF65-F5344CB8AC3E}">
        <p14:creationId xmlns:p14="http://schemas.microsoft.com/office/powerpoint/2010/main" val="377245741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endParaRPr lang="en-US" altLang="zh-CN" sz="1200" kern="1200" dirty="0">
                  <a:solidFill>
                    <a:schemeClr val="tx1"/>
                  </a:solidFill>
                  <a:effectLst/>
                  <a:latin typeface="+mn-lt"/>
                  <a:ea typeface="+mn-ea"/>
                  <a:cs typeface="+mn-cs"/>
                </a:endParaRPr>
              </a:p>
            </p:txBody>
          </p:sp>
        </mc:Choice>
        <mc:Fallback xmlns="">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注意，当主节点</a:t>
                </a:r>
                <a:r>
                  <a:rPr lang="en-US" altLang="zh-CN" sz="1200" i="0" kern="1200">
                    <a:solidFill>
                      <a:schemeClr val="tx1"/>
                    </a:solidFill>
                    <a:effectLst/>
                    <a:latin typeface="+mn-lt"/>
                    <a:ea typeface="+mn-ea"/>
                    <a:cs typeface="+mn-cs"/>
                  </a:rPr>
                  <a:t>𝑖</a:t>
                </a:r>
                <a:r>
                  <a:rPr lang="zh-CN" altLang="zh-CN" sz="1200" kern="1200" dirty="0">
                    <a:solidFill>
                      <a:schemeClr val="tx1"/>
                    </a:solidFill>
                    <a:effectLst/>
                    <a:latin typeface="+mn-lt"/>
                    <a:ea typeface="+mn-ea"/>
                    <a:cs typeface="+mn-cs"/>
                  </a:rPr>
                  <a:t>收到</a:t>
                </a:r>
                <a:r>
                  <a:rPr lang="en-US" altLang="zh-CN" sz="1200" i="0" kern="1200">
                    <a:solidFill>
                      <a:schemeClr val="tx1"/>
                    </a:solidFill>
                    <a:effectLst/>
                    <a:latin typeface="+mn-lt"/>
                    <a:ea typeface="+mn-ea"/>
                    <a:cs typeface="+mn-cs"/>
                  </a:rPr>
                  <a:t>2𝐹+1</a:t>
                </a:r>
                <a:r>
                  <a:rPr lang="zh-CN" altLang="zh-CN" sz="1200" kern="1200" dirty="0">
                    <a:solidFill>
                      <a:schemeClr val="tx1"/>
                    </a:solidFill>
                    <a:effectLst/>
                    <a:latin typeface="+mn-lt"/>
                    <a:ea typeface="+mn-ea"/>
                    <a:cs typeface="+mn-cs"/>
                  </a:rPr>
                  <a:t>个</a:t>
                </a:r>
                <a:r>
                  <a:rPr lang="en-US" altLang="zh-CN" sz="1200" i="0" kern="1200">
                    <a:solidFill>
                      <a:schemeClr val="tx1"/>
                    </a:solidFill>
                    <a:effectLst/>
                    <a:latin typeface="+mn-lt"/>
                    <a:ea typeface="+mn-ea"/>
                    <a:cs typeface="+mn-cs"/>
                  </a:rPr>
                  <a:t>𝑉𝐼𝐸𝑊−𝐶𝐻𝐴𝑁𝐺𝐸</a:t>
                </a:r>
                <a:r>
                  <a:rPr lang="zh-CN" altLang="zh-CN" sz="1200" kern="1200" dirty="0">
                    <a:solidFill>
                      <a:schemeClr val="tx1"/>
                    </a:solidFill>
                    <a:effectLst/>
                    <a:latin typeface="+mn-lt"/>
                    <a:ea typeface="+mn-ea"/>
                    <a:cs typeface="+mn-cs"/>
                  </a:rPr>
                  <a:t>消息，可以确认高度为</a:t>
                </a:r>
                <a:r>
                  <a:rPr lang="en-US" altLang="zh-CN" sz="1200" i="0" kern="1200">
                    <a:solidFill>
                      <a:schemeClr val="tx1"/>
                    </a:solidFill>
                    <a:effectLst/>
                    <a:latin typeface="+mn-lt"/>
                    <a:ea typeface="+mn-ea"/>
                    <a:cs typeface="+mn-cs"/>
                  </a:rPr>
                  <a:t>𝑛</a:t>
                </a:r>
                <a:r>
                  <a:rPr lang="zh-CN" altLang="zh-CN" sz="1200" kern="1200" dirty="0">
                    <a:solidFill>
                      <a:schemeClr val="tx1"/>
                    </a:solidFill>
                    <a:effectLst/>
                    <a:latin typeface="+mn-lt"/>
                    <a:ea typeface="+mn-ea"/>
                    <a:cs typeface="+mn-cs"/>
                  </a:rPr>
                  <a:t>的稳定检查点之间的消息在视图切换的过程中不会丢失，但是当前检查点之后，下一个检查点之前的已经达到</a:t>
                </a:r>
                <a:r>
                  <a:rPr lang="en-US" altLang="zh-CN" sz="1200" kern="1200" dirty="0">
                    <a:solidFill>
                      <a:schemeClr val="tx1"/>
                    </a:solidFill>
                    <a:effectLst/>
                    <a:latin typeface="+mn-lt"/>
                    <a:ea typeface="+mn-ea"/>
                    <a:cs typeface="+mn-cs"/>
                  </a:rPr>
                  <a:t>PREPARED</a:t>
                </a:r>
                <a:r>
                  <a:rPr lang="zh-CN" altLang="zh-CN" sz="1200" kern="1200" dirty="0">
                    <a:solidFill>
                      <a:schemeClr val="tx1"/>
                    </a:solidFill>
                    <a:effectLst/>
                    <a:latin typeface="+mn-lt"/>
                    <a:ea typeface="+mn-ea"/>
                    <a:cs typeface="+mn-cs"/>
                  </a:rPr>
                  <a:t>状态的消息会丢失。因此，新视图的主节点会把旧视图中已经达到</a:t>
                </a:r>
                <a:r>
                  <a:rPr lang="en-US" altLang="zh-CN" sz="1200" kern="1200" dirty="0">
                    <a:solidFill>
                      <a:schemeClr val="tx1"/>
                    </a:solidFill>
                    <a:effectLst/>
                    <a:latin typeface="+mn-lt"/>
                    <a:ea typeface="+mn-ea"/>
                    <a:cs typeface="+mn-cs"/>
                  </a:rPr>
                  <a:t>PREPARED</a:t>
                </a:r>
                <a:r>
                  <a:rPr lang="zh-CN" altLang="zh-CN" sz="1200" kern="1200" dirty="0">
                    <a:solidFill>
                      <a:schemeClr val="tx1"/>
                    </a:solidFill>
                    <a:effectLst/>
                    <a:latin typeface="+mn-lt"/>
                    <a:ea typeface="+mn-ea"/>
                    <a:cs typeface="+mn-cs"/>
                  </a:rPr>
                  <a:t>状态的消息转换为</a:t>
                </a:r>
                <a:r>
                  <a:rPr lang="en-US" altLang="zh-CN" sz="1200" kern="1200" dirty="0">
                    <a:solidFill>
                      <a:schemeClr val="tx1"/>
                    </a:solidFill>
                    <a:effectLst/>
                    <a:latin typeface="+mn-lt"/>
                    <a:ea typeface="+mn-ea"/>
                    <a:cs typeface="+mn-cs"/>
                  </a:rPr>
                  <a:t>PRE-PREPARE</a:t>
                </a:r>
                <a:r>
                  <a:rPr lang="zh-CN" altLang="zh-CN" sz="1200" kern="1200" dirty="0">
                    <a:solidFill>
                      <a:schemeClr val="tx1"/>
                    </a:solidFill>
                    <a:effectLst/>
                    <a:latin typeface="+mn-lt"/>
                    <a:ea typeface="+mn-ea"/>
                    <a:cs typeface="+mn-cs"/>
                  </a:rPr>
                  <a:t>消息，重新广播到网络中了。</a:t>
                </a:r>
                <a:r>
                  <a:rPr lang="en-US" altLang="zh-CN" sz="1200" kern="1200" dirty="0">
                    <a:solidFill>
                      <a:schemeClr val="tx1"/>
                    </a:solidFill>
                    <a:effectLst/>
                    <a:latin typeface="+mn-lt"/>
                    <a:ea typeface="+mn-ea"/>
                    <a:cs typeface="+mn-cs"/>
                  </a:rPr>
                  <a:t>PRE-PREPARE</a:t>
                </a:r>
                <a:r>
                  <a:rPr lang="zh-CN" altLang="zh-CN" sz="1200" kern="1200" dirty="0">
                    <a:solidFill>
                      <a:schemeClr val="tx1"/>
                    </a:solidFill>
                    <a:effectLst/>
                    <a:latin typeface="+mn-lt"/>
                    <a:ea typeface="+mn-ea"/>
                    <a:cs typeface="+mn-cs"/>
                  </a:rPr>
                  <a:t>消息集合的选取规则如下所示：</a:t>
                </a:r>
              </a:p>
              <a:p>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）选取</a:t>
                </a:r>
                <a:r>
                  <a:rPr lang="en-US" altLang="zh-CN" sz="1200" i="0" kern="1200">
                    <a:solidFill>
                      <a:schemeClr val="tx1"/>
                    </a:solidFill>
                    <a:effectLst/>
                    <a:latin typeface="+mn-lt"/>
                    <a:ea typeface="+mn-ea"/>
                    <a:cs typeface="+mn-cs"/>
                  </a:rPr>
                  <a:t>𝑉</a:t>
                </a:r>
                <a:r>
                  <a:rPr lang="zh-CN" altLang="zh-CN" sz="1200" kern="1200" dirty="0">
                    <a:solidFill>
                      <a:schemeClr val="tx1"/>
                    </a:solidFill>
                    <a:effectLst/>
                    <a:latin typeface="+mn-lt"/>
                    <a:ea typeface="+mn-ea"/>
                    <a:cs typeface="+mn-cs"/>
                  </a:rPr>
                  <a:t>中高度最低的稳定检查点的编号</a:t>
                </a:r>
                <a:r>
                  <a:rPr lang="en-US" altLang="zh-CN" sz="1200" i="0" kern="1200">
                    <a:solidFill>
                      <a:schemeClr val="tx1"/>
                    </a:solidFill>
                    <a:effectLst/>
                    <a:latin typeface="+mn-lt"/>
                    <a:ea typeface="+mn-ea"/>
                    <a:cs typeface="+mn-cs"/>
                  </a:rPr>
                  <a:t>𝑚𝑖𝑛</a:t>
                </a:r>
                <a:r>
                  <a:rPr lang="zh-CN" altLang="zh-CN" sz="1200" kern="1200" dirty="0">
                    <a:solidFill>
                      <a:schemeClr val="tx1"/>
                    </a:solidFill>
                    <a:effectLst/>
                    <a:latin typeface="+mn-lt"/>
                    <a:ea typeface="+mn-ea"/>
                    <a:cs typeface="+mn-cs"/>
                  </a:rPr>
                  <a:t>，以及</a:t>
                </a:r>
                <a:r>
                  <a:rPr lang="en-US" altLang="zh-CN" sz="1200" i="0" kern="1200">
                    <a:solidFill>
                      <a:schemeClr val="tx1"/>
                    </a:solidFill>
                    <a:effectLst/>
                    <a:latin typeface="+mn-lt"/>
                    <a:ea typeface="+mn-ea"/>
                    <a:cs typeface="+mn-cs"/>
                  </a:rPr>
                  <a:t>𝑉</a:t>
                </a:r>
                <a:r>
                  <a:rPr lang="zh-CN" altLang="zh-CN" sz="1200" kern="1200" dirty="0">
                    <a:solidFill>
                      <a:schemeClr val="tx1"/>
                    </a:solidFill>
                    <a:effectLst/>
                    <a:latin typeface="+mn-lt"/>
                    <a:ea typeface="+mn-ea"/>
                    <a:cs typeface="+mn-cs"/>
                  </a:rPr>
                  <a:t>中已达到</a:t>
                </a:r>
                <a:r>
                  <a:rPr lang="en-US" altLang="zh-CN" sz="1200" kern="1200" dirty="0">
                    <a:solidFill>
                      <a:schemeClr val="tx1"/>
                    </a:solidFill>
                    <a:effectLst/>
                    <a:latin typeface="+mn-lt"/>
                    <a:ea typeface="+mn-ea"/>
                    <a:cs typeface="+mn-cs"/>
                  </a:rPr>
                  <a:t>PREPARED</a:t>
                </a:r>
                <a:r>
                  <a:rPr lang="zh-CN" altLang="zh-CN" sz="1200" kern="1200" dirty="0">
                    <a:solidFill>
                      <a:schemeClr val="tx1"/>
                    </a:solidFill>
                    <a:effectLst/>
                    <a:latin typeface="+mn-lt"/>
                    <a:ea typeface="+mn-ea"/>
                    <a:cs typeface="+mn-cs"/>
                  </a:rPr>
                  <a:t>状态消息的最大编号</a:t>
                </a:r>
                <a:r>
                  <a:rPr lang="en-US" altLang="zh-CN" sz="1200" i="0" kern="1200">
                    <a:solidFill>
                      <a:schemeClr val="tx1"/>
                    </a:solidFill>
                    <a:effectLst/>
                    <a:latin typeface="+mn-lt"/>
                    <a:ea typeface="+mn-ea"/>
                    <a:cs typeface="+mn-cs"/>
                  </a:rPr>
                  <a:t>𝑚𝑎𝑥</a:t>
                </a:r>
                <a:r>
                  <a:rPr lang="zh-CN" altLang="zh-CN" sz="1200" kern="1200" dirty="0">
                    <a:solidFill>
                      <a:schemeClr val="tx1"/>
                    </a:solidFill>
                    <a:effectLst/>
                    <a:latin typeface="+mn-lt"/>
                    <a:ea typeface="+mn-ea"/>
                    <a:cs typeface="+mn-cs"/>
                  </a:rPr>
                  <a:t>。</a:t>
                </a:r>
              </a:p>
              <a:p>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）对于</a:t>
                </a:r>
                <a:r>
                  <a:rPr lang="en-US" altLang="zh-CN" sz="1200" i="0" kern="1200">
                    <a:solidFill>
                      <a:schemeClr val="tx1"/>
                    </a:solidFill>
                    <a:effectLst/>
                    <a:latin typeface="+mn-lt"/>
                    <a:ea typeface="+mn-ea"/>
                    <a:cs typeface="+mn-cs"/>
                  </a:rPr>
                  <a:t>𝑚𝑖𝑛</a:t>
                </a:r>
                <a:r>
                  <a:rPr lang="zh-CN" altLang="zh-CN" sz="1200" kern="1200" dirty="0">
                    <a:solidFill>
                      <a:schemeClr val="tx1"/>
                    </a:solidFill>
                    <a:effectLst/>
                    <a:latin typeface="+mn-lt"/>
                    <a:ea typeface="+mn-ea"/>
                    <a:cs typeface="+mn-cs"/>
                  </a:rPr>
                  <a:t>和</a:t>
                </a:r>
                <a:r>
                  <a:rPr lang="en-US" altLang="zh-CN" sz="1200" i="0" kern="1200">
                    <a:solidFill>
                      <a:schemeClr val="tx1"/>
                    </a:solidFill>
                    <a:effectLst/>
                    <a:latin typeface="+mn-lt"/>
                    <a:ea typeface="+mn-ea"/>
                    <a:cs typeface="+mn-cs"/>
                  </a:rPr>
                  <a:t>𝑚𝑎𝑥</a:t>
                </a:r>
                <a:r>
                  <a:rPr lang="zh-CN" altLang="zh-CN" sz="1200" kern="1200" dirty="0">
                    <a:solidFill>
                      <a:schemeClr val="tx1"/>
                    </a:solidFill>
                    <a:effectLst/>
                    <a:latin typeface="+mn-lt"/>
                    <a:ea typeface="+mn-ea"/>
                    <a:cs typeface="+mn-cs"/>
                  </a:rPr>
                  <a:t>之间的每个序号</a:t>
                </a:r>
                <a:r>
                  <a:rPr lang="en-US" altLang="zh-CN" sz="1200" i="0" kern="1200">
                    <a:solidFill>
                      <a:schemeClr val="tx1"/>
                    </a:solidFill>
                    <a:effectLst/>
                    <a:latin typeface="+mn-lt"/>
                    <a:ea typeface="+mn-ea"/>
                    <a:cs typeface="+mn-cs"/>
                  </a:rPr>
                  <a:t>𝑛</a:t>
                </a:r>
                <a:r>
                  <a:rPr lang="zh-CN" altLang="zh-CN" sz="1200" kern="1200" dirty="0">
                    <a:solidFill>
                      <a:schemeClr val="tx1"/>
                    </a:solidFill>
                    <a:effectLst/>
                    <a:latin typeface="+mn-lt"/>
                    <a:ea typeface="+mn-ea"/>
                    <a:cs typeface="+mn-cs"/>
                  </a:rPr>
                  <a:t>，如果存在某个</a:t>
                </a:r>
                <a:r>
                  <a:rPr lang="en-US" altLang="zh-CN" sz="1200" i="0" kern="1200">
                    <a:solidFill>
                      <a:schemeClr val="tx1"/>
                    </a:solidFill>
                    <a:effectLst/>
                    <a:latin typeface="+mn-lt"/>
                    <a:ea typeface="+mn-ea"/>
                    <a:cs typeface="+mn-cs"/>
                  </a:rPr>
                  <a:t>𝑃</a:t>
                </a:r>
                <a:r>
                  <a:rPr lang="zh-CN" altLang="zh-CN" sz="1200" kern="1200" dirty="0">
                    <a:solidFill>
                      <a:schemeClr val="tx1"/>
                    </a:solidFill>
                    <a:effectLst/>
                    <a:latin typeface="+mn-lt"/>
                    <a:ea typeface="+mn-ea"/>
                    <a:cs typeface="+mn-cs"/>
                  </a:rPr>
                  <a:t>中，则创建</a:t>
                </a:r>
                <a:r>
                  <a:rPr lang="en-US" altLang="zh-CN" sz="1200" i="0" kern="1200">
                    <a:solidFill>
                      <a:schemeClr val="tx1"/>
                    </a:solidFill>
                    <a:effectLst/>
                    <a:latin typeface="+mn-lt"/>
                    <a:ea typeface="+mn-ea"/>
                    <a:cs typeface="+mn-cs"/>
                  </a:rPr>
                  <a:t>&lt;&lt;𝑃𝑅𝐸−𝑃𝑅𝐸𝑃𝐴𝑅𝐸, 𝑣+1, 𝑛, 𝑑&gt;, 𝑚&gt;</a:t>
                </a:r>
                <a:r>
                  <a:rPr lang="zh-CN" altLang="zh-CN" sz="1200" kern="1200" dirty="0">
                    <a:solidFill>
                      <a:schemeClr val="tx1"/>
                    </a:solidFill>
                    <a:effectLst/>
                    <a:latin typeface="+mn-lt"/>
                    <a:ea typeface="+mn-ea"/>
                    <a:cs typeface="+mn-cs"/>
                  </a:rPr>
                  <a:t>消息；否则，则创建一个空的</a:t>
                </a:r>
                <a:r>
                  <a:rPr lang="en-US" altLang="zh-CN" sz="1200" kern="1200" dirty="0">
                    <a:solidFill>
                      <a:schemeClr val="tx1"/>
                    </a:solidFill>
                    <a:effectLst/>
                    <a:latin typeface="+mn-lt"/>
                    <a:ea typeface="+mn-ea"/>
                    <a:cs typeface="+mn-cs"/>
                  </a:rPr>
                  <a:t>PRE-PREPARE</a:t>
                </a:r>
                <a:r>
                  <a:rPr lang="zh-CN" altLang="zh-CN" sz="1200" kern="1200" dirty="0">
                    <a:solidFill>
                      <a:schemeClr val="tx1"/>
                    </a:solidFill>
                    <a:effectLst/>
                    <a:latin typeface="+mn-lt"/>
                    <a:ea typeface="+mn-ea"/>
                    <a:cs typeface="+mn-cs"/>
                  </a:rPr>
                  <a:t>消息</a:t>
                </a:r>
                <a:r>
                  <a:rPr lang="en-US" altLang="zh-CN" sz="1200" i="0" kern="1200">
                    <a:solidFill>
                      <a:schemeClr val="tx1"/>
                    </a:solidFill>
                    <a:effectLst/>
                    <a:latin typeface="+mn-lt"/>
                    <a:ea typeface="+mn-ea"/>
                    <a:cs typeface="+mn-cs"/>
                  </a:rPr>
                  <a:t>&lt;&lt;𝑃𝑅𝐸−𝑃𝑅𝐸𝑃𝐴𝑅𝐸, 𝑣+1, 𝑛, 𝑑(𝑛𝑢𝑙𝑙)&gt;, 𝑚(𝑛𝑢𝑙𝑙)&gt;</a:t>
                </a:r>
                <a:r>
                  <a:rPr lang="zh-CN" altLang="zh-CN" sz="1200" kern="1200" dirty="0">
                    <a:solidFill>
                      <a:schemeClr val="tx1"/>
                    </a:solidFill>
                    <a:effectLst/>
                    <a:latin typeface="+mn-lt"/>
                    <a:ea typeface="+mn-ea"/>
                    <a:cs typeface="+mn-cs"/>
                  </a:rPr>
                  <a:t>，其中</a:t>
                </a:r>
                <a:r>
                  <a:rPr lang="en-US" altLang="zh-CN" sz="1200" i="0" kern="1200">
                    <a:solidFill>
                      <a:schemeClr val="tx1"/>
                    </a:solidFill>
                    <a:effectLst/>
                    <a:latin typeface="+mn-lt"/>
                    <a:ea typeface="+mn-ea"/>
                    <a:cs typeface="+mn-cs"/>
                  </a:rPr>
                  <a:t>𝑑(𝑛𝑢𝑙𝑙)</a:t>
                </a:r>
                <a:r>
                  <a:rPr lang="zh-CN" altLang="zh-CN" sz="1200" kern="1200" dirty="0">
                    <a:solidFill>
                      <a:schemeClr val="tx1"/>
                    </a:solidFill>
                    <a:effectLst/>
                    <a:latin typeface="+mn-lt"/>
                    <a:ea typeface="+mn-ea"/>
                    <a:cs typeface="+mn-cs"/>
                  </a:rPr>
                  <a:t>为空消息摘要，</a:t>
                </a:r>
                <a:r>
                  <a:rPr lang="en-US" altLang="zh-CN" sz="1200" i="0" kern="1200">
                    <a:solidFill>
                      <a:schemeClr val="tx1"/>
                    </a:solidFill>
                    <a:effectLst/>
                    <a:latin typeface="+mn-lt"/>
                    <a:ea typeface="+mn-ea"/>
                    <a:cs typeface="+mn-cs"/>
                  </a:rPr>
                  <a:t>𝑚</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𝑛𝑢𝑙𝑙)</a:t>
                </a:r>
                <a:r>
                  <a:rPr lang="zh-CN" altLang="zh-CN" sz="1200" kern="1200" dirty="0">
                    <a:solidFill>
                      <a:schemeClr val="tx1"/>
                    </a:solidFill>
                    <a:effectLst/>
                    <a:latin typeface="+mn-lt"/>
                    <a:ea typeface="+mn-ea"/>
                    <a:cs typeface="+mn-cs"/>
                  </a:rPr>
                  <a:t>为空消息。</a:t>
                </a:r>
              </a:p>
            </p:txBody>
          </p:sp>
        </mc:Fallback>
      </mc:AlternateContent>
      <p:sp>
        <p:nvSpPr>
          <p:cNvPr id="4" name="灯片编号占位符 3"/>
          <p:cNvSpPr>
            <a:spLocks noGrp="1"/>
          </p:cNvSpPr>
          <p:nvPr>
            <p:ph type="sldNum" sz="quarter" idx="5"/>
          </p:nvPr>
        </p:nvSpPr>
        <p:spPr/>
        <p:txBody>
          <a:bodyPr/>
          <a:lstStyle/>
          <a:p>
            <a:fld id="{840B8802-914A-7C41-BC77-CC54DEE99EEF}" type="slidenum">
              <a:rPr kumimoji="1" lang="zh-CN" altLang="en-US" smtClean="0"/>
              <a:t>39</a:t>
            </a:fld>
            <a:endParaRPr kumimoji="1" lang="zh-CN" altLang="en-US"/>
          </a:p>
        </p:txBody>
      </p:sp>
    </p:spTree>
    <p:extLst>
      <p:ext uri="{BB962C8B-B14F-4D97-AF65-F5344CB8AC3E}">
        <p14:creationId xmlns:p14="http://schemas.microsoft.com/office/powerpoint/2010/main" val="203076102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endParaRPr lang="en-US" altLang="zh-CN" sz="1200" kern="1200" dirty="0">
                  <a:solidFill>
                    <a:schemeClr val="tx1"/>
                  </a:solidFill>
                  <a:effectLst/>
                  <a:latin typeface="+mn-lt"/>
                  <a:ea typeface="+mn-ea"/>
                  <a:cs typeface="+mn-cs"/>
                </a:endParaRPr>
              </a:p>
            </p:txBody>
          </p:sp>
        </mc:Choice>
        <mc:Fallback xmlns="">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注意，当主节点</a:t>
                </a:r>
                <a:r>
                  <a:rPr lang="en-US" altLang="zh-CN" sz="1200" i="0" kern="1200">
                    <a:solidFill>
                      <a:schemeClr val="tx1"/>
                    </a:solidFill>
                    <a:effectLst/>
                    <a:latin typeface="+mn-lt"/>
                    <a:ea typeface="+mn-ea"/>
                    <a:cs typeface="+mn-cs"/>
                  </a:rPr>
                  <a:t>𝑖</a:t>
                </a:r>
                <a:r>
                  <a:rPr lang="zh-CN" altLang="zh-CN" sz="1200" kern="1200" dirty="0">
                    <a:solidFill>
                      <a:schemeClr val="tx1"/>
                    </a:solidFill>
                    <a:effectLst/>
                    <a:latin typeface="+mn-lt"/>
                    <a:ea typeface="+mn-ea"/>
                    <a:cs typeface="+mn-cs"/>
                  </a:rPr>
                  <a:t>收到</a:t>
                </a:r>
                <a:r>
                  <a:rPr lang="en-US" altLang="zh-CN" sz="1200" i="0" kern="1200">
                    <a:solidFill>
                      <a:schemeClr val="tx1"/>
                    </a:solidFill>
                    <a:effectLst/>
                    <a:latin typeface="+mn-lt"/>
                    <a:ea typeface="+mn-ea"/>
                    <a:cs typeface="+mn-cs"/>
                  </a:rPr>
                  <a:t>2𝐹+1</a:t>
                </a:r>
                <a:r>
                  <a:rPr lang="zh-CN" altLang="zh-CN" sz="1200" kern="1200" dirty="0">
                    <a:solidFill>
                      <a:schemeClr val="tx1"/>
                    </a:solidFill>
                    <a:effectLst/>
                    <a:latin typeface="+mn-lt"/>
                    <a:ea typeface="+mn-ea"/>
                    <a:cs typeface="+mn-cs"/>
                  </a:rPr>
                  <a:t>个</a:t>
                </a:r>
                <a:r>
                  <a:rPr lang="en-US" altLang="zh-CN" sz="1200" i="0" kern="1200">
                    <a:solidFill>
                      <a:schemeClr val="tx1"/>
                    </a:solidFill>
                    <a:effectLst/>
                    <a:latin typeface="+mn-lt"/>
                    <a:ea typeface="+mn-ea"/>
                    <a:cs typeface="+mn-cs"/>
                  </a:rPr>
                  <a:t>𝑉𝐼𝐸𝑊−𝐶𝐻𝐴𝑁𝐺𝐸</a:t>
                </a:r>
                <a:r>
                  <a:rPr lang="zh-CN" altLang="zh-CN" sz="1200" kern="1200" dirty="0">
                    <a:solidFill>
                      <a:schemeClr val="tx1"/>
                    </a:solidFill>
                    <a:effectLst/>
                    <a:latin typeface="+mn-lt"/>
                    <a:ea typeface="+mn-ea"/>
                    <a:cs typeface="+mn-cs"/>
                  </a:rPr>
                  <a:t>消息，可以确认高度为</a:t>
                </a:r>
                <a:r>
                  <a:rPr lang="en-US" altLang="zh-CN" sz="1200" i="0" kern="1200">
                    <a:solidFill>
                      <a:schemeClr val="tx1"/>
                    </a:solidFill>
                    <a:effectLst/>
                    <a:latin typeface="+mn-lt"/>
                    <a:ea typeface="+mn-ea"/>
                    <a:cs typeface="+mn-cs"/>
                  </a:rPr>
                  <a:t>𝑛</a:t>
                </a:r>
                <a:r>
                  <a:rPr lang="zh-CN" altLang="zh-CN" sz="1200" kern="1200" dirty="0">
                    <a:solidFill>
                      <a:schemeClr val="tx1"/>
                    </a:solidFill>
                    <a:effectLst/>
                    <a:latin typeface="+mn-lt"/>
                    <a:ea typeface="+mn-ea"/>
                    <a:cs typeface="+mn-cs"/>
                  </a:rPr>
                  <a:t>的稳定检查点之间的消息在视图切换的过程中不会丢失，但是当前检查点之后，下一个检查点之前的已经达到</a:t>
                </a:r>
                <a:r>
                  <a:rPr lang="en-US" altLang="zh-CN" sz="1200" kern="1200" dirty="0">
                    <a:solidFill>
                      <a:schemeClr val="tx1"/>
                    </a:solidFill>
                    <a:effectLst/>
                    <a:latin typeface="+mn-lt"/>
                    <a:ea typeface="+mn-ea"/>
                    <a:cs typeface="+mn-cs"/>
                  </a:rPr>
                  <a:t>PREPARED</a:t>
                </a:r>
                <a:r>
                  <a:rPr lang="zh-CN" altLang="zh-CN" sz="1200" kern="1200" dirty="0">
                    <a:solidFill>
                      <a:schemeClr val="tx1"/>
                    </a:solidFill>
                    <a:effectLst/>
                    <a:latin typeface="+mn-lt"/>
                    <a:ea typeface="+mn-ea"/>
                    <a:cs typeface="+mn-cs"/>
                  </a:rPr>
                  <a:t>状态的消息会丢失。因此，新视图的主节点会把旧视图中已经达到</a:t>
                </a:r>
                <a:r>
                  <a:rPr lang="en-US" altLang="zh-CN" sz="1200" kern="1200" dirty="0">
                    <a:solidFill>
                      <a:schemeClr val="tx1"/>
                    </a:solidFill>
                    <a:effectLst/>
                    <a:latin typeface="+mn-lt"/>
                    <a:ea typeface="+mn-ea"/>
                    <a:cs typeface="+mn-cs"/>
                  </a:rPr>
                  <a:t>PREPARED</a:t>
                </a:r>
                <a:r>
                  <a:rPr lang="zh-CN" altLang="zh-CN" sz="1200" kern="1200" dirty="0">
                    <a:solidFill>
                      <a:schemeClr val="tx1"/>
                    </a:solidFill>
                    <a:effectLst/>
                    <a:latin typeface="+mn-lt"/>
                    <a:ea typeface="+mn-ea"/>
                    <a:cs typeface="+mn-cs"/>
                  </a:rPr>
                  <a:t>状态的消息转换为</a:t>
                </a:r>
                <a:r>
                  <a:rPr lang="en-US" altLang="zh-CN" sz="1200" kern="1200" dirty="0">
                    <a:solidFill>
                      <a:schemeClr val="tx1"/>
                    </a:solidFill>
                    <a:effectLst/>
                    <a:latin typeface="+mn-lt"/>
                    <a:ea typeface="+mn-ea"/>
                    <a:cs typeface="+mn-cs"/>
                  </a:rPr>
                  <a:t>PRE-PREPARE</a:t>
                </a:r>
                <a:r>
                  <a:rPr lang="zh-CN" altLang="zh-CN" sz="1200" kern="1200" dirty="0">
                    <a:solidFill>
                      <a:schemeClr val="tx1"/>
                    </a:solidFill>
                    <a:effectLst/>
                    <a:latin typeface="+mn-lt"/>
                    <a:ea typeface="+mn-ea"/>
                    <a:cs typeface="+mn-cs"/>
                  </a:rPr>
                  <a:t>消息，重新广播到网络中了。</a:t>
                </a:r>
                <a:r>
                  <a:rPr lang="en-US" altLang="zh-CN" sz="1200" kern="1200" dirty="0">
                    <a:solidFill>
                      <a:schemeClr val="tx1"/>
                    </a:solidFill>
                    <a:effectLst/>
                    <a:latin typeface="+mn-lt"/>
                    <a:ea typeface="+mn-ea"/>
                    <a:cs typeface="+mn-cs"/>
                  </a:rPr>
                  <a:t>PRE-PREPARE</a:t>
                </a:r>
                <a:r>
                  <a:rPr lang="zh-CN" altLang="zh-CN" sz="1200" kern="1200" dirty="0">
                    <a:solidFill>
                      <a:schemeClr val="tx1"/>
                    </a:solidFill>
                    <a:effectLst/>
                    <a:latin typeface="+mn-lt"/>
                    <a:ea typeface="+mn-ea"/>
                    <a:cs typeface="+mn-cs"/>
                  </a:rPr>
                  <a:t>消息集合的选取规则如下所示：</a:t>
                </a:r>
              </a:p>
              <a:p>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）选取</a:t>
                </a:r>
                <a:r>
                  <a:rPr lang="en-US" altLang="zh-CN" sz="1200" i="0" kern="1200">
                    <a:solidFill>
                      <a:schemeClr val="tx1"/>
                    </a:solidFill>
                    <a:effectLst/>
                    <a:latin typeface="+mn-lt"/>
                    <a:ea typeface="+mn-ea"/>
                    <a:cs typeface="+mn-cs"/>
                  </a:rPr>
                  <a:t>𝑉</a:t>
                </a:r>
                <a:r>
                  <a:rPr lang="zh-CN" altLang="zh-CN" sz="1200" kern="1200" dirty="0">
                    <a:solidFill>
                      <a:schemeClr val="tx1"/>
                    </a:solidFill>
                    <a:effectLst/>
                    <a:latin typeface="+mn-lt"/>
                    <a:ea typeface="+mn-ea"/>
                    <a:cs typeface="+mn-cs"/>
                  </a:rPr>
                  <a:t>中高度最低的稳定检查点的编号</a:t>
                </a:r>
                <a:r>
                  <a:rPr lang="en-US" altLang="zh-CN" sz="1200" i="0" kern="1200">
                    <a:solidFill>
                      <a:schemeClr val="tx1"/>
                    </a:solidFill>
                    <a:effectLst/>
                    <a:latin typeface="+mn-lt"/>
                    <a:ea typeface="+mn-ea"/>
                    <a:cs typeface="+mn-cs"/>
                  </a:rPr>
                  <a:t>𝑚𝑖𝑛</a:t>
                </a:r>
                <a:r>
                  <a:rPr lang="zh-CN" altLang="zh-CN" sz="1200" kern="1200" dirty="0">
                    <a:solidFill>
                      <a:schemeClr val="tx1"/>
                    </a:solidFill>
                    <a:effectLst/>
                    <a:latin typeface="+mn-lt"/>
                    <a:ea typeface="+mn-ea"/>
                    <a:cs typeface="+mn-cs"/>
                  </a:rPr>
                  <a:t>，以及</a:t>
                </a:r>
                <a:r>
                  <a:rPr lang="en-US" altLang="zh-CN" sz="1200" i="0" kern="1200">
                    <a:solidFill>
                      <a:schemeClr val="tx1"/>
                    </a:solidFill>
                    <a:effectLst/>
                    <a:latin typeface="+mn-lt"/>
                    <a:ea typeface="+mn-ea"/>
                    <a:cs typeface="+mn-cs"/>
                  </a:rPr>
                  <a:t>𝑉</a:t>
                </a:r>
                <a:r>
                  <a:rPr lang="zh-CN" altLang="zh-CN" sz="1200" kern="1200" dirty="0">
                    <a:solidFill>
                      <a:schemeClr val="tx1"/>
                    </a:solidFill>
                    <a:effectLst/>
                    <a:latin typeface="+mn-lt"/>
                    <a:ea typeface="+mn-ea"/>
                    <a:cs typeface="+mn-cs"/>
                  </a:rPr>
                  <a:t>中已达到</a:t>
                </a:r>
                <a:r>
                  <a:rPr lang="en-US" altLang="zh-CN" sz="1200" kern="1200" dirty="0">
                    <a:solidFill>
                      <a:schemeClr val="tx1"/>
                    </a:solidFill>
                    <a:effectLst/>
                    <a:latin typeface="+mn-lt"/>
                    <a:ea typeface="+mn-ea"/>
                    <a:cs typeface="+mn-cs"/>
                  </a:rPr>
                  <a:t>PREPARED</a:t>
                </a:r>
                <a:r>
                  <a:rPr lang="zh-CN" altLang="zh-CN" sz="1200" kern="1200" dirty="0">
                    <a:solidFill>
                      <a:schemeClr val="tx1"/>
                    </a:solidFill>
                    <a:effectLst/>
                    <a:latin typeface="+mn-lt"/>
                    <a:ea typeface="+mn-ea"/>
                    <a:cs typeface="+mn-cs"/>
                  </a:rPr>
                  <a:t>状态消息的最大编号</a:t>
                </a:r>
                <a:r>
                  <a:rPr lang="en-US" altLang="zh-CN" sz="1200" i="0" kern="1200">
                    <a:solidFill>
                      <a:schemeClr val="tx1"/>
                    </a:solidFill>
                    <a:effectLst/>
                    <a:latin typeface="+mn-lt"/>
                    <a:ea typeface="+mn-ea"/>
                    <a:cs typeface="+mn-cs"/>
                  </a:rPr>
                  <a:t>𝑚𝑎𝑥</a:t>
                </a:r>
                <a:r>
                  <a:rPr lang="zh-CN" altLang="zh-CN" sz="1200" kern="1200" dirty="0">
                    <a:solidFill>
                      <a:schemeClr val="tx1"/>
                    </a:solidFill>
                    <a:effectLst/>
                    <a:latin typeface="+mn-lt"/>
                    <a:ea typeface="+mn-ea"/>
                    <a:cs typeface="+mn-cs"/>
                  </a:rPr>
                  <a:t>。</a:t>
                </a:r>
              </a:p>
              <a:p>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）对于</a:t>
                </a:r>
                <a:r>
                  <a:rPr lang="en-US" altLang="zh-CN" sz="1200" i="0" kern="1200">
                    <a:solidFill>
                      <a:schemeClr val="tx1"/>
                    </a:solidFill>
                    <a:effectLst/>
                    <a:latin typeface="+mn-lt"/>
                    <a:ea typeface="+mn-ea"/>
                    <a:cs typeface="+mn-cs"/>
                  </a:rPr>
                  <a:t>𝑚𝑖𝑛</a:t>
                </a:r>
                <a:r>
                  <a:rPr lang="zh-CN" altLang="zh-CN" sz="1200" kern="1200" dirty="0">
                    <a:solidFill>
                      <a:schemeClr val="tx1"/>
                    </a:solidFill>
                    <a:effectLst/>
                    <a:latin typeface="+mn-lt"/>
                    <a:ea typeface="+mn-ea"/>
                    <a:cs typeface="+mn-cs"/>
                  </a:rPr>
                  <a:t>和</a:t>
                </a:r>
                <a:r>
                  <a:rPr lang="en-US" altLang="zh-CN" sz="1200" i="0" kern="1200">
                    <a:solidFill>
                      <a:schemeClr val="tx1"/>
                    </a:solidFill>
                    <a:effectLst/>
                    <a:latin typeface="+mn-lt"/>
                    <a:ea typeface="+mn-ea"/>
                    <a:cs typeface="+mn-cs"/>
                  </a:rPr>
                  <a:t>𝑚𝑎𝑥</a:t>
                </a:r>
                <a:r>
                  <a:rPr lang="zh-CN" altLang="zh-CN" sz="1200" kern="1200" dirty="0">
                    <a:solidFill>
                      <a:schemeClr val="tx1"/>
                    </a:solidFill>
                    <a:effectLst/>
                    <a:latin typeface="+mn-lt"/>
                    <a:ea typeface="+mn-ea"/>
                    <a:cs typeface="+mn-cs"/>
                  </a:rPr>
                  <a:t>之间的每个序号</a:t>
                </a:r>
                <a:r>
                  <a:rPr lang="en-US" altLang="zh-CN" sz="1200" i="0" kern="1200">
                    <a:solidFill>
                      <a:schemeClr val="tx1"/>
                    </a:solidFill>
                    <a:effectLst/>
                    <a:latin typeface="+mn-lt"/>
                    <a:ea typeface="+mn-ea"/>
                    <a:cs typeface="+mn-cs"/>
                  </a:rPr>
                  <a:t>𝑛</a:t>
                </a:r>
                <a:r>
                  <a:rPr lang="zh-CN" altLang="zh-CN" sz="1200" kern="1200" dirty="0">
                    <a:solidFill>
                      <a:schemeClr val="tx1"/>
                    </a:solidFill>
                    <a:effectLst/>
                    <a:latin typeface="+mn-lt"/>
                    <a:ea typeface="+mn-ea"/>
                    <a:cs typeface="+mn-cs"/>
                  </a:rPr>
                  <a:t>，如果存在某个</a:t>
                </a:r>
                <a:r>
                  <a:rPr lang="en-US" altLang="zh-CN" sz="1200" i="0" kern="1200">
                    <a:solidFill>
                      <a:schemeClr val="tx1"/>
                    </a:solidFill>
                    <a:effectLst/>
                    <a:latin typeface="+mn-lt"/>
                    <a:ea typeface="+mn-ea"/>
                    <a:cs typeface="+mn-cs"/>
                  </a:rPr>
                  <a:t>𝑃</a:t>
                </a:r>
                <a:r>
                  <a:rPr lang="zh-CN" altLang="zh-CN" sz="1200" kern="1200" dirty="0">
                    <a:solidFill>
                      <a:schemeClr val="tx1"/>
                    </a:solidFill>
                    <a:effectLst/>
                    <a:latin typeface="+mn-lt"/>
                    <a:ea typeface="+mn-ea"/>
                    <a:cs typeface="+mn-cs"/>
                  </a:rPr>
                  <a:t>中，则创建</a:t>
                </a:r>
                <a:r>
                  <a:rPr lang="en-US" altLang="zh-CN" sz="1200" i="0" kern="1200">
                    <a:solidFill>
                      <a:schemeClr val="tx1"/>
                    </a:solidFill>
                    <a:effectLst/>
                    <a:latin typeface="+mn-lt"/>
                    <a:ea typeface="+mn-ea"/>
                    <a:cs typeface="+mn-cs"/>
                  </a:rPr>
                  <a:t>&lt;&lt;𝑃𝑅𝐸−𝑃𝑅𝐸𝑃𝐴𝑅𝐸, 𝑣+1, 𝑛, 𝑑&gt;, 𝑚&gt;</a:t>
                </a:r>
                <a:r>
                  <a:rPr lang="zh-CN" altLang="zh-CN" sz="1200" kern="1200" dirty="0">
                    <a:solidFill>
                      <a:schemeClr val="tx1"/>
                    </a:solidFill>
                    <a:effectLst/>
                    <a:latin typeface="+mn-lt"/>
                    <a:ea typeface="+mn-ea"/>
                    <a:cs typeface="+mn-cs"/>
                  </a:rPr>
                  <a:t>消息；否则，则创建一个空的</a:t>
                </a:r>
                <a:r>
                  <a:rPr lang="en-US" altLang="zh-CN" sz="1200" kern="1200" dirty="0">
                    <a:solidFill>
                      <a:schemeClr val="tx1"/>
                    </a:solidFill>
                    <a:effectLst/>
                    <a:latin typeface="+mn-lt"/>
                    <a:ea typeface="+mn-ea"/>
                    <a:cs typeface="+mn-cs"/>
                  </a:rPr>
                  <a:t>PRE-PREPARE</a:t>
                </a:r>
                <a:r>
                  <a:rPr lang="zh-CN" altLang="zh-CN" sz="1200" kern="1200" dirty="0">
                    <a:solidFill>
                      <a:schemeClr val="tx1"/>
                    </a:solidFill>
                    <a:effectLst/>
                    <a:latin typeface="+mn-lt"/>
                    <a:ea typeface="+mn-ea"/>
                    <a:cs typeface="+mn-cs"/>
                  </a:rPr>
                  <a:t>消息</a:t>
                </a:r>
                <a:r>
                  <a:rPr lang="en-US" altLang="zh-CN" sz="1200" i="0" kern="1200">
                    <a:solidFill>
                      <a:schemeClr val="tx1"/>
                    </a:solidFill>
                    <a:effectLst/>
                    <a:latin typeface="+mn-lt"/>
                    <a:ea typeface="+mn-ea"/>
                    <a:cs typeface="+mn-cs"/>
                  </a:rPr>
                  <a:t>&lt;&lt;𝑃𝑅𝐸−𝑃𝑅𝐸𝑃𝐴𝑅𝐸, 𝑣+1, 𝑛, 𝑑(𝑛𝑢𝑙𝑙)&gt;, 𝑚(𝑛𝑢𝑙𝑙)&gt;</a:t>
                </a:r>
                <a:r>
                  <a:rPr lang="zh-CN" altLang="zh-CN" sz="1200" kern="1200" dirty="0">
                    <a:solidFill>
                      <a:schemeClr val="tx1"/>
                    </a:solidFill>
                    <a:effectLst/>
                    <a:latin typeface="+mn-lt"/>
                    <a:ea typeface="+mn-ea"/>
                    <a:cs typeface="+mn-cs"/>
                  </a:rPr>
                  <a:t>，其中</a:t>
                </a:r>
                <a:r>
                  <a:rPr lang="en-US" altLang="zh-CN" sz="1200" i="0" kern="1200">
                    <a:solidFill>
                      <a:schemeClr val="tx1"/>
                    </a:solidFill>
                    <a:effectLst/>
                    <a:latin typeface="+mn-lt"/>
                    <a:ea typeface="+mn-ea"/>
                    <a:cs typeface="+mn-cs"/>
                  </a:rPr>
                  <a:t>𝑑(𝑛𝑢𝑙𝑙)</a:t>
                </a:r>
                <a:r>
                  <a:rPr lang="zh-CN" altLang="zh-CN" sz="1200" kern="1200" dirty="0">
                    <a:solidFill>
                      <a:schemeClr val="tx1"/>
                    </a:solidFill>
                    <a:effectLst/>
                    <a:latin typeface="+mn-lt"/>
                    <a:ea typeface="+mn-ea"/>
                    <a:cs typeface="+mn-cs"/>
                  </a:rPr>
                  <a:t>为空消息摘要，</a:t>
                </a:r>
                <a:r>
                  <a:rPr lang="en-US" altLang="zh-CN" sz="1200" i="0" kern="1200">
                    <a:solidFill>
                      <a:schemeClr val="tx1"/>
                    </a:solidFill>
                    <a:effectLst/>
                    <a:latin typeface="+mn-lt"/>
                    <a:ea typeface="+mn-ea"/>
                    <a:cs typeface="+mn-cs"/>
                  </a:rPr>
                  <a:t>𝑚</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𝑛𝑢𝑙𝑙)</a:t>
                </a:r>
                <a:r>
                  <a:rPr lang="zh-CN" altLang="zh-CN" sz="1200" kern="1200" dirty="0">
                    <a:solidFill>
                      <a:schemeClr val="tx1"/>
                    </a:solidFill>
                    <a:effectLst/>
                    <a:latin typeface="+mn-lt"/>
                    <a:ea typeface="+mn-ea"/>
                    <a:cs typeface="+mn-cs"/>
                  </a:rPr>
                  <a:t>为空消息。</a:t>
                </a:r>
              </a:p>
            </p:txBody>
          </p:sp>
        </mc:Fallback>
      </mc:AlternateContent>
      <p:sp>
        <p:nvSpPr>
          <p:cNvPr id="4" name="灯片编号占位符 3"/>
          <p:cNvSpPr>
            <a:spLocks noGrp="1"/>
          </p:cNvSpPr>
          <p:nvPr>
            <p:ph type="sldNum" sz="quarter" idx="5"/>
          </p:nvPr>
        </p:nvSpPr>
        <p:spPr/>
        <p:txBody>
          <a:bodyPr/>
          <a:lstStyle/>
          <a:p>
            <a:fld id="{840B8802-914A-7C41-BC77-CC54DEE99EEF}" type="slidenum">
              <a:rPr kumimoji="1" lang="zh-CN" altLang="en-US" smtClean="0"/>
              <a:t>40</a:t>
            </a:fld>
            <a:endParaRPr kumimoji="1" lang="zh-CN" altLang="en-US"/>
          </a:p>
        </p:txBody>
      </p:sp>
    </p:spTree>
    <p:extLst>
      <p:ext uri="{BB962C8B-B14F-4D97-AF65-F5344CB8AC3E}">
        <p14:creationId xmlns:p14="http://schemas.microsoft.com/office/powerpoint/2010/main" val="163614434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endParaRPr lang="en-US" altLang="zh-CN" sz="1200" kern="1200" dirty="0">
                  <a:solidFill>
                    <a:schemeClr val="tx1"/>
                  </a:solidFill>
                  <a:effectLst/>
                  <a:latin typeface="+mn-lt"/>
                  <a:ea typeface="+mn-ea"/>
                  <a:cs typeface="+mn-cs"/>
                </a:endParaRPr>
              </a:p>
            </p:txBody>
          </p:sp>
        </mc:Choice>
        <mc:Fallback xmlns="">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注意，当主节点</a:t>
                </a:r>
                <a:r>
                  <a:rPr lang="en-US" altLang="zh-CN" sz="1200" i="0" kern="1200">
                    <a:solidFill>
                      <a:schemeClr val="tx1"/>
                    </a:solidFill>
                    <a:effectLst/>
                    <a:latin typeface="+mn-lt"/>
                    <a:ea typeface="+mn-ea"/>
                    <a:cs typeface="+mn-cs"/>
                  </a:rPr>
                  <a:t>𝑖</a:t>
                </a:r>
                <a:r>
                  <a:rPr lang="zh-CN" altLang="zh-CN" sz="1200" kern="1200" dirty="0">
                    <a:solidFill>
                      <a:schemeClr val="tx1"/>
                    </a:solidFill>
                    <a:effectLst/>
                    <a:latin typeface="+mn-lt"/>
                    <a:ea typeface="+mn-ea"/>
                    <a:cs typeface="+mn-cs"/>
                  </a:rPr>
                  <a:t>收到</a:t>
                </a:r>
                <a:r>
                  <a:rPr lang="en-US" altLang="zh-CN" sz="1200" i="0" kern="1200">
                    <a:solidFill>
                      <a:schemeClr val="tx1"/>
                    </a:solidFill>
                    <a:effectLst/>
                    <a:latin typeface="+mn-lt"/>
                    <a:ea typeface="+mn-ea"/>
                    <a:cs typeface="+mn-cs"/>
                  </a:rPr>
                  <a:t>2𝐹+1</a:t>
                </a:r>
                <a:r>
                  <a:rPr lang="zh-CN" altLang="zh-CN" sz="1200" kern="1200" dirty="0">
                    <a:solidFill>
                      <a:schemeClr val="tx1"/>
                    </a:solidFill>
                    <a:effectLst/>
                    <a:latin typeface="+mn-lt"/>
                    <a:ea typeface="+mn-ea"/>
                    <a:cs typeface="+mn-cs"/>
                  </a:rPr>
                  <a:t>个</a:t>
                </a:r>
                <a:r>
                  <a:rPr lang="en-US" altLang="zh-CN" sz="1200" i="0" kern="1200">
                    <a:solidFill>
                      <a:schemeClr val="tx1"/>
                    </a:solidFill>
                    <a:effectLst/>
                    <a:latin typeface="+mn-lt"/>
                    <a:ea typeface="+mn-ea"/>
                    <a:cs typeface="+mn-cs"/>
                  </a:rPr>
                  <a:t>𝑉𝐼𝐸𝑊−𝐶𝐻𝐴𝑁𝐺𝐸</a:t>
                </a:r>
                <a:r>
                  <a:rPr lang="zh-CN" altLang="zh-CN" sz="1200" kern="1200" dirty="0">
                    <a:solidFill>
                      <a:schemeClr val="tx1"/>
                    </a:solidFill>
                    <a:effectLst/>
                    <a:latin typeface="+mn-lt"/>
                    <a:ea typeface="+mn-ea"/>
                    <a:cs typeface="+mn-cs"/>
                  </a:rPr>
                  <a:t>消息，可以确认高度为</a:t>
                </a:r>
                <a:r>
                  <a:rPr lang="en-US" altLang="zh-CN" sz="1200" i="0" kern="1200">
                    <a:solidFill>
                      <a:schemeClr val="tx1"/>
                    </a:solidFill>
                    <a:effectLst/>
                    <a:latin typeface="+mn-lt"/>
                    <a:ea typeface="+mn-ea"/>
                    <a:cs typeface="+mn-cs"/>
                  </a:rPr>
                  <a:t>𝑛</a:t>
                </a:r>
                <a:r>
                  <a:rPr lang="zh-CN" altLang="zh-CN" sz="1200" kern="1200" dirty="0">
                    <a:solidFill>
                      <a:schemeClr val="tx1"/>
                    </a:solidFill>
                    <a:effectLst/>
                    <a:latin typeface="+mn-lt"/>
                    <a:ea typeface="+mn-ea"/>
                    <a:cs typeface="+mn-cs"/>
                  </a:rPr>
                  <a:t>的稳定检查点之间的消息在视图切换的过程中不会丢失，但是当前检查点之后，下一个检查点之前的已经达到</a:t>
                </a:r>
                <a:r>
                  <a:rPr lang="en-US" altLang="zh-CN" sz="1200" kern="1200" dirty="0">
                    <a:solidFill>
                      <a:schemeClr val="tx1"/>
                    </a:solidFill>
                    <a:effectLst/>
                    <a:latin typeface="+mn-lt"/>
                    <a:ea typeface="+mn-ea"/>
                    <a:cs typeface="+mn-cs"/>
                  </a:rPr>
                  <a:t>PREPARED</a:t>
                </a:r>
                <a:r>
                  <a:rPr lang="zh-CN" altLang="zh-CN" sz="1200" kern="1200" dirty="0">
                    <a:solidFill>
                      <a:schemeClr val="tx1"/>
                    </a:solidFill>
                    <a:effectLst/>
                    <a:latin typeface="+mn-lt"/>
                    <a:ea typeface="+mn-ea"/>
                    <a:cs typeface="+mn-cs"/>
                  </a:rPr>
                  <a:t>状态的消息会丢失。因此，新视图的主节点会把旧视图中已经达到</a:t>
                </a:r>
                <a:r>
                  <a:rPr lang="en-US" altLang="zh-CN" sz="1200" kern="1200" dirty="0">
                    <a:solidFill>
                      <a:schemeClr val="tx1"/>
                    </a:solidFill>
                    <a:effectLst/>
                    <a:latin typeface="+mn-lt"/>
                    <a:ea typeface="+mn-ea"/>
                    <a:cs typeface="+mn-cs"/>
                  </a:rPr>
                  <a:t>PREPARED</a:t>
                </a:r>
                <a:r>
                  <a:rPr lang="zh-CN" altLang="zh-CN" sz="1200" kern="1200" dirty="0">
                    <a:solidFill>
                      <a:schemeClr val="tx1"/>
                    </a:solidFill>
                    <a:effectLst/>
                    <a:latin typeface="+mn-lt"/>
                    <a:ea typeface="+mn-ea"/>
                    <a:cs typeface="+mn-cs"/>
                  </a:rPr>
                  <a:t>状态的消息转换为</a:t>
                </a:r>
                <a:r>
                  <a:rPr lang="en-US" altLang="zh-CN" sz="1200" kern="1200" dirty="0">
                    <a:solidFill>
                      <a:schemeClr val="tx1"/>
                    </a:solidFill>
                    <a:effectLst/>
                    <a:latin typeface="+mn-lt"/>
                    <a:ea typeface="+mn-ea"/>
                    <a:cs typeface="+mn-cs"/>
                  </a:rPr>
                  <a:t>PRE-PREPARE</a:t>
                </a:r>
                <a:r>
                  <a:rPr lang="zh-CN" altLang="zh-CN" sz="1200" kern="1200" dirty="0">
                    <a:solidFill>
                      <a:schemeClr val="tx1"/>
                    </a:solidFill>
                    <a:effectLst/>
                    <a:latin typeface="+mn-lt"/>
                    <a:ea typeface="+mn-ea"/>
                    <a:cs typeface="+mn-cs"/>
                  </a:rPr>
                  <a:t>消息，重新广播到网络中了。</a:t>
                </a:r>
                <a:r>
                  <a:rPr lang="en-US" altLang="zh-CN" sz="1200" kern="1200" dirty="0">
                    <a:solidFill>
                      <a:schemeClr val="tx1"/>
                    </a:solidFill>
                    <a:effectLst/>
                    <a:latin typeface="+mn-lt"/>
                    <a:ea typeface="+mn-ea"/>
                    <a:cs typeface="+mn-cs"/>
                  </a:rPr>
                  <a:t>PRE-PREPARE</a:t>
                </a:r>
                <a:r>
                  <a:rPr lang="zh-CN" altLang="zh-CN" sz="1200" kern="1200" dirty="0">
                    <a:solidFill>
                      <a:schemeClr val="tx1"/>
                    </a:solidFill>
                    <a:effectLst/>
                    <a:latin typeface="+mn-lt"/>
                    <a:ea typeface="+mn-ea"/>
                    <a:cs typeface="+mn-cs"/>
                  </a:rPr>
                  <a:t>消息集合的选取规则如下所示：</a:t>
                </a:r>
              </a:p>
              <a:p>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）选取</a:t>
                </a:r>
                <a:r>
                  <a:rPr lang="en-US" altLang="zh-CN" sz="1200" i="0" kern="1200">
                    <a:solidFill>
                      <a:schemeClr val="tx1"/>
                    </a:solidFill>
                    <a:effectLst/>
                    <a:latin typeface="+mn-lt"/>
                    <a:ea typeface="+mn-ea"/>
                    <a:cs typeface="+mn-cs"/>
                  </a:rPr>
                  <a:t>𝑉</a:t>
                </a:r>
                <a:r>
                  <a:rPr lang="zh-CN" altLang="zh-CN" sz="1200" kern="1200" dirty="0">
                    <a:solidFill>
                      <a:schemeClr val="tx1"/>
                    </a:solidFill>
                    <a:effectLst/>
                    <a:latin typeface="+mn-lt"/>
                    <a:ea typeface="+mn-ea"/>
                    <a:cs typeface="+mn-cs"/>
                  </a:rPr>
                  <a:t>中高度最低的稳定检查点的编号</a:t>
                </a:r>
                <a:r>
                  <a:rPr lang="en-US" altLang="zh-CN" sz="1200" i="0" kern="1200">
                    <a:solidFill>
                      <a:schemeClr val="tx1"/>
                    </a:solidFill>
                    <a:effectLst/>
                    <a:latin typeface="+mn-lt"/>
                    <a:ea typeface="+mn-ea"/>
                    <a:cs typeface="+mn-cs"/>
                  </a:rPr>
                  <a:t>𝑚𝑖𝑛</a:t>
                </a:r>
                <a:r>
                  <a:rPr lang="zh-CN" altLang="zh-CN" sz="1200" kern="1200" dirty="0">
                    <a:solidFill>
                      <a:schemeClr val="tx1"/>
                    </a:solidFill>
                    <a:effectLst/>
                    <a:latin typeface="+mn-lt"/>
                    <a:ea typeface="+mn-ea"/>
                    <a:cs typeface="+mn-cs"/>
                  </a:rPr>
                  <a:t>，以及</a:t>
                </a:r>
                <a:r>
                  <a:rPr lang="en-US" altLang="zh-CN" sz="1200" i="0" kern="1200">
                    <a:solidFill>
                      <a:schemeClr val="tx1"/>
                    </a:solidFill>
                    <a:effectLst/>
                    <a:latin typeface="+mn-lt"/>
                    <a:ea typeface="+mn-ea"/>
                    <a:cs typeface="+mn-cs"/>
                  </a:rPr>
                  <a:t>𝑉</a:t>
                </a:r>
                <a:r>
                  <a:rPr lang="zh-CN" altLang="zh-CN" sz="1200" kern="1200" dirty="0">
                    <a:solidFill>
                      <a:schemeClr val="tx1"/>
                    </a:solidFill>
                    <a:effectLst/>
                    <a:latin typeface="+mn-lt"/>
                    <a:ea typeface="+mn-ea"/>
                    <a:cs typeface="+mn-cs"/>
                  </a:rPr>
                  <a:t>中已达到</a:t>
                </a:r>
                <a:r>
                  <a:rPr lang="en-US" altLang="zh-CN" sz="1200" kern="1200" dirty="0">
                    <a:solidFill>
                      <a:schemeClr val="tx1"/>
                    </a:solidFill>
                    <a:effectLst/>
                    <a:latin typeface="+mn-lt"/>
                    <a:ea typeface="+mn-ea"/>
                    <a:cs typeface="+mn-cs"/>
                  </a:rPr>
                  <a:t>PREPARED</a:t>
                </a:r>
                <a:r>
                  <a:rPr lang="zh-CN" altLang="zh-CN" sz="1200" kern="1200" dirty="0">
                    <a:solidFill>
                      <a:schemeClr val="tx1"/>
                    </a:solidFill>
                    <a:effectLst/>
                    <a:latin typeface="+mn-lt"/>
                    <a:ea typeface="+mn-ea"/>
                    <a:cs typeface="+mn-cs"/>
                  </a:rPr>
                  <a:t>状态消息的最大编号</a:t>
                </a:r>
                <a:r>
                  <a:rPr lang="en-US" altLang="zh-CN" sz="1200" i="0" kern="1200">
                    <a:solidFill>
                      <a:schemeClr val="tx1"/>
                    </a:solidFill>
                    <a:effectLst/>
                    <a:latin typeface="+mn-lt"/>
                    <a:ea typeface="+mn-ea"/>
                    <a:cs typeface="+mn-cs"/>
                  </a:rPr>
                  <a:t>𝑚𝑎𝑥</a:t>
                </a:r>
                <a:r>
                  <a:rPr lang="zh-CN" altLang="zh-CN" sz="1200" kern="1200" dirty="0">
                    <a:solidFill>
                      <a:schemeClr val="tx1"/>
                    </a:solidFill>
                    <a:effectLst/>
                    <a:latin typeface="+mn-lt"/>
                    <a:ea typeface="+mn-ea"/>
                    <a:cs typeface="+mn-cs"/>
                  </a:rPr>
                  <a:t>。</a:t>
                </a:r>
              </a:p>
              <a:p>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）对于</a:t>
                </a:r>
                <a:r>
                  <a:rPr lang="en-US" altLang="zh-CN" sz="1200" i="0" kern="1200">
                    <a:solidFill>
                      <a:schemeClr val="tx1"/>
                    </a:solidFill>
                    <a:effectLst/>
                    <a:latin typeface="+mn-lt"/>
                    <a:ea typeface="+mn-ea"/>
                    <a:cs typeface="+mn-cs"/>
                  </a:rPr>
                  <a:t>𝑚𝑖𝑛</a:t>
                </a:r>
                <a:r>
                  <a:rPr lang="zh-CN" altLang="zh-CN" sz="1200" kern="1200" dirty="0">
                    <a:solidFill>
                      <a:schemeClr val="tx1"/>
                    </a:solidFill>
                    <a:effectLst/>
                    <a:latin typeface="+mn-lt"/>
                    <a:ea typeface="+mn-ea"/>
                    <a:cs typeface="+mn-cs"/>
                  </a:rPr>
                  <a:t>和</a:t>
                </a:r>
                <a:r>
                  <a:rPr lang="en-US" altLang="zh-CN" sz="1200" i="0" kern="1200">
                    <a:solidFill>
                      <a:schemeClr val="tx1"/>
                    </a:solidFill>
                    <a:effectLst/>
                    <a:latin typeface="+mn-lt"/>
                    <a:ea typeface="+mn-ea"/>
                    <a:cs typeface="+mn-cs"/>
                  </a:rPr>
                  <a:t>𝑚𝑎𝑥</a:t>
                </a:r>
                <a:r>
                  <a:rPr lang="zh-CN" altLang="zh-CN" sz="1200" kern="1200" dirty="0">
                    <a:solidFill>
                      <a:schemeClr val="tx1"/>
                    </a:solidFill>
                    <a:effectLst/>
                    <a:latin typeface="+mn-lt"/>
                    <a:ea typeface="+mn-ea"/>
                    <a:cs typeface="+mn-cs"/>
                  </a:rPr>
                  <a:t>之间的每个序号</a:t>
                </a:r>
                <a:r>
                  <a:rPr lang="en-US" altLang="zh-CN" sz="1200" i="0" kern="1200">
                    <a:solidFill>
                      <a:schemeClr val="tx1"/>
                    </a:solidFill>
                    <a:effectLst/>
                    <a:latin typeface="+mn-lt"/>
                    <a:ea typeface="+mn-ea"/>
                    <a:cs typeface="+mn-cs"/>
                  </a:rPr>
                  <a:t>𝑛</a:t>
                </a:r>
                <a:r>
                  <a:rPr lang="zh-CN" altLang="zh-CN" sz="1200" kern="1200" dirty="0">
                    <a:solidFill>
                      <a:schemeClr val="tx1"/>
                    </a:solidFill>
                    <a:effectLst/>
                    <a:latin typeface="+mn-lt"/>
                    <a:ea typeface="+mn-ea"/>
                    <a:cs typeface="+mn-cs"/>
                  </a:rPr>
                  <a:t>，如果存在某个</a:t>
                </a:r>
                <a:r>
                  <a:rPr lang="en-US" altLang="zh-CN" sz="1200" i="0" kern="1200">
                    <a:solidFill>
                      <a:schemeClr val="tx1"/>
                    </a:solidFill>
                    <a:effectLst/>
                    <a:latin typeface="+mn-lt"/>
                    <a:ea typeface="+mn-ea"/>
                    <a:cs typeface="+mn-cs"/>
                  </a:rPr>
                  <a:t>𝑃</a:t>
                </a:r>
                <a:r>
                  <a:rPr lang="zh-CN" altLang="zh-CN" sz="1200" kern="1200" dirty="0">
                    <a:solidFill>
                      <a:schemeClr val="tx1"/>
                    </a:solidFill>
                    <a:effectLst/>
                    <a:latin typeface="+mn-lt"/>
                    <a:ea typeface="+mn-ea"/>
                    <a:cs typeface="+mn-cs"/>
                  </a:rPr>
                  <a:t>中，则创建</a:t>
                </a:r>
                <a:r>
                  <a:rPr lang="en-US" altLang="zh-CN" sz="1200" i="0" kern="1200">
                    <a:solidFill>
                      <a:schemeClr val="tx1"/>
                    </a:solidFill>
                    <a:effectLst/>
                    <a:latin typeface="+mn-lt"/>
                    <a:ea typeface="+mn-ea"/>
                    <a:cs typeface="+mn-cs"/>
                  </a:rPr>
                  <a:t>&lt;&lt;𝑃𝑅𝐸−𝑃𝑅𝐸𝑃𝐴𝑅𝐸, 𝑣+1, 𝑛, 𝑑&gt;, 𝑚&gt;</a:t>
                </a:r>
                <a:r>
                  <a:rPr lang="zh-CN" altLang="zh-CN" sz="1200" kern="1200" dirty="0">
                    <a:solidFill>
                      <a:schemeClr val="tx1"/>
                    </a:solidFill>
                    <a:effectLst/>
                    <a:latin typeface="+mn-lt"/>
                    <a:ea typeface="+mn-ea"/>
                    <a:cs typeface="+mn-cs"/>
                  </a:rPr>
                  <a:t>消息；否则，则创建一个空的</a:t>
                </a:r>
                <a:r>
                  <a:rPr lang="en-US" altLang="zh-CN" sz="1200" kern="1200" dirty="0">
                    <a:solidFill>
                      <a:schemeClr val="tx1"/>
                    </a:solidFill>
                    <a:effectLst/>
                    <a:latin typeface="+mn-lt"/>
                    <a:ea typeface="+mn-ea"/>
                    <a:cs typeface="+mn-cs"/>
                  </a:rPr>
                  <a:t>PRE-PREPARE</a:t>
                </a:r>
                <a:r>
                  <a:rPr lang="zh-CN" altLang="zh-CN" sz="1200" kern="1200" dirty="0">
                    <a:solidFill>
                      <a:schemeClr val="tx1"/>
                    </a:solidFill>
                    <a:effectLst/>
                    <a:latin typeface="+mn-lt"/>
                    <a:ea typeface="+mn-ea"/>
                    <a:cs typeface="+mn-cs"/>
                  </a:rPr>
                  <a:t>消息</a:t>
                </a:r>
                <a:r>
                  <a:rPr lang="en-US" altLang="zh-CN" sz="1200" i="0" kern="1200">
                    <a:solidFill>
                      <a:schemeClr val="tx1"/>
                    </a:solidFill>
                    <a:effectLst/>
                    <a:latin typeface="+mn-lt"/>
                    <a:ea typeface="+mn-ea"/>
                    <a:cs typeface="+mn-cs"/>
                  </a:rPr>
                  <a:t>&lt;&lt;𝑃𝑅𝐸−𝑃𝑅𝐸𝑃𝐴𝑅𝐸, 𝑣+1, 𝑛, 𝑑(𝑛𝑢𝑙𝑙)&gt;, 𝑚(𝑛𝑢𝑙𝑙)&gt;</a:t>
                </a:r>
                <a:r>
                  <a:rPr lang="zh-CN" altLang="zh-CN" sz="1200" kern="1200" dirty="0">
                    <a:solidFill>
                      <a:schemeClr val="tx1"/>
                    </a:solidFill>
                    <a:effectLst/>
                    <a:latin typeface="+mn-lt"/>
                    <a:ea typeface="+mn-ea"/>
                    <a:cs typeface="+mn-cs"/>
                  </a:rPr>
                  <a:t>，其中</a:t>
                </a:r>
                <a:r>
                  <a:rPr lang="en-US" altLang="zh-CN" sz="1200" i="0" kern="1200">
                    <a:solidFill>
                      <a:schemeClr val="tx1"/>
                    </a:solidFill>
                    <a:effectLst/>
                    <a:latin typeface="+mn-lt"/>
                    <a:ea typeface="+mn-ea"/>
                    <a:cs typeface="+mn-cs"/>
                  </a:rPr>
                  <a:t>𝑑(𝑛𝑢𝑙𝑙)</a:t>
                </a:r>
                <a:r>
                  <a:rPr lang="zh-CN" altLang="zh-CN" sz="1200" kern="1200" dirty="0">
                    <a:solidFill>
                      <a:schemeClr val="tx1"/>
                    </a:solidFill>
                    <a:effectLst/>
                    <a:latin typeface="+mn-lt"/>
                    <a:ea typeface="+mn-ea"/>
                    <a:cs typeface="+mn-cs"/>
                  </a:rPr>
                  <a:t>为空消息摘要，</a:t>
                </a:r>
                <a:r>
                  <a:rPr lang="en-US" altLang="zh-CN" sz="1200" i="0" kern="1200">
                    <a:solidFill>
                      <a:schemeClr val="tx1"/>
                    </a:solidFill>
                    <a:effectLst/>
                    <a:latin typeface="+mn-lt"/>
                    <a:ea typeface="+mn-ea"/>
                    <a:cs typeface="+mn-cs"/>
                  </a:rPr>
                  <a:t>𝑚</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𝑛𝑢𝑙𝑙)</a:t>
                </a:r>
                <a:r>
                  <a:rPr lang="zh-CN" altLang="zh-CN" sz="1200" kern="1200" dirty="0">
                    <a:solidFill>
                      <a:schemeClr val="tx1"/>
                    </a:solidFill>
                    <a:effectLst/>
                    <a:latin typeface="+mn-lt"/>
                    <a:ea typeface="+mn-ea"/>
                    <a:cs typeface="+mn-cs"/>
                  </a:rPr>
                  <a:t>为空消息。</a:t>
                </a:r>
              </a:p>
            </p:txBody>
          </p:sp>
        </mc:Fallback>
      </mc:AlternateContent>
      <p:sp>
        <p:nvSpPr>
          <p:cNvPr id="4" name="灯片编号占位符 3"/>
          <p:cNvSpPr>
            <a:spLocks noGrp="1"/>
          </p:cNvSpPr>
          <p:nvPr>
            <p:ph type="sldNum" sz="quarter" idx="5"/>
          </p:nvPr>
        </p:nvSpPr>
        <p:spPr/>
        <p:txBody>
          <a:bodyPr/>
          <a:lstStyle/>
          <a:p>
            <a:fld id="{840B8802-914A-7C41-BC77-CC54DEE99EEF}" type="slidenum">
              <a:rPr kumimoji="1" lang="zh-CN" altLang="en-US" smtClean="0"/>
              <a:t>41</a:t>
            </a:fld>
            <a:endParaRPr kumimoji="1" lang="zh-CN" altLang="en-US"/>
          </a:p>
        </p:txBody>
      </p:sp>
    </p:spTree>
    <p:extLst>
      <p:ext uri="{BB962C8B-B14F-4D97-AF65-F5344CB8AC3E}">
        <p14:creationId xmlns:p14="http://schemas.microsoft.com/office/powerpoint/2010/main" val="87455721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endParaRPr lang="en-US" altLang="zh-CN" sz="1200" kern="1200" dirty="0">
                  <a:solidFill>
                    <a:schemeClr val="tx1"/>
                  </a:solidFill>
                  <a:effectLst/>
                  <a:latin typeface="+mn-lt"/>
                  <a:ea typeface="+mn-ea"/>
                  <a:cs typeface="+mn-cs"/>
                </a:endParaRPr>
              </a:p>
            </p:txBody>
          </p:sp>
        </mc:Choice>
        <mc:Fallback xmlns="">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注意，当主节点</a:t>
                </a:r>
                <a:r>
                  <a:rPr lang="en-US" altLang="zh-CN" sz="1200" i="0" kern="1200">
                    <a:solidFill>
                      <a:schemeClr val="tx1"/>
                    </a:solidFill>
                    <a:effectLst/>
                    <a:latin typeface="+mn-lt"/>
                    <a:ea typeface="+mn-ea"/>
                    <a:cs typeface="+mn-cs"/>
                  </a:rPr>
                  <a:t>𝑖</a:t>
                </a:r>
                <a:r>
                  <a:rPr lang="zh-CN" altLang="zh-CN" sz="1200" kern="1200" dirty="0">
                    <a:solidFill>
                      <a:schemeClr val="tx1"/>
                    </a:solidFill>
                    <a:effectLst/>
                    <a:latin typeface="+mn-lt"/>
                    <a:ea typeface="+mn-ea"/>
                    <a:cs typeface="+mn-cs"/>
                  </a:rPr>
                  <a:t>收到</a:t>
                </a:r>
                <a:r>
                  <a:rPr lang="en-US" altLang="zh-CN" sz="1200" i="0" kern="1200">
                    <a:solidFill>
                      <a:schemeClr val="tx1"/>
                    </a:solidFill>
                    <a:effectLst/>
                    <a:latin typeface="+mn-lt"/>
                    <a:ea typeface="+mn-ea"/>
                    <a:cs typeface="+mn-cs"/>
                  </a:rPr>
                  <a:t>2𝐹+1</a:t>
                </a:r>
                <a:r>
                  <a:rPr lang="zh-CN" altLang="zh-CN" sz="1200" kern="1200" dirty="0">
                    <a:solidFill>
                      <a:schemeClr val="tx1"/>
                    </a:solidFill>
                    <a:effectLst/>
                    <a:latin typeface="+mn-lt"/>
                    <a:ea typeface="+mn-ea"/>
                    <a:cs typeface="+mn-cs"/>
                  </a:rPr>
                  <a:t>个</a:t>
                </a:r>
                <a:r>
                  <a:rPr lang="en-US" altLang="zh-CN" sz="1200" i="0" kern="1200">
                    <a:solidFill>
                      <a:schemeClr val="tx1"/>
                    </a:solidFill>
                    <a:effectLst/>
                    <a:latin typeface="+mn-lt"/>
                    <a:ea typeface="+mn-ea"/>
                    <a:cs typeface="+mn-cs"/>
                  </a:rPr>
                  <a:t>𝑉𝐼𝐸𝑊−𝐶𝐻𝐴𝑁𝐺𝐸</a:t>
                </a:r>
                <a:r>
                  <a:rPr lang="zh-CN" altLang="zh-CN" sz="1200" kern="1200" dirty="0">
                    <a:solidFill>
                      <a:schemeClr val="tx1"/>
                    </a:solidFill>
                    <a:effectLst/>
                    <a:latin typeface="+mn-lt"/>
                    <a:ea typeface="+mn-ea"/>
                    <a:cs typeface="+mn-cs"/>
                  </a:rPr>
                  <a:t>消息，可以确认高度为</a:t>
                </a:r>
                <a:r>
                  <a:rPr lang="en-US" altLang="zh-CN" sz="1200" i="0" kern="1200">
                    <a:solidFill>
                      <a:schemeClr val="tx1"/>
                    </a:solidFill>
                    <a:effectLst/>
                    <a:latin typeface="+mn-lt"/>
                    <a:ea typeface="+mn-ea"/>
                    <a:cs typeface="+mn-cs"/>
                  </a:rPr>
                  <a:t>𝑛</a:t>
                </a:r>
                <a:r>
                  <a:rPr lang="zh-CN" altLang="zh-CN" sz="1200" kern="1200" dirty="0">
                    <a:solidFill>
                      <a:schemeClr val="tx1"/>
                    </a:solidFill>
                    <a:effectLst/>
                    <a:latin typeface="+mn-lt"/>
                    <a:ea typeface="+mn-ea"/>
                    <a:cs typeface="+mn-cs"/>
                  </a:rPr>
                  <a:t>的稳定检查点之间的消息在视图切换的过程中不会丢失，但是当前检查点之后，下一个检查点之前的已经达到</a:t>
                </a:r>
                <a:r>
                  <a:rPr lang="en-US" altLang="zh-CN" sz="1200" kern="1200" dirty="0">
                    <a:solidFill>
                      <a:schemeClr val="tx1"/>
                    </a:solidFill>
                    <a:effectLst/>
                    <a:latin typeface="+mn-lt"/>
                    <a:ea typeface="+mn-ea"/>
                    <a:cs typeface="+mn-cs"/>
                  </a:rPr>
                  <a:t>PREPARED</a:t>
                </a:r>
                <a:r>
                  <a:rPr lang="zh-CN" altLang="zh-CN" sz="1200" kern="1200" dirty="0">
                    <a:solidFill>
                      <a:schemeClr val="tx1"/>
                    </a:solidFill>
                    <a:effectLst/>
                    <a:latin typeface="+mn-lt"/>
                    <a:ea typeface="+mn-ea"/>
                    <a:cs typeface="+mn-cs"/>
                  </a:rPr>
                  <a:t>状态的消息会丢失。因此，新视图的主节点会把旧视图中已经达到</a:t>
                </a:r>
                <a:r>
                  <a:rPr lang="en-US" altLang="zh-CN" sz="1200" kern="1200" dirty="0">
                    <a:solidFill>
                      <a:schemeClr val="tx1"/>
                    </a:solidFill>
                    <a:effectLst/>
                    <a:latin typeface="+mn-lt"/>
                    <a:ea typeface="+mn-ea"/>
                    <a:cs typeface="+mn-cs"/>
                  </a:rPr>
                  <a:t>PREPARED</a:t>
                </a:r>
                <a:r>
                  <a:rPr lang="zh-CN" altLang="zh-CN" sz="1200" kern="1200" dirty="0">
                    <a:solidFill>
                      <a:schemeClr val="tx1"/>
                    </a:solidFill>
                    <a:effectLst/>
                    <a:latin typeface="+mn-lt"/>
                    <a:ea typeface="+mn-ea"/>
                    <a:cs typeface="+mn-cs"/>
                  </a:rPr>
                  <a:t>状态的消息转换为</a:t>
                </a:r>
                <a:r>
                  <a:rPr lang="en-US" altLang="zh-CN" sz="1200" kern="1200" dirty="0">
                    <a:solidFill>
                      <a:schemeClr val="tx1"/>
                    </a:solidFill>
                    <a:effectLst/>
                    <a:latin typeface="+mn-lt"/>
                    <a:ea typeface="+mn-ea"/>
                    <a:cs typeface="+mn-cs"/>
                  </a:rPr>
                  <a:t>PRE-PREPARE</a:t>
                </a:r>
                <a:r>
                  <a:rPr lang="zh-CN" altLang="zh-CN" sz="1200" kern="1200" dirty="0">
                    <a:solidFill>
                      <a:schemeClr val="tx1"/>
                    </a:solidFill>
                    <a:effectLst/>
                    <a:latin typeface="+mn-lt"/>
                    <a:ea typeface="+mn-ea"/>
                    <a:cs typeface="+mn-cs"/>
                  </a:rPr>
                  <a:t>消息，重新广播到网络中了。</a:t>
                </a:r>
                <a:r>
                  <a:rPr lang="en-US" altLang="zh-CN" sz="1200" kern="1200" dirty="0">
                    <a:solidFill>
                      <a:schemeClr val="tx1"/>
                    </a:solidFill>
                    <a:effectLst/>
                    <a:latin typeface="+mn-lt"/>
                    <a:ea typeface="+mn-ea"/>
                    <a:cs typeface="+mn-cs"/>
                  </a:rPr>
                  <a:t>PRE-PREPARE</a:t>
                </a:r>
                <a:r>
                  <a:rPr lang="zh-CN" altLang="zh-CN" sz="1200" kern="1200" dirty="0">
                    <a:solidFill>
                      <a:schemeClr val="tx1"/>
                    </a:solidFill>
                    <a:effectLst/>
                    <a:latin typeface="+mn-lt"/>
                    <a:ea typeface="+mn-ea"/>
                    <a:cs typeface="+mn-cs"/>
                  </a:rPr>
                  <a:t>消息集合的选取规则如下所示：</a:t>
                </a:r>
              </a:p>
              <a:p>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）选取</a:t>
                </a:r>
                <a:r>
                  <a:rPr lang="en-US" altLang="zh-CN" sz="1200" i="0" kern="1200">
                    <a:solidFill>
                      <a:schemeClr val="tx1"/>
                    </a:solidFill>
                    <a:effectLst/>
                    <a:latin typeface="+mn-lt"/>
                    <a:ea typeface="+mn-ea"/>
                    <a:cs typeface="+mn-cs"/>
                  </a:rPr>
                  <a:t>𝑉</a:t>
                </a:r>
                <a:r>
                  <a:rPr lang="zh-CN" altLang="zh-CN" sz="1200" kern="1200" dirty="0">
                    <a:solidFill>
                      <a:schemeClr val="tx1"/>
                    </a:solidFill>
                    <a:effectLst/>
                    <a:latin typeface="+mn-lt"/>
                    <a:ea typeface="+mn-ea"/>
                    <a:cs typeface="+mn-cs"/>
                  </a:rPr>
                  <a:t>中高度最低的稳定检查点的编号</a:t>
                </a:r>
                <a:r>
                  <a:rPr lang="en-US" altLang="zh-CN" sz="1200" i="0" kern="1200">
                    <a:solidFill>
                      <a:schemeClr val="tx1"/>
                    </a:solidFill>
                    <a:effectLst/>
                    <a:latin typeface="+mn-lt"/>
                    <a:ea typeface="+mn-ea"/>
                    <a:cs typeface="+mn-cs"/>
                  </a:rPr>
                  <a:t>𝑚𝑖𝑛</a:t>
                </a:r>
                <a:r>
                  <a:rPr lang="zh-CN" altLang="zh-CN" sz="1200" kern="1200" dirty="0">
                    <a:solidFill>
                      <a:schemeClr val="tx1"/>
                    </a:solidFill>
                    <a:effectLst/>
                    <a:latin typeface="+mn-lt"/>
                    <a:ea typeface="+mn-ea"/>
                    <a:cs typeface="+mn-cs"/>
                  </a:rPr>
                  <a:t>，以及</a:t>
                </a:r>
                <a:r>
                  <a:rPr lang="en-US" altLang="zh-CN" sz="1200" i="0" kern="1200">
                    <a:solidFill>
                      <a:schemeClr val="tx1"/>
                    </a:solidFill>
                    <a:effectLst/>
                    <a:latin typeface="+mn-lt"/>
                    <a:ea typeface="+mn-ea"/>
                    <a:cs typeface="+mn-cs"/>
                  </a:rPr>
                  <a:t>𝑉</a:t>
                </a:r>
                <a:r>
                  <a:rPr lang="zh-CN" altLang="zh-CN" sz="1200" kern="1200" dirty="0">
                    <a:solidFill>
                      <a:schemeClr val="tx1"/>
                    </a:solidFill>
                    <a:effectLst/>
                    <a:latin typeface="+mn-lt"/>
                    <a:ea typeface="+mn-ea"/>
                    <a:cs typeface="+mn-cs"/>
                  </a:rPr>
                  <a:t>中已达到</a:t>
                </a:r>
                <a:r>
                  <a:rPr lang="en-US" altLang="zh-CN" sz="1200" kern="1200" dirty="0">
                    <a:solidFill>
                      <a:schemeClr val="tx1"/>
                    </a:solidFill>
                    <a:effectLst/>
                    <a:latin typeface="+mn-lt"/>
                    <a:ea typeface="+mn-ea"/>
                    <a:cs typeface="+mn-cs"/>
                  </a:rPr>
                  <a:t>PREPARED</a:t>
                </a:r>
                <a:r>
                  <a:rPr lang="zh-CN" altLang="zh-CN" sz="1200" kern="1200" dirty="0">
                    <a:solidFill>
                      <a:schemeClr val="tx1"/>
                    </a:solidFill>
                    <a:effectLst/>
                    <a:latin typeface="+mn-lt"/>
                    <a:ea typeface="+mn-ea"/>
                    <a:cs typeface="+mn-cs"/>
                  </a:rPr>
                  <a:t>状态消息的最大编号</a:t>
                </a:r>
                <a:r>
                  <a:rPr lang="en-US" altLang="zh-CN" sz="1200" i="0" kern="1200">
                    <a:solidFill>
                      <a:schemeClr val="tx1"/>
                    </a:solidFill>
                    <a:effectLst/>
                    <a:latin typeface="+mn-lt"/>
                    <a:ea typeface="+mn-ea"/>
                    <a:cs typeface="+mn-cs"/>
                  </a:rPr>
                  <a:t>𝑚𝑎𝑥</a:t>
                </a:r>
                <a:r>
                  <a:rPr lang="zh-CN" altLang="zh-CN" sz="1200" kern="1200" dirty="0">
                    <a:solidFill>
                      <a:schemeClr val="tx1"/>
                    </a:solidFill>
                    <a:effectLst/>
                    <a:latin typeface="+mn-lt"/>
                    <a:ea typeface="+mn-ea"/>
                    <a:cs typeface="+mn-cs"/>
                  </a:rPr>
                  <a:t>。</a:t>
                </a:r>
              </a:p>
              <a:p>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）对于</a:t>
                </a:r>
                <a:r>
                  <a:rPr lang="en-US" altLang="zh-CN" sz="1200" i="0" kern="1200">
                    <a:solidFill>
                      <a:schemeClr val="tx1"/>
                    </a:solidFill>
                    <a:effectLst/>
                    <a:latin typeface="+mn-lt"/>
                    <a:ea typeface="+mn-ea"/>
                    <a:cs typeface="+mn-cs"/>
                  </a:rPr>
                  <a:t>𝑚𝑖𝑛</a:t>
                </a:r>
                <a:r>
                  <a:rPr lang="zh-CN" altLang="zh-CN" sz="1200" kern="1200" dirty="0">
                    <a:solidFill>
                      <a:schemeClr val="tx1"/>
                    </a:solidFill>
                    <a:effectLst/>
                    <a:latin typeface="+mn-lt"/>
                    <a:ea typeface="+mn-ea"/>
                    <a:cs typeface="+mn-cs"/>
                  </a:rPr>
                  <a:t>和</a:t>
                </a:r>
                <a:r>
                  <a:rPr lang="en-US" altLang="zh-CN" sz="1200" i="0" kern="1200">
                    <a:solidFill>
                      <a:schemeClr val="tx1"/>
                    </a:solidFill>
                    <a:effectLst/>
                    <a:latin typeface="+mn-lt"/>
                    <a:ea typeface="+mn-ea"/>
                    <a:cs typeface="+mn-cs"/>
                  </a:rPr>
                  <a:t>𝑚𝑎𝑥</a:t>
                </a:r>
                <a:r>
                  <a:rPr lang="zh-CN" altLang="zh-CN" sz="1200" kern="1200" dirty="0">
                    <a:solidFill>
                      <a:schemeClr val="tx1"/>
                    </a:solidFill>
                    <a:effectLst/>
                    <a:latin typeface="+mn-lt"/>
                    <a:ea typeface="+mn-ea"/>
                    <a:cs typeface="+mn-cs"/>
                  </a:rPr>
                  <a:t>之间的每个序号</a:t>
                </a:r>
                <a:r>
                  <a:rPr lang="en-US" altLang="zh-CN" sz="1200" i="0" kern="1200">
                    <a:solidFill>
                      <a:schemeClr val="tx1"/>
                    </a:solidFill>
                    <a:effectLst/>
                    <a:latin typeface="+mn-lt"/>
                    <a:ea typeface="+mn-ea"/>
                    <a:cs typeface="+mn-cs"/>
                  </a:rPr>
                  <a:t>𝑛</a:t>
                </a:r>
                <a:r>
                  <a:rPr lang="zh-CN" altLang="zh-CN" sz="1200" kern="1200" dirty="0">
                    <a:solidFill>
                      <a:schemeClr val="tx1"/>
                    </a:solidFill>
                    <a:effectLst/>
                    <a:latin typeface="+mn-lt"/>
                    <a:ea typeface="+mn-ea"/>
                    <a:cs typeface="+mn-cs"/>
                  </a:rPr>
                  <a:t>，如果存在某个</a:t>
                </a:r>
                <a:r>
                  <a:rPr lang="en-US" altLang="zh-CN" sz="1200" i="0" kern="1200">
                    <a:solidFill>
                      <a:schemeClr val="tx1"/>
                    </a:solidFill>
                    <a:effectLst/>
                    <a:latin typeface="+mn-lt"/>
                    <a:ea typeface="+mn-ea"/>
                    <a:cs typeface="+mn-cs"/>
                  </a:rPr>
                  <a:t>𝑃</a:t>
                </a:r>
                <a:r>
                  <a:rPr lang="zh-CN" altLang="zh-CN" sz="1200" kern="1200" dirty="0">
                    <a:solidFill>
                      <a:schemeClr val="tx1"/>
                    </a:solidFill>
                    <a:effectLst/>
                    <a:latin typeface="+mn-lt"/>
                    <a:ea typeface="+mn-ea"/>
                    <a:cs typeface="+mn-cs"/>
                  </a:rPr>
                  <a:t>中，则创建</a:t>
                </a:r>
                <a:r>
                  <a:rPr lang="en-US" altLang="zh-CN" sz="1200" i="0" kern="1200">
                    <a:solidFill>
                      <a:schemeClr val="tx1"/>
                    </a:solidFill>
                    <a:effectLst/>
                    <a:latin typeface="+mn-lt"/>
                    <a:ea typeface="+mn-ea"/>
                    <a:cs typeface="+mn-cs"/>
                  </a:rPr>
                  <a:t>&lt;&lt;𝑃𝑅𝐸−𝑃𝑅𝐸𝑃𝐴𝑅𝐸, 𝑣+1, 𝑛, 𝑑&gt;, 𝑚&gt;</a:t>
                </a:r>
                <a:r>
                  <a:rPr lang="zh-CN" altLang="zh-CN" sz="1200" kern="1200" dirty="0">
                    <a:solidFill>
                      <a:schemeClr val="tx1"/>
                    </a:solidFill>
                    <a:effectLst/>
                    <a:latin typeface="+mn-lt"/>
                    <a:ea typeface="+mn-ea"/>
                    <a:cs typeface="+mn-cs"/>
                  </a:rPr>
                  <a:t>消息；否则，则创建一个空的</a:t>
                </a:r>
                <a:r>
                  <a:rPr lang="en-US" altLang="zh-CN" sz="1200" kern="1200" dirty="0">
                    <a:solidFill>
                      <a:schemeClr val="tx1"/>
                    </a:solidFill>
                    <a:effectLst/>
                    <a:latin typeface="+mn-lt"/>
                    <a:ea typeface="+mn-ea"/>
                    <a:cs typeface="+mn-cs"/>
                  </a:rPr>
                  <a:t>PRE-PREPARE</a:t>
                </a:r>
                <a:r>
                  <a:rPr lang="zh-CN" altLang="zh-CN" sz="1200" kern="1200" dirty="0">
                    <a:solidFill>
                      <a:schemeClr val="tx1"/>
                    </a:solidFill>
                    <a:effectLst/>
                    <a:latin typeface="+mn-lt"/>
                    <a:ea typeface="+mn-ea"/>
                    <a:cs typeface="+mn-cs"/>
                  </a:rPr>
                  <a:t>消息</a:t>
                </a:r>
                <a:r>
                  <a:rPr lang="en-US" altLang="zh-CN" sz="1200" i="0" kern="1200">
                    <a:solidFill>
                      <a:schemeClr val="tx1"/>
                    </a:solidFill>
                    <a:effectLst/>
                    <a:latin typeface="+mn-lt"/>
                    <a:ea typeface="+mn-ea"/>
                    <a:cs typeface="+mn-cs"/>
                  </a:rPr>
                  <a:t>&lt;&lt;𝑃𝑅𝐸−𝑃𝑅𝐸𝑃𝐴𝑅𝐸, 𝑣+1, 𝑛, 𝑑(𝑛𝑢𝑙𝑙)&gt;, 𝑚(𝑛𝑢𝑙𝑙)&gt;</a:t>
                </a:r>
                <a:r>
                  <a:rPr lang="zh-CN" altLang="zh-CN" sz="1200" kern="1200" dirty="0">
                    <a:solidFill>
                      <a:schemeClr val="tx1"/>
                    </a:solidFill>
                    <a:effectLst/>
                    <a:latin typeface="+mn-lt"/>
                    <a:ea typeface="+mn-ea"/>
                    <a:cs typeface="+mn-cs"/>
                  </a:rPr>
                  <a:t>，其中</a:t>
                </a:r>
                <a:r>
                  <a:rPr lang="en-US" altLang="zh-CN" sz="1200" i="0" kern="1200">
                    <a:solidFill>
                      <a:schemeClr val="tx1"/>
                    </a:solidFill>
                    <a:effectLst/>
                    <a:latin typeface="+mn-lt"/>
                    <a:ea typeface="+mn-ea"/>
                    <a:cs typeface="+mn-cs"/>
                  </a:rPr>
                  <a:t>𝑑(𝑛𝑢𝑙𝑙)</a:t>
                </a:r>
                <a:r>
                  <a:rPr lang="zh-CN" altLang="zh-CN" sz="1200" kern="1200" dirty="0">
                    <a:solidFill>
                      <a:schemeClr val="tx1"/>
                    </a:solidFill>
                    <a:effectLst/>
                    <a:latin typeface="+mn-lt"/>
                    <a:ea typeface="+mn-ea"/>
                    <a:cs typeface="+mn-cs"/>
                  </a:rPr>
                  <a:t>为空消息摘要，</a:t>
                </a:r>
                <a:r>
                  <a:rPr lang="en-US" altLang="zh-CN" sz="1200" i="0" kern="1200">
                    <a:solidFill>
                      <a:schemeClr val="tx1"/>
                    </a:solidFill>
                    <a:effectLst/>
                    <a:latin typeface="+mn-lt"/>
                    <a:ea typeface="+mn-ea"/>
                    <a:cs typeface="+mn-cs"/>
                  </a:rPr>
                  <a:t>𝑚</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𝑛𝑢𝑙𝑙)</a:t>
                </a:r>
                <a:r>
                  <a:rPr lang="zh-CN" altLang="zh-CN" sz="1200" kern="1200" dirty="0">
                    <a:solidFill>
                      <a:schemeClr val="tx1"/>
                    </a:solidFill>
                    <a:effectLst/>
                    <a:latin typeface="+mn-lt"/>
                    <a:ea typeface="+mn-ea"/>
                    <a:cs typeface="+mn-cs"/>
                  </a:rPr>
                  <a:t>为空消息。</a:t>
                </a:r>
              </a:p>
            </p:txBody>
          </p:sp>
        </mc:Fallback>
      </mc:AlternateContent>
      <p:sp>
        <p:nvSpPr>
          <p:cNvPr id="4" name="灯片编号占位符 3"/>
          <p:cNvSpPr>
            <a:spLocks noGrp="1"/>
          </p:cNvSpPr>
          <p:nvPr>
            <p:ph type="sldNum" sz="quarter" idx="5"/>
          </p:nvPr>
        </p:nvSpPr>
        <p:spPr/>
        <p:txBody>
          <a:bodyPr/>
          <a:lstStyle/>
          <a:p>
            <a:fld id="{840B8802-914A-7C41-BC77-CC54DEE99EEF}" type="slidenum">
              <a:rPr kumimoji="1" lang="zh-CN" altLang="en-US" smtClean="0"/>
              <a:t>42</a:t>
            </a:fld>
            <a:endParaRPr kumimoji="1" lang="zh-CN" altLang="en-US"/>
          </a:p>
        </p:txBody>
      </p:sp>
    </p:spTree>
    <p:extLst>
      <p:ext uri="{BB962C8B-B14F-4D97-AF65-F5344CB8AC3E}">
        <p14:creationId xmlns:p14="http://schemas.microsoft.com/office/powerpoint/2010/main" val="26749392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CF97C75-78EB-4043-953B-95F867F42CEE}"/>
              </a:ext>
            </a:extLst>
          </p:cNvPr>
          <p:cNvSpPr>
            <a:spLocks noGrp="1"/>
          </p:cNvSpPr>
          <p:nvPr>
            <p:ph type="ctrTitle"/>
          </p:nvPr>
        </p:nvSpPr>
        <p:spPr>
          <a:xfrm>
            <a:off x="1524000" y="1122363"/>
            <a:ext cx="9144000" cy="2387600"/>
          </a:xfrm>
        </p:spPr>
        <p:txBody>
          <a:bodyPr anchor="b"/>
          <a:lstStyle>
            <a:lvl1pPr algn="ctr">
              <a:defRPr sz="6000"/>
            </a:lvl1pPr>
          </a:lstStyle>
          <a:p>
            <a:r>
              <a:rPr kumimoji="1" lang="zh-CN" altLang="en-US" dirty="0"/>
              <a:t>单击此处编辑母版标题样式</a:t>
            </a:r>
          </a:p>
        </p:txBody>
      </p:sp>
      <p:sp>
        <p:nvSpPr>
          <p:cNvPr id="3" name="副标题 2">
            <a:extLst>
              <a:ext uri="{FF2B5EF4-FFF2-40B4-BE49-F238E27FC236}">
                <a16:creationId xmlns:a16="http://schemas.microsoft.com/office/drawing/2014/main" id="{421C1163-5F70-9046-86B2-81951DCE1A9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dirty="0"/>
              <a:t>单击此处编辑母版副标题样式</a:t>
            </a:r>
          </a:p>
        </p:txBody>
      </p:sp>
      <p:sp>
        <p:nvSpPr>
          <p:cNvPr id="7" name="矩形 6">
            <a:extLst>
              <a:ext uri="{FF2B5EF4-FFF2-40B4-BE49-F238E27FC236}">
                <a16:creationId xmlns:a16="http://schemas.microsoft.com/office/drawing/2014/main" id="{B6F9E280-F138-8142-8DB1-324EA9F38324}"/>
              </a:ext>
            </a:extLst>
          </p:cNvPr>
          <p:cNvSpPr/>
          <p:nvPr userDrawn="1"/>
        </p:nvSpPr>
        <p:spPr>
          <a:xfrm>
            <a:off x="-9940" y="-8628"/>
            <a:ext cx="12201939" cy="901955"/>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0" spc="600" dirty="0">
                <a:solidFill>
                  <a:schemeClr val="bg1"/>
                </a:solidFill>
                <a:latin typeface="微软雅黑" panose="020B0503020204020204" pitchFamily="34" charset="-122"/>
                <a:ea typeface="微软雅黑" panose="020B0503020204020204" pitchFamily="34" charset="-122"/>
              </a:rPr>
              <a:t>区块链原理与技术</a:t>
            </a:r>
          </a:p>
        </p:txBody>
      </p:sp>
    </p:spTree>
    <p:extLst>
      <p:ext uri="{BB962C8B-B14F-4D97-AF65-F5344CB8AC3E}">
        <p14:creationId xmlns:p14="http://schemas.microsoft.com/office/powerpoint/2010/main" val="8497440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23457C5-5D0E-4F46-9D0B-7EA2985DFFE7}"/>
              </a:ext>
            </a:extLst>
          </p:cNvPr>
          <p:cNvSpPr>
            <a:spLocks noGrp="1"/>
          </p:cNvSpPr>
          <p:nvPr>
            <p:ph type="title"/>
          </p:nvPr>
        </p:nvSpPr>
        <p:spPr/>
        <p:txBody>
          <a:bodyPr>
            <a:normAutofit/>
          </a:bodyPr>
          <a:lstStyle>
            <a:lvl1pPr>
              <a:defRPr sz="4000"/>
            </a:lvl1pPr>
          </a:lstStyle>
          <a:p>
            <a:r>
              <a:rPr kumimoji="1" lang="zh-CN" altLang="en-US" dirty="0"/>
              <a:t>单击此处编辑母版标题样式</a:t>
            </a:r>
          </a:p>
        </p:txBody>
      </p:sp>
      <p:sp>
        <p:nvSpPr>
          <p:cNvPr id="3" name="内容占位符 2">
            <a:extLst>
              <a:ext uri="{FF2B5EF4-FFF2-40B4-BE49-F238E27FC236}">
                <a16:creationId xmlns:a16="http://schemas.microsoft.com/office/drawing/2014/main" id="{D2FA45BE-434F-B44C-99F8-C563AC076A02}"/>
              </a:ext>
            </a:extLst>
          </p:cNvPr>
          <p:cNvSpPr>
            <a:spLocks noGrp="1"/>
          </p:cNvSpPr>
          <p:nvPr>
            <p:ph idx="1"/>
          </p:nvPr>
        </p:nvSpPr>
        <p:spPr>
          <a:xfrm>
            <a:off x="838200" y="1510758"/>
            <a:ext cx="10515600" cy="4586694"/>
          </a:xfrm>
        </p:spPr>
        <p:txBody>
          <a:bodyPr/>
          <a:lstStyle>
            <a:lvl1pPr marL="360363" indent="-360363">
              <a:lnSpc>
                <a:spcPct val="100000"/>
              </a:lnSpc>
              <a:spcBef>
                <a:spcPts val="600"/>
              </a:spcBef>
              <a:buFont typeface="Wingdings" pitchFamily="2" charset="2"/>
              <a:buChar char="Ø"/>
              <a:tabLst/>
              <a:defRPr/>
            </a:lvl1pPr>
            <a:lvl2pPr>
              <a:lnSpc>
                <a:spcPct val="100000"/>
              </a:lnSpc>
              <a:spcBef>
                <a:spcPts val="600"/>
              </a:spcBef>
              <a:buFont typeface="Arial" panose="020B0604020202020204" pitchFamily="34" charset="0"/>
              <a:buChar char="•"/>
              <a:defRPr/>
            </a:lvl2pPr>
            <a:lvl3pPr>
              <a:lnSpc>
                <a:spcPct val="100000"/>
              </a:lnSpc>
              <a:spcBef>
                <a:spcPts val="600"/>
              </a:spcBef>
              <a:defRPr/>
            </a:lvl3pPr>
            <a:lvl4pPr>
              <a:lnSpc>
                <a:spcPct val="100000"/>
              </a:lnSpc>
              <a:spcBef>
                <a:spcPts val="600"/>
              </a:spcBef>
              <a:defRPr/>
            </a:lvl4pPr>
            <a:lvl5pPr>
              <a:lnSpc>
                <a:spcPct val="100000"/>
              </a:lnSpc>
              <a:spcBef>
                <a:spcPts val="600"/>
              </a:spcBef>
              <a:defRPr/>
            </a:lvl5p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6" name="灯片编号占位符 5">
            <a:extLst>
              <a:ext uri="{FF2B5EF4-FFF2-40B4-BE49-F238E27FC236}">
                <a16:creationId xmlns:a16="http://schemas.microsoft.com/office/drawing/2014/main" id="{8FDBE6BC-6A1B-1944-BBB6-30FD8C33B360}"/>
              </a:ext>
            </a:extLst>
          </p:cNvPr>
          <p:cNvSpPr>
            <a:spLocks noGrp="1"/>
          </p:cNvSpPr>
          <p:nvPr>
            <p:ph type="sldNum" sz="quarter" idx="12"/>
          </p:nvPr>
        </p:nvSpPr>
        <p:spPr/>
        <p:txBody>
          <a:bodyPr/>
          <a:lstStyle/>
          <a:p>
            <a:fld id="{8D4D1E41-7A09-AB4A-A4E1-09765ADA2698}" type="slidenum">
              <a:rPr kumimoji="1" lang="zh-CN" altLang="en-US" smtClean="0"/>
              <a:t>‹#›</a:t>
            </a:fld>
            <a:endParaRPr kumimoji="1" lang="zh-CN" altLang="en-US" dirty="0"/>
          </a:p>
        </p:txBody>
      </p:sp>
      <p:cxnSp>
        <p:nvCxnSpPr>
          <p:cNvPr id="40" name="直线连接符 39">
            <a:extLst>
              <a:ext uri="{FF2B5EF4-FFF2-40B4-BE49-F238E27FC236}">
                <a16:creationId xmlns:a16="http://schemas.microsoft.com/office/drawing/2014/main" id="{9E7AFED4-5702-094E-A3B8-21EB069F234E}"/>
              </a:ext>
            </a:extLst>
          </p:cNvPr>
          <p:cNvCxnSpPr>
            <a:cxnSpLocks/>
          </p:cNvCxnSpPr>
          <p:nvPr userDrawn="1"/>
        </p:nvCxnSpPr>
        <p:spPr>
          <a:xfrm>
            <a:off x="1314788" y="1244212"/>
            <a:ext cx="7295812" cy="0"/>
          </a:xfrm>
          <a:prstGeom prst="line">
            <a:avLst/>
          </a:prstGeom>
          <a:ln w="19050">
            <a:solidFill>
              <a:srgbClr val="5C307E"/>
            </a:solidFill>
          </a:ln>
        </p:spPr>
        <p:style>
          <a:lnRef idx="1">
            <a:schemeClr val="accent1"/>
          </a:lnRef>
          <a:fillRef idx="0">
            <a:schemeClr val="accent1"/>
          </a:fillRef>
          <a:effectRef idx="0">
            <a:schemeClr val="accent1"/>
          </a:effectRef>
          <a:fontRef idx="minor">
            <a:schemeClr val="tx1"/>
          </a:fontRef>
        </p:style>
      </p:cxnSp>
      <p:cxnSp>
        <p:nvCxnSpPr>
          <p:cNvPr id="64" name="直线连接符 63">
            <a:extLst>
              <a:ext uri="{FF2B5EF4-FFF2-40B4-BE49-F238E27FC236}">
                <a16:creationId xmlns:a16="http://schemas.microsoft.com/office/drawing/2014/main" id="{06B569DB-EE88-CB4A-A634-A7CA45E81663}"/>
              </a:ext>
            </a:extLst>
          </p:cNvPr>
          <p:cNvCxnSpPr>
            <a:cxnSpLocks/>
          </p:cNvCxnSpPr>
          <p:nvPr userDrawn="1"/>
        </p:nvCxnSpPr>
        <p:spPr>
          <a:xfrm>
            <a:off x="9705401" y="526774"/>
            <a:ext cx="0" cy="503679"/>
          </a:xfrm>
          <a:prstGeom prst="line">
            <a:avLst/>
          </a:prstGeom>
          <a:ln w="12700" cap="rnd">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nvGrpSpPr>
          <p:cNvPr id="71" name="组合 70">
            <a:extLst>
              <a:ext uri="{FF2B5EF4-FFF2-40B4-BE49-F238E27FC236}">
                <a16:creationId xmlns:a16="http://schemas.microsoft.com/office/drawing/2014/main" id="{C1D75728-DE08-814F-9EF0-7E9AFB999FE6}"/>
              </a:ext>
            </a:extLst>
          </p:cNvPr>
          <p:cNvGrpSpPr/>
          <p:nvPr userDrawn="1"/>
        </p:nvGrpSpPr>
        <p:grpSpPr>
          <a:xfrm>
            <a:off x="715452" y="634525"/>
            <a:ext cx="403039" cy="321898"/>
            <a:chOff x="1368170" y="664579"/>
            <a:chExt cx="550582" cy="439737"/>
          </a:xfrm>
          <a:solidFill>
            <a:schemeClr val="bg1"/>
          </a:solidFill>
        </p:grpSpPr>
        <p:sp>
          <p:nvSpPr>
            <p:cNvPr id="72" name="Freeform 1">
              <a:extLst>
                <a:ext uri="{FF2B5EF4-FFF2-40B4-BE49-F238E27FC236}">
                  <a16:creationId xmlns:a16="http://schemas.microsoft.com/office/drawing/2014/main" id="{53F1A011-1E52-3140-9C21-8911AB32201B}"/>
                </a:ext>
              </a:extLst>
            </p:cNvPr>
            <p:cNvSpPr>
              <a:spLocks noChangeArrowheads="1"/>
            </p:cNvSpPr>
            <p:nvPr/>
          </p:nvSpPr>
          <p:spPr bwMode="auto">
            <a:xfrm>
              <a:off x="1481203" y="771778"/>
              <a:ext cx="437549" cy="332538"/>
            </a:xfrm>
            <a:custGeom>
              <a:avLst/>
              <a:gdLst>
                <a:gd name="T0" fmla="*/ 25 w 2647"/>
                <a:gd name="T1" fmla="*/ 1478 h 2011"/>
                <a:gd name="T2" fmla="*/ 525 w 2647"/>
                <a:gd name="T3" fmla="*/ 1865 h 2011"/>
                <a:gd name="T4" fmla="*/ 736 w 2647"/>
                <a:gd name="T5" fmla="*/ 1972 h 2011"/>
                <a:gd name="T6" fmla="*/ 940 w 2647"/>
                <a:gd name="T7" fmla="*/ 2010 h 2011"/>
                <a:gd name="T8" fmla="*/ 1078 w 2647"/>
                <a:gd name="T9" fmla="*/ 1991 h 2011"/>
                <a:gd name="T10" fmla="*/ 1286 w 2647"/>
                <a:gd name="T11" fmla="*/ 1894 h 2011"/>
                <a:gd name="T12" fmla="*/ 1506 w 2647"/>
                <a:gd name="T13" fmla="*/ 1715 h 2011"/>
                <a:gd name="T14" fmla="*/ 1506 w 2647"/>
                <a:gd name="T15" fmla="*/ 1715 h 2011"/>
                <a:gd name="T16" fmla="*/ 2630 w 2647"/>
                <a:gd name="T17" fmla="*/ 624 h 2011"/>
                <a:gd name="T18" fmla="*/ 2646 w 2647"/>
                <a:gd name="T19" fmla="*/ 586 h 2011"/>
                <a:gd name="T20" fmla="*/ 2630 w 2647"/>
                <a:gd name="T21" fmla="*/ 548 h 2011"/>
                <a:gd name="T22" fmla="*/ 2090 w 2647"/>
                <a:gd name="T23" fmla="*/ 21 h 2011"/>
                <a:gd name="T24" fmla="*/ 2016 w 2647"/>
                <a:gd name="T25" fmla="*/ 22 h 2011"/>
                <a:gd name="T26" fmla="*/ 2017 w 2647"/>
                <a:gd name="T27" fmla="*/ 96 h 2011"/>
                <a:gd name="T28" fmla="*/ 2518 w 2647"/>
                <a:gd name="T29" fmla="*/ 586 h 2011"/>
                <a:gd name="T30" fmla="*/ 1433 w 2647"/>
                <a:gd name="T31" fmla="*/ 1639 h 2011"/>
                <a:gd name="T32" fmla="*/ 1433 w 2647"/>
                <a:gd name="T33" fmla="*/ 1639 h 2011"/>
                <a:gd name="T34" fmla="*/ 1167 w 2647"/>
                <a:gd name="T35" fmla="*/ 1843 h 2011"/>
                <a:gd name="T36" fmla="*/ 1051 w 2647"/>
                <a:gd name="T37" fmla="*/ 1889 h 2011"/>
                <a:gd name="T38" fmla="*/ 940 w 2647"/>
                <a:gd name="T39" fmla="*/ 1904 h 2011"/>
                <a:gd name="T40" fmla="*/ 772 w 2647"/>
                <a:gd name="T41" fmla="*/ 1872 h 2011"/>
                <a:gd name="T42" fmla="*/ 474 w 2647"/>
                <a:gd name="T43" fmla="*/ 1704 h 2011"/>
                <a:gd name="T44" fmla="*/ 93 w 2647"/>
                <a:gd name="T45" fmla="*/ 1398 h 2011"/>
                <a:gd name="T46" fmla="*/ 19 w 2647"/>
                <a:gd name="T47" fmla="*/ 1404 h 2011"/>
                <a:gd name="T48" fmla="*/ 25 w 2647"/>
                <a:gd name="T49" fmla="*/ 1478 h 20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47" h="2011">
                  <a:moveTo>
                    <a:pt x="25" y="1478"/>
                  </a:moveTo>
                  <a:cubicBezTo>
                    <a:pt x="219" y="1643"/>
                    <a:pt x="380" y="1773"/>
                    <a:pt x="525" y="1865"/>
                  </a:cubicBezTo>
                  <a:cubicBezTo>
                    <a:pt x="598" y="1911"/>
                    <a:pt x="668" y="1947"/>
                    <a:pt x="736" y="1972"/>
                  </a:cubicBezTo>
                  <a:cubicBezTo>
                    <a:pt x="805" y="1996"/>
                    <a:pt x="872" y="2010"/>
                    <a:pt x="940" y="2010"/>
                  </a:cubicBezTo>
                  <a:cubicBezTo>
                    <a:pt x="986" y="2010"/>
                    <a:pt x="1032" y="2004"/>
                    <a:pt x="1078" y="1991"/>
                  </a:cubicBezTo>
                  <a:cubicBezTo>
                    <a:pt x="1147" y="1973"/>
                    <a:pt x="1216" y="1940"/>
                    <a:pt x="1286" y="1894"/>
                  </a:cubicBezTo>
                  <a:cubicBezTo>
                    <a:pt x="1357" y="1848"/>
                    <a:pt x="1429" y="1789"/>
                    <a:pt x="1506" y="1715"/>
                  </a:cubicBezTo>
                  <a:lnTo>
                    <a:pt x="1506" y="1715"/>
                  </a:lnTo>
                  <a:lnTo>
                    <a:pt x="2630" y="624"/>
                  </a:lnTo>
                  <a:cubicBezTo>
                    <a:pt x="2640" y="614"/>
                    <a:pt x="2646" y="600"/>
                    <a:pt x="2646" y="586"/>
                  </a:cubicBezTo>
                  <a:cubicBezTo>
                    <a:pt x="2646" y="572"/>
                    <a:pt x="2641" y="558"/>
                    <a:pt x="2630" y="548"/>
                  </a:cubicBezTo>
                  <a:lnTo>
                    <a:pt x="2090" y="21"/>
                  </a:lnTo>
                  <a:cubicBezTo>
                    <a:pt x="2069" y="0"/>
                    <a:pt x="2036" y="1"/>
                    <a:pt x="2016" y="22"/>
                  </a:cubicBezTo>
                  <a:cubicBezTo>
                    <a:pt x="1995" y="42"/>
                    <a:pt x="1996" y="76"/>
                    <a:pt x="2017" y="96"/>
                  </a:cubicBezTo>
                  <a:lnTo>
                    <a:pt x="2518" y="586"/>
                  </a:lnTo>
                  <a:lnTo>
                    <a:pt x="1433" y="1639"/>
                  </a:lnTo>
                  <a:lnTo>
                    <a:pt x="1433" y="1639"/>
                  </a:lnTo>
                  <a:cubicBezTo>
                    <a:pt x="1335" y="1733"/>
                    <a:pt x="1247" y="1800"/>
                    <a:pt x="1167" y="1843"/>
                  </a:cubicBezTo>
                  <a:cubicBezTo>
                    <a:pt x="1127" y="1864"/>
                    <a:pt x="1088" y="1879"/>
                    <a:pt x="1051" y="1889"/>
                  </a:cubicBezTo>
                  <a:cubicBezTo>
                    <a:pt x="1013" y="1899"/>
                    <a:pt x="977" y="1904"/>
                    <a:pt x="940" y="1904"/>
                  </a:cubicBezTo>
                  <a:cubicBezTo>
                    <a:pt x="886" y="1904"/>
                    <a:pt x="831" y="1894"/>
                    <a:pt x="772" y="1872"/>
                  </a:cubicBezTo>
                  <a:cubicBezTo>
                    <a:pt x="683" y="1840"/>
                    <a:pt x="586" y="1784"/>
                    <a:pt x="474" y="1704"/>
                  </a:cubicBezTo>
                  <a:cubicBezTo>
                    <a:pt x="363" y="1624"/>
                    <a:pt x="238" y="1521"/>
                    <a:pt x="93" y="1398"/>
                  </a:cubicBezTo>
                  <a:cubicBezTo>
                    <a:pt x="71" y="1379"/>
                    <a:pt x="38" y="1382"/>
                    <a:pt x="19" y="1404"/>
                  </a:cubicBezTo>
                  <a:cubicBezTo>
                    <a:pt x="0" y="1426"/>
                    <a:pt x="3" y="1459"/>
                    <a:pt x="25" y="147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3" name="Freeform 2">
              <a:extLst>
                <a:ext uri="{FF2B5EF4-FFF2-40B4-BE49-F238E27FC236}">
                  <a16:creationId xmlns:a16="http://schemas.microsoft.com/office/drawing/2014/main" id="{364873AD-F7AE-3D48-84F0-C71836518975}"/>
                </a:ext>
              </a:extLst>
            </p:cNvPr>
            <p:cNvSpPr>
              <a:spLocks noChangeArrowheads="1"/>
            </p:cNvSpPr>
            <p:nvPr/>
          </p:nvSpPr>
          <p:spPr bwMode="auto">
            <a:xfrm>
              <a:off x="1511832" y="868769"/>
              <a:ext cx="356603" cy="190334"/>
            </a:xfrm>
            <a:custGeom>
              <a:avLst/>
              <a:gdLst>
                <a:gd name="T0" fmla="*/ 15 w 2158"/>
                <a:gd name="T1" fmla="*/ 713 h 1152"/>
                <a:gd name="T2" fmla="*/ 432 w 2158"/>
                <a:gd name="T3" fmla="*/ 1033 h 1152"/>
                <a:gd name="T4" fmla="*/ 605 w 2158"/>
                <a:gd name="T5" fmla="*/ 1120 h 1152"/>
                <a:gd name="T6" fmla="*/ 771 w 2158"/>
                <a:gd name="T7" fmla="*/ 1151 h 1152"/>
                <a:gd name="T8" fmla="*/ 896 w 2158"/>
                <a:gd name="T9" fmla="*/ 1132 h 1152"/>
                <a:gd name="T10" fmla="*/ 1089 w 2158"/>
                <a:gd name="T11" fmla="*/ 1036 h 1152"/>
                <a:gd name="T12" fmla="*/ 1305 w 2158"/>
                <a:gd name="T13" fmla="*/ 856 h 1152"/>
                <a:gd name="T14" fmla="*/ 1305 w 2158"/>
                <a:gd name="T15" fmla="*/ 856 h 1152"/>
                <a:gd name="T16" fmla="*/ 2144 w 2158"/>
                <a:gd name="T17" fmla="*/ 57 h 1152"/>
                <a:gd name="T18" fmla="*/ 2145 w 2158"/>
                <a:gd name="T19" fmla="*/ 13 h 1152"/>
                <a:gd name="T20" fmla="*/ 2100 w 2158"/>
                <a:gd name="T21" fmla="*/ 12 h 1152"/>
                <a:gd name="T22" fmla="*/ 1262 w 2158"/>
                <a:gd name="T23" fmla="*/ 811 h 1152"/>
                <a:gd name="T24" fmla="*/ 1262 w 2158"/>
                <a:gd name="T25" fmla="*/ 811 h 1152"/>
                <a:gd name="T26" fmla="*/ 993 w 2158"/>
                <a:gd name="T27" fmla="*/ 1023 h 1152"/>
                <a:gd name="T28" fmla="*/ 878 w 2158"/>
                <a:gd name="T29" fmla="*/ 1072 h 1152"/>
                <a:gd name="T30" fmla="*/ 771 w 2158"/>
                <a:gd name="T31" fmla="*/ 1088 h 1152"/>
                <a:gd name="T32" fmla="*/ 626 w 2158"/>
                <a:gd name="T33" fmla="*/ 1061 h 1152"/>
                <a:gd name="T34" fmla="*/ 376 w 2158"/>
                <a:gd name="T35" fmla="*/ 920 h 1152"/>
                <a:gd name="T36" fmla="*/ 55 w 2158"/>
                <a:gd name="T37" fmla="*/ 665 h 1152"/>
                <a:gd name="T38" fmla="*/ 11 w 2158"/>
                <a:gd name="T39" fmla="*/ 669 h 1152"/>
                <a:gd name="T40" fmla="*/ 15 w 2158"/>
                <a:gd name="T41" fmla="*/ 713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15" y="713"/>
                  </a:moveTo>
                  <a:cubicBezTo>
                    <a:pt x="179" y="850"/>
                    <a:pt x="312" y="958"/>
                    <a:pt x="432" y="1033"/>
                  </a:cubicBezTo>
                  <a:cubicBezTo>
                    <a:pt x="492" y="1071"/>
                    <a:pt x="549" y="1100"/>
                    <a:pt x="605" y="1120"/>
                  </a:cubicBezTo>
                  <a:cubicBezTo>
                    <a:pt x="661" y="1140"/>
                    <a:pt x="716" y="1151"/>
                    <a:pt x="771" y="1151"/>
                  </a:cubicBezTo>
                  <a:cubicBezTo>
                    <a:pt x="812" y="1151"/>
                    <a:pt x="854" y="1145"/>
                    <a:pt x="896" y="1132"/>
                  </a:cubicBezTo>
                  <a:cubicBezTo>
                    <a:pt x="959" y="1114"/>
                    <a:pt x="1022" y="1082"/>
                    <a:pt x="1089" y="1036"/>
                  </a:cubicBezTo>
                  <a:cubicBezTo>
                    <a:pt x="1156" y="990"/>
                    <a:pt x="1227" y="931"/>
                    <a:pt x="1305" y="856"/>
                  </a:cubicBezTo>
                  <a:lnTo>
                    <a:pt x="1305" y="856"/>
                  </a:lnTo>
                  <a:lnTo>
                    <a:pt x="2144" y="57"/>
                  </a:lnTo>
                  <a:cubicBezTo>
                    <a:pt x="2156" y="45"/>
                    <a:pt x="2157" y="25"/>
                    <a:pt x="2145" y="13"/>
                  </a:cubicBezTo>
                  <a:cubicBezTo>
                    <a:pt x="2133" y="0"/>
                    <a:pt x="2113" y="0"/>
                    <a:pt x="2100" y="12"/>
                  </a:cubicBezTo>
                  <a:lnTo>
                    <a:pt x="1262" y="811"/>
                  </a:lnTo>
                  <a:lnTo>
                    <a:pt x="1262" y="811"/>
                  </a:lnTo>
                  <a:cubicBezTo>
                    <a:pt x="1160" y="908"/>
                    <a:pt x="1072" y="978"/>
                    <a:pt x="993" y="1023"/>
                  </a:cubicBezTo>
                  <a:cubicBezTo>
                    <a:pt x="953" y="1045"/>
                    <a:pt x="915" y="1062"/>
                    <a:pt x="878" y="1072"/>
                  </a:cubicBezTo>
                  <a:cubicBezTo>
                    <a:pt x="842" y="1083"/>
                    <a:pt x="806" y="1088"/>
                    <a:pt x="771" y="1088"/>
                  </a:cubicBezTo>
                  <a:cubicBezTo>
                    <a:pt x="724" y="1088"/>
                    <a:pt x="677" y="1079"/>
                    <a:pt x="626" y="1061"/>
                  </a:cubicBezTo>
                  <a:cubicBezTo>
                    <a:pt x="551" y="1034"/>
                    <a:pt x="469" y="987"/>
                    <a:pt x="376" y="920"/>
                  </a:cubicBezTo>
                  <a:cubicBezTo>
                    <a:pt x="282" y="853"/>
                    <a:pt x="177" y="767"/>
                    <a:pt x="55" y="665"/>
                  </a:cubicBezTo>
                  <a:cubicBezTo>
                    <a:pt x="42" y="654"/>
                    <a:pt x="22" y="656"/>
                    <a:pt x="11" y="669"/>
                  </a:cubicBezTo>
                  <a:cubicBezTo>
                    <a:pt x="0" y="682"/>
                    <a:pt x="1" y="702"/>
                    <a:pt x="15" y="71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4" name="Freeform 3">
              <a:extLst>
                <a:ext uri="{FF2B5EF4-FFF2-40B4-BE49-F238E27FC236}">
                  <a16:creationId xmlns:a16="http://schemas.microsoft.com/office/drawing/2014/main" id="{5B03D593-4A0D-DF4E-8474-4FAD50C6BCB7}"/>
                </a:ext>
              </a:extLst>
            </p:cNvPr>
            <p:cNvSpPr>
              <a:spLocks noChangeArrowheads="1"/>
            </p:cNvSpPr>
            <p:nvPr/>
          </p:nvSpPr>
          <p:spPr bwMode="auto">
            <a:xfrm>
              <a:off x="1540273" y="847620"/>
              <a:ext cx="304826" cy="169186"/>
            </a:xfrm>
            <a:custGeom>
              <a:avLst/>
              <a:gdLst>
                <a:gd name="T0" fmla="*/ 12 w 1845"/>
                <a:gd name="T1" fmla="*/ 672 h 1022"/>
                <a:gd name="T2" fmla="*/ 350 w 1845"/>
                <a:gd name="T3" fmla="*/ 928 h 1022"/>
                <a:gd name="T4" fmla="*/ 488 w 1845"/>
                <a:gd name="T5" fmla="*/ 997 h 1022"/>
                <a:gd name="T6" fmla="*/ 620 w 1845"/>
                <a:gd name="T7" fmla="*/ 1021 h 1022"/>
                <a:gd name="T8" fmla="*/ 734 w 1845"/>
                <a:gd name="T9" fmla="*/ 1003 h 1022"/>
                <a:gd name="T10" fmla="*/ 915 w 1845"/>
                <a:gd name="T11" fmla="*/ 905 h 1022"/>
                <a:gd name="T12" fmla="*/ 1129 w 1845"/>
                <a:gd name="T13" fmla="*/ 720 h 1022"/>
                <a:gd name="T14" fmla="*/ 1129 w 1845"/>
                <a:gd name="T15" fmla="*/ 720 h 1022"/>
                <a:gd name="T16" fmla="*/ 1834 w 1845"/>
                <a:gd name="T17" fmla="*/ 42 h 1022"/>
                <a:gd name="T18" fmla="*/ 1835 w 1845"/>
                <a:gd name="T19" fmla="*/ 10 h 1022"/>
                <a:gd name="T20" fmla="*/ 1802 w 1845"/>
                <a:gd name="T21" fmla="*/ 9 h 1022"/>
                <a:gd name="T22" fmla="*/ 1097 w 1845"/>
                <a:gd name="T23" fmla="*/ 687 h 1022"/>
                <a:gd name="T24" fmla="*/ 1097 w 1845"/>
                <a:gd name="T25" fmla="*/ 687 h 1022"/>
                <a:gd name="T26" fmla="*/ 828 w 1845"/>
                <a:gd name="T27" fmla="*/ 907 h 1022"/>
                <a:gd name="T28" fmla="*/ 720 w 1845"/>
                <a:gd name="T29" fmla="*/ 959 h 1022"/>
                <a:gd name="T30" fmla="*/ 620 w 1845"/>
                <a:gd name="T31" fmla="*/ 975 h 1022"/>
                <a:gd name="T32" fmla="*/ 504 w 1845"/>
                <a:gd name="T33" fmla="*/ 954 h 1022"/>
                <a:gd name="T34" fmla="*/ 302 w 1845"/>
                <a:gd name="T35" fmla="*/ 841 h 1022"/>
                <a:gd name="T36" fmla="*/ 41 w 1845"/>
                <a:gd name="T37" fmla="*/ 636 h 1022"/>
                <a:gd name="T38" fmla="*/ 9 w 1845"/>
                <a:gd name="T39" fmla="*/ 640 h 1022"/>
                <a:gd name="T40" fmla="*/ 12 w 1845"/>
                <a:gd name="T41" fmla="*/ 672 h 10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5" h="1022">
                  <a:moveTo>
                    <a:pt x="12" y="672"/>
                  </a:moveTo>
                  <a:cubicBezTo>
                    <a:pt x="146" y="782"/>
                    <a:pt x="254" y="868"/>
                    <a:pt x="350" y="928"/>
                  </a:cubicBezTo>
                  <a:cubicBezTo>
                    <a:pt x="398" y="958"/>
                    <a:pt x="444" y="981"/>
                    <a:pt x="488" y="997"/>
                  </a:cubicBezTo>
                  <a:cubicBezTo>
                    <a:pt x="533" y="1013"/>
                    <a:pt x="576" y="1021"/>
                    <a:pt x="620" y="1021"/>
                  </a:cubicBezTo>
                  <a:cubicBezTo>
                    <a:pt x="658" y="1021"/>
                    <a:pt x="695" y="1015"/>
                    <a:pt x="734" y="1003"/>
                  </a:cubicBezTo>
                  <a:cubicBezTo>
                    <a:pt x="791" y="984"/>
                    <a:pt x="850" y="952"/>
                    <a:pt x="915" y="905"/>
                  </a:cubicBezTo>
                  <a:cubicBezTo>
                    <a:pt x="980" y="858"/>
                    <a:pt x="1050" y="797"/>
                    <a:pt x="1129" y="720"/>
                  </a:cubicBezTo>
                  <a:lnTo>
                    <a:pt x="1129" y="720"/>
                  </a:lnTo>
                  <a:lnTo>
                    <a:pt x="1834" y="42"/>
                  </a:lnTo>
                  <a:cubicBezTo>
                    <a:pt x="1843" y="34"/>
                    <a:pt x="1844" y="19"/>
                    <a:pt x="1835" y="10"/>
                  </a:cubicBezTo>
                  <a:cubicBezTo>
                    <a:pt x="1826" y="1"/>
                    <a:pt x="1811" y="0"/>
                    <a:pt x="1802" y="9"/>
                  </a:cubicBezTo>
                  <a:lnTo>
                    <a:pt x="1097" y="687"/>
                  </a:lnTo>
                  <a:lnTo>
                    <a:pt x="1097" y="687"/>
                  </a:lnTo>
                  <a:cubicBezTo>
                    <a:pt x="992" y="788"/>
                    <a:pt x="905" y="861"/>
                    <a:pt x="828" y="907"/>
                  </a:cubicBezTo>
                  <a:cubicBezTo>
                    <a:pt x="790" y="931"/>
                    <a:pt x="754" y="948"/>
                    <a:pt x="720" y="959"/>
                  </a:cubicBezTo>
                  <a:cubicBezTo>
                    <a:pt x="685" y="970"/>
                    <a:pt x="653" y="975"/>
                    <a:pt x="620" y="975"/>
                  </a:cubicBezTo>
                  <a:cubicBezTo>
                    <a:pt x="582" y="975"/>
                    <a:pt x="544" y="968"/>
                    <a:pt x="504" y="954"/>
                  </a:cubicBezTo>
                  <a:cubicBezTo>
                    <a:pt x="443" y="932"/>
                    <a:pt x="378" y="894"/>
                    <a:pt x="302" y="841"/>
                  </a:cubicBezTo>
                  <a:cubicBezTo>
                    <a:pt x="227" y="787"/>
                    <a:pt x="141" y="718"/>
                    <a:pt x="41" y="636"/>
                  </a:cubicBezTo>
                  <a:cubicBezTo>
                    <a:pt x="31" y="628"/>
                    <a:pt x="17" y="630"/>
                    <a:pt x="9" y="640"/>
                  </a:cubicBezTo>
                  <a:cubicBezTo>
                    <a:pt x="0" y="649"/>
                    <a:pt x="2" y="664"/>
                    <a:pt x="12" y="67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5" name="Freeform 4">
              <a:extLst>
                <a:ext uri="{FF2B5EF4-FFF2-40B4-BE49-F238E27FC236}">
                  <a16:creationId xmlns:a16="http://schemas.microsoft.com/office/drawing/2014/main" id="{1A0E5E70-2235-6044-9E4C-A8D32092980C}"/>
                </a:ext>
              </a:extLst>
            </p:cNvPr>
            <p:cNvSpPr>
              <a:spLocks noChangeArrowheads="1"/>
            </p:cNvSpPr>
            <p:nvPr/>
          </p:nvSpPr>
          <p:spPr bwMode="auto">
            <a:xfrm>
              <a:off x="1568713" y="826472"/>
              <a:ext cx="253050" cy="148037"/>
            </a:xfrm>
            <a:custGeom>
              <a:avLst/>
              <a:gdLst>
                <a:gd name="T0" fmla="*/ 8 w 1531"/>
                <a:gd name="T1" fmla="*/ 630 h 895"/>
                <a:gd name="T2" fmla="*/ 269 w 1531"/>
                <a:gd name="T3" fmla="*/ 824 h 895"/>
                <a:gd name="T4" fmla="*/ 374 w 1531"/>
                <a:gd name="T5" fmla="*/ 876 h 895"/>
                <a:gd name="T6" fmla="*/ 473 w 1531"/>
                <a:gd name="T7" fmla="*/ 894 h 895"/>
                <a:gd name="T8" fmla="*/ 573 w 1531"/>
                <a:gd name="T9" fmla="*/ 875 h 895"/>
                <a:gd name="T10" fmla="*/ 739 w 1531"/>
                <a:gd name="T11" fmla="*/ 775 h 895"/>
                <a:gd name="T12" fmla="*/ 953 w 1531"/>
                <a:gd name="T13" fmla="*/ 584 h 895"/>
                <a:gd name="T14" fmla="*/ 953 w 1531"/>
                <a:gd name="T15" fmla="*/ 584 h 895"/>
                <a:gd name="T16" fmla="*/ 1524 w 1531"/>
                <a:gd name="T17" fmla="*/ 27 h 895"/>
                <a:gd name="T18" fmla="*/ 1524 w 1531"/>
                <a:gd name="T19" fmla="*/ 6 h 895"/>
                <a:gd name="T20" fmla="*/ 1503 w 1531"/>
                <a:gd name="T21" fmla="*/ 6 h 895"/>
                <a:gd name="T22" fmla="*/ 932 w 1531"/>
                <a:gd name="T23" fmla="*/ 563 h 895"/>
                <a:gd name="T24" fmla="*/ 932 w 1531"/>
                <a:gd name="T25" fmla="*/ 563 h 895"/>
                <a:gd name="T26" fmla="*/ 663 w 1531"/>
                <a:gd name="T27" fmla="*/ 793 h 895"/>
                <a:gd name="T28" fmla="*/ 562 w 1531"/>
                <a:gd name="T29" fmla="*/ 847 h 895"/>
                <a:gd name="T30" fmla="*/ 473 w 1531"/>
                <a:gd name="T31" fmla="*/ 865 h 895"/>
                <a:gd name="T32" fmla="*/ 384 w 1531"/>
                <a:gd name="T33" fmla="*/ 848 h 895"/>
                <a:gd name="T34" fmla="*/ 229 w 1531"/>
                <a:gd name="T35" fmla="*/ 762 h 895"/>
                <a:gd name="T36" fmla="*/ 26 w 1531"/>
                <a:gd name="T37" fmla="*/ 607 h 895"/>
                <a:gd name="T38" fmla="*/ 5 w 1531"/>
                <a:gd name="T39" fmla="*/ 609 h 895"/>
                <a:gd name="T40" fmla="*/ 8 w 1531"/>
                <a:gd name="T41" fmla="*/ 630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1" h="895">
                  <a:moveTo>
                    <a:pt x="8" y="630"/>
                  </a:moveTo>
                  <a:cubicBezTo>
                    <a:pt x="113" y="714"/>
                    <a:pt x="196" y="779"/>
                    <a:pt x="269" y="824"/>
                  </a:cubicBezTo>
                  <a:cubicBezTo>
                    <a:pt x="306" y="847"/>
                    <a:pt x="340" y="864"/>
                    <a:pt x="374" y="876"/>
                  </a:cubicBezTo>
                  <a:cubicBezTo>
                    <a:pt x="407" y="888"/>
                    <a:pt x="440" y="894"/>
                    <a:pt x="473" y="894"/>
                  </a:cubicBezTo>
                  <a:cubicBezTo>
                    <a:pt x="506" y="894"/>
                    <a:pt x="539" y="888"/>
                    <a:pt x="573" y="875"/>
                  </a:cubicBezTo>
                  <a:cubicBezTo>
                    <a:pt x="624" y="856"/>
                    <a:pt x="678" y="823"/>
                    <a:pt x="739" y="775"/>
                  </a:cubicBezTo>
                  <a:cubicBezTo>
                    <a:pt x="801" y="727"/>
                    <a:pt x="870" y="663"/>
                    <a:pt x="953" y="584"/>
                  </a:cubicBezTo>
                  <a:lnTo>
                    <a:pt x="953" y="584"/>
                  </a:lnTo>
                  <a:lnTo>
                    <a:pt x="1524" y="27"/>
                  </a:lnTo>
                  <a:cubicBezTo>
                    <a:pt x="1529" y="21"/>
                    <a:pt x="1530" y="12"/>
                    <a:pt x="1524" y="6"/>
                  </a:cubicBezTo>
                  <a:cubicBezTo>
                    <a:pt x="1518" y="0"/>
                    <a:pt x="1509" y="0"/>
                    <a:pt x="1503" y="6"/>
                  </a:cubicBezTo>
                  <a:lnTo>
                    <a:pt x="932" y="563"/>
                  </a:lnTo>
                  <a:lnTo>
                    <a:pt x="932" y="563"/>
                  </a:lnTo>
                  <a:cubicBezTo>
                    <a:pt x="823" y="668"/>
                    <a:pt x="737" y="744"/>
                    <a:pt x="663" y="793"/>
                  </a:cubicBezTo>
                  <a:cubicBezTo>
                    <a:pt x="627" y="818"/>
                    <a:pt x="594" y="836"/>
                    <a:pt x="562" y="847"/>
                  </a:cubicBezTo>
                  <a:cubicBezTo>
                    <a:pt x="531" y="859"/>
                    <a:pt x="502" y="865"/>
                    <a:pt x="473" y="865"/>
                  </a:cubicBezTo>
                  <a:cubicBezTo>
                    <a:pt x="444" y="865"/>
                    <a:pt x="415" y="859"/>
                    <a:pt x="384" y="848"/>
                  </a:cubicBezTo>
                  <a:cubicBezTo>
                    <a:pt x="338" y="832"/>
                    <a:pt x="288" y="803"/>
                    <a:pt x="229" y="762"/>
                  </a:cubicBezTo>
                  <a:cubicBezTo>
                    <a:pt x="171" y="722"/>
                    <a:pt x="105" y="669"/>
                    <a:pt x="26" y="607"/>
                  </a:cubicBezTo>
                  <a:cubicBezTo>
                    <a:pt x="20" y="602"/>
                    <a:pt x="10" y="603"/>
                    <a:pt x="5" y="609"/>
                  </a:cubicBezTo>
                  <a:cubicBezTo>
                    <a:pt x="0" y="615"/>
                    <a:pt x="1" y="625"/>
                    <a:pt x="8" y="63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6" name="Freeform 5">
              <a:extLst>
                <a:ext uri="{FF2B5EF4-FFF2-40B4-BE49-F238E27FC236}">
                  <a16:creationId xmlns:a16="http://schemas.microsoft.com/office/drawing/2014/main" id="{9F25C08B-5CAA-1D40-B768-CF07CC9095C1}"/>
                </a:ext>
              </a:extLst>
            </p:cNvPr>
            <p:cNvSpPr>
              <a:spLocks noChangeArrowheads="1"/>
            </p:cNvSpPr>
            <p:nvPr/>
          </p:nvSpPr>
          <p:spPr bwMode="auto">
            <a:xfrm>
              <a:off x="1596425" y="805324"/>
              <a:ext cx="201273" cy="127619"/>
            </a:xfrm>
            <a:custGeom>
              <a:avLst/>
              <a:gdLst>
                <a:gd name="T0" fmla="*/ 4 w 1217"/>
                <a:gd name="T1" fmla="*/ 588 h 773"/>
                <a:gd name="T2" fmla="*/ 193 w 1217"/>
                <a:gd name="T3" fmla="*/ 724 h 773"/>
                <a:gd name="T4" fmla="*/ 332 w 1217"/>
                <a:gd name="T5" fmla="*/ 772 h 773"/>
                <a:gd name="T6" fmla="*/ 415 w 1217"/>
                <a:gd name="T7" fmla="*/ 752 h 773"/>
                <a:gd name="T8" fmla="*/ 563 w 1217"/>
                <a:gd name="T9" fmla="*/ 648 h 773"/>
                <a:gd name="T10" fmla="*/ 776 w 1217"/>
                <a:gd name="T11" fmla="*/ 448 h 773"/>
                <a:gd name="T12" fmla="*/ 776 w 1217"/>
                <a:gd name="T13" fmla="*/ 448 h 773"/>
                <a:gd name="T14" fmla="*/ 1213 w 1217"/>
                <a:gd name="T15" fmla="*/ 12 h 773"/>
                <a:gd name="T16" fmla="*/ 1213 w 1217"/>
                <a:gd name="T17" fmla="*/ 2 h 773"/>
                <a:gd name="T18" fmla="*/ 1204 w 1217"/>
                <a:gd name="T19" fmla="*/ 2 h 773"/>
                <a:gd name="T20" fmla="*/ 767 w 1217"/>
                <a:gd name="T21" fmla="*/ 439 h 773"/>
                <a:gd name="T22" fmla="*/ 500 w 1217"/>
                <a:gd name="T23" fmla="*/ 682 h 773"/>
                <a:gd name="T24" fmla="*/ 410 w 1217"/>
                <a:gd name="T25" fmla="*/ 740 h 773"/>
                <a:gd name="T26" fmla="*/ 332 w 1217"/>
                <a:gd name="T27" fmla="*/ 759 h 773"/>
                <a:gd name="T28" fmla="*/ 199 w 1217"/>
                <a:gd name="T29" fmla="*/ 712 h 773"/>
                <a:gd name="T30" fmla="*/ 12 w 1217"/>
                <a:gd name="T31" fmla="*/ 577 h 773"/>
                <a:gd name="T32" fmla="*/ 2 w 1217"/>
                <a:gd name="T33" fmla="*/ 578 h 773"/>
                <a:gd name="T34" fmla="*/ 4 w 1217"/>
                <a:gd name="T35" fmla="*/ 588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4" y="588"/>
                  </a:moveTo>
                  <a:cubicBezTo>
                    <a:pt x="81" y="647"/>
                    <a:pt x="141" y="692"/>
                    <a:pt x="193" y="724"/>
                  </a:cubicBezTo>
                  <a:cubicBezTo>
                    <a:pt x="244" y="755"/>
                    <a:pt x="288" y="772"/>
                    <a:pt x="332" y="772"/>
                  </a:cubicBezTo>
                  <a:cubicBezTo>
                    <a:pt x="359" y="772"/>
                    <a:pt x="386" y="765"/>
                    <a:pt x="415" y="752"/>
                  </a:cubicBezTo>
                  <a:cubicBezTo>
                    <a:pt x="458" y="733"/>
                    <a:pt x="505" y="698"/>
                    <a:pt x="563" y="648"/>
                  </a:cubicBezTo>
                  <a:cubicBezTo>
                    <a:pt x="620" y="597"/>
                    <a:pt x="689" y="531"/>
                    <a:pt x="776" y="448"/>
                  </a:cubicBezTo>
                  <a:lnTo>
                    <a:pt x="776" y="448"/>
                  </a:lnTo>
                  <a:lnTo>
                    <a:pt x="1213" y="12"/>
                  </a:lnTo>
                  <a:cubicBezTo>
                    <a:pt x="1216" y="9"/>
                    <a:pt x="1216" y="5"/>
                    <a:pt x="1213" y="2"/>
                  </a:cubicBezTo>
                  <a:cubicBezTo>
                    <a:pt x="1210" y="0"/>
                    <a:pt x="1206" y="0"/>
                    <a:pt x="1204" y="2"/>
                  </a:cubicBezTo>
                  <a:lnTo>
                    <a:pt x="767" y="439"/>
                  </a:lnTo>
                  <a:cubicBezTo>
                    <a:pt x="651" y="549"/>
                    <a:pt x="568" y="630"/>
                    <a:pt x="500" y="682"/>
                  </a:cubicBezTo>
                  <a:cubicBezTo>
                    <a:pt x="466" y="709"/>
                    <a:pt x="437" y="728"/>
                    <a:pt x="410" y="740"/>
                  </a:cubicBezTo>
                  <a:cubicBezTo>
                    <a:pt x="382" y="753"/>
                    <a:pt x="357" y="759"/>
                    <a:pt x="332" y="759"/>
                  </a:cubicBezTo>
                  <a:cubicBezTo>
                    <a:pt x="291" y="759"/>
                    <a:pt x="250" y="743"/>
                    <a:pt x="199" y="712"/>
                  </a:cubicBezTo>
                  <a:cubicBezTo>
                    <a:pt x="149" y="682"/>
                    <a:pt x="89" y="636"/>
                    <a:pt x="12" y="577"/>
                  </a:cubicBezTo>
                  <a:cubicBezTo>
                    <a:pt x="9" y="575"/>
                    <a:pt x="4" y="575"/>
                    <a:pt x="2" y="578"/>
                  </a:cubicBezTo>
                  <a:cubicBezTo>
                    <a:pt x="0" y="581"/>
                    <a:pt x="1" y="585"/>
                    <a:pt x="4" y="58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7" name="Freeform 6">
              <a:extLst>
                <a:ext uri="{FF2B5EF4-FFF2-40B4-BE49-F238E27FC236}">
                  <a16:creationId xmlns:a16="http://schemas.microsoft.com/office/drawing/2014/main" id="{A1A66D2D-2EC2-AA45-8DA4-4B543D6DB3C7}"/>
                </a:ext>
              </a:extLst>
            </p:cNvPr>
            <p:cNvSpPr>
              <a:spLocks noChangeArrowheads="1"/>
            </p:cNvSpPr>
            <p:nvPr/>
          </p:nvSpPr>
          <p:spPr bwMode="auto">
            <a:xfrm>
              <a:off x="1368170" y="664579"/>
              <a:ext cx="439737" cy="330350"/>
            </a:xfrm>
            <a:custGeom>
              <a:avLst/>
              <a:gdLst>
                <a:gd name="T0" fmla="*/ 2631 w 2657"/>
                <a:gd name="T1" fmla="*/ 532 h 1998"/>
                <a:gd name="T2" fmla="*/ 2130 w 2657"/>
                <a:gd name="T3" fmla="*/ 145 h 1998"/>
                <a:gd name="T4" fmla="*/ 1920 w 2657"/>
                <a:gd name="T5" fmla="*/ 38 h 1998"/>
                <a:gd name="T6" fmla="*/ 1715 w 2657"/>
                <a:gd name="T7" fmla="*/ 0 h 1998"/>
                <a:gd name="T8" fmla="*/ 1578 w 2657"/>
                <a:gd name="T9" fmla="*/ 19 h 1998"/>
                <a:gd name="T10" fmla="*/ 1370 w 2657"/>
                <a:gd name="T11" fmla="*/ 116 h 1998"/>
                <a:gd name="T12" fmla="*/ 1150 w 2657"/>
                <a:gd name="T13" fmla="*/ 295 h 1998"/>
                <a:gd name="T14" fmla="*/ 1150 w 2657"/>
                <a:gd name="T15" fmla="*/ 295 h 1998"/>
                <a:gd name="T16" fmla="*/ 16 w 2657"/>
                <a:gd name="T17" fmla="*/ 1368 h 1998"/>
                <a:gd name="T18" fmla="*/ 0 w 2657"/>
                <a:gd name="T19" fmla="*/ 1406 h 1998"/>
                <a:gd name="T20" fmla="*/ 16 w 2657"/>
                <a:gd name="T21" fmla="*/ 1444 h 1998"/>
                <a:gd name="T22" fmla="*/ 566 w 2657"/>
                <a:gd name="T23" fmla="*/ 1977 h 1998"/>
                <a:gd name="T24" fmla="*/ 640 w 2657"/>
                <a:gd name="T25" fmla="*/ 1976 h 1998"/>
                <a:gd name="T26" fmla="*/ 639 w 2657"/>
                <a:gd name="T27" fmla="*/ 1901 h 1998"/>
                <a:gd name="T28" fmla="*/ 129 w 2657"/>
                <a:gd name="T29" fmla="*/ 1406 h 1998"/>
                <a:gd name="T30" fmla="*/ 1223 w 2657"/>
                <a:gd name="T31" fmla="*/ 371 h 1998"/>
                <a:gd name="T32" fmla="*/ 1223 w 2657"/>
                <a:gd name="T33" fmla="*/ 371 h 1998"/>
                <a:gd name="T34" fmla="*/ 1489 w 2657"/>
                <a:gd name="T35" fmla="*/ 167 h 1998"/>
                <a:gd name="T36" fmla="*/ 1605 w 2657"/>
                <a:gd name="T37" fmla="*/ 121 h 1998"/>
                <a:gd name="T38" fmla="*/ 1715 w 2657"/>
                <a:gd name="T39" fmla="*/ 106 h 1998"/>
                <a:gd name="T40" fmla="*/ 1884 w 2657"/>
                <a:gd name="T41" fmla="*/ 138 h 1998"/>
                <a:gd name="T42" fmla="*/ 2181 w 2657"/>
                <a:gd name="T43" fmla="*/ 306 h 1998"/>
                <a:gd name="T44" fmla="*/ 2562 w 2657"/>
                <a:gd name="T45" fmla="*/ 612 h 1998"/>
                <a:gd name="T46" fmla="*/ 2637 w 2657"/>
                <a:gd name="T47" fmla="*/ 606 h 1998"/>
                <a:gd name="T48" fmla="*/ 2631 w 2657"/>
                <a:gd name="T49" fmla="*/ 532 h 19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57" h="1998">
                  <a:moveTo>
                    <a:pt x="2631" y="532"/>
                  </a:moveTo>
                  <a:cubicBezTo>
                    <a:pt x="2437" y="367"/>
                    <a:pt x="2276" y="237"/>
                    <a:pt x="2130" y="145"/>
                  </a:cubicBezTo>
                  <a:cubicBezTo>
                    <a:pt x="2058" y="99"/>
                    <a:pt x="1988" y="63"/>
                    <a:pt x="1920" y="38"/>
                  </a:cubicBezTo>
                  <a:cubicBezTo>
                    <a:pt x="1851" y="14"/>
                    <a:pt x="1783" y="0"/>
                    <a:pt x="1715" y="0"/>
                  </a:cubicBezTo>
                  <a:cubicBezTo>
                    <a:pt x="1669" y="0"/>
                    <a:pt x="1623" y="6"/>
                    <a:pt x="1578" y="19"/>
                  </a:cubicBezTo>
                  <a:cubicBezTo>
                    <a:pt x="1509" y="37"/>
                    <a:pt x="1440" y="70"/>
                    <a:pt x="1370" y="116"/>
                  </a:cubicBezTo>
                  <a:cubicBezTo>
                    <a:pt x="1299" y="162"/>
                    <a:pt x="1227" y="221"/>
                    <a:pt x="1150" y="295"/>
                  </a:cubicBezTo>
                  <a:lnTo>
                    <a:pt x="1150" y="295"/>
                  </a:lnTo>
                  <a:lnTo>
                    <a:pt x="16" y="1368"/>
                  </a:lnTo>
                  <a:cubicBezTo>
                    <a:pt x="6" y="1378"/>
                    <a:pt x="0" y="1391"/>
                    <a:pt x="0" y="1406"/>
                  </a:cubicBezTo>
                  <a:cubicBezTo>
                    <a:pt x="0" y="1420"/>
                    <a:pt x="6" y="1434"/>
                    <a:pt x="16" y="1444"/>
                  </a:cubicBezTo>
                  <a:lnTo>
                    <a:pt x="566" y="1977"/>
                  </a:lnTo>
                  <a:cubicBezTo>
                    <a:pt x="587" y="1997"/>
                    <a:pt x="619" y="1997"/>
                    <a:pt x="640" y="1976"/>
                  </a:cubicBezTo>
                  <a:cubicBezTo>
                    <a:pt x="660" y="1955"/>
                    <a:pt x="660" y="1921"/>
                    <a:pt x="639" y="1901"/>
                  </a:cubicBezTo>
                  <a:lnTo>
                    <a:pt x="129" y="1406"/>
                  </a:lnTo>
                  <a:lnTo>
                    <a:pt x="1223" y="371"/>
                  </a:lnTo>
                  <a:lnTo>
                    <a:pt x="1223" y="371"/>
                  </a:lnTo>
                  <a:cubicBezTo>
                    <a:pt x="1321" y="277"/>
                    <a:pt x="1409" y="210"/>
                    <a:pt x="1489" y="167"/>
                  </a:cubicBezTo>
                  <a:cubicBezTo>
                    <a:pt x="1529" y="146"/>
                    <a:pt x="1568" y="131"/>
                    <a:pt x="1605" y="121"/>
                  </a:cubicBezTo>
                  <a:cubicBezTo>
                    <a:pt x="1642" y="111"/>
                    <a:pt x="1679" y="106"/>
                    <a:pt x="1715" y="106"/>
                  </a:cubicBezTo>
                  <a:cubicBezTo>
                    <a:pt x="1770" y="106"/>
                    <a:pt x="1825" y="116"/>
                    <a:pt x="1884" y="138"/>
                  </a:cubicBezTo>
                  <a:cubicBezTo>
                    <a:pt x="1972" y="170"/>
                    <a:pt x="2070" y="226"/>
                    <a:pt x="2181" y="306"/>
                  </a:cubicBezTo>
                  <a:cubicBezTo>
                    <a:pt x="2293" y="387"/>
                    <a:pt x="2418" y="490"/>
                    <a:pt x="2562" y="612"/>
                  </a:cubicBezTo>
                  <a:cubicBezTo>
                    <a:pt x="2585" y="631"/>
                    <a:pt x="2618" y="628"/>
                    <a:pt x="2637" y="606"/>
                  </a:cubicBezTo>
                  <a:cubicBezTo>
                    <a:pt x="2656" y="584"/>
                    <a:pt x="2653" y="551"/>
                    <a:pt x="2631" y="53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8" name="Freeform 7">
              <a:extLst>
                <a:ext uri="{FF2B5EF4-FFF2-40B4-BE49-F238E27FC236}">
                  <a16:creationId xmlns:a16="http://schemas.microsoft.com/office/drawing/2014/main" id="{BF5A2635-9D3C-B746-B7BB-00E1B5440D84}"/>
                </a:ext>
              </a:extLst>
            </p:cNvPr>
            <p:cNvSpPr>
              <a:spLocks noChangeArrowheads="1"/>
            </p:cNvSpPr>
            <p:nvPr/>
          </p:nvSpPr>
          <p:spPr bwMode="auto">
            <a:xfrm>
              <a:off x="1419946" y="709792"/>
              <a:ext cx="356603" cy="190334"/>
            </a:xfrm>
            <a:custGeom>
              <a:avLst/>
              <a:gdLst>
                <a:gd name="T0" fmla="*/ 2142 w 2158"/>
                <a:gd name="T1" fmla="*/ 438 h 1152"/>
                <a:gd name="T2" fmla="*/ 1725 w 2158"/>
                <a:gd name="T3" fmla="*/ 118 h 1152"/>
                <a:gd name="T4" fmla="*/ 1552 w 2158"/>
                <a:gd name="T5" fmla="*/ 31 h 1152"/>
                <a:gd name="T6" fmla="*/ 1386 w 2158"/>
                <a:gd name="T7" fmla="*/ 0 h 1152"/>
                <a:gd name="T8" fmla="*/ 1261 w 2158"/>
                <a:gd name="T9" fmla="*/ 19 h 1152"/>
                <a:gd name="T10" fmla="*/ 1068 w 2158"/>
                <a:gd name="T11" fmla="*/ 115 h 1152"/>
                <a:gd name="T12" fmla="*/ 852 w 2158"/>
                <a:gd name="T13" fmla="*/ 295 h 1152"/>
                <a:gd name="T14" fmla="*/ 852 w 2158"/>
                <a:gd name="T15" fmla="*/ 295 h 1152"/>
                <a:gd name="T16" fmla="*/ 13 w 2158"/>
                <a:gd name="T17" fmla="*/ 1094 h 1152"/>
                <a:gd name="T18" fmla="*/ 12 w 2158"/>
                <a:gd name="T19" fmla="*/ 1138 h 1152"/>
                <a:gd name="T20" fmla="*/ 56 w 2158"/>
                <a:gd name="T21" fmla="*/ 1139 h 1152"/>
                <a:gd name="T22" fmla="*/ 895 w 2158"/>
                <a:gd name="T23" fmla="*/ 340 h 1152"/>
                <a:gd name="T24" fmla="*/ 895 w 2158"/>
                <a:gd name="T25" fmla="*/ 340 h 1152"/>
                <a:gd name="T26" fmla="*/ 1164 w 2158"/>
                <a:gd name="T27" fmla="*/ 128 h 1152"/>
                <a:gd name="T28" fmla="*/ 1279 w 2158"/>
                <a:gd name="T29" fmla="*/ 79 h 1152"/>
                <a:gd name="T30" fmla="*/ 1386 w 2158"/>
                <a:gd name="T31" fmla="*/ 63 h 1152"/>
                <a:gd name="T32" fmla="*/ 1531 w 2158"/>
                <a:gd name="T33" fmla="*/ 90 h 1152"/>
                <a:gd name="T34" fmla="*/ 1781 w 2158"/>
                <a:gd name="T35" fmla="*/ 231 h 1152"/>
                <a:gd name="T36" fmla="*/ 2102 w 2158"/>
                <a:gd name="T37" fmla="*/ 486 h 1152"/>
                <a:gd name="T38" fmla="*/ 2146 w 2158"/>
                <a:gd name="T39" fmla="*/ 482 h 1152"/>
                <a:gd name="T40" fmla="*/ 2142 w 2158"/>
                <a:gd name="T41" fmla="*/ 438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2142" y="438"/>
                  </a:moveTo>
                  <a:cubicBezTo>
                    <a:pt x="1978" y="301"/>
                    <a:pt x="1845" y="193"/>
                    <a:pt x="1725" y="118"/>
                  </a:cubicBezTo>
                  <a:cubicBezTo>
                    <a:pt x="1664" y="80"/>
                    <a:pt x="1608" y="51"/>
                    <a:pt x="1552" y="31"/>
                  </a:cubicBezTo>
                  <a:cubicBezTo>
                    <a:pt x="1496" y="11"/>
                    <a:pt x="1441" y="0"/>
                    <a:pt x="1386" y="0"/>
                  </a:cubicBezTo>
                  <a:cubicBezTo>
                    <a:pt x="1344" y="0"/>
                    <a:pt x="1303" y="6"/>
                    <a:pt x="1261" y="19"/>
                  </a:cubicBezTo>
                  <a:cubicBezTo>
                    <a:pt x="1198" y="37"/>
                    <a:pt x="1135" y="69"/>
                    <a:pt x="1068" y="115"/>
                  </a:cubicBezTo>
                  <a:cubicBezTo>
                    <a:pt x="1000" y="161"/>
                    <a:pt x="930" y="220"/>
                    <a:pt x="852" y="295"/>
                  </a:cubicBezTo>
                  <a:lnTo>
                    <a:pt x="852" y="295"/>
                  </a:lnTo>
                  <a:lnTo>
                    <a:pt x="13" y="1094"/>
                  </a:lnTo>
                  <a:cubicBezTo>
                    <a:pt x="1" y="1106"/>
                    <a:pt x="0" y="1126"/>
                    <a:pt x="12" y="1138"/>
                  </a:cubicBezTo>
                  <a:cubicBezTo>
                    <a:pt x="24" y="1151"/>
                    <a:pt x="44" y="1151"/>
                    <a:pt x="56" y="1139"/>
                  </a:cubicBezTo>
                  <a:lnTo>
                    <a:pt x="895" y="340"/>
                  </a:lnTo>
                  <a:lnTo>
                    <a:pt x="895" y="340"/>
                  </a:lnTo>
                  <a:cubicBezTo>
                    <a:pt x="997" y="243"/>
                    <a:pt x="1085" y="173"/>
                    <a:pt x="1164" y="128"/>
                  </a:cubicBezTo>
                  <a:cubicBezTo>
                    <a:pt x="1204" y="106"/>
                    <a:pt x="1242" y="89"/>
                    <a:pt x="1279" y="79"/>
                  </a:cubicBezTo>
                  <a:cubicBezTo>
                    <a:pt x="1315" y="68"/>
                    <a:pt x="1351" y="63"/>
                    <a:pt x="1386" y="63"/>
                  </a:cubicBezTo>
                  <a:cubicBezTo>
                    <a:pt x="1433" y="63"/>
                    <a:pt x="1480" y="72"/>
                    <a:pt x="1531" y="90"/>
                  </a:cubicBezTo>
                  <a:cubicBezTo>
                    <a:pt x="1606" y="117"/>
                    <a:pt x="1688" y="164"/>
                    <a:pt x="1781" y="231"/>
                  </a:cubicBezTo>
                  <a:cubicBezTo>
                    <a:pt x="1874" y="298"/>
                    <a:pt x="1979" y="384"/>
                    <a:pt x="2102" y="486"/>
                  </a:cubicBezTo>
                  <a:cubicBezTo>
                    <a:pt x="2115" y="497"/>
                    <a:pt x="2135" y="495"/>
                    <a:pt x="2146" y="482"/>
                  </a:cubicBezTo>
                  <a:cubicBezTo>
                    <a:pt x="2157" y="469"/>
                    <a:pt x="2155" y="449"/>
                    <a:pt x="2142" y="43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9" name="Freeform 8">
              <a:extLst>
                <a:ext uri="{FF2B5EF4-FFF2-40B4-BE49-F238E27FC236}">
                  <a16:creationId xmlns:a16="http://schemas.microsoft.com/office/drawing/2014/main" id="{9A427AEE-5F0B-1D43-8127-A5A07CDC3AC8}"/>
                </a:ext>
              </a:extLst>
            </p:cNvPr>
            <p:cNvSpPr>
              <a:spLocks noChangeArrowheads="1"/>
            </p:cNvSpPr>
            <p:nvPr/>
          </p:nvSpPr>
          <p:spPr bwMode="auto">
            <a:xfrm>
              <a:off x="1444012" y="752818"/>
              <a:ext cx="304826" cy="169186"/>
            </a:xfrm>
            <a:custGeom>
              <a:avLst/>
              <a:gdLst>
                <a:gd name="T0" fmla="*/ 1832 w 1844"/>
                <a:gd name="T1" fmla="*/ 349 h 1021"/>
                <a:gd name="T2" fmla="*/ 1494 w 1844"/>
                <a:gd name="T3" fmla="*/ 93 h 1021"/>
                <a:gd name="T4" fmla="*/ 1356 w 1844"/>
                <a:gd name="T5" fmla="*/ 24 h 1021"/>
                <a:gd name="T6" fmla="*/ 1224 w 1844"/>
                <a:gd name="T7" fmla="*/ 0 h 1021"/>
                <a:gd name="T8" fmla="*/ 1110 w 1844"/>
                <a:gd name="T9" fmla="*/ 18 h 1021"/>
                <a:gd name="T10" fmla="*/ 929 w 1844"/>
                <a:gd name="T11" fmla="*/ 116 h 1021"/>
                <a:gd name="T12" fmla="*/ 715 w 1844"/>
                <a:gd name="T13" fmla="*/ 301 h 1021"/>
                <a:gd name="T14" fmla="*/ 714 w 1844"/>
                <a:gd name="T15" fmla="*/ 301 h 1021"/>
                <a:gd name="T16" fmla="*/ 10 w 1844"/>
                <a:gd name="T17" fmla="*/ 978 h 1021"/>
                <a:gd name="T18" fmla="*/ 9 w 1844"/>
                <a:gd name="T19" fmla="*/ 1011 h 1021"/>
                <a:gd name="T20" fmla="*/ 42 w 1844"/>
                <a:gd name="T21" fmla="*/ 1012 h 1021"/>
                <a:gd name="T22" fmla="*/ 746 w 1844"/>
                <a:gd name="T23" fmla="*/ 334 h 1021"/>
                <a:gd name="T24" fmla="*/ 746 w 1844"/>
                <a:gd name="T25" fmla="*/ 334 h 1021"/>
                <a:gd name="T26" fmla="*/ 1016 w 1844"/>
                <a:gd name="T27" fmla="*/ 114 h 1021"/>
                <a:gd name="T28" fmla="*/ 1124 w 1844"/>
                <a:gd name="T29" fmla="*/ 62 h 1021"/>
                <a:gd name="T30" fmla="*/ 1224 w 1844"/>
                <a:gd name="T31" fmla="*/ 46 h 1021"/>
                <a:gd name="T32" fmla="*/ 1340 w 1844"/>
                <a:gd name="T33" fmla="*/ 67 h 1021"/>
                <a:gd name="T34" fmla="*/ 1542 w 1844"/>
                <a:gd name="T35" fmla="*/ 180 h 1021"/>
                <a:gd name="T36" fmla="*/ 1803 w 1844"/>
                <a:gd name="T37" fmla="*/ 385 h 1021"/>
                <a:gd name="T38" fmla="*/ 1835 w 1844"/>
                <a:gd name="T39" fmla="*/ 381 h 1021"/>
                <a:gd name="T40" fmla="*/ 1832 w 1844"/>
                <a:gd name="T41" fmla="*/ 349 h 10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4" h="1021">
                  <a:moveTo>
                    <a:pt x="1832" y="349"/>
                  </a:moveTo>
                  <a:cubicBezTo>
                    <a:pt x="1698" y="239"/>
                    <a:pt x="1590" y="153"/>
                    <a:pt x="1494" y="93"/>
                  </a:cubicBezTo>
                  <a:cubicBezTo>
                    <a:pt x="1446" y="63"/>
                    <a:pt x="1400" y="40"/>
                    <a:pt x="1356" y="24"/>
                  </a:cubicBezTo>
                  <a:cubicBezTo>
                    <a:pt x="1311" y="8"/>
                    <a:pt x="1268" y="0"/>
                    <a:pt x="1224" y="0"/>
                  </a:cubicBezTo>
                  <a:cubicBezTo>
                    <a:pt x="1186" y="0"/>
                    <a:pt x="1148" y="6"/>
                    <a:pt x="1110" y="18"/>
                  </a:cubicBezTo>
                  <a:cubicBezTo>
                    <a:pt x="1052" y="37"/>
                    <a:pt x="993" y="69"/>
                    <a:pt x="929" y="116"/>
                  </a:cubicBezTo>
                  <a:cubicBezTo>
                    <a:pt x="864" y="163"/>
                    <a:pt x="794" y="224"/>
                    <a:pt x="715" y="301"/>
                  </a:cubicBezTo>
                  <a:lnTo>
                    <a:pt x="714" y="301"/>
                  </a:lnTo>
                  <a:lnTo>
                    <a:pt x="10" y="978"/>
                  </a:lnTo>
                  <a:cubicBezTo>
                    <a:pt x="1" y="987"/>
                    <a:pt x="0" y="1002"/>
                    <a:pt x="9" y="1011"/>
                  </a:cubicBezTo>
                  <a:cubicBezTo>
                    <a:pt x="18" y="1020"/>
                    <a:pt x="33" y="1020"/>
                    <a:pt x="42" y="1012"/>
                  </a:cubicBezTo>
                  <a:lnTo>
                    <a:pt x="746" y="334"/>
                  </a:lnTo>
                  <a:lnTo>
                    <a:pt x="746" y="334"/>
                  </a:lnTo>
                  <a:cubicBezTo>
                    <a:pt x="851" y="233"/>
                    <a:pt x="939" y="160"/>
                    <a:pt x="1016" y="114"/>
                  </a:cubicBezTo>
                  <a:cubicBezTo>
                    <a:pt x="1054" y="90"/>
                    <a:pt x="1090" y="73"/>
                    <a:pt x="1124" y="62"/>
                  </a:cubicBezTo>
                  <a:cubicBezTo>
                    <a:pt x="1159" y="51"/>
                    <a:pt x="1191" y="46"/>
                    <a:pt x="1224" y="46"/>
                  </a:cubicBezTo>
                  <a:cubicBezTo>
                    <a:pt x="1262" y="46"/>
                    <a:pt x="1300" y="53"/>
                    <a:pt x="1340" y="67"/>
                  </a:cubicBezTo>
                  <a:cubicBezTo>
                    <a:pt x="1401" y="89"/>
                    <a:pt x="1466" y="127"/>
                    <a:pt x="1542" y="180"/>
                  </a:cubicBezTo>
                  <a:cubicBezTo>
                    <a:pt x="1617" y="234"/>
                    <a:pt x="1702" y="303"/>
                    <a:pt x="1803" y="385"/>
                  </a:cubicBezTo>
                  <a:cubicBezTo>
                    <a:pt x="1813" y="393"/>
                    <a:pt x="1827" y="391"/>
                    <a:pt x="1835" y="381"/>
                  </a:cubicBezTo>
                  <a:cubicBezTo>
                    <a:pt x="1843" y="372"/>
                    <a:pt x="1842" y="357"/>
                    <a:pt x="1832" y="349"/>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80" name="Freeform 9">
              <a:extLst>
                <a:ext uri="{FF2B5EF4-FFF2-40B4-BE49-F238E27FC236}">
                  <a16:creationId xmlns:a16="http://schemas.microsoft.com/office/drawing/2014/main" id="{E60E42BA-4A46-4D41-AA72-E2F725048BE0}"/>
                </a:ext>
              </a:extLst>
            </p:cNvPr>
            <p:cNvSpPr>
              <a:spLocks noChangeArrowheads="1"/>
            </p:cNvSpPr>
            <p:nvPr/>
          </p:nvSpPr>
          <p:spPr bwMode="auto">
            <a:xfrm>
              <a:off x="1467348" y="795114"/>
              <a:ext cx="253049" cy="148038"/>
            </a:xfrm>
            <a:custGeom>
              <a:avLst/>
              <a:gdLst>
                <a:gd name="T0" fmla="*/ 1522 w 1530"/>
                <a:gd name="T1" fmla="*/ 264 h 895"/>
                <a:gd name="T2" fmla="*/ 1260 w 1530"/>
                <a:gd name="T3" fmla="*/ 70 h 895"/>
                <a:gd name="T4" fmla="*/ 1156 w 1530"/>
                <a:gd name="T5" fmla="*/ 18 h 895"/>
                <a:gd name="T6" fmla="*/ 1057 w 1530"/>
                <a:gd name="T7" fmla="*/ 0 h 895"/>
                <a:gd name="T8" fmla="*/ 957 w 1530"/>
                <a:gd name="T9" fmla="*/ 19 h 895"/>
                <a:gd name="T10" fmla="*/ 791 w 1530"/>
                <a:gd name="T11" fmla="*/ 119 h 895"/>
                <a:gd name="T12" fmla="*/ 577 w 1530"/>
                <a:gd name="T13" fmla="*/ 310 h 895"/>
                <a:gd name="T14" fmla="*/ 577 w 1530"/>
                <a:gd name="T15" fmla="*/ 310 h 895"/>
                <a:gd name="T16" fmla="*/ 6 w 1530"/>
                <a:gd name="T17" fmla="*/ 867 h 895"/>
                <a:gd name="T18" fmla="*/ 6 w 1530"/>
                <a:gd name="T19" fmla="*/ 888 h 895"/>
                <a:gd name="T20" fmla="*/ 27 w 1530"/>
                <a:gd name="T21" fmla="*/ 888 h 895"/>
                <a:gd name="T22" fmla="*/ 598 w 1530"/>
                <a:gd name="T23" fmla="*/ 331 h 895"/>
                <a:gd name="T24" fmla="*/ 598 w 1530"/>
                <a:gd name="T25" fmla="*/ 331 h 895"/>
                <a:gd name="T26" fmla="*/ 866 w 1530"/>
                <a:gd name="T27" fmla="*/ 101 h 895"/>
                <a:gd name="T28" fmla="*/ 968 w 1530"/>
                <a:gd name="T29" fmla="*/ 47 h 895"/>
                <a:gd name="T30" fmla="*/ 1057 w 1530"/>
                <a:gd name="T31" fmla="*/ 29 h 895"/>
                <a:gd name="T32" fmla="*/ 1146 w 1530"/>
                <a:gd name="T33" fmla="*/ 46 h 895"/>
                <a:gd name="T34" fmla="*/ 1300 w 1530"/>
                <a:gd name="T35" fmla="*/ 132 h 895"/>
                <a:gd name="T36" fmla="*/ 1504 w 1530"/>
                <a:gd name="T37" fmla="*/ 287 h 895"/>
                <a:gd name="T38" fmla="*/ 1524 w 1530"/>
                <a:gd name="T39" fmla="*/ 285 h 895"/>
                <a:gd name="T40" fmla="*/ 1522 w 1530"/>
                <a:gd name="T41" fmla="*/ 264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0" h="895">
                  <a:moveTo>
                    <a:pt x="1522" y="264"/>
                  </a:moveTo>
                  <a:cubicBezTo>
                    <a:pt x="1417" y="180"/>
                    <a:pt x="1334" y="115"/>
                    <a:pt x="1260" y="70"/>
                  </a:cubicBezTo>
                  <a:cubicBezTo>
                    <a:pt x="1224" y="47"/>
                    <a:pt x="1189" y="30"/>
                    <a:pt x="1156" y="18"/>
                  </a:cubicBezTo>
                  <a:cubicBezTo>
                    <a:pt x="1123" y="6"/>
                    <a:pt x="1090" y="0"/>
                    <a:pt x="1057" y="0"/>
                  </a:cubicBezTo>
                  <a:cubicBezTo>
                    <a:pt x="1024" y="0"/>
                    <a:pt x="991" y="6"/>
                    <a:pt x="957" y="19"/>
                  </a:cubicBezTo>
                  <a:cubicBezTo>
                    <a:pt x="906" y="38"/>
                    <a:pt x="852" y="71"/>
                    <a:pt x="791" y="119"/>
                  </a:cubicBezTo>
                  <a:cubicBezTo>
                    <a:pt x="729" y="167"/>
                    <a:pt x="660" y="231"/>
                    <a:pt x="577" y="310"/>
                  </a:cubicBezTo>
                  <a:lnTo>
                    <a:pt x="577" y="310"/>
                  </a:lnTo>
                  <a:lnTo>
                    <a:pt x="6" y="867"/>
                  </a:lnTo>
                  <a:cubicBezTo>
                    <a:pt x="0" y="873"/>
                    <a:pt x="0" y="882"/>
                    <a:pt x="6" y="888"/>
                  </a:cubicBezTo>
                  <a:cubicBezTo>
                    <a:pt x="12" y="894"/>
                    <a:pt x="21" y="894"/>
                    <a:pt x="27" y="888"/>
                  </a:cubicBezTo>
                  <a:lnTo>
                    <a:pt x="598" y="331"/>
                  </a:lnTo>
                  <a:lnTo>
                    <a:pt x="598" y="331"/>
                  </a:lnTo>
                  <a:cubicBezTo>
                    <a:pt x="707" y="226"/>
                    <a:pt x="793" y="150"/>
                    <a:pt x="866" y="101"/>
                  </a:cubicBezTo>
                  <a:cubicBezTo>
                    <a:pt x="903" y="76"/>
                    <a:pt x="936" y="58"/>
                    <a:pt x="968" y="47"/>
                  </a:cubicBezTo>
                  <a:cubicBezTo>
                    <a:pt x="999" y="35"/>
                    <a:pt x="1028" y="29"/>
                    <a:pt x="1057" y="29"/>
                  </a:cubicBezTo>
                  <a:cubicBezTo>
                    <a:pt x="1086" y="29"/>
                    <a:pt x="1115" y="35"/>
                    <a:pt x="1146" y="46"/>
                  </a:cubicBezTo>
                  <a:cubicBezTo>
                    <a:pt x="1192" y="62"/>
                    <a:pt x="1242" y="91"/>
                    <a:pt x="1300" y="132"/>
                  </a:cubicBezTo>
                  <a:cubicBezTo>
                    <a:pt x="1359" y="172"/>
                    <a:pt x="1425" y="225"/>
                    <a:pt x="1504" y="287"/>
                  </a:cubicBezTo>
                  <a:cubicBezTo>
                    <a:pt x="1510" y="292"/>
                    <a:pt x="1518" y="291"/>
                    <a:pt x="1524" y="285"/>
                  </a:cubicBezTo>
                  <a:cubicBezTo>
                    <a:pt x="1529" y="279"/>
                    <a:pt x="1528" y="269"/>
                    <a:pt x="1522" y="26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81" name="Freeform 10">
              <a:extLst>
                <a:ext uri="{FF2B5EF4-FFF2-40B4-BE49-F238E27FC236}">
                  <a16:creationId xmlns:a16="http://schemas.microsoft.com/office/drawing/2014/main" id="{5B1734EF-4E6E-164F-849F-5F01256562DA}"/>
                </a:ext>
              </a:extLst>
            </p:cNvPr>
            <p:cNvSpPr>
              <a:spLocks noChangeArrowheads="1"/>
            </p:cNvSpPr>
            <p:nvPr/>
          </p:nvSpPr>
          <p:spPr bwMode="auto">
            <a:xfrm>
              <a:off x="1491413" y="835952"/>
              <a:ext cx="201273" cy="127619"/>
            </a:xfrm>
            <a:custGeom>
              <a:avLst/>
              <a:gdLst>
                <a:gd name="T0" fmla="*/ 1212 w 1217"/>
                <a:gd name="T1" fmla="*/ 184 h 773"/>
                <a:gd name="T2" fmla="*/ 1023 w 1217"/>
                <a:gd name="T3" fmla="*/ 48 h 773"/>
                <a:gd name="T4" fmla="*/ 884 w 1217"/>
                <a:gd name="T5" fmla="*/ 0 h 773"/>
                <a:gd name="T6" fmla="*/ 801 w 1217"/>
                <a:gd name="T7" fmla="*/ 20 h 773"/>
                <a:gd name="T8" fmla="*/ 653 w 1217"/>
                <a:gd name="T9" fmla="*/ 124 h 773"/>
                <a:gd name="T10" fmla="*/ 440 w 1217"/>
                <a:gd name="T11" fmla="*/ 324 h 773"/>
                <a:gd name="T12" fmla="*/ 440 w 1217"/>
                <a:gd name="T13" fmla="*/ 324 h 773"/>
                <a:gd name="T14" fmla="*/ 3 w 1217"/>
                <a:gd name="T15" fmla="*/ 760 h 773"/>
                <a:gd name="T16" fmla="*/ 3 w 1217"/>
                <a:gd name="T17" fmla="*/ 770 h 773"/>
                <a:gd name="T18" fmla="*/ 12 w 1217"/>
                <a:gd name="T19" fmla="*/ 770 h 773"/>
                <a:gd name="T20" fmla="*/ 449 w 1217"/>
                <a:gd name="T21" fmla="*/ 333 h 773"/>
                <a:gd name="T22" fmla="*/ 716 w 1217"/>
                <a:gd name="T23" fmla="*/ 90 h 773"/>
                <a:gd name="T24" fmla="*/ 806 w 1217"/>
                <a:gd name="T25" fmla="*/ 32 h 773"/>
                <a:gd name="T26" fmla="*/ 884 w 1217"/>
                <a:gd name="T27" fmla="*/ 13 h 773"/>
                <a:gd name="T28" fmla="*/ 1016 w 1217"/>
                <a:gd name="T29" fmla="*/ 60 h 773"/>
                <a:gd name="T30" fmla="*/ 1204 w 1217"/>
                <a:gd name="T31" fmla="*/ 195 h 773"/>
                <a:gd name="T32" fmla="*/ 1214 w 1217"/>
                <a:gd name="T33" fmla="*/ 194 h 773"/>
                <a:gd name="T34" fmla="*/ 1212 w 1217"/>
                <a:gd name="T35" fmla="*/ 184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1212" y="184"/>
                  </a:moveTo>
                  <a:cubicBezTo>
                    <a:pt x="1135" y="125"/>
                    <a:pt x="1075" y="80"/>
                    <a:pt x="1023" y="48"/>
                  </a:cubicBezTo>
                  <a:cubicBezTo>
                    <a:pt x="971" y="17"/>
                    <a:pt x="928" y="0"/>
                    <a:pt x="884" y="0"/>
                  </a:cubicBezTo>
                  <a:cubicBezTo>
                    <a:pt x="856" y="0"/>
                    <a:pt x="829" y="7"/>
                    <a:pt x="801" y="20"/>
                  </a:cubicBezTo>
                  <a:cubicBezTo>
                    <a:pt x="758" y="39"/>
                    <a:pt x="711" y="74"/>
                    <a:pt x="653" y="124"/>
                  </a:cubicBezTo>
                  <a:cubicBezTo>
                    <a:pt x="595" y="175"/>
                    <a:pt x="527" y="241"/>
                    <a:pt x="440" y="324"/>
                  </a:cubicBezTo>
                  <a:lnTo>
                    <a:pt x="440" y="324"/>
                  </a:lnTo>
                  <a:lnTo>
                    <a:pt x="3" y="760"/>
                  </a:lnTo>
                  <a:cubicBezTo>
                    <a:pt x="0" y="763"/>
                    <a:pt x="0" y="767"/>
                    <a:pt x="3" y="770"/>
                  </a:cubicBezTo>
                  <a:cubicBezTo>
                    <a:pt x="5" y="772"/>
                    <a:pt x="10" y="772"/>
                    <a:pt x="12" y="770"/>
                  </a:cubicBezTo>
                  <a:lnTo>
                    <a:pt x="449" y="333"/>
                  </a:lnTo>
                  <a:cubicBezTo>
                    <a:pt x="565" y="223"/>
                    <a:pt x="648" y="142"/>
                    <a:pt x="716" y="90"/>
                  </a:cubicBezTo>
                  <a:cubicBezTo>
                    <a:pt x="749" y="63"/>
                    <a:pt x="778" y="44"/>
                    <a:pt x="806" y="32"/>
                  </a:cubicBezTo>
                  <a:cubicBezTo>
                    <a:pt x="833" y="19"/>
                    <a:pt x="859" y="13"/>
                    <a:pt x="884" y="13"/>
                  </a:cubicBezTo>
                  <a:cubicBezTo>
                    <a:pt x="924" y="13"/>
                    <a:pt x="966" y="29"/>
                    <a:pt x="1016" y="60"/>
                  </a:cubicBezTo>
                  <a:cubicBezTo>
                    <a:pt x="1067" y="90"/>
                    <a:pt x="1127" y="136"/>
                    <a:pt x="1204" y="195"/>
                  </a:cubicBezTo>
                  <a:cubicBezTo>
                    <a:pt x="1207" y="197"/>
                    <a:pt x="1211" y="197"/>
                    <a:pt x="1214" y="194"/>
                  </a:cubicBezTo>
                  <a:cubicBezTo>
                    <a:pt x="1216" y="191"/>
                    <a:pt x="1215" y="187"/>
                    <a:pt x="1212" y="18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82" name="Freeform 11">
              <a:extLst>
                <a:ext uri="{FF2B5EF4-FFF2-40B4-BE49-F238E27FC236}">
                  <a16:creationId xmlns:a16="http://schemas.microsoft.com/office/drawing/2014/main" id="{8623BE8B-4483-AE4A-A6EA-432CBE50BCAC}"/>
                </a:ext>
              </a:extLst>
            </p:cNvPr>
            <p:cNvSpPr>
              <a:spLocks noChangeArrowheads="1"/>
            </p:cNvSpPr>
            <p:nvPr/>
          </p:nvSpPr>
          <p:spPr bwMode="auto">
            <a:xfrm>
              <a:off x="1608093" y="858559"/>
              <a:ext cx="72925" cy="48130"/>
            </a:xfrm>
            <a:custGeom>
              <a:avLst/>
              <a:gdLst>
                <a:gd name="T0" fmla="*/ 49 w 442"/>
                <a:gd name="T1" fmla="*/ 200 h 293"/>
                <a:gd name="T2" fmla="*/ 0 w 442"/>
                <a:gd name="T3" fmla="*/ 156 h 293"/>
                <a:gd name="T4" fmla="*/ 45 w 442"/>
                <a:gd name="T5" fmla="*/ 107 h 293"/>
                <a:gd name="T6" fmla="*/ 392 w 442"/>
                <a:gd name="T7" fmla="*/ 91 h 293"/>
                <a:gd name="T8" fmla="*/ 441 w 442"/>
                <a:gd name="T9" fmla="*/ 137 h 293"/>
                <a:gd name="T10" fmla="*/ 396 w 442"/>
                <a:gd name="T11" fmla="*/ 185 h 293"/>
                <a:gd name="T12" fmla="*/ 49 w 442"/>
                <a:gd name="T13" fmla="*/ 200 h 293"/>
              </a:gdLst>
              <a:ahLst/>
              <a:cxnLst>
                <a:cxn ang="0">
                  <a:pos x="T0" y="T1"/>
                </a:cxn>
                <a:cxn ang="0">
                  <a:pos x="T2" y="T3"/>
                </a:cxn>
                <a:cxn ang="0">
                  <a:pos x="T4" y="T5"/>
                </a:cxn>
                <a:cxn ang="0">
                  <a:pos x="T6" y="T7"/>
                </a:cxn>
                <a:cxn ang="0">
                  <a:pos x="T8" y="T9"/>
                </a:cxn>
                <a:cxn ang="0">
                  <a:pos x="T10" y="T11"/>
                </a:cxn>
                <a:cxn ang="0">
                  <a:pos x="T12" y="T13"/>
                </a:cxn>
              </a:cxnLst>
              <a:rect l="0" t="0" r="r" b="b"/>
              <a:pathLst>
                <a:path w="442" h="293">
                  <a:moveTo>
                    <a:pt x="49" y="200"/>
                  </a:moveTo>
                  <a:lnTo>
                    <a:pt x="0" y="156"/>
                  </a:lnTo>
                  <a:lnTo>
                    <a:pt x="45" y="107"/>
                  </a:lnTo>
                  <a:cubicBezTo>
                    <a:pt x="136" y="7"/>
                    <a:pt x="292" y="0"/>
                    <a:pt x="392" y="91"/>
                  </a:cubicBezTo>
                  <a:lnTo>
                    <a:pt x="441" y="137"/>
                  </a:lnTo>
                  <a:lnTo>
                    <a:pt x="396" y="185"/>
                  </a:lnTo>
                  <a:cubicBezTo>
                    <a:pt x="304" y="285"/>
                    <a:pt x="149" y="292"/>
                    <a:pt x="49" y="20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spTree>
    <p:extLst>
      <p:ext uri="{BB962C8B-B14F-4D97-AF65-F5344CB8AC3E}">
        <p14:creationId xmlns:p14="http://schemas.microsoft.com/office/powerpoint/2010/main" val="32402532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04CA6BC-3A36-834A-8A46-510CF743F360}"/>
              </a:ext>
            </a:extLst>
          </p:cNvPr>
          <p:cNvSpPr>
            <a:spLocks noGrp="1"/>
          </p:cNvSpPr>
          <p:nvPr>
            <p:ph type="title"/>
          </p:nvPr>
        </p:nvSpPr>
        <p:spPr/>
        <p:txBody>
          <a:bodyPr>
            <a:normAutofit/>
          </a:bodyPr>
          <a:lstStyle>
            <a:lvl1pPr>
              <a:defRPr sz="4000"/>
            </a:lvl1pPr>
          </a:lstStyle>
          <a:p>
            <a:r>
              <a:rPr kumimoji="1" lang="zh-CN" altLang="en-US" dirty="0"/>
              <a:t>单击此处编辑母版标题样式</a:t>
            </a:r>
          </a:p>
        </p:txBody>
      </p:sp>
      <p:sp>
        <p:nvSpPr>
          <p:cNvPr id="3" name="内容占位符 2">
            <a:extLst>
              <a:ext uri="{FF2B5EF4-FFF2-40B4-BE49-F238E27FC236}">
                <a16:creationId xmlns:a16="http://schemas.microsoft.com/office/drawing/2014/main" id="{E9F4A777-4880-8640-83A6-327323A56F12}"/>
              </a:ext>
            </a:extLst>
          </p:cNvPr>
          <p:cNvSpPr>
            <a:spLocks noGrp="1"/>
          </p:cNvSpPr>
          <p:nvPr>
            <p:ph sz="half" idx="1"/>
          </p:nvPr>
        </p:nvSpPr>
        <p:spPr>
          <a:xfrm>
            <a:off x="838200" y="1825625"/>
            <a:ext cx="5181600" cy="4351338"/>
          </a:xfrm>
        </p:spPr>
        <p:txBody>
          <a:body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4" name="内容占位符 3">
            <a:extLst>
              <a:ext uri="{FF2B5EF4-FFF2-40B4-BE49-F238E27FC236}">
                <a16:creationId xmlns:a16="http://schemas.microsoft.com/office/drawing/2014/main" id="{27E2510C-46FB-B140-83A3-4B9EF1B4C9DF}"/>
              </a:ext>
            </a:extLst>
          </p:cNvPr>
          <p:cNvSpPr>
            <a:spLocks noGrp="1"/>
          </p:cNvSpPr>
          <p:nvPr>
            <p:ph sz="half" idx="2"/>
          </p:nvPr>
        </p:nvSpPr>
        <p:spPr>
          <a:xfrm>
            <a:off x="6172200" y="1825625"/>
            <a:ext cx="5181600" cy="4351338"/>
          </a:xfrm>
        </p:spPr>
        <p:txBody>
          <a:body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7" name="灯片编号占位符 6">
            <a:extLst>
              <a:ext uri="{FF2B5EF4-FFF2-40B4-BE49-F238E27FC236}">
                <a16:creationId xmlns:a16="http://schemas.microsoft.com/office/drawing/2014/main" id="{FDFB6C4E-D29D-9647-82C6-2B183C588D14}"/>
              </a:ext>
            </a:extLst>
          </p:cNvPr>
          <p:cNvSpPr>
            <a:spLocks noGrp="1"/>
          </p:cNvSpPr>
          <p:nvPr>
            <p:ph type="sldNum" sz="quarter" idx="12"/>
          </p:nvPr>
        </p:nvSpPr>
        <p:spPr/>
        <p:txBody>
          <a:bodyPr/>
          <a:lstStyle/>
          <a:p>
            <a:fld id="{8D4D1E41-7A09-AB4A-A4E1-09765ADA2698}" type="slidenum">
              <a:rPr kumimoji="1" lang="zh-CN" altLang="en-US" smtClean="0"/>
              <a:t>‹#›</a:t>
            </a:fld>
            <a:endParaRPr kumimoji="1" lang="zh-CN" altLang="en-US"/>
          </a:p>
        </p:txBody>
      </p:sp>
      <p:cxnSp>
        <p:nvCxnSpPr>
          <p:cNvPr id="9" name="直线连接符 8">
            <a:extLst>
              <a:ext uri="{FF2B5EF4-FFF2-40B4-BE49-F238E27FC236}">
                <a16:creationId xmlns:a16="http://schemas.microsoft.com/office/drawing/2014/main" id="{2D64F221-C9B8-444F-9076-736EED2DA56E}"/>
              </a:ext>
            </a:extLst>
          </p:cNvPr>
          <p:cNvCxnSpPr>
            <a:cxnSpLocks/>
          </p:cNvCxnSpPr>
          <p:nvPr userDrawn="1"/>
        </p:nvCxnSpPr>
        <p:spPr>
          <a:xfrm>
            <a:off x="1314788" y="1244212"/>
            <a:ext cx="7295812" cy="0"/>
          </a:xfrm>
          <a:prstGeom prst="line">
            <a:avLst/>
          </a:prstGeom>
          <a:ln w="19050">
            <a:solidFill>
              <a:srgbClr val="5C307E"/>
            </a:solidFill>
          </a:ln>
        </p:spPr>
        <p:style>
          <a:lnRef idx="1">
            <a:schemeClr val="accent1"/>
          </a:lnRef>
          <a:fillRef idx="0">
            <a:schemeClr val="accent1"/>
          </a:fillRef>
          <a:effectRef idx="0">
            <a:schemeClr val="accent1"/>
          </a:effectRef>
          <a:fontRef idx="minor">
            <a:schemeClr val="tx1"/>
          </a:fontRef>
        </p:style>
      </p:cxnSp>
      <p:cxnSp>
        <p:nvCxnSpPr>
          <p:cNvPr id="33" name="直线连接符 32">
            <a:extLst>
              <a:ext uri="{FF2B5EF4-FFF2-40B4-BE49-F238E27FC236}">
                <a16:creationId xmlns:a16="http://schemas.microsoft.com/office/drawing/2014/main" id="{E9B9A2A5-908B-3244-B39F-9E6705AE6320}"/>
              </a:ext>
            </a:extLst>
          </p:cNvPr>
          <p:cNvCxnSpPr>
            <a:cxnSpLocks/>
          </p:cNvCxnSpPr>
          <p:nvPr userDrawn="1"/>
        </p:nvCxnSpPr>
        <p:spPr>
          <a:xfrm>
            <a:off x="9705401" y="526774"/>
            <a:ext cx="0" cy="503679"/>
          </a:xfrm>
          <a:prstGeom prst="line">
            <a:avLst/>
          </a:prstGeom>
          <a:ln w="12700" cap="rnd">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nvGrpSpPr>
          <p:cNvPr id="40" name="组合 39">
            <a:extLst>
              <a:ext uri="{FF2B5EF4-FFF2-40B4-BE49-F238E27FC236}">
                <a16:creationId xmlns:a16="http://schemas.microsoft.com/office/drawing/2014/main" id="{7BC00378-4A1A-AF4A-9DA5-0E40AABBEE09}"/>
              </a:ext>
            </a:extLst>
          </p:cNvPr>
          <p:cNvGrpSpPr/>
          <p:nvPr userDrawn="1"/>
        </p:nvGrpSpPr>
        <p:grpSpPr>
          <a:xfrm>
            <a:off x="715452" y="636006"/>
            <a:ext cx="403039" cy="321898"/>
            <a:chOff x="1368170" y="664579"/>
            <a:chExt cx="550582" cy="439737"/>
          </a:xfrm>
          <a:solidFill>
            <a:schemeClr val="bg1"/>
          </a:solidFill>
        </p:grpSpPr>
        <p:sp>
          <p:nvSpPr>
            <p:cNvPr id="41" name="Freeform 1">
              <a:extLst>
                <a:ext uri="{FF2B5EF4-FFF2-40B4-BE49-F238E27FC236}">
                  <a16:creationId xmlns:a16="http://schemas.microsoft.com/office/drawing/2014/main" id="{219E963A-769E-B14C-9175-00DF37C8C685}"/>
                </a:ext>
              </a:extLst>
            </p:cNvPr>
            <p:cNvSpPr>
              <a:spLocks noChangeArrowheads="1"/>
            </p:cNvSpPr>
            <p:nvPr/>
          </p:nvSpPr>
          <p:spPr bwMode="auto">
            <a:xfrm>
              <a:off x="1481203" y="771778"/>
              <a:ext cx="437549" cy="332538"/>
            </a:xfrm>
            <a:custGeom>
              <a:avLst/>
              <a:gdLst>
                <a:gd name="T0" fmla="*/ 25 w 2647"/>
                <a:gd name="T1" fmla="*/ 1478 h 2011"/>
                <a:gd name="T2" fmla="*/ 525 w 2647"/>
                <a:gd name="T3" fmla="*/ 1865 h 2011"/>
                <a:gd name="T4" fmla="*/ 736 w 2647"/>
                <a:gd name="T5" fmla="*/ 1972 h 2011"/>
                <a:gd name="T6" fmla="*/ 940 w 2647"/>
                <a:gd name="T7" fmla="*/ 2010 h 2011"/>
                <a:gd name="T8" fmla="*/ 1078 w 2647"/>
                <a:gd name="T9" fmla="*/ 1991 h 2011"/>
                <a:gd name="T10" fmla="*/ 1286 w 2647"/>
                <a:gd name="T11" fmla="*/ 1894 h 2011"/>
                <a:gd name="T12" fmla="*/ 1506 w 2647"/>
                <a:gd name="T13" fmla="*/ 1715 h 2011"/>
                <a:gd name="T14" fmla="*/ 1506 w 2647"/>
                <a:gd name="T15" fmla="*/ 1715 h 2011"/>
                <a:gd name="T16" fmla="*/ 2630 w 2647"/>
                <a:gd name="T17" fmla="*/ 624 h 2011"/>
                <a:gd name="T18" fmla="*/ 2646 w 2647"/>
                <a:gd name="T19" fmla="*/ 586 h 2011"/>
                <a:gd name="T20" fmla="*/ 2630 w 2647"/>
                <a:gd name="T21" fmla="*/ 548 h 2011"/>
                <a:gd name="T22" fmla="*/ 2090 w 2647"/>
                <a:gd name="T23" fmla="*/ 21 h 2011"/>
                <a:gd name="T24" fmla="*/ 2016 w 2647"/>
                <a:gd name="T25" fmla="*/ 22 h 2011"/>
                <a:gd name="T26" fmla="*/ 2017 w 2647"/>
                <a:gd name="T27" fmla="*/ 96 h 2011"/>
                <a:gd name="T28" fmla="*/ 2518 w 2647"/>
                <a:gd name="T29" fmla="*/ 586 h 2011"/>
                <a:gd name="T30" fmla="*/ 1433 w 2647"/>
                <a:gd name="T31" fmla="*/ 1639 h 2011"/>
                <a:gd name="T32" fmla="*/ 1433 w 2647"/>
                <a:gd name="T33" fmla="*/ 1639 h 2011"/>
                <a:gd name="T34" fmla="*/ 1167 w 2647"/>
                <a:gd name="T35" fmla="*/ 1843 h 2011"/>
                <a:gd name="T36" fmla="*/ 1051 w 2647"/>
                <a:gd name="T37" fmla="*/ 1889 h 2011"/>
                <a:gd name="T38" fmla="*/ 940 w 2647"/>
                <a:gd name="T39" fmla="*/ 1904 h 2011"/>
                <a:gd name="T40" fmla="*/ 772 w 2647"/>
                <a:gd name="T41" fmla="*/ 1872 h 2011"/>
                <a:gd name="T42" fmla="*/ 474 w 2647"/>
                <a:gd name="T43" fmla="*/ 1704 h 2011"/>
                <a:gd name="T44" fmla="*/ 93 w 2647"/>
                <a:gd name="T45" fmla="*/ 1398 h 2011"/>
                <a:gd name="T46" fmla="*/ 19 w 2647"/>
                <a:gd name="T47" fmla="*/ 1404 h 2011"/>
                <a:gd name="T48" fmla="*/ 25 w 2647"/>
                <a:gd name="T49" fmla="*/ 1478 h 20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47" h="2011">
                  <a:moveTo>
                    <a:pt x="25" y="1478"/>
                  </a:moveTo>
                  <a:cubicBezTo>
                    <a:pt x="219" y="1643"/>
                    <a:pt x="380" y="1773"/>
                    <a:pt x="525" y="1865"/>
                  </a:cubicBezTo>
                  <a:cubicBezTo>
                    <a:pt x="598" y="1911"/>
                    <a:pt x="668" y="1947"/>
                    <a:pt x="736" y="1972"/>
                  </a:cubicBezTo>
                  <a:cubicBezTo>
                    <a:pt x="805" y="1996"/>
                    <a:pt x="872" y="2010"/>
                    <a:pt x="940" y="2010"/>
                  </a:cubicBezTo>
                  <a:cubicBezTo>
                    <a:pt x="986" y="2010"/>
                    <a:pt x="1032" y="2004"/>
                    <a:pt x="1078" y="1991"/>
                  </a:cubicBezTo>
                  <a:cubicBezTo>
                    <a:pt x="1147" y="1973"/>
                    <a:pt x="1216" y="1940"/>
                    <a:pt x="1286" y="1894"/>
                  </a:cubicBezTo>
                  <a:cubicBezTo>
                    <a:pt x="1357" y="1848"/>
                    <a:pt x="1429" y="1789"/>
                    <a:pt x="1506" y="1715"/>
                  </a:cubicBezTo>
                  <a:lnTo>
                    <a:pt x="1506" y="1715"/>
                  </a:lnTo>
                  <a:lnTo>
                    <a:pt x="2630" y="624"/>
                  </a:lnTo>
                  <a:cubicBezTo>
                    <a:pt x="2640" y="614"/>
                    <a:pt x="2646" y="600"/>
                    <a:pt x="2646" y="586"/>
                  </a:cubicBezTo>
                  <a:cubicBezTo>
                    <a:pt x="2646" y="572"/>
                    <a:pt x="2641" y="558"/>
                    <a:pt x="2630" y="548"/>
                  </a:cubicBezTo>
                  <a:lnTo>
                    <a:pt x="2090" y="21"/>
                  </a:lnTo>
                  <a:cubicBezTo>
                    <a:pt x="2069" y="0"/>
                    <a:pt x="2036" y="1"/>
                    <a:pt x="2016" y="22"/>
                  </a:cubicBezTo>
                  <a:cubicBezTo>
                    <a:pt x="1995" y="42"/>
                    <a:pt x="1996" y="76"/>
                    <a:pt x="2017" y="96"/>
                  </a:cubicBezTo>
                  <a:lnTo>
                    <a:pt x="2518" y="586"/>
                  </a:lnTo>
                  <a:lnTo>
                    <a:pt x="1433" y="1639"/>
                  </a:lnTo>
                  <a:lnTo>
                    <a:pt x="1433" y="1639"/>
                  </a:lnTo>
                  <a:cubicBezTo>
                    <a:pt x="1335" y="1733"/>
                    <a:pt x="1247" y="1800"/>
                    <a:pt x="1167" y="1843"/>
                  </a:cubicBezTo>
                  <a:cubicBezTo>
                    <a:pt x="1127" y="1864"/>
                    <a:pt x="1088" y="1879"/>
                    <a:pt x="1051" y="1889"/>
                  </a:cubicBezTo>
                  <a:cubicBezTo>
                    <a:pt x="1013" y="1899"/>
                    <a:pt x="977" y="1904"/>
                    <a:pt x="940" y="1904"/>
                  </a:cubicBezTo>
                  <a:cubicBezTo>
                    <a:pt x="886" y="1904"/>
                    <a:pt x="831" y="1894"/>
                    <a:pt x="772" y="1872"/>
                  </a:cubicBezTo>
                  <a:cubicBezTo>
                    <a:pt x="683" y="1840"/>
                    <a:pt x="586" y="1784"/>
                    <a:pt x="474" y="1704"/>
                  </a:cubicBezTo>
                  <a:cubicBezTo>
                    <a:pt x="363" y="1624"/>
                    <a:pt x="238" y="1521"/>
                    <a:pt x="93" y="1398"/>
                  </a:cubicBezTo>
                  <a:cubicBezTo>
                    <a:pt x="71" y="1379"/>
                    <a:pt x="38" y="1382"/>
                    <a:pt x="19" y="1404"/>
                  </a:cubicBezTo>
                  <a:cubicBezTo>
                    <a:pt x="0" y="1426"/>
                    <a:pt x="3" y="1459"/>
                    <a:pt x="25" y="147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2" name="Freeform 2">
              <a:extLst>
                <a:ext uri="{FF2B5EF4-FFF2-40B4-BE49-F238E27FC236}">
                  <a16:creationId xmlns:a16="http://schemas.microsoft.com/office/drawing/2014/main" id="{935EF8B9-88D2-6C42-BF9B-2AD28DBBD77F}"/>
                </a:ext>
              </a:extLst>
            </p:cNvPr>
            <p:cNvSpPr>
              <a:spLocks noChangeArrowheads="1"/>
            </p:cNvSpPr>
            <p:nvPr/>
          </p:nvSpPr>
          <p:spPr bwMode="auto">
            <a:xfrm>
              <a:off x="1511832" y="868769"/>
              <a:ext cx="356603" cy="190334"/>
            </a:xfrm>
            <a:custGeom>
              <a:avLst/>
              <a:gdLst>
                <a:gd name="T0" fmla="*/ 15 w 2158"/>
                <a:gd name="T1" fmla="*/ 713 h 1152"/>
                <a:gd name="T2" fmla="*/ 432 w 2158"/>
                <a:gd name="T3" fmla="*/ 1033 h 1152"/>
                <a:gd name="T4" fmla="*/ 605 w 2158"/>
                <a:gd name="T5" fmla="*/ 1120 h 1152"/>
                <a:gd name="T6" fmla="*/ 771 w 2158"/>
                <a:gd name="T7" fmla="*/ 1151 h 1152"/>
                <a:gd name="T8" fmla="*/ 896 w 2158"/>
                <a:gd name="T9" fmla="*/ 1132 h 1152"/>
                <a:gd name="T10" fmla="*/ 1089 w 2158"/>
                <a:gd name="T11" fmla="*/ 1036 h 1152"/>
                <a:gd name="T12" fmla="*/ 1305 w 2158"/>
                <a:gd name="T13" fmla="*/ 856 h 1152"/>
                <a:gd name="T14" fmla="*/ 1305 w 2158"/>
                <a:gd name="T15" fmla="*/ 856 h 1152"/>
                <a:gd name="T16" fmla="*/ 2144 w 2158"/>
                <a:gd name="T17" fmla="*/ 57 h 1152"/>
                <a:gd name="T18" fmla="*/ 2145 w 2158"/>
                <a:gd name="T19" fmla="*/ 13 h 1152"/>
                <a:gd name="T20" fmla="*/ 2100 w 2158"/>
                <a:gd name="T21" fmla="*/ 12 h 1152"/>
                <a:gd name="T22" fmla="*/ 1262 w 2158"/>
                <a:gd name="T23" fmla="*/ 811 h 1152"/>
                <a:gd name="T24" fmla="*/ 1262 w 2158"/>
                <a:gd name="T25" fmla="*/ 811 h 1152"/>
                <a:gd name="T26" fmla="*/ 993 w 2158"/>
                <a:gd name="T27" fmla="*/ 1023 h 1152"/>
                <a:gd name="T28" fmla="*/ 878 w 2158"/>
                <a:gd name="T29" fmla="*/ 1072 h 1152"/>
                <a:gd name="T30" fmla="*/ 771 w 2158"/>
                <a:gd name="T31" fmla="*/ 1088 h 1152"/>
                <a:gd name="T32" fmla="*/ 626 w 2158"/>
                <a:gd name="T33" fmla="*/ 1061 h 1152"/>
                <a:gd name="T34" fmla="*/ 376 w 2158"/>
                <a:gd name="T35" fmla="*/ 920 h 1152"/>
                <a:gd name="T36" fmla="*/ 55 w 2158"/>
                <a:gd name="T37" fmla="*/ 665 h 1152"/>
                <a:gd name="T38" fmla="*/ 11 w 2158"/>
                <a:gd name="T39" fmla="*/ 669 h 1152"/>
                <a:gd name="T40" fmla="*/ 15 w 2158"/>
                <a:gd name="T41" fmla="*/ 713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15" y="713"/>
                  </a:moveTo>
                  <a:cubicBezTo>
                    <a:pt x="179" y="850"/>
                    <a:pt x="312" y="958"/>
                    <a:pt x="432" y="1033"/>
                  </a:cubicBezTo>
                  <a:cubicBezTo>
                    <a:pt x="492" y="1071"/>
                    <a:pt x="549" y="1100"/>
                    <a:pt x="605" y="1120"/>
                  </a:cubicBezTo>
                  <a:cubicBezTo>
                    <a:pt x="661" y="1140"/>
                    <a:pt x="716" y="1151"/>
                    <a:pt x="771" y="1151"/>
                  </a:cubicBezTo>
                  <a:cubicBezTo>
                    <a:pt x="812" y="1151"/>
                    <a:pt x="854" y="1145"/>
                    <a:pt x="896" y="1132"/>
                  </a:cubicBezTo>
                  <a:cubicBezTo>
                    <a:pt x="959" y="1114"/>
                    <a:pt x="1022" y="1082"/>
                    <a:pt x="1089" y="1036"/>
                  </a:cubicBezTo>
                  <a:cubicBezTo>
                    <a:pt x="1156" y="990"/>
                    <a:pt x="1227" y="931"/>
                    <a:pt x="1305" y="856"/>
                  </a:cubicBezTo>
                  <a:lnTo>
                    <a:pt x="1305" y="856"/>
                  </a:lnTo>
                  <a:lnTo>
                    <a:pt x="2144" y="57"/>
                  </a:lnTo>
                  <a:cubicBezTo>
                    <a:pt x="2156" y="45"/>
                    <a:pt x="2157" y="25"/>
                    <a:pt x="2145" y="13"/>
                  </a:cubicBezTo>
                  <a:cubicBezTo>
                    <a:pt x="2133" y="0"/>
                    <a:pt x="2113" y="0"/>
                    <a:pt x="2100" y="12"/>
                  </a:cubicBezTo>
                  <a:lnTo>
                    <a:pt x="1262" y="811"/>
                  </a:lnTo>
                  <a:lnTo>
                    <a:pt x="1262" y="811"/>
                  </a:lnTo>
                  <a:cubicBezTo>
                    <a:pt x="1160" y="908"/>
                    <a:pt x="1072" y="978"/>
                    <a:pt x="993" y="1023"/>
                  </a:cubicBezTo>
                  <a:cubicBezTo>
                    <a:pt x="953" y="1045"/>
                    <a:pt x="915" y="1062"/>
                    <a:pt x="878" y="1072"/>
                  </a:cubicBezTo>
                  <a:cubicBezTo>
                    <a:pt x="842" y="1083"/>
                    <a:pt x="806" y="1088"/>
                    <a:pt x="771" y="1088"/>
                  </a:cubicBezTo>
                  <a:cubicBezTo>
                    <a:pt x="724" y="1088"/>
                    <a:pt x="677" y="1079"/>
                    <a:pt x="626" y="1061"/>
                  </a:cubicBezTo>
                  <a:cubicBezTo>
                    <a:pt x="551" y="1034"/>
                    <a:pt x="469" y="987"/>
                    <a:pt x="376" y="920"/>
                  </a:cubicBezTo>
                  <a:cubicBezTo>
                    <a:pt x="282" y="853"/>
                    <a:pt x="177" y="767"/>
                    <a:pt x="55" y="665"/>
                  </a:cubicBezTo>
                  <a:cubicBezTo>
                    <a:pt x="42" y="654"/>
                    <a:pt x="22" y="656"/>
                    <a:pt x="11" y="669"/>
                  </a:cubicBezTo>
                  <a:cubicBezTo>
                    <a:pt x="0" y="682"/>
                    <a:pt x="1" y="702"/>
                    <a:pt x="15" y="71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3" name="Freeform 3">
              <a:extLst>
                <a:ext uri="{FF2B5EF4-FFF2-40B4-BE49-F238E27FC236}">
                  <a16:creationId xmlns:a16="http://schemas.microsoft.com/office/drawing/2014/main" id="{10E28FF9-5CED-394E-AF38-301649539D3C}"/>
                </a:ext>
              </a:extLst>
            </p:cNvPr>
            <p:cNvSpPr>
              <a:spLocks noChangeArrowheads="1"/>
            </p:cNvSpPr>
            <p:nvPr/>
          </p:nvSpPr>
          <p:spPr bwMode="auto">
            <a:xfrm>
              <a:off x="1540273" y="847620"/>
              <a:ext cx="304826" cy="169186"/>
            </a:xfrm>
            <a:custGeom>
              <a:avLst/>
              <a:gdLst>
                <a:gd name="T0" fmla="*/ 12 w 1845"/>
                <a:gd name="T1" fmla="*/ 672 h 1022"/>
                <a:gd name="T2" fmla="*/ 350 w 1845"/>
                <a:gd name="T3" fmla="*/ 928 h 1022"/>
                <a:gd name="T4" fmla="*/ 488 w 1845"/>
                <a:gd name="T5" fmla="*/ 997 h 1022"/>
                <a:gd name="T6" fmla="*/ 620 w 1845"/>
                <a:gd name="T7" fmla="*/ 1021 h 1022"/>
                <a:gd name="T8" fmla="*/ 734 w 1845"/>
                <a:gd name="T9" fmla="*/ 1003 h 1022"/>
                <a:gd name="T10" fmla="*/ 915 w 1845"/>
                <a:gd name="T11" fmla="*/ 905 h 1022"/>
                <a:gd name="T12" fmla="*/ 1129 w 1845"/>
                <a:gd name="T13" fmla="*/ 720 h 1022"/>
                <a:gd name="T14" fmla="*/ 1129 w 1845"/>
                <a:gd name="T15" fmla="*/ 720 h 1022"/>
                <a:gd name="T16" fmla="*/ 1834 w 1845"/>
                <a:gd name="T17" fmla="*/ 42 h 1022"/>
                <a:gd name="T18" fmla="*/ 1835 w 1845"/>
                <a:gd name="T19" fmla="*/ 10 h 1022"/>
                <a:gd name="T20" fmla="*/ 1802 w 1845"/>
                <a:gd name="T21" fmla="*/ 9 h 1022"/>
                <a:gd name="T22" fmla="*/ 1097 w 1845"/>
                <a:gd name="T23" fmla="*/ 687 h 1022"/>
                <a:gd name="T24" fmla="*/ 1097 w 1845"/>
                <a:gd name="T25" fmla="*/ 687 h 1022"/>
                <a:gd name="T26" fmla="*/ 828 w 1845"/>
                <a:gd name="T27" fmla="*/ 907 h 1022"/>
                <a:gd name="T28" fmla="*/ 720 w 1845"/>
                <a:gd name="T29" fmla="*/ 959 h 1022"/>
                <a:gd name="T30" fmla="*/ 620 w 1845"/>
                <a:gd name="T31" fmla="*/ 975 h 1022"/>
                <a:gd name="T32" fmla="*/ 504 w 1845"/>
                <a:gd name="T33" fmla="*/ 954 h 1022"/>
                <a:gd name="T34" fmla="*/ 302 w 1845"/>
                <a:gd name="T35" fmla="*/ 841 h 1022"/>
                <a:gd name="T36" fmla="*/ 41 w 1845"/>
                <a:gd name="T37" fmla="*/ 636 h 1022"/>
                <a:gd name="T38" fmla="*/ 9 w 1845"/>
                <a:gd name="T39" fmla="*/ 640 h 1022"/>
                <a:gd name="T40" fmla="*/ 12 w 1845"/>
                <a:gd name="T41" fmla="*/ 672 h 10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5" h="1022">
                  <a:moveTo>
                    <a:pt x="12" y="672"/>
                  </a:moveTo>
                  <a:cubicBezTo>
                    <a:pt x="146" y="782"/>
                    <a:pt x="254" y="868"/>
                    <a:pt x="350" y="928"/>
                  </a:cubicBezTo>
                  <a:cubicBezTo>
                    <a:pt x="398" y="958"/>
                    <a:pt x="444" y="981"/>
                    <a:pt x="488" y="997"/>
                  </a:cubicBezTo>
                  <a:cubicBezTo>
                    <a:pt x="533" y="1013"/>
                    <a:pt x="576" y="1021"/>
                    <a:pt x="620" y="1021"/>
                  </a:cubicBezTo>
                  <a:cubicBezTo>
                    <a:pt x="658" y="1021"/>
                    <a:pt x="695" y="1015"/>
                    <a:pt x="734" y="1003"/>
                  </a:cubicBezTo>
                  <a:cubicBezTo>
                    <a:pt x="791" y="984"/>
                    <a:pt x="850" y="952"/>
                    <a:pt x="915" y="905"/>
                  </a:cubicBezTo>
                  <a:cubicBezTo>
                    <a:pt x="980" y="858"/>
                    <a:pt x="1050" y="797"/>
                    <a:pt x="1129" y="720"/>
                  </a:cubicBezTo>
                  <a:lnTo>
                    <a:pt x="1129" y="720"/>
                  </a:lnTo>
                  <a:lnTo>
                    <a:pt x="1834" y="42"/>
                  </a:lnTo>
                  <a:cubicBezTo>
                    <a:pt x="1843" y="34"/>
                    <a:pt x="1844" y="19"/>
                    <a:pt x="1835" y="10"/>
                  </a:cubicBezTo>
                  <a:cubicBezTo>
                    <a:pt x="1826" y="1"/>
                    <a:pt x="1811" y="0"/>
                    <a:pt x="1802" y="9"/>
                  </a:cubicBezTo>
                  <a:lnTo>
                    <a:pt x="1097" y="687"/>
                  </a:lnTo>
                  <a:lnTo>
                    <a:pt x="1097" y="687"/>
                  </a:lnTo>
                  <a:cubicBezTo>
                    <a:pt x="992" y="788"/>
                    <a:pt x="905" y="861"/>
                    <a:pt x="828" y="907"/>
                  </a:cubicBezTo>
                  <a:cubicBezTo>
                    <a:pt x="790" y="931"/>
                    <a:pt x="754" y="948"/>
                    <a:pt x="720" y="959"/>
                  </a:cubicBezTo>
                  <a:cubicBezTo>
                    <a:pt x="685" y="970"/>
                    <a:pt x="653" y="975"/>
                    <a:pt x="620" y="975"/>
                  </a:cubicBezTo>
                  <a:cubicBezTo>
                    <a:pt x="582" y="975"/>
                    <a:pt x="544" y="968"/>
                    <a:pt x="504" y="954"/>
                  </a:cubicBezTo>
                  <a:cubicBezTo>
                    <a:pt x="443" y="932"/>
                    <a:pt x="378" y="894"/>
                    <a:pt x="302" y="841"/>
                  </a:cubicBezTo>
                  <a:cubicBezTo>
                    <a:pt x="227" y="787"/>
                    <a:pt x="141" y="718"/>
                    <a:pt x="41" y="636"/>
                  </a:cubicBezTo>
                  <a:cubicBezTo>
                    <a:pt x="31" y="628"/>
                    <a:pt x="17" y="630"/>
                    <a:pt x="9" y="640"/>
                  </a:cubicBezTo>
                  <a:cubicBezTo>
                    <a:pt x="0" y="649"/>
                    <a:pt x="2" y="664"/>
                    <a:pt x="12" y="67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4" name="Freeform 4">
              <a:extLst>
                <a:ext uri="{FF2B5EF4-FFF2-40B4-BE49-F238E27FC236}">
                  <a16:creationId xmlns:a16="http://schemas.microsoft.com/office/drawing/2014/main" id="{6E5EA531-DEFC-144D-8545-1DECEBA97224}"/>
                </a:ext>
              </a:extLst>
            </p:cNvPr>
            <p:cNvSpPr>
              <a:spLocks noChangeArrowheads="1"/>
            </p:cNvSpPr>
            <p:nvPr/>
          </p:nvSpPr>
          <p:spPr bwMode="auto">
            <a:xfrm>
              <a:off x="1568713" y="826472"/>
              <a:ext cx="253050" cy="148037"/>
            </a:xfrm>
            <a:custGeom>
              <a:avLst/>
              <a:gdLst>
                <a:gd name="T0" fmla="*/ 8 w 1531"/>
                <a:gd name="T1" fmla="*/ 630 h 895"/>
                <a:gd name="T2" fmla="*/ 269 w 1531"/>
                <a:gd name="T3" fmla="*/ 824 h 895"/>
                <a:gd name="T4" fmla="*/ 374 w 1531"/>
                <a:gd name="T5" fmla="*/ 876 h 895"/>
                <a:gd name="T6" fmla="*/ 473 w 1531"/>
                <a:gd name="T7" fmla="*/ 894 h 895"/>
                <a:gd name="T8" fmla="*/ 573 w 1531"/>
                <a:gd name="T9" fmla="*/ 875 h 895"/>
                <a:gd name="T10" fmla="*/ 739 w 1531"/>
                <a:gd name="T11" fmla="*/ 775 h 895"/>
                <a:gd name="T12" fmla="*/ 953 w 1531"/>
                <a:gd name="T13" fmla="*/ 584 h 895"/>
                <a:gd name="T14" fmla="*/ 953 w 1531"/>
                <a:gd name="T15" fmla="*/ 584 h 895"/>
                <a:gd name="T16" fmla="*/ 1524 w 1531"/>
                <a:gd name="T17" fmla="*/ 27 h 895"/>
                <a:gd name="T18" fmla="*/ 1524 w 1531"/>
                <a:gd name="T19" fmla="*/ 6 h 895"/>
                <a:gd name="T20" fmla="*/ 1503 w 1531"/>
                <a:gd name="T21" fmla="*/ 6 h 895"/>
                <a:gd name="T22" fmla="*/ 932 w 1531"/>
                <a:gd name="T23" fmla="*/ 563 h 895"/>
                <a:gd name="T24" fmla="*/ 932 w 1531"/>
                <a:gd name="T25" fmla="*/ 563 h 895"/>
                <a:gd name="T26" fmla="*/ 663 w 1531"/>
                <a:gd name="T27" fmla="*/ 793 h 895"/>
                <a:gd name="T28" fmla="*/ 562 w 1531"/>
                <a:gd name="T29" fmla="*/ 847 h 895"/>
                <a:gd name="T30" fmla="*/ 473 w 1531"/>
                <a:gd name="T31" fmla="*/ 865 h 895"/>
                <a:gd name="T32" fmla="*/ 384 w 1531"/>
                <a:gd name="T33" fmla="*/ 848 h 895"/>
                <a:gd name="T34" fmla="*/ 229 w 1531"/>
                <a:gd name="T35" fmla="*/ 762 h 895"/>
                <a:gd name="T36" fmla="*/ 26 w 1531"/>
                <a:gd name="T37" fmla="*/ 607 h 895"/>
                <a:gd name="T38" fmla="*/ 5 w 1531"/>
                <a:gd name="T39" fmla="*/ 609 h 895"/>
                <a:gd name="T40" fmla="*/ 8 w 1531"/>
                <a:gd name="T41" fmla="*/ 630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1" h="895">
                  <a:moveTo>
                    <a:pt x="8" y="630"/>
                  </a:moveTo>
                  <a:cubicBezTo>
                    <a:pt x="113" y="714"/>
                    <a:pt x="196" y="779"/>
                    <a:pt x="269" y="824"/>
                  </a:cubicBezTo>
                  <a:cubicBezTo>
                    <a:pt x="306" y="847"/>
                    <a:pt x="340" y="864"/>
                    <a:pt x="374" y="876"/>
                  </a:cubicBezTo>
                  <a:cubicBezTo>
                    <a:pt x="407" y="888"/>
                    <a:pt x="440" y="894"/>
                    <a:pt x="473" y="894"/>
                  </a:cubicBezTo>
                  <a:cubicBezTo>
                    <a:pt x="506" y="894"/>
                    <a:pt x="539" y="888"/>
                    <a:pt x="573" y="875"/>
                  </a:cubicBezTo>
                  <a:cubicBezTo>
                    <a:pt x="624" y="856"/>
                    <a:pt x="678" y="823"/>
                    <a:pt x="739" y="775"/>
                  </a:cubicBezTo>
                  <a:cubicBezTo>
                    <a:pt x="801" y="727"/>
                    <a:pt x="870" y="663"/>
                    <a:pt x="953" y="584"/>
                  </a:cubicBezTo>
                  <a:lnTo>
                    <a:pt x="953" y="584"/>
                  </a:lnTo>
                  <a:lnTo>
                    <a:pt x="1524" y="27"/>
                  </a:lnTo>
                  <a:cubicBezTo>
                    <a:pt x="1529" y="21"/>
                    <a:pt x="1530" y="12"/>
                    <a:pt x="1524" y="6"/>
                  </a:cubicBezTo>
                  <a:cubicBezTo>
                    <a:pt x="1518" y="0"/>
                    <a:pt x="1509" y="0"/>
                    <a:pt x="1503" y="6"/>
                  </a:cubicBezTo>
                  <a:lnTo>
                    <a:pt x="932" y="563"/>
                  </a:lnTo>
                  <a:lnTo>
                    <a:pt x="932" y="563"/>
                  </a:lnTo>
                  <a:cubicBezTo>
                    <a:pt x="823" y="668"/>
                    <a:pt x="737" y="744"/>
                    <a:pt x="663" y="793"/>
                  </a:cubicBezTo>
                  <a:cubicBezTo>
                    <a:pt x="627" y="818"/>
                    <a:pt x="594" y="836"/>
                    <a:pt x="562" y="847"/>
                  </a:cubicBezTo>
                  <a:cubicBezTo>
                    <a:pt x="531" y="859"/>
                    <a:pt x="502" y="865"/>
                    <a:pt x="473" y="865"/>
                  </a:cubicBezTo>
                  <a:cubicBezTo>
                    <a:pt x="444" y="865"/>
                    <a:pt x="415" y="859"/>
                    <a:pt x="384" y="848"/>
                  </a:cubicBezTo>
                  <a:cubicBezTo>
                    <a:pt x="338" y="832"/>
                    <a:pt x="288" y="803"/>
                    <a:pt x="229" y="762"/>
                  </a:cubicBezTo>
                  <a:cubicBezTo>
                    <a:pt x="171" y="722"/>
                    <a:pt x="105" y="669"/>
                    <a:pt x="26" y="607"/>
                  </a:cubicBezTo>
                  <a:cubicBezTo>
                    <a:pt x="20" y="602"/>
                    <a:pt x="10" y="603"/>
                    <a:pt x="5" y="609"/>
                  </a:cubicBezTo>
                  <a:cubicBezTo>
                    <a:pt x="0" y="615"/>
                    <a:pt x="1" y="625"/>
                    <a:pt x="8" y="63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5" name="Freeform 5">
              <a:extLst>
                <a:ext uri="{FF2B5EF4-FFF2-40B4-BE49-F238E27FC236}">
                  <a16:creationId xmlns:a16="http://schemas.microsoft.com/office/drawing/2014/main" id="{F39A9FAC-3BBF-CD45-BC62-06EF846D77A9}"/>
                </a:ext>
              </a:extLst>
            </p:cNvPr>
            <p:cNvSpPr>
              <a:spLocks noChangeArrowheads="1"/>
            </p:cNvSpPr>
            <p:nvPr/>
          </p:nvSpPr>
          <p:spPr bwMode="auto">
            <a:xfrm>
              <a:off x="1596425" y="805324"/>
              <a:ext cx="201273" cy="127619"/>
            </a:xfrm>
            <a:custGeom>
              <a:avLst/>
              <a:gdLst>
                <a:gd name="T0" fmla="*/ 4 w 1217"/>
                <a:gd name="T1" fmla="*/ 588 h 773"/>
                <a:gd name="T2" fmla="*/ 193 w 1217"/>
                <a:gd name="T3" fmla="*/ 724 h 773"/>
                <a:gd name="T4" fmla="*/ 332 w 1217"/>
                <a:gd name="T5" fmla="*/ 772 h 773"/>
                <a:gd name="T6" fmla="*/ 415 w 1217"/>
                <a:gd name="T7" fmla="*/ 752 h 773"/>
                <a:gd name="T8" fmla="*/ 563 w 1217"/>
                <a:gd name="T9" fmla="*/ 648 h 773"/>
                <a:gd name="T10" fmla="*/ 776 w 1217"/>
                <a:gd name="T11" fmla="*/ 448 h 773"/>
                <a:gd name="T12" fmla="*/ 776 w 1217"/>
                <a:gd name="T13" fmla="*/ 448 h 773"/>
                <a:gd name="T14" fmla="*/ 1213 w 1217"/>
                <a:gd name="T15" fmla="*/ 12 h 773"/>
                <a:gd name="T16" fmla="*/ 1213 w 1217"/>
                <a:gd name="T17" fmla="*/ 2 h 773"/>
                <a:gd name="T18" fmla="*/ 1204 w 1217"/>
                <a:gd name="T19" fmla="*/ 2 h 773"/>
                <a:gd name="T20" fmla="*/ 767 w 1217"/>
                <a:gd name="T21" fmla="*/ 439 h 773"/>
                <a:gd name="T22" fmla="*/ 500 w 1217"/>
                <a:gd name="T23" fmla="*/ 682 h 773"/>
                <a:gd name="T24" fmla="*/ 410 w 1217"/>
                <a:gd name="T25" fmla="*/ 740 h 773"/>
                <a:gd name="T26" fmla="*/ 332 w 1217"/>
                <a:gd name="T27" fmla="*/ 759 h 773"/>
                <a:gd name="T28" fmla="*/ 199 w 1217"/>
                <a:gd name="T29" fmla="*/ 712 h 773"/>
                <a:gd name="T30" fmla="*/ 12 w 1217"/>
                <a:gd name="T31" fmla="*/ 577 h 773"/>
                <a:gd name="T32" fmla="*/ 2 w 1217"/>
                <a:gd name="T33" fmla="*/ 578 h 773"/>
                <a:gd name="T34" fmla="*/ 4 w 1217"/>
                <a:gd name="T35" fmla="*/ 588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4" y="588"/>
                  </a:moveTo>
                  <a:cubicBezTo>
                    <a:pt x="81" y="647"/>
                    <a:pt x="141" y="692"/>
                    <a:pt x="193" y="724"/>
                  </a:cubicBezTo>
                  <a:cubicBezTo>
                    <a:pt x="244" y="755"/>
                    <a:pt x="288" y="772"/>
                    <a:pt x="332" y="772"/>
                  </a:cubicBezTo>
                  <a:cubicBezTo>
                    <a:pt x="359" y="772"/>
                    <a:pt x="386" y="765"/>
                    <a:pt x="415" y="752"/>
                  </a:cubicBezTo>
                  <a:cubicBezTo>
                    <a:pt x="458" y="733"/>
                    <a:pt x="505" y="698"/>
                    <a:pt x="563" y="648"/>
                  </a:cubicBezTo>
                  <a:cubicBezTo>
                    <a:pt x="620" y="597"/>
                    <a:pt x="689" y="531"/>
                    <a:pt x="776" y="448"/>
                  </a:cubicBezTo>
                  <a:lnTo>
                    <a:pt x="776" y="448"/>
                  </a:lnTo>
                  <a:lnTo>
                    <a:pt x="1213" y="12"/>
                  </a:lnTo>
                  <a:cubicBezTo>
                    <a:pt x="1216" y="9"/>
                    <a:pt x="1216" y="5"/>
                    <a:pt x="1213" y="2"/>
                  </a:cubicBezTo>
                  <a:cubicBezTo>
                    <a:pt x="1210" y="0"/>
                    <a:pt x="1206" y="0"/>
                    <a:pt x="1204" y="2"/>
                  </a:cubicBezTo>
                  <a:lnTo>
                    <a:pt x="767" y="439"/>
                  </a:lnTo>
                  <a:cubicBezTo>
                    <a:pt x="651" y="549"/>
                    <a:pt x="568" y="630"/>
                    <a:pt x="500" y="682"/>
                  </a:cubicBezTo>
                  <a:cubicBezTo>
                    <a:pt x="466" y="709"/>
                    <a:pt x="437" y="728"/>
                    <a:pt x="410" y="740"/>
                  </a:cubicBezTo>
                  <a:cubicBezTo>
                    <a:pt x="382" y="753"/>
                    <a:pt x="357" y="759"/>
                    <a:pt x="332" y="759"/>
                  </a:cubicBezTo>
                  <a:cubicBezTo>
                    <a:pt x="291" y="759"/>
                    <a:pt x="250" y="743"/>
                    <a:pt x="199" y="712"/>
                  </a:cubicBezTo>
                  <a:cubicBezTo>
                    <a:pt x="149" y="682"/>
                    <a:pt x="89" y="636"/>
                    <a:pt x="12" y="577"/>
                  </a:cubicBezTo>
                  <a:cubicBezTo>
                    <a:pt x="9" y="575"/>
                    <a:pt x="4" y="575"/>
                    <a:pt x="2" y="578"/>
                  </a:cubicBezTo>
                  <a:cubicBezTo>
                    <a:pt x="0" y="581"/>
                    <a:pt x="1" y="585"/>
                    <a:pt x="4" y="58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6" name="Freeform 6">
              <a:extLst>
                <a:ext uri="{FF2B5EF4-FFF2-40B4-BE49-F238E27FC236}">
                  <a16:creationId xmlns:a16="http://schemas.microsoft.com/office/drawing/2014/main" id="{4A2E4B78-1C39-A943-B2AE-B76B55EBA492}"/>
                </a:ext>
              </a:extLst>
            </p:cNvPr>
            <p:cNvSpPr>
              <a:spLocks noChangeArrowheads="1"/>
            </p:cNvSpPr>
            <p:nvPr/>
          </p:nvSpPr>
          <p:spPr bwMode="auto">
            <a:xfrm>
              <a:off x="1368170" y="664579"/>
              <a:ext cx="439737" cy="330350"/>
            </a:xfrm>
            <a:custGeom>
              <a:avLst/>
              <a:gdLst>
                <a:gd name="T0" fmla="*/ 2631 w 2657"/>
                <a:gd name="T1" fmla="*/ 532 h 1998"/>
                <a:gd name="T2" fmla="*/ 2130 w 2657"/>
                <a:gd name="T3" fmla="*/ 145 h 1998"/>
                <a:gd name="T4" fmla="*/ 1920 w 2657"/>
                <a:gd name="T5" fmla="*/ 38 h 1998"/>
                <a:gd name="T6" fmla="*/ 1715 w 2657"/>
                <a:gd name="T7" fmla="*/ 0 h 1998"/>
                <a:gd name="T8" fmla="*/ 1578 w 2657"/>
                <a:gd name="T9" fmla="*/ 19 h 1998"/>
                <a:gd name="T10" fmla="*/ 1370 w 2657"/>
                <a:gd name="T11" fmla="*/ 116 h 1998"/>
                <a:gd name="T12" fmla="*/ 1150 w 2657"/>
                <a:gd name="T13" fmla="*/ 295 h 1998"/>
                <a:gd name="T14" fmla="*/ 1150 w 2657"/>
                <a:gd name="T15" fmla="*/ 295 h 1998"/>
                <a:gd name="T16" fmla="*/ 16 w 2657"/>
                <a:gd name="T17" fmla="*/ 1368 h 1998"/>
                <a:gd name="T18" fmla="*/ 0 w 2657"/>
                <a:gd name="T19" fmla="*/ 1406 h 1998"/>
                <a:gd name="T20" fmla="*/ 16 w 2657"/>
                <a:gd name="T21" fmla="*/ 1444 h 1998"/>
                <a:gd name="T22" fmla="*/ 566 w 2657"/>
                <a:gd name="T23" fmla="*/ 1977 h 1998"/>
                <a:gd name="T24" fmla="*/ 640 w 2657"/>
                <a:gd name="T25" fmla="*/ 1976 h 1998"/>
                <a:gd name="T26" fmla="*/ 639 w 2657"/>
                <a:gd name="T27" fmla="*/ 1901 h 1998"/>
                <a:gd name="T28" fmla="*/ 129 w 2657"/>
                <a:gd name="T29" fmla="*/ 1406 h 1998"/>
                <a:gd name="T30" fmla="*/ 1223 w 2657"/>
                <a:gd name="T31" fmla="*/ 371 h 1998"/>
                <a:gd name="T32" fmla="*/ 1223 w 2657"/>
                <a:gd name="T33" fmla="*/ 371 h 1998"/>
                <a:gd name="T34" fmla="*/ 1489 w 2657"/>
                <a:gd name="T35" fmla="*/ 167 h 1998"/>
                <a:gd name="T36" fmla="*/ 1605 w 2657"/>
                <a:gd name="T37" fmla="*/ 121 h 1998"/>
                <a:gd name="T38" fmla="*/ 1715 w 2657"/>
                <a:gd name="T39" fmla="*/ 106 h 1998"/>
                <a:gd name="T40" fmla="*/ 1884 w 2657"/>
                <a:gd name="T41" fmla="*/ 138 h 1998"/>
                <a:gd name="T42" fmla="*/ 2181 w 2657"/>
                <a:gd name="T43" fmla="*/ 306 h 1998"/>
                <a:gd name="T44" fmla="*/ 2562 w 2657"/>
                <a:gd name="T45" fmla="*/ 612 h 1998"/>
                <a:gd name="T46" fmla="*/ 2637 w 2657"/>
                <a:gd name="T47" fmla="*/ 606 h 1998"/>
                <a:gd name="T48" fmla="*/ 2631 w 2657"/>
                <a:gd name="T49" fmla="*/ 532 h 19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57" h="1998">
                  <a:moveTo>
                    <a:pt x="2631" y="532"/>
                  </a:moveTo>
                  <a:cubicBezTo>
                    <a:pt x="2437" y="367"/>
                    <a:pt x="2276" y="237"/>
                    <a:pt x="2130" y="145"/>
                  </a:cubicBezTo>
                  <a:cubicBezTo>
                    <a:pt x="2058" y="99"/>
                    <a:pt x="1988" y="63"/>
                    <a:pt x="1920" y="38"/>
                  </a:cubicBezTo>
                  <a:cubicBezTo>
                    <a:pt x="1851" y="14"/>
                    <a:pt x="1783" y="0"/>
                    <a:pt x="1715" y="0"/>
                  </a:cubicBezTo>
                  <a:cubicBezTo>
                    <a:pt x="1669" y="0"/>
                    <a:pt x="1623" y="6"/>
                    <a:pt x="1578" y="19"/>
                  </a:cubicBezTo>
                  <a:cubicBezTo>
                    <a:pt x="1509" y="37"/>
                    <a:pt x="1440" y="70"/>
                    <a:pt x="1370" y="116"/>
                  </a:cubicBezTo>
                  <a:cubicBezTo>
                    <a:pt x="1299" y="162"/>
                    <a:pt x="1227" y="221"/>
                    <a:pt x="1150" y="295"/>
                  </a:cubicBezTo>
                  <a:lnTo>
                    <a:pt x="1150" y="295"/>
                  </a:lnTo>
                  <a:lnTo>
                    <a:pt x="16" y="1368"/>
                  </a:lnTo>
                  <a:cubicBezTo>
                    <a:pt x="6" y="1378"/>
                    <a:pt x="0" y="1391"/>
                    <a:pt x="0" y="1406"/>
                  </a:cubicBezTo>
                  <a:cubicBezTo>
                    <a:pt x="0" y="1420"/>
                    <a:pt x="6" y="1434"/>
                    <a:pt x="16" y="1444"/>
                  </a:cubicBezTo>
                  <a:lnTo>
                    <a:pt x="566" y="1977"/>
                  </a:lnTo>
                  <a:cubicBezTo>
                    <a:pt x="587" y="1997"/>
                    <a:pt x="619" y="1997"/>
                    <a:pt x="640" y="1976"/>
                  </a:cubicBezTo>
                  <a:cubicBezTo>
                    <a:pt x="660" y="1955"/>
                    <a:pt x="660" y="1921"/>
                    <a:pt x="639" y="1901"/>
                  </a:cubicBezTo>
                  <a:lnTo>
                    <a:pt x="129" y="1406"/>
                  </a:lnTo>
                  <a:lnTo>
                    <a:pt x="1223" y="371"/>
                  </a:lnTo>
                  <a:lnTo>
                    <a:pt x="1223" y="371"/>
                  </a:lnTo>
                  <a:cubicBezTo>
                    <a:pt x="1321" y="277"/>
                    <a:pt x="1409" y="210"/>
                    <a:pt x="1489" y="167"/>
                  </a:cubicBezTo>
                  <a:cubicBezTo>
                    <a:pt x="1529" y="146"/>
                    <a:pt x="1568" y="131"/>
                    <a:pt x="1605" y="121"/>
                  </a:cubicBezTo>
                  <a:cubicBezTo>
                    <a:pt x="1642" y="111"/>
                    <a:pt x="1679" y="106"/>
                    <a:pt x="1715" y="106"/>
                  </a:cubicBezTo>
                  <a:cubicBezTo>
                    <a:pt x="1770" y="106"/>
                    <a:pt x="1825" y="116"/>
                    <a:pt x="1884" y="138"/>
                  </a:cubicBezTo>
                  <a:cubicBezTo>
                    <a:pt x="1972" y="170"/>
                    <a:pt x="2070" y="226"/>
                    <a:pt x="2181" y="306"/>
                  </a:cubicBezTo>
                  <a:cubicBezTo>
                    <a:pt x="2293" y="387"/>
                    <a:pt x="2418" y="490"/>
                    <a:pt x="2562" y="612"/>
                  </a:cubicBezTo>
                  <a:cubicBezTo>
                    <a:pt x="2585" y="631"/>
                    <a:pt x="2618" y="628"/>
                    <a:pt x="2637" y="606"/>
                  </a:cubicBezTo>
                  <a:cubicBezTo>
                    <a:pt x="2656" y="584"/>
                    <a:pt x="2653" y="551"/>
                    <a:pt x="2631" y="53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7" name="Freeform 7">
              <a:extLst>
                <a:ext uri="{FF2B5EF4-FFF2-40B4-BE49-F238E27FC236}">
                  <a16:creationId xmlns:a16="http://schemas.microsoft.com/office/drawing/2014/main" id="{E34B0E8F-7C29-3241-8B05-8DB5DF4ED827}"/>
                </a:ext>
              </a:extLst>
            </p:cNvPr>
            <p:cNvSpPr>
              <a:spLocks noChangeArrowheads="1"/>
            </p:cNvSpPr>
            <p:nvPr/>
          </p:nvSpPr>
          <p:spPr bwMode="auto">
            <a:xfrm>
              <a:off x="1419946" y="709792"/>
              <a:ext cx="356603" cy="190334"/>
            </a:xfrm>
            <a:custGeom>
              <a:avLst/>
              <a:gdLst>
                <a:gd name="T0" fmla="*/ 2142 w 2158"/>
                <a:gd name="T1" fmla="*/ 438 h 1152"/>
                <a:gd name="T2" fmla="*/ 1725 w 2158"/>
                <a:gd name="T3" fmla="*/ 118 h 1152"/>
                <a:gd name="T4" fmla="*/ 1552 w 2158"/>
                <a:gd name="T5" fmla="*/ 31 h 1152"/>
                <a:gd name="T6" fmla="*/ 1386 w 2158"/>
                <a:gd name="T7" fmla="*/ 0 h 1152"/>
                <a:gd name="T8" fmla="*/ 1261 w 2158"/>
                <a:gd name="T9" fmla="*/ 19 h 1152"/>
                <a:gd name="T10" fmla="*/ 1068 w 2158"/>
                <a:gd name="T11" fmla="*/ 115 h 1152"/>
                <a:gd name="T12" fmla="*/ 852 w 2158"/>
                <a:gd name="T13" fmla="*/ 295 h 1152"/>
                <a:gd name="T14" fmla="*/ 852 w 2158"/>
                <a:gd name="T15" fmla="*/ 295 h 1152"/>
                <a:gd name="T16" fmla="*/ 13 w 2158"/>
                <a:gd name="T17" fmla="*/ 1094 h 1152"/>
                <a:gd name="T18" fmla="*/ 12 w 2158"/>
                <a:gd name="T19" fmla="*/ 1138 h 1152"/>
                <a:gd name="T20" fmla="*/ 56 w 2158"/>
                <a:gd name="T21" fmla="*/ 1139 h 1152"/>
                <a:gd name="T22" fmla="*/ 895 w 2158"/>
                <a:gd name="T23" fmla="*/ 340 h 1152"/>
                <a:gd name="T24" fmla="*/ 895 w 2158"/>
                <a:gd name="T25" fmla="*/ 340 h 1152"/>
                <a:gd name="T26" fmla="*/ 1164 w 2158"/>
                <a:gd name="T27" fmla="*/ 128 h 1152"/>
                <a:gd name="T28" fmla="*/ 1279 w 2158"/>
                <a:gd name="T29" fmla="*/ 79 h 1152"/>
                <a:gd name="T30" fmla="*/ 1386 w 2158"/>
                <a:gd name="T31" fmla="*/ 63 h 1152"/>
                <a:gd name="T32" fmla="*/ 1531 w 2158"/>
                <a:gd name="T33" fmla="*/ 90 h 1152"/>
                <a:gd name="T34" fmla="*/ 1781 w 2158"/>
                <a:gd name="T35" fmla="*/ 231 h 1152"/>
                <a:gd name="T36" fmla="*/ 2102 w 2158"/>
                <a:gd name="T37" fmla="*/ 486 h 1152"/>
                <a:gd name="T38" fmla="*/ 2146 w 2158"/>
                <a:gd name="T39" fmla="*/ 482 h 1152"/>
                <a:gd name="T40" fmla="*/ 2142 w 2158"/>
                <a:gd name="T41" fmla="*/ 438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2142" y="438"/>
                  </a:moveTo>
                  <a:cubicBezTo>
                    <a:pt x="1978" y="301"/>
                    <a:pt x="1845" y="193"/>
                    <a:pt x="1725" y="118"/>
                  </a:cubicBezTo>
                  <a:cubicBezTo>
                    <a:pt x="1664" y="80"/>
                    <a:pt x="1608" y="51"/>
                    <a:pt x="1552" y="31"/>
                  </a:cubicBezTo>
                  <a:cubicBezTo>
                    <a:pt x="1496" y="11"/>
                    <a:pt x="1441" y="0"/>
                    <a:pt x="1386" y="0"/>
                  </a:cubicBezTo>
                  <a:cubicBezTo>
                    <a:pt x="1344" y="0"/>
                    <a:pt x="1303" y="6"/>
                    <a:pt x="1261" y="19"/>
                  </a:cubicBezTo>
                  <a:cubicBezTo>
                    <a:pt x="1198" y="37"/>
                    <a:pt x="1135" y="69"/>
                    <a:pt x="1068" y="115"/>
                  </a:cubicBezTo>
                  <a:cubicBezTo>
                    <a:pt x="1000" y="161"/>
                    <a:pt x="930" y="220"/>
                    <a:pt x="852" y="295"/>
                  </a:cubicBezTo>
                  <a:lnTo>
                    <a:pt x="852" y="295"/>
                  </a:lnTo>
                  <a:lnTo>
                    <a:pt x="13" y="1094"/>
                  </a:lnTo>
                  <a:cubicBezTo>
                    <a:pt x="1" y="1106"/>
                    <a:pt x="0" y="1126"/>
                    <a:pt x="12" y="1138"/>
                  </a:cubicBezTo>
                  <a:cubicBezTo>
                    <a:pt x="24" y="1151"/>
                    <a:pt x="44" y="1151"/>
                    <a:pt x="56" y="1139"/>
                  </a:cubicBezTo>
                  <a:lnTo>
                    <a:pt x="895" y="340"/>
                  </a:lnTo>
                  <a:lnTo>
                    <a:pt x="895" y="340"/>
                  </a:lnTo>
                  <a:cubicBezTo>
                    <a:pt x="997" y="243"/>
                    <a:pt x="1085" y="173"/>
                    <a:pt x="1164" y="128"/>
                  </a:cubicBezTo>
                  <a:cubicBezTo>
                    <a:pt x="1204" y="106"/>
                    <a:pt x="1242" y="89"/>
                    <a:pt x="1279" y="79"/>
                  </a:cubicBezTo>
                  <a:cubicBezTo>
                    <a:pt x="1315" y="68"/>
                    <a:pt x="1351" y="63"/>
                    <a:pt x="1386" y="63"/>
                  </a:cubicBezTo>
                  <a:cubicBezTo>
                    <a:pt x="1433" y="63"/>
                    <a:pt x="1480" y="72"/>
                    <a:pt x="1531" y="90"/>
                  </a:cubicBezTo>
                  <a:cubicBezTo>
                    <a:pt x="1606" y="117"/>
                    <a:pt x="1688" y="164"/>
                    <a:pt x="1781" y="231"/>
                  </a:cubicBezTo>
                  <a:cubicBezTo>
                    <a:pt x="1874" y="298"/>
                    <a:pt x="1979" y="384"/>
                    <a:pt x="2102" y="486"/>
                  </a:cubicBezTo>
                  <a:cubicBezTo>
                    <a:pt x="2115" y="497"/>
                    <a:pt x="2135" y="495"/>
                    <a:pt x="2146" y="482"/>
                  </a:cubicBezTo>
                  <a:cubicBezTo>
                    <a:pt x="2157" y="469"/>
                    <a:pt x="2155" y="449"/>
                    <a:pt x="2142" y="43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8" name="Freeform 8">
              <a:extLst>
                <a:ext uri="{FF2B5EF4-FFF2-40B4-BE49-F238E27FC236}">
                  <a16:creationId xmlns:a16="http://schemas.microsoft.com/office/drawing/2014/main" id="{08D4B6E4-213B-E84A-9B55-3121DC89C5CA}"/>
                </a:ext>
              </a:extLst>
            </p:cNvPr>
            <p:cNvSpPr>
              <a:spLocks noChangeArrowheads="1"/>
            </p:cNvSpPr>
            <p:nvPr/>
          </p:nvSpPr>
          <p:spPr bwMode="auto">
            <a:xfrm>
              <a:off x="1444012" y="752818"/>
              <a:ext cx="304826" cy="169186"/>
            </a:xfrm>
            <a:custGeom>
              <a:avLst/>
              <a:gdLst>
                <a:gd name="T0" fmla="*/ 1832 w 1844"/>
                <a:gd name="T1" fmla="*/ 349 h 1021"/>
                <a:gd name="T2" fmla="*/ 1494 w 1844"/>
                <a:gd name="T3" fmla="*/ 93 h 1021"/>
                <a:gd name="T4" fmla="*/ 1356 w 1844"/>
                <a:gd name="T5" fmla="*/ 24 h 1021"/>
                <a:gd name="T6" fmla="*/ 1224 w 1844"/>
                <a:gd name="T7" fmla="*/ 0 h 1021"/>
                <a:gd name="T8" fmla="*/ 1110 w 1844"/>
                <a:gd name="T9" fmla="*/ 18 h 1021"/>
                <a:gd name="T10" fmla="*/ 929 w 1844"/>
                <a:gd name="T11" fmla="*/ 116 h 1021"/>
                <a:gd name="T12" fmla="*/ 715 w 1844"/>
                <a:gd name="T13" fmla="*/ 301 h 1021"/>
                <a:gd name="T14" fmla="*/ 714 w 1844"/>
                <a:gd name="T15" fmla="*/ 301 h 1021"/>
                <a:gd name="T16" fmla="*/ 10 w 1844"/>
                <a:gd name="T17" fmla="*/ 978 h 1021"/>
                <a:gd name="T18" fmla="*/ 9 w 1844"/>
                <a:gd name="T19" fmla="*/ 1011 h 1021"/>
                <a:gd name="T20" fmla="*/ 42 w 1844"/>
                <a:gd name="T21" fmla="*/ 1012 h 1021"/>
                <a:gd name="T22" fmla="*/ 746 w 1844"/>
                <a:gd name="T23" fmla="*/ 334 h 1021"/>
                <a:gd name="T24" fmla="*/ 746 w 1844"/>
                <a:gd name="T25" fmla="*/ 334 h 1021"/>
                <a:gd name="T26" fmla="*/ 1016 w 1844"/>
                <a:gd name="T27" fmla="*/ 114 h 1021"/>
                <a:gd name="T28" fmla="*/ 1124 w 1844"/>
                <a:gd name="T29" fmla="*/ 62 h 1021"/>
                <a:gd name="T30" fmla="*/ 1224 w 1844"/>
                <a:gd name="T31" fmla="*/ 46 h 1021"/>
                <a:gd name="T32" fmla="*/ 1340 w 1844"/>
                <a:gd name="T33" fmla="*/ 67 h 1021"/>
                <a:gd name="T34" fmla="*/ 1542 w 1844"/>
                <a:gd name="T35" fmla="*/ 180 h 1021"/>
                <a:gd name="T36" fmla="*/ 1803 w 1844"/>
                <a:gd name="T37" fmla="*/ 385 h 1021"/>
                <a:gd name="T38" fmla="*/ 1835 w 1844"/>
                <a:gd name="T39" fmla="*/ 381 h 1021"/>
                <a:gd name="T40" fmla="*/ 1832 w 1844"/>
                <a:gd name="T41" fmla="*/ 349 h 10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4" h="1021">
                  <a:moveTo>
                    <a:pt x="1832" y="349"/>
                  </a:moveTo>
                  <a:cubicBezTo>
                    <a:pt x="1698" y="239"/>
                    <a:pt x="1590" y="153"/>
                    <a:pt x="1494" y="93"/>
                  </a:cubicBezTo>
                  <a:cubicBezTo>
                    <a:pt x="1446" y="63"/>
                    <a:pt x="1400" y="40"/>
                    <a:pt x="1356" y="24"/>
                  </a:cubicBezTo>
                  <a:cubicBezTo>
                    <a:pt x="1311" y="8"/>
                    <a:pt x="1268" y="0"/>
                    <a:pt x="1224" y="0"/>
                  </a:cubicBezTo>
                  <a:cubicBezTo>
                    <a:pt x="1186" y="0"/>
                    <a:pt x="1148" y="6"/>
                    <a:pt x="1110" y="18"/>
                  </a:cubicBezTo>
                  <a:cubicBezTo>
                    <a:pt x="1052" y="37"/>
                    <a:pt x="993" y="69"/>
                    <a:pt x="929" y="116"/>
                  </a:cubicBezTo>
                  <a:cubicBezTo>
                    <a:pt x="864" y="163"/>
                    <a:pt x="794" y="224"/>
                    <a:pt x="715" y="301"/>
                  </a:cubicBezTo>
                  <a:lnTo>
                    <a:pt x="714" y="301"/>
                  </a:lnTo>
                  <a:lnTo>
                    <a:pt x="10" y="978"/>
                  </a:lnTo>
                  <a:cubicBezTo>
                    <a:pt x="1" y="987"/>
                    <a:pt x="0" y="1002"/>
                    <a:pt x="9" y="1011"/>
                  </a:cubicBezTo>
                  <a:cubicBezTo>
                    <a:pt x="18" y="1020"/>
                    <a:pt x="33" y="1020"/>
                    <a:pt x="42" y="1012"/>
                  </a:cubicBezTo>
                  <a:lnTo>
                    <a:pt x="746" y="334"/>
                  </a:lnTo>
                  <a:lnTo>
                    <a:pt x="746" y="334"/>
                  </a:lnTo>
                  <a:cubicBezTo>
                    <a:pt x="851" y="233"/>
                    <a:pt x="939" y="160"/>
                    <a:pt x="1016" y="114"/>
                  </a:cubicBezTo>
                  <a:cubicBezTo>
                    <a:pt x="1054" y="90"/>
                    <a:pt x="1090" y="73"/>
                    <a:pt x="1124" y="62"/>
                  </a:cubicBezTo>
                  <a:cubicBezTo>
                    <a:pt x="1159" y="51"/>
                    <a:pt x="1191" y="46"/>
                    <a:pt x="1224" y="46"/>
                  </a:cubicBezTo>
                  <a:cubicBezTo>
                    <a:pt x="1262" y="46"/>
                    <a:pt x="1300" y="53"/>
                    <a:pt x="1340" y="67"/>
                  </a:cubicBezTo>
                  <a:cubicBezTo>
                    <a:pt x="1401" y="89"/>
                    <a:pt x="1466" y="127"/>
                    <a:pt x="1542" y="180"/>
                  </a:cubicBezTo>
                  <a:cubicBezTo>
                    <a:pt x="1617" y="234"/>
                    <a:pt x="1702" y="303"/>
                    <a:pt x="1803" y="385"/>
                  </a:cubicBezTo>
                  <a:cubicBezTo>
                    <a:pt x="1813" y="393"/>
                    <a:pt x="1827" y="391"/>
                    <a:pt x="1835" y="381"/>
                  </a:cubicBezTo>
                  <a:cubicBezTo>
                    <a:pt x="1843" y="372"/>
                    <a:pt x="1842" y="357"/>
                    <a:pt x="1832" y="349"/>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9" name="Freeform 9">
              <a:extLst>
                <a:ext uri="{FF2B5EF4-FFF2-40B4-BE49-F238E27FC236}">
                  <a16:creationId xmlns:a16="http://schemas.microsoft.com/office/drawing/2014/main" id="{3073A429-8658-EC43-92EE-0AD58A5391AE}"/>
                </a:ext>
              </a:extLst>
            </p:cNvPr>
            <p:cNvSpPr>
              <a:spLocks noChangeArrowheads="1"/>
            </p:cNvSpPr>
            <p:nvPr/>
          </p:nvSpPr>
          <p:spPr bwMode="auto">
            <a:xfrm>
              <a:off x="1467348" y="795114"/>
              <a:ext cx="253049" cy="148038"/>
            </a:xfrm>
            <a:custGeom>
              <a:avLst/>
              <a:gdLst>
                <a:gd name="T0" fmla="*/ 1522 w 1530"/>
                <a:gd name="T1" fmla="*/ 264 h 895"/>
                <a:gd name="T2" fmla="*/ 1260 w 1530"/>
                <a:gd name="T3" fmla="*/ 70 h 895"/>
                <a:gd name="T4" fmla="*/ 1156 w 1530"/>
                <a:gd name="T5" fmla="*/ 18 h 895"/>
                <a:gd name="T6" fmla="*/ 1057 w 1530"/>
                <a:gd name="T7" fmla="*/ 0 h 895"/>
                <a:gd name="T8" fmla="*/ 957 w 1530"/>
                <a:gd name="T9" fmla="*/ 19 h 895"/>
                <a:gd name="T10" fmla="*/ 791 w 1530"/>
                <a:gd name="T11" fmla="*/ 119 h 895"/>
                <a:gd name="T12" fmla="*/ 577 w 1530"/>
                <a:gd name="T13" fmla="*/ 310 h 895"/>
                <a:gd name="T14" fmla="*/ 577 w 1530"/>
                <a:gd name="T15" fmla="*/ 310 h 895"/>
                <a:gd name="T16" fmla="*/ 6 w 1530"/>
                <a:gd name="T17" fmla="*/ 867 h 895"/>
                <a:gd name="T18" fmla="*/ 6 w 1530"/>
                <a:gd name="T19" fmla="*/ 888 h 895"/>
                <a:gd name="T20" fmla="*/ 27 w 1530"/>
                <a:gd name="T21" fmla="*/ 888 h 895"/>
                <a:gd name="T22" fmla="*/ 598 w 1530"/>
                <a:gd name="T23" fmla="*/ 331 h 895"/>
                <a:gd name="T24" fmla="*/ 598 w 1530"/>
                <a:gd name="T25" fmla="*/ 331 h 895"/>
                <a:gd name="T26" fmla="*/ 866 w 1530"/>
                <a:gd name="T27" fmla="*/ 101 h 895"/>
                <a:gd name="T28" fmla="*/ 968 w 1530"/>
                <a:gd name="T29" fmla="*/ 47 h 895"/>
                <a:gd name="T30" fmla="*/ 1057 w 1530"/>
                <a:gd name="T31" fmla="*/ 29 h 895"/>
                <a:gd name="T32" fmla="*/ 1146 w 1530"/>
                <a:gd name="T33" fmla="*/ 46 h 895"/>
                <a:gd name="T34" fmla="*/ 1300 w 1530"/>
                <a:gd name="T35" fmla="*/ 132 h 895"/>
                <a:gd name="T36" fmla="*/ 1504 w 1530"/>
                <a:gd name="T37" fmla="*/ 287 h 895"/>
                <a:gd name="T38" fmla="*/ 1524 w 1530"/>
                <a:gd name="T39" fmla="*/ 285 h 895"/>
                <a:gd name="T40" fmla="*/ 1522 w 1530"/>
                <a:gd name="T41" fmla="*/ 264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0" h="895">
                  <a:moveTo>
                    <a:pt x="1522" y="264"/>
                  </a:moveTo>
                  <a:cubicBezTo>
                    <a:pt x="1417" y="180"/>
                    <a:pt x="1334" y="115"/>
                    <a:pt x="1260" y="70"/>
                  </a:cubicBezTo>
                  <a:cubicBezTo>
                    <a:pt x="1224" y="47"/>
                    <a:pt x="1189" y="30"/>
                    <a:pt x="1156" y="18"/>
                  </a:cubicBezTo>
                  <a:cubicBezTo>
                    <a:pt x="1123" y="6"/>
                    <a:pt x="1090" y="0"/>
                    <a:pt x="1057" y="0"/>
                  </a:cubicBezTo>
                  <a:cubicBezTo>
                    <a:pt x="1024" y="0"/>
                    <a:pt x="991" y="6"/>
                    <a:pt x="957" y="19"/>
                  </a:cubicBezTo>
                  <a:cubicBezTo>
                    <a:pt x="906" y="38"/>
                    <a:pt x="852" y="71"/>
                    <a:pt x="791" y="119"/>
                  </a:cubicBezTo>
                  <a:cubicBezTo>
                    <a:pt x="729" y="167"/>
                    <a:pt x="660" y="231"/>
                    <a:pt x="577" y="310"/>
                  </a:cubicBezTo>
                  <a:lnTo>
                    <a:pt x="577" y="310"/>
                  </a:lnTo>
                  <a:lnTo>
                    <a:pt x="6" y="867"/>
                  </a:lnTo>
                  <a:cubicBezTo>
                    <a:pt x="0" y="873"/>
                    <a:pt x="0" y="882"/>
                    <a:pt x="6" y="888"/>
                  </a:cubicBezTo>
                  <a:cubicBezTo>
                    <a:pt x="12" y="894"/>
                    <a:pt x="21" y="894"/>
                    <a:pt x="27" y="888"/>
                  </a:cubicBezTo>
                  <a:lnTo>
                    <a:pt x="598" y="331"/>
                  </a:lnTo>
                  <a:lnTo>
                    <a:pt x="598" y="331"/>
                  </a:lnTo>
                  <a:cubicBezTo>
                    <a:pt x="707" y="226"/>
                    <a:pt x="793" y="150"/>
                    <a:pt x="866" y="101"/>
                  </a:cubicBezTo>
                  <a:cubicBezTo>
                    <a:pt x="903" y="76"/>
                    <a:pt x="936" y="58"/>
                    <a:pt x="968" y="47"/>
                  </a:cubicBezTo>
                  <a:cubicBezTo>
                    <a:pt x="999" y="35"/>
                    <a:pt x="1028" y="29"/>
                    <a:pt x="1057" y="29"/>
                  </a:cubicBezTo>
                  <a:cubicBezTo>
                    <a:pt x="1086" y="29"/>
                    <a:pt x="1115" y="35"/>
                    <a:pt x="1146" y="46"/>
                  </a:cubicBezTo>
                  <a:cubicBezTo>
                    <a:pt x="1192" y="62"/>
                    <a:pt x="1242" y="91"/>
                    <a:pt x="1300" y="132"/>
                  </a:cubicBezTo>
                  <a:cubicBezTo>
                    <a:pt x="1359" y="172"/>
                    <a:pt x="1425" y="225"/>
                    <a:pt x="1504" y="287"/>
                  </a:cubicBezTo>
                  <a:cubicBezTo>
                    <a:pt x="1510" y="292"/>
                    <a:pt x="1518" y="291"/>
                    <a:pt x="1524" y="285"/>
                  </a:cubicBezTo>
                  <a:cubicBezTo>
                    <a:pt x="1529" y="279"/>
                    <a:pt x="1528" y="269"/>
                    <a:pt x="1522" y="26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0" name="Freeform 10">
              <a:extLst>
                <a:ext uri="{FF2B5EF4-FFF2-40B4-BE49-F238E27FC236}">
                  <a16:creationId xmlns:a16="http://schemas.microsoft.com/office/drawing/2014/main" id="{7B9CB57C-5EF1-7045-A70B-14CD6B5A98B9}"/>
                </a:ext>
              </a:extLst>
            </p:cNvPr>
            <p:cNvSpPr>
              <a:spLocks noChangeArrowheads="1"/>
            </p:cNvSpPr>
            <p:nvPr/>
          </p:nvSpPr>
          <p:spPr bwMode="auto">
            <a:xfrm>
              <a:off x="1491413" y="835952"/>
              <a:ext cx="201273" cy="127619"/>
            </a:xfrm>
            <a:custGeom>
              <a:avLst/>
              <a:gdLst>
                <a:gd name="T0" fmla="*/ 1212 w 1217"/>
                <a:gd name="T1" fmla="*/ 184 h 773"/>
                <a:gd name="T2" fmla="*/ 1023 w 1217"/>
                <a:gd name="T3" fmla="*/ 48 h 773"/>
                <a:gd name="T4" fmla="*/ 884 w 1217"/>
                <a:gd name="T5" fmla="*/ 0 h 773"/>
                <a:gd name="T6" fmla="*/ 801 w 1217"/>
                <a:gd name="T7" fmla="*/ 20 h 773"/>
                <a:gd name="T8" fmla="*/ 653 w 1217"/>
                <a:gd name="T9" fmla="*/ 124 h 773"/>
                <a:gd name="T10" fmla="*/ 440 w 1217"/>
                <a:gd name="T11" fmla="*/ 324 h 773"/>
                <a:gd name="T12" fmla="*/ 440 w 1217"/>
                <a:gd name="T13" fmla="*/ 324 h 773"/>
                <a:gd name="T14" fmla="*/ 3 w 1217"/>
                <a:gd name="T15" fmla="*/ 760 h 773"/>
                <a:gd name="T16" fmla="*/ 3 w 1217"/>
                <a:gd name="T17" fmla="*/ 770 h 773"/>
                <a:gd name="T18" fmla="*/ 12 w 1217"/>
                <a:gd name="T19" fmla="*/ 770 h 773"/>
                <a:gd name="T20" fmla="*/ 449 w 1217"/>
                <a:gd name="T21" fmla="*/ 333 h 773"/>
                <a:gd name="T22" fmla="*/ 716 w 1217"/>
                <a:gd name="T23" fmla="*/ 90 h 773"/>
                <a:gd name="T24" fmla="*/ 806 w 1217"/>
                <a:gd name="T25" fmla="*/ 32 h 773"/>
                <a:gd name="T26" fmla="*/ 884 w 1217"/>
                <a:gd name="T27" fmla="*/ 13 h 773"/>
                <a:gd name="T28" fmla="*/ 1016 w 1217"/>
                <a:gd name="T29" fmla="*/ 60 h 773"/>
                <a:gd name="T30" fmla="*/ 1204 w 1217"/>
                <a:gd name="T31" fmla="*/ 195 h 773"/>
                <a:gd name="T32" fmla="*/ 1214 w 1217"/>
                <a:gd name="T33" fmla="*/ 194 h 773"/>
                <a:gd name="T34" fmla="*/ 1212 w 1217"/>
                <a:gd name="T35" fmla="*/ 184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1212" y="184"/>
                  </a:moveTo>
                  <a:cubicBezTo>
                    <a:pt x="1135" y="125"/>
                    <a:pt x="1075" y="80"/>
                    <a:pt x="1023" y="48"/>
                  </a:cubicBezTo>
                  <a:cubicBezTo>
                    <a:pt x="971" y="17"/>
                    <a:pt x="928" y="0"/>
                    <a:pt x="884" y="0"/>
                  </a:cubicBezTo>
                  <a:cubicBezTo>
                    <a:pt x="856" y="0"/>
                    <a:pt x="829" y="7"/>
                    <a:pt x="801" y="20"/>
                  </a:cubicBezTo>
                  <a:cubicBezTo>
                    <a:pt x="758" y="39"/>
                    <a:pt x="711" y="74"/>
                    <a:pt x="653" y="124"/>
                  </a:cubicBezTo>
                  <a:cubicBezTo>
                    <a:pt x="595" y="175"/>
                    <a:pt x="527" y="241"/>
                    <a:pt x="440" y="324"/>
                  </a:cubicBezTo>
                  <a:lnTo>
                    <a:pt x="440" y="324"/>
                  </a:lnTo>
                  <a:lnTo>
                    <a:pt x="3" y="760"/>
                  </a:lnTo>
                  <a:cubicBezTo>
                    <a:pt x="0" y="763"/>
                    <a:pt x="0" y="767"/>
                    <a:pt x="3" y="770"/>
                  </a:cubicBezTo>
                  <a:cubicBezTo>
                    <a:pt x="5" y="772"/>
                    <a:pt x="10" y="772"/>
                    <a:pt x="12" y="770"/>
                  </a:cubicBezTo>
                  <a:lnTo>
                    <a:pt x="449" y="333"/>
                  </a:lnTo>
                  <a:cubicBezTo>
                    <a:pt x="565" y="223"/>
                    <a:pt x="648" y="142"/>
                    <a:pt x="716" y="90"/>
                  </a:cubicBezTo>
                  <a:cubicBezTo>
                    <a:pt x="749" y="63"/>
                    <a:pt x="778" y="44"/>
                    <a:pt x="806" y="32"/>
                  </a:cubicBezTo>
                  <a:cubicBezTo>
                    <a:pt x="833" y="19"/>
                    <a:pt x="859" y="13"/>
                    <a:pt x="884" y="13"/>
                  </a:cubicBezTo>
                  <a:cubicBezTo>
                    <a:pt x="924" y="13"/>
                    <a:pt x="966" y="29"/>
                    <a:pt x="1016" y="60"/>
                  </a:cubicBezTo>
                  <a:cubicBezTo>
                    <a:pt x="1067" y="90"/>
                    <a:pt x="1127" y="136"/>
                    <a:pt x="1204" y="195"/>
                  </a:cubicBezTo>
                  <a:cubicBezTo>
                    <a:pt x="1207" y="197"/>
                    <a:pt x="1211" y="197"/>
                    <a:pt x="1214" y="194"/>
                  </a:cubicBezTo>
                  <a:cubicBezTo>
                    <a:pt x="1216" y="191"/>
                    <a:pt x="1215" y="187"/>
                    <a:pt x="1212" y="18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1" name="Freeform 11">
              <a:extLst>
                <a:ext uri="{FF2B5EF4-FFF2-40B4-BE49-F238E27FC236}">
                  <a16:creationId xmlns:a16="http://schemas.microsoft.com/office/drawing/2014/main" id="{9187B6AA-F9BB-264E-BDCA-C7E0AC3A676B}"/>
                </a:ext>
              </a:extLst>
            </p:cNvPr>
            <p:cNvSpPr>
              <a:spLocks noChangeArrowheads="1"/>
            </p:cNvSpPr>
            <p:nvPr/>
          </p:nvSpPr>
          <p:spPr bwMode="auto">
            <a:xfrm>
              <a:off x="1608093" y="858559"/>
              <a:ext cx="72925" cy="48130"/>
            </a:xfrm>
            <a:custGeom>
              <a:avLst/>
              <a:gdLst>
                <a:gd name="T0" fmla="*/ 49 w 442"/>
                <a:gd name="T1" fmla="*/ 200 h 293"/>
                <a:gd name="T2" fmla="*/ 0 w 442"/>
                <a:gd name="T3" fmla="*/ 156 h 293"/>
                <a:gd name="T4" fmla="*/ 45 w 442"/>
                <a:gd name="T5" fmla="*/ 107 h 293"/>
                <a:gd name="T6" fmla="*/ 392 w 442"/>
                <a:gd name="T7" fmla="*/ 91 h 293"/>
                <a:gd name="T8" fmla="*/ 441 w 442"/>
                <a:gd name="T9" fmla="*/ 137 h 293"/>
                <a:gd name="T10" fmla="*/ 396 w 442"/>
                <a:gd name="T11" fmla="*/ 185 h 293"/>
                <a:gd name="T12" fmla="*/ 49 w 442"/>
                <a:gd name="T13" fmla="*/ 200 h 293"/>
              </a:gdLst>
              <a:ahLst/>
              <a:cxnLst>
                <a:cxn ang="0">
                  <a:pos x="T0" y="T1"/>
                </a:cxn>
                <a:cxn ang="0">
                  <a:pos x="T2" y="T3"/>
                </a:cxn>
                <a:cxn ang="0">
                  <a:pos x="T4" y="T5"/>
                </a:cxn>
                <a:cxn ang="0">
                  <a:pos x="T6" y="T7"/>
                </a:cxn>
                <a:cxn ang="0">
                  <a:pos x="T8" y="T9"/>
                </a:cxn>
                <a:cxn ang="0">
                  <a:pos x="T10" y="T11"/>
                </a:cxn>
                <a:cxn ang="0">
                  <a:pos x="T12" y="T13"/>
                </a:cxn>
              </a:cxnLst>
              <a:rect l="0" t="0" r="r" b="b"/>
              <a:pathLst>
                <a:path w="442" h="293">
                  <a:moveTo>
                    <a:pt x="49" y="200"/>
                  </a:moveTo>
                  <a:lnTo>
                    <a:pt x="0" y="156"/>
                  </a:lnTo>
                  <a:lnTo>
                    <a:pt x="45" y="107"/>
                  </a:lnTo>
                  <a:cubicBezTo>
                    <a:pt x="136" y="7"/>
                    <a:pt x="292" y="0"/>
                    <a:pt x="392" y="91"/>
                  </a:cubicBezTo>
                  <a:lnTo>
                    <a:pt x="441" y="137"/>
                  </a:lnTo>
                  <a:lnTo>
                    <a:pt x="396" y="185"/>
                  </a:lnTo>
                  <a:cubicBezTo>
                    <a:pt x="304" y="285"/>
                    <a:pt x="149" y="292"/>
                    <a:pt x="49" y="20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spTree>
    <p:extLst>
      <p:ext uri="{BB962C8B-B14F-4D97-AF65-F5344CB8AC3E}">
        <p14:creationId xmlns:p14="http://schemas.microsoft.com/office/powerpoint/2010/main" val="4872756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5" name="Rectangle 8">
            <a:extLst>
              <a:ext uri="{FF2B5EF4-FFF2-40B4-BE49-F238E27FC236}">
                <a16:creationId xmlns:a16="http://schemas.microsoft.com/office/drawing/2014/main" id="{EB931506-C8E0-1649-BE54-52B88034B126}"/>
              </a:ext>
            </a:extLst>
          </p:cNvPr>
          <p:cNvSpPr>
            <a:spLocks noGrp="1" noChangeArrowheads="1"/>
          </p:cNvSpPr>
          <p:nvPr>
            <p:ph type="sldNum" sz="quarter" idx="12"/>
          </p:nvPr>
        </p:nvSpPr>
        <p:spPr>
          <a:ln/>
        </p:spPr>
        <p:txBody>
          <a:bodyPr/>
          <a:lstStyle>
            <a:lvl1pPr>
              <a:defRPr/>
            </a:lvl1pPr>
          </a:lstStyle>
          <a:p>
            <a:fld id="{07279A2F-85B5-794E-ADF1-0805CD3C44B7}" type="slidenum">
              <a:rPr lang="en-US" altLang="zh-CN"/>
              <a:pPr/>
              <a:t>‹#›</a:t>
            </a:fld>
            <a:endParaRPr lang="en-US" altLang="zh-CN"/>
          </a:p>
        </p:txBody>
      </p:sp>
    </p:spTree>
    <p:extLst>
      <p:ext uri="{BB962C8B-B14F-4D97-AF65-F5344CB8AC3E}">
        <p14:creationId xmlns:p14="http://schemas.microsoft.com/office/powerpoint/2010/main" val="271046585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2AAAA80D-F069-DE49-8F34-B637A12CB530}"/>
              </a:ext>
            </a:extLst>
          </p:cNvPr>
          <p:cNvSpPr>
            <a:spLocks noGrp="1"/>
          </p:cNvSpPr>
          <p:nvPr>
            <p:ph type="title"/>
          </p:nvPr>
        </p:nvSpPr>
        <p:spPr>
          <a:xfrm>
            <a:off x="1307508" y="365126"/>
            <a:ext cx="8220812" cy="879086"/>
          </a:xfrm>
          <a:prstGeom prst="rect">
            <a:avLst/>
          </a:prstGeom>
        </p:spPr>
        <p:txBody>
          <a:bodyPr vert="horz" lIns="91440" tIns="45720" rIns="91440" bIns="45720" rtlCol="0" anchor="ctr">
            <a:normAutofit/>
          </a:bodyPr>
          <a:lstStyle/>
          <a:p>
            <a:r>
              <a:rPr kumimoji="1" lang="zh-CN" altLang="en-US" dirty="0"/>
              <a:t>单击此处编辑母版标题样式</a:t>
            </a:r>
          </a:p>
        </p:txBody>
      </p:sp>
      <p:sp>
        <p:nvSpPr>
          <p:cNvPr id="3" name="文本占位符 2">
            <a:extLst>
              <a:ext uri="{FF2B5EF4-FFF2-40B4-BE49-F238E27FC236}">
                <a16:creationId xmlns:a16="http://schemas.microsoft.com/office/drawing/2014/main" id="{A2AAAE3F-F071-E445-8B18-8EAF3979328E}"/>
              </a:ext>
            </a:extLst>
          </p:cNvPr>
          <p:cNvSpPr>
            <a:spLocks noGrp="1"/>
          </p:cNvSpPr>
          <p:nvPr>
            <p:ph type="body" idx="1"/>
          </p:nvPr>
        </p:nvSpPr>
        <p:spPr>
          <a:xfrm>
            <a:off x="838200" y="1590270"/>
            <a:ext cx="10515600" cy="4586694"/>
          </a:xfrm>
          <a:prstGeom prst="rect">
            <a:avLst/>
          </a:prstGeom>
        </p:spPr>
        <p:txBody>
          <a:bodyPr vert="horz" lIns="91440" tIns="45720" rIns="91440" bIns="45720" rtlCol="0">
            <a:normAutofit/>
          </a:body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6" name="灯片编号占位符 5">
            <a:extLst>
              <a:ext uri="{FF2B5EF4-FFF2-40B4-BE49-F238E27FC236}">
                <a16:creationId xmlns:a16="http://schemas.microsoft.com/office/drawing/2014/main" id="{7F17F525-3365-224F-AAA7-E3B9B30119F2}"/>
              </a:ext>
            </a:extLst>
          </p:cNvPr>
          <p:cNvSpPr>
            <a:spLocks noGrp="1"/>
          </p:cNvSpPr>
          <p:nvPr>
            <p:ph type="sldNum" sz="quarter" idx="4"/>
          </p:nvPr>
        </p:nvSpPr>
        <p:spPr>
          <a:xfrm>
            <a:off x="9053945"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Microsoft YaHei" panose="020B0503020204020204" pitchFamily="34" charset="-122"/>
                <a:ea typeface="Microsoft YaHei" panose="020B0503020204020204" pitchFamily="34" charset="-122"/>
              </a:defRPr>
            </a:lvl1pPr>
          </a:lstStyle>
          <a:p>
            <a:fld id="{8D4D1E41-7A09-AB4A-A4E1-09765ADA2698}" type="slidenum">
              <a:rPr kumimoji="1" lang="zh-CN" altLang="en-US" smtClean="0"/>
              <a:pPr/>
              <a:t>‹#›</a:t>
            </a:fld>
            <a:endParaRPr kumimoji="1" lang="zh-CN" altLang="en-US"/>
          </a:p>
        </p:txBody>
      </p:sp>
    </p:spTree>
    <p:extLst>
      <p:ext uri="{BB962C8B-B14F-4D97-AF65-F5344CB8AC3E}">
        <p14:creationId xmlns:p14="http://schemas.microsoft.com/office/powerpoint/2010/main" val="22665348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3" r:id="rId4"/>
  </p:sldLayoutIdLst>
  <p:hf hdr="0" ftr="0" dt="0"/>
  <p:txStyles>
    <p:titleStyle>
      <a:lvl1pPr algn="l" defTabSz="914400" rtl="0" eaLnBrk="1" latinLnBrk="0" hangingPunct="1">
        <a:lnSpc>
          <a:spcPct val="90000"/>
        </a:lnSpc>
        <a:spcBef>
          <a:spcPct val="0"/>
        </a:spcBef>
        <a:buNone/>
        <a:defRPr sz="4400" kern="1200">
          <a:solidFill>
            <a:schemeClr val="tx1"/>
          </a:solidFill>
          <a:latin typeface="Microsoft YaHei" panose="020B0503020204020204" pitchFamily="34" charset="-122"/>
          <a:ea typeface="Microsoft YaHei" panose="020B0503020204020204" pitchFamily="34" charset="-122"/>
          <a:cs typeface="+mj-cs"/>
        </a:defRPr>
      </a:lvl1pPr>
    </p:titleStyle>
    <p:bodyStyle>
      <a:lvl1pPr marL="228600" indent="-228600" algn="l" defTabSz="914400" rtl="0" eaLnBrk="1" latinLnBrk="0" hangingPunct="1">
        <a:lnSpc>
          <a:spcPct val="100000"/>
        </a:lnSpc>
        <a:spcBef>
          <a:spcPts val="600"/>
        </a:spcBef>
        <a:buFont typeface="Arial" panose="020B0604020202020204" pitchFamily="34" charset="0"/>
        <a:buChar char="•"/>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0.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1BF4557-9C48-9D4D-A8AC-E1BCC4493B84}"/>
              </a:ext>
            </a:extLst>
          </p:cNvPr>
          <p:cNvSpPr>
            <a:spLocks noGrp="1"/>
          </p:cNvSpPr>
          <p:nvPr>
            <p:ph type="ctrTitle"/>
          </p:nvPr>
        </p:nvSpPr>
        <p:spPr>
          <a:xfrm>
            <a:off x="1524000" y="891254"/>
            <a:ext cx="9144000" cy="2002674"/>
          </a:xfrm>
        </p:spPr>
        <p:txBody>
          <a:bodyPr/>
          <a:lstStyle/>
          <a:p>
            <a:r>
              <a:rPr kumimoji="1" lang="zh-CN" altLang="en-US" dirty="0"/>
              <a:t>第五章 区块链共识层</a:t>
            </a:r>
          </a:p>
        </p:txBody>
      </p:sp>
      <p:sp>
        <p:nvSpPr>
          <p:cNvPr id="5" name="副标题 4">
            <a:extLst>
              <a:ext uri="{FF2B5EF4-FFF2-40B4-BE49-F238E27FC236}">
                <a16:creationId xmlns:a16="http://schemas.microsoft.com/office/drawing/2014/main" id="{82CBB2FD-0B14-4E8F-A1EF-745F01E637FC}"/>
              </a:ext>
            </a:extLst>
          </p:cNvPr>
          <p:cNvSpPr>
            <a:spLocks noGrp="1"/>
          </p:cNvSpPr>
          <p:nvPr>
            <p:ph type="subTitle" idx="1"/>
          </p:nvPr>
        </p:nvSpPr>
        <p:spPr/>
        <p:txBody>
          <a:bodyPr/>
          <a:lstStyle/>
          <a:p>
            <a:endParaRPr lang="zh-CN" altLang="en-US"/>
          </a:p>
        </p:txBody>
      </p:sp>
    </p:spTree>
    <p:extLst>
      <p:ext uri="{BB962C8B-B14F-4D97-AF65-F5344CB8AC3E}">
        <p14:creationId xmlns:p14="http://schemas.microsoft.com/office/powerpoint/2010/main" val="24659136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09B8FE-3A08-AB44-8FD5-4884CABBBF45}"/>
              </a:ext>
            </a:extLst>
          </p:cNvPr>
          <p:cNvSpPr>
            <a:spLocks noGrp="1"/>
          </p:cNvSpPr>
          <p:nvPr>
            <p:ph type="title"/>
          </p:nvPr>
        </p:nvSpPr>
        <p:spPr/>
        <p:txBody>
          <a:bodyPr/>
          <a:lstStyle/>
          <a:p>
            <a:r>
              <a:rPr kumimoji="1" lang="zh-CN" altLang="en-US" dirty="0"/>
              <a:t>本章内容</a:t>
            </a:r>
          </a:p>
        </p:txBody>
      </p:sp>
      <p:sp>
        <p:nvSpPr>
          <p:cNvPr id="5" name="内容占位符 4">
            <a:extLst>
              <a:ext uri="{FF2B5EF4-FFF2-40B4-BE49-F238E27FC236}">
                <a16:creationId xmlns:a16="http://schemas.microsoft.com/office/drawing/2014/main" id="{EAE97F77-16B3-2043-B14E-0B774467C142}"/>
              </a:ext>
            </a:extLst>
          </p:cNvPr>
          <p:cNvSpPr>
            <a:spLocks noGrp="1"/>
          </p:cNvSpPr>
          <p:nvPr>
            <p:ph idx="1"/>
          </p:nvPr>
        </p:nvSpPr>
        <p:spPr>
          <a:xfrm>
            <a:off x="1307508" y="1409610"/>
            <a:ext cx="10515600" cy="4982116"/>
          </a:xfrm>
        </p:spPr>
        <p:txBody>
          <a:bodyPr>
            <a:normAutofit/>
          </a:bodyPr>
          <a:lstStyle/>
          <a:p>
            <a:pPr marL="0" indent="0">
              <a:lnSpc>
                <a:spcPct val="130000"/>
              </a:lnSpc>
              <a:buNone/>
            </a:pPr>
            <a:r>
              <a:rPr kumimoji="1" lang="en-US" altLang="zh-CN" dirty="0">
                <a:solidFill>
                  <a:srgbClr val="C00000"/>
                </a:solidFill>
              </a:rPr>
              <a:t>5.1 </a:t>
            </a:r>
            <a:r>
              <a:rPr kumimoji="1" lang="zh-CN" altLang="en-US" dirty="0">
                <a:solidFill>
                  <a:srgbClr val="C00000"/>
                </a:solidFill>
              </a:rPr>
              <a:t>一致性问题</a:t>
            </a:r>
            <a:endParaRPr kumimoji="1" lang="en-US" altLang="zh-CN" dirty="0">
              <a:solidFill>
                <a:srgbClr val="C00000"/>
              </a:solidFill>
            </a:endParaRPr>
          </a:p>
          <a:p>
            <a:pPr marL="0" indent="0">
              <a:lnSpc>
                <a:spcPct val="130000"/>
              </a:lnSpc>
              <a:buNone/>
            </a:pPr>
            <a:r>
              <a:rPr kumimoji="1" lang="en-US" altLang="zh-CN" dirty="0"/>
              <a:t>5.2 </a:t>
            </a:r>
            <a:r>
              <a:rPr kumimoji="1" lang="zh-CN" altLang="en-US" dirty="0"/>
              <a:t>共识设计的理论限制</a:t>
            </a:r>
            <a:endParaRPr kumimoji="1" lang="en-US" altLang="zh-CN" dirty="0"/>
          </a:p>
          <a:p>
            <a:pPr marL="0" indent="0">
              <a:lnSpc>
                <a:spcPct val="130000"/>
              </a:lnSpc>
              <a:buNone/>
            </a:pPr>
            <a:r>
              <a:rPr kumimoji="1" lang="en-US" altLang="zh-CN" dirty="0"/>
              <a:t>5.3 </a:t>
            </a:r>
            <a:r>
              <a:rPr kumimoji="1" lang="zh-CN" altLang="en-US" dirty="0"/>
              <a:t>区块链共识算法</a:t>
            </a:r>
            <a:endParaRPr kumimoji="1" lang="en-US" altLang="zh-CN" dirty="0"/>
          </a:p>
        </p:txBody>
      </p:sp>
      <p:sp>
        <p:nvSpPr>
          <p:cNvPr id="7" name="矩形标注 6">
            <a:extLst>
              <a:ext uri="{FF2B5EF4-FFF2-40B4-BE49-F238E27FC236}">
                <a16:creationId xmlns:a16="http://schemas.microsoft.com/office/drawing/2014/main" id="{E4BFCB96-0FA1-7740-8F94-683CEFB67F89}"/>
              </a:ext>
            </a:extLst>
          </p:cNvPr>
          <p:cNvSpPr/>
          <p:nvPr/>
        </p:nvSpPr>
        <p:spPr>
          <a:xfrm>
            <a:off x="6096000" y="1620253"/>
            <a:ext cx="4281889" cy="1808747"/>
          </a:xfrm>
          <a:prstGeom prst="wedgeRectCallout">
            <a:avLst>
              <a:gd name="adj1" fmla="val -81204"/>
              <a:gd name="adj2" fmla="val -42433"/>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587375" indent="-438150">
              <a:lnSpc>
                <a:spcPct val="130000"/>
              </a:lnSpc>
              <a:spcBef>
                <a:spcPts val="600"/>
              </a:spcBef>
              <a:buFont typeface="+mj-lt"/>
              <a:buAutoNum type="arabicPeriod"/>
            </a:pPr>
            <a:r>
              <a:rPr kumimoji="1" lang="zh-CN" altLang="en-US" sz="2400" dirty="0">
                <a:solidFill>
                  <a:prstClr val="black"/>
                </a:solidFill>
                <a:latin typeface="Microsoft YaHei" panose="020B0503020204020204" pitchFamily="34" charset="-122"/>
                <a:ea typeface="Microsoft YaHei" panose="020B0503020204020204" pitchFamily="34" charset="-122"/>
              </a:rPr>
              <a:t>问题与挑战</a:t>
            </a:r>
          </a:p>
          <a:p>
            <a:pPr marL="587375" indent="-438150">
              <a:lnSpc>
                <a:spcPct val="130000"/>
              </a:lnSpc>
              <a:spcBef>
                <a:spcPts val="600"/>
              </a:spcBef>
              <a:buFont typeface="+mj-lt"/>
              <a:buAutoNum type="arabicPeriod"/>
            </a:pPr>
            <a:r>
              <a:rPr kumimoji="1" lang="zh-CN" altLang="en-US" sz="2400" dirty="0">
                <a:solidFill>
                  <a:prstClr val="black"/>
                </a:solidFill>
                <a:latin typeface="Microsoft YaHei" panose="020B0503020204020204" pitchFamily="34" charset="-122"/>
                <a:ea typeface="Microsoft YaHei" panose="020B0503020204020204" pitchFamily="34" charset="-122"/>
              </a:rPr>
              <a:t>一致性问题</a:t>
            </a:r>
          </a:p>
          <a:p>
            <a:pPr marL="587375" indent="-438150">
              <a:lnSpc>
                <a:spcPct val="130000"/>
              </a:lnSpc>
              <a:spcBef>
                <a:spcPts val="600"/>
              </a:spcBef>
              <a:buFont typeface="+mj-lt"/>
              <a:buAutoNum type="arabicPeriod"/>
            </a:pPr>
            <a:r>
              <a:rPr kumimoji="1" lang="zh-CN" altLang="en-US" sz="2400" dirty="0">
                <a:solidFill>
                  <a:prstClr val="black"/>
                </a:solidFill>
                <a:latin typeface="Microsoft YaHei" panose="020B0503020204020204" pitchFamily="34" charset="-122"/>
                <a:ea typeface="Microsoft YaHei" panose="020B0503020204020204" pitchFamily="34" charset="-122"/>
              </a:rPr>
              <a:t>不同的一致性要求</a:t>
            </a:r>
            <a:endParaRPr kumimoji="1" lang="en-US" altLang="zh-CN" sz="2400" dirty="0">
              <a:solidFill>
                <a:prstClr val="black"/>
              </a:solidFill>
              <a:latin typeface="Microsoft YaHei" panose="020B0503020204020204" pitchFamily="34" charset="-122"/>
              <a:ea typeface="Microsoft YaHei" panose="020B0503020204020204" pitchFamily="34" charset="-122"/>
            </a:endParaRPr>
          </a:p>
        </p:txBody>
      </p:sp>
      <p:sp>
        <p:nvSpPr>
          <p:cNvPr id="3" name="灯片编号占位符 2">
            <a:extLst>
              <a:ext uri="{FF2B5EF4-FFF2-40B4-BE49-F238E27FC236}">
                <a16:creationId xmlns:a16="http://schemas.microsoft.com/office/drawing/2014/main" id="{493E6B42-DAB5-7042-B243-5902825EBD30}"/>
              </a:ext>
            </a:extLst>
          </p:cNvPr>
          <p:cNvSpPr>
            <a:spLocks noGrp="1"/>
          </p:cNvSpPr>
          <p:nvPr>
            <p:ph type="sldNum" sz="quarter" idx="12"/>
          </p:nvPr>
        </p:nvSpPr>
        <p:spPr/>
        <p:txBody>
          <a:bodyPr/>
          <a:lstStyle/>
          <a:p>
            <a:fld id="{8D4D1E41-7A09-AB4A-A4E1-09765ADA2698}" type="slidenum">
              <a:rPr kumimoji="1" lang="zh-CN" altLang="en-US" smtClean="0"/>
              <a:t>1</a:t>
            </a:fld>
            <a:endParaRPr kumimoji="1" lang="zh-CN" altLang="en-US" dirty="0"/>
          </a:p>
        </p:txBody>
      </p:sp>
    </p:spTree>
    <p:extLst>
      <p:ext uri="{BB962C8B-B14F-4D97-AF65-F5344CB8AC3E}">
        <p14:creationId xmlns:p14="http://schemas.microsoft.com/office/powerpoint/2010/main" val="31527754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一致性问题</a:t>
            </a:r>
            <a:endParaRPr lang="en-US" altLang="zh-CN" dirty="0"/>
          </a:p>
        </p:txBody>
      </p:sp>
      <p:sp>
        <p:nvSpPr>
          <p:cNvPr id="3" name="内容占位符 2"/>
          <p:cNvSpPr>
            <a:spLocks noGrp="1"/>
          </p:cNvSpPr>
          <p:nvPr>
            <p:ph idx="1"/>
          </p:nvPr>
        </p:nvSpPr>
        <p:spPr>
          <a:xfrm>
            <a:off x="838200" y="1510758"/>
            <a:ext cx="9888940" cy="4845592"/>
          </a:xfrm>
        </p:spPr>
        <p:txBody>
          <a:bodyPr>
            <a:normAutofit/>
          </a:bodyPr>
          <a:lstStyle/>
          <a:p>
            <a:pPr fontAlgn="auto">
              <a:lnSpc>
                <a:spcPct val="130000"/>
              </a:lnSpc>
            </a:pPr>
            <a:r>
              <a:rPr lang="zh-CN" altLang="en-US" dirty="0"/>
              <a:t>账本的更新需要保障分布式系统的一致性</a:t>
            </a:r>
          </a:p>
          <a:p>
            <a:pPr lvl="1">
              <a:lnSpc>
                <a:spcPct val="130000"/>
              </a:lnSpc>
            </a:pPr>
            <a:r>
              <a:rPr lang="en-US" altLang="zh-CN" dirty="0" err="1"/>
              <a:t>Rivest</a:t>
            </a:r>
            <a:r>
              <a:rPr lang="zh-CN" altLang="en-US" dirty="0"/>
              <a:t>有</a:t>
            </a:r>
            <a:r>
              <a:rPr lang="en-US" altLang="zh-CN" dirty="0"/>
              <a:t>100</a:t>
            </a:r>
            <a:r>
              <a:rPr lang="zh-CN" altLang="en-US" dirty="0"/>
              <a:t>万，</a:t>
            </a:r>
            <a:r>
              <a:rPr lang="en-US" altLang="zh-CN" dirty="0"/>
              <a:t>Shamir</a:t>
            </a:r>
            <a:r>
              <a:rPr lang="zh-CN" altLang="en-US" dirty="0"/>
              <a:t>有</a:t>
            </a:r>
            <a:r>
              <a:rPr lang="en-US" altLang="zh-CN" dirty="0"/>
              <a:t>50</a:t>
            </a:r>
            <a:r>
              <a:rPr lang="zh-CN" altLang="en-US" dirty="0"/>
              <a:t>万，</a:t>
            </a:r>
            <a:r>
              <a:rPr lang="en-US" altLang="zh-CN" dirty="0" err="1"/>
              <a:t>Adleman</a:t>
            </a:r>
            <a:r>
              <a:rPr lang="zh-CN" altLang="en-US" dirty="0"/>
              <a:t>有</a:t>
            </a:r>
            <a:r>
              <a:rPr lang="en-US" altLang="zh-CN" dirty="0"/>
              <a:t>20</a:t>
            </a:r>
            <a:r>
              <a:rPr lang="zh-CN" altLang="en-US" dirty="0"/>
              <a:t>万</a:t>
            </a:r>
            <a:endParaRPr lang="en-US" altLang="zh-CN" dirty="0"/>
          </a:p>
          <a:p>
            <a:pPr lvl="1">
              <a:lnSpc>
                <a:spcPct val="130000"/>
              </a:lnSpc>
            </a:pPr>
            <a:r>
              <a:rPr lang="en-US" altLang="zh-CN" dirty="0"/>
              <a:t>TX_RS: </a:t>
            </a:r>
            <a:r>
              <a:rPr lang="en-US" altLang="zh-CN" dirty="0" err="1"/>
              <a:t>Rivest</a:t>
            </a:r>
            <a:r>
              <a:rPr lang="en-US" altLang="zh-CN" dirty="0"/>
              <a:t>-&gt;Shamir 100w; TX_SA: Shamir-&gt;</a:t>
            </a:r>
            <a:r>
              <a:rPr lang="en-US" altLang="zh-CN" dirty="0" err="1"/>
              <a:t>Adleman</a:t>
            </a:r>
            <a:r>
              <a:rPr lang="en-US" altLang="zh-CN" dirty="0"/>
              <a:t> 100w</a:t>
            </a:r>
          </a:p>
          <a:p>
            <a:pPr lvl="1">
              <a:lnSpc>
                <a:spcPct val="130000"/>
              </a:lnSpc>
            </a:pPr>
            <a:r>
              <a:rPr lang="en-US" altLang="zh-CN" dirty="0"/>
              <a:t>A</a:t>
            </a:r>
            <a:r>
              <a:rPr lang="zh-CN" altLang="en-US" dirty="0"/>
              <a:t>先收到</a:t>
            </a:r>
            <a:r>
              <a:rPr lang="en-US" altLang="zh-CN" dirty="0"/>
              <a:t>TX_RS</a:t>
            </a:r>
            <a:r>
              <a:rPr lang="zh-CN" altLang="en-US" dirty="0"/>
              <a:t>后收到</a:t>
            </a:r>
            <a:r>
              <a:rPr lang="en-US" altLang="zh-CN" dirty="0"/>
              <a:t>TX_SA,A</a:t>
            </a:r>
            <a:r>
              <a:rPr lang="zh-CN" altLang="en-US" dirty="0"/>
              <a:t>的账本更新为</a:t>
            </a:r>
            <a:r>
              <a:rPr lang="en-US" altLang="zh-CN" dirty="0"/>
              <a:t>{</a:t>
            </a:r>
            <a:r>
              <a:rPr lang="en-US" altLang="zh-CN" dirty="0" err="1"/>
              <a:t>Rivest</a:t>
            </a:r>
            <a:r>
              <a:rPr lang="en-US" altLang="zh-CN" dirty="0"/>
              <a:t>: 0, Shamir: 50, </a:t>
            </a:r>
            <a:r>
              <a:rPr lang="en-US" altLang="zh-CN" dirty="0" err="1"/>
              <a:t>Adleman</a:t>
            </a:r>
            <a:r>
              <a:rPr lang="en-US" altLang="zh-CN" dirty="0"/>
              <a:t>: 120}</a:t>
            </a:r>
          </a:p>
          <a:p>
            <a:pPr lvl="1">
              <a:lnSpc>
                <a:spcPct val="130000"/>
              </a:lnSpc>
            </a:pPr>
            <a:r>
              <a:rPr lang="en-US" altLang="zh-CN" dirty="0"/>
              <a:t>B</a:t>
            </a:r>
            <a:r>
              <a:rPr lang="zh-CN" altLang="en-US" dirty="0"/>
              <a:t>先收到</a:t>
            </a:r>
            <a:r>
              <a:rPr lang="en-US" altLang="zh-CN" dirty="0"/>
              <a:t>TX_SA</a:t>
            </a:r>
            <a:r>
              <a:rPr lang="zh-CN" altLang="en-US" dirty="0"/>
              <a:t>后收到</a:t>
            </a:r>
            <a:r>
              <a:rPr lang="en-US" altLang="zh-CN" dirty="0"/>
              <a:t>TX_RS,B</a:t>
            </a:r>
            <a:r>
              <a:rPr lang="zh-CN" altLang="en-US" dirty="0"/>
              <a:t>的账本更新为</a:t>
            </a:r>
            <a:r>
              <a:rPr lang="en-US" altLang="zh-CN" dirty="0"/>
              <a:t>{</a:t>
            </a:r>
            <a:r>
              <a:rPr lang="en-US" altLang="zh-CN" dirty="0" err="1"/>
              <a:t>Rivest</a:t>
            </a:r>
            <a:r>
              <a:rPr lang="en-US" altLang="zh-CN" dirty="0"/>
              <a:t>: 0, Shamir: 150, </a:t>
            </a:r>
            <a:r>
              <a:rPr lang="en-US" altLang="zh-CN" dirty="0" err="1"/>
              <a:t>Adleman</a:t>
            </a:r>
            <a:r>
              <a:rPr lang="en-US" altLang="zh-CN" dirty="0"/>
              <a:t>: 20}</a:t>
            </a:r>
          </a:p>
          <a:p>
            <a:pPr lvl="1">
              <a:lnSpc>
                <a:spcPct val="130000"/>
              </a:lnSpc>
            </a:pPr>
            <a:r>
              <a:rPr lang="zh-CN" altLang="en-US" dirty="0"/>
              <a:t>系统存在两个不一致的账本</a:t>
            </a:r>
            <a:endParaRPr lang="en-US" altLang="zh-CN" dirty="0"/>
          </a:p>
        </p:txBody>
      </p:sp>
      <p:sp>
        <p:nvSpPr>
          <p:cNvPr id="7" name="灯片编号占位符 6">
            <a:extLst>
              <a:ext uri="{FF2B5EF4-FFF2-40B4-BE49-F238E27FC236}">
                <a16:creationId xmlns:a16="http://schemas.microsoft.com/office/drawing/2014/main" id="{97E080B7-C088-8B4E-B8CF-3281335EB402}"/>
              </a:ext>
            </a:extLst>
          </p:cNvPr>
          <p:cNvSpPr>
            <a:spLocks noGrp="1"/>
          </p:cNvSpPr>
          <p:nvPr>
            <p:ph type="sldNum" sz="quarter" idx="12"/>
          </p:nvPr>
        </p:nvSpPr>
        <p:spPr/>
        <p:txBody>
          <a:bodyPr/>
          <a:lstStyle/>
          <a:p>
            <a:fld id="{8D4D1E41-7A09-AB4A-A4E1-09765ADA2698}" type="slidenum">
              <a:rPr kumimoji="1" lang="zh-CN" altLang="en-US" smtClean="0"/>
              <a:t>2</a:t>
            </a:fld>
            <a:endParaRPr kumimoji="1" lang="zh-CN" altLang="en-US" dirty="0"/>
          </a:p>
        </p:txBody>
      </p:sp>
    </p:spTree>
    <p:extLst>
      <p:ext uri="{BB962C8B-B14F-4D97-AF65-F5344CB8AC3E}">
        <p14:creationId xmlns:p14="http://schemas.microsoft.com/office/powerpoint/2010/main" val="4623728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问题与挑战</a:t>
            </a:r>
            <a:endParaRPr lang="en-US" altLang="zh-CN" dirty="0"/>
          </a:p>
        </p:txBody>
      </p:sp>
      <p:sp>
        <p:nvSpPr>
          <p:cNvPr id="3" name="内容占位符 2"/>
          <p:cNvSpPr>
            <a:spLocks noGrp="1"/>
          </p:cNvSpPr>
          <p:nvPr>
            <p:ph idx="1"/>
          </p:nvPr>
        </p:nvSpPr>
        <p:spPr>
          <a:xfrm>
            <a:off x="838200" y="1510758"/>
            <a:ext cx="9888940" cy="4845592"/>
          </a:xfrm>
        </p:spPr>
        <p:txBody>
          <a:bodyPr>
            <a:normAutofit fontScale="92500" lnSpcReduction="20000"/>
          </a:bodyPr>
          <a:lstStyle/>
          <a:p>
            <a:pPr fontAlgn="auto">
              <a:lnSpc>
                <a:spcPct val="130000"/>
              </a:lnSpc>
            </a:pPr>
            <a:r>
              <a:rPr lang="zh-CN" altLang="en-US" dirty="0"/>
              <a:t>问题</a:t>
            </a:r>
          </a:p>
          <a:p>
            <a:pPr lvl="1">
              <a:lnSpc>
                <a:spcPct val="130000"/>
              </a:lnSpc>
            </a:pPr>
            <a:r>
              <a:rPr lang="zh-CN" altLang="en-US" dirty="0"/>
              <a:t>节点之间的网络通信是不可靠的</a:t>
            </a:r>
            <a:endParaRPr lang="en-US" altLang="zh-CN" dirty="0"/>
          </a:p>
          <a:p>
            <a:pPr lvl="1">
              <a:lnSpc>
                <a:spcPct val="130000"/>
              </a:lnSpc>
            </a:pPr>
            <a:r>
              <a:rPr lang="zh-CN" altLang="en-US" dirty="0"/>
              <a:t>节点的处理时间无法保障</a:t>
            </a:r>
            <a:endParaRPr lang="en-US" altLang="zh-CN" dirty="0"/>
          </a:p>
          <a:p>
            <a:pPr lvl="1">
              <a:lnSpc>
                <a:spcPct val="130000"/>
              </a:lnSpc>
            </a:pPr>
            <a:r>
              <a:rPr lang="zh-CN" altLang="en-US" dirty="0"/>
              <a:t>节点可以是恶意的</a:t>
            </a:r>
            <a:endParaRPr lang="en-US" altLang="zh-CN" dirty="0"/>
          </a:p>
          <a:p>
            <a:pPr lvl="1">
              <a:lnSpc>
                <a:spcPct val="130000"/>
              </a:lnSpc>
            </a:pPr>
            <a:r>
              <a:rPr lang="zh-CN" altLang="en-US" dirty="0"/>
              <a:t>同步调用可以简化设计，但会严重降低分布式系统的可扩展性</a:t>
            </a:r>
            <a:endParaRPr lang="en-US" altLang="zh-CN" dirty="0"/>
          </a:p>
          <a:p>
            <a:pPr lvl="0">
              <a:lnSpc>
                <a:spcPct val="130000"/>
              </a:lnSpc>
            </a:pPr>
            <a:r>
              <a:rPr lang="zh-CN" altLang="en-US" dirty="0">
                <a:solidFill>
                  <a:prstClr val="black"/>
                </a:solidFill>
              </a:rPr>
              <a:t>可能的解决方案</a:t>
            </a:r>
          </a:p>
          <a:p>
            <a:pPr lvl="1">
              <a:lnSpc>
                <a:spcPct val="130000"/>
              </a:lnSpc>
            </a:pPr>
            <a:r>
              <a:rPr lang="zh-CN" altLang="en-US" dirty="0">
                <a:solidFill>
                  <a:prstClr val="black"/>
                </a:solidFill>
              </a:rPr>
              <a:t>通过同步调用的方法来避免冲突</a:t>
            </a:r>
            <a:endParaRPr lang="en-US" altLang="zh-CN" dirty="0">
              <a:solidFill>
                <a:prstClr val="black"/>
              </a:solidFill>
            </a:endParaRPr>
          </a:p>
          <a:p>
            <a:pPr lvl="1">
              <a:lnSpc>
                <a:spcPct val="130000"/>
              </a:lnSpc>
            </a:pPr>
            <a:r>
              <a:rPr lang="zh-CN" altLang="en-US" dirty="0">
                <a:solidFill>
                  <a:prstClr val="black"/>
                </a:solidFill>
              </a:rPr>
              <a:t>节点提前约好某段时间交易执行顺序的决定权</a:t>
            </a:r>
            <a:endParaRPr lang="en-US" altLang="zh-CN" dirty="0">
              <a:solidFill>
                <a:prstClr val="black"/>
              </a:solidFill>
            </a:endParaRPr>
          </a:p>
          <a:p>
            <a:pPr lvl="1">
              <a:lnSpc>
                <a:spcPct val="130000"/>
              </a:lnSpc>
            </a:pPr>
            <a:r>
              <a:rPr lang="zh-CN" altLang="en-US" dirty="0">
                <a:solidFill>
                  <a:prstClr val="black"/>
                </a:solidFill>
              </a:rPr>
              <a:t>第三方的机构，专门负责处理交易的执行顺序</a:t>
            </a:r>
            <a:endParaRPr lang="en-US" altLang="zh-CN" dirty="0">
              <a:solidFill>
                <a:prstClr val="black"/>
              </a:solidFill>
            </a:endParaRPr>
          </a:p>
          <a:p>
            <a:pPr lvl="1">
              <a:lnSpc>
                <a:spcPct val="130000"/>
              </a:lnSpc>
            </a:pPr>
            <a:r>
              <a:rPr lang="en-US" altLang="zh-CN" dirty="0">
                <a:solidFill>
                  <a:prstClr val="black"/>
                </a:solidFill>
              </a:rPr>
              <a:t>…</a:t>
            </a:r>
          </a:p>
        </p:txBody>
      </p:sp>
      <p:sp>
        <p:nvSpPr>
          <p:cNvPr id="7" name="灯片编号占位符 6">
            <a:extLst>
              <a:ext uri="{FF2B5EF4-FFF2-40B4-BE49-F238E27FC236}">
                <a16:creationId xmlns:a16="http://schemas.microsoft.com/office/drawing/2014/main" id="{97E080B7-C088-8B4E-B8CF-3281335EB402}"/>
              </a:ext>
            </a:extLst>
          </p:cNvPr>
          <p:cNvSpPr>
            <a:spLocks noGrp="1"/>
          </p:cNvSpPr>
          <p:nvPr>
            <p:ph type="sldNum" sz="quarter" idx="12"/>
          </p:nvPr>
        </p:nvSpPr>
        <p:spPr/>
        <p:txBody>
          <a:bodyPr/>
          <a:lstStyle/>
          <a:p>
            <a:fld id="{8D4D1E41-7A09-AB4A-A4E1-09765ADA2698}" type="slidenum">
              <a:rPr kumimoji="1" lang="zh-CN" altLang="en-US" smtClean="0"/>
              <a:t>3</a:t>
            </a:fld>
            <a:endParaRPr kumimoji="1" lang="zh-CN" altLang="en-US" dirty="0"/>
          </a:p>
        </p:txBody>
      </p:sp>
    </p:spTree>
    <p:extLst>
      <p:ext uri="{BB962C8B-B14F-4D97-AF65-F5344CB8AC3E}">
        <p14:creationId xmlns:p14="http://schemas.microsoft.com/office/powerpoint/2010/main" val="38741994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一致性要求</a:t>
            </a:r>
            <a:endParaRPr lang="en-US" altLang="zh-CN" dirty="0"/>
          </a:p>
        </p:txBody>
      </p:sp>
      <p:sp>
        <p:nvSpPr>
          <p:cNvPr id="3" name="内容占位符 2"/>
          <p:cNvSpPr>
            <a:spLocks noGrp="1"/>
          </p:cNvSpPr>
          <p:nvPr>
            <p:ph idx="1"/>
          </p:nvPr>
        </p:nvSpPr>
        <p:spPr>
          <a:xfrm>
            <a:off x="838200" y="1510758"/>
            <a:ext cx="9888940" cy="4845592"/>
          </a:xfrm>
        </p:spPr>
        <p:txBody>
          <a:bodyPr>
            <a:normAutofit/>
          </a:bodyPr>
          <a:lstStyle/>
          <a:p>
            <a:pPr fontAlgn="auto">
              <a:lnSpc>
                <a:spcPct val="130000"/>
              </a:lnSpc>
            </a:pPr>
            <a:r>
              <a:rPr lang="zh-CN" altLang="en-US" dirty="0"/>
              <a:t>分布式系统达成一致性的过程，应该满足</a:t>
            </a:r>
          </a:p>
          <a:p>
            <a:pPr lvl="1">
              <a:lnSpc>
                <a:spcPct val="130000"/>
              </a:lnSpc>
            </a:pPr>
            <a:r>
              <a:rPr lang="zh-CN" altLang="en-US" dirty="0">
                <a:solidFill>
                  <a:prstClr val="black"/>
                </a:solidFill>
              </a:rPr>
              <a:t>可终止性（</a:t>
            </a:r>
            <a:r>
              <a:rPr lang="en-US" altLang="zh-CN" dirty="0">
                <a:solidFill>
                  <a:prstClr val="black"/>
                </a:solidFill>
              </a:rPr>
              <a:t>termination</a:t>
            </a:r>
            <a:r>
              <a:rPr lang="zh-CN" altLang="en-US" dirty="0">
                <a:solidFill>
                  <a:prstClr val="black"/>
                </a:solidFill>
              </a:rPr>
              <a:t>）：一致性的结果在有限时间内能完成</a:t>
            </a:r>
            <a:endParaRPr lang="en-US" altLang="zh-CN" dirty="0">
              <a:solidFill>
                <a:prstClr val="black"/>
              </a:solidFill>
            </a:endParaRPr>
          </a:p>
          <a:p>
            <a:pPr lvl="1">
              <a:lnSpc>
                <a:spcPct val="130000"/>
              </a:lnSpc>
            </a:pPr>
            <a:r>
              <a:rPr lang="zh-CN" altLang="en-US" dirty="0">
                <a:solidFill>
                  <a:prstClr val="black"/>
                </a:solidFill>
              </a:rPr>
              <a:t>约同性（</a:t>
            </a:r>
            <a:r>
              <a:rPr lang="en-US" altLang="zh-CN" dirty="0">
                <a:solidFill>
                  <a:prstClr val="black"/>
                </a:solidFill>
              </a:rPr>
              <a:t>agreement</a:t>
            </a:r>
            <a:r>
              <a:rPr lang="zh-CN" altLang="en-US" dirty="0">
                <a:solidFill>
                  <a:prstClr val="black"/>
                </a:solidFill>
              </a:rPr>
              <a:t>）：不同节点最终完成决策的结果是相同的</a:t>
            </a:r>
            <a:endParaRPr lang="en-US" altLang="zh-CN" dirty="0">
              <a:solidFill>
                <a:prstClr val="black"/>
              </a:solidFill>
            </a:endParaRPr>
          </a:p>
          <a:p>
            <a:pPr lvl="1">
              <a:lnSpc>
                <a:spcPct val="130000"/>
              </a:lnSpc>
            </a:pPr>
            <a:r>
              <a:rPr lang="zh-CN" altLang="en-US" dirty="0">
                <a:solidFill>
                  <a:prstClr val="black"/>
                </a:solidFill>
              </a:rPr>
              <a:t>合法性（</a:t>
            </a:r>
            <a:r>
              <a:rPr lang="en-US" altLang="zh-CN" dirty="0">
                <a:solidFill>
                  <a:prstClr val="black"/>
                </a:solidFill>
              </a:rPr>
              <a:t>validity</a:t>
            </a:r>
            <a:r>
              <a:rPr lang="zh-CN" altLang="en-US" dirty="0">
                <a:solidFill>
                  <a:prstClr val="black"/>
                </a:solidFill>
              </a:rPr>
              <a:t>）：决策的结果必须是某个节点提出的提案</a:t>
            </a:r>
            <a:endParaRPr lang="en-US" altLang="zh-CN" dirty="0">
              <a:solidFill>
                <a:prstClr val="black"/>
              </a:solidFill>
            </a:endParaRPr>
          </a:p>
          <a:p>
            <a:pPr lvl="0">
              <a:lnSpc>
                <a:spcPct val="130000"/>
              </a:lnSpc>
            </a:pPr>
            <a:r>
              <a:rPr lang="zh-CN" altLang="en-US" dirty="0">
                <a:solidFill>
                  <a:prstClr val="black"/>
                </a:solidFill>
              </a:rPr>
              <a:t>对应着三个分布式系统的要求</a:t>
            </a:r>
          </a:p>
          <a:p>
            <a:pPr lvl="1">
              <a:lnSpc>
                <a:spcPct val="130000"/>
              </a:lnSpc>
            </a:pPr>
            <a:r>
              <a:rPr lang="zh-CN" altLang="en-US" dirty="0">
                <a:solidFill>
                  <a:prstClr val="black"/>
                </a:solidFill>
              </a:rPr>
              <a:t>活性（</a:t>
            </a:r>
            <a:r>
              <a:rPr lang="en-US" altLang="zh-CN" dirty="0">
                <a:solidFill>
                  <a:prstClr val="black"/>
                </a:solidFill>
              </a:rPr>
              <a:t>liveness</a:t>
            </a:r>
            <a:r>
              <a:rPr lang="zh-CN" altLang="en-US" dirty="0">
                <a:solidFill>
                  <a:prstClr val="black"/>
                </a:solidFill>
              </a:rPr>
              <a:t>）：系统的可用性</a:t>
            </a:r>
            <a:endParaRPr lang="en-US" altLang="zh-CN" dirty="0">
              <a:solidFill>
                <a:prstClr val="black"/>
              </a:solidFill>
            </a:endParaRPr>
          </a:p>
          <a:p>
            <a:pPr lvl="1">
              <a:lnSpc>
                <a:spcPct val="130000"/>
              </a:lnSpc>
            </a:pPr>
            <a:r>
              <a:rPr lang="zh-CN" altLang="en-US" dirty="0">
                <a:solidFill>
                  <a:prstClr val="black"/>
                </a:solidFill>
              </a:rPr>
              <a:t>安全性（</a:t>
            </a:r>
            <a:r>
              <a:rPr lang="en-US" altLang="zh-CN" dirty="0">
                <a:solidFill>
                  <a:prstClr val="black"/>
                </a:solidFill>
              </a:rPr>
              <a:t>safety</a:t>
            </a:r>
            <a:r>
              <a:rPr lang="zh-CN" altLang="en-US" dirty="0">
                <a:solidFill>
                  <a:prstClr val="black"/>
                </a:solidFill>
              </a:rPr>
              <a:t>）：任何给出的结果必定是达成共识的</a:t>
            </a:r>
            <a:endParaRPr lang="en-US" altLang="zh-CN" dirty="0">
              <a:solidFill>
                <a:prstClr val="black"/>
              </a:solidFill>
            </a:endParaRPr>
          </a:p>
          <a:p>
            <a:pPr lvl="1">
              <a:lnSpc>
                <a:spcPct val="130000"/>
              </a:lnSpc>
            </a:pPr>
            <a:r>
              <a:rPr lang="zh-CN" altLang="en-US" dirty="0">
                <a:solidFill>
                  <a:prstClr val="black"/>
                </a:solidFill>
              </a:rPr>
              <a:t>正确性（</a:t>
            </a:r>
            <a:r>
              <a:rPr lang="en-US" altLang="zh-CN" dirty="0">
                <a:solidFill>
                  <a:prstClr val="black"/>
                </a:solidFill>
              </a:rPr>
              <a:t>correctness</a:t>
            </a:r>
            <a:r>
              <a:rPr lang="zh-CN" altLang="en-US" dirty="0">
                <a:solidFill>
                  <a:prstClr val="black"/>
                </a:solidFill>
              </a:rPr>
              <a:t>）：正确性的共识机制</a:t>
            </a:r>
            <a:endParaRPr lang="en-US" altLang="zh-CN" dirty="0">
              <a:solidFill>
                <a:prstClr val="black"/>
              </a:solidFill>
            </a:endParaRPr>
          </a:p>
        </p:txBody>
      </p:sp>
      <p:sp>
        <p:nvSpPr>
          <p:cNvPr id="7" name="灯片编号占位符 6">
            <a:extLst>
              <a:ext uri="{FF2B5EF4-FFF2-40B4-BE49-F238E27FC236}">
                <a16:creationId xmlns:a16="http://schemas.microsoft.com/office/drawing/2014/main" id="{97E080B7-C088-8B4E-B8CF-3281335EB402}"/>
              </a:ext>
            </a:extLst>
          </p:cNvPr>
          <p:cNvSpPr>
            <a:spLocks noGrp="1"/>
          </p:cNvSpPr>
          <p:nvPr>
            <p:ph type="sldNum" sz="quarter" idx="12"/>
          </p:nvPr>
        </p:nvSpPr>
        <p:spPr/>
        <p:txBody>
          <a:bodyPr/>
          <a:lstStyle/>
          <a:p>
            <a:fld id="{8D4D1E41-7A09-AB4A-A4E1-09765ADA2698}" type="slidenum">
              <a:rPr kumimoji="1" lang="zh-CN" altLang="en-US" smtClean="0"/>
              <a:t>4</a:t>
            </a:fld>
            <a:endParaRPr kumimoji="1" lang="zh-CN" altLang="en-US" dirty="0"/>
          </a:p>
        </p:txBody>
      </p:sp>
    </p:spTree>
    <p:extLst>
      <p:ext uri="{BB962C8B-B14F-4D97-AF65-F5344CB8AC3E}">
        <p14:creationId xmlns:p14="http://schemas.microsoft.com/office/powerpoint/2010/main" val="18336552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不同的一致性要求</a:t>
            </a:r>
            <a:endParaRPr lang="en-US" altLang="zh-CN" dirty="0"/>
          </a:p>
        </p:txBody>
      </p:sp>
      <p:sp>
        <p:nvSpPr>
          <p:cNvPr id="3" name="内容占位符 2"/>
          <p:cNvSpPr>
            <a:spLocks noGrp="1"/>
          </p:cNvSpPr>
          <p:nvPr>
            <p:ph idx="1"/>
          </p:nvPr>
        </p:nvSpPr>
        <p:spPr>
          <a:xfrm>
            <a:off x="838200" y="1510758"/>
            <a:ext cx="9888940" cy="4845592"/>
          </a:xfrm>
        </p:spPr>
        <p:txBody>
          <a:bodyPr>
            <a:normAutofit/>
          </a:bodyPr>
          <a:lstStyle/>
          <a:p>
            <a:pPr fontAlgn="auto">
              <a:lnSpc>
                <a:spcPct val="130000"/>
              </a:lnSpc>
            </a:pPr>
            <a:r>
              <a:rPr lang="zh-CN" altLang="en-US" dirty="0"/>
              <a:t>线性一致性（</a:t>
            </a:r>
            <a:r>
              <a:rPr lang="en-US" altLang="zh-CN" dirty="0" err="1"/>
              <a:t>linearizability</a:t>
            </a:r>
            <a:r>
              <a:rPr lang="en-US" altLang="zh-CN" dirty="0"/>
              <a:t> consistency</a:t>
            </a:r>
            <a:r>
              <a:rPr lang="zh-CN" altLang="en-US" dirty="0"/>
              <a:t>）的要求</a:t>
            </a:r>
          </a:p>
          <a:p>
            <a:pPr lvl="1">
              <a:lnSpc>
                <a:spcPct val="130000"/>
              </a:lnSpc>
            </a:pPr>
            <a:r>
              <a:rPr lang="zh-CN" altLang="en-US" dirty="0">
                <a:solidFill>
                  <a:prstClr val="black"/>
                </a:solidFill>
              </a:rPr>
              <a:t>任何一次读都能读到某个数据的最近一次写的数据</a:t>
            </a:r>
            <a:endParaRPr lang="en-US" altLang="zh-CN" dirty="0">
              <a:solidFill>
                <a:prstClr val="black"/>
              </a:solidFill>
            </a:endParaRPr>
          </a:p>
          <a:p>
            <a:pPr lvl="1">
              <a:lnSpc>
                <a:spcPct val="130000"/>
              </a:lnSpc>
            </a:pPr>
            <a:r>
              <a:rPr lang="zh-CN" altLang="en-US" dirty="0">
                <a:solidFill>
                  <a:prstClr val="black"/>
                </a:solidFill>
              </a:rPr>
              <a:t>系统中的所有进程看到的操作顺序，都和全局时钟下的顺序一致</a:t>
            </a:r>
            <a:endParaRPr lang="en-US" altLang="zh-CN" dirty="0">
              <a:solidFill>
                <a:prstClr val="black"/>
              </a:solidFill>
            </a:endParaRPr>
          </a:p>
          <a:p>
            <a:pPr lvl="0">
              <a:lnSpc>
                <a:spcPct val="130000"/>
              </a:lnSpc>
            </a:pPr>
            <a:r>
              <a:rPr lang="zh-CN" altLang="en-US" dirty="0">
                <a:solidFill>
                  <a:prstClr val="black"/>
                </a:solidFill>
              </a:rPr>
              <a:t>顺序一致性（</a:t>
            </a:r>
            <a:r>
              <a:rPr lang="en-US" altLang="zh-CN" dirty="0">
                <a:solidFill>
                  <a:prstClr val="black"/>
                </a:solidFill>
              </a:rPr>
              <a:t>sequential consistency</a:t>
            </a:r>
            <a:r>
              <a:rPr lang="zh-CN" altLang="en-US" dirty="0">
                <a:solidFill>
                  <a:prstClr val="black"/>
                </a:solidFill>
              </a:rPr>
              <a:t>）的要求</a:t>
            </a:r>
          </a:p>
          <a:p>
            <a:pPr lvl="1">
              <a:lnSpc>
                <a:spcPct val="130000"/>
              </a:lnSpc>
            </a:pPr>
            <a:r>
              <a:rPr lang="zh-CN" altLang="en-US" dirty="0">
                <a:solidFill>
                  <a:prstClr val="black"/>
                </a:solidFill>
              </a:rPr>
              <a:t>任何一次读都能读到某个数据的最近一次写的数据</a:t>
            </a:r>
            <a:endParaRPr lang="en-US" altLang="zh-CN" dirty="0">
              <a:solidFill>
                <a:prstClr val="black"/>
              </a:solidFill>
            </a:endParaRPr>
          </a:p>
          <a:p>
            <a:pPr lvl="1">
              <a:lnSpc>
                <a:spcPct val="130000"/>
              </a:lnSpc>
            </a:pPr>
            <a:r>
              <a:rPr lang="zh-CN" altLang="en-US" dirty="0">
                <a:solidFill>
                  <a:prstClr val="black"/>
                </a:solidFill>
              </a:rPr>
              <a:t>系统中的所有进程看到的操作顺序一致，而且是合理的。即不需要和全局时钟下的顺序一致</a:t>
            </a:r>
            <a:endParaRPr lang="en-US" altLang="zh-CN" dirty="0">
              <a:solidFill>
                <a:prstClr val="black"/>
              </a:solidFill>
            </a:endParaRPr>
          </a:p>
          <a:p>
            <a:pPr lvl="0">
              <a:lnSpc>
                <a:spcPct val="130000"/>
              </a:lnSpc>
            </a:pPr>
            <a:r>
              <a:rPr lang="zh-CN" altLang="en-US" dirty="0">
                <a:solidFill>
                  <a:prstClr val="black"/>
                </a:solidFill>
              </a:rPr>
              <a:t>弱一致性</a:t>
            </a:r>
          </a:p>
        </p:txBody>
      </p:sp>
      <p:sp>
        <p:nvSpPr>
          <p:cNvPr id="7" name="灯片编号占位符 6">
            <a:extLst>
              <a:ext uri="{FF2B5EF4-FFF2-40B4-BE49-F238E27FC236}">
                <a16:creationId xmlns:a16="http://schemas.microsoft.com/office/drawing/2014/main" id="{97E080B7-C088-8B4E-B8CF-3281335EB402}"/>
              </a:ext>
            </a:extLst>
          </p:cNvPr>
          <p:cNvSpPr>
            <a:spLocks noGrp="1"/>
          </p:cNvSpPr>
          <p:nvPr>
            <p:ph type="sldNum" sz="quarter" idx="12"/>
          </p:nvPr>
        </p:nvSpPr>
        <p:spPr/>
        <p:txBody>
          <a:bodyPr/>
          <a:lstStyle/>
          <a:p>
            <a:fld id="{8D4D1E41-7A09-AB4A-A4E1-09765ADA2698}" type="slidenum">
              <a:rPr kumimoji="1" lang="zh-CN" altLang="en-US" smtClean="0"/>
              <a:t>5</a:t>
            </a:fld>
            <a:endParaRPr kumimoji="1" lang="zh-CN" altLang="en-US" dirty="0"/>
          </a:p>
        </p:txBody>
      </p:sp>
    </p:spTree>
    <p:extLst>
      <p:ext uri="{BB962C8B-B14F-4D97-AF65-F5344CB8AC3E}">
        <p14:creationId xmlns:p14="http://schemas.microsoft.com/office/powerpoint/2010/main" val="10137536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不同的一致性要求</a:t>
            </a:r>
            <a:endParaRPr lang="en-US" altLang="zh-CN" dirty="0"/>
          </a:p>
        </p:txBody>
      </p:sp>
      <p:sp>
        <p:nvSpPr>
          <p:cNvPr id="3" name="内容占位符 2"/>
          <p:cNvSpPr>
            <a:spLocks noGrp="1"/>
          </p:cNvSpPr>
          <p:nvPr>
            <p:ph idx="1"/>
          </p:nvPr>
        </p:nvSpPr>
        <p:spPr>
          <a:xfrm>
            <a:off x="838200" y="1510758"/>
            <a:ext cx="5953125" cy="4845592"/>
          </a:xfrm>
        </p:spPr>
        <p:txBody>
          <a:bodyPr>
            <a:normAutofit fontScale="85000" lnSpcReduction="20000"/>
          </a:bodyPr>
          <a:lstStyle/>
          <a:p>
            <a:pPr fontAlgn="auto">
              <a:lnSpc>
                <a:spcPct val="130000"/>
              </a:lnSpc>
            </a:pPr>
            <a:r>
              <a:rPr lang="zh-CN" altLang="en-US" dirty="0"/>
              <a:t>线性一致性（</a:t>
            </a:r>
            <a:r>
              <a:rPr lang="en-US" altLang="zh-CN" dirty="0" err="1"/>
              <a:t>linearizability</a:t>
            </a:r>
            <a:r>
              <a:rPr lang="en-US" altLang="zh-CN" dirty="0"/>
              <a:t> consistency</a:t>
            </a:r>
            <a:r>
              <a:rPr lang="zh-CN" altLang="en-US" dirty="0"/>
              <a:t>）的要求</a:t>
            </a:r>
          </a:p>
          <a:p>
            <a:pPr lvl="1">
              <a:lnSpc>
                <a:spcPct val="130000"/>
              </a:lnSpc>
            </a:pPr>
            <a:r>
              <a:rPr lang="zh-CN" altLang="en-US" dirty="0">
                <a:solidFill>
                  <a:prstClr val="black"/>
                </a:solidFill>
              </a:rPr>
              <a:t>任何一次读都能读到某个数据的最近一次写的数据</a:t>
            </a:r>
            <a:endParaRPr lang="en-US" altLang="zh-CN" dirty="0">
              <a:solidFill>
                <a:prstClr val="black"/>
              </a:solidFill>
            </a:endParaRPr>
          </a:p>
          <a:p>
            <a:pPr lvl="1">
              <a:lnSpc>
                <a:spcPct val="130000"/>
              </a:lnSpc>
            </a:pPr>
            <a:r>
              <a:rPr lang="zh-CN" altLang="en-US" dirty="0">
                <a:solidFill>
                  <a:prstClr val="black"/>
                </a:solidFill>
              </a:rPr>
              <a:t>系统中的所有进程看到的操作顺序，都和全局时钟下的顺序一致</a:t>
            </a:r>
            <a:endParaRPr lang="en-US" altLang="zh-CN" dirty="0">
              <a:solidFill>
                <a:prstClr val="black"/>
              </a:solidFill>
            </a:endParaRPr>
          </a:p>
          <a:p>
            <a:pPr lvl="0">
              <a:lnSpc>
                <a:spcPct val="130000"/>
              </a:lnSpc>
            </a:pPr>
            <a:r>
              <a:rPr lang="zh-CN" altLang="en-US" dirty="0">
                <a:solidFill>
                  <a:prstClr val="black"/>
                </a:solidFill>
              </a:rPr>
              <a:t>顺序一致性（</a:t>
            </a:r>
            <a:r>
              <a:rPr lang="en-US" altLang="zh-CN" dirty="0">
                <a:solidFill>
                  <a:prstClr val="black"/>
                </a:solidFill>
              </a:rPr>
              <a:t>sequential consistency</a:t>
            </a:r>
            <a:r>
              <a:rPr lang="zh-CN" altLang="en-US" dirty="0">
                <a:solidFill>
                  <a:prstClr val="black"/>
                </a:solidFill>
              </a:rPr>
              <a:t>）的要求</a:t>
            </a:r>
          </a:p>
          <a:p>
            <a:pPr lvl="1">
              <a:lnSpc>
                <a:spcPct val="130000"/>
              </a:lnSpc>
            </a:pPr>
            <a:r>
              <a:rPr lang="zh-CN" altLang="en-US" dirty="0">
                <a:solidFill>
                  <a:prstClr val="black"/>
                </a:solidFill>
              </a:rPr>
              <a:t>任何一次读都能读到某个数据的最近一次写的数据</a:t>
            </a:r>
            <a:endParaRPr lang="en-US" altLang="zh-CN" dirty="0">
              <a:solidFill>
                <a:prstClr val="black"/>
              </a:solidFill>
            </a:endParaRPr>
          </a:p>
          <a:p>
            <a:pPr lvl="1">
              <a:lnSpc>
                <a:spcPct val="130000"/>
              </a:lnSpc>
            </a:pPr>
            <a:r>
              <a:rPr lang="zh-CN" altLang="en-US" dirty="0">
                <a:solidFill>
                  <a:prstClr val="black"/>
                </a:solidFill>
              </a:rPr>
              <a:t>系统中的所有进程看到的操作顺序一致，而且是合理的。即不需要和全局时钟下的顺序一致</a:t>
            </a:r>
            <a:endParaRPr lang="en-US" altLang="zh-CN" dirty="0">
              <a:solidFill>
                <a:prstClr val="black"/>
              </a:solidFill>
            </a:endParaRPr>
          </a:p>
        </p:txBody>
      </p:sp>
      <p:sp>
        <p:nvSpPr>
          <p:cNvPr id="7" name="灯片编号占位符 6">
            <a:extLst>
              <a:ext uri="{FF2B5EF4-FFF2-40B4-BE49-F238E27FC236}">
                <a16:creationId xmlns:a16="http://schemas.microsoft.com/office/drawing/2014/main" id="{97E080B7-C088-8B4E-B8CF-3281335EB402}"/>
              </a:ext>
            </a:extLst>
          </p:cNvPr>
          <p:cNvSpPr>
            <a:spLocks noGrp="1"/>
          </p:cNvSpPr>
          <p:nvPr>
            <p:ph type="sldNum" sz="quarter" idx="12"/>
          </p:nvPr>
        </p:nvSpPr>
        <p:spPr/>
        <p:txBody>
          <a:bodyPr/>
          <a:lstStyle/>
          <a:p>
            <a:fld id="{8D4D1E41-7A09-AB4A-A4E1-09765ADA2698}" type="slidenum">
              <a:rPr kumimoji="1" lang="zh-CN" altLang="en-US" smtClean="0"/>
              <a:t>6</a:t>
            </a:fld>
            <a:endParaRPr kumimoji="1" lang="zh-CN" altLang="en-US" dirty="0"/>
          </a:p>
        </p:txBody>
      </p:sp>
      <p:pic>
        <p:nvPicPr>
          <p:cNvPr id="5" name="图片 4"/>
          <p:cNvPicPr/>
          <p:nvPr/>
        </p:nvPicPr>
        <p:blipFill>
          <a:blip r:embed="rId3" cstate="print">
            <a:extLst>
              <a:ext uri="{28A0092B-C50C-407E-A947-70E740481C1C}">
                <a14:useLocalDpi xmlns:a14="http://schemas.microsoft.com/office/drawing/2010/main" val="0"/>
              </a:ext>
            </a:extLst>
          </a:blip>
          <a:srcRect t="1389" b="2037"/>
          <a:stretch>
            <a:fillRect/>
          </a:stretch>
        </p:blipFill>
        <p:spPr>
          <a:xfrm>
            <a:off x="6907009" y="2342832"/>
            <a:ext cx="4570615" cy="3524568"/>
          </a:xfrm>
          <a:prstGeom prst="rect">
            <a:avLst/>
          </a:prstGeom>
          <a:noFill/>
          <a:ln>
            <a:noFill/>
          </a:ln>
        </p:spPr>
      </p:pic>
    </p:spTree>
    <p:extLst>
      <p:ext uri="{BB962C8B-B14F-4D97-AF65-F5344CB8AC3E}">
        <p14:creationId xmlns:p14="http://schemas.microsoft.com/office/powerpoint/2010/main" val="42848392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不同的一致性要求</a:t>
            </a:r>
            <a:endParaRPr lang="en-US" altLang="zh-CN" dirty="0"/>
          </a:p>
        </p:txBody>
      </p:sp>
      <p:sp>
        <p:nvSpPr>
          <p:cNvPr id="3" name="内容占位符 2"/>
          <p:cNvSpPr>
            <a:spLocks noGrp="1"/>
          </p:cNvSpPr>
          <p:nvPr>
            <p:ph idx="1"/>
          </p:nvPr>
        </p:nvSpPr>
        <p:spPr>
          <a:xfrm>
            <a:off x="838200" y="1510758"/>
            <a:ext cx="5953125" cy="4845592"/>
          </a:xfrm>
        </p:spPr>
        <p:txBody>
          <a:bodyPr>
            <a:normAutofit fontScale="77500" lnSpcReduction="20000"/>
          </a:bodyPr>
          <a:lstStyle/>
          <a:p>
            <a:pPr fontAlgn="auto">
              <a:lnSpc>
                <a:spcPct val="130000"/>
              </a:lnSpc>
            </a:pPr>
            <a:r>
              <a:rPr lang="zh-CN" altLang="en-US" dirty="0"/>
              <a:t>最终一致性（</a:t>
            </a:r>
            <a:r>
              <a:rPr lang="en-US" altLang="zh-CN" dirty="0"/>
              <a:t>eventual consistency</a:t>
            </a:r>
            <a:r>
              <a:rPr lang="zh-CN" altLang="en-US" dirty="0"/>
              <a:t>）</a:t>
            </a:r>
          </a:p>
          <a:p>
            <a:pPr lvl="1">
              <a:lnSpc>
                <a:spcPct val="130000"/>
              </a:lnSpc>
            </a:pPr>
            <a:r>
              <a:rPr lang="zh-CN" altLang="en-US" dirty="0">
                <a:solidFill>
                  <a:prstClr val="black"/>
                </a:solidFill>
              </a:rPr>
              <a:t>放宽对一致性的要求，从而降低系统实现的难度以及复杂性，总会存在某一个时刻（而不是立刻），让系统达到一致的状态</a:t>
            </a:r>
            <a:endParaRPr lang="en-US" altLang="zh-CN" dirty="0">
              <a:solidFill>
                <a:prstClr val="black"/>
              </a:solidFill>
            </a:endParaRPr>
          </a:p>
          <a:p>
            <a:pPr lvl="0">
              <a:lnSpc>
                <a:spcPct val="130000"/>
              </a:lnSpc>
            </a:pPr>
            <a:r>
              <a:rPr lang="zh-CN" altLang="en-US" dirty="0">
                <a:solidFill>
                  <a:prstClr val="black"/>
                </a:solidFill>
              </a:rPr>
              <a:t>根据更新数据后各进程访问到数据的时间和方式的不同</a:t>
            </a:r>
          </a:p>
          <a:p>
            <a:pPr lvl="1">
              <a:lnSpc>
                <a:spcPct val="130000"/>
              </a:lnSpc>
            </a:pPr>
            <a:r>
              <a:rPr lang="zh-CN" altLang="en-US" dirty="0">
                <a:solidFill>
                  <a:prstClr val="black"/>
                </a:solidFill>
              </a:rPr>
              <a:t>因果一致性（</a:t>
            </a:r>
            <a:r>
              <a:rPr lang="en-US" altLang="zh-CN" dirty="0">
                <a:solidFill>
                  <a:prstClr val="black"/>
                </a:solidFill>
              </a:rPr>
              <a:t>casual consistency</a:t>
            </a:r>
            <a:r>
              <a:rPr lang="zh-CN" altLang="en-US" dirty="0">
                <a:solidFill>
                  <a:prstClr val="black"/>
                </a:solidFill>
              </a:rPr>
              <a:t>）</a:t>
            </a:r>
            <a:endParaRPr lang="en-US" altLang="zh-CN" dirty="0">
              <a:solidFill>
                <a:prstClr val="black"/>
              </a:solidFill>
            </a:endParaRPr>
          </a:p>
          <a:p>
            <a:pPr lvl="1">
              <a:lnSpc>
                <a:spcPct val="130000"/>
              </a:lnSpc>
            </a:pPr>
            <a:r>
              <a:rPr lang="zh-CN" altLang="en-US" dirty="0">
                <a:solidFill>
                  <a:prstClr val="black"/>
                </a:solidFill>
              </a:rPr>
              <a:t>读你所写（</a:t>
            </a:r>
            <a:r>
              <a:rPr lang="en-US" altLang="zh-CN" dirty="0">
                <a:solidFill>
                  <a:prstClr val="black"/>
                </a:solidFill>
              </a:rPr>
              <a:t>read-your-writes</a:t>
            </a:r>
            <a:r>
              <a:rPr lang="zh-CN" altLang="en-US" dirty="0">
                <a:solidFill>
                  <a:prstClr val="black"/>
                </a:solidFill>
              </a:rPr>
              <a:t>）</a:t>
            </a:r>
            <a:endParaRPr lang="en-US" altLang="zh-CN" dirty="0">
              <a:solidFill>
                <a:prstClr val="black"/>
              </a:solidFill>
            </a:endParaRPr>
          </a:p>
          <a:p>
            <a:pPr lvl="1">
              <a:lnSpc>
                <a:spcPct val="130000"/>
              </a:lnSpc>
            </a:pPr>
            <a:r>
              <a:rPr lang="zh-CN" altLang="en-US" dirty="0">
                <a:solidFill>
                  <a:prstClr val="black"/>
                </a:solidFill>
              </a:rPr>
              <a:t>会话一致性（</a:t>
            </a:r>
            <a:r>
              <a:rPr lang="en-US" altLang="zh-CN" dirty="0">
                <a:solidFill>
                  <a:prstClr val="black"/>
                </a:solidFill>
              </a:rPr>
              <a:t>session consistency</a:t>
            </a:r>
            <a:r>
              <a:rPr lang="zh-CN" altLang="en-US" dirty="0">
                <a:solidFill>
                  <a:prstClr val="black"/>
                </a:solidFill>
              </a:rPr>
              <a:t>）</a:t>
            </a:r>
            <a:endParaRPr lang="en-US" altLang="zh-CN" dirty="0">
              <a:solidFill>
                <a:prstClr val="black"/>
              </a:solidFill>
            </a:endParaRPr>
          </a:p>
          <a:p>
            <a:pPr lvl="1">
              <a:lnSpc>
                <a:spcPct val="130000"/>
              </a:lnSpc>
            </a:pPr>
            <a:r>
              <a:rPr lang="zh-CN" altLang="en-US" dirty="0">
                <a:solidFill>
                  <a:prstClr val="black"/>
                </a:solidFill>
              </a:rPr>
              <a:t>单调读一致性（</a:t>
            </a:r>
            <a:r>
              <a:rPr lang="en-US" altLang="zh-CN" dirty="0">
                <a:solidFill>
                  <a:prstClr val="black"/>
                </a:solidFill>
              </a:rPr>
              <a:t>monotonic read consistency</a:t>
            </a:r>
            <a:r>
              <a:rPr lang="zh-CN" altLang="en-US" dirty="0">
                <a:solidFill>
                  <a:prstClr val="black"/>
                </a:solidFill>
              </a:rPr>
              <a:t>）</a:t>
            </a:r>
            <a:endParaRPr lang="en-US" altLang="zh-CN" dirty="0">
              <a:solidFill>
                <a:prstClr val="black"/>
              </a:solidFill>
            </a:endParaRPr>
          </a:p>
          <a:p>
            <a:pPr lvl="1">
              <a:lnSpc>
                <a:spcPct val="130000"/>
              </a:lnSpc>
            </a:pPr>
            <a:r>
              <a:rPr lang="zh-CN" altLang="en-US" dirty="0">
                <a:solidFill>
                  <a:prstClr val="black"/>
                </a:solidFill>
              </a:rPr>
              <a:t>单调写一致性（</a:t>
            </a:r>
            <a:r>
              <a:rPr lang="en-US" altLang="zh-CN" dirty="0">
                <a:solidFill>
                  <a:prstClr val="black"/>
                </a:solidFill>
              </a:rPr>
              <a:t>monotonic write consistency</a:t>
            </a:r>
            <a:r>
              <a:rPr lang="zh-CN" altLang="en-US" dirty="0">
                <a:solidFill>
                  <a:prstClr val="black"/>
                </a:solidFill>
              </a:rPr>
              <a:t>）</a:t>
            </a:r>
            <a:endParaRPr lang="en-US" altLang="zh-CN" dirty="0">
              <a:solidFill>
                <a:prstClr val="black"/>
              </a:solidFill>
            </a:endParaRPr>
          </a:p>
        </p:txBody>
      </p:sp>
      <p:sp>
        <p:nvSpPr>
          <p:cNvPr id="7" name="灯片编号占位符 6">
            <a:extLst>
              <a:ext uri="{FF2B5EF4-FFF2-40B4-BE49-F238E27FC236}">
                <a16:creationId xmlns:a16="http://schemas.microsoft.com/office/drawing/2014/main" id="{97E080B7-C088-8B4E-B8CF-3281335EB402}"/>
              </a:ext>
            </a:extLst>
          </p:cNvPr>
          <p:cNvSpPr>
            <a:spLocks noGrp="1"/>
          </p:cNvSpPr>
          <p:nvPr>
            <p:ph type="sldNum" sz="quarter" idx="12"/>
          </p:nvPr>
        </p:nvSpPr>
        <p:spPr/>
        <p:txBody>
          <a:bodyPr/>
          <a:lstStyle/>
          <a:p>
            <a:fld id="{8D4D1E41-7A09-AB4A-A4E1-09765ADA2698}" type="slidenum">
              <a:rPr kumimoji="1" lang="zh-CN" altLang="en-US" smtClean="0"/>
              <a:t>7</a:t>
            </a:fld>
            <a:endParaRPr kumimoji="1" lang="zh-CN" altLang="en-US" dirty="0"/>
          </a:p>
        </p:txBody>
      </p:sp>
      <p:pic>
        <p:nvPicPr>
          <p:cNvPr id="6" name="图片 5"/>
          <p:cNvPicPr/>
          <p:nvPr/>
        </p:nvPicPr>
        <p:blipFill>
          <a:blip r:embed="rId3" cstate="print">
            <a:extLst>
              <a:ext uri="{28A0092B-C50C-407E-A947-70E740481C1C}">
                <a14:useLocalDpi xmlns:a14="http://schemas.microsoft.com/office/drawing/2010/main" val="0"/>
              </a:ext>
            </a:extLst>
          </a:blip>
          <a:srcRect t="946" b="1462"/>
          <a:stretch>
            <a:fillRect/>
          </a:stretch>
        </p:blipFill>
        <p:spPr>
          <a:xfrm>
            <a:off x="6791325" y="2450829"/>
            <a:ext cx="4767580" cy="2044971"/>
          </a:xfrm>
          <a:prstGeom prst="rect">
            <a:avLst/>
          </a:prstGeom>
          <a:noFill/>
          <a:ln>
            <a:noFill/>
          </a:ln>
        </p:spPr>
      </p:pic>
    </p:spTree>
    <p:extLst>
      <p:ext uri="{BB962C8B-B14F-4D97-AF65-F5344CB8AC3E}">
        <p14:creationId xmlns:p14="http://schemas.microsoft.com/office/powerpoint/2010/main" val="10101985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09B8FE-3A08-AB44-8FD5-4884CABBBF45}"/>
              </a:ext>
            </a:extLst>
          </p:cNvPr>
          <p:cNvSpPr>
            <a:spLocks noGrp="1"/>
          </p:cNvSpPr>
          <p:nvPr>
            <p:ph type="title"/>
          </p:nvPr>
        </p:nvSpPr>
        <p:spPr/>
        <p:txBody>
          <a:bodyPr/>
          <a:lstStyle/>
          <a:p>
            <a:r>
              <a:rPr kumimoji="1" lang="zh-CN" altLang="en-US" dirty="0"/>
              <a:t>本章内容</a:t>
            </a:r>
          </a:p>
        </p:txBody>
      </p:sp>
      <p:sp>
        <p:nvSpPr>
          <p:cNvPr id="5" name="内容占位符 4">
            <a:extLst>
              <a:ext uri="{FF2B5EF4-FFF2-40B4-BE49-F238E27FC236}">
                <a16:creationId xmlns:a16="http://schemas.microsoft.com/office/drawing/2014/main" id="{EAE97F77-16B3-2043-B14E-0B774467C142}"/>
              </a:ext>
            </a:extLst>
          </p:cNvPr>
          <p:cNvSpPr>
            <a:spLocks noGrp="1"/>
          </p:cNvSpPr>
          <p:nvPr>
            <p:ph idx="1"/>
          </p:nvPr>
        </p:nvSpPr>
        <p:spPr>
          <a:xfrm>
            <a:off x="1307508" y="1409610"/>
            <a:ext cx="10515600" cy="4982116"/>
          </a:xfrm>
        </p:spPr>
        <p:txBody>
          <a:bodyPr>
            <a:normAutofit/>
          </a:bodyPr>
          <a:lstStyle/>
          <a:p>
            <a:pPr marL="0" indent="0">
              <a:lnSpc>
                <a:spcPct val="130000"/>
              </a:lnSpc>
              <a:buNone/>
            </a:pPr>
            <a:r>
              <a:rPr kumimoji="1" lang="en-US" altLang="zh-CN" dirty="0"/>
              <a:t>5.1 </a:t>
            </a:r>
            <a:r>
              <a:rPr kumimoji="1" lang="zh-CN" altLang="en-US" dirty="0"/>
              <a:t>一致性问题</a:t>
            </a:r>
            <a:endParaRPr kumimoji="1" lang="en-US" altLang="zh-CN" dirty="0"/>
          </a:p>
          <a:p>
            <a:pPr marL="0" indent="0">
              <a:lnSpc>
                <a:spcPct val="130000"/>
              </a:lnSpc>
              <a:buNone/>
            </a:pPr>
            <a:r>
              <a:rPr kumimoji="1" lang="en-US" altLang="zh-CN" dirty="0">
                <a:solidFill>
                  <a:srgbClr val="C00000"/>
                </a:solidFill>
              </a:rPr>
              <a:t>5.2 </a:t>
            </a:r>
            <a:r>
              <a:rPr kumimoji="1" lang="zh-CN" altLang="en-US" dirty="0">
                <a:solidFill>
                  <a:srgbClr val="C00000"/>
                </a:solidFill>
              </a:rPr>
              <a:t>共识设计的理论限制</a:t>
            </a:r>
            <a:endParaRPr kumimoji="1" lang="en-US" altLang="zh-CN" dirty="0">
              <a:solidFill>
                <a:srgbClr val="C00000"/>
              </a:solidFill>
            </a:endParaRPr>
          </a:p>
          <a:p>
            <a:pPr marL="0" indent="0">
              <a:lnSpc>
                <a:spcPct val="130000"/>
              </a:lnSpc>
              <a:buNone/>
            </a:pPr>
            <a:r>
              <a:rPr kumimoji="1" lang="en-US" altLang="zh-CN" dirty="0"/>
              <a:t>5.3 </a:t>
            </a:r>
            <a:r>
              <a:rPr kumimoji="1" lang="zh-CN" altLang="en-US" dirty="0"/>
              <a:t>区块链共识算法</a:t>
            </a:r>
            <a:endParaRPr kumimoji="1" lang="en-US" altLang="zh-CN" dirty="0"/>
          </a:p>
        </p:txBody>
      </p:sp>
      <p:sp>
        <p:nvSpPr>
          <p:cNvPr id="7" name="矩形标注 6">
            <a:extLst>
              <a:ext uri="{FF2B5EF4-FFF2-40B4-BE49-F238E27FC236}">
                <a16:creationId xmlns:a16="http://schemas.microsoft.com/office/drawing/2014/main" id="{E4BFCB96-0FA1-7740-8F94-683CEFB67F89}"/>
              </a:ext>
            </a:extLst>
          </p:cNvPr>
          <p:cNvSpPr/>
          <p:nvPr/>
        </p:nvSpPr>
        <p:spPr>
          <a:xfrm>
            <a:off x="6096000" y="1620254"/>
            <a:ext cx="4281889" cy="1189048"/>
          </a:xfrm>
          <a:prstGeom prst="wedgeRectCallout">
            <a:avLst>
              <a:gd name="adj1" fmla="val -66281"/>
              <a:gd name="adj2" fmla="val 12232"/>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587375" indent="-438150">
              <a:lnSpc>
                <a:spcPct val="130000"/>
              </a:lnSpc>
              <a:spcBef>
                <a:spcPts val="600"/>
              </a:spcBef>
              <a:buFont typeface="+mj-lt"/>
              <a:buAutoNum type="arabicPeriod"/>
            </a:pPr>
            <a:r>
              <a:rPr kumimoji="1" lang="en-US" altLang="zh-CN" sz="2400" dirty="0">
                <a:solidFill>
                  <a:prstClr val="black"/>
                </a:solidFill>
                <a:latin typeface="Microsoft YaHei" panose="020B0503020204020204" pitchFamily="34" charset="-122"/>
                <a:ea typeface="Microsoft YaHei" panose="020B0503020204020204" pitchFamily="34" charset="-122"/>
              </a:rPr>
              <a:t>FLP</a:t>
            </a:r>
            <a:r>
              <a:rPr kumimoji="1" lang="zh-CN" altLang="en-US" sz="2400" dirty="0">
                <a:solidFill>
                  <a:prstClr val="black"/>
                </a:solidFill>
                <a:latin typeface="Microsoft YaHei" panose="020B0503020204020204" pitchFamily="34" charset="-122"/>
                <a:ea typeface="Microsoft YaHei" panose="020B0503020204020204" pitchFamily="34" charset="-122"/>
              </a:rPr>
              <a:t>不可能原理</a:t>
            </a:r>
          </a:p>
          <a:p>
            <a:pPr marL="587375" indent="-438150">
              <a:lnSpc>
                <a:spcPct val="130000"/>
              </a:lnSpc>
              <a:spcBef>
                <a:spcPts val="600"/>
              </a:spcBef>
              <a:buFont typeface="+mj-lt"/>
              <a:buAutoNum type="arabicPeriod"/>
            </a:pPr>
            <a:r>
              <a:rPr kumimoji="1" lang="en-US" altLang="zh-CN" sz="2400" dirty="0">
                <a:solidFill>
                  <a:prstClr val="black"/>
                </a:solidFill>
                <a:latin typeface="Microsoft YaHei" panose="020B0503020204020204" pitchFamily="34" charset="-122"/>
                <a:ea typeface="Microsoft YaHei" panose="020B0503020204020204" pitchFamily="34" charset="-122"/>
              </a:rPr>
              <a:t>CAP</a:t>
            </a:r>
            <a:r>
              <a:rPr kumimoji="1" lang="zh-CN" altLang="en-US" sz="2400" dirty="0">
                <a:solidFill>
                  <a:prstClr val="black"/>
                </a:solidFill>
                <a:latin typeface="Microsoft YaHei" panose="020B0503020204020204" pitchFamily="34" charset="-122"/>
                <a:ea typeface="Microsoft YaHei" panose="020B0503020204020204" pitchFamily="34" charset="-122"/>
              </a:rPr>
              <a:t>原理</a:t>
            </a:r>
          </a:p>
        </p:txBody>
      </p:sp>
      <p:sp>
        <p:nvSpPr>
          <p:cNvPr id="3" name="灯片编号占位符 2">
            <a:extLst>
              <a:ext uri="{FF2B5EF4-FFF2-40B4-BE49-F238E27FC236}">
                <a16:creationId xmlns:a16="http://schemas.microsoft.com/office/drawing/2014/main" id="{493E6B42-DAB5-7042-B243-5902825EBD30}"/>
              </a:ext>
            </a:extLst>
          </p:cNvPr>
          <p:cNvSpPr>
            <a:spLocks noGrp="1"/>
          </p:cNvSpPr>
          <p:nvPr>
            <p:ph type="sldNum" sz="quarter" idx="12"/>
          </p:nvPr>
        </p:nvSpPr>
        <p:spPr/>
        <p:txBody>
          <a:bodyPr/>
          <a:lstStyle/>
          <a:p>
            <a:fld id="{8D4D1E41-7A09-AB4A-A4E1-09765ADA2698}" type="slidenum">
              <a:rPr kumimoji="1" lang="zh-CN" altLang="en-US" smtClean="0"/>
              <a:t>8</a:t>
            </a:fld>
            <a:endParaRPr kumimoji="1" lang="zh-CN" altLang="en-US" dirty="0"/>
          </a:p>
        </p:txBody>
      </p:sp>
    </p:spTree>
    <p:extLst>
      <p:ext uri="{BB962C8B-B14F-4D97-AF65-F5344CB8AC3E}">
        <p14:creationId xmlns:p14="http://schemas.microsoft.com/office/powerpoint/2010/main" val="27808001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FLP</a:t>
            </a:r>
            <a:r>
              <a:rPr lang="zh-CN" altLang="en-US" dirty="0"/>
              <a:t>不可能原理</a:t>
            </a:r>
            <a:endParaRPr lang="en-US" altLang="zh-CN" dirty="0"/>
          </a:p>
        </p:txBody>
      </p:sp>
      <p:sp>
        <p:nvSpPr>
          <p:cNvPr id="3" name="内容占位符 2"/>
          <p:cNvSpPr>
            <a:spLocks noGrp="1"/>
          </p:cNvSpPr>
          <p:nvPr>
            <p:ph idx="1"/>
          </p:nvPr>
        </p:nvSpPr>
        <p:spPr>
          <a:xfrm>
            <a:off x="838200" y="1510758"/>
            <a:ext cx="9888940" cy="4845592"/>
          </a:xfrm>
        </p:spPr>
        <p:txBody>
          <a:bodyPr>
            <a:normAutofit/>
          </a:bodyPr>
          <a:lstStyle/>
          <a:p>
            <a:pPr fontAlgn="auto">
              <a:lnSpc>
                <a:spcPct val="130000"/>
              </a:lnSpc>
            </a:pPr>
            <a:r>
              <a:rPr lang="zh-CN" altLang="en-US" dirty="0"/>
              <a:t>网络通信可靠情况下，分布式系统的共识问题无通用的解法</a:t>
            </a:r>
          </a:p>
          <a:p>
            <a:pPr lvl="1">
              <a:lnSpc>
                <a:spcPct val="130000"/>
              </a:lnSpc>
            </a:pPr>
            <a:r>
              <a:rPr lang="zh-CN" altLang="en-US" dirty="0">
                <a:solidFill>
                  <a:prstClr val="black"/>
                </a:solidFill>
              </a:rPr>
              <a:t>具体表述：在网络可靠，但允许节点失效（即便只有一个）的最小化异步模型系统中，不存在一个可以解决一致性问题的确定性算法。提出并证明该定理的论文</a:t>
            </a:r>
            <a:r>
              <a:rPr lang="en-US" altLang="zh-CN" dirty="0">
                <a:solidFill>
                  <a:prstClr val="black"/>
                </a:solidFill>
              </a:rPr>
              <a:t>"Impossibility of Distributed Consensus with One Faulty Process"</a:t>
            </a:r>
            <a:r>
              <a:rPr lang="zh-CN" altLang="en-US" dirty="0">
                <a:solidFill>
                  <a:prstClr val="black"/>
                </a:solidFill>
              </a:rPr>
              <a:t>由</a:t>
            </a:r>
            <a:r>
              <a:rPr lang="en-US" altLang="zh-CN" dirty="0">
                <a:solidFill>
                  <a:prstClr val="black"/>
                </a:solidFill>
              </a:rPr>
              <a:t>Michael J. Fischer</a:t>
            </a:r>
            <a:r>
              <a:rPr lang="zh-CN" altLang="en-US" dirty="0">
                <a:solidFill>
                  <a:prstClr val="black"/>
                </a:solidFill>
              </a:rPr>
              <a:t>等科学家于</a:t>
            </a:r>
            <a:r>
              <a:rPr lang="en-US" altLang="zh-CN" dirty="0">
                <a:solidFill>
                  <a:prstClr val="black"/>
                </a:solidFill>
              </a:rPr>
              <a:t>1982</a:t>
            </a:r>
            <a:r>
              <a:rPr lang="zh-CN" altLang="en-US" dirty="0">
                <a:solidFill>
                  <a:prstClr val="black"/>
                </a:solidFill>
              </a:rPr>
              <a:t>年发表</a:t>
            </a:r>
            <a:endParaRPr lang="en-US" altLang="zh-CN" dirty="0">
              <a:solidFill>
                <a:prstClr val="black"/>
              </a:solidFill>
            </a:endParaRPr>
          </a:p>
          <a:p>
            <a:pPr lvl="0">
              <a:lnSpc>
                <a:spcPct val="130000"/>
              </a:lnSpc>
            </a:pPr>
            <a:r>
              <a:rPr lang="zh-CN" altLang="en-US" dirty="0">
                <a:solidFill>
                  <a:prstClr val="black"/>
                </a:solidFill>
              </a:rPr>
              <a:t>启示</a:t>
            </a:r>
          </a:p>
          <a:p>
            <a:pPr lvl="1">
              <a:lnSpc>
                <a:spcPct val="130000"/>
              </a:lnSpc>
            </a:pPr>
            <a:r>
              <a:rPr lang="zh-CN" altLang="en-US" dirty="0">
                <a:solidFill>
                  <a:prstClr val="black"/>
                </a:solidFill>
              </a:rPr>
              <a:t>不要浪费时间去为一个异步分布式系统设计能在任意情形都能实现共识的确定性算法</a:t>
            </a:r>
            <a:endParaRPr lang="en-US" altLang="zh-CN" dirty="0">
              <a:solidFill>
                <a:prstClr val="black"/>
              </a:solidFill>
            </a:endParaRPr>
          </a:p>
        </p:txBody>
      </p:sp>
      <p:sp>
        <p:nvSpPr>
          <p:cNvPr id="7" name="灯片编号占位符 6">
            <a:extLst>
              <a:ext uri="{FF2B5EF4-FFF2-40B4-BE49-F238E27FC236}">
                <a16:creationId xmlns:a16="http://schemas.microsoft.com/office/drawing/2014/main" id="{97E080B7-C088-8B4E-B8CF-3281335EB402}"/>
              </a:ext>
            </a:extLst>
          </p:cNvPr>
          <p:cNvSpPr>
            <a:spLocks noGrp="1"/>
          </p:cNvSpPr>
          <p:nvPr>
            <p:ph type="sldNum" sz="quarter" idx="12"/>
          </p:nvPr>
        </p:nvSpPr>
        <p:spPr/>
        <p:txBody>
          <a:bodyPr/>
          <a:lstStyle/>
          <a:p>
            <a:fld id="{8D4D1E41-7A09-AB4A-A4E1-09765ADA2698}" type="slidenum">
              <a:rPr kumimoji="1" lang="zh-CN" altLang="en-US" smtClean="0"/>
              <a:t>9</a:t>
            </a:fld>
            <a:endParaRPr kumimoji="1" lang="zh-CN" altLang="en-US" dirty="0"/>
          </a:p>
        </p:txBody>
      </p:sp>
    </p:spTree>
    <p:extLst>
      <p:ext uri="{BB962C8B-B14F-4D97-AF65-F5344CB8AC3E}">
        <p14:creationId xmlns:p14="http://schemas.microsoft.com/office/powerpoint/2010/main" val="7994925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FLP</a:t>
            </a:r>
            <a:r>
              <a:rPr lang="zh-CN" altLang="en-US" dirty="0"/>
              <a:t>不可能原理</a:t>
            </a:r>
            <a:endParaRPr lang="en-US" altLang="zh-CN" dirty="0"/>
          </a:p>
        </p:txBody>
      </p:sp>
      <p:sp>
        <p:nvSpPr>
          <p:cNvPr id="3" name="内容占位符 2"/>
          <p:cNvSpPr>
            <a:spLocks noGrp="1"/>
          </p:cNvSpPr>
          <p:nvPr>
            <p:ph idx="1"/>
          </p:nvPr>
        </p:nvSpPr>
        <p:spPr>
          <a:xfrm>
            <a:off x="838200" y="1510758"/>
            <a:ext cx="9888940" cy="4845592"/>
          </a:xfrm>
        </p:spPr>
        <p:txBody>
          <a:bodyPr>
            <a:normAutofit fontScale="92500" lnSpcReduction="20000"/>
          </a:bodyPr>
          <a:lstStyle/>
          <a:p>
            <a:pPr fontAlgn="auto">
              <a:lnSpc>
                <a:spcPct val="130000"/>
              </a:lnSpc>
            </a:pPr>
            <a:r>
              <a:rPr lang="zh-CN" altLang="en-US" dirty="0"/>
              <a:t>例子</a:t>
            </a:r>
          </a:p>
          <a:p>
            <a:pPr lvl="1">
              <a:lnSpc>
                <a:spcPct val="130000"/>
              </a:lnSpc>
            </a:pPr>
            <a:r>
              <a:rPr lang="zh-CN" altLang="en-US" dirty="0">
                <a:solidFill>
                  <a:prstClr val="black"/>
                </a:solidFill>
              </a:rPr>
              <a:t>四人分别位于全球的四个不同位置对某一个提案进行投票。某个时候，</a:t>
            </a:r>
            <a:r>
              <a:rPr lang="en-US" altLang="zh-CN" dirty="0">
                <a:solidFill>
                  <a:prstClr val="black"/>
                </a:solidFill>
              </a:rPr>
              <a:t>A</a:t>
            </a:r>
            <a:r>
              <a:rPr lang="zh-CN" altLang="en-US" dirty="0">
                <a:solidFill>
                  <a:prstClr val="black"/>
                </a:solidFill>
              </a:rPr>
              <a:t>和</a:t>
            </a:r>
            <a:r>
              <a:rPr lang="en-US" altLang="zh-CN" dirty="0">
                <a:solidFill>
                  <a:prstClr val="black"/>
                </a:solidFill>
              </a:rPr>
              <a:t>D</a:t>
            </a:r>
            <a:r>
              <a:rPr lang="zh-CN" altLang="en-US" dirty="0">
                <a:solidFill>
                  <a:prstClr val="black"/>
                </a:solidFill>
              </a:rPr>
              <a:t>投票同意，而</a:t>
            </a:r>
            <a:r>
              <a:rPr lang="en-US" altLang="zh-CN" dirty="0">
                <a:solidFill>
                  <a:prstClr val="black"/>
                </a:solidFill>
              </a:rPr>
              <a:t>B</a:t>
            </a:r>
            <a:r>
              <a:rPr lang="zh-CN" altLang="en-US" dirty="0">
                <a:solidFill>
                  <a:prstClr val="black"/>
                </a:solidFill>
              </a:rPr>
              <a:t>投票拒绝，</a:t>
            </a:r>
            <a:r>
              <a:rPr lang="en-US" altLang="zh-CN" dirty="0">
                <a:solidFill>
                  <a:prstClr val="black"/>
                </a:solidFill>
              </a:rPr>
              <a:t>C</a:t>
            </a:r>
            <a:r>
              <a:rPr lang="zh-CN" altLang="en-US" dirty="0">
                <a:solidFill>
                  <a:prstClr val="black"/>
                </a:solidFill>
              </a:rPr>
              <a:t>收到三人的投票，然后</a:t>
            </a:r>
            <a:r>
              <a:rPr lang="en-US" altLang="zh-CN" dirty="0">
                <a:solidFill>
                  <a:prstClr val="black"/>
                </a:solidFill>
              </a:rPr>
              <a:t>C</a:t>
            </a:r>
            <a:r>
              <a:rPr lang="zh-CN" altLang="en-US" dirty="0">
                <a:solidFill>
                  <a:prstClr val="black"/>
                </a:solidFill>
              </a:rPr>
              <a:t>睡着了。此时，</a:t>
            </a:r>
            <a:r>
              <a:rPr lang="en-US" altLang="zh-CN" dirty="0">
                <a:solidFill>
                  <a:prstClr val="black"/>
                </a:solidFill>
              </a:rPr>
              <a:t>A</a:t>
            </a:r>
            <a:r>
              <a:rPr lang="zh-CN" altLang="en-US" dirty="0">
                <a:solidFill>
                  <a:prstClr val="black"/>
                </a:solidFill>
              </a:rPr>
              <a:t>、</a:t>
            </a:r>
            <a:r>
              <a:rPr lang="en-US" altLang="zh-CN" dirty="0">
                <a:solidFill>
                  <a:prstClr val="black"/>
                </a:solidFill>
              </a:rPr>
              <a:t>B</a:t>
            </a:r>
            <a:r>
              <a:rPr lang="zh-CN" altLang="en-US" dirty="0">
                <a:solidFill>
                  <a:prstClr val="black"/>
                </a:solidFill>
              </a:rPr>
              <a:t>和</a:t>
            </a:r>
            <a:r>
              <a:rPr lang="en-US" altLang="zh-CN" dirty="0">
                <a:solidFill>
                  <a:prstClr val="black"/>
                </a:solidFill>
              </a:rPr>
              <a:t>D</a:t>
            </a:r>
            <a:r>
              <a:rPr lang="zh-CN" altLang="en-US" dirty="0">
                <a:solidFill>
                  <a:prstClr val="black"/>
                </a:solidFill>
              </a:rPr>
              <a:t>将永远无法在有限时间内获知最终的结果</a:t>
            </a:r>
            <a:endParaRPr lang="en-US" altLang="zh-CN" dirty="0">
              <a:solidFill>
                <a:prstClr val="black"/>
              </a:solidFill>
            </a:endParaRPr>
          </a:p>
          <a:p>
            <a:pPr lvl="1">
              <a:lnSpc>
                <a:spcPct val="130000"/>
              </a:lnSpc>
            </a:pPr>
            <a:r>
              <a:rPr lang="zh-CN" altLang="en-US" dirty="0">
                <a:solidFill>
                  <a:prstClr val="black"/>
                </a:solidFill>
              </a:rPr>
              <a:t>他们无法知道是因为</a:t>
            </a:r>
            <a:r>
              <a:rPr lang="en-US" altLang="zh-CN" dirty="0">
                <a:solidFill>
                  <a:prstClr val="black"/>
                </a:solidFill>
              </a:rPr>
              <a:t>C</a:t>
            </a:r>
            <a:r>
              <a:rPr lang="zh-CN" altLang="en-US" dirty="0">
                <a:solidFill>
                  <a:prstClr val="black"/>
                </a:solidFill>
              </a:rPr>
              <a:t>没有应答（由于时差问题，</a:t>
            </a:r>
            <a:r>
              <a:rPr lang="en-US" altLang="zh-CN" dirty="0">
                <a:solidFill>
                  <a:prstClr val="black"/>
                </a:solidFill>
              </a:rPr>
              <a:t>C</a:t>
            </a:r>
            <a:r>
              <a:rPr lang="zh-CN" altLang="en-US" dirty="0">
                <a:solidFill>
                  <a:prstClr val="black"/>
                </a:solidFill>
              </a:rPr>
              <a:t>可能正在睡觉）还是因为应答的时间过长导致一直无法收到</a:t>
            </a:r>
            <a:r>
              <a:rPr lang="en-US" altLang="zh-CN" dirty="0">
                <a:solidFill>
                  <a:prstClr val="black"/>
                </a:solidFill>
              </a:rPr>
              <a:t>C</a:t>
            </a:r>
            <a:r>
              <a:rPr lang="zh-CN" altLang="en-US" dirty="0">
                <a:solidFill>
                  <a:prstClr val="black"/>
                </a:solidFill>
              </a:rPr>
              <a:t>的答复。</a:t>
            </a:r>
            <a:endParaRPr lang="en-US" altLang="zh-CN" dirty="0">
              <a:solidFill>
                <a:prstClr val="black"/>
              </a:solidFill>
            </a:endParaRPr>
          </a:p>
          <a:p>
            <a:pPr lvl="1">
              <a:lnSpc>
                <a:spcPct val="130000"/>
              </a:lnSpc>
            </a:pPr>
            <a:r>
              <a:rPr lang="zh-CN" altLang="en-US" dirty="0">
                <a:solidFill>
                  <a:prstClr val="black"/>
                </a:solidFill>
              </a:rPr>
              <a:t>如果可以重新投票，则类似情形可以在每次取得结果前发生，这将导致共识过程永远无法完成</a:t>
            </a:r>
            <a:endParaRPr lang="en-US" altLang="zh-CN" dirty="0">
              <a:solidFill>
                <a:prstClr val="black"/>
              </a:solidFill>
            </a:endParaRPr>
          </a:p>
          <a:p>
            <a:pPr lvl="0">
              <a:lnSpc>
                <a:spcPct val="130000"/>
              </a:lnSpc>
            </a:pPr>
            <a:r>
              <a:rPr lang="zh-CN" altLang="en-US" dirty="0">
                <a:solidFill>
                  <a:prstClr val="black"/>
                </a:solidFill>
              </a:rPr>
              <a:t>启示</a:t>
            </a:r>
          </a:p>
          <a:p>
            <a:pPr lvl="1">
              <a:lnSpc>
                <a:spcPct val="130000"/>
              </a:lnSpc>
            </a:pPr>
            <a:r>
              <a:rPr lang="zh-CN" altLang="en-US" dirty="0">
                <a:solidFill>
                  <a:prstClr val="black"/>
                </a:solidFill>
              </a:rPr>
              <a:t>对于允许节点失效的情况下，纯粹的异步分布式系统无法保证一致性在有限的时间内完成</a:t>
            </a:r>
            <a:endParaRPr lang="en-US" altLang="zh-CN" dirty="0">
              <a:solidFill>
                <a:prstClr val="black"/>
              </a:solidFill>
            </a:endParaRPr>
          </a:p>
        </p:txBody>
      </p:sp>
      <p:sp>
        <p:nvSpPr>
          <p:cNvPr id="7" name="灯片编号占位符 6">
            <a:extLst>
              <a:ext uri="{FF2B5EF4-FFF2-40B4-BE49-F238E27FC236}">
                <a16:creationId xmlns:a16="http://schemas.microsoft.com/office/drawing/2014/main" id="{97E080B7-C088-8B4E-B8CF-3281335EB402}"/>
              </a:ext>
            </a:extLst>
          </p:cNvPr>
          <p:cNvSpPr>
            <a:spLocks noGrp="1"/>
          </p:cNvSpPr>
          <p:nvPr>
            <p:ph type="sldNum" sz="quarter" idx="12"/>
          </p:nvPr>
        </p:nvSpPr>
        <p:spPr/>
        <p:txBody>
          <a:bodyPr/>
          <a:lstStyle/>
          <a:p>
            <a:fld id="{8D4D1E41-7A09-AB4A-A4E1-09765ADA2698}" type="slidenum">
              <a:rPr kumimoji="1" lang="zh-CN" altLang="en-US" smtClean="0"/>
              <a:t>10</a:t>
            </a:fld>
            <a:endParaRPr kumimoji="1" lang="zh-CN" altLang="en-US" dirty="0"/>
          </a:p>
        </p:txBody>
      </p:sp>
    </p:spTree>
    <p:extLst>
      <p:ext uri="{BB962C8B-B14F-4D97-AF65-F5344CB8AC3E}">
        <p14:creationId xmlns:p14="http://schemas.microsoft.com/office/powerpoint/2010/main" val="23918800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FLP</a:t>
            </a:r>
            <a:r>
              <a:rPr lang="zh-CN" altLang="en-US" dirty="0"/>
              <a:t>不可能原理</a:t>
            </a:r>
            <a:endParaRPr lang="en-US" altLang="zh-CN" dirty="0"/>
          </a:p>
        </p:txBody>
      </p:sp>
      <p:sp>
        <p:nvSpPr>
          <p:cNvPr id="3" name="内容占位符 2"/>
          <p:cNvSpPr>
            <a:spLocks noGrp="1"/>
          </p:cNvSpPr>
          <p:nvPr>
            <p:ph idx="1"/>
          </p:nvPr>
        </p:nvSpPr>
        <p:spPr>
          <a:xfrm>
            <a:off x="838200" y="1510758"/>
            <a:ext cx="9888940" cy="4845592"/>
          </a:xfrm>
        </p:spPr>
        <p:txBody>
          <a:bodyPr>
            <a:normAutofit/>
          </a:bodyPr>
          <a:lstStyle/>
          <a:p>
            <a:pPr fontAlgn="auto">
              <a:lnSpc>
                <a:spcPct val="130000"/>
              </a:lnSpc>
            </a:pPr>
            <a:r>
              <a:rPr lang="zh-CN" altLang="en-US" dirty="0"/>
              <a:t>另一表述：异步的分布式系统不能同时保证活性和安全性</a:t>
            </a:r>
          </a:p>
          <a:p>
            <a:pPr lvl="1">
              <a:lnSpc>
                <a:spcPct val="130000"/>
              </a:lnSpc>
            </a:pPr>
            <a:r>
              <a:rPr lang="zh-CN" altLang="en-US" dirty="0">
                <a:solidFill>
                  <a:prstClr val="black"/>
                </a:solidFill>
              </a:rPr>
              <a:t>活性反映了来自客户端的请求最终会被处理，即好事总会发生。安全性反映了分布式系统处理了来自客户段的请求后不存在不一致的状态</a:t>
            </a:r>
            <a:endParaRPr lang="en-US" altLang="zh-CN" dirty="0">
              <a:solidFill>
                <a:prstClr val="black"/>
              </a:solidFill>
            </a:endParaRPr>
          </a:p>
          <a:p>
            <a:pPr lvl="0">
              <a:lnSpc>
                <a:spcPct val="130000"/>
              </a:lnSpc>
            </a:pPr>
            <a:r>
              <a:rPr lang="zh-CN" altLang="en-US" dirty="0">
                <a:solidFill>
                  <a:prstClr val="black"/>
                </a:solidFill>
              </a:rPr>
              <a:t>折中方向</a:t>
            </a:r>
          </a:p>
          <a:p>
            <a:pPr lvl="1">
              <a:lnSpc>
                <a:spcPct val="130000"/>
              </a:lnSpc>
            </a:pPr>
            <a:r>
              <a:rPr lang="zh-CN" altLang="en-US" dirty="0">
                <a:solidFill>
                  <a:prstClr val="black"/>
                </a:solidFill>
              </a:rPr>
              <a:t>弱化活性：</a:t>
            </a:r>
            <a:r>
              <a:rPr lang="en-US" altLang="zh-CN" dirty="0">
                <a:solidFill>
                  <a:prstClr val="black"/>
                </a:solidFill>
              </a:rPr>
              <a:t>PBFT</a:t>
            </a:r>
            <a:r>
              <a:rPr lang="zh-CN" altLang="en-US" dirty="0">
                <a:solidFill>
                  <a:prstClr val="black"/>
                </a:solidFill>
              </a:rPr>
              <a:t>，安全性在异步网络环境中都能得到保证，但可能永远不能完成客户端请求的处理</a:t>
            </a:r>
            <a:endParaRPr lang="en-US" altLang="zh-CN" dirty="0">
              <a:solidFill>
                <a:prstClr val="black"/>
              </a:solidFill>
            </a:endParaRPr>
          </a:p>
          <a:p>
            <a:pPr lvl="1">
              <a:lnSpc>
                <a:spcPct val="130000"/>
              </a:lnSpc>
            </a:pPr>
            <a:r>
              <a:rPr lang="zh-CN" altLang="en-US" dirty="0">
                <a:solidFill>
                  <a:prstClr val="black"/>
                </a:solidFill>
              </a:rPr>
              <a:t>弱化安全性：工作量证明的活性在异步网络的环境中都能得到保证，但安全性无法保证，可能发生分叉的情况</a:t>
            </a:r>
            <a:endParaRPr lang="en-US" altLang="zh-CN" dirty="0">
              <a:solidFill>
                <a:prstClr val="black"/>
              </a:solidFill>
            </a:endParaRPr>
          </a:p>
        </p:txBody>
      </p:sp>
      <p:sp>
        <p:nvSpPr>
          <p:cNvPr id="7" name="灯片编号占位符 6">
            <a:extLst>
              <a:ext uri="{FF2B5EF4-FFF2-40B4-BE49-F238E27FC236}">
                <a16:creationId xmlns:a16="http://schemas.microsoft.com/office/drawing/2014/main" id="{97E080B7-C088-8B4E-B8CF-3281335EB402}"/>
              </a:ext>
            </a:extLst>
          </p:cNvPr>
          <p:cNvSpPr>
            <a:spLocks noGrp="1"/>
          </p:cNvSpPr>
          <p:nvPr>
            <p:ph type="sldNum" sz="quarter" idx="12"/>
          </p:nvPr>
        </p:nvSpPr>
        <p:spPr/>
        <p:txBody>
          <a:bodyPr/>
          <a:lstStyle/>
          <a:p>
            <a:fld id="{8D4D1E41-7A09-AB4A-A4E1-09765ADA2698}" type="slidenum">
              <a:rPr kumimoji="1" lang="zh-CN" altLang="en-US" smtClean="0"/>
              <a:t>11</a:t>
            </a:fld>
            <a:endParaRPr kumimoji="1" lang="zh-CN" altLang="en-US" dirty="0"/>
          </a:p>
        </p:txBody>
      </p:sp>
    </p:spTree>
    <p:extLst>
      <p:ext uri="{BB962C8B-B14F-4D97-AF65-F5344CB8AC3E}">
        <p14:creationId xmlns:p14="http://schemas.microsoft.com/office/powerpoint/2010/main" val="17579057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CAP</a:t>
            </a:r>
            <a:r>
              <a:rPr lang="zh-CN" altLang="en-US" dirty="0"/>
              <a:t>原理</a:t>
            </a:r>
            <a:endParaRPr lang="en-US" altLang="zh-CN" dirty="0"/>
          </a:p>
        </p:txBody>
      </p:sp>
      <p:sp>
        <p:nvSpPr>
          <p:cNvPr id="3" name="内容占位符 2"/>
          <p:cNvSpPr>
            <a:spLocks noGrp="1"/>
          </p:cNvSpPr>
          <p:nvPr>
            <p:ph idx="1"/>
          </p:nvPr>
        </p:nvSpPr>
        <p:spPr>
          <a:xfrm>
            <a:off x="838200" y="1510758"/>
            <a:ext cx="9888940" cy="4845592"/>
          </a:xfrm>
        </p:spPr>
        <p:txBody>
          <a:bodyPr>
            <a:normAutofit fontScale="92500"/>
          </a:bodyPr>
          <a:lstStyle/>
          <a:p>
            <a:pPr fontAlgn="auto">
              <a:lnSpc>
                <a:spcPct val="130000"/>
              </a:lnSpc>
            </a:pPr>
            <a:r>
              <a:rPr lang="zh-CN" altLang="en-US" dirty="0"/>
              <a:t>分布式计算系统不可能同时确保以下三个特性</a:t>
            </a:r>
          </a:p>
          <a:p>
            <a:pPr lvl="1">
              <a:lnSpc>
                <a:spcPct val="130000"/>
              </a:lnSpc>
            </a:pPr>
            <a:r>
              <a:rPr lang="zh-CN" altLang="en-US" dirty="0">
                <a:solidFill>
                  <a:prstClr val="black"/>
                </a:solidFill>
              </a:rPr>
              <a:t>一致性：每次读操作都能得到最近写的结果或者返回错误</a:t>
            </a:r>
            <a:endParaRPr lang="en-US" altLang="zh-CN" dirty="0">
              <a:solidFill>
                <a:prstClr val="black"/>
              </a:solidFill>
            </a:endParaRPr>
          </a:p>
          <a:p>
            <a:pPr lvl="1">
              <a:lnSpc>
                <a:spcPct val="130000"/>
              </a:lnSpc>
            </a:pPr>
            <a:r>
              <a:rPr lang="zh-CN" altLang="en-US" dirty="0">
                <a:solidFill>
                  <a:prstClr val="black"/>
                </a:solidFill>
              </a:rPr>
              <a:t>可用性：每次请求都返回一个非错误结果，但结果不需要是最近写的结果</a:t>
            </a:r>
            <a:endParaRPr lang="en-US" altLang="zh-CN" dirty="0">
              <a:solidFill>
                <a:prstClr val="black"/>
              </a:solidFill>
            </a:endParaRPr>
          </a:p>
          <a:p>
            <a:pPr lvl="1">
              <a:lnSpc>
                <a:spcPct val="130000"/>
              </a:lnSpc>
            </a:pPr>
            <a:r>
              <a:rPr lang="zh-CN" altLang="en-US" dirty="0">
                <a:solidFill>
                  <a:prstClr val="black"/>
                </a:solidFill>
              </a:rPr>
              <a:t>分区容忍性：任意节点间的连接中断或大大延迟，系统仍然能够工作</a:t>
            </a:r>
            <a:endParaRPr lang="en-US" altLang="zh-CN" dirty="0">
              <a:solidFill>
                <a:prstClr val="black"/>
              </a:solidFill>
            </a:endParaRPr>
          </a:p>
          <a:p>
            <a:pPr lvl="0">
              <a:lnSpc>
                <a:spcPct val="130000"/>
              </a:lnSpc>
            </a:pPr>
            <a:r>
              <a:rPr lang="zh-CN" altLang="en-US" dirty="0">
                <a:solidFill>
                  <a:prstClr val="black"/>
                </a:solidFill>
              </a:rPr>
              <a:t>如果没有发生网络分区，分布式系统正常地运行，即同时满足可用性以及一致性</a:t>
            </a:r>
          </a:p>
          <a:p>
            <a:pPr lvl="1">
              <a:lnSpc>
                <a:spcPct val="130000"/>
              </a:lnSpc>
            </a:pPr>
            <a:r>
              <a:rPr lang="zh-CN" altLang="en-US" dirty="0">
                <a:solidFill>
                  <a:prstClr val="black"/>
                </a:solidFill>
              </a:rPr>
              <a:t>比特币更加侧重可用性</a:t>
            </a:r>
            <a:endParaRPr lang="en-US" altLang="zh-CN" dirty="0">
              <a:solidFill>
                <a:prstClr val="black"/>
              </a:solidFill>
            </a:endParaRPr>
          </a:p>
          <a:p>
            <a:pPr lvl="1">
              <a:lnSpc>
                <a:spcPct val="130000"/>
              </a:lnSpc>
            </a:pPr>
            <a:r>
              <a:rPr lang="en-US" altLang="zh-CN" dirty="0">
                <a:solidFill>
                  <a:prstClr val="black"/>
                </a:solidFill>
              </a:rPr>
              <a:t>PBFT</a:t>
            </a:r>
            <a:r>
              <a:rPr lang="zh-CN" altLang="en-US" dirty="0">
                <a:solidFill>
                  <a:prstClr val="black"/>
                </a:solidFill>
              </a:rPr>
              <a:t>更加侧重一致性</a:t>
            </a:r>
            <a:endParaRPr lang="en-US" altLang="zh-CN" dirty="0">
              <a:solidFill>
                <a:prstClr val="black"/>
              </a:solidFill>
            </a:endParaRPr>
          </a:p>
        </p:txBody>
      </p:sp>
      <p:sp>
        <p:nvSpPr>
          <p:cNvPr id="7" name="灯片编号占位符 6">
            <a:extLst>
              <a:ext uri="{FF2B5EF4-FFF2-40B4-BE49-F238E27FC236}">
                <a16:creationId xmlns:a16="http://schemas.microsoft.com/office/drawing/2014/main" id="{97E080B7-C088-8B4E-B8CF-3281335EB402}"/>
              </a:ext>
            </a:extLst>
          </p:cNvPr>
          <p:cNvSpPr>
            <a:spLocks noGrp="1"/>
          </p:cNvSpPr>
          <p:nvPr>
            <p:ph type="sldNum" sz="quarter" idx="12"/>
          </p:nvPr>
        </p:nvSpPr>
        <p:spPr/>
        <p:txBody>
          <a:bodyPr/>
          <a:lstStyle/>
          <a:p>
            <a:fld id="{8D4D1E41-7A09-AB4A-A4E1-09765ADA2698}" type="slidenum">
              <a:rPr kumimoji="1" lang="zh-CN" altLang="en-US" smtClean="0"/>
              <a:t>12</a:t>
            </a:fld>
            <a:endParaRPr kumimoji="1" lang="zh-CN" altLang="en-US" dirty="0"/>
          </a:p>
        </p:txBody>
      </p:sp>
    </p:spTree>
    <p:extLst>
      <p:ext uri="{BB962C8B-B14F-4D97-AF65-F5344CB8AC3E}">
        <p14:creationId xmlns:p14="http://schemas.microsoft.com/office/powerpoint/2010/main" val="8624122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09B8FE-3A08-AB44-8FD5-4884CABBBF45}"/>
              </a:ext>
            </a:extLst>
          </p:cNvPr>
          <p:cNvSpPr>
            <a:spLocks noGrp="1"/>
          </p:cNvSpPr>
          <p:nvPr>
            <p:ph type="title"/>
          </p:nvPr>
        </p:nvSpPr>
        <p:spPr/>
        <p:txBody>
          <a:bodyPr/>
          <a:lstStyle/>
          <a:p>
            <a:r>
              <a:rPr kumimoji="1" lang="zh-CN" altLang="en-US" dirty="0"/>
              <a:t>本章内容</a:t>
            </a:r>
          </a:p>
        </p:txBody>
      </p:sp>
      <p:sp>
        <p:nvSpPr>
          <p:cNvPr id="5" name="内容占位符 4">
            <a:extLst>
              <a:ext uri="{FF2B5EF4-FFF2-40B4-BE49-F238E27FC236}">
                <a16:creationId xmlns:a16="http://schemas.microsoft.com/office/drawing/2014/main" id="{EAE97F77-16B3-2043-B14E-0B774467C142}"/>
              </a:ext>
            </a:extLst>
          </p:cNvPr>
          <p:cNvSpPr>
            <a:spLocks noGrp="1"/>
          </p:cNvSpPr>
          <p:nvPr>
            <p:ph idx="1"/>
          </p:nvPr>
        </p:nvSpPr>
        <p:spPr>
          <a:xfrm>
            <a:off x="1307508" y="1409610"/>
            <a:ext cx="10515600" cy="4982116"/>
          </a:xfrm>
        </p:spPr>
        <p:txBody>
          <a:bodyPr>
            <a:normAutofit/>
          </a:bodyPr>
          <a:lstStyle/>
          <a:p>
            <a:pPr marL="0" indent="0">
              <a:lnSpc>
                <a:spcPct val="130000"/>
              </a:lnSpc>
              <a:buNone/>
            </a:pPr>
            <a:r>
              <a:rPr kumimoji="1" lang="en-US" altLang="zh-CN" dirty="0"/>
              <a:t>5.1 </a:t>
            </a:r>
            <a:r>
              <a:rPr kumimoji="1" lang="zh-CN" altLang="en-US" dirty="0"/>
              <a:t>一致性问题</a:t>
            </a:r>
            <a:endParaRPr kumimoji="1" lang="en-US" altLang="zh-CN" dirty="0"/>
          </a:p>
          <a:p>
            <a:pPr marL="0" indent="0">
              <a:lnSpc>
                <a:spcPct val="130000"/>
              </a:lnSpc>
              <a:buNone/>
            </a:pPr>
            <a:r>
              <a:rPr kumimoji="1" lang="en-US" altLang="zh-CN" dirty="0"/>
              <a:t>5.2 </a:t>
            </a:r>
            <a:r>
              <a:rPr kumimoji="1" lang="zh-CN" altLang="en-US" dirty="0"/>
              <a:t>共识设计的理论限制</a:t>
            </a:r>
            <a:endParaRPr kumimoji="1" lang="en-US" altLang="zh-CN" dirty="0"/>
          </a:p>
          <a:p>
            <a:pPr marL="0" indent="0">
              <a:lnSpc>
                <a:spcPct val="130000"/>
              </a:lnSpc>
              <a:buNone/>
            </a:pPr>
            <a:r>
              <a:rPr kumimoji="1" lang="en-US" altLang="zh-CN" dirty="0">
                <a:solidFill>
                  <a:srgbClr val="C00000"/>
                </a:solidFill>
              </a:rPr>
              <a:t>5.3 </a:t>
            </a:r>
            <a:r>
              <a:rPr kumimoji="1" lang="zh-CN" altLang="en-US" dirty="0">
                <a:solidFill>
                  <a:srgbClr val="C00000"/>
                </a:solidFill>
              </a:rPr>
              <a:t>区块链共识算法</a:t>
            </a:r>
            <a:endParaRPr kumimoji="1" lang="en-US" altLang="zh-CN" dirty="0">
              <a:solidFill>
                <a:srgbClr val="C00000"/>
              </a:solidFill>
            </a:endParaRPr>
          </a:p>
        </p:txBody>
      </p:sp>
      <p:sp>
        <p:nvSpPr>
          <p:cNvPr id="7" name="矩形标注 6">
            <a:extLst>
              <a:ext uri="{FF2B5EF4-FFF2-40B4-BE49-F238E27FC236}">
                <a16:creationId xmlns:a16="http://schemas.microsoft.com/office/drawing/2014/main" id="{E4BFCB96-0FA1-7740-8F94-683CEFB67F89}"/>
              </a:ext>
            </a:extLst>
          </p:cNvPr>
          <p:cNvSpPr/>
          <p:nvPr/>
        </p:nvSpPr>
        <p:spPr>
          <a:xfrm>
            <a:off x="6095999" y="1620254"/>
            <a:ext cx="5901369" cy="3954282"/>
          </a:xfrm>
          <a:prstGeom prst="wedgeRectCallout">
            <a:avLst>
              <a:gd name="adj1" fmla="val -71870"/>
              <a:gd name="adj2" fmla="val -15130"/>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587375" indent="-438150">
              <a:lnSpc>
                <a:spcPct val="130000"/>
              </a:lnSpc>
              <a:spcBef>
                <a:spcPts val="600"/>
              </a:spcBef>
              <a:buFont typeface="+mj-lt"/>
              <a:buAutoNum type="arabicPeriod"/>
            </a:pPr>
            <a:r>
              <a:rPr kumimoji="1" lang="zh-CN" altLang="en-US" sz="2400" dirty="0">
                <a:solidFill>
                  <a:prstClr val="black"/>
                </a:solidFill>
                <a:latin typeface="Microsoft YaHei" panose="020B0503020204020204" pitchFamily="34" charset="-122"/>
                <a:ea typeface="Microsoft YaHei" panose="020B0503020204020204" pitchFamily="34" charset="-122"/>
              </a:rPr>
              <a:t>拜占庭将军问题</a:t>
            </a:r>
          </a:p>
          <a:p>
            <a:pPr marL="587375" indent="-438150">
              <a:lnSpc>
                <a:spcPct val="130000"/>
              </a:lnSpc>
              <a:spcBef>
                <a:spcPts val="600"/>
              </a:spcBef>
              <a:buFont typeface="+mj-lt"/>
              <a:buAutoNum type="arabicPeriod"/>
            </a:pPr>
            <a:r>
              <a:rPr kumimoji="1" lang="zh-CN" altLang="en-US" sz="2400" dirty="0">
                <a:solidFill>
                  <a:prstClr val="black"/>
                </a:solidFill>
                <a:latin typeface="Microsoft YaHei" panose="020B0503020204020204" pitchFamily="34" charset="-122"/>
                <a:ea typeface="Microsoft YaHei" panose="020B0503020204020204" pitchFamily="34" charset="-122"/>
              </a:rPr>
              <a:t>拜占庭容错算法</a:t>
            </a:r>
          </a:p>
          <a:p>
            <a:pPr marL="587375" indent="-438150">
              <a:lnSpc>
                <a:spcPct val="130000"/>
              </a:lnSpc>
              <a:spcBef>
                <a:spcPts val="600"/>
              </a:spcBef>
              <a:buFont typeface="+mj-lt"/>
              <a:buAutoNum type="arabicPeriod"/>
            </a:pPr>
            <a:r>
              <a:rPr kumimoji="1" lang="zh-CN" altLang="en-US" sz="2400" dirty="0">
                <a:solidFill>
                  <a:prstClr val="black"/>
                </a:solidFill>
                <a:latin typeface="Microsoft YaHei" panose="020B0503020204020204" pitchFamily="34" charset="-122"/>
                <a:ea typeface="Microsoft YaHei" panose="020B0503020204020204" pitchFamily="34" charset="-122"/>
              </a:rPr>
              <a:t>比特币的工作量证明共识机制</a:t>
            </a:r>
            <a:endParaRPr kumimoji="1" lang="en-US" altLang="zh-CN" sz="2400" dirty="0">
              <a:solidFill>
                <a:prstClr val="black"/>
              </a:solidFill>
              <a:latin typeface="Microsoft YaHei" panose="020B0503020204020204" pitchFamily="34" charset="-122"/>
              <a:ea typeface="Microsoft YaHei" panose="020B0503020204020204" pitchFamily="34" charset="-122"/>
            </a:endParaRPr>
          </a:p>
          <a:p>
            <a:pPr marL="587375" indent="-438150">
              <a:lnSpc>
                <a:spcPct val="130000"/>
              </a:lnSpc>
              <a:spcBef>
                <a:spcPts val="600"/>
              </a:spcBef>
              <a:buFont typeface="+mj-lt"/>
              <a:buAutoNum type="arabicPeriod"/>
            </a:pPr>
            <a:r>
              <a:rPr kumimoji="1" lang="zh-CN" altLang="en-US" sz="2400" dirty="0">
                <a:solidFill>
                  <a:prstClr val="black"/>
                </a:solidFill>
                <a:latin typeface="Microsoft YaHei" panose="020B0503020204020204" pitchFamily="34" charset="-122"/>
                <a:ea typeface="Microsoft YaHei" panose="020B0503020204020204" pitchFamily="34" charset="-122"/>
              </a:rPr>
              <a:t>以太坊共识算法</a:t>
            </a:r>
            <a:r>
              <a:rPr kumimoji="1" lang="en-US" altLang="zh-CN" sz="2400" dirty="0" err="1">
                <a:solidFill>
                  <a:prstClr val="black"/>
                </a:solidFill>
                <a:latin typeface="Microsoft YaHei" panose="020B0503020204020204" pitchFamily="34" charset="-122"/>
                <a:ea typeface="Microsoft YaHei" panose="020B0503020204020204" pitchFamily="34" charset="-122"/>
              </a:rPr>
              <a:t>Ethash</a:t>
            </a:r>
            <a:endParaRPr kumimoji="1" lang="en-US" altLang="zh-CN" sz="2400" dirty="0">
              <a:solidFill>
                <a:prstClr val="black"/>
              </a:solidFill>
              <a:latin typeface="Microsoft YaHei" panose="020B0503020204020204" pitchFamily="34" charset="-122"/>
              <a:ea typeface="Microsoft YaHei" panose="020B0503020204020204" pitchFamily="34" charset="-122"/>
            </a:endParaRPr>
          </a:p>
          <a:p>
            <a:pPr marL="587375" indent="-438150">
              <a:lnSpc>
                <a:spcPct val="130000"/>
              </a:lnSpc>
              <a:spcBef>
                <a:spcPts val="600"/>
              </a:spcBef>
              <a:buFont typeface="+mj-lt"/>
              <a:buAutoNum type="arabicPeriod"/>
            </a:pPr>
            <a:r>
              <a:rPr kumimoji="1" lang="zh-CN" altLang="en-US" sz="2400" dirty="0">
                <a:solidFill>
                  <a:prstClr val="black"/>
                </a:solidFill>
                <a:latin typeface="Microsoft YaHei" panose="020B0503020204020204" pitchFamily="34" charset="-122"/>
                <a:ea typeface="Microsoft YaHei" panose="020B0503020204020204" pitchFamily="34" charset="-122"/>
              </a:rPr>
              <a:t>以太坊共识算法</a:t>
            </a:r>
            <a:r>
              <a:rPr kumimoji="1" lang="en-US" altLang="zh-CN" sz="2400" dirty="0">
                <a:solidFill>
                  <a:prstClr val="black"/>
                </a:solidFill>
                <a:latin typeface="Microsoft YaHei" panose="020B0503020204020204" pitchFamily="34" charset="-122"/>
                <a:ea typeface="Microsoft YaHei" panose="020B0503020204020204" pitchFamily="34" charset="-122"/>
              </a:rPr>
              <a:t>Casper</a:t>
            </a:r>
            <a:r>
              <a:rPr kumimoji="1" lang="zh-CN" altLang="en-US" sz="2400" dirty="0">
                <a:solidFill>
                  <a:prstClr val="black"/>
                </a:solidFill>
                <a:latin typeface="Microsoft YaHei" panose="020B0503020204020204" pitchFamily="34" charset="-122"/>
                <a:ea typeface="Microsoft YaHei" panose="020B0503020204020204" pitchFamily="34" charset="-122"/>
              </a:rPr>
              <a:t>（选学）</a:t>
            </a:r>
            <a:endParaRPr kumimoji="1" lang="en-US" altLang="zh-CN" sz="2400" dirty="0">
              <a:solidFill>
                <a:prstClr val="black"/>
              </a:solidFill>
              <a:latin typeface="Microsoft YaHei" panose="020B0503020204020204" pitchFamily="34" charset="-122"/>
              <a:ea typeface="Microsoft YaHei" panose="020B0503020204020204" pitchFamily="34" charset="-122"/>
            </a:endParaRPr>
          </a:p>
          <a:p>
            <a:pPr marL="587375" indent="-438150">
              <a:lnSpc>
                <a:spcPct val="130000"/>
              </a:lnSpc>
              <a:spcBef>
                <a:spcPts val="600"/>
              </a:spcBef>
              <a:buFont typeface="+mj-lt"/>
              <a:buAutoNum type="arabicPeriod"/>
            </a:pPr>
            <a:r>
              <a:rPr kumimoji="1" lang="en-US" altLang="zh-CN" sz="2400" dirty="0">
                <a:solidFill>
                  <a:prstClr val="black"/>
                </a:solidFill>
                <a:latin typeface="Microsoft YaHei" panose="020B0503020204020204" pitchFamily="34" charset="-122"/>
                <a:ea typeface="Microsoft YaHei" panose="020B0503020204020204" pitchFamily="34" charset="-122"/>
              </a:rPr>
              <a:t>EOSIO</a:t>
            </a:r>
            <a:r>
              <a:rPr kumimoji="1" lang="zh-CN" altLang="en-US" sz="2400" dirty="0">
                <a:solidFill>
                  <a:prstClr val="black"/>
                </a:solidFill>
                <a:latin typeface="Microsoft YaHei" panose="020B0503020204020204" pitchFamily="34" charset="-122"/>
                <a:ea typeface="Microsoft YaHei" panose="020B0503020204020204" pitchFamily="34" charset="-122"/>
              </a:rPr>
              <a:t>共识算法</a:t>
            </a:r>
            <a:r>
              <a:rPr kumimoji="1" lang="en-US" altLang="zh-CN" sz="2400" dirty="0">
                <a:solidFill>
                  <a:prstClr val="black"/>
                </a:solidFill>
                <a:latin typeface="Microsoft YaHei" panose="020B0503020204020204" pitchFamily="34" charset="-122"/>
                <a:ea typeface="Microsoft YaHei" panose="020B0503020204020204" pitchFamily="34" charset="-122"/>
              </a:rPr>
              <a:t>BFT-</a:t>
            </a:r>
            <a:r>
              <a:rPr kumimoji="1" lang="en-US" altLang="zh-CN" sz="2400" dirty="0" err="1">
                <a:solidFill>
                  <a:prstClr val="black"/>
                </a:solidFill>
                <a:latin typeface="Microsoft YaHei" panose="020B0503020204020204" pitchFamily="34" charset="-122"/>
                <a:ea typeface="Microsoft YaHei" panose="020B0503020204020204" pitchFamily="34" charset="-122"/>
              </a:rPr>
              <a:t>DPoS</a:t>
            </a:r>
            <a:r>
              <a:rPr kumimoji="1" lang="zh-CN" altLang="en-US" sz="2400" dirty="0">
                <a:solidFill>
                  <a:prstClr val="black"/>
                </a:solidFill>
                <a:latin typeface="Microsoft YaHei" panose="020B0503020204020204" pitchFamily="34" charset="-122"/>
                <a:ea typeface="Microsoft YaHei" panose="020B0503020204020204" pitchFamily="34" charset="-122"/>
              </a:rPr>
              <a:t>（选学）</a:t>
            </a:r>
            <a:endParaRPr kumimoji="1" lang="en-US" altLang="zh-CN" sz="2400" dirty="0">
              <a:solidFill>
                <a:prstClr val="black"/>
              </a:solidFill>
              <a:latin typeface="Microsoft YaHei" panose="020B0503020204020204" pitchFamily="34" charset="-122"/>
              <a:ea typeface="Microsoft YaHei" panose="020B0503020204020204" pitchFamily="34" charset="-122"/>
            </a:endParaRPr>
          </a:p>
          <a:p>
            <a:pPr marL="587375" indent="-438150">
              <a:lnSpc>
                <a:spcPct val="130000"/>
              </a:lnSpc>
              <a:spcBef>
                <a:spcPts val="600"/>
              </a:spcBef>
              <a:buFont typeface="+mj-lt"/>
              <a:buAutoNum type="arabicPeriod"/>
            </a:pPr>
            <a:r>
              <a:rPr kumimoji="1" lang="en-US" altLang="zh-CN" sz="2400" dirty="0">
                <a:solidFill>
                  <a:prstClr val="black"/>
                </a:solidFill>
                <a:latin typeface="Microsoft YaHei" panose="020B0503020204020204" pitchFamily="34" charset="-122"/>
                <a:ea typeface="Microsoft YaHei" panose="020B0503020204020204" pitchFamily="34" charset="-122"/>
              </a:rPr>
              <a:t>Monoxide</a:t>
            </a:r>
            <a:r>
              <a:rPr kumimoji="1" lang="zh-CN" altLang="en-US" sz="2400" dirty="0">
                <a:solidFill>
                  <a:prstClr val="black"/>
                </a:solidFill>
                <a:latin typeface="Microsoft YaHei" panose="020B0503020204020204" pitchFamily="34" charset="-122"/>
                <a:ea typeface="Microsoft YaHei" panose="020B0503020204020204" pitchFamily="34" charset="-122"/>
              </a:rPr>
              <a:t>（选学）</a:t>
            </a:r>
            <a:endParaRPr kumimoji="1" lang="en-US" altLang="zh-CN" sz="2400" dirty="0">
              <a:solidFill>
                <a:prstClr val="black"/>
              </a:solidFill>
              <a:latin typeface="Microsoft YaHei" panose="020B0503020204020204" pitchFamily="34" charset="-122"/>
              <a:ea typeface="Microsoft YaHei" panose="020B0503020204020204" pitchFamily="34" charset="-122"/>
            </a:endParaRPr>
          </a:p>
        </p:txBody>
      </p:sp>
      <p:sp>
        <p:nvSpPr>
          <p:cNvPr id="3" name="灯片编号占位符 2">
            <a:extLst>
              <a:ext uri="{FF2B5EF4-FFF2-40B4-BE49-F238E27FC236}">
                <a16:creationId xmlns:a16="http://schemas.microsoft.com/office/drawing/2014/main" id="{493E6B42-DAB5-7042-B243-5902825EBD30}"/>
              </a:ext>
            </a:extLst>
          </p:cNvPr>
          <p:cNvSpPr>
            <a:spLocks noGrp="1"/>
          </p:cNvSpPr>
          <p:nvPr>
            <p:ph type="sldNum" sz="quarter" idx="12"/>
          </p:nvPr>
        </p:nvSpPr>
        <p:spPr/>
        <p:txBody>
          <a:bodyPr/>
          <a:lstStyle/>
          <a:p>
            <a:fld id="{8D4D1E41-7A09-AB4A-A4E1-09765ADA2698}" type="slidenum">
              <a:rPr kumimoji="1" lang="zh-CN" altLang="en-US" smtClean="0"/>
              <a:t>13</a:t>
            </a:fld>
            <a:endParaRPr kumimoji="1" lang="zh-CN" altLang="en-US" dirty="0"/>
          </a:p>
        </p:txBody>
      </p:sp>
    </p:spTree>
    <p:extLst>
      <p:ext uri="{BB962C8B-B14F-4D97-AF65-F5344CB8AC3E}">
        <p14:creationId xmlns:p14="http://schemas.microsoft.com/office/powerpoint/2010/main" val="10135076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拜占庭将军问题</a:t>
            </a:r>
            <a:endParaRPr lang="en-US" altLang="zh-CN" dirty="0"/>
          </a:p>
        </p:txBody>
      </p:sp>
      <p:sp>
        <p:nvSpPr>
          <p:cNvPr id="3" name="内容占位符 2"/>
          <p:cNvSpPr>
            <a:spLocks noGrp="1"/>
          </p:cNvSpPr>
          <p:nvPr>
            <p:ph idx="1"/>
          </p:nvPr>
        </p:nvSpPr>
        <p:spPr>
          <a:xfrm>
            <a:off x="838200" y="1510758"/>
            <a:ext cx="9888940" cy="4845592"/>
          </a:xfrm>
        </p:spPr>
        <p:txBody>
          <a:bodyPr>
            <a:normAutofit fontScale="92500"/>
          </a:bodyPr>
          <a:lstStyle/>
          <a:p>
            <a:pPr fontAlgn="auto">
              <a:lnSpc>
                <a:spcPct val="130000"/>
              </a:lnSpc>
            </a:pPr>
            <a:r>
              <a:rPr lang="zh-CN" altLang="en-US" dirty="0"/>
              <a:t>两将军问题（</a:t>
            </a:r>
            <a:r>
              <a:rPr lang="en-US" altLang="zh-CN" dirty="0"/>
              <a:t>Two General Paradox</a:t>
            </a:r>
            <a:r>
              <a:rPr lang="zh-CN" altLang="en-US" dirty="0"/>
              <a:t>）</a:t>
            </a:r>
          </a:p>
          <a:p>
            <a:pPr lvl="1">
              <a:lnSpc>
                <a:spcPct val="130000"/>
              </a:lnSpc>
            </a:pPr>
            <a:r>
              <a:rPr lang="zh-CN" altLang="en-US" dirty="0">
                <a:solidFill>
                  <a:prstClr val="black"/>
                </a:solidFill>
              </a:rPr>
              <a:t>两个将军要通过信使来达成进攻还是撤退的约定，但是信使可以被敌军阻拦或者迷路导致消息无法送法（信息丢失或者伪造）</a:t>
            </a:r>
            <a:endParaRPr lang="en-US" altLang="zh-CN" dirty="0">
              <a:solidFill>
                <a:prstClr val="black"/>
              </a:solidFill>
            </a:endParaRPr>
          </a:p>
          <a:p>
            <a:pPr lvl="1">
              <a:lnSpc>
                <a:spcPct val="130000"/>
              </a:lnSpc>
            </a:pPr>
            <a:r>
              <a:rPr lang="zh-CN" altLang="en-US" dirty="0">
                <a:solidFill>
                  <a:prstClr val="black"/>
                </a:solidFill>
              </a:rPr>
              <a:t>根据</a:t>
            </a:r>
            <a:r>
              <a:rPr lang="en-US" altLang="zh-CN" dirty="0">
                <a:solidFill>
                  <a:prstClr val="black"/>
                </a:solidFill>
              </a:rPr>
              <a:t>FLP</a:t>
            </a:r>
            <a:r>
              <a:rPr lang="zh-CN" altLang="en-US" dirty="0">
                <a:solidFill>
                  <a:prstClr val="black"/>
                </a:solidFill>
              </a:rPr>
              <a:t>不可能原理，两将军问题无通用解</a:t>
            </a:r>
            <a:endParaRPr lang="en-US" altLang="zh-CN" dirty="0">
              <a:solidFill>
                <a:prstClr val="black"/>
              </a:solidFill>
            </a:endParaRPr>
          </a:p>
          <a:p>
            <a:pPr lvl="0">
              <a:lnSpc>
                <a:spcPct val="130000"/>
              </a:lnSpc>
            </a:pPr>
            <a:r>
              <a:rPr lang="zh-CN" altLang="en-US" dirty="0">
                <a:solidFill>
                  <a:prstClr val="black"/>
                </a:solidFill>
              </a:rPr>
              <a:t>拜占庭将军问题（</a:t>
            </a:r>
            <a:r>
              <a:rPr lang="en-US" altLang="zh-CN" dirty="0">
                <a:solidFill>
                  <a:prstClr val="black"/>
                </a:solidFill>
              </a:rPr>
              <a:t>The Byzantine Generals Problem</a:t>
            </a:r>
            <a:r>
              <a:rPr lang="zh-CN" altLang="en-US" dirty="0">
                <a:solidFill>
                  <a:prstClr val="black"/>
                </a:solidFill>
              </a:rPr>
              <a:t>）</a:t>
            </a:r>
          </a:p>
          <a:p>
            <a:pPr lvl="1">
              <a:lnSpc>
                <a:spcPct val="130000"/>
              </a:lnSpc>
            </a:pPr>
            <a:r>
              <a:rPr lang="en-US" altLang="zh-CN" dirty="0">
                <a:solidFill>
                  <a:prstClr val="black"/>
                </a:solidFill>
              </a:rPr>
              <a:t>Leslie </a:t>
            </a:r>
            <a:r>
              <a:rPr lang="en-US" altLang="zh-CN" dirty="0" err="1">
                <a:solidFill>
                  <a:prstClr val="black"/>
                </a:solidFill>
              </a:rPr>
              <a:t>Lamport</a:t>
            </a:r>
            <a:r>
              <a:rPr lang="zh-CN" altLang="en-US" dirty="0">
                <a:solidFill>
                  <a:prstClr val="black"/>
                </a:solidFill>
              </a:rPr>
              <a:t>等科学家于</a:t>
            </a:r>
            <a:r>
              <a:rPr lang="en-US" altLang="zh-CN" dirty="0">
                <a:solidFill>
                  <a:prstClr val="black"/>
                </a:solidFill>
              </a:rPr>
              <a:t>1982</a:t>
            </a:r>
            <a:r>
              <a:rPr lang="zh-CN" altLang="en-US" dirty="0">
                <a:solidFill>
                  <a:prstClr val="black"/>
                </a:solidFill>
              </a:rPr>
              <a:t>年提出用来解释一致性问题的一个虚构模型</a:t>
            </a:r>
            <a:endParaRPr lang="en-US" altLang="zh-CN" dirty="0">
              <a:solidFill>
                <a:prstClr val="black"/>
              </a:solidFill>
            </a:endParaRPr>
          </a:p>
          <a:p>
            <a:pPr lvl="1">
              <a:lnSpc>
                <a:spcPct val="130000"/>
              </a:lnSpc>
            </a:pPr>
            <a:r>
              <a:rPr lang="zh-CN" altLang="en-US" dirty="0">
                <a:solidFill>
                  <a:prstClr val="black"/>
                </a:solidFill>
              </a:rPr>
              <a:t>将军中可能存在叛徒，如何对军事活动达成一致的决定</a:t>
            </a:r>
            <a:endParaRPr lang="en-US" altLang="zh-CN" dirty="0">
              <a:solidFill>
                <a:prstClr val="black"/>
              </a:solidFill>
            </a:endParaRPr>
          </a:p>
          <a:p>
            <a:pPr lvl="1">
              <a:lnSpc>
                <a:spcPct val="130000"/>
              </a:lnSpc>
            </a:pPr>
            <a:r>
              <a:rPr lang="zh-CN" altLang="en-US" dirty="0">
                <a:solidFill>
                  <a:prstClr val="black"/>
                </a:solidFill>
              </a:rPr>
              <a:t>将军总数为 </a:t>
            </a:r>
            <a:r>
              <a:rPr lang="en-US" altLang="zh-CN" dirty="0">
                <a:solidFill>
                  <a:prstClr val="black"/>
                </a:solidFill>
              </a:rPr>
              <a:t>N</a:t>
            </a:r>
            <a:r>
              <a:rPr lang="zh-CN" altLang="en-US" dirty="0">
                <a:solidFill>
                  <a:prstClr val="black"/>
                </a:solidFill>
              </a:rPr>
              <a:t>，叛变将军数为</a:t>
            </a:r>
            <a:r>
              <a:rPr lang="en-US" altLang="zh-CN" dirty="0">
                <a:solidFill>
                  <a:prstClr val="black"/>
                </a:solidFill>
              </a:rPr>
              <a:t>F</a:t>
            </a:r>
            <a:r>
              <a:rPr lang="zh-CN" altLang="en-US" dirty="0">
                <a:solidFill>
                  <a:prstClr val="black"/>
                </a:solidFill>
              </a:rPr>
              <a:t>，则当</a:t>
            </a:r>
            <a:r>
              <a:rPr lang="en-US" altLang="zh-CN" dirty="0">
                <a:solidFill>
                  <a:prstClr val="black"/>
                </a:solidFill>
              </a:rPr>
              <a:t>N≥3F+1</a:t>
            </a:r>
            <a:r>
              <a:rPr lang="zh-CN" altLang="en-US" dirty="0">
                <a:solidFill>
                  <a:prstClr val="black"/>
                </a:solidFill>
              </a:rPr>
              <a:t>时，问题才有解（</a:t>
            </a:r>
            <a:r>
              <a:rPr lang="en-US" altLang="zh-CN" dirty="0">
                <a:solidFill>
                  <a:prstClr val="black"/>
                </a:solidFill>
              </a:rPr>
              <a:t>BFT</a:t>
            </a:r>
            <a:r>
              <a:rPr lang="zh-CN" altLang="en-US" dirty="0">
                <a:solidFill>
                  <a:prstClr val="black"/>
                </a:solidFill>
              </a:rPr>
              <a:t>）</a:t>
            </a:r>
            <a:endParaRPr lang="en-US" altLang="zh-CN" dirty="0">
              <a:solidFill>
                <a:prstClr val="black"/>
              </a:solidFill>
            </a:endParaRPr>
          </a:p>
        </p:txBody>
      </p:sp>
      <p:sp>
        <p:nvSpPr>
          <p:cNvPr id="7" name="灯片编号占位符 6">
            <a:extLst>
              <a:ext uri="{FF2B5EF4-FFF2-40B4-BE49-F238E27FC236}">
                <a16:creationId xmlns:a16="http://schemas.microsoft.com/office/drawing/2014/main" id="{97E080B7-C088-8B4E-B8CF-3281335EB402}"/>
              </a:ext>
            </a:extLst>
          </p:cNvPr>
          <p:cNvSpPr>
            <a:spLocks noGrp="1"/>
          </p:cNvSpPr>
          <p:nvPr>
            <p:ph type="sldNum" sz="quarter" idx="12"/>
          </p:nvPr>
        </p:nvSpPr>
        <p:spPr/>
        <p:txBody>
          <a:bodyPr/>
          <a:lstStyle/>
          <a:p>
            <a:fld id="{8D4D1E41-7A09-AB4A-A4E1-09765ADA2698}" type="slidenum">
              <a:rPr kumimoji="1" lang="zh-CN" altLang="en-US" smtClean="0"/>
              <a:t>14</a:t>
            </a:fld>
            <a:endParaRPr kumimoji="1" lang="zh-CN" altLang="en-US" dirty="0"/>
          </a:p>
        </p:txBody>
      </p:sp>
    </p:spTree>
    <p:extLst>
      <p:ext uri="{BB962C8B-B14F-4D97-AF65-F5344CB8AC3E}">
        <p14:creationId xmlns:p14="http://schemas.microsoft.com/office/powerpoint/2010/main" val="41897054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拜占庭将军问题</a:t>
            </a:r>
            <a:endParaRPr lang="en-US" altLang="zh-CN" dirty="0"/>
          </a:p>
        </p:txBody>
      </p:sp>
      <p:sp>
        <p:nvSpPr>
          <p:cNvPr id="3" name="内容占位符 2"/>
          <p:cNvSpPr>
            <a:spLocks noGrp="1"/>
          </p:cNvSpPr>
          <p:nvPr>
            <p:ph idx="1"/>
          </p:nvPr>
        </p:nvSpPr>
        <p:spPr>
          <a:xfrm>
            <a:off x="838200" y="1510758"/>
            <a:ext cx="9888940" cy="4845592"/>
          </a:xfrm>
        </p:spPr>
        <p:txBody>
          <a:bodyPr>
            <a:normAutofit lnSpcReduction="10000"/>
          </a:bodyPr>
          <a:lstStyle/>
          <a:p>
            <a:pPr lvl="0">
              <a:lnSpc>
                <a:spcPct val="130000"/>
              </a:lnSpc>
            </a:pPr>
            <a:r>
              <a:rPr lang="zh-CN" altLang="en-US" dirty="0">
                <a:solidFill>
                  <a:prstClr val="black"/>
                </a:solidFill>
              </a:rPr>
              <a:t>拜占庭将军问题（</a:t>
            </a:r>
            <a:r>
              <a:rPr lang="en-US" altLang="zh-CN" dirty="0">
                <a:solidFill>
                  <a:prstClr val="black"/>
                </a:solidFill>
              </a:rPr>
              <a:t>The Byzantine Generals Problem</a:t>
            </a:r>
            <a:r>
              <a:rPr lang="zh-CN" altLang="en-US" dirty="0">
                <a:solidFill>
                  <a:prstClr val="black"/>
                </a:solidFill>
              </a:rPr>
              <a:t>）</a:t>
            </a:r>
          </a:p>
          <a:p>
            <a:pPr lvl="1">
              <a:lnSpc>
                <a:spcPct val="130000"/>
              </a:lnSpc>
            </a:pPr>
            <a:r>
              <a:rPr lang="zh-CN" altLang="en-US" dirty="0">
                <a:solidFill>
                  <a:prstClr val="black"/>
                </a:solidFill>
              </a:rPr>
              <a:t>当</a:t>
            </a:r>
            <a:r>
              <a:rPr lang="en-US" altLang="zh-CN" dirty="0">
                <a:solidFill>
                  <a:prstClr val="black"/>
                </a:solidFill>
              </a:rPr>
              <a:t>N=3</a:t>
            </a:r>
            <a:r>
              <a:rPr lang="zh-CN" altLang="en-US" dirty="0">
                <a:solidFill>
                  <a:prstClr val="black"/>
                </a:solidFill>
              </a:rPr>
              <a:t>且</a:t>
            </a:r>
            <a:r>
              <a:rPr lang="en-US" altLang="zh-CN" dirty="0">
                <a:solidFill>
                  <a:prstClr val="black"/>
                </a:solidFill>
              </a:rPr>
              <a:t>F=1</a:t>
            </a:r>
            <a:r>
              <a:rPr lang="zh-CN" altLang="en-US" dirty="0">
                <a:solidFill>
                  <a:prstClr val="black"/>
                </a:solidFill>
              </a:rPr>
              <a:t>时（</a:t>
            </a:r>
            <a:r>
              <a:rPr lang="en-US" altLang="zh-CN" dirty="0">
                <a:solidFill>
                  <a:prstClr val="black"/>
                </a:solidFill>
              </a:rPr>
              <a:t>3&lt;3*1+1</a:t>
            </a:r>
            <a:r>
              <a:rPr lang="zh-CN" altLang="en-US" dirty="0">
                <a:solidFill>
                  <a:prstClr val="black"/>
                </a:solidFill>
              </a:rPr>
              <a:t>），即三个将军中存在一个叛徒时，那么忠诚的将军无法达成行动的一致。主要有以下两种情况：</a:t>
            </a:r>
            <a:endParaRPr lang="en-US" altLang="zh-CN" dirty="0">
              <a:solidFill>
                <a:prstClr val="black"/>
              </a:solidFill>
            </a:endParaRPr>
          </a:p>
          <a:p>
            <a:pPr lvl="1">
              <a:lnSpc>
                <a:spcPct val="130000"/>
              </a:lnSpc>
            </a:pPr>
            <a:r>
              <a:rPr lang="en-US" altLang="zh-CN" dirty="0">
                <a:solidFill>
                  <a:prstClr val="black"/>
                </a:solidFill>
              </a:rPr>
              <a:t>A</a:t>
            </a:r>
            <a:r>
              <a:rPr lang="zh-CN" altLang="en-US" dirty="0">
                <a:solidFill>
                  <a:prstClr val="black"/>
                </a:solidFill>
              </a:rPr>
              <a:t>不是叛徒，发送一个“进攻”的提案给另外一个忠诚的将军</a:t>
            </a:r>
            <a:r>
              <a:rPr lang="en-US" altLang="zh-CN" dirty="0">
                <a:solidFill>
                  <a:prstClr val="black"/>
                </a:solidFill>
              </a:rPr>
              <a:t>B</a:t>
            </a:r>
            <a:r>
              <a:rPr lang="zh-CN" altLang="en-US" dirty="0">
                <a:solidFill>
                  <a:prstClr val="black"/>
                </a:solidFill>
              </a:rPr>
              <a:t>以及叛徒</a:t>
            </a:r>
            <a:r>
              <a:rPr lang="en-US" altLang="zh-CN" dirty="0">
                <a:solidFill>
                  <a:prstClr val="black"/>
                </a:solidFill>
              </a:rPr>
              <a:t>C</a:t>
            </a:r>
            <a:r>
              <a:rPr lang="zh-CN" altLang="en-US" dirty="0">
                <a:solidFill>
                  <a:prstClr val="black"/>
                </a:solidFill>
              </a:rPr>
              <a:t>；然而叛变者</a:t>
            </a:r>
            <a:r>
              <a:rPr lang="en-US" altLang="zh-CN" dirty="0">
                <a:solidFill>
                  <a:prstClr val="black"/>
                </a:solidFill>
              </a:rPr>
              <a:t>C</a:t>
            </a:r>
            <a:r>
              <a:rPr lang="zh-CN" altLang="en-US" dirty="0">
                <a:solidFill>
                  <a:prstClr val="black"/>
                </a:solidFill>
              </a:rPr>
              <a:t>可以向将军</a:t>
            </a:r>
            <a:r>
              <a:rPr lang="en-US" altLang="zh-CN" dirty="0">
                <a:solidFill>
                  <a:prstClr val="black"/>
                </a:solidFill>
              </a:rPr>
              <a:t>B</a:t>
            </a:r>
            <a:r>
              <a:rPr lang="zh-CN" altLang="en-US" dirty="0">
                <a:solidFill>
                  <a:prstClr val="black"/>
                </a:solidFill>
              </a:rPr>
              <a:t>宣称自己收到的是“撤退”的提案，这时候将军</a:t>
            </a:r>
            <a:r>
              <a:rPr lang="en-US" altLang="zh-CN" dirty="0">
                <a:solidFill>
                  <a:prstClr val="black"/>
                </a:solidFill>
              </a:rPr>
              <a:t>B</a:t>
            </a:r>
            <a:r>
              <a:rPr lang="zh-CN" altLang="en-US" dirty="0">
                <a:solidFill>
                  <a:prstClr val="black"/>
                </a:solidFill>
              </a:rPr>
              <a:t>收到两个相反的提案，无法判断谁是叛徒，则系统无法达成一致。</a:t>
            </a:r>
          </a:p>
          <a:p>
            <a:pPr lvl="1">
              <a:lnSpc>
                <a:spcPct val="130000"/>
              </a:lnSpc>
            </a:pPr>
            <a:r>
              <a:rPr lang="zh-CN" altLang="en-US" dirty="0">
                <a:solidFill>
                  <a:prstClr val="black"/>
                </a:solidFill>
              </a:rPr>
              <a:t>另外一种情况，</a:t>
            </a:r>
            <a:r>
              <a:rPr lang="en-US" altLang="zh-CN" dirty="0">
                <a:solidFill>
                  <a:prstClr val="black"/>
                </a:solidFill>
              </a:rPr>
              <a:t>A</a:t>
            </a:r>
            <a:r>
              <a:rPr lang="zh-CN" altLang="en-US" dirty="0">
                <a:solidFill>
                  <a:prstClr val="black"/>
                </a:solidFill>
              </a:rPr>
              <a:t>是叛徒，分别发送“进攻”和“撤退”的提案给忠诚的将军</a:t>
            </a:r>
            <a:r>
              <a:rPr lang="en-US" altLang="zh-CN" dirty="0">
                <a:solidFill>
                  <a:prstClr val="black"/>
                </a:solidFill>
              </a:rPr>
              <a:t>B</a:t>
            </a:r>
            <a:r>
              <a:rPr lang="zh-CN" altLang="en-US" dirty="0">
                <a:solidFill>
                  <a:prstClr val="black"/>
                </a:solidFill>
              </a:rPr>
              <a:t>和</a:t>
            </a:r>
            <a:r>
              <a:rPr lang="en-US" altLang="zh-CN" dirty="0">
                <a:solidFill>
                  <a:prstClr val="black"/>
                </a:solidFill>
              </a:rPr>
              <a:t>C</a:t>
            </a:r>
            <a:r>
              <a:rPr lang="zh-CN" altLang="en-US" dirty="0">
                <a:solidFill>
                  <a:prstClr val="black"/>
                </a:solidFill>
              </a:rPr>
              <a:t>，将军</a:t>
            </a:r>
            <a:r>
              <a:rPr lang="en-US" altLang="zh-CN" dirty="0">
                <a:solidFill>
                  <a:prstClr val="black"/>
                </a:solidFill>
              </a:rPr>
              <a:t>B</a:t>
            </a:r>
            <a:r>
              <a:rPr lang="zh-CN" altLang="en-US" dirty="0">
                <a:solidFill>
                  <a:prstClr val="black"/>
                </a:solidFill>
              </a:rPr>
              <a:t>和</a:t>
            </a:r>
            <a:r>
              <a:rPr lang="en-US" altLang="zh-CN" dirty="0">
                <a:solidFill>
                  <a:prstClr val="black"/>
                </a:solidFill>
              </a:rPr>
              <a:t>C</a:t>
            </a:r>
            <a:r>
              <a:rPr lang="zh-CN" altLang="en-US" dirty="0">
                <a:solidFill>
                  <a:prstClr val="black"/>
                </a:solidFill>
              </a:rPr>
              <a:t>都收到两个相反的提案，无法判断谁是叛徒，则系统无法达成一致</a:t>
            </a:r>
          </a:p>
          <a:p>
            <a:pPr lvl="1">
              <a:lnSpc>
                <a:spcPct val="130000"/>
              </a:lnSpc>
            </a:pPr>
            <a:endParaRPr lang="en-US" altLang="zh-CN" dirty="0">
              <a:solidFill>
                <a:prstClr val="black"/>
              </a:solidFill>
            </a:endParaRPr>
          </a:p>
        </p:txBody>
      </p:sp>
      <p:sp>
        <p:nvSpPr>
          <p:cNvPr id="7" name="灯片编号占位符 6">
            <a:extLst>
              <a:ext uri="{FF2B5EF4-FFF2-40B4-BE49-F238E27FC236}">
                <a16:creationId xmlns:a16="http://schemas.microsoft.com/office/drawing/2014/main" id="{97E080B7-C088-8B4E-B8CF-3281335EB402}"/>
              </a:ext>
            </a:extLst>
          </p:cNvPr>
          <p:cNvSpPr>
            <a:spLocks noGrp="1"/>
          </p:cNvSpPr>
          <p:nvPr>
            <p:ph type="sldNum" sz="quarter" idx="12"/>
          </p:nvPr>
        </p:nvSpPr>
        <p:spPr/>
        <p:txBody>
          <a:bodyPr/>
          <a:lstStyle/>
          <a:p>
            <a:fld id="{8D4D1E41-7A09-AB4A-A4E1-09765ADA2698}" type="slidenum">
              <a:rPr kumimoji="1" lang="zh-CN" altLang="en-US" smtClean="0"/>
              <a:t>15</a:t>
            </a:fld>
            <a:endParaRPr kumimoji="1" lang="zh-CN" altLang="en-US" dirty="0"/>
          </a:p>
        </p:txBody>
      </p:sp>
    </p:spTree>
    <p:extLst>
      <p:ext uri="{BB962C8B-B14F-4D97-AF65-F5344CB8AC3E}">
        <p14:creationId xmlns:p14="http://schemas.microsoft.com/office/powerpoint/2010/main" val="19583895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拜占庭容错算法</a:t>
            </a:r>
            <a:endParaRPr lang="en-US" altLang="zh-CN" dirty="0"/>
          </a:p>
        </p:txBody>
      </p:sp>
      <p:sp>
        <p:nvSpPr>
          <p:cNvPr id="3" name="内容占位符 2"/>
          <p:cNvSpPr>
            <a:spLocks noGrp="1"/>
          </p:cNvSpPr>
          <p:nvPr>
            <p:ph idx="1"/>
          </p:nvPr>
        </p:nvSpPr>
        <p:spPr>
          <a:xfrm>
            <a:off x="838200" y="1510758"/>
            <a:ext cx="9888940" cy="4845592"/>
          </a:xfrm>
        </p:spPr>
        <p:txBody>
          <a:bodyPr>
            <a:normAutofit fontScale="92500" lnSpcReduction="10000"/>
          </a:bodyPr>
          <a:lstStyle/>
          <a:p>
            <a:pPr lvl="0">
              <a:lnSpc>
                <a:spcPct val="130000"/>
              </a:lnSpc>
            </a:pPr>
            <a:r>
              <a:rPr lang="zh-CN" altLang="en-US" dirty="0">
                <a:solidFill>
                  <a:prstClr val="black"/>
                </a:solidFill>
              </a:rPr>
              <a:t>拜占庭容错算法（</a:t>
            </a:r>
            <a:r>
              <a:rPr lang="en-US" altLang="zh-CN" dirty="0">
                <a:solidFill>
                  <a:prstClr val="black"/>
                </a:solidFill>
              </a:rPr>
              <a:t>Byzantine Fault Tolerance</a:t>
            </a:r>
            <a:r>
              <a:rPr lang="zh-CN" altLang="en-US" dirty="0">
                <a:solidFill>
                  <a:prstClr val="black"/>
                </a:solidFill>
              </a:rPr>
              <a:t>，</a:t>
            </a:r>
            <a:r>
              <a:rPr lang="en-US" altLang="zh-CN" dirty="0">
                <a:solidFill>
                  <a:prstClr val="black"/>
                </a:solidFill>
              </a:rPr>
              <a:t>BFT</a:t>
            </a:r>
            <a:r>
              <a:rPr lang="zh-CN" altLang="en-US" dirty="0">
                <a:solidFill>
                  <a:prstClr val="black"/>
                </a:solidFill>
              </a:rPr>
              <a:t>）</a:t>
            </a:r>
          </a:p>
          <a:p>
            <a:pPr lvl="1">
              <a:lnSpc>
                <a:spcPct val="130000"/>
              </a:lnSpc>
            </a:pPr>
            <a:r>
              <a:rPr lang="en-US" altLang="zh-CN" dirty="0" err="1">
                <a:solidFill>
                  <a:prstClr val="black"/>
                </a:solidFill>
              </a:rPr>
              <a:t>Lesile</a:t>
            </a:r>
            <a:r>
              <a:rPr lang="en-US" altLang="zh-CN" dirty="0">
                <a:solidFill>
                  <a:prstClr val="black"/>
                </a:solidFill>
              </a:rPr>
              <a:t> </a:t>
            </a:r>
            <a:r>
              <a:rPr lang="en-US" altLang="zh-CN" dirty="0" err="1">
                <a:solidFill>
                  <a:prstClr val="black"/>
                </a:solidFill>
              </a:rPr>
              <a:t>Lamport</a:t>
            </a:r>
            <a:r>
              <a:rPr lang="zh-CN" altLang="en-US" dirty="0">
                <a:solidFill>
                  <a:prstClr val="black"/>
                </a:solidFill>
              </a:rPr>
              <a:t>等人发表的论文</a:t>
            </a:r>
            <a:r>
              <a:rPr lang="en-US" altLang="zh-CN" dirty="0">
                <a:solidFill>
                  <a:prstClr val="black"/>
                </a:solidFill>
              </a:rPr>
              <a:t>“Polynomial Algorithms for Byzantine Agreement”</a:t>
            </a:r>
            <a:r>
              <a:rPr lang="zh-CN" altLang="en-US" dirty="0">
                <a:solidFill>
                  <a:prstClr val="black"/>
                </a:solidFill>
              </a:rPr>
              <a:t>最早提出</a:t>
            </a:r>
            <a:endParaRPr lang="en-US" altLang="zh-CN" dirty="0">
              <a:solidFill>
                <a:prstClr val="black"/>
              </a:solidFill>
            </a:endParaRPr>
          </a:p>
          <a:p>
            <a:pPr lvl="1">
              <a:lnSpc>
                <a:spcPct val="130000"/>
              </a:lnSpc>
            </a:pPr>
            <a:r>
              <a:rPr lang="zh-CN" altLang="en-US" dirty="0">
                <a:solidFill>
                  <a:prstClr val="black"/>
                </a:solidFill>
              </a:rPr>
              <a:t>复杂度过高，达到</a:t>
            </a:r>
            <a:r>
              <a:rPr lang="en-US" altLang="zh-CN" dirty="0">
                <a:solidFill>
                  <a:prstClr val="black"/>
                </a:solidFill>
              </a:rPr>
              <a:t>O(N^(F+1) )</a:t>
            </a:r>
          </a:p>
          <a:p>
            <a:pPr lvl="0">
              <a:lnSpc>
                <a:spcPct val="130000"/>
              </a:lnSpc>
            </a:pPr>
            <a:r>
              <a:rPr lang="zh-CN" altLang="en-US" dirty="0">
                <a:solidFill>
                  <a:prstClr val="black"/>
                </a:solidFill>
              </a:rPr>
              <a:t>实用拜占庭容错算法（</a:t>
            </a:r>
            <a:r>
              <a:rPr lang="en-US" altLang="zh-CN" dirty="0">
                <a:solidFill>
                  <a:prstClr val="black"/>
                </a:solidFill>
              </a:rPr>
              <a:t>Practical Byzantine Fault Tolerance</a:t>
            </a:r>
            <a:r>
              <a:rPr lang="zh-CN" altLang="en-US" dirty="0">
                <a:solidFill>
                  <a:prstClr val="black"/>
                </a:solidFill>
              </a:rPr>
              <a:t>，</a:t>
            </a:r>
            <a:r>
              <a:rPr lang="en-US" altLang="zh-CN" dirty="0">
                <a:solidFill>
                  <a:prstClr val="black"/>
                </a:solidFill>
              </a:rPr>
              <a:t>PBFT</a:t>
            </a:r>
            <a:r>
              <a:rPr lang="zh-CN" altLang="en-US" dirty="0">
                <a:solidFill>
                  <a:prstClr val="black"/>
                </a:solidFill>
              </a:rPr>
              <a:t>）</a:t>
            </a:r>
          </a:p>
          <a:p>
            <a:pPr lvl="1">
              <a:lnSpc>
                <a:spcPct val="130000"/>
              </a:lnSpc>
            </a:pPr>
            <a:r>
              <a:rPr lang="zh-CN" altLang="en-US" dirty="0">
                <a:solidFill>
                  <a:prstClr val="black"/>
                </a:solidFill>
              </a:rPr>
              <a:t>复杂度</a:t>
            </a:r>
            <a:r>
              <a:rPr lang="en-US" altLang="zh-CN" dirty="0">
                <a:solidFill>
                  <a:prstClr val="black"/>
                </a:solidFill>
              </a:rPr>
              <a:t>O(N^2)</a:t>
            </a:r>
          </a:p>
          <a:p>
            <a:pPr lvl="1">
              <a:lnSpc>
                <a:spcPct val="130000"/>
              </a:lnSpc>
            </a:pPr>
            <a:r>
              <a:rPr lang="zh-CN" altLang="en-US" dirty="0">
                <a:solidFill>
                  <a:prstClr val="black"/>
                </a:solidFill>
              </a:rPr>
              <a:t>在恶意节点不高于总数的</a:t>
            </a:r>
            <a:r>
              <a:rPr lang="en-US" altLang="zh-CN" dirty="0">
                <a:solidFill>
                  <a:prstClr val="black"/>
                </a:solidFill>
              </a:rPr>
              <a:t>1/3</a:t>
            </a:r>
            <a:r>
              <a:rPr lang="zh-CN" altLang="en-US" dirty="0">
                <a:solidFill>
                  <a:prstClr val="black"/>
                </a:solidFill>
              </a:rPr>
              <a:t>并在一个比较弱的同步假设的情况下，该算法能够同时保证安全性（</a:t>
            </a:r>
            <a:r>
              <a:rPr lang="en-US" altLang="zh-CN" dirty="0">
                <a:solidFill>
                  <a:prstClr val="black"/>
                </a:solidFill>
              </a:rPr>
              <a:t>Safety</a:t>
            </a:r>
            <a:r>
              <a:rPr lang="zh-CN" altLang="en-US" dirty="0">
                <a:solidFill>
                  <a:prstClr val="black"/>
                </a:solidFill>
              </a:rPr>
              <a:t>）和活性（</a:t>
            </a:r>
            <a:r>
              <a:rPr lang="en-US" altLang="zh-CN" dirty="0">
                <a:solidFill>
                  <a:prstClr val="black"/>
                </a:solidFill>
              </a:rPr>
              <a:t>Liveness</a:t>
            </a:r>
            <a:r>
              <a:rPr lang="zh-CN" altLang="en-US" dirty="0">
                <a:solidFill>
                  <a:prstClr val="black"/>
                </a:solidFill>
              </a:rPr>
              <a:t>）</a:t>
            </a:r>
            <a:endParaRPr lang="en-US" altLang="zh-CN" dirty="0">
              <a:solidFill>
                <a:prstClr val="black"/>
              </a:solidFill>
            </a:endParaRPr>
          </a:p>
          <a:p>
            <a:pPr lvl="1">
              <a:lnSpc>
                <a:spcPct val="130000"/>
              </a:lnSpc>
            </a:pPr>
            <a:r>
              <a:rPr lang="zh-CN" altLang="en-US" dirty="0">
                <a:solidFill>
                  <a:prstClr val="black"/>
                </a:solidFill>
              </a:rPr>
              <a:t>应用于联盟链的场景而不应用于公有链</a:t>
            </a:r>
            <a:endParaRPr lang="en-US" altLang="zh-CN" dirty="0">
              <a:solidFill>
                <a:prstClr val="black"/>
              </a:solidFill>
            </a:endParaRPr>
          </a:p>
        </p:txBody>
      </p:sp>
      <p:sp>
        <p:nvSpPr>
          <p:cNvPr id="7" name="灯片编号占位符 6">
            <a:extLst>
              <a:ext uri="{FF2B5EF4-FFF2-40B4-BE49-F238E27FC236}">
                <a16:creationId xmlns:a16="http://schemas.microsoft.com/office/drawing/2014/main" id="{97E080B7-C088-8B4E-B8CF-3281335EB402}"/>
              </a:ext>
            </a:extLst>
          </p:cNvPr>
          <p:cNvSpPr>
            <a:spLocks noGrp="1"/>
          </p:cNvSpPr>
          <p:nvPr>
            <p:ph type="sldNum" sz="quarter" idx="12"/>
          </p:nvPr>
        </p:nvSpPr>
        <p:spPr/>
        <p:txBody>
          <a:bodyPr/>
          <a:lstStyle/>
          <a:p>
            <a:fld id="{8D4D1E41-7A09-AB4A-A4E1-09765ADA2698}" type="slidenum">
              <a:rPr kumimoji="1" lang="zh-CN" altLang="en-US" smtClean="0"/>
              <a:t>16</a:t>
            </a:fld>
            <a:endParaRPr kumimoji="1" lang="zh-CN" altLang="en-US" dirty="0"/>
          </a:p>
        </p:txBody>
      </p:sp>
    </p:spTree>
    <p:extLst>
      <p:ext uri="{BB962C8B-B14F-4D97-AF65-F5344CB8AC3E}">
        <p14:creationId xmlns:p14="http://schemas.microsoft.com/office/powerpoint/2010/main" val="28248668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PBFT</a:t>
            </a:r>
            <a:r>
              <a:rPr lang="zh-CN" altLang="en-US" dirty="0"/>
              <a:t>基本概念</a:t>
            </a:r>
            <a:endParaRPr lang="en-US" altLang="zh-CN" dirty="0"/>
          </a:p>
        </p:txBody>
      </p:sp>
      <p:sp>
        <p:nvSpPr>
          <p:cNvPr id="3" name="内容占位符 2"/>
          <p:cNvSpPr>
            <a:spLocks noGrp="1"/>
          </p:cNvSpPr>
          <p:nvPr>
            <p:ph idx="1"/>
          </p:nvPr>
        </p:nvSpPr>
        <p:spPr>
          <a:xfrm>
            <a:off x="838200" y="1510758"/>
            <a:ext cx="9888940" cy="4845592"/>
          </a:xfrm>
        </p:spPr>
        <p:txBody>
          <a:bodyPr>
            <a:normAutofit fontScale="77500" lnSpcReduction="20000"/>
          </a:bodyPr>
          <a:lstStyle/>
          <a:p>
            <a:pPr lvl="1">
              <a:lnSpc>
                <a:spcPct val="130000"/>
              </a:lnSpc>
            </a:pPr>
            <a:r>
              <a:rPr lang="zh-CN" altLang="en-US" dirty="0">
                <a:solidFill>
                  <a:prstClr val="black"/>
                </a:solidFill>
              </a:rPr>
              <a:t>客户端（</a:t>
            </a:r>
            <a:r>
              <a:rPr lang="en-US" altLang="zh-CN" dirty="0">
                <a:solidFill>
                  <a:prstClr val="black"/>
                </a:solidFill>
              </a:rPr>
              <a:t>client</a:t>
            </a:r>
            <a:r>
              <a:rPr lang="zh-CN" altLang="en-US" dirty="0">
                <a:solidFill>
                  <a:prstClr val="black"/>
                </a:solidFill>
              </a:rPr>
              <a:t>）：向主节点发起请求的客户端，在区块链中往往跟主节点合二为一</a:t>
            </a:r>
            <a:endParaRPr lang="en-US" altLang="zh-CN" dirty="0">
              <a:solidFill>
                <a:prstClr val="black"/>
              </a:solidFill>
            </a:endParaRPr>
          </a:p>
          <a:p>
            <a:pPr lvl="1">
              <a:lnSpc>
                <a:spcPct val="130000"/>
              </a:lnSpc>
            </a:pPr>
            <a:r>
              <a:rPr lang="zh-CN" altLang="en-US" dirty="0">
                <a:solidFill>
                  <a:prstClr val="black"/>
                </a:solidFill>
              </a:rPr>
              <a:t>主节点（</a:t>
            </a:r>
            <a:r>
              <a:rPr lang="en-US" altLang="zh-CN" dirty="0">
                <a:solidFill>
                  <a:prstClr val="black"/>
                </a:solidFill>
              </a:rPr>
              <a:t>primary</a:t>
            </a:r>
            <a:r>
              <a:rPr lang="zh-CN" altLang="en-US" dirty="0">
                <a:solidFill>
                  <a:prstClr val="black"/>
                </a:solidFill>
              </a:rPr>
              <a:t>）：提案发起者，在区块链中即为区块发起者，在收到客户端请求后生成新区块并广播</a:t>
            </a:r>
            <a:endParaRPr lang="en-US" altLang="zh-CN" dirty="0">
              <a:solidFill>
                <a:prstClr val="black"/>
              </a:solidFill>
            </a:endParaRPr>
          </a:p>
          <a:p>
            <a:pPr lvl="1">
              <a:lnSpc>
                <a:spcPct val="130000"/>
              </a:lnSpc>
            </a:pPr>
            <a:r>
              <a:rPr lang="zh-CN" altLang="en-US" dirty="0">
                <a:solidFill>
                  <a:prstClr val="black"/>
                </a:solidFill>
              </a:rPr>
              <a:t>验证节点（</a:t>
            </a:r>
            <a:r>
              <a:rPr lang="en-US" altLang="zh-CN" dirty="0">
                <a:solidFill>
                  <a:prstClr val="black"/>
                </a:solidFill>
              </a:rPr>
              <a:t>backup</a:t>
            </a:r>
            <a:r>
              <a:rPr lang="zh-CN" altLang="en-US" dirty="0">
                <a:solidFill>
                  <a:prstClr val="black"/>
                </a:solidFill>
              </a:rPr>
              <a:t>）：提案投票者，在区块链中即为区块验证者，在收到区块后进行验证，然后广播验证结果对区块进行投票与共识</a:t>
            </a:r>
            <a:endParaRPr lang="en-US" altLang="zh-CN" dirty="0">
              <a:solidFill>
                <a:prstClr val="black"/>
              </a:solidFill>
            </a:endParaRPr>
          </a:p>
          <a:p>
            <a:pPr lvl="1">
              <a:lnSpc>
                <a:spcPct val="130000"/>
              </a:lnSpc>
            </a:pPr>
            <a:r>
              <a:rPr lang="zh-CN" altLang="en-US" dirty="0">
                <a:solidFill>
                  <a:prstClr val="black"/>
                </a:solidFill>
              </a:rPr>
              <a:t>视图（</a:t>
            </a:r>
            <a:r>
              <a:rPr lang="en-US" altLang="zh-CN" dirty="0">
                <a:solidFill>
                  <a:prstClr val="black"/>
                </a:solidFill>
              </a:rPr>
              <a:t>view</a:t>
            </a:r>
            <a:r>
              <a:rPr lang="zh-CN" altLang="en-US" dirty="0">
                <a:solidFill>
                  <a:prstClr val="black"/>
                </a:solidFill>
              </a:rPr>
              <a:t>）：一个主节点和多个备份形成一个视图，在该视图上对某个提案达成共识，在区块链中即为对某个区块达成共识。这里需要注意的是，不同的视图的主节点一般是不一样的，即主节点是所有节点轮流做的，每个视图都会重新选择一个主节点</a:t>
            </a:r>
            <a:endParaRPr lang="en-US" altLang="zh-CN" dirty="0">
              <a:solidFill>
                <a:prstClr val="black"/>
              </a:solidFill>
            </a:endParaRPr>
          </a:p>
          <a:p>
            <a:pPr lvl="1">
              <a:lnSpc>
                <a:spcPct val="130000"/>
              </a:lnSpc>
            </a:pPr>
            <a:r>
              <a:rPr lang="zh-CN" altLang="en-US" dirty="0">
                <a:solidFill>
                  <a:prstClr val="black"/>
                </a:solidFill>
              </a:rPr>
              <a:t>编号（</a:t>
            </a:r>
            <a:r>
              <a:rPr lang="en-US" altLang="zh-CN" dirty="0">
                <a:solidFill>
                  <a:prstClr val="black"/>
                </a:solidFill>
              </a:rPr>
              <a:t>sequence number n</a:t>
            </a:r>
            <a:r>
              <a:rPr lang="zh-CN" altLang="en-US" dirty="0">
                <a:solidFill>
                  <a:prstClr val="black"/>
                </a:solidFill>
              </a:rPr>
              <a:t>）：在每个视图中由主节点指定的一个数字，即提案的编号，在区块链中可以理解为区块高度</a:t>
            </a:r>
            <a:endParaRPr lang="en-US" altLang="zh-CN" dirty="0">
              <a:solidFill>
                <a:prstClr val="black"/>
              </a:solidFill>
            </a:endParaRPr>
          </a:p>
          <a:p>
            <a:pPr lvl="1">
              <a:lnSpc>
                <a:spcPct val="130000"/>
              </a:lnSpc>
            </a:pPr>
            <a:r>
              <a:rPr lang="zh-CN" altLang="en-US" dirty="0">
                <a:solidFill>
                  <a:prstClr val="black"/>
                </a:solidFill>
              </a:rPr>
              <a:t>检查点（</a:t>
            </a:r>
            <a:r>
              <a:rPr lang="en-US" altLang="zh-CN" dirty="0">
                <a:solidFill>
                  <a:prstClr val="black"/>
                </a:solidFill>
              </a:rPr>
              <a:t>checkpoint</a:t>
            </a:r>
            <a:r>
              <a:rPr lang="zh-CN" altLang="en-US" dirty="0">
                <a:solidFill>
                  <a:prstClr val="black"/>
                </a:solidFill>
              </a:rPr>
              <a:t>）：如果某个编号</a:t>
            </a:r>
            <a:r>
              <a:rPr lang="en-US" altLang="zh-CN" dirty="0">
                <a:solidFill>
                  <a:prstClr val="black"/>
                </a:solidFill>
              </a:rPr>
              <a:t>n</a:t>
            </a:r>
            <a:r>
              <a:rPr lang="zh-CN" altLang="en-US" dirty="0">
                <a:solidFill>
                  <a:prstClr val="black"/>
                </a:solidFill>
              </a:rPr>
              <a:t>对应的提案（区块）收到了超过</a:t>
            </a:r>
            <a:r>
              <a:rPr lang="en-US" altLang="zh-CN" dirty="0">
                <a:solidFill>
                  <a:prstClr val="black"/>
                </a:solidFill>
              </a:rPr>
              <a:t>2/3</a:t>
            </a:r>
            <a:r>
              <a:rPr lang="zh-CN" altLang="en-US" dirty="0">
                <a:solidFill>
                  <a:prstClr val="black"/>
                </a:solidFill>
              </a:rPr>
              <a:t>的确认，则称为一个检查点</a:t>
            </a:r>
            <a:endParaRPr lang="en-US" altLang="zh-CN" dirty="0">
              <a:solidFill>
                <a:prstClr val="black"/>
              </a:solidFill>
            </a:endParaRPr>
          </a:p>
        </p:txBody>
      </p:sp>
      <p:sp>
        <p:nvSpPr>
          <p:cNvPr id="7" name="灯片编号占位符 6">
            <a:extLst>
              <a:ext uri="{FF2B5EF4-FFF2-40B4-BE49-F238E27FC236}">
                <a16:creationId xmlns:a16="http://schemas.microsoft.com/office/drawing/2014/main" id="{97E080B7-C088-8B4E-B8CF-3281335EB402}"/>
              </a:ext>
            </a:extLst>
          </p:cNvPr>
          <p:cNvSpPr>
            <a:spLocks noGrp="1"/>
          </p:cNvSpPr>
          <p:nvPr>
            <p:ph type="sldNum" sz="quarter" idx="12"/>
          </p:nvPr>
        </p:nvSpPr>
        <p:spPr/>
        <p:txBody>
          <a:bodyPr/>
          <a:lstStyle/>
          <a:p>
            <a:fld id="{8D4D1E41-7A09-AB4A-A4E1-09765ADA2698}" type="slidenum">
              <a:rPr kumimoji="1" lang="zh-CN" altLang="en-US" smtClean="0"/>
              <a:t>17</a:t>
            </a:fld>
            <a:endParaRPr kumimoji="1" lang="zh-CN" altLang="en-US" dirty="0"/>
          </a:p>
        </p:txBody>
      </p:sp>
    </p:spTree>
    <p:extLst>
      <p:ext uri="{BB962C8B-B14F-4D97-AF65-F5344CB8AC3E}">
        <p14:creationId xmlns:p14="http://schemas.microsoft.com/office/powerpoint/2010/main" val="33341110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PBFT</a:t>
            </a:r>
            <a:r>
              <a:rPr lang="zh-CN" altLang="en-US" dirty="0"/>
              <a:t>具体流程</a:t>
            </a:r>
            <a:endParaRPr lang="en-US" altLang="zh-CN" dirty="0"/>
          </a:p>
        </p:txBody>
      </p:sp>
      <p:sp>
        <p:nvSpPr>
          <p:cNvPr id="3" name="内容占位符 2"/>
          <p:cNvSpPr>
            <a:spLocks noGrp="1"/>
          </p:cNvSpPr>
          <p:nvPr>
            <p:ph idx="1"/>
          </p:nvPr>
        </p:nvSpPr>
        <p:spPr>
          <a:xfrm>
            <a:off x="838200" y="1510758"/>
            <a:ext cx="9888940" cy="4845592"/>
          </a:xfrm>
        </p:spPr>
        <p:txBody>
          <a:bodyPr>
            <a:normAutofit/>
          </a:bodyPr>
          <a:lstStyle/>
          <a:p>
            <a:pPr lvl="0">
              <a:lnSpc>
                <a:spcPct val="130000"/>
              </a:lnSpc>
            </a:pPr>
            <a:r>
              <a:rPr lang="zh-CN" altLang="en-US" dirty="0">
                <a:solidFill>
                  <a:prstClr val="black"/>
                </a:solidFill>
              </a:rPr>
              <a:t>三个阶段</a:t>
            </a:r>
          </a:p>
          <a:p>
            <a:pPr lvl="1">
              <a:lnSpc>
                <a:spcPct val="130000"/>
              </a:lnSpc>
            </a:pPr>
            <a:r>
              <a:rPr lang="zh-CN" altLang="en-US" dirty="0">
                <a:solidFill>
                  <a:prstClr val="black"/>
                </a:solidFill>
              </a:rPr>
              <a:t>预准备阶段（</a:t>
            </a:r>
            <a:r>
              <a:rPr lang="en-US" altLang="zh-CN" dirty="0">
                <a:solidFill>
                  <a:prstClr val="black"/>
                </a:solidFill>
              </a:rPr>
              <a:t>PRE-PREPARE</a:t>
            </a:r>
            <a:r>
              <a:rPr lang="zh-CN" altLang="en-US" dirty="0">
                <a:solidFill>
                  <a:prstClr val="black"/>
                </a:solidFill>
              </a:rPr>
              <a:t>阶段），准备阶段（</a:t>
            </a:r>
            <a:r>
              <a:rPr lang="en-US" altLang="zh-CN" dirty="0">
                <a:solidFill>
                  <a:prstClr val="black"/>
                </a:solidFill>
              </a:rPr>
              <a:t>PREPARE</a:t>
            </a:r>
            <a:r>
              <a:rPr lang="zh-CN" altLang="en-US" dirty="0">
                <a:solidFill>
                  <a:prstClr val="black"/>
                </a:solidFill>
              </a:rPr>
              <a:t>阶段），提交阶段（</a:t>
            </a:r>
            <a:r>
              <a:rPr lang="en-US" altLang="zh-CN" dirty="0">
                <a:solidFill>
                  <a:prstClr val="black"/>
                </a:solidFill>
              </a:rPr>
              <a:t>COMMIT</a:t>
            </a:r>
            <a:r>
              <a:rPr lang="zh-CN" altLang="en-US" dirty="0">
                <a:solidFill>
                  <a:prstClr val="black"/>
                </a:solidFill>
              </a:rPr>
              <a:t>阶段）</a:t>
            </a:r>
            <a:endParaRPr lang="en-US" altLang="zh-CN" dirty="0">
              <a:solidFill>
                <a:prstClr val="black"/>
              </a:solidFill>
            </a:endParaRPr>
          </a:p>
          <a:p>
            <a:pPr lvl="1">
              <a:lnSpc>
                <a:spcPct val="130000"/>
              </a:lnSpc>
            </a:pPr>
            <a:r>
              <a:rPr lang="zh-CN" altLang="en-US" dirty="0">
                <a:solidFill>
                  <a:prstClr val="black"/>
                </a:solidFill>
              </a:rPr>
              <a:t>图中的</a:t>
            </a:r>
            <a:r>
              <a:rPr lang="en-US" altLang="zh-CN" dirty="0">
                <a:solidFill>
                  <a:prstClr val="black"/>
                </a:solidFill>
              </a:rPr>
              <a:t>C</a:t>
            </a:r>
            <a:r>
              <a:rPr lang="zh-CN" altLang="en-US" dirty="0">
                <a:solidFill>
                  <a:prstClr val="black"/>
                </a:solidFill>
              </a:rPr>
              <a:t>为客户端，</a:t>
            </a:r>
            <a:r>
              <a:rPr lang="en-US" altLang="zh-CN" dirty="0">
                <a:solidFill>
                  <a:prstClr val="black"/>
                </a:solidFill>
              </a:rPr>
              <a:t>0,1,2,3</a:t>
            </a:r>
            <a:r>
              <a:rPr lang="zh-CN" altLang="en-US" dirty="0">
                <a:solidFill>
                  <a:prstClr val="black"/>
                </a:solidFill>
              </a:rPr>
              <a:t>为共识节点，其中共识节点</a:t>
            </a:r>
            <a:r>
              <a:rPr lang="en-US" altLang="zh-CN" dirty="0">
                <a:solidFill>
                  <a:prstClr val="black"/>
                </a:solidFill>
              </a:rPr>
              <a:t>0-2</a:t>
            </a:r>
            <a:r>
              <a:rPr lang="zh-CN" altLang="en-US" dirty="0">
                <a:solidFill>
                  <a:prstClr val="black"/>
                </a:solidFill>
              </a:rPr>
              <a:t>正常执行，而共识节点</a:t>
            </a:r>
            <a:r>
              <a:rPr lang="en-US" altLang="zh-CN" dirty="0">
                <a:solidFill>
                  <a:prstClr val="black"/>
                </a:solidFill>
              </a:rPr>
              <a:t>3</a:t>
            </a:r>
            <a:r>
              <a:rPr lang="zh-CN" altLang="en-US" dirty="0">
                <a:solidFill>
                  <a:prstClr val="black"/>
                </a:solidFill>
              </a:rPr>
              <a:t>为故障节点，表现为对其它节点的请求无响应</a:t>
            </a:r>
            <a:endParaRPr lang="en-US" altLang="zh-CN" dirty="0">
              <a:solidFill>
                <a:prstClr val="black"/>
              </a:solidFill>
            </a:endParaRPr>
          </a:p>
          <a:p>
            <a:pPr lvl="1">
              <a:lnSpc>
                <a:spcPct val="130000"/>
              </a:lnSpc>
            </a:pPr>
            <a:endParaRPr lang="en-US" altLang="zh-CN" dirty="0">
              <a:solidFill>
                <a:prstClr val="black"/>
              </a:solidFill>
            </a:endParaRPr>
          </a:p>
        </p:txBody>
      </p:sp>
      <p:sp>
        <p:nvSpPr>
          <p:cNvPr id="7" name="灯片编号占位符 6">
            <a:extLst>
              <a:ext uri="{FF2B5EF4-FFF2-40B4-BE49-F238E27FC236}">
                <a16:creationId xmlns:a16="http://schemas.microsoft.com/office/drawing/2014/main" id="{97E080B7-C088-8B4E-B8CF-3281335EB402}"/>
              </a:ext>
            </a:extLst>
          </p:cNvPr>
          <p:cNvSpPr>
            <a:spLocks noGrp="1"/>
          </p:cNvSpPr>
          <p:nvPr>
            <p:ph type="sldNum" sz="quarter" idx="12"/>
          </p:nvPr>
        </p:nvSpPr>
        <p:spPr/>
        <p:txBody>
          <a:bodyPr/>
          <a:lstStyle/>
          <a:p>
            <a:fld id="{8D4D1E41-7A09-AB4A-A4E1-09765ADA2698}" type="slidenum">
              <a:rPr kumimoji="1" lang="zh-CN" altLang="en-US" smtClean="0"/>
              <a:t>18</a:t>
            </a:fld>
            <a:endParaRPr kumimoji="1" lang="zh-CN" altLang="en-US" dirty="0"/>
          </a:p>
        </p:txBody>
      </p:sp>
      <p:pic>
        <p:nvPicPr>
          <p:cNvPr id="6" name="图片 5"/>
          <p:cNvPicPr/>
          <p:nvPr/>
        </p:nvPicPr>
        <p:blipFill>
          <a:blip r:embed="rId3" cstate="print">
            <a:extLst>
              <a:ext uri="{28A0092B-C50C-407E-A947-70E740481C1C}">
                <a14:useLocalDpi xmlns:a14="http://schemas.microsoft.com/office/drawing/2010/main" val="0"/>
              </a:ext>
            </a:extLst>
          </a:blip>
          <a:srcRect/>
          <a:stretch>
            <a:fillRect/>
          </a:stretch>
        </p:blipFill>
        <p:spPr>
          <a:xfrm>
            <a:off x="2348907" y="4184650"/>
            <a:ext cx="6867525" cy="2349500"/>
          </a:xfrm>
          <a:prstGeom prst="rect">
            <a:avLst/>
          </a:prstGeom>
          <a:noFill/>
          <a:ln>
            <a:noFill/>
          </a:ln>
        </p:spPr>
      </p:pic>
    </p:spTree>
    <p:extLst>
      <p:ext uri="{BB962C8B-B14F-4D97-AF65-F5344CB8AC3E}">
        <p14:creationId xmlns:p14="http://schemas.microsoft.com/office/powerpoint/2010/main" val="41648485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PBFT</a:t>
            </a:r>
            <a:r>
              <a:rPr lang="zh-CN" altLang="en-US" dirty="0"/>
              <a:t>具体流程</a:t>
            </a:r>
            <a:endParaRPr lang="en-US" altLang="zh-CN" dirty="0"/>
          </a:p>
        </p:txBody>
      </p:sp>
      <p:sp>
        <p:nvSpPr>
          <p:cNvPr id="3" name="内容占位符 2"/>
          <p:cNvSpPr>
            <a:spLocks noGrp="1"/>
          </p:cNvSpPr>
          <p:nvPr>
            <p:ph idx="1"/>
          </p:nvPr>
        </p:nvSpPr>
        <p:spPr>
          <a:xfrm>
            <a:off x="838200" y="1510758"/>
            <a:ext cx="9888940" cy="4845592"/>
          </a:xfrm>
        </p:spPr>
        <p:txBody>
          <a:bodyPr>
            <a:normAutofit/>
          </a:bodyPr>
          <a:lstStyle/>
          <a:p>
            <a:pPr lvl="0">
              <a:lnSpc>
                <a:spcPct val="130000"/>
              </a:lnSpc>
            </a:pPr>
            <a:r>
              <a:rPr lang="zh-CN" altLang="en-US" dirty="0">
                <a:solidFill>
                  <a:prstClr val="black"/>
                </a:solidFill>
              </a:rPr>
              <a:t>预准备阶段</a:t>
            </a:r>
          </a:p>
          <a:p>
            <a:pPr lvl="1">
              <a:lnSpc>
                <a:spcPct val="130000"/>
              </a:lnSpc>
            </a:pPr>
            <a:r>
              <a:rPr lang="zh-CN" altLang="en-US" dirty="0">
                <a:solidFill>
                  <a:prstClr val="black"/>
                </a:solidFill>
              </a:rPr>
              <a:t>主节点收到客户端发来的请求后构造</a:t>
            </a:r>
            <a:r>
              <a:rPr lang="en-US" altLang="zh-CN" dirty="0">
                <a:solidFill>
                  <a:prstClr val="black"/>
                </a:solidFill>
              </a:rPr>
              <a:t>PRE-PREPARE</a:t>
            </a:r>
            <a:r>
              <a:rPr lang="zh-CN" altLang="en-US" dirty="0">
                <a:solidFill>
                  <a:prstClr val="black"/>
                </a:solidFill>
              </a:rPr>
              <a:t>消息结构体≪</a:t>
            </a:r>
            <a:r>
              <a:rPr lang="en-US" altLang="zh-CN" dirty="0">
                <a:solidFill>
                  <a:prstClr val="black"/>
                </a:solidFill>
              </a:rPr>
              <a:t>PRE-</a:t>
            </a:r>
            <a:r>
              <a:rPr lang="en-US" altLang="zh-CN" dirty="0" err="1">
                <a:solidFill>
                  <a:prstClr val="black"/>
                </a:solidFill>
              </a:rPr>
              <a:t>PREPARE,v,n,d</a:t>
            </a:r>
            <a:r>
              <a:rPr lang="en-US" altLang="zh-CN" dirty="0">
                <a:solidFill>
                  <a:prstClr val="black"/>
                </a:solidFill>
              </a:rPr>
              <a:t>&gt;,m&gt;</a:t>
            </a:r>
            <a:r>
              <a:rPr lang="zh-CN" altLang="en-US" dirty="0">
                <a:solidFill>
                  <a:prstClr val="black"/>
                </a:solidFill>
              </a:rPr>
              <a:t>，签名广播给其他节点</a:t>
            </a:r>
            <a:endParaRPr lang="en-US" altLang="zh-CN" dirty="0">
              <a:solidFill>
                <a:prstClr val="black"/>
              </a:solidFill>
            </a:endParaRPr>
          </a:p>
          <a:p>
            <a:pPr lvl="1">
              <a:lnSpc>
                <a:spcPct val="130000"/>
              </a:lnSpc>
            </a:pPr>
            <a:r>
              <a:rPr lang="zh-CN" altLang="en-US" dirty="0">
                <a:solidFill>
                  <a:prstClr val="black"/>
                </a:solidFill>
              </a:rPr>
              <a:t>验证节点收到主节点的</a:t>
            </a:r>
            <a:r>
              <a:rPr lang="en-US" altLang="zh-CN" dirty="0">
                <a:solidFill>
                  <a:prstClr val="black"/>
                </a:solidFill>
              </a:rPr>
              <a:t>PRE-PREPARE</a:t>
            </a:r>
            <a:r>
              <a:rPr lang="zh-CN" altLang="en-US" dirty="0">
                <a:solidFill>
                  <a:prstClr val="black"/>
                </a:solidFill>
              </a:rPr>
              <a:t>消息后，会对消息进行检验</a:t>
            </a:r>
            <a:endParaRPr lang="en-US" altLang="zh-CN" dirty="0">
              <a:solidFill>
                <a:prstClr val="black"/>
              </a:solidFill>
            </a:endParaRPr>
          </a:p>
          <a:p>
            <a:pPr lvl="1">
              <a:lnSpc>
                <a:spcPct val="130000"/>
              </a:lnSpc>
            </a:pPr>
            <a:r>
              <a:rPr lang="zh-CN" altLang="en-US" dirty="0">
                <a:solidFill>
                  <a:prstClr val="black"/>
                </a:solidFill>
              </a:rPr>
              <a:t>检验通过之后，节点会构造</a:t>
            </a:r>
            <a:r>
              <a:rPr lang="en-US" altLang="zh-CN" dirty="0">
                <a:solidFill>
                  <a:prstClr val="black"/>
                </a:solidFill>
              </a:rPr>
              <a:t>REPARE</a:t>
            </a:r>
            <a:r>
              <a:rPr lang="zh-CN" altLang="en-US" dirty="0">
                <a:solidFill>
                  <a:prstClr val="black"/>
                </a:solidFill>
              </a:rPr>
              <a:t>消息结构体</a:t>
            </a:r>
            <a:r>
              <a:rPr lang="en-US" altLang="zh-CN" dirty="0">
                <a:solidFill>
                  <a:prstClr val="black"/>
                </a:solidFill>
              </a:rPr>
              <a:t>&lt;&lt;</a:t>
            </a:r>
            <a:r>
              <a:rPr lang="en-US" altLang="zh-CN" dirty="0" err="1">
                <a:solidFill>
                  <a:prstClr val="black"/>
                </a:solidFill>
              </a:rPr>
              <a:t>PREPARE,v,n,d,i</a:t>
            </a:r>
            <a:r>
              <a:rPr lang="en-US" altLang="zh-CN" dirty="0">
                <a:solidFill>
                  <a:prstClr val="black"/>
                </a:solidFill>
              </a:rPr>
              <a:t>&gt;&gt;</a:t>
            </a:r>
            <a:r>
              <a:rPr lang="zh-CN" altLang="en-US" dirty="0">
                <a:solidFill>
                  <a:prstClr val="black"/>
                </a:solidFill>
              </a:rPr>
              <a:t>，签名后广播给其他节点，</a:t>
            </a:r>
            <a:r>
              <a:rPr lang="en-US" altLang="zh-CN" dirty="0" err="1">
                <a:solidFill>
                  <a:prstClr val="black"/>
                </a:solidFill>
              </a:rPr>
              <a:t>i</a:t>
            </a:r>
            <a:r>
              <a:rPr lang="zh-CN" altLang="en-US" dirty="0">
                <a:solidFill>
                  <a:prstClr val="black"/>
                </a:solidFill>
              </a:rPr>
              <a:t>为本节点的编号</a:t>
            </a:r>
            <a:endParaRPr lang="en-US" altLang="zh-CN" dirty="0">
              <a:solidFill>
                <a:prstClr val="black"/>
              </a:solidFill>
            </a:endParaRPr>
          </a:p>
          <a:p>
            <a:pPr lvl="1">
              <a:lnSpc>
                <a:spcPct val="130000"/>
              </a:lnSpc>
            </a:pPr>
            <a:r>
              <a:rPr lang="zh-CN" altLang="en-US" dirty="0">
                <a:solidFill>
                  <a:prstClr val="black"/>
                </a:solidFill>
              </a:rPr>
              <a:t>在此过程节点将</a:t>
            </a:r>
            <a:r>
              <a:rPr lang="en-US" altLang="zh-CN" dirty="0">
                <a:solidFill>
                  <a:prstClr val="black"/>
                </a:solidFill>
              </a:rPr>
              <a:t>PREPARE</a:t>
            </a:r>
            <a:r>
              <a:rPr lang="zh-CN" altLang="en-US" dirty="0">
                <a:solidFill>
                  <a:prstClr val="black"/>
                </a:solidFill>
              </a:rPr>
              <a:t>消息和</a:t>
            </a:r>
            <a:r>
              <a:rPr lang="en-US" altLang="zh-CN" dirty="0">
                <a:solidFill>
                  <a:prstClr val="black"/>
                </a:solidFill>
              </a:rPr>
              <a:t>PRE-PREPARE</a:t>
            </a:r>
            <a:r>
              <a:rPr lang="zh-CN" altLang="en-US" dirty="0">
                <a:solidFill>
                  <a:prstClr val="black"/>
                </a:solidFill>
              </a:rPr>
              <a:t>消息记录到本地的日志中，用于视图切换中恢复未完成的请求，并重播到网络中在新的视图中继续共识</a:t>
            </a:r>
            <a:endParaRPr lang="en-US" altLang="zh-CN" dirty="0">
              <a:solidFill>
                <a:prstClr val="black"/>
              </a:solidFill>
            </a:endParaRPr>
          </a:p>
        </p:txBody>
      </p:sp>
      <p:sp>
        <p:nvSpPr>
          <p:cNvPr id="7" name="灯片编号占位符 6">
            <a:extLst>
              <a:ext uri="{FF2B5EF4-FFF2-40B4-BE49-F238E27FC236}">
                <a16:creationId xmlns:a16="http://schemas.microsoft.com/office/drawing/2014/main" id="{97E080B7-C088-8B4E-B8CF-3281335EB402}"/>
              </a:ext>
            </a:extLst>
          </p:cNvPr>
          <p:cNvSpPr>
            <a:spLocks noGrp="1"/>
          </p:cNvSpPr>
          <p:nvPr>
            <p:ph type="sldNum" sz="quarter" idx="12"/>
          </p:nvPr>
        </p:nvSpPr>
        <p:spPr/>
        <p:txBody>
          <a:bodyPr/>
          <a:lstStyle/>
          <a:p>
            <a:fld id="{8D4D1E41-7A09-AB4A-A4E1-09765ADA2698}" type="slidenum">
              <a:rPr kumimoji="1" lang="zh-CN" altLang="en-US" smtClean="0"/>
              <a:t>19</a:t>
            </a:fld>
            <a:endParaRPr kumimoji="1" lang="zh-CN" altLang="en-US" dirty="0"/>
          </a:p>
        </p:txBody>
      </p:sp>
    </p:spTree>
    <p:extLst>
      <p:ext uri="{BB962C8B-B14F-4D97-AF65-F5344CB8AC3E}">
        <p14:creationId xmlns:p14="http://schemas.microsoft.com/office/powerpoint/2010/main" val="30270103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PBFT</a:t>
            </a:r>
            <a:r>
              <a:rPr lang="zh-CN" altLang="en-US" dirty="0"/>
              <a:t>具体流程</a:t>
            </a:r>
            <a:endParaRPr lang="en-US" altLang="zh-CN" dirty="0"/>
          </a:p>
        </p:txBody>
      </p:sp>
      <p:sp>
        <p:nvSpPr>
          <p:cNvPr id="3" name="内容占位符 2"/>
          <p:cNvSpPr>
            <a:spLocks noGrp="1"/>
          </p:cNvSpPr>
          <p:nvPr>
            <p:ph idx="1"/>
          </p:nvPr>
        </p:nvSpPr>
        <p:spPr>
          <a:xfrm>
            <a:off x="838200" y="1510758"/>
            <a:ext cx="9888940" cy="4845592"/>
          </a:xfrm>
        </p:spPr>
        <p:txBody>
          <a:bodyPr>
            <a:normAutofit fontScale="92500" lnSpcReduction="10000"/>
          </a:bodyPr>
          <a:lstStyle/>
          <a:p>
            <a:pPr lvl="0">
              <a:lnSpc>
                <a:spcPct val="130000"/>
              </a:lnSpc>
            </a:pPr>
            <a:r>
              <a:rPr lang="zh-CN" altLang="en-US" dirty="0">
                <a:solidFill>
                  <a:prstClr val="black"/>
                </a:solidFill>
              </a:rPr>
              <a:t>准备阶段</a:t>
            </a:r>
          </a:p>
          <a:p>
            <a:pPr lvl="1">
              <a:lnSpc>
                <a:spcPct val="130000"/>
              </a:lnSpc>
            </a:pPr>
            <a:r>
              <a:rPr lang="zh-CN" altLang="en-US" dirty="0">
                <a:solidFill>
                  <a:prstClr val="black"/>
                </a:solidFill>
              </a:rPr>
              <a:t>当节点收到其他节点的</a:t>
            </a:r>
            <a:r>
              <a:rPr lang="en-US" altLang="zh-CN" dirty="0">
                <a:solidFill>
                  <a:prstClr val="black"/>
                </a:solidFill>
              </a:rPr>
              <a:t>PREPARE</a:t>
            </a:r>
            <a:r>
              <a:rPr lang="zh-CN" altLang="en-US" dirty="0">
                <a:solidFill>
                  <a:prstClr val="black"/>
                </a:solidFill>
              </a:rPr>
              <a:t>消息，会进行如下检验：检验</a:t>
            </a:r>
            <a:r>
              <a:rPr lang="en-US" altLang="zh-CN" dirty="0">
                <a:solidFill>
                  <a:prstClr val="black"/>
                </a:solidFill>
              </a:rPr>
              <a:t>PREPARE</a:t>
            </a:r>
            <a:r>
              <a:rPr lang="zh-CN" altLang="en-US" dirty="0">
                <a:solidFill>
                  <a:prstClr val="black"/>
                </a:solidFill>
              </a:rPr>
              <a:t>消息的签名是否正确；当前节点是否已经收到与</a:t>
            </a:r>
            <a:r>
              <a:rPr lang="en-US" altLang="zh-CN" dirty="0">
                <a:solidFill>
                  <a:prstClr val="black"/>
                </a:solidFill>
              </a:rPr>
              <a:t>PREPARE</a:t>
            </a:r>
            <a:r>
              <a:rPr lang="zh-CN" altLang="en-US" dirty="0">
                <a:solidFill>
                  <a:prstClr val="black"/>
                </a:solidFill>
              </a:rPr>
              <a:t>消息中</a:t>
            </a:r>
            <a:r>
              <a:rPr lang="en-US" altLang="zh-CN" dirty="0" err="1">
                <a:solidFill>
                  <a:prstClr val="black"/>
                </a:solidFill>
              </a:rPr>
              <a:t>v,n</a:t>
            </a:r>
            <a:r>
              <a:rPr lang="zh-CN" altLang="en-US" dirty="0">
                <a:solidFill>
                  <a:prstClr val="black"/>
                </a:solidFill>
              </a:rPr>
              <a:t>对应的</a:t>
            </a:r>
            <a:r>
              <a:rPr lang="en-US" altLang="zh-CN" dirty="0">
                <a:solidFill>
                  <a:prstClr val="black"/>
                </a:solidFill>
              </a:rPr>
              <a:t>PRE-PREPARE</a:t>
            </a:r>
            <a:r>
              <a:rPr lang="zh-CN" altLang="en-US" dirty="0">
                <a:solidFill>
                  <a:prstClr val="black"/>
                </a:solidFill>
              </a:rPr>
              <a:t>消息，且</a:t>
            </a:r>
            <a:r>
              <a:rPr lang="en-US" altLang="zh-CN" dirty="0">
                <a:solidFill>
                  <a:prstClr val="black"/>
                </a:solidFill>
              </a:rPr>
              <a:t>n</a:t>
            </a:r>
            <a:r>
              <a:rPr lang="zh-CN" altLang="en-US" dirty="0">
                <a:solidFill>
                  <a:prstClr val="black"/>
                </a:solidFill>
              </a:rPr>
              <a:t>在区间</a:t>
            </a:r>
            <a:r>
              <a:rPr lang="en-US" altLang="zh-CN" dirty="0">
                <a:solidFill>
                  <a:prstClr val="black"/>
                </a:solidFill>
              </a:rPr>
              <a:t>[</a:t>
            </a:r>
            <a:r>
              <a:rPr lang="en-US" altLang="zh-CN" dirty="0" err="1">
                <a:solidFill>
                  <a:prstClr val="black"/>
                </a:solidFill>
              </a:rPr>
              <a:t>h,H</a:t>
            </a:r>
            <a:r>
              <a:rPr lang="en-US" altLang="zh-CN" dirty="0">
                <a:solidFill>
                  <a:prstClr val="black"/>
                </a:solidFill>
              </a:rPr>
              <a:t>]</a:t>
            </a:r>
            <a:r>
              <a:rPr lang="zh-CN" altLang="en-US" dirty="0">
                <a:solidFill>
                  <a:prstClr val="black"/>
                </a:solidFill>
              </a:rPr>
              <a:t>之间；</a:t>
            </a:r>
            <a:r>
              <a:rPr lang="en-US" altLang="zh-CN" dirty="0">
                <a:solidFill>
                  <a:prstClr val="black"/>
                </a:solidFill>
              </a:rPr>
              <a:t>d</a:t>
            </a:r>
            <a:r>
              <a:rPr lang="zh-CN" altLang="en-US" dirty="0">
                <a:solidFill>
                  <a:prstClr val="black"/>
                </a:solidFill>
              </a:rPr>
              <a:t>和当前已收到</a:t>
            </a:r>
            <a:r>
              <a:rPr lang="en-US" altLang="zh-CN" dirty="0">
                <a:solidFill>
                  <a:prstClr val="black"/>
                </a:solidFill>
              </a:rPr>
              <a:t>PRE-PREPARE</a:t>
            </a:r>
            <a:r>
              <a:rPr lang="zh-CN" altLang="en-US" dirty="0">
                <a:solidFill>
                  <a:prstClr val="black"/>
                </a:solidFill>
              </a:rPr>
              <a:t>消息中的</a:t>
            </a:r>
            <a:r>
              <a:rPr lang="en-US" altLang="zh-CN" dirty="0">
                <a:solidFill>
                  <a:prstClr val="black"/>
                </a:solidFill>
              </a:rPr>
              <a:t>d</a:t>
            </a:r>
            <a:r>
              <a:rPr lang="zh-CN" altLang="en-US" dirty="0">
                <a:solidFill>
                  <a:prstClr val="black"/>
                </a:solidFill>
              </a:rPr>
              <a:t>是否一致</a:t>
            </a:r>
            <a:endParaRPr lang="en-US" altLang="zh-CN" dirty="0">
              <a:solidFill>
                <a:prstClr val="black"/>
              </a:solidFill>
            </a:endParaRPr>
          </a:p>
          <a:p>
            <a:pPr lvl="1">
              <a:lnSpc>
                <a:spcPct val="130000"/>
              </a:lnSpc>
            </a:pPr>
            <a:r>
              <a:rPr lang="zh-CN" altLang="en-US" dirty="0">
                <a:solidFill>
                  <a:prstClr val="black"/>
                </a:solidFill>
              </a:rPr>
              <a:t>当节点在规定时间内收到</a:t>
            </a:r>
            <a:r>
              <a:rPr lang="en-US" altLang="zh-CN" dirty="0">
                <a:solidFill>
                  <a:prstClr val="black"/>
                </a:solidFill>
              </a:rPr>
              <a:t>2F+1</a:t>
            </a:r>
            <a:r>
              <a:rPr lang="zh-CN" altLang="en-US" dirty="0">
                <a:solidFill>
                  <a:prstClr val="black"/>
                </a:solidFill>
              </a:rPr>
              <a:t>（包括自己）个通过检验的</a:t>
            </a:r>
            <a:r>
              <a:rPr lang="en-US" altLang="zh-CN" dirty="0">
                <a:solidFill>
                  <a:prstClr val="black"/>
                </a:solidFill>
              </a:rPr>
              <a:t>PREPARE</a:t>
            </a:r>
            <a:r>
              <a:rPr lang="zh-CN" altLang="en-US" dirty="0">
                <a:solidFill>
                  <a:prstClr val="black"/>
                </a:solidFill>
              </a:rPr>
              <a:t>消息后，则会构造</a:t>
            </a:r>
            <a:r>
              <a:rPr lang="en-US" altLang="zh-CN" dirty="0">
                <a:solidFill>
                  <a:prstClr val="black"/>
                </a:solidFill>
              </a:rPr>
              <a:t>COMMIT</a:t>
            </a:r>
            <a:r>
              <a:rPr lang="zh-CN" altLang="en-US" dirty="0">
                <a:solidFill>
                  <a:prstClr val="black"/>
                </a:solidFill>
              </a:rPr>
              <a:t>消息结构体</a:t>
            </a:r>
            <a:r>
              <a:rPr lang="en-US" altLang="zh-CN" dirty="0">
                <a:solidFill>
                  <a:prstClr val="black"/>
                </a:solidFill>
              </a:rPr>
              <a:t>&lt;&lt;</a:t>
            </a:r>
            <a:r>
              <a:rPr lang="en-US" altLang="zh-CN" dirty="0" err="1">
                <a:solidFill>
                  <a:prstClr val="black"/>
                </a:solidFill>
              </a:rPr>
              <a:t>COMMIT,v,n,d,i</a:t>
            </a:r>
            <a:r>
              <a:rPr lang="en-US" altLang="zh-CN" dirty="0">
                <a:solidFill>
                  <a:prstClr val="black"/>
                </a:solidFill>
              </a:rPr>
              <a:t>&gt;&gt;</a:t>
            </a:r>
            <a:r>
              <a:rPr lang="zh-CN" altLang="en-US" dirty="0">
                <a:solidFill>
                  <a:prstClr val="black"/>
                </a:solidFill>
              </a:rPr>
              <a:t>，签名广播给其他节点</a:t>
            </a:r>
            <a:endParaRPr lang="en-US" altLang="zh-CN" dirty="0">
              <a:solidFill>
                <a:prstClr val="black"/>
              </a:solidFill>
            </a:endParaRPr>
          </a:p>
          <a:p>
            <a:pPr lvl="1">
              <a:lnSpc>
                <a:spcPct val="130000"/>
              </a:lnSpc>
            </a:pPr>
            <a:r>
              <a:rPr lang="zh-CN" altLang="en-US" dirty="0">
                <a:solidFill>
                  <a:prstClr val="black"/>
                </a:solidFill>
              </a:rPr>
              <a:t>在此过程中节点将</a:t>
            </a:r>
            <a:r>
              <a:rPr lang="en-US" altLang="zh-CN" dirty="0">
                <a:solidFill>
                  <a:prstClr val="black"/>
                </a:solidFill>
              </a:rPr>
              <a:t>COMMIT</a:t>
            </a:r>
            <a:r>
              <a:rPr lang="zh-CN" altLang="en-US" dirty="0">
                <a:solidFill>
                  <a:prstClr val="black"/>
                </a:solidFill>
              </a:rPr>
              <a:t>消息和其他节点发送的</a:t>
            </a:r>
            <a:r>
              <a:rPr lang="en-US" altLang="zh-CN" dirty="0">
                <a:solidFill>
                  <a:prstClr val="black"/>
                </a:solidFill>
              </a:rPr>
              <a:t>PREPARE</a:t>
            </a:r>
            <a:r>
              <a:rPr lang="zh-CN" altLang="en-US" dirty="0">
                <a:solidFill>
                  <a:prstClr val="black"/>
                </a:solidFill>
              </a:rPr>
              <a:t>消息记录到本地的日志中，用于视图切换中恢复未完成的请求。主节点发送的消息已经达到</a:t>
            </a:r>
            <a:r>
              <a:rPr lang="en-US" altLang="zh-CN" dirty="0">
                <a:solidFill>
                  <a:prstClr val="black"/>
                </a:solidFill>
              </a:rPr>
              <a:t>PREPARED</a:t>
            </a:r>
            <a:r>
              <a:rPr lang="zh-CN" altLang="en-US" dirty="0">
                <a:solidFill>
                  <a:prstClr val="black"/>
                </a:solidFill>
              </a:rPr>
              <a:t>状态</a:t>
            </a:r>
          </a:p>
        </p:txBody>
      </p:sp>
      <p:sp>
        <p:nvSpPr>
          <p:cNvPr id="7" name="灯片编号占位符 6">
            <a:extLst>
              <a:ext uri="{FF2B5EF4-FFF2-40B4-BE49-F238E27FC236}">
                <a16:creationId xmlns:a16="http://schemas.microsoft.com/office/drawing/2014/main" id="{97E080B7-C088-8B4E-B8CF-3281335EB402}"/>
              </a:ext>
            </a:extLst>
          </p:cNvPr>
          <p:cNvSpPr>
            <a:spLocks noGrp="1"/>
          </p:cNvSpPr>
          <p:nvPr>
            <p:ph type="sldNum" sz="quarter" idx="12"/>
          </p:nvPr>
        </p:nvSpPr>
        <p:spPr/>
        <p:txBody>
          <a:bodyPr/>
          <a:lstStyle/>
          <a:p>
            <a:fld id="{8D4D1E41-7A09-AB4A-A4E1-09765ADA2698}" type="slidenum">
              <a:rPr kumimoji="1" lang="zh-CN" altLang="en-US" smtClean="0"/>
              <a:t>20</a:t>
            </a:fld>
            <a:endParaRPr kumimoji="1" lang="zh-CN" altLang="en-US" dirty="0"/>
          </a:p>
        </p:txBody>
      </p:sp>
    </p:spTree>
    <p:extLst>
      <p:ext uri="{BB962C8B-B14F-4D97-AF65-F5344CB8AC3E}">
        <p14:creationId xmlns:p14="http://schemas.microsoft.com/office/powerpoint/2010/main" val="3963284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PBFT</a:t>
            </a:r>
            <a:r>
              <a:rPr lang="zh-CN" altLang="en-US" dirty="0"/>
              <a:t>具体流程</a:t>
            </a:r>
            <a:endParaRPr lang="en-US" altLang="zh-CN" dirty="0"/>
          </a:p>
        </p:txBody>
      </p:sp>
      <p:sp>
        <p:nvSpPr>
          <p:cNvPr id="3" name="内容占位符 2"/>
          <p:cNvSpPr>
            <a:spLocks noGrp="1"/>
          </p:cNvSpPr>
          <p:nvPr>
            <p:ph idx="1"/>
          </p:nvPr>
        </p:nvSpPr>
        <p:spPr>
          <a:xfrm>
            <a:off x="838200" y="1510758"/>
            <a:ext cx="9888940" cy="4845592"/>
          </a:xfrm>
        </p:spPr>
        <p:txBody>
          <a:bodyPr>
            <a:normAutofit fontScale="92500"/>
          </a:bodyPr>
          <a:lstStyle/>
          <a:p>
            <a:pPr lvl="0">
              <a:lnSpc>
                <a:spcPct val="130000"/>
              </a:lnSpc>
            </a:pPr>
            <a:r>
              <a:rPr lang="zh-CN" altLang="en-US" dirty="0">
                <a:solidFill>
                  <a:prstClr val="black"/>
                </a:solidFill>
              </a:rPr>
              <a:t>提交阶段</a:t>
            </a:r>
          </a:p>
          <a:p>
            <a:pPr lvl="1">
              <a:lnSpc>
                <a:spcPct val="130000"/>
              </a:lnSpc>
            </a:pPr>
            <a:r>
              <a:rPr lang="zh-CN" altLang="en-US" dirty="0">
                <a:solidFill>
                  <a:prstClr val="black"/>
                </a:solidFill>
              </a:rPr>
              <a:t>当节点收到来自其他节点的</a:t>
            </a:r>
            <a:r>
              <a:rPr lang="en-US" altLang="zh-CN" dirty="0">
                <a:solidFill>
                  <a:prstClr val="black"/>
                </a:solidFill>
              </a:rPr>
              <a:t>COMMIT</a:t>
            </a:r>
            <a:r>
              <a:rPr lang="zh-CN" altLang="en-US" dirty="0">
                <a:solidFill>
                  <a:prstClr val="black"/>
                </a:solidFill>
              </a:rPr>
              <a:t>消息时，同样会对</a:t>
            </a:r>
            <a:r>
              <a:rPr lang="en-US" altLang="zh-CN" dirty="0">
                <a:solidFill>
                  <a:prstClr val="black"/>
                </a:solidFill>
              </a:rPr>
              <a:t>COMMIT</a:t>
            </a:r>
            <a:r>
              <a:rPr lang="zh-CN" altLang="en-US" dirty="0">
                <a:solidFill>
                  <a:prstClr val="black"/>
                </a:solidFill>
              </a:rPr>
              <a:t>消息进行检验，步骤与对</a:t>
            </a:r>
            <a:r>
              <a:rPr lang="en-US" altLang="zh-CN" dirty="0">
                <a:solidFill>
                  <a:prstClr val="black"/>
                </a:solidFill>
              </a:rPr>
              <a:t>PREPARE</a:t>
            </a:r>
            <a:r>
              <a:rPr lang="zh-CN" altLang="en-US" dirty="0">
                <a:solidFill>
                  <a:prstClr val="black"/>
                </a:solidFill>
              </a:rPr>
              <a:t>消息的相似</a:t>
            </a:r>
            <a:endParaRPr lang="en-US" altLang="zh-CN" dirty="0">
              <a:solidFill>
                <a:prstClr val="black"/>
              </a:solidFill>
            </a:endParaRPr>
          </a:p>
          <a:p>
            <a:pPr lvl="1">
              <a:lnSpc>
                <a:spcPct val="130000"/>
              </a:lnSpc>
            </a:pPr>
            <a:r>
              <a:rPr lang="zh-CN" altLang="en-US" dirty="0">
                <a:solidFill>
                  <a:prstClr val="black"/>
                </a:solidFill>
              </a:rPr>
              <a:t>节点在规定时间内收到</a:t>
            </a:r>
            <a:r>
              <a:rPr lang="en-US" altLang="zh-CN" dirty="0">
                <a:solidFill>
                  <a:prstClr val="black"/>
                </a:solidFill>
              </a:rPr>
              <a:t>2F+1</a:t>
            </a:r>
            <a:r>
              <a:rPr lang="zh-CN" altLang="en-US" dirty="0">
                <a:solidFill>
                  <a:prstClr val="black"/>
                </a:solidFill>
              </a:rPr>
              <a:t>个（包括自己）通过检验的</a:t>
            </a:r>
            <a:r>
              <a:rPr lang="en-US" altLang="zh-CN" dirty="0">
                <a:solidFill>
                  <a:prstClr val="black"/>
                </a:solidFill>
              </a:rPr>
              <a:t>COMMIT</a:t>
            </a:r>
            <a:r>
              <a:rPr lang="zh-CN" altLang="en-US" dirty="0">
                <a:solidFill>
                  <a:prstClr val="black"/>
                </a:solidFill>
              </a:rPr>
              <a:t>消息，说明当前网络中的大部分节点已经对当前视图内的请求达成共识</a:t>
            </a:r>
            <a:endParaRPr lang="en-US" altLang="zh-CN" dirty="0">
              <a:solidFill>
                <a:prstClr val="black"/>
              </a:solidFill>
            </a:endParaRPr>
          </a:p>
          <a:p>
            <a:pPr lvl="1">
              <a:lnSpc>
                <a:spcPct val="130000"/>
              </a:lnSpc>
            </a:pPr>
            <a:r>
              <a:rPr lang="zh-CN" altLang="en-US" dirty="0">
                <a:solidFill>
                  <a:prstClr val="black"/>
                </a:solidFill>
              </a:rPr>
              <a:t>节点会处理消息</a:t>
            </a:r>
            <a:r>
              <a:rPr lang="en-US" altLang="zh-CN" dirty="0">
                <a:solidFill>
                  <a:prstClr val="black"/>
                </a:solidFill>
              </a:rPr>
              <a:t>m</a:t>
            </a:r>
            <a:r>
              <a:rPr lang="zh-CN" altLang="en-US" dirty="0">
                <a:solidFill>
                  <a:prstClr val="black"/>
                </a:solidFill>
              </a:rPr>
              <a:t>中包含的操作。如果有多个</a:t>
            </a:r>
            <a:r>
              <a:rPr lang="en-US" altLang="zh-CN" dirty="0">
                <a:solidFill>
                  <a:prstClr val="black"/>
                </a:solidFill>
              </a:rPr>
              <a:t>m</a:t>
            </a:r>
            <a:r>
              <a:rPr lang="zh-CN" altLang="en-US" dirty="0">
                <a:solidFill>
                  <a:prstClr val="black"/>
                </a:solidFill>
              </a:rPr>
              <a:t>，则按照序号</a:t>
            </a:r>
            <a:r>
              <a:rPr lang="en-US" altLang="zh-CN" dirty="0">
                <a:solidFill>
                  <a:prstClr val="black"/>
                </a:solidFill>
              </a:rPr>
              <a:t>n</a:t>
            </a:r>
            <a:r>
              <a:rPr lang="zh-CN" altLang="en-US" dirty="0">
                <a:solidFill>
                  <a:prstClr val="black"/>
                </a:solidFill>
              </a:rPr>
              <a:t>从小到大执行。执行完成后，节点会返回结果给客户端。同样，在该过程，节点会将其他节点发送的</a:t>
            </a:r>
            <a:r>
              <a:rPr lang="en-US" altLang="zh-CN" dirty="0">
                <a:solidFill>
                  <a:prstClr val="black"/>
                </a:solidFill>
              </a:rPr>
              <a:t>COMMIT</a:t>
            </a:r>
            <a:r>
              <a:rPr lang="zh-CN" altLang="en-US" dirty="0">
                <a:solidFill>
                  <a:prstClr val="black"/>
                </a:solidFill>
              </a:rPr>
              <a:t>消息记录到本地的日志中</a:t>
            </a:r>
            <a:endParaRPr lang="en-US" altLang="zh-CN" dirty="0">
              <a:solidFill>
                <a:prstClr val="black"/>
              </a:solidFill>
            </a:endParaRPr>
          </a:p>
          <a:p>
            <a:pPr lvl="1">
              <a:lnSpc>
                <a:spcPct val="130000"/>
              </a:lnSpc>
            </a:pPr>
            <a:r>
              <a:rPr lang="zh-CN" altLang="en-US" dirty="0">
                <a:solidFill>
                  <a:prstClr val="black"/>
                </a:solidFill>
              </a:rPr>
              <a:t>当客户端收到</a:t>
            </a:r>
            <a:r>
              <a:rPr lang="en-US" altLang="zh-CN" dirty="0">
                <a:solidFill>
                  <a:prstClr val="black"/>
                </a:solidFill>
              </a:rPr>
              <a:t>F+1</a:t>
            </a:r>
            <a:r>
              <a:rPr lang="zh-CN" altLang="en-US" dirty="0">
                <a:solidFill>
                  <a:prstClr val="black"/>
                </a:solidFill>
              </a:rPr>
              <a:t>个相同的结果（来自不同节点）时，说明已经在全网达成共识，否则客户端需要判断是否重新向主节点发起请求</a:t>
            </a:r>
          </a:p>
        </p:txBody>
      </p:sp>
      <p:sp>
        <p:nvSpPr>
          <p:cNvPr id="7" name="灯片编号占位符 6">
            <a:extLst>
              <a:ext uri="{FF2B5EF4-FFF2-40B4-BE49-F238E27FC236}">
                <a16:creationId xmlns:a16="http://schemas.microsoft.com/office/drawing/2014/main" id="{97E080B7-C088-8B4E-B8CF-3281335EB402}"/>
              </a:ext>
            </a:extLst>
          </p:cNvPr>
          <p:cNvSpPr>
            <a:spLocks noGrp="1"/>
          </p:cNvSpPr>
          <p:nvPr>
            <p:ph type="sldNum" sz="quarter" idx="12"/>
          </p:nvPr>
        </p:nvSpPr>
        <p:spPr/>
        <p:txBody>
          <a:bodyPr/>
          <a:lstStyle/>
          <a:p>
            <a:fld id="{8D4D1E41-7A09-AB4A-A4E1-09765ADA2698}" type="slidenum">
              <a:rPr kumimoji="1" lang="zh-CN" altLang="en-US" smtClean="0"/>
              <a:t>21</a:t>
            </a:fld>
            <a:endParaRPr kumimoji="1" lang="zh-CN" altLang="en-US" dirty="0"/>
          </a:p>
        </p:txBody>
      </p:sp>
    </p:spTree>
    <p:extLst>
      <p:ext uri="{BB962C8B-B14F-4D97-AF65-F5344CB8AC3E}">
        <p14:creationId xmlns:p14="http://schemas.microsoft.com/office/powerpoint/2010/main" val="89142802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日志压缩</a:t>
            </a:r>
            <a:endParaRPr lang="en-US" altLang="zh-CN" dirty="0"/>
          </a:p>
        </p:txBody>
      </p:sp>
      <p:sp>
        <p:nvSpPr>
          <p:cNvPr id="3" name="内容占位符 2"/>
          <p:cNvSpPr>
            <a:spLocks noGrp="1"/>
          </p:cNvSpPr>
          <p:nvPr>
            <p:ph idx="1"/>
          </p:nvPr>
        </p:nvSpPr>
        <p:spPr>
          <a:xfrm>
            <a:off x="838200" y="1510758"/>
            <a:ext cx="9888940" cy="4845592"/>
          </a:xfrm>
        </p:spPr>
        <p:txBody>
          <a:bodyPr>
            <a:normAutofit/>
          </a:bodyPr>
          <a:lstStyle/>
          <a:p>
            <a:pPr lvl="0">
              <a:lnSpc>
                <a:spcPct val="130000"/>
              </a:lnSpc>
            </a:pPr>
            <a:r>
              <a:rPr lang="zh-CN" altLang="en-US" dirty="0">
                <a:solidFill>
                  <a:prstClr val="black"/>
                </a:solidFill>
              </a:rPr>
              <a:t>理想情况</a:t>
            </a:r>
          </a:p>
          <a:p>
            <a:pPr lvl="1">
              <a:lnSpc>
                <a:spcPct val="130000"/>
              </a:lnSpc>
            </a:pPr>
            <a:r>
              <a:rPr lang="zh-CN" altLang="en-US" dirty="0">
                <a:solidFill>
                  <a:prstClr val="black"/>
                </a:solidFill>
              </a:rPr>
              <a:t>每执行</a:t>
            </a:r>
            <a:r>
              <a:rPr lang="en-US" altLang="zh-CN" dirty="0">
                <a:solidFill>
                  <a:prstClr val="black"/>
                </a:solidFill>
              </a:rPr>
              <a:t>K</a:t>
            </a:r>
            <a:r>
              <a:rPr lang="zh-CN" altLang="en-US" dirty="0">
                <a:solidFill>
                  <a:prstClr val="black"/>
                </a:solidFill>
              </a:rPr>
              <a:t>个请求后，节点</a:t>
            </a:r>
            <a:r>
              <a:rPr lang="en-US" altLang="zh-CN" dirty="0" err="1">
                <a:solidFill>
                  <a:prstClr val="black"/>
                </a:solidFill>
              </a:rPr>
              <a:t>i</a:t>
            </a:r>
            <a:r>
              <a:rPr lang="zh-CN" altLang="en-US" dirty="0">
                <a:solidFill>
                  <a:prstClr val="black"/>
                </a:solidFill>
              </a:rPr>
              <a:t>会创建一个检查点并广播消息</a:t>
            </a:r>
            <a:r>
              <a:rPr lang="en-US" altLang="zh-CN" dirty="0">
                <a:solidFill>
                  <a:prstClr val="black"/>
                </a:solidFill>
              </a:rPr>
              <a:t>&lt;</a:t>
            </a:r>
            <a:r>
              <a:rPr lang="en-US" altLang="zh-CN" dirty="0" err="1">
                <a:solidFill>
                  <a:prstClr val="black"/>
                </a:solidFill>
              </a:rPr>
              <a:t>CHECKPOINT,n,d,i</a:t>
            </a:r>
            <a:r>
              <a:rPr lang="en-US" altLang="zh-CN" dirty="0">
                <a:solidFill>
                  <a:prstClr val="black"/>
                </a:solidFill>
              </a:rPr>
              <a:t>&gt;</a:t>
            </a:r>
            <a:r>
              <a:rPr lang="zh-CN" altLang="en-US" dirty="0">
                <a:solidFill>
                  <a:prstClr val="black"/>
                </a:solidFill>
              </a:rPr>
              <a:t>给网络中的其他节点，其中</a:t>
            </a:r>
            <a:r>
              <a:rPr lang="en-US" altLang="zh-CN" dirty="0" err="1">
                <a:solidFill>
                  <a:prstClr val="black"/>
                </a:solidFill>
              </a:rPr>
              <a:t>i</a:t>
            </a:r>
            <a:r>
              <a:rPr lang="zh-CN" altLang="en-US" dirty="0">
                <a:solidFill>
                  <a:prstClr val="black"/>
                </a:solidFill>
              </a:rPr>
              <a:t>为本节点的编号，</a:t>
            </a:r>
            <a:r>
              <a:rPr lang="en-US" altLang="zh-CN" dirty="0">
                <a:solidFill>
                  <a:prstClr val="black"/>
                </a:solidFill>
              </a:rPr>
              <a:t>n</a:t>
            </a:r>
            <a:r>
              <a:rPr lang="zh-CN" altLang="en-US" dirty="0">
                <a:solidFill>
                  <a:prstClr val="black"/>
                </a:solidFill>
              </a:rPr>
              <a:t>是最后一次执行的请求的序号，</a:t>
            </a:r>
            <a:r>
              <a:rPr lang="en-US" altLang="zh-CN" dirty="0">
                <a:solidFill>
                  <a:prstClr val="black"/>
                </a:solidFill>
              </a:rPr>
              <a:t>d</a:t>
            </a:r>
            <a:r>
              <a:rPr lang="zh-CN" altLang="en-US" dirty="0">
                <a:solidFill>
                  <a:prstClr val="black"/>
                </a:solidFill>
              </a:rPr>
              <a:t>为执行序号为</a:t>
            </a:r>
            <a:r>
              <a:rPr lang="en-US" altLang="zh-CN" dirty="0">
                <a:solidFill>
                  <a:prstClr val="black"/>
                </a:solidFill>
              </a:rPr>
              <a:t>n</a:t>
            </a:r>
            <a:r>
              <a:rPr lang="zh-CN" altLang="en-US" dirty="0">
                <a:solidFill>
                  <a:prstClr val="black"/>
                </a:solidFill>
              </a:rPr>
              <a:t>的请求后的状态机的状态摘要</a:t>
            </a:r>
            <a:endParaRPr lang="en-US" altLang="zh-CN" dirty="0">
              <a:solidFill>
                <a:prstClr val="black"/>
              </a:solidFill>
            </a:endParaRPr>
          </a:p>
          <a:p>
            <a:pPr lvl="1">
              <a:lnSpc>
                <a:spcPct val="130000"/>
              </a:lnSpc>
            </a:pPr>
            <a:r>
              <a:rPr lang="zh-CN" altLang="en-US" dirty="0">
                <a:solidFill>
                  <a:prstClr val="black"/>
                </a:solidFill>
              </a:rPr>
              <a:t>此外该检查点消息同样会被记录到本地的日志中。当节点</a:t>
            </a:r>
            <a:r>
              <a:rPr lang="en-US" altLang="zh-CN" dirty="0" err="1">
                <a:solidFill>
                  <a:prstClr val="black"/>
                </a:solidFill>
              </a:rPr>
              <a:t>i</a:t>
            </a:r>
            <a:r>
              <a:rPr lang="zh-CN" altLang="en-US" dirty="0">
                <a:solidFill>
                  <a:prstClr val="black"/>
                </a:solidFill>
              </a:rPr>
              <a:t>收到</a:t>
            </a:r>
            <a:r>
              <a:rPr lang="en-US" altLang="zh-CN" dirty="0">
                <a:solidFill>
                  <a:prstClr val="black"/>
                </a:solidFill>
              </a:rPr>
              <a:t>2F+1</a:t>
            </a:r>
            <a:r>
              <a:rPr lang="zh-CN" altLang="en-US" dirty="0">
                <a:solidFill>
                  <a:prstClr val="black"/>
                </a:solidFill>
              </a:rPr>
              <a:t>个（包括自己）通过检验的检查点消息以后，则清除序号小于</a:t>
            </a:r>
            <a:r>
              <a:rPr lang="en-US" altLang="zh-CN" dirty="0">
                <a:solidFill>
                  <a:prstClr val="black"/>
                </a:solidFill>
              </a:rPr>
              <a:t>n</a:t>
            </a:r>
            <a:r>
              <a:rPr lang="zh-CN" altLang="en-US" dirty="0">
                <a:solidFill>
                  <a:prstClr val="black"/>
                </a:solidFill>
              </a:rPr>
              <a:t>的消息。同时，该检查点变成稳定检查点，其高度为</a:t>
            </a:r>
            <a:r>
              <a:rPr lang="en-US" altLang="zh-CN" dirty="0">
                <a:solidFill>
                  <a:prstClr val="black"/>
                </a:solidFill>
              </a:rPr>
              <a:t>n</a:t>
            </a:r>
            <a:endParaRPr lang="zh-CN" altLang="en-US" dirty="0">
              <a:solidFill>
                <a:prstClr val="black"/>
              </a:solidFill>
            </a:endParaRPr>
          </a:p>
        </p:txBody>
      </p:sp>
      <p:sp>
        <p:nvSpPr>
          <p:cNvPr id="7" name="灯片编号占位符 6">
            <a:extLst>
              <a:ext uri="{FF2B5EF4-FFF2-40B4-BE49-F238E27FC236}">
                <a16:creationId xmlns:a16="http://schemas.microsoft.com/office/drawing/2014/main" id="{97E080B7-C088-8B4E-B8CF-3281335EB402}"/>
              </a:ext>
            </a:extLst>
          </p:cNvPr>
          <p:cNvSpPr>
            <a:spLocks noGrp="1"/>
          </p:cNvSpPr>
          <p:nvPr>
            <p:ph type="sldNum" sz="quarter" idx="12"/>
          </p:nvPr>
        </p:nvSpPr>
        <p:spPr/>
        <p:txBody>
          <a:bodyPr/>
          <a:lstStyle/>
          <a:p>
            <a:fld id="{8D4D1E41-7A09-AB4A-A4E1-09765ADA2698}" type="slidenum">
              <a:rPr kumimoji="1" lang="zh-CN" altLang="en-US" smtClean="0"/>
              <a:t>22</a:t>
            </a:fld>
            <a:endParaRPr kumimoji="1" lang="zh-CN" altLang="en-US" dirty="0"/>
          </a:p>
        </p:txBody>
      </p:sp>
    </p:spTree>
    <p:extLst>
      <p:ext uri="{BB962C8B-B14F-4D97-AF65-F5344CB8AC3E}">
        <p14:creationId xmlns:p14="http://schemas.microsoft.com/office/powerpoint/2010/main" val="160028630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日志压缩</a:t>
            </a:r>
            <a:endParaRPr lang="en-US" altLang="zh-CN" dirty="0"/>
          </a:p>
        </p:txBody>
      </p:sp>
      <p:sp>
        <p:nvSpPr>
          <p:cNvPr id="3" name="内容占位符 2"/>
          <p:cNvSpPr>
            <a:spLocks noGrp="1"/>
          </p:cNvSpPr>
          <p:nvPr>
            <p:ph idx="1"/>
          </p:nvPr>
        </p:nvSpPr>
        <p:spPr>
          <a:xfrm>
            <a:off x="838200" y="1510758"/>
            <a:ext cx="9888940" cy="4845592"/>
          </a:xfrm>
        </p:spPr>
        <p:txBody>
          <a:bodyPr>
            <a:normAutofit fontScale="85000" lnSpcReduction="20000"/>
          </a:bodyPr>
          <a:lstStyle/>
          <a:p>
            <a:pPr lvl="0">
              <a:lnSpc>
                <a:spcPct val="130000"/>
              </a:lnSpc>
            </a:pPr>
            <a:r>
              <a:rPr lang="zh-CN" altLang="en-US" dirty="0">
                <a:solidFill>
                  <a:prstClr val="black"/>
                </a:solidFill>
              </a:rPr>
              <a:t>实际情况</a:t>
            </a:r>
          </a:p>
          <a:p>
            <a:pPr lvl="1">
              <a:lnSpc>
                <a:spcPct val="130000"/>
              </a:lnSpc>
            </a:pPr>
            <a:r>
              <a:rPr lang="zh-CN" altLang="en-US" dirty="0">
                <a:solidFill>
                  <a:prstClr val="black"/>
                </a:solidFill>
              </a:rPr>
              <a:t>当节点</a:t>
            </a:r>
            <a:r>
              <a:rPr lang="en-US" altLang="zh-CN" dirty="0" err="1">
                <a:solidFill>
                  <a:prstClr val="black"/>
                </a:solidFill>
              </a:rPr>
              <a:t>i</a:t>
            </a:r>
            <a:r>
              <a:rPr lang="zh-CN" altLang="en-US" dirty="0">
                <a:solidFill>
                  <a:prstClr val="black"/>
                </a:solidFill>
              </a:rPr>
              <a:t>向其他节点发出检查点消息后，其他节点并未处理完</a:t>
            </a:r>
            <a:r>
              <a:rPr lang="en-US" altLang="zh-CN" dirty="0">
                <a:solidFill>
                  <a:prstClr val="black"/>
                </a:solidFill>
              </a:rPr>
              <a:t>K</a:t>
            </a:r>
            <a:r>
              <a:rPr lang="zh-CN" altLang="en-US" dirty="0">
                <a:solidFill>
                  <a:prstClr val="black"/>
                </a:solidFill>
              </a:rPr>
              <a:t>个请求，因此并不会立刻对节点</a:t>
            </a:r>
            <a:r>
              <a:rPr lang="en-US" altLang="zh-CN" dirty="0" err="1">
                <a:solidFill>
                  <a:prstClr val="black"/>
                </a:solidFill>
              </a:rPr>
              <a:t>i</a:t>
            </a:r>
            <a:r>
              <a:rPr lang="zh-CN" altLang="en-US" dirty="0">
                <a:solidFill>
                  <a:prstClr val="black"/>
                </a:solidFill>
              </a:rPr>
              <a:t>作出响应</a:t>
            </a:r>
            <a:endParaRPr lang="en-US" altLang="zh-CN" dirty="0">
              <a:solidFill>
                <a:prstClr val="black"/>
              </a:solidFill>
            </a:endParaRPr>
          </a:p>
          <a:p>
            <a:pPr lvl="1">
              <a:lnSpc>
                <a:spcPct val="130000"/>
              </a:lnSpc>
            </a:pPr>
            <a:r>
              <a:rPr lang="zh-CN" altLang="en-US" dirty="0">
                <a:solidFill>
                  <a:prstClr val="black"/>
                </a:solidFill>
              </a:rPr>
              <a:t>节点</a:t>
            </a:r>
            <a:r>
              <a:rPr lang="en-US" altLang="zh-CN" dirty="0" err="1">
                <a:solidFill>
                  <a:prstClr val="black"/>
                </a:solidFill>
              </a:rPr>
              <a:t>i</a:t>
            </a:r>
            <a:r>
              <a:rPr lang="zh-CN" altLang="en-US" dirty="0">
                <a:solidFill>
                  <a:prstClr val="black"/>
                </a:solidFill>
              </a:rPr>
              <a:t>并不会等待其他节点的回复，而是继续按照自己的节奏继续向前处理请求，但是节点</a:t>
            </a:r>
            <a:r>
              <a:rPr lang="en-US" altLang="zh-CN" dirty="0" err="1">
                <a:solidFill>
                  <a:prstClr val="black"/>
                </a:solidFill>
              </a:rPr>
              <a:t>i</a:t>
            </a:r>
            <a:r>
              <a:rPr lang="zh-CN" altLang="en-US" dirty="0">
                <a:solidFill>
                  <a:prstClr val="black"/>
                </a:solidFill>
              </a:rPr>
              <a:t>创建的检查点在此时并未变成稳定检查点</a:t>
            </a:r>
            <a:endParaRPr lang="en-US" altLang="zh-CN" dirty="0">
              <a:solidFill>
                <a:prstClr val="black"/>
              </a:solidFill>
            </a:endParaRPr>
          </a:p>
          <a:p>
            <a:pPr lvl="1">
              <a:lnSpc>
                <a:spcPct val="130000"/>
              </a:lnSpc>
            </a:pPr>
            <a:r>
              <a:rPr lang="zh-CN" altLang="en-US" dirty="0">
                <a:solidFill>
                  <a:prstClr val="black"/>
                </a:solidFill>
              </a:rPr>
              <a:t>为了防止节点</a:t>
            </a:r>
            <a:r>
              <a:rPr lang="en-US" altLang="zh-CN" dirty="0" err="1">
                <a:solidFill>
                  <a:prstClr val="black"/>
                </a:solidFill>
              </a:rPr>
              <a:t>i</a:t>
            </a:r>
            <a:r>
              <a:rPr lang="zh-CN" altLang="en-US" dirty="0">
                <a:solidFill>
                  <a:prstClr val="black"/>
                </a:solidFill>
              </a:rPr>
              <a:t>处理请求过快，导致其创建的多个检查点一直无法变成稳定检查点，从而使得日志积压</a:t>
            </a:r>
            <a:endParaRPr lang="en-US" altLang="zh-CN" dirty="0">
              <a:solidFill>
                <a:prstClr val="black"/>
              </a:solidFill>
            </a:endParaRPr>
          </a:p>
          <a:p>
            <a:pPr lvl="1">
              <a:lnSpc>
                <a:spcPct val="130000"/>
              </a:lnSpc>
            </a:pPr>
            <a:r>
              <a:rPr lang="en-US" altLang="zh-CN" dirty="0">
                <a:solidFill>
                  <a:prstClr val="black"/>
                </a:solidFill>
              </a:rPr>
              <a:t>PBFT</a:t>
            </a:r>
            <a:r>
              <a:rPr lang="zh-CN" altLang="en-US" dirty="0">
                <a:solidFill>
                  <a:prstClr val="black"/>
                </a:solidFill>
              </a:rPr>
              <a:t>设置了上述提及的高低水位区间</a:t>
            </a:r>
            <a:r>
              <a:rPr lang="en-US" altLang="zh-CN" dirty="0">
                <a:solidFill>
                  <a:prstClr val="black"/>
                </a:solidFill>
              </a:rPr>
              <a:t>[</a:t>
            </a:r>
            <a:r>
              <a:rPr lang="en-US" altLang="zh-CN" dirty="0" err="1">
                <a:solidFill>
                  <a:prstClr val="black"/>
                </a:solidFill>
              </a:rPr>
              <a:t>h,H</a:t>
            </a:r>
            <a:r>
              <a:rPr lang="en-US" altLang="zh-CN" dirty="0">
                <a:solidFill>
                  <a:prstClr val="black"/>
                </a:solidFill>
              </a:rPr>
              <a:t>]</a:t>
            </a:r>
            <a:r>
              <a:rPr lang="zh-CN" altLang="en-US" dirty="0">
                <a:solidFill>
                  <a:prstClr val="black"/>
                </a:solidFill>
              </a:rPr>
              <a:t>。其中低水位</a:t>
            </a:r>
            <a:r>
              <a:rPr lang="en-US" altLang="zh-CN" dirty="0">
                <a:solidFill>
                  <a:prstClr val="black"/>
                </a:solidFill>
              </a:rPr>
              <a:t>h</a:t>
            </a:r>
            <a:r>
              <a:rPr lang="zh-CN" altLang="en-US" dirty="0">
                <a:solidFill>
                  <a:prstClr val="black"/>
                </a:solidFill>
              </a:rPr>
              <a:t>等于上一个稳定检查点的高度，高水位</a:t>
            </a:r>
            <a:r>
              <a:rPr lang="en-US" altLang="zh-CN" dirty="0">
                <a:solidFill>
                  <a:prstClr val="black"/>
                </a:solidFill>
              </a:rPr>
              <a:t>H=</a:t>
            </a:r>
            <a:r>
              <a:rPr lang="en-US" altLang="zh-CN" dirty="0" err="1">
                <a:solidFill>
                  <a:prstClr val="black"/>
                </a:solidFill>
              </a:rPr>
              <a:t>h+L</a:t>
            </a:r>
            <a:r>
              <a:rPr lang="zh-CN" altLang="en-US" dirty="0">
                <a:solidFill>
                  <a:prstClr val="black"/>
                </a:solidFill>
              </a:rPr>
              <a:t>，其中</a:t>
            </a:r>
            <a:r>
              <a:rPr lang="en-US" altLang="zh-CN" dirty="0">
                <a:solidFill>
                  <a:prstClr val="black"/>
                </a:solidFill>
              </a:rPr>
              <a:t>L</a:t>
            </a:r>
            <a:r>
              <a:rPr lang="zh-CN" altLang="en-US" dirty="0">
                <a:solidFill>
                  <a:prstClr val="black"/>
                </a:solidFill>
              </a:rPr>
              <a:t>是系统设定的数值，等于节点周期处理请求数值</a:t>
            </a:r>
            <a:r>
              <a:rPr lang="en-US" altLang="zh-CN" dirty="0">
                <a:solidFill>
                  <a:prstClr val="black"/>
                </a:solidFill>
              </a:rPr>
              <a:t>K</a:t>
            </a:r>
            <a:r>
              <a:rPr lang="zh-CN" altLang="en-US" dirty="0">
                <a:solidFill>
                  <a:prstClr val="black"/>
                </a:solidFill>
              </a:rPr>
              <a:t>的整数倍</a:t>
            </a:r>
            <a:endParaRPr lang="en-US" altLang="zh-CN" dirty="0">
              <a:solidFill>
                <a:prstClr val="black"/>
              </a:solidFill>
            </a:endParaRPr>
          </a:p>
          <a:p>
            <a:pPr lvl="1">
              <a:lnSpc>
                <a:spcPct val="130000"/>
              </a:lnSpc>
            </a:pPr>
            <a:r>
              <a:rPr lang="zh-CN" altLang="en-US" dirty="0">
                <a:solidFill>
                  <a:prstClr val="black"/>
                </a:solidFill>
              </a:rPr>
              <a:t>例如可以设置</a:t>
            </a:r>
            <a:r>
              <a:rPr lang="en-US" altLang="zh-CN" dirty="0">
                <a:solidFill>
                  <a:prstClr val="black"/>
                </a:solidFill>
              </a:rPr>
              <a:t>L=3K</a:t>
            </a:r>
            <a:r>
              <a:rPr lang="zh-CN" altLang="en-US" dirty="0">
                <a:solidFill>
                  <a:prstClr val="black"/>
                </a:solidFill>
              </a:rPr>
              <a:t>。当节点</a:t>
            </a:r>
            <a:r>
              <a:rPr lang="en-US" altLang="zh-CN" dirty="0" err="1">
                <a:solidFill>
                  <a:prstClr val="black"/>
                </a:solidFill>
              </a:rPr>
              <a:t>i</a:t>
            </a:r>
            <a:r>
              <a:rPr lang="zh-CN" altLang="en-US" dirty="0">
                <a:solidFill>
                  <a:prstClr val="black"/>
                </a:solidFill>
              </a:rPr>
              <a:t>处理的请求序号到达高水位</a:t>
            </a:r>
            <a:r>
              <a:rPr lang="en-US" altLang="zh-CN" dirty="0">
                <a:solidFill>
                  <a:prstClr val="black"/>
                </a:solidFill>
              </a:rPr>
              <a:t>H=L+3K</a:t>
            </a:r>
            <a:r>
              <a:rPr lang="zh-CN" altLang="en-US" dirty="0">
                <a:solidFill>
                  <a:prstClr val="black"/>
                </a:solidFill>
              </a:rPr>
              <a:t>，便会暂时停止脚步，直到稳点检查点发生变化再继续向前，从而避免日志的积压</a:t>
            </a:r>
          </a:p>
        </p:txBody>
      </p:sp>
      <p:sp>
        <p:nvSpPr>
          <p:cNvPr id="7" name="灯片编号占位符 6">
            <a:extLst>
              <a:ext uri="{FF2B5EF4-FFF2-40B4-BE49-F238E27FC236}">
                <a16:creationId xmlns:a16="http://schemas.microsoft.com/office/drawing/2014/main" id="{97E080B7-C088-8B4E-B8CF-3281335EB402}"/>
              </a:ext>
            </a:extLst>
          </p:cNvPr>
          <p:cNvSpPr>
            <a:spLocks noGrp="1"/>
          </p:cNvSpPr>
          <p:nvPr>
            <p:ph type="sldNum" sz="quarter" idx="12"/>
          </p:nvPr>
        </p:nvSpPr>
        <p:spPr/>
        <p:txBody>
          <a:bodyPr/>
          <a:lstStyle/>
          <a:p>
            <a:fld id="{8D4D1E41-7A09-AB4A-A4E1-09765ADA2698}" type="slidenum">
              <a:rPr kumimoji="1" lang="zh-CN" altLang="en-US" smtClean="0"/>
              <a:t>23</a:t>
            </a:fld>
            <a:endParaRPr kumimoji="1" lang="zh-CN" altLang="en-US" dirty="0"/>
          </a:p>
        </p:txBody>
      </p:sp>
    </p:spTree>
    <p:extLst>
      <p:ext uri="{BB962C8B-B14F-4D97-AF65-F5344CB8AC3E}">
        <p14:creationId xmlns:p14="http://schemas.microsoft.com/office/powerpoint/2010/main" val="388831750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视图切换</a:t>
            </a:r>
            <a:endParaRPr lang="en-US" altLang="zh-CN" dirty="0"/>
          </a:p>
        </p:txBody>
      </p:sp>
      <p:sp>
        <p:nvSpPr>
          <p:cNvPr id="3" name="内容占位符 2"/>
          <p:cNvSpPr>
            <a:spLocks noGrp="1"/>
          </p:cNvSpPr>
          <p:nvPr>
            <p:ph idx="1"/>
          </p:nvPr>
        </p:nvSpPr>
        <p:spPr>
          <a:xfrm>
            <a:off x="838200" y="1510758"/>
            <a:ext cx="9888940" cy="4845592"/>
          </a:xfrm>
        </p:spPr>
        <p:txBody>
          <a:bodyPr>
            <a:normAutofit/>
          </a:bodyPr>
          <a:lstStyle/>
          <a:p>
            <a:pPr lvl="1">
              <a:lnSpc>
                <a:spcPct val="130000"/>
              </a:lnSpc>
            </a:pPr>
            <a:r>
              <a:rPr lang="zh-CN" altLang="en-US" dirty="0">
                <a:solidFill>
                  <a:prstClr val="black"/>
                </a:solidFill>
              </a:rPr>
              <a:t>在每个视图开始或者节点收到消息时，节点</a:t>
            </a:r>
            <a:r>
              <a:rPr lang="en-US" altLang="zh-CN" dirty="0" err="1">
                <a:solidFill>
                  <a:prstClr val="black"/>
                </a:solidFill>
              </a:rPr>
              <a:t>i</a:t>
            </a:r>
            <a:r>
              <a:rPr lang="zh-CN" altLang="en-US" dirty="0">
                <a:solidFill>
                  <a:prstClr val="black"/>
                </a:solidFill>
              </a:rPr>
              <a:t>会启动一个计时器，如果此时刚好有定时器在运行，则会重置计时器</a:t>
            </a:r>
            <a:endParaRPr lang="en-US" altLang="zh-CN" dirty="0">
              <a:solidFill>
                <a:prstClr val="black"/>
              </a:solidFill>
            </a:endParaRPr>
          </a:p>
          <a:p>
            <a:pPr lvl="1">
              <a:lnSpc>
                <a:spcPct val="130000"/>
              </a:lnSpc>
            </a:pPr>
            <a:r>
              <a:rPr lang="zh-CN" altLang="en-US" dirty="0">
                <a:solidFill>
                  <a:prstClr val="black"/>
                </a:solidFill>
              </a:rPr>
              <a:t>但当主节点宕机或者其他情况导致节点</a:t>
            </a:r>
            <a:r>
              <a:rPr lang="en-US" altLang="zh-CN" dirty="0" err="1">
                <a:solidFill>
                  <a:prstClr val="black"/>
                </a:solidFill>
              </a:rPr>
              <a:t>i</a:t>
            </a:r>
            <a:r>
              <a:rPr lang="zh-CN" altLang="en-US" dirty="0">
                <a:solidFill>
                  <a:prstClr val="black"/>
                </a:solidFill>
              </a:rPr>
              <a:t>在当前视图</a:t>
            </a:r>
            <a:r>
              <a:rPr lang="en-US" altLang="zh-CN" dirty="0">
                <a:solidFill>
                  <a:prstClr val="black"/>
                </a:solidFill>
              </a:rPr>
              <a:t>v</a:t>
            </a:r>
            <a:r>
              <a:rPr lang="zh-CN" altLang="en-US" dirty="0">
                <a:solidFill>
                  <a:prstClr val="black"/>
                </a:solidFill>
              </a:rPr>
              <a:t>超时的时候，节点</a:t>
            </a:r>
            <a:r>
              <a:rPr lang="en-US" altLang="zh-CN" dirty="0" err="1">
                <a:solidFill>
                  <a:prstClr val="black"/>
                </a:solidFill>
              </a:rPr>
              <a:t>i</a:t>
            </a:r>
            <a:r>
              <a:rPr lang="zh-CN" altLang="en-US" dirty="0">
                <a:solidFill>
                  <a:prstClr val="black"/>
                </a:solidFill>
              </a:rPr>
              <a:t>就会触发视图切换的操作，启动视图切换的协议</a:t>
            </a:r>
            <a:endParaRPr lang="en-US" altLang="zh-CN" dirty="0">
              <a:solidFill>
                <a:prstClr val="black"/>
              </a:solidFill>
            </a:endParaRPr>
          </a:p>
          <a:p>
            <a:pPr lvl="1">
              <a:lnSpc>
                <a:spcPct val="130000"/>
              </a:lnSpc>
            </a:pPr>
            <a:r>
              <a:rPr lang="zh-CN" altLang="en-US" dirty="0">
                <a:solidFill>
                  <a:prstClr val="black"/>
                </a:solidFill>
              </a:rPr>
              <a:t>节点</a:t>
            </a:r>
            <a:r>
              <a:rPr lang="en-US" altLang="zh-CN" dirty="0" err="1">
                <a:solidFill>
                  <a:prstClr val="black"/>
                </a:solidFill>
              </a:rPr>
              <a:t>i</a:t>
            </a:r>
            <a:r>
              <a:rPr lang="zh-CN" altLang="en-US" dirty="0">
                <a:solidFill>
                  <a:prstClr val="black"/>
                </a:solidFill>
              </a:rPr>
              <a:t>向其他节点广播</a:t>
            </a:r>
            <a:r>
              <a:rPr lang="en-US" altLang="zh-CN" dirty="0">
                <a:solidFill>
                  <a:prstClr val="black"/>
                </a:solidFill>
              </a:rPr>
              <a:t>&lt;VIEW-CHANGE,v+1,n,C,P,i&gt;</a:t>
            </a:r>
            <a:r>
              <a:rPr lang="zh-CN" altLang="en-US" dirty="0">
                <a:solidFill>
                  <a:prstClr val="black"/>
                </a:solidFill>
              </a:rPr>
              <a:t>消息</a:t>
            </a:r>
            <a:endParaRPr lang="en-US" altLang="zh-CN" dirty="0">
              <a:solidFill>
                <a:prstClr val="black"/>
              </a:solidFill>
            </a:endParaRPr>
          </a:p>
          <a:p>
            <a:pPr lvl="1">
              <a:lnSpc>
                <a:spcPct val="130000"/>
              </a:lnSpc>
            </a:pPr>
            <a:r>
              <a:rPr lang="zh-CN" altLang="en-US" dirty="0">
                <a:solidFill>
                  <a:prstClr val="black"/>
                </a:solidFill>
              </a:rPr>
              <a:t>其中</a:t>
            </a:r>
            <a:r>
              <a:rPr lang="en-US" altLang="zh-CN" dirty="0">
                <a:solidFill>
                  <a:prstClr val="black"/>
                </a:solidFill>
              </a:rPr>
              <a:t>n</a:t>
            </a:r>
            <a:r>
              <a:rPr lang="zh-CN" altLang="en-US" dirty="0">
                <a:solidFill>
                  <a:prstClr val="black"/>
                </a:solidFill>
              </a:rPr>
              <a:t>是最新的稳定检查点的高度，</a:t>
            </a:r>
            <a:r>
              <a:rPr lang="en-US" altLang="zh-CN" dirty="0">
                <a:solidFill>
                  <a:prstClr val="black"/>
                </a:solidFill>
              </a:rPr>
              <a:t>C</a:t>
            </a:r>
            <a:r>
              <a:rPr lang="zh-CN" altLang="en-US" dirty="0">
                <a:solidFill>
                  <a:prstClr val="black"/>
                </a:solidFill>
              </a:rPr>
              <a:t>是节点</a:t>
            </a:r>
            <a:r>
              <a:rPr lang="en-US" altLang="zh-CN" dirty="0" err="1">
                <a:solidFill>
                  <a:prstClr val="black"/>
                </a:solidFill>
              </a:rPr>
              <a:t>i</a:t>
            </a:r>
            <a:r>
              <a:rPr lang="zh-CN" altLang="en-US" dirty="0">
                <a:solidFill>
                  <a:prstClr val="black"/>
                </a:solidFill>
              </a:rPr>
              <a:t>保存的经过</a:t>
            </a:r>
            <a:r>
              <a:rPr lang="en-US" altLang="zh-CN" dirty="0">
                <a:solidFill>
                  <a:prstClr val="black"/>
                </a:solidFill>
              </a:rPr>
              <a:t>2F+1</a:t>
            </a:r>
            <a:r>
              <a:rPr lang="zh-CN" altLang="en-US" dirty="0">
                <a:solidFill>
                  <a:prstClr val="black"/>
                </a:solidFill>
              </a:rPr>
              <a:t>个（包括自己）节点确认稳定检查点消息的集合，表明该稳定检查点已经达到全网共识，</a:t>
            </a:r>
            <a:r>
              <a:rPr lang="en-US" altLang="zh-CN" dirty="0">
                <a:solidFill>
                  <a:prstClr val="black"/>
                </a:solidFill>
              </a:rPr>
              <a:t>P</a:t>
            </a:r>
            <a:r>
              <a:rPr lang="zh-CN" altLang="en-US" dirty="0">
                <a:solidFill>
                  <a:prstClr val="black"/>
                </a:solidFill>
              </a:rPr>
              <a:t>是当前节点保存的</a:t>
            </a:r>
            <a:r>
              <a:rPr lang="en-US" altLang="zh-CN" dirty="0">
                <a:solidFill>
                  <a:prstClr val="black"/>
                </a:solidFill>
              </a:rPr>
              <a:t>n</a:t>
            </a:r>
            <a:r>
              <a:rPr lang="zh-CN" altLang="en-US" dirty="0">
                <a:solidFill>
                  <a:prstClr val="black"/>
                </a:solidFill>
              </a:rPr>
              <a:t>之后所有已经达到</a:t>
            </a:r>
            <a:r>
              <a:rPr lang="en-US" altLang="zh-CN" dirty="0">
                <a:solidFill>
                  <a:prstClr val="black"/>
                </a:solidFill>
              </a:rPr>
              <a:t>PREPARED</a:t>
            </a:r>
            <a:r>
              <a:rPr lang="zh-CN" altLang="en-US" dirty="0">
                <a:solidFill>
                  <a:prstClr val="black"/>
                </a:solidFill>
              </a:rPr>
              <a:t>状态消息的集合，即已完成准备阶段的消息</a:t>
            </a:r>
          </a:p>
        </p:txBody>
      </p:sp>
      <p:sp>
        <p:nvSpPr>
          <p:cNvPr id="7" name="灯片编号占位符 6">
            <a:extLst>
              <a:ext uri="{FF2B5EF4-FFF2-40B4-BE49-F238E27FC236}">
                <a16:creationId xmlns:a16="http://schemas.microsoft.com/office/drawing/2014/main" id="{97E080B7-C088-8B4E-B8CF-3281335EB402}"/>
              </a:ext>
            </a:extLst>
          </p:cNvPr>
          <p:cNvSpPr>
            <a:spLocks noGrp="1"/>
          </p:cNvSpPr>
          <p:nvPr>
            <p:ph type="sldNum" sz="quarter" idx="12"/>
          </p:nvPr>
        </p:nvSpPr>
        <p:spPr/>
        <p:txBody>
          <a:bodyPr/>
          <a:lstStyle/>
          <a:p>
            <a:fld id="{8D4D1E41-7A09-AB4A-A4E1-09765ADA2698}" type="slidenum">
              <a:rPr kumimoji="1" lang="zh-CN" altLang="en-US" smtClean="0"/>
              <a:t>24</a:t>
            </a:fld>
            <a:endParaRPr kumimoji="1" lang="zh-CN" altLang="en-US" dirty="0"/>
          </a:p>
        </p:txBody>
      </p:sp>
    </p:spTree>
    <p:extLst>
      <p:ext uri="{BB962C8B-B14F-4D97-AF65-F5344CB8AC3E}">
        <p14:creationId xmlns:p14="http://schemas.microsoft.com/office/powerpoint/2010/main" val="284707787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视图切换</a:t>
            </a:r>
            <a:endParaRPr lang="en-US" altLang="zh-CN" dirty="0"/>
          </a:p>
        </p:txBody>
      </p:sp>
      <p:sp>
        <p:nvSpPr>
          <p:cNvPr id="3" name="内容占位符 2"/>
          <p:cNvSpPr>
            <a:spLocks noGrp="1"/>
          </p:cNvSpPr>
          <p:nvPr>
            <p:ph idx="1"/>
          </p:nvPr>
        </p:nvSpPr>
        <p:spPr>
          <a:xfrm>
            <a:off x="838200" y="1510758"/>
            <a:ext cx="9888940" cy="4845592"/>
          </a:xfrm>
        </p:spPr>
        <p:txBody>
          <a:bodyPr>
            <a:normAutofit fontScale="92500" lnSpcReduction="10000"/>
          </a:bodyPr>
          <a:lstStyle/>
          <a:p>
            <a:pPr lvl="1">
              <a:lnSpc>
                <a:spcPct val="130000"/>
              </a:lnSpc>
            </a:pPr>
            <a:r>
              <a:rPr lang="zh-CN" altLang="en-US" dirty="0">
                <a:solidFill>
                  <a:prstClr val="black"/>
                </a:solidFill>
              </a:rPr>
              <a:t>当新视图</a:t>
            </a:r>
            <a:r>
              <a:rPr lang="en-US" altLang="zh-CN" dirty="0">
                <a:solidFill>
                  <a:prstClr val="black"/>
                </a:solidFill>
              </a:rPr>
              <a:t>v+1</a:t>
            </a:r>
            <a:r>
              <a:rPr lang="zh-CN" altLang="en-US" dirty="0">
                <a:solidFill>
                  <a:prstClr val="black"/>
                </a:solidFill>
              </a:rPr>
              <a:t>中的主节点</a:t>
            </a:r>
            <a:r>
              <a:rPr lang="en-US" altLang="zh-CN" dirty="0" err="1">
                <a:solidFill>
                  <a:prstClr val="black"/>
                </a:solidFill>
              </a:rPr>
              <a:t>i</a:t>
            </a:r>
            <a:r>
              <a:rPr lang="zh-CN" altLang="en-US" dirty="0">
                <a:solidFill>
                  <a:prstClr val="black"/>
                </a:solidFill>
              </a:rPr>
              <a:t>收到</a:t>
            </a:r>
            <a:r>
              <a:rPr lang="en-US" altLang="zh-CN" dirty="0">
                <a:solidFill>
                  <a:prstClr val="black"/>
                </a:solidFill>
              </a:rPr>
              <a:t>2F+1</a:t>
            </a:r>
            <a:r>
              <a:rPr lang="zh-CN" altLang="en-US" dirty="0">
                <a:solidFill>
                  <a:prstClr val="black"/>
                </a:solidFill>
              </a:rPr>
              <a:t>个（包括自己）经过检验的</a:t>
            </a:r>
            <a:r>
              <a:rPr lang="en-US" altLang="zh-CN" dirty="0">
                <a:solidFill>
                  <a:prstClr val="black"/>
                </a:solidFill>
              </a:rPr>
              <a:t>VIEW-CHANGE</a:t>
            </a:r>
            <a:r>
              <a:rPr lang="zh-CN" altLang="en-US" dirty="0">
                <a:solidFill>
                  <a:prstClr val="black"/>
                </a:solidFill>
              </a:rPr>
              <a:t>消息，则向其他节点广播</a:t>
            </a:r>
            <a:r>
              <a:rPr lang="en-US" altLang="zh-CN" dirty="0">
                <a:solidFill>
                  <a:prstClr val="black"/>
                </a:solidFill>
              </a:rPr>
              <a:t>&lt;NEW-VIEW,v+1,V,O&gt;</a:t>
            </a:r>
            <a:r>
              <a:rPr lang="zh-CN" altLang="en-US" dirty="0">
                <a:solidFill>
                  <a:prstClr val="black"/>
                </a:solidFill>
              </a:rPr>
              <a:t>消息，</a:t>
            </a:r>
            <a:r>
              <a:rPr lang="en-US" altLang="zh-CN" dirty="0">
                <a:solidFill>
                  <a:prstClr val="black"/>
                </a:solidFill>
              </a:rPr>
              <a:t>V</a:t>
            </a:r>
            <a:r>
              <a:rPr lang="zh-CN" altLang="en-US" dirty="0">
                <a:solidFill>
                  <a:prstClr val="black"/>
                </a:solidFill>
              </a:rPr>
              <a:t>是有效的</a:t>
            </a:r>
            <a:r>
              <a:rPr lang="en-US" altLang="zh-CN" dirty="0">
                <a:solidFill>
                  <a:prstClr val="black"/>
                </a:solidFill>
              </a:rPr>
              <a:t>VIEW-CHANGE</a:t>
            </a:r>
            <a:r>
              <a:rPr lang="zh-CN" altLang="en-US" dirty="0">
                <a:solidFill>
                  <a:prstClr val="black"/>
                </a:solidFill>
              </a:rPr>
              <a:t>消息集合，</a:t>
            </a:r>
            <a:r>
              <a:rPr lang="en-US" altLang="zh-CN" dirty="0">
                <a:solidFill>
                  <a:prstClr val="black"/>
                </a:solidFill>
              </a:rPr>
              <a:t>O</a:t>
            </a:r>
            <a:r>
              <a:rPr lang="zh-CN" altLang="en-US" dirty="0">
                <a:solidFill>
                  <a:prstClr val="black"/>
                </a:solidFill>
              </a:rPr>
              <a:t>是</a:t>
            </a:r>
            <a:r>
              <a:rPr lang="en-US" altLang="zh-CN" dirty="0">
                <a:solidFill>
                  <a:prstClr val="black"/>
                </a:solidFill>
              </a:rPr>
              <a:t>pre-prepare</a:t>
            </a:r>
            <a:r>
              <a:rPr lang="zh-CN" altLang="en-US" dirty="0">
                <a:solidFill>
                  <a:prstClr val="black"/>
                </a:solidFill>
              </a:rPr>
              <a:t>消息集合</a:t>
            </a:r>
            <a:endParaRPr lang="en-US" altLang="zh-CN" dirty="0">
              <a:solidFill>
                <a:prstClr val="black"/>
              </a:solidFill>
            </a:endParaRPr>
          </a:p>
          <a:p>
            <a:pPr lvl="1">
              <a:lnSpc>
                <a:spcPct val="130000"/>
              </a:lnSpc>
            </a:pPr>
            <a:r>
              <a:rPr lang="zh-CN" altLang="en-US" dirty="0">
                <a:solidFill>
                  <a:prstClr val="black"/>
                </a:solidFill>
              </a:rPr>
              <a:t>该集合是从已经达到</a:t>
            </a:r>
            <a:r>
              <a:rPr lang="en-US" altLang="zh-CN" dirty="0">
                <a:solidFill>
                  <a:prstClr val="black"/>
                </a:solidFill>
              </a:rPr>
              <a:t>PREPARED</a:t>
            </a:r>
            <a:r>
              <a:rPr lang="zh-CN" altLang="en-US" dirty="0">
                <a:solidFill>
                  <a:prstClr val="black"/>
                </a:solidFill>
              </a:rPr>
              <a:t>状态的消息中转换过来的。当其他验证节点收到主节点的</a:t>
            </a:r>
            <a:r>
              <a:rPr lang="en-US" altLang="zh-CN" dirty="0">
                <a:solidFill>
                  <a:prstClr val="black"/>
                </a:solidFill>
              </a:rPr>
              <a:t>NEW-VIEW</a:t>
            </a:r>
            <a:r>
              <a:rPr lang="zh-CN" altLang="en-US" dirty="0">
                <a:solidFill>
                  <a:prstClr val="black"/>
                </a:solidFill>
              </a:rPr>
              <a:t>消息后，校验签名，</a:t>
            </a:r>
            <a:r>
              <a:rPr lang="en-US" altLang="zh-CN" dirty="0">
                <a:solidFill>
                  <a:prstClr val="black"/>
                </a:solidFill>
              </a:rPr>
              <a:t>V</a:t>
            </a:r>
            <a:r>
              <a:rPr lang="zh-CN" altLang="en-US" dirty="0">
                <a:solidFill>
                  <a:prstClr val="black"/>
                </a:solidFill>
              </a:rPr>
              <a:t>和</a:t>
            </a:r>
            <a:r>
              <a:rPr lang="en-US" altLang="zh-CN" dirty="0">
                <a:solidFill>
                  <a:prstClr val="black"/>
                </a:solidFill>
              </a:rPr>
              <a:t>O</a:t>
            </a:r>
            <a:r>
              <a:rPr lang="zh-CN" altLang="en-US" dirty="0">
                <a:solidFill>
                  <a:prstClr val="black"/>
                </a:solidFill>
              </a:rPr>
              <a:t>的消息是否合法，验证通过后，则主节点和验证节点都进入新视图</a:t>
            </a:r>
            <a:endParaRPr lang="en-US" altLang="zh-CN" dirty="0">
              <a:solidFill>
                <a:prstClr val="black"/>
              </a:solidFill>
            </a:endParaRPr>
          </a:p>
          <a:p>
            <a:pPr lvl="1">
              <a:lnSpc>
                <a:spcPct val="130000"/>
              </a:lnSpc>
            </a:pPr>
            <a:r>
              <a:rPr lang="en-US" altLang="zh-CN" dirty="0">
                <a:solidFill>
                  <a:prstClr val="black"/>
                </a:solidFill>
              </a:rPr>
              <a:t>C</a:t>
            </a:r>
            <a:r>
              <a:rPr lang="zh-CN" altLang="en-US" dirty="0">
                <a:solidFill>
                  <a:prstClr val="black"/>
                </a:solidFill>
              </a:rPr>
              <a:t>确保了视图切换时，在最新稳定点之前的状态安全，</a:t>
            </a:r>
            <a:r>
              <a:rPr lang="en-US" altLang="zh-CN" dirty="0">
                <a:solidFill>
                  <a:prstClr val="black"/>
                </a:solidFill>
              </a:rPr>
              <a:t>P</a:t>
            </a:r>
            <a:r>
              <a:rPr lang="zh-CN" altLang="en-US" dirty="0">
                <a:solidFill>
                  <a:prstClr val="black"/>
                </a:solidFill>
              </a:rPr>
              <a:t>和</a:t>
            </a:r>
            <a:r>
              <a:rPr lang="en-US" altLang="zh-CN" dirty="0">
                <a:solidFill>
                  <a:prstClr val="black"/>
                </a:solidFill>
              </a:rPr>
              <a:t>O</a:t>
            </a:r>
            <a:r>
              <a:rPr lang="zh-CN" altLang="en-US" dirty="0">
                <a:solidFill>
                  <a:prstClr val="black"/>
                </a:solidFill>
              </a:rPr>
              <a:t>确保了视图切换中达到</a:t>
            </a:r>
            <a:r>
              <a:rPr lang="en-US" altLang="zh-CN" dirty="0">
                <a:solidFill>
                  <a:prstClr val="black"/>
                </a:solidFill>
              </a:rPr>
              <a:t>PREPARED</a:t>
            </a:r>
            <a:r>
              <a:rPr lang="zh-CN" altLang="en-US" dirty="0">
                <a:solidFill>
                  <a:prstClr val="black"/>
                </a:solidFill>
              </a:rPr>
              <a:t>状态的消息能够得到重放，而不会丢失</a:t>
            </a:r>
            <a:endParaRPr lang="en-US" altLang="zh-CN" dirty="0">
              <a:solidFill>
                <a:prstClr val="black"/>
              </a:solidFill>
            </a:endParaRPr>
          </a:p>
          <a:p>
            <a:pPr lvl="1">
              <a:lnSpc>
                <a:spcPct val="130000"/>
              </a:lnSpc>
            </a:pPr>
            <a:r>
              <a:rPr lang="zh-CN" altLang="en-US" dirty="0">
                <a:solidFill>
                  <a:prstClr val="black"/>
                </a:solidFill>
              </a:rPr>
              <a:t>预准备阶段和准备阶段是为了确保同一视图下消息的一致性，而</a:t>
            </a:r>
            <a:r>
              <a:rPr lang="en-US" altLang="zh-CN" dirty="0">
                <a:solidFill>
                  <a:prstClr val="black"/>
                </a:solidFill>
              </a:rPr>
              <a:t>C</a:t>
            </a:r>
            <a:r>
              <a:rPr lang="zh-CN" altLang="en-US" dirty="0">
                <a:solidFill>
                  <a:prstClr val="black"/>
                </a:solidFill>
              </a:rPr>
              <a:t>，</a:t>
            </a:r>
            <a:r>
              <a:rPr lang="en-US" altLang="zh-CN" dirty="0">
                <a:solidFill>
                  <a:prstClr val="black"/>
                </a:solidFill>
              </a:rPr>
              <a:t>P</a:t>
            </a:r>
            <a:r>
              <a:rPr lang="zh-CN" altLang="en-US" dirty="0">
                <a:solidFill>
                  <a:prstClr val="black"/>
                </a:solidFill>
              </a:rPr>
              <a:t>和</a:t>
            </a:r>
            <a:r>
              <a:rPr lang="en-US" altLang="zh-CN" dirty="0">
                <a:solidFill>
                  <a:prstClr val="black"/>
                </a:solidFill>
              </a:rPr>
              <a:t>O</a:t>
            </a:r>
            <a:r>
              <a:rPr lang="zh-CN" altLang="en-US" dirty="0">
                <a:solidFill>
                  <a:prstClr val="black"/>
                </a:solidFill>
              </a:rPr>
              <a:t>三个集合就是解决这个问题的，确保在新视图中，主节点重放的旧视图中的消息依旧能保持顺序一致性</a:t>
            </a:r>
          </a:p>
        </p:txBody>
      </p:sp>
      <p:sp>
        <p:nvSpPr>
          <p:cNvPr id="7" name="灯片编号占位符 6">
            <a:extLst>
              <a:ext uri="{FF2B5EF4-FFF2-40B4-BE49-F238E27FC236}">
                <a16:creationId xmlns:a16="http://schemas.microsoft.com/office/drawing/2014/main" id="{97E080B7-C088-8B4E-B8CF-3281335EB402}"/>
              </a:ext>
            </a:extLst>
          </p:cNvPr>
          <p:cNvSpPr>
            <a:spLocks noGrp="1"/>
          </p:cNvSpPr>
          <p:nvPr>
            <p:ph type="sldNum" sz="quarter" idx="12"/>
          </p:nvPr>
        </p:nvSpPr>
        <p:spPr/>
        <p:txBody>
          <a:bodyPr/>
          <a:lstStyle/>
          <a:p>
            <a:fld id="{8D4D1E41-7A09-AB4A-A4E1-09765ADA2698}" type="slidenum">
              <a:rPr kumimoji="1" lang="zh-CN" altLang="en-US" smtClean="0"/>
              <a:t>25</a:t>
            </a:fld>
            <a:endParaRPr kumimoji="1" lang="zh-CN" altLang="en-US" dirty="0"/>
          </a:p>
        </p:txBody>
      </p:sp>
    </p:spTree>
    <p:extLst>
      <p:ext uri="{BB962C8B-B14F-4D97-AF65-F5344CB8AC3E}">
        <p14:creationId xmlns:p14="http://schemas.microsoft.com/office/powerpoint/2010/main" val="413043108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PBFT</a:t>
            </a:r>
            <a:r>
              <a:rPr lang="zh-CN" altLang="en-US" dirty="0"/>
              <a:t>中节点的状态</a:t>
            </a:r>
            <a:endParaRPr lang="en-US" altLang="zh-CN" dirty="0"/>
          </a:p>
        </p:txBody>
      </p:sp>
      <p:sp>
        <p:nvSpPr>
          <p:cNvPr id="3" name="内容占位符 2"/>
          <p:cNvSpPr>
            <a:spLocks noGrp="1"/>
          </p:cNvSpPr>
          <p:nvPr>
            <p:ph idx="1"/>
          </p:nvPr>
        </p:nvSpPr>
        <p:spPr>
          <a:xfrm>
            <a:off x="838200" y="1510758"/>
            <a:ext cx="9888940" cy="4845592"/>
          </a:xfrm>
        </p:spPr>
        <p:txBody>
          <a:bodyPr>
            <a:normAutofit fontScale="85000" lnSpcReduction="10000"/>
          </a:bodyPr>
          <a:lstStyle/>
          <a:p>
            <a:pPr lvl="1">
              <a:lnSpc>
                <a:spcPct val="130000"/>
              </a:lnSpc>
            </a:pPr>
            <a:r>
              <a:rPr lang="zh-CN" altLang="en-US" dirty="0">
                <a:solidFill>
                  <a:prstClr val="black"/>
                </a:solidFill>
              </a:rPr>
              <a:t>等待请求：等待客户端的请求，所有节点均处于这个状态，主节点收到客户端请求之后，会切换到预准备状态，而验证节点收到主节点消息后会切换到准备状态。</a:t>
            </a:r>
            <a:endParaRPr lang="en-US" altLang="zh-CN" dirty="0">
              <a:solidFill>
                <a:prstClr val="black"/>
              </a:solidFill>
            </a:endParaRPr>
          </a:p>
          <a:p>
            <a:pPr lvl="1">
              <a:lnSpc>
                <a:spcPct val="130000"/>
              </a:lnSpc>
            </a:pPr>
            <a:r>
              <a:rPr lang="zh-CN" altLang="en-US" dirty="0">
                <a:solidFill>
                  <a:prstClr val="black"/>
                </a:solidFill>
              </a:rPr>
              <a:t>预准备：这个状态是主节点专属的，主节点处理客户端的请求并广播</a:t>
            </a:r>
            <a:r>
              <a:rPr lang="en-US" altLang="zh-CN" dirty="0">
                <a:solidFill>
                  <a:prstClr val="black"/>
                </a:solidFill>
              </a:rPr>
              <a:t>PRE-PREPARE</a:t>
            </a:r>
            <a:r>
              <a:rPr lang="zh-CN" altLang="en-US" dirty="0">
                <a:solidFill>
                  <a:prstClr val="black"/>
                </a:solidFill>
              </a:rPr>
              <a:t>消息，切换到准备状态</a:t>
            </a:r>
            <a:endParaRPr lang="en-US" altLang="zh-CN" dirty="0">
              <a:solidFill>
                <a:prstClr val="black"/>
              </a:solidFill>
            </a:endParaRPr>
          </a:p>
          <a:p>
            <a:pPr lvl="1">
              <a:lnSpc>
                <a:spcPct val="130000"/>
              </a:lnSpc>
            </a:pPr>
            <a:r>
              <a:rPr lang="zh-CN" altLang="en-US" dirty="0">
                <a:solidFill>
                  <a:prstClr val="black"/>
                </a:solidFill>
              </a:rPr>
              <a:t>准备：节点进入这个状态后，验证主节点的</a:t>
            </a:r>
            <a:r>
              <a:rPr lang="en-US" altLang="zh-CN" dirty="0">
                <a:solidFill>
                  <a:prstClr val="black"/>
                </a:solidFill>
              </a:rPr>
              <a:t>PRE-PREPARE</a:t>
            </a:r>
            <a:r>
              <a:rPr lang="zh-CN" altLang="en-US" dirty="0">
                <a:solidFill>
                  <a:prstClr val="black"/>
                </a:solidFill>
              </a:rPr>
              <a:t>消息并生成和广播</a:t>
            </a:r>
            <a:r>
              <a:rPr lang="en-US" altLang="zh-CN" dirty="0">
                <a:solidFill>
                  <a:prstClr val="black"/>
                </a:solidFill>
              </a:rPr>
              <a:t>PREPARE</a:t>
            </a:r>
            <a:r>
              <a:rPr lang="zh-CN" altLang="en-US" dirty="0">
                <a:solidFill>
                  <a:prstClr val="black"/>
                </a:solidFill>
              </a:rPr>
              <a:t>消息，同时等待</a:t>
            </a:r>
            <a:r>
              <a:rPr lang="en-US" altLang="zh-CN" dirty="0">
                <a:solidFill>
                  <a:prstClr val="black"/>
                </a:solidFill>
              </a:rPr>
              <a:t>2F+1</a:t>
            </a:r>
            <a:r>
              <a:rPr lang="zh-CN" altLang="en-US" dirty="0">
                <a:solidFill>
                  <a:prstClr val="black"/>
                </a:solidFill>
              </a:rPr>
              <a:t>个（包括自己）节点的</a:t>
            </a:r>
            <a:r>
              <a:rPr lang="en-US" altLang="zh-CN" dirty="0">
                <a:solidFill>
                  <a:prstClr val="black"/>
                </a:solidFill>
              </a:rPr>
              <a:t>PREPARE</a:t>
            </a:r>
            <a:r>
              <a:rPr lang="zh-CN" altLang="en-US" dirty="0">
                <a:solidFill>
                  <a:prstClr val="black"/>
                </a:solidFill>
              </a:rPr>
              <a:t>确认</a:t>
            </a:r>
            <a:endParaRPr lang="en-US" altLang="zh-CN" dirty="0">
              <a:solidFill>
                <a:prstClr val="black"/>
              </a:solidFill>
            </a:endParaRPr>
          </a:p>
          <a:p>
            <a:pPr lvl="1">
              <a:lnSpc>
                <a:spcPct val="130000"/>
              </a:lnSpc>
            </a:pPr>
            <a:r>
              <a:rPr lang="zh-CN" altLang="en-US" dirty="0">
                <a:solidFill>
                  <a:prstClr val="black"/>
                </a:solidFill>
              </a:rPr>
              <a:t>等待</a:t>
            </a:r>
            <a:r>
              <a:rPr lang="en-US" altLang="zh-CN" dirty="0">
                <a:solidFill>
                  <a:prstClr val="black"/>
                </a:solidFill>
              </a:rPr>
              <a:t>2F+1</a:t>
            </a:r>
            <a:r>
              <a:rPr lang="zh-CN" altLang="en-US" dirty="0">
                <a:solidFill>
                  <a:prstClr val="black"/>
                </a:solidFill>
              </a:rPr>
              <a:t>个</a:t>
            </a:r>
            <a:r>
              <a:rPr lang="en-US" altLang="zh-CN" dirty="0">
                <a:solidFill>
                  <a:prstClr val="black"/>
                </a:solidFill>
              </a:rPr>
              <a:t>PREPARE</a:t>
            </a:r>
            <a:r>
              <a:rPr lang="zh-CN" altLang="en-US" dirty="0">
                <a:solidFill>
                  <a:prstClr val="black"/>
                </a:solidFill>
              </a:rPr>
              <a:t>确认：如果在超时之前收到</a:t>
            </a:r>
            <a:r>
              <a:rPr lang="en-US" altLang="zh-CN" dirty="0">
                <a:solidFill>
                  <a:prstClr val="black"/>
                </a:solidFill>
              </a:rPr>
              <a:t>2F+1</a:t>
            </a:r>
            <a:r>
              <a:rPr lang="zh-CN" altLang="en-US" dirty="0">
                <a:solidFill>
                  <a:prstClr val="black"/>
                </a:solidFill>
              </a:rPr>
              <a:t>个</a:t>
            </a:r>
            <a:r>
              <a:rPr lang="en-US" altLang="zh-CN" dirty="0">
                <a:solidFill>
                  <a:prstClr val="black"/>
                </a:solidFill>
              </a:rPr>
              <a:t>PREPARE</a:t>
            </a:r>
            <a:r>
              <a:rPr lang="zh-CN" altLang="en-US" dirty="0">
                <a:solidFill>
                  <a:prstClr val="black"/>
                </a:solidFill>
              </a:rPr>
              <a:t>确认，则切换到提交状态；否则，则切换到视图切换状态</a:t>
            </a:r>
            <a:endParaRPr lang="en-US" altLang="zh-CN" dirty="0">
              <a:solidFill>
                <a:prstClr val="black"/>
              </a:solidFill>
            </a:endParaRPr>
          </a:p>
          <a:p>
            <a:pPr lvl="1">
              <a:lnSpc>
                <a:spcPct val="130000"/>
              </a:lnSpc>
            </a:pPr>
            <a:r>
              <a:rPr lang="zh-CN" altLang="en-US" dirty="0">
                <a:solidFill>
                  <a:prstClr val="black"/>
                </a:solidFill>
              </a:rPr>
              <a:t>视图切换：节点广播编号为</a:t>
            </a:r>
            <a:r>
              <a:rPr lang="en-US" altLang="zh-CN" dirty="0">
                <a:solidFill>
                  <a:prstClr val="black"/>
                </a:solidFill>
              </a:rPr>
              <a:t>v+1</a:t>
            </a:r>
            <a:r>
              <a:rPr lang="zh-CN" altLang="en-US" dirty="0">
                <a:solidFill>
                  <a:prstClr val="black"/>
                </a:solidFill>
              </a:rPr>
              <a:t>的</a:t>
            </a:r>
            <a:r>
              <a:rPr lang="en-US" altLang="zh-CN" dirty="0">
                <a:solidFill>
                  <a:prstClr val="black"/>
                </a:solidFill>
              </a:rPr>
              <a:t>VIEW-CHANGE</a:t>
            </a:r>
            <a:r>
              <a:rPr lang="zh-CN" altLang="en-US" dirty="0">
                <a:solidFill>
                  <a:prstClr val="black"/>
                </a:solidFill>
              </a:rPr>
              <a:t>消息，并等待</a:t>
            </a:r>
            <a:r>
              <a:rPr lang="en-US" altLang="zh-CN" dirty="0">
                <a:solidFill>
                  <a:prstClr val="black"/>
                </a:solidFill>
              </a:rPr>
              <a:t>2F+1</a:t>
            </a:r>
            <a:r>
              <a:rPr lang="zh-CN" altLang="en-US" dirty="0">
                <a:solidFill>
                  <a:prstClr val="black"/>
                </a:solidFill>
              </a:rPr>
              <a:t>个（包括自己）</a:t>
            </a:r>
            <a:r>
              <a:rPr lang="en-US" altLang="zh-CN" dirty="0">
                <a:solidFill>
                  <a:prstClr val="black"/>
                </a:solidFill>
              </a:rPr>
              <a:t>VIEW-CHANGE</a:t>
            </a:r>
            <a:r>
              <a:rPr lang="zh-CN" altLang="en-US" dirty="0">
                <a:solidFill>
                  <a:prstClr val="black"/>
                </a:solidFill>
              </a:rPr>
              <a:t>消息</a:t>
            </a:r>
            <a:endParaRPr lang="en-US" altLang="zh-CN" dirty="0">
              <a:solidFill>
                <a:prstClr val="black"/>
              </a:solidFill>
            </a:endParaRPr>
          </a:p>
          <a:p>
            <a:pPr lvl="1">
              <a:lnSpc>
                <a:spcPct val="130000"/>
              </a:lnSpc>
            </a:pPr>
            <a:r>
              <a:rPr lang="zh-CN" altLang="en-US" dirty="0">
                <a:solidFill>
                  <a:prstClr val="black"/>
                </a:solidFill>
              </a:rPr>
              <a:t>等待</a:t>
            </a:r>
            <a:r>
              <a:rPr lang="en-US" altLang="zh-CN" dirty="0">
                <a:solidFill>
                  <a:prstClr val="black"/>
                </a:solidFill>
              </a:rPr>
              <a:t>2F+1</a:t>
            </a:r>
            <a:r>
              <a:rPr lang="zh-CN" altLang="en-US" dirty="0">
                <a:solidFill>
                  <a:prstClr val="black"/>
                </a:solidFill>
              </a:rPr>
              <a:t>个</a:t>
            </a:r>
            <a:r>
              <a:rPr lang="en-US" altLang="zh-CN" dirty="0">
                <a:solidFill>
                  <a:prstClr val="black"/>
                </a:solidFill>
              </a:rPr>
              <a:t>VIEW-CHANGE</a:t>
            </a:r>
            <a:r>
              <a:rPr lang="zh-CN" altLang="en-US" dirty="0">
                <a:solidFill>
                  <a:prstClr val="black"/>
                </a:solidFill>
              </a:rPr>
              <a:t>消息</a:t>
            </a:r>
          </a:p>
        </p:txBody>
      </p:sp>
      <p:sp>
        <p:nvSpPr>
          <p:cNvPr id="7" name="灯片编号占位符 6">
            <a:extLst>
              <a:ext uri="{FF2B5EF4-FFF2-40B4-BE49-F238E27FC236}">
                <a16:creationId xmlns:a16="http://schemas.microsoft.com/office/drawing/2014/main" id="{97E080B7-C088-8B4E-B8CF-3281335EB402}"/>
              </a:ext>
            </a:extLst>
          </p:cNvPr>
          <p:cNvSpPr>
            <a:spLocks noGrp="1"/>
          </p:cNvSpPr>
          <p:nvPr>
            <p:ph type="sldNum" sz="quarter" idx="12"/>
          </p:nvPr>
        </p:nvSpPr>
        <p:spPr/>
        <p:txBody>
          <a:bodyPr/>
          <a:lstStyle/>
          <a:p>
            <a:fld id="{8D4D1E41-7A09-AB4A-A4E1-09765ADA2698}" type="slidenum">
              <a:rPr kumimoji="1" lang="zh-CN" altLang="en-US" smtClean="0"/>
              <a:t>26</a:t>
            </a:fld>
            <a:endParaRPr kumimoji="1" lang="zh-CN" altLang="en-US" dirty="0"/>
          </a:p>
        </p:txBody>
      </p:sp>
    </p:spTree>
    <p:extLst>
      <p:ext uri="{BB962C8B-B14F-4D97-AF65-F5344CB8AC3E}">
        <p14:creationId xmlns:p14="http://schemas.microsoft.com/office/powerpoint/2010/main" val="40568393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PBFT</a:t>
            </a:r>
            <a:r>
              <a:rPr lang="zh-CN" altLang="en-US" dirty="0"/>
              <a:t>的一些思考</a:t>
            </a:r>
            <a:endParaRPr lang="en-US" altLang="zh-CN" dirty="0"/>
          </a:p>
        </p:txBody>
      </p:sp>
      <p:sp>
        <p:nvSpPr>
          <p:cNvPr id="3" name="内容占位符 2"/>
          <p:cNvSpPr>
            <a:spLocks noGrp="1"/>
          </p:cNvSpPr>
          <p:nvPr>
            <p:ph idx="1"/>
          </p:nvPr>
        </p:nvSpPr>
        <p:spPr>
          <a:xfrm>
            <a:off x="838200" y="1510758"/>
            <a:ext cx="9888940" cy="4845592"/>
          </a:xfrm>
        </p:spPr>
        <p:txBody>
          <a:bodyPr>
            <a:normAutofit fontScale="92500" lnSpcReduction="20000"/>
          </a:bodyPr>
          <a:lstStyle/>
          <a:p>
            <a:pPr lvl="0">
              <a:lnSpc>
                <a:spcPct val="130000"/>
              </a:lnSpc>
            </a:pPr>
            <a:r>
              <a:rPr lang="zh-CN" altLang="en-US" dirty="0">
                <a:solidFill>
                  <a:prstClr val="black"/>
                </a:solidFill>
              </a:rPr>
              <a:t>为什么</a:t>
            </a:r>
            <a:r>
              <a:rPr lang="en-US" altLang="zh-CN" dirty="0">
                <a:solidFill>
                  <a:prstClr val="black"/>
                </a:solidFill>
              </a:rPr>
              <a:t>PBFT</a:t>
            </a:r>
            <a:r>
              <a:rPr lang="zh-CN" altLang="en-US" dirty="0">
                <a:solidFill>
                  <a:prstClr val="black"/>
                </a:solidFill>
              </a:rPr>
              <a:t>的容错性是</a:t>
            </a:r>
            <a:r>
              <a:rPr lang="en-US" altLang="zh-CN" dirty="0">
                <a:solidFill>
                  <a:prstClr val="black"/>
                </a:solidFill>
              </a:rPr>
              <a:t>1/3?</a:t>
            </a:r>
          </a:p>
          <a:p>
            <a:pPr lvl="1">
              <a:lnSpc>
                <a:spcPct val="130000"/>
              </a:lnSpc>
            </a:pPr>
            <a:r>
              <a:rPr lang="zh-CN" altLang="en-US" dirty="0">
                <a:solidFill>
                  <a:prstClr val="black"/>
                </a:solidFill>
              </a:rPr>
              <a:t>拜占庭节点可以故意不回复，因此节点必须在收到</a:t>
            </a:r>
            <a:r>
              <a:rPr lang="en-US" altLang="zh-CN" dirty="0">
                <a:solidFill>
                  <a:prstClr val="black"/>
                </a:solidFill>
              </a:rPr>
              <a:t>N-F</a:t>
            </a:r>
            <a:r>
              <a:rPr lang="zh-CN" altLang="en-US" dirty="0">
                <a:solidFill>
                  <a:prstClr val="black"/>
                </a:solidFill>
              </a:rPr>
              <a:t>个回复后就要作出决策，节点收到的</a:t>
            </a:r>
            <a:r>
              <a:rPr lang="en-US" altLang="zh-CN" dirty="0">
                <a:solidFill>
                  <a:prstClr val="black"/>
                </a:solidFill>
              </a:rPr>
              <a:t>N-F</a:t>
            </a:r>
            <a:r>
              <a:rPr lang="zh-CN" altLang="en-US" dirty="0">
                <a:solidFill>
                  <a:prstClr val="black"/>
                </a:solidFill>
              </a:rPr>
              <a:t>个回复有可能包含</a:t>
            </a:r>
            <a:r>
              <a:rPr lang="en-US" altLang="zh-CN" dirty="0">
                <a:solidFill>
                  <a:prstClr val="black"/>
                </a:solidFill>
              </a:rPr>
              <a:t>F</a:t>
            </a:r>
            <a:r>
              <a:rPr lang="zh-CN" altLang="en-US" dirty="0">
                <a:solidFill>
                  <a:prstClr val="black"/>
                </a:solidFill>
              </a:rPr>
              <a:t>个拜占庭节点的回复，那么正确的消息就是</a:t>
            </a:r>
            <a:r>
              <a:rPr lang="en-US" altLang="zh-CN" dirty="0">
                <a:solidFill>
                  <a:prstClr val="black"/>
                </a:solidFill>
              </a:rPr>
              <a:t>N-F-F</a:t>
            </a:r>
            <a:r>
              <a:rPr lang="zh-CN" altLang="en-US" dirty="0">
                <a:solidFill>
                  <a:prstClr val="black"/>
                </a:solidFill>
              </a:rPr>
              <a:t>个，为了遵循少数服从多数的原则，让诚实节点能达成共识，必须使得</a:t>
            </a:r>
            <a:r>
              <a:rPr lang="en-US" altLang="zh-CN" dirty="0">
                <a:solidFill>
                  <a:prstClr val="black"/>
                </a:solidFill>
              </a:rPr>
              <a:t>N-F-F&gt;F</a:t>
            </a:r>
            <a:r>
              <a:rPr lang="zh-CN" altLang="en-US" dirty="0">
                <a:solidFill>
                  <a:prstClr val="black"/>
                </a:solidFill>
              </a:rPr>
              <a:t>，因此，</a:t>
            </a:r>
            <a:r>
              <a:rPr lang="en-US" altLang="zh-CN" dirty="0">
                <a:solidFill>
                  <a:prstClr val="black"/>
                </a:solidFill>
              </a:rPr>
              <a:t>N&gt;3F</a:t>
            </a:r>
          </a:p>
          <a:p>
            <a:pPr lvl="0">
              <a:lnSpc>
                <a:spcPct val="130000"/>
              </a:lnSpc>
            </a:pPr>
            <a:r>
              <a:rPr lang="zh-CN" altLang="en-US" dirty="0">
                <a:solidFill>
                  <a:prstClr val="black"/>
                </a:solidFill>
              </a:rPr>
              <a:t>为什么需要提交阶段？</a:t>
            </a:r>
            <a:endParaRPr lang="en-US" altLang="zh-CN" dirty="0">
              <a:solidFill>
                <a:prstClr val="black"/>
              </a:solidFill>
            </a:endParaRPr>
          </a:p>
          <a:p>
            <a:pPr lvl="1">
              <a:lnSpc>
                <a:spcPct val="130000"/>
              </a:lnSpc>
            </a:pPr>
            <a:r>
              <a:rPr lang="zh-CN" altLang="en-US" dirty="0">
                <a:solidFill>
                  <a:prstClr val="black"/>
                </a:solidFill>
              </a:rPr>
              <a:t>一是因为节点</a:t>
            </a:r>
            <a:r>
              <a:rPr lang="en-US" altLang="zh-CN" dirty="0">
                <a:solidFill>
                  <a:prstClr val="black"/>
                </a:solidFill>
              </a:rPr>
              <a:t>A</a:t>
            </a:r>
            <a:r>
              <a:rPr lang="zh-CN" altLang="en-US" dirty="0">
                <a:solidFill>
                  <a:prstClr val="black"/>
                </a:solidFill>
              </a:rPr>
              <a:t>收到</a:t>
            </a:r>
            <a:r>
              <a:rPr lang="en-US" altLang="zh-CN" dirty="0">
                <a:solidFill>
                  <a:prstClr val="black"/>
                </a:solidFill>
              </a:rPr>
              <a:t>2F+1</a:t>
            </a:r>
            <a:r>
              <a:rPr lang="zh-CN" altLang="en-US" dirty="0">
                <a:solidFill>
                  <a:prstClr val="black"/>
                </a:solidFill>
              </a:rPr>
              <a:t>个</a:t>
            </a:r>
            <a:r>
              <a:rPr lang="en-US" altLang="zh-CN" dirty="0">
                <a:solidFill>
                  <a:prstClr val="black"/>
                </a:solidFill>
              </a:rPr>
              <a:t>PREPARE</a:t>
            </a:r>
            <a:r>
              <a:rPr lang="zh-CN" altLang="en-US" dirty="0">
                <a:solidFill>
                  <a:prstClr val="black"/>
                </a:solidFill>
              </a:rPr>
              <a:t>消息并不代表其他节点也收到足够的</a:t>
            </a:r>
            <a:r>
              <a:rPr lang="en-US" altLang="zh-CN" dirty="0">
                <a:solidFill>
                  <a:prstClr val="black"/>
                </a:solidFill>
              </a:rPr>
              <a:t>2F+1</a:t>
            </a:r>
            <a:r>
              <a:rPr lang="zh-CN" altLang="en-US" dirty="0">
                <a:solidFill>
                  <a:prstClr val="black"/>
                </a:solidFill>
              </a:rPr>
              <a:t>个</a:t>
            </a:r>
            <a:r>
              <a:rPr lang="en-US" altLang="zh-CN" dirty="0">
                <a:solidFill>
                  <a:prstClr val="black"/>
                </a:solidFill>
              </a:rPr>
              <a:t>PREPARE</a:t>
            </a:r>
            <a:r>
              <a:rPr lang="zh-CN" altLang="en-US" dirty="0">
                <a:solidFill>
                  <a:prstClr val="black"/>
                </a:solidFill>
              </a:rPr>
              <a:t>消息。想象一下，当节点</a:t>
            </a:r>
            <a:r>
              <a:rPr lang="en-US" altLang="zh-CN" dirty="0">
                <a:solidFill>
                  <a:prstClr val="black"/>
                </a:solidFill>
              </a:rPr>
              <a:t>A</a:t>
            </a:r>
            <a:r>
              <a:rPr lang="zh-CN" altLang="en-US" dirty="0">
                <a:solidFill>
                  <a:prstClr val="black"/>
                </a:solidFill>
              </a:rPr>
              <a:t>收到</a:t>
            </a:r>
            <a:r>
              <a:rPr lang="en-US" altLang="zh-CN" dirty="0">
                <a:solidFill>
                  <a:prstClr val="black"/>
                </a:solidFill>
              </a:rPr>
              <a:t>2F+1</a:t>
            </a:r>
            <a:r>
              <a:rPr lang="zh-CN" altLang="en-US" dirty="0">
                <a:solidFill>
                  <a:prstClr val="black"/>
                </a:solidFill>
              </a:rPr>
              <a:t>个</a:t>
            </a:r>
            <a:r>
              <a:rPr lang="en-US" altLang="zh-CN" dirty="0">
                <a:solidFill>
                  <a:prstClr val="black"/>
                </a:solidFill>
              </a:rPr>
              <a:t>PREPARE</a:t>
            </a:r>
            <a:r>
              <a:rPr lang="zh-CN" altLang="en-US" dirty="0">
                <a:solidFill>
                  <a:prstClr val="black"/>
                </a:solidFill>
              </a:rPr>
              <a:t>消息便执行请求，甚至返回结果给客户端。这时，部分节点</a:t>
            </a:r>
            <a:r>
              <a:rPr lang="en-US" altLang="zh-CN" dirty="0">
                <a:solidFill>
                  <a:prstClr val="black"/>
                </a:solidFill>
              </a:rPr>
              <a:t>B</a:t>
            </a:r>
            <a:r>
              <a:rPr lang="zh-CN" altLang="en-US" dirty="0">
                <a:solidFill>
                  <a:prstClr val="black"/>
                </a:solidFill>
              </a:rPr>
              <a:t>发生了视图切换，你认为达成共识的请求其实没有达成共识，而是需要在新视图重播的，因此节点</a:t>
            </a:r>
            <a:r>
              <a:rPr lang="en-US" altLang="zh-CN" dirty="0">
                <a:solidFill>
                  <a:prstClr val="black"/>
                </a:solidFill>
              </a:rPr>
              <a:t>A</a:t>
            </a:r>
            <a:r>
              <a:rPr lang="zh-CN" altLang="en-US" dirty="0">
                <a:solidFill>
                  <a:prstClr val="black"/>
                </a:solidFill>
              </a:rPr>
              <a:t>返回结果给客户端是不合理的</a:t>
            </a:r>
            <a:endParaRPr lang="en-US" altLang="zh-CN" dirty="0">
              <a:solidFill>
                <a:prstClr val="black"/>
              </a:solidFill>
            </a:endParaRPr>
          </a:p>
        </p:txBody>
      </p:sp>
      <p:sp>
        <p:nvSpPr>
          <p:cNvPr id="7" name="灯片编号占位符 6">
            <a:extLst>
              <a:ext uri="{FF2B5EF4-FFF2-40B4-BE49-F238E27FC236}">
                <a16:creationId xmlns:a16="http://schemas.microsoft.com/office/drawing/2014/main" id="{97E080B7-C088-8B4E-B8CF-3281335EB402}"/>
              </a:ext>
            </a:extLst>
          </p:cNvPr>
          <p:cNvSpPr>
            <a:spLocks noGrp="1"/>
          </p:cNvSpPr>
          <p:nvPr>
            <p:ph type="sldNum" sz="quarter" idx="12"/>
          </p:nvPr>
        </p:nvSpPr>
        <p:spPr/>
        <p:txBody>
          <a:bodyPr/>
          <a:lstStyle/>
          <a:p>
            <a:fld id="{8D4D1E41-7A09-AB4A-A4E1-09765ADA2698}" type="slidenum">
              <a:rPr kumimoji="1" lang="zh-CN" altLang="en-US" smtClean="0"/>
              <a:t>27</a:t>
            </a:fld>
            <a:endParaRPr kumimoji="1" lang="zh-CN" altLang="en-US" dirty="0"/>
          </a:p>
        </p:txBody>
      </p:sp>
    </p:spTree>
    <p:extLst>
      <p:ext uri="{BB962C8B-B14F-4D97-AF65-F5344CB8AC3E}">
        <p14:creationId xmlns:p14="http://schemas.microsoft.com/office/powerpoint/2010/main" val="339566248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PBFT</a:t>
            </a:r>
            <a:r>
              <a:rPr lang="zh-CN" altLang="en-US" dirty="0"/>
              <a:t>的一些思考</a:t>
            </a:r>
            <a:endParaRPr lang="en-US" altLang="zh-CN" dirty="0"/>
          </a:p>
        </p:txBody>
      </p:sp>
      <p:sp>
        <p:nvSpPr>
          <p:cNvPr id="3" name="内容占位符 2"/>
          <p:cNvSpPr>
            <a:spLocks noGrp="1"/>
          </p:cNvSpPr>
          <p:nvPr>
            <p:ph idx="1"/>
          </p:nvPr>
        </p:nvSpPr>
        <p:spPr>
          <a:xfrm>
            <a:off x="838200" y="1510758"/>
            <a:ext cx="9888940" cy="4845592"/>
          </a:xfrm>
        </p:spPr>
        <p:txBody>
          <a:bodyPr>
            <a:normAutofit lnSpcReduction="10000"/>
          </a:bodyPr>
          <a:lstStyle/>
          <a:p>
            <a:pPr lvl="0">
              <a:lnSpc>
                <a:spcPct val="130000"/>
              </a:lnSpc>
            </a:pPr>
            <a:r>
              <a:rPr lang="zh-CN" altLang="en-US" dirty="0">
                <a:solidFill>
                  <a:prstClr val="black"/>
                </a:solidFill>
              </a:rPr>
              <a:t>为什么需要提交阶段？</a:t>
            </a:r>
            <a:endParaRPr lang="en-US" altLang="zh-CN" dirty="0">
              <a:solidFill>
                <a:prstClr val="black"/>
              </a:solidFill>
            </a:endParaRPr>
          </a:p>
          <a:p>
            <a:pPr lvl="1">
              <a:lnSpc>
                <a:spcPct val="130000"/>
              </a:lnSpc>
            </a:pPr>
            <a:r>
              <a:rPr lang="zh-CN" altLang="en-US" dirty="0">
                <a:solidFill>
                  <a:prstClr val="black"/>
                </a:solidFill>
              </a:rPr>
              <a:t>二是因为在节点</a:t>
            </a:r>
            <a:r>
              <a:rPr lang="en-US" altLang="zh-CN" dirty="0">
                <a:solidFill>
                  <a:prstClr val="black"/>
                </a:solidFill>
              </a:rPr>
              <a:t>B</a:t>
            </a:r>
            <a:r>
              <a:rPr lang="zh-CN" altLang="en-US" dirty="0">
                <a:solidFill>
                  <a:prstClr val="black"/>
                </a:solidFill>
              </a:rPr>
              <a:t>尚未收到足够的</a:t>
            </a:r>
            <a:r>
              <a:rPr lang="en-US" altLang="zh-CN" dirty="0">
                <a:solidFill>
                  <a:prstClr val="black"/>
                </a:solidFill>
              </a:rPr>
              <a:t>PREPARE</a:t>
            </a:r>
            <a:r>
              <a:rPr lang="zh-CN" altLang="en-US" dirty="0">
                <a:solidFill>
                  <a:prstClr val="black"/>
                </a:solidFill>
              </a:rPr>
              <a:t>消息，在视图切换的过程中也是拒收</a:t>
            </a:r>
            <a:r>
              <a:rPr lang="en-US" altLang="zh-CN" dirty="0">
                <a:solidFill>
                  <a:prstClr val="black"/>
                </a:solidFill>
              </a:rPr>
              <a:t>PREPARE</a:t>
            </a:r>
            <a:r>
              <a:rPr lang="zh-CN" altLang="en-US" dirty="0">
                <a:solidFill>
                  <a:prstClr val="black"/>
                </a:solidFill>
              </a:rPr>
              <a:t>消息的，因此这部分节点的状态机会少执行一个请求。当视图切换后，该请求对应的</a:t>
            </a:r>
            <a:r>
              <a:rPr lang="en-US" altLang="zh-CN" dirty="0">
                <a:solidFill>
                  <a:prstClr val="black"/>
                </a:solidFill>
              </a:rPr>
              <a:t>PREPARE</a:t>
            </a:r>
            <a:r>
              <a:rPr lang="zh-CN" altLang="en-US" dirty="0">
                <a:solidFill>
                  <a:prstClr val="black"/>
                </a:solidFill>
              </a:rPr>
              <a:t>消息会被重放，而节点</a:t>
            </a:r>
            <a:r>
              <a:rPr lang="en-US" altLang="zh-CN" dirty="0">
                <a:solidFill>
                  <a:prstClr val="black"/>
                </a:solidFill>
              </a:rPr>
              <a:t>A</a:t>
            </a:r>
            <a:r>
              <a:rPr lang="zh-CN" altLang="en-US" dirty="0">
                <a:solidFill>
                  <a:prstClr val="black"/>
                </a:solidFill>
              </a:rPr>
              <a:t>收到重放的</a:t>
            </a:r>
            <a:r>
              <a:rPr lang="en-US" altLang="zh-CN" dirty="0">
                <a:solidFill>
                  <a:prstClr val="black"/>
                </a:solidFill>
              </a:rPr>
              <a:t>PREPARE</a:t>
            </a:r>
            <a:r>
              <a:rPr lang="zh-CN" altLang="en-US" dirty="0">
                <a:solidFill>
                  <a:prstClr val="black"/>
                </a:solidFill>
              </a:rPr>
              <a:t>消息会面临该请求已经被执行过，是否需要再次执行，这将导致状态机的二义性</a:t>
            </a:r>
            <a:endParaRPr lang="en-US" altLang="zh-CN" dirty="0">
              <a:solidFill>
                <a:prstClr val="black"/>
              </a:solidFill>
            </a:endParaRPr>
          </a:p>
          <a:p>
            <a:pPr lvl="0">
              <a:lnSpc>
                <a:spcPct val="130000"/>
              </a:lnSpc>
            </a:pPr>
            <a:r>
              <a:rPr lang="en-US" altLang="zh-CN" dirty="0">
                <a:solidFill>
                  <a:prstClr val="black"/>
                </a:solidFill>
              </a:rPr>
              <a:t>PBFT</a:t>
            </a:r>
            <a:r>
              <a:rPr lang="zh-CN" altLang="en-US" dirty="0">
                <a:solidFill>
                  <a:prstClr val="black"/>
                </a:solidFill>
              </a:rPr>
              <a:t>的复杂度是多少？</a:t>
            </a:r>
            <a:endParaRPr lang="en-US" altLang="zh-CN" dirty="0">
              <a:solidFill>
                <a:prstClr val="black"/>
              </a:solidFill>
            </a:endParaRPr>
          </a:p>
          <a:p>
            <a:pPr lvl="1">
              <a:lnSpc>
                <a:spcPct val="130000"/>
              </a:lnSpc>
            </a:pPr>
            <a:r>
              <a:rPr lang="zh-CN" altLang="en-US" dirty="0">
                <a:solidFill>
                  <a:prstClr val="black"/>
                </a:solidFill>
              </a:rPr>
              <a:t>预准备阶段和准备阶段，网络中的每一个节点都需要给其他节点广播消息，假设总节点数为</a:t>
            </a:r>
            <a:r>
              <a:rPr lang="en-US" altLang="zh-CN" dirty="0">
                <a:solidFill>
                  <a:prstClr val="black"/>
                </a:solidFill>
              </a:rPr>
              <a:t>N</a:t>
            </a:r>
            <a:r>
              <a:rPr lang="zh-CN" altLang="en-US" dirty="0">
                <a:solidFill>
                  <a:prstClr val="black"/>
                </a:solidFill>
              </a:rPr>
              <a:t>，则通讯开销的复杂度为</a:t>
            </a:r>
            <a:r>
              <a:rPr lang="en-US" altLang="zh-CN" dirty="0">
                <a:solidFill>
                  <a:prstClr val="black"/>
                </a:solidFill>
              </a:rPr>
              <a:t>N*(N-1)</a:t>
            </a:r>
            <a:r>
              <a:rPr lang="zh-CN" altLang="en-US" dirty="0">
                <a:solidFill>
                  <a:prstClr val="black"/>
                </a:solidFill>
              </a:rPr>
              <a:t>，因此</a:t>
            </a:r>
            <a:r>
              <a:rPr lang="en-US" altLang="zh-CN" dirty="0">
                <a:solidFill>
                  <a:prstClr val="black"/>
                </a:solidFill>
              </a:rPr>
              <a:t>PBFT</a:t>
            </a:r>
            <a:r>
              <a:rPr lang="zh-CN" altLang="en-US" dirty="0">
                <a:solidFill>
                  <a:prstClr val="black"/>
                </a:solidFill>
              </a:rPr>
              <a:t>的（通信）复杂度为</a:t>
            </a:r>
            <a:r>
              <a:rPr lang="en-US" altLang="zh-CN" dirty="0">
                <a:solidFill>
                  <a:prstClr val="black"/>
                </a:solidFill>
              </a:rPr>
              <a:t>O(N^2 )</a:t>
            </a:r>
          </a:p>
        </p:txBody>
      </p:sp>
      <p:sp>
        <p:nvSpPr>
          <p:cNvPr id="7" name="灯片编号占位符 6">
            <a:extLst>
              <a:ext uri="{FF2B5EF4-FFF2-40B4-BE49-F238E27FC236}">
                <a16:creationId xmlns:a16="http://schemas.microsoft.com/office/drawing/2014/main" id="{97E080B7-C088-8B4E-B8CF-3281335EB402}"/>
              </a:ext>
            </a:extLst>
          </p:cNvPr>
          <p:cNvSpPr>
            <a:spLocks noGrp="1"/>
          </p:cNvSpPr>
          <p:nvPr>
            <p:ph type="sldNum" sz="quarter" idx="12"/>
          </p:nvPr>
        </p:nvSpPr>
        <p:spPr/>
        <p:txBody>
          <a:bodyPr/>
          <a:lstStyle/>
          <a:p>
            <a:fld id="{8D4D1E41-7A09-AB4A-A4E1-09765ADA2698}" type="slidenum">
              <a:rPr kumimoji="1" lang="zh-CN" altLang="en-US" smtClean="0"/>
              <a:t>28</a:t>
            </a:fld>
            <a:endParaRPr kumimoji="1" lang="zh-CN" altLang="en-US" dirty="0"/>
          </a:p>
        </p:txBody>
      </p:sp>
    </p:spTree>
    <p:extLst>
      <p:ext uri="{BB962C8B-B14F-4D97-AF65-F5344CB8AC3E}">
        <p14:creationId xmlns:p14="http://schemas.microsoft.com/office/powerpoint/2010/main" val="380595664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比特币的工作量证明共识机制</a:t>
            </a:r>
            <a:endParaRPr lang="en-US" altLang="zh-CN" dirty="0"/>
          </a:p>
        </p:txBody>
      </p:sp>
      <p:sp>
        <p:nvSpPr>
          <p:cNvPr id="3" name="内容占位符 2"/>
          <p:cNvSpPr>
            <a:spLocks noGrp="1"/>
          </p:cNvSpPr>
          <p:nvPr>
            <p:ph idx="1"/>
          </p:nvPr>
        </p:nvSpPr>
        <p:spPr>
          <a:xfrm>
            <a:off x="838201" y="1510758"/>
            <a:ext cx="5238750" cy="4845592"/>
          </a:xfrm>
        </p:spPr>
        <p:txBody>
          <a:bodyPr>
            <a:normAutofit fontScale="92500" lnSpcReduction="20000"/>
          </a:bodyPr>
          <a:lstStyle/>
          <a:p>
            <a:pPr lvl="0">
              <a:lnSpc>
                <a:spcPct val="130000"/>
              </a:lnSpc>
            </a:pPr>
            <a:r>
              <a:rPr lang="zh-CN" altLang="en-US" dirty="0">
                <a:solidFill>
                  <a:prstClr val="black"/>
                </a:solidFill>
              </a:rPr>
              <a:t>比特币工作量证明过程</a:t>
            </a:r>
            <a:endParaRPr lang="en-US" altLang="zh-CN" dirty="0">
              <a:solidFill>
                <a:prstClr val="black"/>
              </a:solidFill>
            </a:endParaRPr>
          </a:p>
          <a:p>
            <a:pPr lvl="1">
              <a:lnSpc>
                <a:spcPct val="130000"/>
              </a:lnSpc>
            </a:pPr>
            <a:r>
              <a:rPr lang="zh-CN" altLang="en-US" dirty="0">
                <a:solidFill>
                  <a:prstClr val="black"/>
                </a:solidFill>
              </a:rPr>
              <a:t>矿工对区块头的随机值字段</a:t>
            </a:r>
            <a:r>
              <a:rPr lang="en-US" altLang="zh-CN" dirty="0">
                <a:solidFill>
                  <a:prstClr val="black"/>
                </a:solidFill>
              </a:rPr>
              <a:t>Nonce</a:t>
            </a:r>
            <a:r>
              <a:rPr lang="zh-CN" altLang="en-US" dirty="0">
                <a:solidFill>
                  <a:prstClr val="black"/>
                </a:solidFill>
              </a:rPr>
              <a:t>进行遍历。每次遍历都对区块头进行两轮</a:t>
            </a:r>
            <a:r>
              <a:rPr lang="en-US" altLang="zh-CN" dirty="0">
                <a:solidFill>
                  <a:prstClr val="black"/>
                </a:solidFill>
              </a:rPr>
              <a:t>SHA256</a:t>
            </a:r>
            <a:r>
              <a:rPr lang="zh-CN" altLang="en-US" dirty="0">
                <a:solidFill>
                  <a:prstClr val="black"/>
                </a:solidFill>
              </a:rPr>
              <a:t>哈希算法（隶属</a:t>
            </a:r>
            <a:r>
              <a:rPr lang="en-US" altLang="zh-CN" dirty="0">
                <a:solidFill>
                  <a:prstClr val="black"/>
                </a:solidFill>
              </a:rPr>
              <a:t>SHA2</a:t>
            </a:r>
            <a:r>
              <a:rPr lang="zh-CN" altLang="en-US" dirty="0">
                <a:solidFill>
                  <a:prstClr val="black"/>
                </a:solidFill>
              </a:rPr>
              <a:t>）。只有当区块头两轮哈希后得到的值小于工作量目标值，矿工才算完成了工作量证明</a:t>
            </a:r>
            <a:endParaRPr lang="en-US" altLang="zh-CN" dirty="0">
              <a:solidFill>
                <a:prstClr val="black"/>
              </a:solidFill>
            </a:endParaRPr>
          </a:p>
          <a:p>
            <a:pPr lvl="1">
              <a:lnSpc>
                <a:spcPct val="130000"/>
              </a:lnSpc>
            </a:pPr>
            <a:r>
              <a:rPr lang="zh-CN" altLang="en-US" dirty="0">
                <a:solidFill>
                  <a:prstClr val="black"/>
                </a:solidFill>
              </a:rPr>
              <a:t>两轮哈希算法的设计主要是为了避免哈希算法</a:t>
            </a:r>
            <a:r>
              <a:rPr lang="en-US" altLang="zh-CN" dirty="0">
                <a:solidFill>
                  <a:prstClr val="black"/>
                </a:solidFill>
              </a:rPr>
              <a:t>SHA256</a:t>
            </a:r>
            <a:r>
              <a:rPr lang="zh-CN" altLang="en-US" dirty="0">
                <a:solidFill>
                  <a:prstClr val="black"/>
                </a:solidFill>
              </a:rPr>
              <a:t>潜在的延展性攻击。哈希算法的单向性及映射结果的均匀性保证了矿工不能从工作量目标值反向推出合法随机值</a:t>
            </a:r>
            <a:endParaRPr lang="en-US" altLang="zh-CN" dirty="0">
              <a:solidFill>
                <a:prstClr val="black"/>
              </a:solidFill>
            </a:endParaRPr>
          </a:p>
        </p:txBody>
      </p:sp>
      <p:sp>
        <p:nvSpPr>
          <p:cNvPr id="7" name="灯片编号占位符 6">
            <a:extLst>
              <a:ext uri="{FF2B5EF4-FFF2-40B4-BE49-F238E27FC236}">
                <a16:creationId xmlns:a16="http://schemas.microsoft.com/office/drawing/2014/main" id="{97E080B7-C088-8B4E-B8CF-3281335EB402}"/>
              </a:ext>
            </a:extLst>
          </p:cNvPr>
          <p:cNvSpPr>
            <a:spLocks noGrp="1"/>
          </p:cNvSpPr>
          <p:nvPr>
            <p:ph type="sldNum" sz="quarter" idx="12"/>
          </p:nvPr>
        </p:nvSpPr>
        <p:spPr/>
        <p:txBody>
          <a:bodyPr/>
          <a:lstStyle/>
          <a:p>
            <a:fld id="{8D4D1E41-7A09-AB4A-A4E1-09765ADA2698}" type="slidenum">
              <a:rPr kumimoji="1" lang="zh-CN" altLang="en-US" smtClean="0"/>
              <a:t>29</a:t>
            </a:fld>
            <a:endParaRPr kumimoji="1" lang="zh-CN" altLang="en-US" dirty="0"/>
          </a:p>
        </p:txBody>
      </p:sp>
      <p:pic>
        <p:nvPicPr>
          <p:cNvPr id="5" name="图片 4"/>
          <p:cNvPicPr/>
          <p:nvPr/>
        </p:nvPicPr>
        <p:blipFill>
          <a:blip r:embed="rId3"/>
          <a:stretch>
            <a:fillRect/>
          </a:stretch>
        </p:blipFill>
        <p:spPr>
          <a:xfrm>
            <a:off x="6315075" y="2008311"/>
            <a:ext cx="5238750" cy="3583940"/>
          </a:xfrm>
          <a:prstGeom prst="rect">
            <a:avLst/>
          </a:prstGeom>
        </p:spPr>
      </p:pic>
    </p:spTree>
    <p:extLst>
      <p:ext uri="{BB962C8B-B14F-4D97-AF65-F5344CB8AC3E}">
        <p14:creationId xmlns:p14="http://schemas.microsoft.com/office/powerpoint/2010/main" val="36600861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比特币的工作量证明共识机制</a:t>
            </a:r>
            <a:endParaRPr lang="en-US" altLang="zh-CN" dirty="0"/>
          </a:p>
        </p:txBody>
      </p:sp>
      <p:sp>
        <p:nvSpPr>
          <p:cNvPr id="3" name="内容占位符 2"/>
          <p:cNvSpPr>
            <a:spLocks noGrp="1"/>
          </p:cNvSpPr>
          <p:nvPr>
            <p:ph idx="1"/>
          </p:nvPr>
        </p:nvSpPr>
        <p:spPr>
          <a:xfrm>
            <a:off x="838200" y="1510758"/>
            <a:ext cx="10248899" cy="4845592"/>
          </a:xfrm>
        </p:spPr>
        <p:txBody>
          <a:bodyPr>
            <a:normAutofit/>
          </a:bodyPr>
          <a:lstStyle/>
          <a:p>
            <a:pPr lvl="0">
              <a:lnSpc>
                <a:spcPct val="130000"/>
              </a:lnSpc>
            </a:pPr>
            <a:r>
              <a:rPr lang="zh-CN" altLang="en-US" dirty="0">
                <a:solidFill>
                  <a:prstClr val="black"/>
                </a:solidFill>
              </a:rPr>
              <a:t>比特币工作量证明过程</a:t>
            </a:r>
            <a:endParaRPr lang="en-US" altLang="zh-CN" dirty="0">
              <a:solidFill>
                <a:prstClr val="black"/>
              </a:solidFill>
            </a:endParaRPr>
          </a:p>
          <a:p>
            <a:pPr lvl="1">
              <a:lnSpc>
                <a:spcPct val="130000"/>
              </a:lnSpc>
            </a:pPr>
            <a:r>
              <a:rPr lang="zh-CN" altLang="en-US" dirty="0">
                <a:solidFill>
                  <a:prstClr val="black"/>
                </a:solidFill>
              </a:rPr>
              <a:t>某矿工率先完成工作量证明，则该矿工广播该区块至区块链网络。区块链网络中的其他矿工把接收到的区块作为候选区块进行验证</a:t>
            </a:r>
            <a:endParaRPr lang="en-US" altLang="zh-CN" dirty="0">
              <a:solidFill>
                <a:prstClr val="black"/>
              </a:solidFill>
            </a:endParaRPr>
          </a:p>
          <a:p>
            <a:pPr lvl="1">
              <a:lnSpc>
                <a:spcPct val="130000"/>
              </a:lnSpc>
            </a:pPr>
            <a:r>
              <a:rPr lang="zh-CN" altLang="en-US" dirty="0">
                <a:solidFill>
                  <a:prstClr val="black"/>
                </a:solidFill>
              </a:rPr>
              <a:t>若验证通过，则把该区块插入本地的数据库中并进入下一轮共识</a:t>
            </a:r>
            <a:endParaRPr lang="en-US" altLang="zh-CN" dirty="0">
              <a:solidFill>
                <a:prstClr val="black"/>
              </a:solidFill>
            </a:endParaRPr>
          </a:p>
          <a:p>
            <a:pPr lvl="1">
              <a:lnSpc>
                <a:spcPct val="130000"/>
              </a:lnSpc>
            </a:pPr>
            <a:r>
              <a:rPr lang="zh-CN" altLang="en-US" dirty="0">
                <a:solidFill>
                  <a:prstClr val="black"/>
                </a:solidFill>
              </a:rPr>
              <a:t>若验证不通过，则继续进行工作量证明</a:t>
            </a:r>
            <a:endParaRPr lang="en-US" altLang="zh-CN" dirty="0">
              <a:solidFill>
                <a:prstClr val="black"/>
              </a:solidFill>
            </a:endParaRPr>
          </a:p>
          <a:p>
            <a:pPr lvl="1">
              <a:lnSpc>
                <a:spcPct val="130000"/>
              </a:lnSpc>
            </a:pPr>
            <a:r>
              <a:rPr lang="zh-CN" altLang="en-US" dirty="0">
                <a:solidFill>
                  <a:prstClr val="black"/>
                </a:solidFill>
              </a:rPr>
              <a:t>算力占优的诚实矿工会一直基于最长链进行共识并延伸最长链</a:t>
            </a:r>
            <a:endParaRPr lang="en-US" altLang="zh-CN" dirty="0">
              <a:solidFill>
                <a:prstClr val="black"/>
              </a:solidFill>
            </a:endParaRPr>
          </a:p>
          <a:p>
            <a:pPr lvl="1">
              <a:lnSpc>
                <a:spcPct val="130000"/>
              </a:lnSpc>
            </a:pPr>
            <a:r>
              <a:rPr lang="zh-CN" altLang="en-US" dirty="0">
                <a:solidFill>
                  <a:prstClr val="black"/>
                </a:solidFill>
              </a:rPr>
              <a:t>比特币选择最长链作为全局账本的原因是最长链承载着次数最多的工作量证明</a:t>
            </a:r>
            <a:endParaRPr lang="en-US" altLang="zh-CN" dirty="0">
              <a:solidFill>
                <a:prstClr val="black"/>
              </a:solidFill>
            </a:endParaRPr>
          </a:p>
        </p:txBody>
      </p:sp>
      <p:sp>
        <p:nvSpPr>
          <p:cNvPr id="7" name="灯片编号占位符 6">
            <a:extLst>
              <a:ext uri="{FF2B5EF4-FFF2-40B4-BE49-F238E27FC236}">
                <a16:creationId xmlns:a16="http://schemas.microsoft.com/office/drawing/2014/main" id="{97E080B7-C088-8B4E-B8CF-3281335EB402}"/>
              </a:ext>
            </a:extLst>
          </p:cNvPr>
          <p:cNvSpPr>
            <a:spLocks noGrp="1"/>
          </p:cNvSpPr>
          <p:nvPr>
            <p:ph type="sldNum" sz="quarter" idx="12"/>
          </p:nvPr>
        </p:nvSpPr>
        <p:spPr/>
        <p:txBody>
          <a:bodyPr/>
          <a:lstStyle/>
          <a:p>
            <a:fld id="{8D4D1E41-7A09-AB4A-A4E1-09765ADA2698}" type="slidenum">
              <a:rPr kumimoji="1" lang="zh-CN" altLang="en-US" smtClean="0"/>
              <a:t>30</a:t>
            </a:fld>
            <a:endParaRPr kumimoji="1" lang="zh-CN" altLang="en-US" dirty="0"/>
          </a:p>
        </p:txBody>
      </p:sp>
    </p:spTree>
    <p:extLst>
      <p:ext uri="{BB962C8B-B14F-4D97-AF65-F5344CB8AC3E}">
        <p14:creationId xmlns:p14="http://schemas.microsoft.com/office/powerpoint/2010/main" val="84631968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比特币的工作量证明共识机制</a:t>
            </a:r>
            <a:endParaRPr lang="en-US" altLang="zh-CN" dirty="0"/>
          </a:p>
        </p:txBody>
      </p:sp>
      <p:sp>
        <p:nvSpPr>
          <p:cNvPr id="3" name="内容占位符 2"/>
          <p:cNvSpPr>
            <a:spLocks noGrp="1"/>
          </p:cNvSpPr>
          <p:nvPr>
            <p:ph idx="1"/>
          </p:nvPr>
        </p:nvSpPr>
        <p:spPr>
          <a:xfrm>
            <a:off x="838200" y="1510758"/>
            <a:ext cx="10248899" cy="4845592"/>
          </a:xfrm>
        </p:spPr>
        <p:txBody>
          <a:bodyPr>
            <a:normAutofit fontScale="85000" lnSpcReduction="20000"/>
          </a:bodyPr>
          <a:lstStyle/>
          <a:p>
            <a:pPr lvl="0">
              <a:lnSpc>
                <a:spcPct val="130000"/>
              </a:lnSpc>
            </a:pPr>
            <a:r>
              <a:rPr lang="zh-CN" altLang="en-US" dirty="0">
                <a:solidFill>
                  <a:prstClr val="black"/>
                </a:solidFill>
              </a:rPr>
              <a:t>难度控制</a:t>
            </a:r>
            <a:endParaRPr lang="en-US" altLang="zh-CN" dirty="0">
              <a:solidFill>
                <a:prstClr val="black"/>
              </a:solidFill>
            </a:endParaRPr>
          </a:p>
          <a:p>
            <a:pPr lvl="1">
              <a:lnSpc>
                <a:spcPct val="130000"/>
              </a:lnSpc>
            </a:pPr>
            <a:r>
              <a:rPr lang="zh-CN" altLang="en-US" dirty="0">
                <a:solidFill>
                  <a:prstClr val="black"/>
                </a:solidFill>
              </a:rPr>
              <a:t>通过控制哈希得到的值的大小（前方</a:t>
            </a:r>
            <a:r>
              <a:rPr lang="en-US" altLang="zh-CN" dirty="0">
                <a:solidFill>
                  <a:prstClr val="black"/>
                </a:solidFill>
              </a:rPr>
              <a:t>0</a:t>
            </a:r>
            <a:r>
              <a:rPr lang="zh-CN" altLang="en-US" dirty="0">
                <a:solidFill>
                  <a:prstClr val="black"/>
                </a:solidFill>
              </a:rPr>
              <a:t>的个数）</a:t>
            </a:r>
            <a:endParaRPr lang="en-US" altLang="zh-CN" dirty="0">
              <a:solidFill>
                <a:prstClr val="black"/>
              </a:solidFill>
            </a:endParaRPr>
          </a:p>
          <a:p>
            <a:pPr lvl="1">
              <a:lnSpc>
                <a:spcPct val="130000"/>
              </a:lnSpc>
            </a:pPr>
            <a:r>
              <a:rPr lang="zh-CN" altLang="en-US" dirty="0">
                <a:solidFill>
                  <a:prstClr val="black"/>
                </a:solidFill>
              </a:rPr>
              <a:t>当网络算力大（全网每秒的哈希次数多时），需要提升全网难度。当网络算力小，需要降低全网难度</a:t>
            </a:r>
            <a:endParaRPr lang="en-US" altLang="zh-CN" dirty="0">
              <a:solidFill>
                <a:prstClr val="black"/>
              </a:solidFill>
            </a:endParaRPr>
          </a:p>
          <a:p>
            <a:pPr lvl="0">
              <a:lnSpc>
                <a:spcPct val="130000"/>
              </a:lnSpc>
            </a:pPr>
            <a:r>
              <a:rPr lang="zh-CN" altLang="en-US" dirty="0">
                <a:solidFill>
                  <a:prstClr val="black"/>
                </a:solidFill>
              </a:rPr>
              <a:t>双花攻击</a:t>
            </a:r>
            <a:endParaRPr lang="en-US" altLang="zh-CN" dirty="0">
              <a:solidFill>
                <a:prstClr val="black"/>
              </a:solidFill>
            </a:endParaRPr>
          </a:p>
          <a:p>
            <a:pPr lvl="1">
              <a:lnSpc>
                <a:spcPct val="130000"/>
              </a:lnSpc>
            </a:pPr>
            <a:r>
              <a:rPr lang="zh-CN" altLang="en-US" dirty="0">
                <a:solidFill>
                  <a:prstClr val="black"/>
                </a:solidFill>
              </a:rPr>
              <a:t>攻击者付钱购买商品，然后商家等待该交易所在的区块</a:t>
            </a:r>
            <a:r>
              <a:rPr lang="en-US" altLang="zh-CN" dirty="0">
                <a:solidFill>
                  <a:prstClr val="black"/>
                </a:solidFill>
              </a:rPr>
              <a:t>N</a:t>
            </a:r>
            <a:r>
              <a:rPr lang="zh-CN" altLang="en-US" dirty="0">
                <a:solidFill>
                  <a:prstClr val="black"/>
                </a:solidFill>
              </a:rPr>
              <a:t>被后续足够多的区块所引用，则给攻击者发货。攻击者在付钱的同时，开始在暗地里用自己的算力来支持双花交易（可以使付钱交易无效的交易），即从高度</a:t>
            </a:r>
            <a:r>
              <a:rPr lang="en-US" altLang="zh-CN" dirty="0">
                <a:solidFill>
                  <a:prstClr val="black"/>
                </a:solidFill>
              </a:rPr>
              <a:t>N</a:t>
            </a:r>
            <a:r>
              <a:rPr lang="zh-CN" altLang="en-US" dirty="0">
                <a:solidFill>
                  <a:prstClr val="black"/>
                </a:solidFill>
              </a:rPr>
              <a:t>开始制造分叉</a:t>
            </a:r>
            <a:endParaRPr lang="en-US" altLang="zh-CN" dirty="0">
              <a:solidFill>
                <a:prstClr val="black"/>
              </a:solidFill>
            </a:endParaRPr>
          </a:p>
          <a:p>
            <a:pPr lvl="1">
              <a:lnSpc>
                <a:spcPct val="130000"/>
              </a:lnSpc>
            </a:pPr>
            <a:r>
              <a:rPr lang="zh-CN" altLang="en-US" dirty="0">
                <a:solidFill>
                  <a:prstClr val="black"/>
                </a:solidFill>
              </a:rPr>
              <a:t>若攻击者的算力足够大，则暗地里的分叉链的长度会大于当前主网的链。当攻击者收到货以后，就会广播分叉链，由于分叉链的长度比当前主网链要长，所以区块链网络舍弃当前主网链，采用分叉链为最新主网链，从而付费交易失效，而双花交易成功</a:t>
            </a:r>
            <a:endParaRPr lang="en-US" altLang="zh-CN" dirty="0">
              <a:solidFill>
                <a:prstClr val="black"/>
              </a:solidFill>
            </a:endParaRPr>
          </a:p>
        </p:txBody>
      </p:sp>
      <p:sp>
        <p:nvSpPr>
          <p:cNvPr id="7" name="灯片编号占位符 6">
            <a:extLst>
              <a:ext uri="{FF2B5EF4-FFF2-40B4-BE49-F238E27FC236}">
                <a16:creationId xmlns:a16="http://schemas.microsoft.com/office/drawing/2014/main" id="{97E080B7-C088-8B4E-B8CF-3281335EB402}"/>
              </a:ext>
            </a:extLst>
          </p:cNvPr>
          <p:cNvSpPr>
            <a:spLocks noGrp="1"/>
          </p:cNvSpPr>
          <p:nvPr>
            <p:ph type="sldNum" sz="quarter" idx="12"/>
          </p:nvPr>
        </p:nvSpPr>
        <p:spPr/>
        <p:txBody>
          <a:bodyPr/>
          <a:lstStyle/>
          <a:p>
            <a:fld id="{8D4D1E41-7A09-AB4A-A4E1-09765ADA2698}" type="slidenum">
              <a:rPr kumimoji="1" lang="zh-CN" altLang="en-US" smtClean="0"/>
              <a:t>31</a:t>
            </a:fld>
            <a:endParaRPr kumimoji="1" lang="zh-CN" altLang="en-US" dirty="0"/>
          </a:p>
        </p:txBody>
      </p:sp>
    </p:spTree>
    <p:extLst>
      <p:ext uri="{BB962C8B-B14F-4D97-AF65-F5344CB8AC3E}">
        <p14:creationId xmlns:p14="http://schemas.microsoft.com/office/powerpoint/2010/main" val="191012875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比特币的工作量证明共识机制</a:t>
            </a:r>
            <a:endParaRPr lang="en-US" altLang="zh-CN" dirty="0"/>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838200" y="1510758"/>
                <a:ext cx="10248899" cy="4845592"/>
              </a:xfrm>
            </p:spPr>
            <p:txBody>
              <a:bodyPr>
                <a:normAutofit fontScale="77500" lnSpcReduction="20000"/>
              </a:bodyPr>
              <a:lstStyle/>
              <a:p>
                <a:pPr lvl="1">
                  <a:lnSpc>
                    <a:spcPct val="130000"/>
                  </a:lnSpc>
                </a:pPr>
                <a:r>
                  <a:rPr lang="zh-CN" altLang="en-US" dirty="0">
                    <a:solidFill>
                      <a:prstClr val="black"/>
                    </a:solidFill>
                  </a:rPr>
                  <a:t>诚实矿工的算力占全网算力的比例为</a:t>
                </a:r>
                <a:r>
                  <a:rPr lang="en-US" altLang="zh-CN" dirty="0">
                    <a:solidFill>
                      <a:prstClr val="black"/>
                    </a:solidFill>
                  </a:rPr>
                  <a:t>p</a:t>
                </a:r>
                <a:r>
                  <a:rPr lang="zh-CN" altLang="en-US" dirty="0">
                    <a:solidFill>
                      <a:prstClr val="black"/>
                    </a:solidFill>
                  </a:rPr>
                  <a:t>而攻击者的算力占全网的比例为</a:t>
                </a:r>
                <a:r>
                  <a:rPr lang="en-US" altLang="zh-CN" dirty="0">
                    <a:solidFill>
                      <a:prstClr val="black"/>
                    </a:solidFill>
                  </a:rPr>
                  <a:t>q</a:t>
                </a:r>
                <a:r>
                  <a:rPr lang="zh-CN" altLang="en-US" dirty="0">
                    <a:solidFill>
                      <a:prstClr val="black"/>
                    </a:solidFill>
                  </a:rPr>
                  <a:t>，其中</a:t>
                </a:r>
                <a:r>
                  <a:rPr lang="en-US" altLang="zh-CN" dirty="0" err="1">
                    <a:solidFill>
                      <a:prstClr val="black"/>
                    </a:solidFill>
                  </a:rPr>
                  <a:t>p+q</a:t>
                </a:r>
                <a:r>
                  <a:rPr lang="en-US" altLang="zh-CN" dirty="0">
                    <a:solidFill>
                      <a:prstClr val="black"/>
                    </a:solidFill>
                  </a:rPr>
                  <a:t>=1</a:t>
                </a:r>
              </a:p>
              <a:p>
                <a:pPr lvl="1">
                  <a:lnSpc>
                    <a:spcPct val="130000"/>
                  </a:lnSpc>
                </a:pPr>
                <a:r>
                  <a:rPr lang="zh-CN" altLang="en-US" dirty="0">
                    <a:solidFill>
                      <a:prstClr val="black"/>
                    </a:solidFill>
                  </a:rPr>
                  <a:t>攻击者在落后</a:t>
                </a:r>
                <a:r>
                  <a:rPr lang="en-US" altLang="zh-CN" dirty="0">
                    <a:solidFill>
                      <a:prstClr val="black"/>
                    </a:solidFill>
                  </a:rPr>
                  <a:t>z</a:t>
                </a:r>
                <a:r>
                  <a:rPr lang="zh-CN" altLang="en-US" dirty="0">
                    <a:solidFill>
                      <a:prstClr val="black"/>
                    </a:solidFill>
                  </a:rPr>
                  <a:t>个区块的情况下，攻击者能够追上诚实矿工的概率下述公式，其中</a:t>
                </a:r>
                <a:r>
                  <a:rPr lang="en-US" altLang="zh-CN" dirty="0">
                    <a:solidFill>
                      <a:prstClr val="black"/>
                    </a:solidFill>
                  </a:rPr>
                  <a:t>ξ=q/p</a:t>
                </a:r>
              </a:p>
              <a:p>
                <a:pPr algn="ctr">
                  <a:spcAft>
                    <a:spcPts val="0"/>
                  </a:spcAft>
                </a:pPr>
                <a14:m>
                  <m:oMath xmlns:m="http://schemas.openxmlformats.org/officeDocument/2006/math">
                    <m:sSub>
                      <m:sSub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latin typeface="Cambria Math" panose="02040503050406030204" pitchFamily="18" charset="0"/>
                            <a:ea typeface="宋体" panose="02010600030101010101" pitchFamily="2" charset="-122"/>
                            <a:cs typeface="Times New Roman" panose="02020603050405020304" pitchFamily="18" charset="0"/>
                          </a:rPr>
                          <m:t>𝑄</m:t>
                        </m:r>
                      </m:e>
                      <m:sub>
                        <m:r>
                          <a:rPr lang="en-US" altLang="zh-CN" i="1" kern="100">
                            <a:latin typeface="Cambria Math" panose="02040503050406030204" pitchFamily="18" charset="0"/>
                            <a:ea typeface="宋体" panose="02010600030101010101" pitchFamily="2" charset="-122"/>
                            <a:cs typeface="Times New Roman" panose="02020603050405020304" pitchFamily="18" charset="0"/>
                          </a:rPr>
                          <m:t>𝜉</m:t>
                        </m:r>
                      </m:sub>
                    </m:sSub>
                    <m:r>
                      <a:rPr lang="en-US" altLang="zh-CN" i="1" kern="100">
                        <a:latin typeface="Cambria Math" panose="02040503050406030204" pitchFamily="18" charset="0"/>
                        <a:ea typeface="宋体" panose="02010600030101010101" pitchFamily="2" charset="-122"/>
                        <a:cs typeface="Times New Roman" panose="02020603050405020304" pitchFamily="18" charset="0"/>
                      </a:rPr>
                      <m:t>(</m:t>
                    </m:r>
                    <m:r>
                      <a:rPr lang="en-US" altLang="zh-CN" i="1" kern="100">
                        <a:latin typeface="Cambria Math" panose="02040503050406030204" pitchFamily="18" charset="0"/>
                        <a:ea typeface="宋体" panose="02010600030101010101" pitchFamily="2" charset="-122"/>
                        <a:cs typeface="Times New Roman" panose="02020603050405020304" pitchFamily="18" charset="0"/>
                      </a:rPr>
                      <m:t>𝑧</m:t>
                    </m:r>
                    <m:r>
                      <a:rPr lang="en-US" altLang="zh-CN" i="1" kern="100">
                        <a:latin typeface="Cambria Math" panose="02040503050406030204" pitchFamily="18" charset="0"/>
                        <a:ea typeface="宋体" panose="02010600030101010101" pitchFamily="2" charset="-122"/>
                        <a:cs typeface="Times New Roman" panose="02020603050405020304" pitchFamily="18" charset="0"/>
                      </a:rPr>
                      <m:t>)=</m:t>
                    </m:r>
                    <m:d>
                      <m:dPr>
                        <m:begChr m:val="{"/>
                        <m:endChr m:val=""/>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dPr>
                      <m:e>
                        <m:eqArr>
                          <m:eqArr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eqArrPr>
                          <m:e>
                            <m:sSup>
                              <m:sSup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i="1" kern="100">
                                    <a:latin typeface="Cambria Math" panose="02040503050406030204" pitchFamily="18" charset="0"/>
                                    <a:ea typeface="宋体" panose="02010600030101010101" pitchFamily="2" charset="-122"/>
                                    <a:cs typeface="Times New Roman" panose="02020603050405020304" pitchFamily="18" charset="0"/>
                                  </a:rPr>
                                  <m:t>𝜉</m:t>
                                </m:r>
                              </m:e>
                              <m:sup>
                                <m:r>
                                  <a:rPr lang="en-US" altLang="zh-CN" i="1" kern="100">
                                    <a:latin typeface="Cambria Math" panose="02040503050406030204" pitchFamily="18" charset="0"/>
                                    <a:ea typeface="宋体" panose="02010600030101010101" pitchFamily="2" charset="-122"/>
                                    <a:cs typeface="Times New Roman" panose="02020603050405020304" pitchFamily="18" charset="0"/>
                                  </a:rPr>
                                  <m:t>𝑧</m:t>
                                </m:r>
                              </m:sup>
                            </m:sSup>
                            <m:r>
                              <a:rPr lang="en-US" altLang="zh-CN" i="1" kern="100">
                                <a:latin typeface="Cambria Math" panose="02040503050406030204" pitchFamily="18" charset="0"/>
                                <a:ea typeface="宋体" panose="02010600030101010101" pitchFamily="2" charset="-122"/>
                                <a:cs typeface="Times New Roman" panose="02020603050405020304" pitchFamily="18" charset="0"/>
                              </a:rPr>
                              <m:t>     </m:t>
                            </m:r>
                            <m:r>
                              <a:rPr lang="en-US" altLang="zh-CN" i="1" kern="100">
                                <a:latin typeface="Cambria Math" panose="02040503050406030204" pitchFamily="18" charset="0"/>
                                <a:ea typeface="宋体" panose="02010600030101010101" pitchFamily="2" charset="-122"/>
                                <a:cs typeface="Times New Roman" panose="02020603050405020304" pitchFamily="18" charset="0"/>
                              </a:rPr>
                              <m:t>𝜉</m:t>
                            </m:r>
                            <m:r>
                              <a:rPr lang="en-US" altLang="zh-CN" i="1" kern="100">
                                <a:latin typeface="Cambria Math" panose="02040503050406030204" pitchFamily="18" charset="0"/>
                                <a:ea typeface="宋体" panose="02010600030101010101" pitchFamily="2" charset="-122"/>
                                <a:cs typeface="Times New Roman" panose="02020603050405020304" pitchFamily="18" charset="0"/>
                              </a:rPr>
                              <m:t>&lt;1</m:t>
                            </m:r>
                            <m:r>
                              <a:rPr lang="zh-CN" altLang="zh-CN" i="1" kern="100">
                                <a:latin typeface="Cambria Math" panose="02040503050406030204" pitchFamily="18" charset="0"/>
                                <a:ea typeface="宋体" panose="02010600030101010101" pitchFamily="2" charset="-122"/>
                                <a:cs typeface="Times New Roman" panose="02020603050405020304" pitchFamily="18" charset="0"/>
                              </a:rPr>
                              <m:t>且</m:t>
                            </m:r>
                            <m:r>
                              <a:rPr lang="en-US" altLang="zh-CN" i="1" kern="100">
                                <a:latin typeface="Cambria Math" panose="02040503050406030204" pitchFamily="18" charset="0"/>
                                <a:ea typeface="宋体" panose="02010600030101010101" pitchFamily="2" charset="-122"/>
                                <a:cs typeface="Times New Roman" panose="02020603050405020304" pitchFamily="18" charset="0"/>
                              </a:rPr>
                              <m:t>𝑧</m:t>
                            </m:r>
                            <m:r>
                              <a:rPr lang="en-US" altLang="zh-CN" i="1" kern="100">
                                <a:latin typeface="Cambria Math" panose="02040503050406030204" pitchFamily="18" charset="0"/>
                                <a:ea typeface="宋体" panose="02010600030101010101" pitchFamily="2" charset="-122"/>
                                <a:cs typeface="Times New Roman" panose="02020603050405020304" pitchFamily="18" charset="0"/>
                              </a:rPr>
                              <m:t>&gt;0</m:t>
                            </m:r>
                          </m:e>
                          <m:e>
                            <m:r>
                              <a:rPr lang="en-US" altLang="zh-CN" i="1" kern="100">
                                <a:latin typeface="Cambria Math" panose="02040503050406030204" pitchFamily="18" charset="0"/>
                                <a:ea typeface="宋体" panose="02010600030101010101" pitchFamily="2" charset="-122"/>
                                <a:cs typeface="Times New Roman" panose="02020603050405020304" pitchFamily="18" charset="0"/>
                              </a:rPr>
                              <m:t>1       </m:t>
                            </m:r>
                            <m:r>
                              <m:rPr>
                                <m:sty m:val="p"/>
                              </m:rPr>
                              <a:rPr lang="en-US" altLang="zh-CN" kern="100">
                                <a:latin typeface="Cambria Math" panose="02040503050406030204" pitchFamily="18" charset="0"/>
                                <a:ea typeface="宋体" panose="02010600030101010101" pitchFamily="2" charset="-122"/>
                                <a:cs typeface="Times New Roman" panose="02020603050405020304" pitchFamily="18" charset="0"/>
                              </a:rPr>
                              <m:t>ξ</m:t>
                            </m:r>
                            <m:r>
                              <a:rPr lang="en-US" altLang="zh-CN" kern="100">
                                <a:latin typeface="Cambria Math" panose="02040503050406030204" pitchFamily="18" charset="0"/>
                                <a:ea typeface="宋体" panose="02010600030101010101" pitchFamily="2" charset="-122"/>
                                <a:cs typeface="Times New Roman" panose="02020603050405020304" pitchFamily="18" charset="0"/>
                              </a:rPr>
                              <m:t>≥1</m:t>
                            </m:r>
                            <m:r>
                              <a:rPr lang="zh-CN" altLang="zh-CN" kern="100">
                                <a:latin typeface="Cambria Math" panose="02040503050406030204" pitchFamily="18" charset="0"/>
                                <a:ea typeface="宋体" panose="02010600030101010101" pitchFamily="2" charset="-122"/>
                                <a:cs typeface="Times New Roman" panose="02020603050405020304" pitchFamily="18" charset="0"/>
                              </a:rPr>
                              <m:t>或</m:t>
                            </m:r>
                            <m:r>
                              <m:rPr>
                                <m:sty m:val="p"/>
                              </m:rPr>
                              <a:rPr lang="en-US" altLang="zh-CN" kern="100">
                                <a:latin typeface="Cambria Math" panose="02040503050406030204" pitchFamily="18" charset="0"/>
                                <a:ea typeface="宋体" panose="02010600030101010101" pitchFamily="2" charset="-122"/>
                                <a:cs typeface="Times New Roman" panose="02020603050405020304" pitchFamily="18" charset="0"/>
                              </a:rPr>
                              <m:t>z</m:t>
                            </m:r>
                            <m:r>
                              <a:rPr lang="en-US" altLang="zh-CN" kern="100">
                                <a:latin typeface="Cambria Math" panose="02040503050406030204" pitchFamily="18" charset="0"/>
                                <a:ea typeface="宋体" panose="02010600030101010101" pitchFamily="2" charset="-122"/>
                                <a:cs typeface="Times New Roman" panose="02020603050405020304" pitchFamily="18" charset="0"/>
                              </a:rPr>
                              <m:t>≤0</m:t>
                            </m:r>
                          </m:e>
                        </m:eqArr>
                      </m:e>
                    </m:d>
                  </m:oMath>
                </a14:m>
                <a:endParaRPr lang="zh-CN" altLang="zh-CN" kern="100" dirty="0">
                  <a:latin typeface="Calibri" panose="020F0502020204030204" pitchFamily="34" charset="0"/>
                  <a:ea typeface="宋体" panose="02010600030101010101" pitchFamily="2" charset="-122"/>
                  <a:cs typeface="Times New Roman" panose="02020603050405020304" pitchFamily="18" charset="0"/>
                </a:endParaRPr>
              </a:p>
              <a:p>
                <a:pPr lvl="1">
                  <a:lnSpc>
                    <a:spcPct val="130000"/>
                  </a:lnSpc>
                </a:pPr>
                <a:r>
                  <a:rPr lang="en-US" altLang="zh-CN" dirty="0">
                    <a:solidFill>
                      <a:prstClr val="black"/>
                    </a:solidFill>
                  </a:rPr>
                  <a:t>y</a:t>
                </a:r>
                <a:r>
                  <a:rPr lang="zh-CN" altLang="en-US" dirty="0">
                    <a:solidFill>
                      <a:prstClr val="black"/>
                    </a:solidFill>
                  </a:rPr>
                  <a:t>确认代表当交易被</a:t>
                </a:r>
                <a:r>
                  <a:rPr lang="en-US" altLang="zh-CN" dirty="0">
                    <a:solidFill>
                      <a:prstClr val="black"/>
                    </a:solidFill>
                  </a:rPr>
                  <a:t>y</a:t>
                </a:r>
                <a:r>
                  <a:rPr lang="zh-CN" altLang="en-US" dirty="0">
                    <a:solidFill>
                      <a:prstClr val="black"/>
                    </a:solidFill>
                  </a:rPr>
                  <a:t>个区块所支持时交易被认为几乎不可能被逆转。比特币中的</a:t>
                </a:r>
                <a:r>
                  <a:rPr lang="en-US" altLang="zh-CN" dirty="0">
                    <a:solidFill>
                      <a:prstClr val="black"/>
                    </a:solidFill>
                  </a:rPr>
                  <a:t>y</a:t>
                </a:r>
                <a:r>
                  <a:rPr lang="zh-CN" altLang="en-US" dirty="0">
                    <a:solidFill>
                      <a:prstClr val="black"/>
                    </a:solidFill>
                  </a:rPr>
                  <a:t>常被取为</a:t>
                </a:r>
                <a:r>
                  <a:rPr lang="en-US" altLang="zh-CN" dirty="0">
                    <a:solidFill>
                      <a:prstClr val="black"/>
                    </a:solidFill>
                  </a:rPr>
                  <a:t>6</a:t>
                </a:r>
                <a:r>
                  <a:rPr lang="zh-CN" altLang="en-US" dirty="0">
                    <a:solidFill>
                      <a:prstClr val="black"/>
                    </a:solidFill>
                  </a:rPr>
                  <a:t>。而当主链上观察到</a:t>
                </a:r>
                <a:r>
                  <a:rPr lang="en-US" altLang="zh-CN" dirty="0">
                    <a:solidFill>
                      <a:prstClr val="black"/>
                    </a:solidFill>
                  </a:rPr>
                  <a:t>y</a:t>
                </a:r>
                <a:r>
                  <a:rPr lang="zh-CN" altLang="en-US" dirty="0">
                    <a:solidFill>
                      <a:prstClr val="black"/>
                    </a:solidFill>
                  </a:rPr>
                  <a:t>确认时，攻击者暗地挖到的区块数量</a:t>
                </a:r>
                <a:r>
                  <a:rPr lang="en-US" altLang="zh-CN" dirty="0">
                    <a:solidFill>
                      <a:prstClr val="black"/>
                    </a:solidFill>
                  </a:rPr>
                  <a:t>x</a:t>
                </a:r>
                <a:r>
                  <a:rPr lang="zh-CN" altLang="en-US" dirty="0">
                    <a:solidFill>
                      <a:prstClr val="black"/>
                    </a:solidFill>
                  </a:rPr>
                  <a:t>满足参数为</a:t>
                </a:r>
                <a:r>
                  <a:rPr lang="en-US" altLang="zh-CN" dirty="0">
                    <a:solidFill>
                      <a:prstClr val="black"/>
                    </a:solidFill>
                  </a:rPr>
                  <a:t>λ=</a:t>
                </a:r>
                <a:r>
                  <a:rPr lang="en-US" altLang="zh-CN" dirty="0" err="1">
                    <a:solidFill>
                      <a:prstClr val="black"/>
                    </a:solidFill>
                  </a:rPr>
                  <a:t>ξy</a:t>
                </a:r>
                <a:r>
                  <a:rPr lang="zh-CN" altLang="en-US" dirty="0">
                    <a:solidFill>
                      <a:prstClr val="black"/>
                    </a:solidFill>
                  </a:rPr>
                  <a:t>的泊松分布，并记为</a:t>
                </a:r>
                <a:r>
                  <a:rPr lang="en-US" altLang="zh-CN" dirty="0">
                    <a:solidFill>
                      <a:prstClr val="black"/>
                    </a:solidFill>
                  </a:rPr>
                  <a:t>p(x)</a:t>
                </a:r>
                <a:r>
                  <a:rPr lang="zh-CN" altLang="en-US" dirty="0">
                    <a:solidFill>
                      <a:prstClr val="black"/>
                    </a:solidFill>
                  </a:rPr>
                  <a:t>。攻击者攻击成功的概率见下述公式</a:t>
                </a:r>
                <a:endParaRPr lang="en-US" altLang="zh-CN" dirty="0">
                  <a:solidFill>
                    <a:prstClr val="black"/>
                  </a:solidFill>
                </a:endParaRPr>
              </a:p>
              <a:p>
                <a:pPr algn="ctr">
                  <a:spcAft>
                    <a:spcPts val="0"/>
                  </a:spcAft>
                </a:pPr>
                <a14:m>
                  <m:oMath xmlns:m="http://schemas.openxmlformats.org/officeDocument/2006/math">
                    <m:r>
                      <a:rPr lang="en-US" altLang="zh-CN" i="1" kern="100">
                        <a:latin typeface="Cambria Math" panose="02040503050406030204" pitchFamily="18" charset="0"/>
                        <a:ea typeface="宋体" panose="02010600030101010101" pitchFamily="2" charset="-122"/>
                        <a:cs typeface="Times New Roman" panose="02020603050405020304" pitchFamily="18" charset="0"/>
                      </a:rPr>
                      <m:t>𝑃</m:t>
                    </m:r>
                    <m:d>
                      <m:d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dPr>
                      <m:e>
                        <m:r>
                          <a:rPr lang="zh-CN" altLang="zh-CN" i="1" kern="100">
                            <a:latin typeface="Cambria Math" panose="02040503050406030204" pitchFamily="18" charset="0"/>
                            <a:ea typeface="宋体" panose="02010600030101010101" pitchFamily="2" charset="-122"/>
                            <a:cs typeface="Times New Roman" panose="02020603050405020304" pitchFamily="18" charset="0"/>
                          </a:rPr>
                          <m:t>攻击成功；</m:t>
                        </m:r>
                        <m:r>
                          <a:rPr lang="en-US" altLang="zh-CN" i="1" kern="100">
                            <a:latin typeface="Cambria Math" panose="02040503050406030204" pitchFamily="18" charset="0"/>
                            <a:ea typeface="宋体" panose="02010600030101010101" pitchFamily="2" charset="-122"/>
                            <a:cs typeface="Times New Roman" panose="02020603050405020304" pitchFamily="18" charset="0"/>
                          </a:rPr>
                          <m:t>𝑦</m:t>
                        </m:r>
                        <m:r>
                          <a:rPr lang="zh-CN" altLang="zh-CN" i="1" kern="100">
                            <a:latin typeface="Cambria Math" panose="02040503050406030204" pitchFamily="18" charset="0"/>
                            <a:ea typeface="宋体" panose="02010600030101010101" pitchFamily="2" charset="-122"/>
                            <a:cs typeface="Times New Roman" panose="02020603050405020304" pitchFamily="18" charset="0"/>
                          </a:rPr>
                          <m:t>确认</m:t>
                        </m:r>
                      </m:e>
                    </m:d>
                    <m:r>
                      <a:rPr lang="en-US" altLang="zh-CN" i="1" kern="100">
                        <a:latin typeface="Cambria Math" panose="02040503050406030204" pitchFamily="18" charset="0"/>
                        <a:ea typeface="宋体" panose="02010600030101010101" pitchFamily="2" charset="-122"/>
                        <a:cs typeface="Times New Roman" panose="02020603050405020304" pitchFamily="18" charset="0"/>
                      </a:rPr>
                      <m:t>=</m:t>
                    </m:r>
                    <m:nary>
                      <m:naryPr>
                        <m:chr m:val="∑"/>
                        <m:limLoc m:val="undOv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i="1" kern="100">
                            <a:latin typeface="Cambria Math" panose="02040503050406030204" pitchFamily="18" charset="0"/>
                            <a:ea typeface="宋体" panose="02010600030101010101" pitchFamily="2" charset="-122"/>
                            <a:cs typeface="Times New Roman" panose="02020603050405020304" pitchFamily="18" charset="0"/>
                          </a:rPr>
                          <m:t>𝑥</m:t>
                        </m:r>
                        <m:r>
                          <a:rPr lang="en-US" altLang="zh-CN" i="1" kern="100">
                            <a:latin typeface="Cambria Math" panose="02040503050406030204" pitchFamily="18" charset="0"/>
                            <a:ea typeface="宋体" panose="02010600030101010101" pitchFamily="2" charset="-122"/>
                            <a:cs typeface="Times New Roman" panose="02020603050405020304" pitchFamily="18" charset="0"/>
                          </a:rPr>
                          <m:t>=0</m:t>
                        </m:r>
                      </m:sub>
                      <m:sup>
                        <m:r>
                          <a:rPr lang="en-US" altLang="zh-CN" i="1" kern="100">
                            <a:latin typeface="Cambria Math" panose="02040503050406030204" pitchFamily="18" charset="0"/>
                            <a:ea typeface="宋体" panose="02010600030101010101" pitchFamily="2" charset="-122"/>
                            <a:cs typeface="Times New Roman" panose="02020603050405020304" pitchFamily="18" charset="0"/>
                          </a:rPr>
                          <m:t>+∞</m:t>
                        </m:r>
                      </m:sup>
                      <m:e>
                        <m:r>
                          <a:rPr lang="en-US" altLang="zh-CN" i="1" kern="100">
                            <a:latin typeface="Cambria Math" panose="02040503050406030204" pitchFamily="18" charset="0"/>
                            <a:ea typeface="宋体" panose="02010600030101010101" pitchFamily="2" charset="-122"/>
                            <a:cs typeface="Times New Roman" panose="02020603050405020304" pitchFamily="18" charset="0"/>
                          </a:rPr>
                          <m:t>𝑝</m:t>
                        </m:r>
                        <m:r>
                          <a:rPr lang="en-US" altLang="zh-CN" i="1" kern="100">
                            <a:latin typeface="Cambria Math" panose="02040503050406030204" pitchFamily="18" charset="0"/>
                            <a:ea typeface="宋体" panose="02010600030101010101" pitchFamily="2" charset="-122"/>
                            <a:cs typeface="Times New Roman" panose="02020603050405020304" pitchFamily="18" charset="0"/>
                          </a:rPr>
                          <m:t>(</m:t>
                        </m:r>
                        <m:r>
                          <a:rPr lang="en-US" altLang="zh-CN" i="1" kern="100">
                            <a:latin typeface="Cambria Math" panose="02040503050406030204" pitchFamily="18" charset="0"/>
                            <a:ea typeface="宋体" panose="02010600030101010101" pitchFamily="2" charset="-122"/>
                            <a:cs typeface="Times New Roman" panose="02020603050405020304" pitchFamily="18" charset="0"/>
                          </a:rPr>
                          <m:t>𝑥</m:t>
                        </m:r>
                        <m:r>
                          <a:rPr lang="en-US" altLang="zh-CN" i="1" kern="100">
                            <a:latin typeface="Cambria Math" panose="02040503050406030204" pitchFamily="18" charset="0"/>
                            <a:ea typeface="宋体" panose="02010600030101010101" pitchFamily="2" charset="-122"/>
                            <a:cs typeface="Times New Roman" panose="02020603050405020304" pitchFamily="18" charset="0"/>
                          </a:rPr>
                          <m:t>)</m:t>
                        </m:r>
                      </m:e>
                    </m:nary>
                    <m:sSub>
                      <m:sSub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latin typeface="Cambria Math" panose="02040503050406030204" pitchFamily="18" charset="0"/>
                            <a:ea typeface="宋体" panose="02010600030101010101" pitchFamily="2" charset="-122"/>
                            <a:cs typeface="Times New Roman" panose="02020603050405020304" pitchFamily="18" charset="0"/>
                          </a:rPr>
                          <m:t>𝑄</m:t>
                        </m:r>
                      </m:e>
                      <m:sub>
                        <m:r>
                          <a:rPr lang="en-US" altLang="zh-CN" i="1" kern="100">
                            <a:latin typeface="Cambria Math" panose="02040503050406030204" pitchFamily="18" charset="0"/>
                            <a:ea typeface="宋体" panose="02010600030101010101" pitchFamily="2" charset="-122"/>
                            <a:cs typeface="Times New Roman" panose="02020603050405020304" pitchFamily="18" charset="0"/>
                          </a:rPr>
                          <m:t>𝜉</m:t>
                        </m:r>
                      </m:sub>
                    </m:sSub>
                    <m:r>
                      <a:rPr lang="en-US" altLang="zh-CN" i="1" kern="100">
                        <a:latin typeface="Cambria Math" panose="02040503050406030204" pitchFamily="18" charset="0"/>
                        <a:ea typeface="宋体" panose="02010600030101010101" pitchFamily="2" charset="-122"/>
                        <a:cs typeface="Times New Roman" panose="02020603050405020304" pitchFamily="18" charset="0"/>
                      </a:rPr>
                      <m:t>(</m:t>
                    </m:r>
                    <m:r>
                      <a:rPr lang="en-US" altLang="zh-CN" i="1" kern="100">
                        <a:latin typeface="Cambria Math" panose="02040503050406030204" pitchFamily="18" charset="0"/>
                        <a:ea typeface="宋体" panose="02010600030101010101" pitchFamily="2" charset="-122"/>
                        <a:cs typeface="Times New Roman" panose="02020603050405020304" pitchFamily="18" charset="0"/>
                      </a:rPr>
                      <m:t>𝑦</m:t>
                    </m:r>
                    <m:r>
                      <a:rPr lang="en-US" altLang="zh-CN" i="1" kern="100">
                        <a:latin typeface="Cambria Math" panose="02040503050406030204" pitchFamily="18" charset="0"/>
                        <a:ea typeface="宋体" panose="02010600030101010101" pitchFamily="2" charset="-122"/>
                        <a:cs typeface="Times New Roman" panose="02020603050405020304" pitchFamily="18" charset="0"/>
                      </a:rPr>
                      <m:t>−</m:t>
                    </m:r>
                    <m:r>
                      <a:rPr lang="en-US" altLang="zh-CN" i="1" kern="100">
                        <a:latin typeface="Cambria Math" panose="02040503050406030204" pitchFamily="18" charset="0"/>
                        <a:ea typeface="宋体" panose="02010600030101010101" pitchFamily="2" charset="-122"/>
                        <a:cs typeface="Times New Roman" panose="02020603050405020304" pitchFamily="18" charset="0"/>
                      </a:rPr>
                      <m:t>𝑥</m:t>
                    </m:r>
                    <m:r>
                      <a:rPr lang="en-US" altLang="zh-CN" i="1" kern="100">
                        <a:latin typeface="Cambria Math" panose="02040503050406030204" pitchFamily="18" charset="0"/>
                        <a:ea typeface="宋体" panose="02010600030101010101" pitchFamily="2" charset="-122"/>
                        <a:cs typeface="Times New Roman" panose="02020603050405020304" pitchFamily="18" charset="0"/>
                      </a:rPr>
                      <m:t>)=1 −</m:t>
                    </m:r>
                    <m:nary>
                      <m:naryPr>
                        <m:chr m:val="∑"/>
                        <m:limLoc m:val="undOv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i="1" kern="100">
                            <a:latin typeface="Cambria Math" panose="02040503050406030204" pitchFamily="18" charset="0"/>
                            <a:ea typeface="宋体" panose="02010600030101010101" pitchFamily="2" charset="-122"/>
                            <a:cs typeface="Times New Roman" panose="02020603050405020304" pitchFamily="18" charset="0"/>
                          </a:rPr>
                          <m:t>𝑥</m:t>
                        </m:r>
                        <m:r>
                          <a:rPr lang="en-US" altLang="zh-CN" i="1" kern="100">
                            <a:latin typeface="Cambria Math" panose="02040503050406030204" pitchFamily="18" charset="0"/>
                            <a:ea typeface="宋体" panose="02010600030101010101" pitchFamily="2" charset="-122"/>
                            <a:cs typeface="Times New Roman" panose="02020603050405020304" pitchFamily="18" charset="0"/>
                          </a:rPr>
                          <m:t>=0</m:t>
                        </m:r>
                      </m:sub>
                      <m:sup>
                        <m:r>
                          <a:rPr lang="en-US" altLang="zh-CN" i="1" kern="100">
                            <a:latin typeface="Cambria Math" panose="02040503050406030204" pitchFamily="18" charset="0"/>
                            <a:ea typeface="宋体" panose="02010600030101010101" pitchFamily="2" charset="-122"/>
                            <a:cs typeface="Times New Roman" panose="02020603050405020304" pitchFamily="18" charset="0"/>
                          </a:rPr>
                          <m:t>𝑦</m:t>
                        </m:r>
                      </m:sup>
                      <m:e>
                        <m:f>
                          <m:f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fPr>
                          <m:num>
                            <m:sSup>
                              <m:sSup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i="1" kern="100">
                                    <a:latin typeface="Cambria Math" panose="02040503050406030204" pitchFamily="18" charset="0"/>
                                    <a:ea typeface="宋体" panose="02010600030101010101" pitchFamily="2" charset="-122"/>
                                    <a:cs typeface="Times New Roman" panose="02020603050405020304" pitchFamily="18" charset="0"/>
                                  </a:rPr>
                                  <m:t>𝜆</m:t>
                                </m:r>
                              </m:e>
                              <m:sup>
                                <m:r>
                                  <a:rPr lang="en-US" altLang="zh-CN" i="1" kern="100">
                                    <a:latin typeface="Cambria Math" panose="02040503050406030204" pitchFamily="18" charset="0"/>
                                    <a:ea typeface="宋体" panose="02010600030101010101" pitchFamily="2" charset="-122"/>
                                    <a:cs typeface="Times New Roman" panose="02020603050405020304" pitchFamily="18" charset="0"/>
                                  </a:rPr>
                                  <m:t>𝑥</m:t>
                                </m:r>
                              </m:sup>
                            </m:sSup>
                            <m:sSup>
                              <m:sSup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i="1" kern="100">
                                    <a:latin typeface="Cambria Math" panose="02040503050406030204" pitchFamily="18" charset="0"/>
                                    <a:ea typeface="宋体" panose="02010600030101010101" pitchFamily="2" charset="-122"/>
                                    <a:cs typeface="Times New Roman" panose="02020603050405020304" pitchFamily="18" charset="0"/>
                                  </a:rPr>
                                  <m:t>𝑒</m:t>
                                </m:r>
                              </m:e>
                              <m:sup>
                                <m:r>
                                  <a:rPr lang="en-US" altLang="zh-CN" i="1" kern="100">
                                    <a:latin typeface="Cambria Math" panose="02040503050406030204" pitchFamily="18" charset="0"/>
                                    <a:ea typeface="宋体" panose="02010600030101010101" pitchFamily="2" charset="-122"/>
                                    <a:cs typeface="Times New Roman" panose="02020603050405020304" pitchFamily="18" charset="0"/>
                                  </a:rPr>
                                  <m:t>−</m:t>
                                </m:r>
                                <m:r>
                                  <a:rPr lang="en-US" altLang="zh-CN" i="1" kern="100">
                                    <a:latin typeface="Cambria Math" panose="02040503050406030204" pitchFamily="18" charset="0"/>
                                    <a:ea typeface="宋体" panose="02010600030101010101" pitchFamily="2" charset="-122"/>
                                    <a:cs typeface="Times New Roman" panose="02020603050405020304" pitchFamily="18" charset="0"/>
                                  </a:rPr>
                                  <m:t>𝜆</m:t>
                                </m:r>
                              </m:sup>
                            </m:sSup>
                          </m:num>
                          <m:den>
                            <m:r>
                              <a:rPr lang="en-US" altLang="zh-CN" i="1" kern="100">
                                <a:latin typeface="Cambria Math" panose="02040503050406030204" pitchFamily="18" charset="0"/>
                                <a:ea typeface="宋体" panose="02010600030101010101" pitchFamily="2" charset="-122"/>
                                <a:cs typeface="Times New Roman" panose="02020603050405020304" pitchFamily="18" charset="0"/>
                              </a:rPr>
                              <m:t>𝑥</m:t>
                            </m:r>
                            <m:r>
                              <a:rPr lang="en-US" altLang="zh-CN" i="1" kern="100">
                                <a:latin typeface="Cambria Math" panose="02040503050406030204" pitchFamily="18" charset="0"/>
                                <a:ea typeface="宋体" panose="02010600030101010101" pitchFamily="2" charset="-122"/>
                                <a:cs typeface="Times New Roman" panose="02020603050405020304" pitchFamily="18" charset="0"/>
                              </a:rPr>
                              <m:t>!</m:t>
                            </m:r>
                          </m:den>
                        </m:f>
                      </m:e>
                    </m:nary>
                    <m:r>
                      <a:rPr lang="en-US" altLang="zh-CN" i="1" kern="100">
                        <a:latin typeface="Cambria Math" panose="02040503050406030204" pitchFamily="18" charset="0"/>
                        <a:ea typeface="宋体" panose="02010600030101010101" pitchFamily="2" charset="-122"/>
                        <a:cs typeface="Times New Roman" panose="02020603050405020304" pitchFamily="18" charset="0"/>
                      </a:rPr>
                      <m:t>(1−</m:t>
                    </m:r>
                    <m:sSup>
                      <m:sSup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pPr>
                      <m:e>
                        <m:d>
                          <m:d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dPr>
                          <m:e>
                            <m:f>
                              <m:f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i="1" kern="100">
                                    <a:latin typeface="Cambria Math" panose="02040503050406030204" pitchFamily="18" charset="0"/>
                                    <a:ea typeface="宋体" panose="02010600030101010101" pitchFamily="2" charset="-122"/>
                                    <a:cs typeface="Times New Roman" panose="02020603050405020304" pitchFamily="18" charset="0"/>
                                  </a:rPr>
                                  <m:t>𝑞</m:t>
                                </m:r>
                              </m:num>
                              <m:den>
                                <m:r>
                                  <a:rPr lang="en-US" altLang="zh-CN" i="1" kern="100">
                                    <a:latin typeface="Cambria Math" panose="02040503050406030204" pitchFamily="18" charset="0"/>
                                    <a:ea typeface="宋体" panose="02010600030101010101" pitchFamily="2" charset="-122"/>
                                    <a:cs typeface="Times New Roman" panose="02020603050405020304" pitchFamily="18" charset="0"/>
                                  </a:rPr>
                                  <m:t>𝑝</m:t>
                                </m:r>
                              </m:den>
                            </m:f>
                          </m:e>
                        </m:d>
                      </m:e>
                      <m:sup>
                        <m:r>
                          <a:rPr lang="en-US" altLang="zh-CN" i="1" kern="100">
                            <a:latin typeface="Cambria Math" panose="02040503050406030204" pitchFamily="18" charset="0"/>
                            <a:ea typeface="宋体" panose="02010600030101010101" pitchFamily="2" charset="-122"/>
                            <a:cs typeface="Times New Roman" panose="02020603050405020304" pitchFamily="18" charset="0"/>
                          </a:rPr>
                          <m:t>𝑦</m:t>
                        </m:r>
                        <m:r>
                          <a:rPr lang="en-US" altLang="zh-CN" i="1" kern="100">
                            <a:latin typeface="Cambria Math" panose="02040503050406030204" pitchFamily="18" charset="0"/>
                            <a:ea typeface="宋体" panose="02010600030101010101" pitchFamily="2" charset="-122"/>
                            <a:cs typeface="Times New Roman" panose="02020603050405020304" pitchFamily="18" charset="0"/>
                          </a:rPr>
                          <m:t>−</m:t>
                        </m:r>
                        <m:r>
                          <a:rPr lang="en-US" altLang="zh-CN" i="1" kern="100">
                            <a:latin typeface="Cambria Math" panose="02040503050406030204" pitchFamily="18" charset="0"/>
                            <a:ea typeface="宋体" panose="02010600030101010101" pitchFamily="2" charset="-122"/>
                            <a:cs typeface="Times New Roman" panose="02020603050405020304" pitchFamily="18" charset="0"/>
                          </a:rPr>
                          <m:t>𝑥</m:t>
                        </m:r>
                      </m:sup>
                    </m:sSup>
                    <m:r>
                      <a:rPr lang="en-US" altLang="zh-CN" i="1" kern="100">
                        <a:latin typeface="Cambria Math" panose="02040503050406030204" pitchFamily="18" charset="0"/>
                        <a:ea typeface="宋体" panose="02010600030101010101" pitchFamily="2" charset="-122"/>
                        <a:cs typeface="Times New Roman" panose="02020603050405020304" pitchFamily="18" charset="0"/>
                      </a:rPr>
                      <m:t>)</m:t>
                    </m:r>
                  </m:oMath>
                </a14:m>
                <a:endParaRPr lang="zh-CN" altLang="zh-CN" kern="100" dirty="0">
                  <a:latin typeface="Calibri" panose="020F0502020204030204" pitchFamily="34" charset="0"/>
                  <a:ea typeface="宋体" panose="02010600030101010101" pitchFamily="2" charset="-122"/>
                  <a:cs typeface="Times New Roman" panose="02020603050405020304" pitchFamily="18" charset="0"/>
                </a:endParaRPr>
              </a:p>
              <a:p>
                <a:pPr lvl="1">
                  <a:lnSpc>
                    <a:spcPct val="130000"/>
                  </a:lnSpc>
                </a:pPr>
                <a:r>
                  <a:rPr lang="zh-CN" altLang="en-US" dirty="0">
                    <a:solidFill>
                      <a:prstClr val="black"/>
                    </a:solidFill>
                  </a:rPr>
                  <a:t>随着</a:t>
                </a:r>
                <a:r>
                  <a:rPr lang="en-US" altLang="zh-CN" dirty="0">
                    <a:solidFill>
                      <a:prstClr val="black"/>
                    </a:solidFill>
                  </a:rPr>
                  <a:t>y</a:t>
                </a:r>
                <a:r>
                  <a:rPr lang="zh-CN" altLang="en-US" dirty="0">
                    <a:solidFill>
                      <a:prstClr val="black"/>
                    </a:solidFill>
                  </a:rPr>
                  <a:t>的增大，</a:t>
                </a:r>
                <a:r>
                  <a:rPr lang="en-US" altLang="zh-CN" dirty="0">
                    <a:solidFill>
                      <a:prstClr val="black"/>
                    </a:solidFill>
                  </a:rPr>
                  <a:t>p(</a:t>
                </a:r>
                <a:r>
                  <a:rPr lang="zh-CN" altLang="en-US" dirty="0">
                    <a:solidFill>
                      <a:prstClr val="black"/>
                    </a:solidFill>
                  </a:rPr>
                  <a:t>攻击成功；</a:t>
                </a:r>
                <a:r>
                  <a:rPr lang="en-US" altLang="zh-CN" dirty="0">
                    <a:solidFill>
                      <a:prstClr val="black"/>
                    </a:solidFill>
                  </a:rPr>
                  <a:t>y</a:t>
                </a:r>
                <a:r>
                  <a:rPr lang="zh-CN" altLang="en-US" dirty="0">
                    <a:solidFill>
                      <a:prstClr val="black"/>
                    </a:solidFill>
                  </a:rPr>
                  <a:t>确认</a:t>
                </a:r>
                <a:r>
                  <a:rPr lang="en-US" altLang="zh-CN" dirty="0">
                    <a:solidFill>
                      <a:prstClr val="black"/>
                    </a:solidFill>
                  </a:rPr>
                  <a:t>)</a:t>
                </a:r>
                <a:r>
                  <a:rPr lang="zh-CN" altLang="en-US" dirty="0">
                    <a:solidFill>
                      <a:prstClr val="black"/>
                    </a:solidFill>
                  </a:rPr>
                  <a:t>呈现指数级别下降</a:t>
                </a:r>
                <a:endParaRPr lang="en-US" altLang="zh-CN" dirty="0">
                  <a:solidFill>
                    <a:prstClr val="black"/>
                  </a:solidFill>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838200" y="1510758"/>
                <a:ext cx="10248899" cy="4845592"/>
              </a:xfrm>
              <a:blipFill>
                <a:blip r:embed="rId3"/>
                <a:stretch>
                  <a:fillRect t="-629" r="-59"/>
                </a:stretch>
              </a:blipFill>
            </p:spPr>
            <p:txBody>
              <a:bodyPr/>
              <a:lstStyle/>
              <a:p>
                <a:r>
                  <a:rPr lang="zh-CN" altLang="en-US">
                    <a:noFill/>
                  </a:rPr>
                  <a:t> </a:t>
                </a:r>
              </a:p>
            </p:txBody>
          </p:sp>
        </mc:Fallback>
      </mc:AlternateContent>
      <p:sp>
        <p:nvSpPr>
          <p:cNvPr id="7" name="灯片编号占位符 6">
            <a:extLst>
              <a:ext uri="{FF2B5EF4-FFF2-40B4-BE49-F238E27FC236}">
                <a16:creationId xmlns:a16="http://schemas.microsoft.com/office/drawing/2014/main" id="{97E080B7-C088-8B4E-B8CF-3281335EB402}"/>
              </a:ext>
            </a:extLst>
          </p:cNvPr>
          <p:cNvSpPr>
            <a:spLocks noGrp="1"/>
          </p:cNvSpPr>
          <p:nvPr>
            <p:ph type="sldNum" sz="quarter" idx="12"/>
          </p:nvPr>
        </p:nvSpPr>
        <p:spPr/>
        <p:txBody>
          <a:bodyPr/>
          <a:lstStyle/>
          <a:p>
            <a:fld id="{8D4D1E41-7A09-AB4A-A4E1-09765ADA2698}" type="slidenum">
              <a:rPr kumimoji="1" lang="zh-CN" altLang="en-US" smtClean="0"/>
              <a:t>32</a:t>
            </a:fld>
            <a:endParaRPr kumimoji="1" lang="zh-CN" altLang="en-US" dirty="0"/>
          </a:p>
        </p:txBody>
      </p:sp>
    </p:spTree>
    <p:extLst>
      <p:ext uri="{BB962C8B-B14F-4D97-AF65-F5344CB8AC3E}">
        <p14:creationId xmlns:p14="http://schemas.microsoft.com/office/powerpoint/2010/main" val="243435522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比特币的工作量证明共识机制</a:t>
            </a:r>
            <a:endParaRPr lang="en-US" altLang="zh-CN" dirty="0"/>
          </a:p>
        </p:txBody>
      </p:sp>
      <p:sp>
        <p:nvSpPr>
          <p:cNvPr id="3" name="内容占位符 2"/>
          <p:cNvSpPr>
            <a:spLocks noGrp="1"/>
          </p:cNvSpPr>
          <p:nvPr>
            <p:ph idx="1"/>
          </p:nvPr>
        </p:nvSpPr>
        <p:spPr>
          <a:xfrm>
            <a:off x="838200" y="1510758"/>
            <a:ext cx="10248899" cy="4845592"/>
          </a:xfrm>
        </p:spPr>
        <p:txBody>
          <a:bodyPr>
            <a:normAutofit/>
          </a:bodyPr>
          <a:lstStyle/>
          <a:p>
            <a:pPr lvl="0">
              <a:lnSpc>
                <a:spcPct val="130000"/>
              </a:lnSpc>
            </a:pPr>
            <a:r>
              <a:rPr lang="zh-CN" altLang="en-US" dirty="0">
                <a:solidFill>
                  <a:prstClr val="black"/>
                </a:solidFill>
              </a:rPr>
              <a:t>比特币工作量证明</a:t>
            </a:r>
            <a:r>
              <a:rPr lang="en-US" altLang="zh-CN" dirty="0">
                <a:solidFill>
                  <a:prstClr val="black"/>
                </a:solidFill>
              </a:rPr>
              <a:t>python</a:t>
            </a:r>
            <a:r>
              <a:rPr lang="zh-CN" altLang="en-US" dirty="0">
                <a:solidFill>
                  <a:prstClr val="black"/>
                </a:solidFill>
              </a:rPr>
              <a:t>实现</a:t>
            </a:r>
            <a:endParaRPr lang="en-US" altLang="zh-CN" dirty="0">
              <a:solidFill>
                <a:prstClr val="black"/>
              </a:solidFill>
            </a:endParaRPr>
          </a:p>
        </p:txBody>
      </p:sp>
      <p:sp>
        <p:nvSpPr>
          <p:cNvPr id="7" name="灯片编号占位符 6">
            <a:extLst>
              <a:ext uri="{FF2B5EF4-FFF2-40B4-BE49-F238E27FC236}">
                <a16:creationId xmlns:a16="http://schemas.microsoft.com/office/drawing/2014/main" id="{97E080B7-C088-8B4E-B8CF-3281335EB402}"/>
              </a:ext>
            </a:extLst>
          </p:cNvPr>
          <p:cNvSpPr>
            <a:spLocks noGrp="1"/>
          </p:cNvSpPr>
          <p:nvPr>
            <p:ph type="sldNum" sz="quarter" idx="12"/>
          </p:nvPr>
        </p:nvSpPr>
        <p:spPr/>
        <p:txBody>
          <a:bodyPr/>
          <a:lstStyle/>
          <a:p>
            <a:fld id="{8D4D1E41-7A09-AB4A-A4E1-09765ADA2698}" type="slidenum">
              <a:rPr kumimoji="1" lang="zh-CN" altLang="en-US" smtClean="0"/>
              <a:t>33</a:t>
            </a:fld>
            <a:endParaRPr kumimoji="1" lang="zh-CN" altLang="en-US" dirty="0"/>
          </a:p>
        </p:txBody>
      </p:sp>
      <p:graphicFrame>
        <p:nvGraphicFramePr>
          <p:cNvPr id="6" name="表格 5"/>
          <p:cNvGraphicFramePr>
            <a:graphicFrameLocks noGrp="1"/>
          </p:cNvGraphicFramePr>
          <p:nvPr>
            <p:extLst>
              <p:ext uri="{D42A27DB-BD31-4B8C-83A1-F6EECF244321}">
                <p14:modId xmlns:p14="http://schemas.microsoft.com/office/powerpoint/2010/main" val="251672024"/>
              </p:ext>
            </p:extLst>
          </p:nvPr>
        </p:nvGraphicFramePr>
        <p:xfrm>
          <a:off x="603625" y="3294035"/>
          <a:ext cx="5248969" cy="1930399"/>
        </p:xfrm>
        <a:graphic>
          <a:graphicData uri="http://schemas.openxmlformats.org/drawingml/2006/table">
            <a:tbl>
              <a:tblPr firstRow="1" firstCol="1" bandRow="1"/>
              <a:tblGrid>
                <a:gridCol w="1398896">
                  <a:extLst>
                    <a:ext uri="{9D8B030D-6E8A-4147-A177-3AD203B41FA5}">
                      <a16:colId xmlns:a16="http://schemas.microsoft.com/office/drawing/2014/main" val="417995556"/>
                    </a:ext>
                  </a:extLst>
                </a:gridCol>
                <a:gridCol w="1230564">
                  <a:extLst>
                    <a:ext uri="{9D8B030D-6E8A-4147-A177-3AD203B41FA5}">
                      <a16:colId xmlns:a16="http://schemas.microsoft.com/office/drawing/2014/main" val="378655556"/>
                    </a:ext>
                  </a:extLst>
                </a:gridCol>
                <a:gridCol w="2619509">
                  <a:extLst>
                    <a:ext uri="{9D8B030D-6E8A-4147-A177-3AD203B41FA5}">
                      <a16:colId xmlns:a16="http://schemas.microsoft.com/office/drawing/2014/main" val="4092227143"/>
                    </a:ext>
                  </a:extLst>
                </a:gridCol>
              </a:tblGrid>
              <a:tr h="274488">
                <a:tc>
                  <a:txBody>
                    <a:bodyPr/>
                    <a:lstStyle/>
                    <a:p>
                      <a:pPr algn="just">
                        <a:spcAft>
                          <a:spcPts val="0"/>
                        </a:spcAft>
                      </a:pPr>
                      <a:r>
                        <a:rPr lang="zh-CN" sz="1050" kern="0">
                          <a:effectLst/>
                          <a:latin typeface="微软雅黑" panose="020B0503020204020204" pitchFamily="34" charset="-122"/>
                          <a:ea typeface="微软雅黑" panose="020B0503020204020204" pitchFamily="34" charset="-122"/>
                          <a:cs typeface="Times New Roman" panose="02020603050405020304" pitchFamily="18" charset="0"/>
                        </a:rPr>
                        <a:t>字段</a:t>
                      </a:r>
                      <a:endParaRPr lang="zh-CN" sz="105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050" kern="0" dirty="0">
                          <a:effectLst/>
                          <a:latin typeface="微软雅黑" panose="020B0503020204020204" pitchFamily="34" charset="-122"/>
                          <a:ea typeface="微软雅黑" panose="020B0503020204020204" pitchFamily="34" charset="-122"/>
                          <a:cs typeface="Times New Roman" panose="02020603050405020304" pitchFamily="18" charset="0"/>
                        </a:rPr>
                        <a:t>存储大小</a:t>
                      </a:r>
                      <a:endParaRPr lang="zh-CN" sz="105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050" kern="0">
                          <a:effectLst/>
                          <a:latin typeface="微软雅黑" panose="020B0503020204020204" pitchFamily="34" charset="-122"/>
                          <a:ea typeface="微软雅黑" panose="020B0503020204020204" pitchFamily="34" charset="-122"/>
                          <a:cs typeface="Times New Roman" panose="02020603050405020304" pitchFamily="18" charset="0"/>
                        </a:rPr>
                        <a:t>描述</a:t>
                      </a:r>
                      <a:endParaRPr lang="zh-CN" sz="105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2223403"/>
                  </a:ext>
                </a:extLst>
              </a:tr>
              <a:tr h="274488">
                <a:tc>
                  <a:txBody>
                    <a:bodyPr/>
                    <a:lstStyle/>
                    <a:p>
                      <a:pPr algn="just">
                        <a:spcAft>
                          <a:spcPts val="0"/>
                        </a:spcAft>
                      </a:pPr>
                      <a:r>
                        <a:rPr lang="en-US" sz="1050" kern="0">
                          <a:effectLst/>
                          <a:latin typeface="微软雅黑" panose="020B0503020204020204" pitchFamily="34" charset="-122"/>
                          <a:ea typeface="微软雅黑" panose="020B0503020204020204" pitchFamily="34" charset="-122"/>
                          <a:cs typeface="Times New Roman" panose="02020603050405020304" pitchFamily="18" charset="0"/>
                        </a:rPr>
                        <a:t>Version</a:t>
                      </a:r>
                      <a:endParaRPr lang="zh-CN" sz="105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050" kern="0">
                          <a:effectLst/>
                          <a:latin typeface="微软雅黑" panose="020B0503020204020204" pitchFamily="34" charset="-122"/>
                          <a:ea typeface="微软雅黑" panose="020B0503020204020204" pitchFamily="34" charset="-122"/>
                          <a:cs typeface="Times New Roman" panose="02020603050405020304" pitchFamily="18" charset="0"/>
                        </a:rPr>
                        <a:t>32 bits</a:t>
                      </a:r>
                      <a:endParaRPr lang="zh-CN" sz="105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050" kern="0">
                          <a:effectLst/>
                          <a:latin typeface="微软雅黑" panose="020B0503020204020204" pitchFamily="34" charset="-122"/>
                          <a:ea typeface="微软雅黑" panose="020B0503020204020204" pitchFamily="34" charset="-122"/>
                          <a:cs typeface="Times New Roman" panose="02020603050405020304" pitchFamily="18" charset="0"/>
                        </a:rPr>
                        <a:t>区块的版本信息</a:t>
                      </a:r>
                      <a:endParaRPr lang="zh-CN" sz="105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99955182"/>
                  </a:ext>
                </a:extLst>
              </a:tr>
              <a:tr h="274488">
                <a:tc>
                  <a:txBody>
                    <a:bodyPr/>
                    <a:lstStyle/>
                    <a:p>
                      <a:pPr algn="just">
                        <a:spcAft>
                          <a:spcPts val="0"/>
                        </a:spcAft>
                      </a:pPr>
                      <a:r>
                        <a:rPr lang="en-US" sz="1050" kern="0">
                          <a:effectLst/>
                          <a:latin typeface="微软雅黑" panose="020B0503020204020204" pitchFamily="34" charset="-122"/>
                          <a:ea typeface="微软雅黑" panose="020B0503020204020204" pitchFamily="34" charset="-122"/>
                          <a:cs typeface="Times New Roman" panose="02020603050405020304" pitchFamily="18" charset="0"/>
                        </a:rPr>
                        <a:t>hashPrevBlock</a:t>
                      </a:r>
                      <a:endParaRPr lang="zh-CN" sz="105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050" kern="0">
                          <a:effectLst/>
                          <a:latin typeface="微软雅黑" panose="020B0503020204020204" pitchFamily="34" charset="-122"/>
                          <a:ea typeface="微软雅黑" panose="020B0503020204020204" pitchFamily="34" charset="-122"/>
                          <a:cs typeface="Times New Roman" panose="02020603050405020304" pitchFamily="18" charset="0"/>
                        </a:rPr>
                        <a:t>256 bits</a:t>
                      </a:r>
                      <a:endParaRPr lang="zh-CN" sz="105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050" kern="0">
                          <a:effectLst/>
                          <a:latin typeface="微软雅黑" panose="020B0503020204020204" pitchFamily="34" charset="-122"/>
                          <a:ea typeface="微软雅黑" panose="020B0503020204020204" pitchFamily="34" charset="-122"/>
                          <a:cs typeface="Times New Roman" panose="02020603050405020304" pitchFamily="18" charset="0"/>
                        </a:rPr>
                        <a:t>上一个区块的哈希</a:t>
                      </a:r>
                      <a:endParaRPr lang="zh-CN" sz="105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26946256"/>
                  </a:ext>
                </a:extLst>
              </a:tr>
              <a:tr h="283471">
                <a:tc>
                  <a:txBody>
                    <a:bodyPr/>
                    <a:lstStyle/>
                    <a:p>
                      <a:pPr algn="just">
                        <a:spcAft>
                          <a:spcPts val="0"/>
                        </a:spcAft>
                      </a:pPr>
                      <a:r>
                        <a:rPr lang="en-US" sz="1050" kern="0" dirty="0" err="1">
                          <a:effectLst/>
                          <a:latin typeface="微软雅黑" panose="020B0503020204020204" pitchFamily="34" charset="-122"/>
                          <a:ea typeface="微软雅黑" panose="020B0503020204020204" pitchFamily="34" charset="-122"/>
                          <a:cs typeface="Times New Roman" panose="02020603050405020304" pitchFamily="18" charset="0"/>
                        </a:rPr>
                        <a:t>hashMerkleRoot</a:t>
                      </a:r>
                      <a:endParaRPr lang="zh-CN" sz="105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050" kern="0" dirty="0">
                          <a:effectLst/>
                          <a:latin typeface="微软雅黑" panose="020B0503020204020204" pitchFamily="34" charset="-122"/>
                          <a:ea typeface="微软雅黑" panose="020B0503020204020204" pitchFamily="34" charset="-122"/>
                          <a:cs typeface="Times New Roman" panose="02020603050405020304" pitchFamily="18" charset="0"/>
                        </a:rPr>
                        <a:t>256 bits</a:t>
                      </a:r>
                      <a:endParaRPr lang="zh-CN" sz="105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050" kern="0" dirty="0">
                          <a:effectLst/>
                          <a:latin typeface="微软雅黑" panose="020B0503020204020204" pitchFamily="34" charset="-122"/>
                          <a:ea typeface="微软雅黑" panose="020B0503020204020204" pitchFamily="34" charset="-122"/>
                          <a:cs typeface="Times New Roman" panose="02020603050405020304" pitchFamily="18" charset="0"/>
                        </a:rPr>
                        <a:t>比特币交易构造的默克尔树的根</a:t>
                      </a:r>
                      <a:endParaRPr lang="zh-CN" sz="105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51712541"/>
                  </a:ext>
                </a:extLst>
              </a:tr>
              <a:tr h="274488">
                <a:tc>
                  <a:txBody>
                    <a:bodyPr/>
                    <a:lstStyle/>
                    <a:p>
                      <a:pPr algn="just">
                        <a:spcAft>
                          <a:spcPts val="0"/>
                        </a:spcAft>
                      </a:pPr>
                      <a:r>
                        <a:rPr lang="en-US" sz="1050" kern="0">
                          <a:effectLst/>
                          <a:latin typeface="微软雅黑" panose="020B0503020204020204" pitchFamily="34" charset="-122"/>
                          <a:ea typeface="微软雅黑" panose="020B0503020204020204" pitchFamily="34" charset="-122"/>
                          <a:cs typeface="Times New Roman" panose="02020603050405020304" pitchFamily="18" charset="0"/>
                        </a:rPr>
                        <a:t>Timestamp</a:t>
                      </a:r>
                      <a:endParaRPr lang="zh-CN" sz="105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050" kern="0">
                          <a:effectLst/>
                          <a:latin typeface="微软雅黑" panose="020B0503020204020204" pitchFamily="34" charset="-122"/>
                          <a:ea typeface="微软雅黑" panose="020B0503020204020204" pitchFamily="34" charset="-122"/>
                          <a:cs typeface="Times New Roman" panose="02020603050405020304" pitchFamily="18" charset="0"/>
                        </a:rPr>
                        <a:t>32 bits</a:t>
                      </a:r>
                      <a:endParaRPr lang="zh-CN" sz="105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050" kern="0" dirty="0">
                          <a:effectLst/>
                          <a:latin typeface="微软雅黑" panose="020B0503020204020204" pitchFamily="34" charset="-122"/>
                          <a:ea typeface="微软雅黑" panose="020B0503020204020204" pitchFamily="34" charset="-122"/>
                          <a:cs typeface="Times New Roman" panose="02020603050405020304" pitchFamily="18" charset="0"/>
                        </a:rPr>
                        <a:t>区块的时间戳（秒级别）</a:t>
                      </a:r>
                      <a:endParaRPr lang="zh-CN" sz="105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85674905"/>
                  </a:ext>
                </a:extLst>
              </a:tr>
              <a:tr h="274488">
                <a:tc>
                  <a:txBody>
                    <a:bodyPr/>
                    <a:lstStyle/>
                    <a:p>
                      <a:pPr algn="just">
                        <a:spcAft>
                          <a:spcPts val="0"/>
                        </a:spcAft>
                      </a:pPr>
                      <a:r>
                        <a:rPr lang="en-US" sz="1050" kern="0">
                          <a:effectLst/>
                          <a:latin typeface="微软雅黑" panose="020B0503020204020204" pitchFamily="34" charset="-122"/>
                          <a:ea typeface="微软雅黑" panose="020B0503020204020204" pitchFamily="34" charset="-122"/>
                          <a:cs typeface="Times New Roman" panose="02020603050405020304" pitchFamily="18" charset="0"/>
                        </a:rPr>
                        <a:t>Target</a:t>
                      </a:r>
                      <a:endParaRPr lang="zh-CN" sz="105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050" kern="0">
                          <a:effectLst/>
                          <a:latin typeface="微软雅黑" panose="020B0503020204020204" pitchFamily="34" charset="-122"/>
                          <a:ea typeface="微软雅黑" panose="020B0503020204020204" pitchFamily="34" charset="-122"/>
                          <a:cs typeface="Times New Roman" panose="02020603050405020304" pitchFamily="18" charset="0"/>
                        </a:rPr>
                        <a:t>32 bits</a:t>
                      </a:r>
                      <a:endParaRPr lang="zh-CN" sz="105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050" kern="0">
                          <a:effectLst/>
                          <a:latin typeface="微软雅黑" panose="020B0503020204020204" pitchFamily="34" charset="-122"/>
                          <a:ea typeface="微软雅黑" panose="020B0503020204020204" pitchFamily="34" charset="-122"/>
                          <a:cs typeface="Times New Roman" panose="02020603050405020304" pitchFamily="18" charset="0"/>
                        </a:rPr>
                        <a:t>当前的区块目标值</a:t>
                      </a:r>
                      <a:endParaRPr lang="zh-CN" sz="105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82562693"/>
                  </a:ext>
                </a:extLst>
              </a:tr>
              <a:tr h="274488">
                <a:tc>
                  <a:txBody>
                    <a:bodyPr/>
                    <a:lstStyle/>
                    <a:p>
                      <a:pPr algn="just">
                        <a:spcAft>
                          <a:spcPts val="0"/>
                        </a:spcAft>
                      </a:pPr>
                      <a:r>
                        <a:rPr lang="en-US" sz="1050" kern="0">
                          <a:effectLst/>
                          <a:latin typeface="微软雅黑" panose="020B0503020204020204" pitchFamily="34" charset="-122"/>
                          <a:ea typeface="微软雅黑" panose="020B0503020204020204" pitchFamily="34" charset="-122"/>
                          <a:cs typeface="Times New Roman" panose="02020603050405020304" pitchFamily="18" charset="0"/>
                        </a:rPr>
                        <a:t>Nonce</a:t>
                      </a:r>
                      <a:endParaRPr lang="zh-CN" sz="105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050" kern="0" dirty="0">
                          <a:effectLst/>
                          <a:latin typeface="微软雅黑" panose="020B0503020204020204" pitchFamily="34" charset="-122"/>
                          <a:ea typeface="微软雅黑" panose="020B0503020204020204" pitchFamily="34" charset="-122"/>
                          <a:cs typeface="Times New Roman" panose="02020603050405020304" pitchFamily="18" charset="0"/>
                        </a:rPr>
                        <a:t>32 bits</a:t>
                      </a:r>
                      <a:endParaRPr lang="zh-CN" sz="105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050" kern="0" dirty="0">
                          <a:effectLst/>
                          <a:latin typeface="微软雅黑" panose="020B0503020204020204" pitchFamily="34" charset="-122"/>
                          <a:ea typeface="微软雅黑" panose="020B0503020204020204" pitchFamily="34" charset="-122"/>
                          <a:cs typeface="Times New Roman" panose="02020603050405020304" pitchFamily="18" charset="0"/>
                        </a:rPr>
                        <a:t>用于工作量证明生成合法区块</a:t>
                      </a:r>
                      <a:endParaRPr lang="zh-CN" sz="105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54652369"/>
                  </a:ext>
                </a:extLst>
              </a:tr>
            </a:tbl>
          </a:graphicData>
        </a:graphic>
      </p:graphicFrame>
      <p:pic>
        <p:nvPicPr>
          <p:cNvPr id="8" name="图片 7"/>
          <p:cNvPicPr/>
          <p:nvPr/>
        </p:nvPicPr>
        <p:blipFill>
          <a:blip r:embed="rId3"/>
          <a:stretch>
            <a:fillRect/>
          </a:stretch>
        </p:blipFill>
        <p:spPr>
          <a:xfrm>
            <a:off x="6140766" y="2791941"/>
            <a:ext cx="5826357" cy="2551343"/>
          </a:xfrm>
          <a:prstGeom prst="rect">
            <a:avLst/>
          </a:prstGeom>
        </p:spPr>
      </p:pic>
      <p:sp>
        <p:nvSpPr>
          <p:cNvPr id="9" name="矩形 8"/>
          <p:cNvSpPr/>
          <p:nvPr/>
        </p:nvSpPr>
        <p:spPr>
          <a:xfrm>
            <a:off x="2135503" y="2770761"/>
            <a:ext cx="2185214" cy="276999"/>
          </a:xfrm>
          <a:prstGeom prst="rect">
            <a:avLst/>
          </a:prstGeom>
        </p:spPr>
        <p:txBody>
          <a:bodyPr wrap="none">
            <a:spAutoFit/>
          </a:bodyPr>
          <a:lstStyle/>
          <a:p>
            <a:pPr algn="ctr">
              <a:spcAft>
                <a:spcPts val="0"/>
              </a:spcAft>
            </a:pPr>
            <a:r>
              <a:rPr lang="zh-CN" altLang="zh-CN" sz="1200" kern="100" dirty="0">
                <a:latin typeface="微软雅黑" panose="020B0503020204020204" pitchFamily="34" charset="-122"/>
                <a:ea typeface="微软雅黑" panose="020B0503020204020204" pitchFamily="34" charset="-122"/>
                <a:cs typeface="黑体" panose="02010609060101010101" pitchFamily="49" charset="-122"/>
              </a:rPr>
              <a:t>比特币区块头的六个主要字段</a:t>
            </a:r>
            <a:endParaRPr lang="zh-CN" altLang="zh-CN" sz="1600" kern="100" dirty="0">
              <a:effectLst/>
              <a:latin typeface="微软雅黑" panose="020B0503020204020204" pitchFamily="34" charset="-122"/>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269357271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以太坊共识算法</a:t>
            </a:r>
            <a:r>
              <a:rPr lang="en-US" altLang="zh-CN" dirty="0" err="1"/>
              <a:t>Ethash</a:t>
            </a:r>
            <a:endParaRPr lang="en-US" altLang="zh-CN" dirty="0"/>
          </a:p>
        </p:txBody>
      </p:sp>
      <p:sp>
        <p:nvSpPr>
          <p:cNvPr id="3" name="内容占位符 2"/>
          <p:cNvSpPr>
            <a:spLocks noGrp="1"/>
          </p:cNvSpPr>
          <p:nvPr>
            <p:ph idx="1"/>
          </p:nvPr>
        </p:nvSpPr>
        <p:spPr>
          <a:xfrm>
            <a:off x="838200" y="1510758"/>
            <a:ext cx="10248899" cy="4845592"/>
          </a:xfrm>
        </p:spPr>
        <p:txBody>
          <a:bodyPr>
            <a:normAutofit fontScale="62500" lnSpcReduction="20000"/>
          </a:bodyPr>
          <a:lstStyle/>
          <a:p>
            <a:pPr lvl="0">
              <a:lnSpc>
                <a:spcPct val="130000"/>
              </a:lnSpc>
            </a:pPr>
            <a:r>
              <a:rPr lang="zh-CN" altLang="en-US" dirty="0">
                <a:solidFill>
                  <a:prstClr val="black"/>
                </a:solidFill>
              </a:rPr>
              <a:t>算法摘要</a:t>
            </a:r>
          </a:p>
          <a:p>
            <a:pPr lvl="1">
              <a:lnSpc>
                <a:spcPct val="130000"/>
              </a:lnSpc>
            </a:pPr>
            <a:r>
              <a:rPr lang="zh-CN" altLang="en-US" dirty="0">
                <a:solidFill>
                  <a:prstClr val="black"/>
                </a:solidFill>
              </a:rPr>
              <a:t>跟比特币的旷工不同，以太坊中的旷工在挖矿过程中不仅需要找到一个合适的</a:t>
            </a:r>
            <a:r>
              <a:rPr lang="en-US" altLang="zh-CN" dirty="0">
                <a:solidFill>
                  <a:prstClr val="black"/>
                </a:solidFill>
              </a:rPr>
              <a:t>Nonce</a:t>
            </a:r>
            <a:r>
              <a:rPr lang="zh-CN" altLang="en-US" dirty="0">
                <a:solidFill>
                  <a:prstClr val="black"/>
                </a:solidFill>
              </a:rPr>
              <a:t>填充到区块头中，还需填充一个</a:t>
            </a:r>
            <a:r>
              <a:rPr lang="en-US" altLang="zh-CN" dirty="0" err="1">
                <a:solidFill>
                  <a:prstClr val="black"/>
                </a:solidFill>
              </a:rPr>
              <a:t>MixDigest</a:t>
            </a:r>
            <a:r>
              <a:rPr lang="zh-CN" altLang="en-US" dirty="0">
                <a:solidFill>
                  <a:prstClr val="black"/>
                </a:solidFill>
              </a:rPr>
              <a:t>字段，这是旷工在挖矿过程中计算出来的，作为旷工挖矿过程中的内存消耗证明。在旷工验证区块的时候也会用到</a:t>
            </a:r>
            <a:r>
              <a:rPr lang="en-US" altLang="zh-CN" dirty="0" err="1">
                <a:solidFill>
                  <a:prstClr val="black"/>
                </a:solidFill>
              </a:rPr>
              <a:t>MixDigest</a:t>
            </a:r>
            <a:r>
              <a:rPr lang="zh-CN" altLang="en-US" dirty="0">
                <a:solidFill>
                  <a:prstClr val="black"/>
                </a:solidFill>
              </a:rPr>
              <a:t>字段</a:t>
            </a:r>
            <a:endParaRPr lang="en-US" altLang="zh-CN" dirty="0">
              <a:solidFill>
                <a:prstClr val="black"/>
              </a:solidFill>
            </a:endParaRPr>
          </a:p>
          <a:p>
            <a:pPr lvl="1">
              <a:lnSpc>
                <a:spcPct val="130000"/>
              </a:lnSpc>
            </a:pPr>
            <a:r>
              <a:rPr lang="zh-CN" altLang="en-US" dirty="0">
                <a:solidFill>
                  <a:prstClr val="black"/>
                </a:solidFill>
              </a:rPr>
              <a:t>在挖矿前，旷工在挖矿会根据区块高度生成一个种子</a:t>
            </a:r>
            <a:r>
              <a:rPr lang="en-US" altLang="zh-CN" dirty="0">
                <a:solidFill>
                  <a:prstClr val="black"/>
                </a:solidFill>
              </a:rPr>
              <a:t>seed</a:t>
            </a:r>
            <a:r>
              <a:rPr lang="zh-CN" altLang="en-US" dirty="0">
                <a:solidFill>
                  <a:prstClr val="black"/>
                </a:solidFill>
              </a:rPr>
              <a:t>，然后根据</a:t>
            </a:r>
            <a:r>
              <a:rPr lang="en-US" altLang="zh-CN" dirty="0">
                <a:solidFill>
                  <a:prstClr val="black"/>
                </a:solidFill>
              </a:rPr>
              <a:t>seed</a:t>
            </a:r>
            <a:r>
              <a:rPr lang="zh-CN" altLang="en-US" dirty="0">
                <a:solidFill>
                  <a:prstClr val="black"/>
                </a:solidFill>
              </a:rPr>
              <a:t>生成一个约</a:t>
            </a:r>
            <a:r>
              <a:rPr lang="en-US" altLang="zh-CN" dirty="0">
                <a:solidFill>
                  <a:prstClr val="black"/>
                </a:solidFill>
              </a:rPr>
              <a:t>16MB</a:t>
            </a:r>
            <a:r>
              <a:rPr lang="zh-CN" altLang="en-US" dirty="0">
                <a:solidFill>
                  <a:prstClr val="black"/>
                </a:solidFill>
              </a:rPr>
              <a:t>的缓存</a:t>
            </a:r>
            <a:r>
              <a:rPr lang="en-US" altLang="zh-CN" dirty="0">
                <a:solidFill>
                  <a:prstClr val="black"/>
                </a:solidFill>
              </a:rPr>
              <a:t>cache</a:t>
            </a:r>
            <a:r>
              <a:rPr lang="zh-CN" altLang="en-US" dirty="0">
                <a:solidFill>
                  <a:prstClr val="black"/>
                </a:solidFill>
              </a:rPr>
              <a:t>，这些</a:t>
            </a:r>
            <a:r>
              <a:rPr lang="en-US" altLang="zh-CN" dirty="0">
                <a:solidFill>
                  <a:prstClr val="black"/>
                </a:solidFill>
              </a:rPr>
              <a:t>cache</a:t>
            </a:r>
            <a:r>
              <a:rPr lang="zh-CN" altLang="en-US" dirty="0">
                <a:solidFill>
                  <a:prstClr val="black"/>
                </a:solidFill>
              </a:rPr>
              <a:t>由轻节点存储</a:t>
            </a:r>
            <a:endParaRPr lang="en-US" altLang="zh-CN" dirty="0">
              <a:solidFill>
                <a:prstClr val="black"/>
              </a:solidFill>
            </a:endParaRPr>
          </a:p>
          <a:p>
            <a:pPr lvl="1">
              <a:lnSpc>
                <a:spcPct val="130000"/>
              </a:lnSpc>
            </a:pPr>
            <a:r>
              <a:rPr lang="zh-CN" altLang="en-US" dirty="0">
                <a:solidFill>
                  <a:prstClr val="black"/>
                </a:solidFill>
              </a:rPr>
              <a:t>全节点会根据</a:t>
            </a:r>
            <a:r>
              <a:rPr lang="en-US" altLang="zh-CN" dirty="0">
                <a:solidFill>
                  <a:prstClr val="black"/>
                </a:solidFill>
              </a:rPr>
              <a:t>cache</a:t>
            </a:r>
            <a:r>
              <a:rPr lang="zh-CN" altLang="en-US" dirty="0">
                <a:solidFill>
                  <a:prstClr val="black"/>
                </a:solidFill>
              </a:rPr>
              <a:t>用特定的算法生成一个</a:t>
            </a:r>
            <a:r>
              <a:rPr lang="en-US" altLang="zh-CN" dirty="0">
                <a:solidFill>
                  <a:prstClr val="black"/>
                </a:solidFill>
              </a:rPr>
              <a:t>GB</a:t>
            </a:r>
            <a:r>
              <a:rPr lang="zh-CN" altLang="en-US" dirty="0">
                <a:solidFill>
                  <a:prstClr val="black"/>
                </a:solidFill>
              </a:rPr>
              <a:t>级别的</a:t>
            </a:r>
            <a:r>
              <a:rPr lang="en-US" altLang="zh-CN" dirty="0">
                <a:solidFill>
                  <a:prstClr val="black"/>
                </a:solidFill>
              </a:rPr>
              <a:t>dataset</a:t>
            </a:r>
            <a:r>
              <a:rPr lang="zh-CN" altLang="en-US" dirty="0">
                <a:solidFill>
                  <a:prstClr val="black"/>
                </a:solidFill>
              </a:rPr>
              <a:t>，</a:t>
            </a:r>
            <a:r>
              <a:rPr lang="en-US" altLang="zh-CN" dirty="0">
                <a:solidFill>
                  <a:prstClr val="black"/>
                </a:solidFill>
              </a:rPr>
              <a:t>dataset</a:t>
            </a:r>
            <a:r>
              <a:rPr lang="zh-CN" altLang="en-US" dirty="0">
                <a:solidFill>
                  <a:prstClr val="black"/>
                </a:solidFill>
              </a:rPr>
              <a:t>中每一项都是由</a:t>
            </a:r>
            <a:r>
              <a:rPr lang="en-US" altLang="zh-CN" dirty="0">
                <a:solidFill>
                  <a:prstClr val="black"/>
                </a:solidFill>
              </a:rPr>
              <a:t>cache</a:t>
            </a:r>
            <a:r>
              <a:rPr lang="zh-CN" altLang="en-US" dirty="0">
                <a:solidFill>
                  <a:prstClr val="black"/>
                </a:solidFill>
              </a:rPr>
              <a:t>中的一小部分数据计算出来的，其大小随着时间增长。这是为了抵消摩尔定律下硬件性能的提升。此外，</a:t>
            </a:r>
            <a:r>
              <a:rPr lang="en-US" altLang="zh-CN" dirty="0">
                <a:solidFill>
                  <a:prstClr val="black"/>
                </a:solidFill>
              </a:rPr>
              <a:t>dataset</a:t>
            </a:r>
            <a:r>
              <a:rPr lang="zh-CN" altLang="en-US" dirty="0">
                <a:solidFill>
                  <a:prstClr val="black"/>
                </a:solidFill>
              </a:rPr>
              <a:t>可以理解为一个以有向无环图（</a:t>
            </a:r>
            <a:r>
              <a:rPr lang="en-US" altLang="zh-CN" dirty="0">
                <a:solidFill>
                  <a:prstClr val="black"/>
                </a:solidFill>
              </a:rPr>
              <a:t>DAG</a:t>
            </a:r>
            <a:r>
              <a:rPr lang="zh-CN" altLang="en-US" dirty="0">
                <a:solidFill>
                  <a:prstClr val="black"/>
                </a:solidFill>
              </a:rPr>
              <a:t>）形式组织起来的随机数序列，后续在挖矿过程中被利用好</a:t>
            </a:r>
            <a:endParaRPr lang="en-US" altLang="zh-CN" dirty="0">
              <a:solidFill>
                <a:prstClr val="black"/>
              </a:solidFill>
            </a:endParaRPr>
          </a:p>
          <a:p>
            <a:pPr lvl="1">
              <a:lnSpc>
                <a:spcPct val="130000"/>
              </a:lnSpc>
            </a:pPr>
            <a:r>
              <a:rPr lang="en-US" altLang="zh-CN" dirty="0">
                <a:solidFill>
                  <a:prstClr val="black"/>
                </a:solidFill>
              </a:rPr>
              <a:t>cache</a:t>
            </a:r>
            <a:r>
              <a:rPr lang="zh-CN" altLang="en-US" dirty="0">
                <a:solidFill>
                  <a:prstClr val="black"/>
                </a:solidFill>
              </a:rPr>
              <a:t>和</a:t>
            </a:r>
            <a:r>
              <a:rPr lang="en-US" altLang="zh-CN" dirty="0">
                <a:solidFill>
                  <a:prstClr val="black"/>
                </a:solidFill>
              </a:rPr>
              <a:t>dataset</a:t>
            </a:r>
            <a:r>
              <a:rPr lang="zh-CN" altLang="en-US" dirty="0">
                <a:solidFill>
                  <a:prstClr val="black"/>
                </a:solidFill>
              </a:rPr>
              <a:t>的内容并非不变，而是每隔一个纪元</a:t>
            </a:r>
            <a:r>
              <a:rPr lang="en-US" altLang="zh-CN" dirty="0">
                <a:solidFill>
                  <a:prstClr val="black"/>
                </a:solidFill>
              </a:rPr>
              <a:t>epoch</a:t>
            </a:r>
            <a:r>
              <a:rPr lang="zh-CN" altLang="en-US" dirty="0">
                <a:solidFill>
                  <a:prstClr val="black"/>
                </a:solidFill>
              </a:rPr>
              <a:t>（</a:t>
            </a:r>
            <a:r>
              <a:rPr lang="en-US" altLang="zh-CN" dirty="0">
                <a:solidFill>
                  <a:prstClr val="black"/>
                </a:solidFill>
              </a:rPr>
              <a:t>30000</a:t>
            </a:r>
            <a:r>
              <a:rPr lang="zh-CN" altLang="en-US" dirty="0">
                <a:solidFill>
                  <a:prstClr val="black"/>
                </a:solidFill>
              </a:rPr>
              <a:t>个区块）由新的</a:t>
            </a:r>
            <a:r>
              <a:rPr lang="en-US" altLang="zh-CN" dirty="0">
                <a:solidFill>
                  <a:prstClr val="black"/>
                </a:solidFill>
              </a:rPr>
              <a:t>seed</a:t>
            </a:r>
            <a:r>
              <a:rPr lang="zh-CN" altLang="en-US" dirty="0">
                <a:solidFill>
                  <a:prstClr val="black"/>
                </a:solidFill>
              </a:rPr>
              <a:t>重新计算。新的</a:t>
            </a:r>
            <a:r>
              <a:rPr lang="en-US" altLang="zh-CN" dirty="0">
                <a:solidFill>
                  <a:prstClr val="black"/>
                </a:solidFill>
              </a:rPr>
              <a:t>seed</a:t>
            </a:r>
            <a:r>
              <a:rPr lang="zh-CN" altLang="en-US" dirty="0">
                <a:solidFill>
                  <a:prstClr val="black"/>
                </a:solidFill>
              </a:rPr>
              <a:t>的取值仅与区块高度相关，因此</a:t>
            </a:r>
            <a:r>
              <a:rPr lang="en-US" altLang="zh-CN" dirty="0">
                <a:solidFill>
                  <a:prstClr val="black"/>
                </a:solidFill>
              </a:rPr>
              <a:t>dataset</a:t>
            </a:r>
            <a:r>
              <a:rPr lang="zh-CN" altLang="en-US" dirty="0">
                <a:solidFill>
                  <a:prstClr val="black"/>
                </a:solidFill>
              </a:rPr>
              <a:t>是可以预生成的。如果没有预生成，节点需要等待</a:t>
            </a:r>
            <a:r>
              <a:rPr lang="en-US" altLang="zh-CN" dirty="0">
                <a:solidFill>
                  <a:prstClr val="black"/>
                </a:solidFill>
              </a:rPr>
              <a:t>dataset</a:t>
            </a:r>
            <a:r>
              <a:rPr lang="zh-CN" altLang="en-US" dirty="0">
                <a:solidFill>
                  <a:prstClr val="black"/>
                </a:solidFill>
              </a:rPr>
              <a:t>生成才能继续挖矿出块操作，这将导致在每个纪元的过渡时间，网络也会经历一个较大的区块延迟。（注：当首次启动一个节点时，挖矿公示只会在</a:t>
            </a:r>
            <a:r>
              <a:rPr lang="en-US" altLang="zh-CN" dirty="0">
                <a:solidFill>
                  <a:prstClr val="black"/>
                </a:solidFill>
              </a:rPr>
              <a:t>dataset</a:t>
            </a:r>
            <a:r>
              <a:rPr lang="zh-CN" altLang="en-US" dirty="0">
                <a:solidFill>
                  <a:prstClr val="black"/>
                </a:solidFill>
              </a:rPr>
              <a:t>生成之后才开始）</a:t>
            </a:r>
            <a:endParaRPr lang="en-US" altLang="zh-CN" dirty="0">
              <a:solidFill>
                <a:prstClr val="black"/>
              </a:solidFill>
            </a:endParaRPr>
          </a:p>
          <a:p>
            <a:pPr lvl="1">
              <a:lnSpc>
                <a:spcPct val="130000"/>
              </a:lnSpc>
            </a:pPr>
            <a:r>
              <a:rPr lang="zh-CN" altLang="en-US" dirty="0">
                <a:solidFill>
                  <a:prstClr val="black"/>
                </a:solidFill>
              </a:rPr>
              <a:t>挖矿工作包含了抓取</a:t>
            </a:r>
            <a:r>
              <a:rPr lang="en-US" altLang="zh-CN" dirty="0">
                <a:solidFill>
                  <a:prstClr val="black"/>
                </a:solidFill>
              </a:rPr>
              <a:t>dataset</a:t>
            </a:r>
            <a:r>
              <a:rPr lang="zh-CN" altLang="en-US" dirty="0">
                <a:solidFill>
                  <a:prstClr val="black"/>
                </a:solidFill>
              </a:rPr>
              <a:t>的随机片段以及运用哈希算法计算它们。验证工作能够在低内存的环境下进行，通过使用</a:t>
            </a:r>
            <a:r>
              <a:rPr lang="en-US" altLang="zh-CN" dirty="0">
                <a:solidFill>
                  <a:prstClr val="black"/>
                </a:solidFill>
              </a:rPr>
              <a:t>cache</a:t>
            </a:r>
            <a:r>
              <a:rPr lang="zh-CN" altLang="en-US" dirty="0">
                <a:solidFill>
                  <a:prstClr val="black"/>
                </a:solidFill>
              </a:rPr>
              <a:t>来生成所需的特定片段，所以轻节点主要存储</a:t>
            </a:r>
            <a:r>
              <a:rPr lang="en-US" altLang="zh-CN" dirty="0">
                <a:solidFill>
                  <a:prstClr val="black"/>
                </a:solidFill>
              </a:rPr>
              <a:t>cache</a:t>
            </a:r>
            <a:r>
              <a:rPr lang="zh-CN" altLang="en-US" dirty="0">
                <a:solidFill>
                  <a:prstClr val="black"/>
                </a:solidFill>
              </a:rPr>
              <a:t>便可以完成验证工作</a:t>
            </a:r>
            <a:endParaRPr lang="en-US" altLang="zh-CN" dirty="0">
              <a:solidFill>
                <a:prstClr val="black"/>
              </a:solidFill>
            </a:endParaRPr>
          </a:p>
        </p:txBody>
      </p:sp>
      <p:sp>
        <p:nvSpPr>
          <p:cNvPr id="7" name="灯片编号占位符 6">
            <a:extLst>
              <a:ext uri="{FF2B5EF4-FFF2-40B4-BE49-F238E27FC236}">
                <a16:creationId xmlns:a16="http://schemas.microsoft.com/office/drawing/2014/main" id="{97E080B7-C088-8B4E-B8CF-3281335EB402}"/>
              </a:ext>
            </a:extLst>
          </p:cNvPr>
          <p:cNvSpPr>
            <a:spLocks noGrp="1"/>
          </p:cNvSpPr>
          <p:nvPr>
            <p:ph type="sldNum" sz="quarter" idx="12"/>
          </p:nvPr>
        </p:nvSpPr>
        <p:spPr/>
        <p:txBody>
          <a:bodyPr/>
          <a:lstStyle/>
          <a:p>
            <a:fld id="{8D4D1E41-7A09-AB4A-A4E1-09765ADA2698}" type="slidenum">
              <a:rPr kumimoji="1" lang="zh-CN" altLang="en-US" smtClean="0"/>
              <a:t>34</a:t>
            </a:fld>
            <a:endParaRPr kumimoji="1" lang="zh-CN" altLang="en-US" dirty="0"/>
          </a:p>
        </p:txBody>
      </p:sp>
    </p:spTree>
    <p:extLst>
      <p:ext uri="{BB962C8B-B14F-4D97-AF65-F5344CB8AC3E}">
        <p14:creationId xmlns:p14="http://schemas.microsoft.com/office/powerpoint/2010/main" val="401827699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以太坊共识算法</a:t>
            </a:r>
            <a:r>
              <a:rPr lang="en-US" altLang="zh-CN" dirty="0" err="1"/>
              <a:t>Ethash</a:t>
            </a:r>
            <a:endParaRPr lang="en-US" altLang="zh-CN" dirty="0"/>
          </a:p>
        </p:txBody>
      </p:sp>
      <p:sp>
        <p:nvSpPr>
          <p:cNvPr id="3" name="内容占位符 2"/>
          <p:cNvSpPr>
            <a:spLocks noGrp="1"/>
          </p:cNvSpPr>
          <p:nvPr>
            <p:ph idx="1"/>
          </p:nvPr>
        </p:nvSpPr>
        <p:spPr>
          <a:xfrm>
            <a:off x="838201" y="1510758"/>
            <a:ext cx="5573110" cy="4845592"/>
          </a:xfrm>
        </p:spPr>
        <p:txBody>
          <a:bodyPr>
            <a:normAutofit fontScale="62500" lnSpcReduction="20000"/>
          </a:bodyPr>
          <a:lstStyle/>
          <a:p>
            <a:pPr lvl="0">
              <a:lnSpc>
                <a:spcPct val="130000"/>
              </a:lnSpc>
            </a:pPr>
            <a:r>
              <a:rPr lang="zh-CN" altLang="en-US" dirty="0">
                <a:solidFill>
                  <a:prstClr val="black"/>
                </a:solidFill>
              </a:rPr>
              <a:t>挖矿流程</a:t>
            </a:r>
          </a:p>
          <a:p>
            <a:pPr lvl="1">
              <a:lnSpc>
                <a:spcPct val="130000"/>
              </a:lnSpc>
            </a:pPr>
            <a:r>
              <a:rPr lang="zh-CN" altLang="en-US" dirty="0">
                <a:solidFill>
                  <a:prstClr val="black"/>
                </a:solidFill>
              </a:rPr>
              <a:t>首先依据区块头和填充的随机值通过</a:t>
            </a:r>
            <a:r>
              <a:rPr lang="en-US" altLang="zh-CN" dirty="0">
                <a:solidFill>
                  <a:prstClr val="black"/>
                </a:solidFill>
              </a:rPr>
              <a:t>Keccak256</a:t>
            </a:r>
            <a:r>
              <a:rPr lang="zh-CN" altLang="en-US" dirty="0">
                <a:solidFill>
                  <a:prstClr val="black"/>
                </a:solidFill>
              </a:rPr>
              <a:t>哈希算法（隶属</a:t>
            </a:r>
            <a:r>
              <a:rPr lang="en-US" altLang="zh-CN" dirty="0">
                <a:solidFill>
                  <a:prstClr val="black"/>
                </a:solidFill>
              </a:rPr>
              <a:t>SHA3</a:t>
            </a:r>
            <a:r>
              <a:rPr lang="zh-CN" altLang="en-US" dirty="0">
                <a:solidFill>
                  <a:prstClr val="black"/>
                </a:solidFill>
              </a:rPr>
              <a:t>）生成哈希值</a:t>
            </a:r>
            <a:r>
              <a:rPr lang="en-US" altLang="zh-CN" dirty="0">
                <a:solidFill>
                  <a:prstClr val="black"/>
                </a:solidFill>
              </a:rPr>
              <a:t>H</a:t>
            </a:r>
            <a:r>
              <a:rPr lang="zh-CN" altLang="en-US" dirty="0">
                <a:solidFill>
                  <a:prstClr val="black"/>
                </a:solidFill>
              </a:rPr>
              <a:t>，并将</a:t>
            </a:r>
            <a:r>
              <a:rPr lang="en-US" altLang="zh-CN" dirty="0">
                <a:solidFill>
                  <a:prstClr val="black"/>
                </a:solidFill>
              </a:rPr>
              <a:t>H</a:t>
            </a:r>
            <a:r>
              <a:rPr lang="zh-CN" altLang="en-US" dirty="0">
                <a:solidFill>
                  <a:prstClr val="black"/>
                </a:solidFill>
              </a:rPr>
              <a:t>整合为一个包含</a:t>
            </a:r>
            <a:r>
              <a:rPr lang="en-US" altLang="zh-CN" dirty="0">
                <a:solidFill>
                  <a:prstClr val="black"/>
                </a:solidFill>
              </a:rPr>
              <a:t>32</a:t>
            </a:r>
            <a:r>
              <a:rPr lang="zh-CN" altLang="en-US" dirty="0">
                <a:solidFill>
                  <a:prstClr val="black"/>
                </a:solidFill>
              </a:rPr>
              <a:t>个</a:t>
            </a:r>
            <a:r>
              <a:rPr lang="en-US" altLang="zh-CN" dirty="0">
                <a:solidFill>
                  <a:prstClr val="black"/>
                </a:solidFill>
              </a:rPr>
              <a:t>uint32</a:t>
            </a:r>
            <a:r>
              <a:rPr lang="zh-CN" altLang="en-US" dirty="0">
                <a:solidFill>
                  <a:prstClr val="black"/>
                </a:solidFill>
              </a:rPr>
              <a:t>元素的数组</a:t>
            </a:r>
            <a:r>
              <a:rPr lang="en-US" altLang="zh-CN" dirty="0">
                <a:solidFill>
                  <a:prstClr val="black"/>
                </a:solidFill>
              </a:rPr>
              <a:t>Mix(0)</a:t>
            </a:r>
            <a:r>
              <a:rPr lang="zh-CN" altLang="en-US" dirty="0">
                <a:solidFill>
                  <a:prstClr val="black"/>
                </a:solidFill>
              </a:rPr>
              <a:t>（一共</a:t>
            </a:r>
            <a:r>
              <a:rPr lang="en-US" altLang="zh-CN" dirty="0">
                <a:solidFill>
                  <a:prstClr val="black"/>
                </a:solidFill>
              </a:rPr>
              <a:t>128</a:t>
            </a:r>
            <a:r>
              <a:rPr lang="zh-CN" altLang="en-US" dirty="0">
                <a:solidFill>
                  <a:prstClr val="black"/>
                </a:solidFill>
              </a:rPr>
              <a:t>个字节）</a:t>
            </a:r>
            <a:endParaRPr lang="en-US" altLang="zh-CN" dirty="0">
              <a:solidFill>
                <a:prstClr val="black"/>
              </a:solidFill>
            </a:endParaRPr>
          </a:p>
          <a:p>
            <a:pPr lvl="1">
              <a:lnSpc>
                <a:spcPct val="130000"/>
              </a:lnSpc>
            </a:pPr>
            <a:r>
              <a:rPr lang="zh-CN" altLang="en-US" dirty="0">
                <a:solidFill>
                  <a:prstClr val="black"/>
                </a:solidFill>
              </a:rPr>
              <a:t>将</a:t>
            </a:r>
            <a:r>
              <a:rPr lang="en-US" altLang="zh-CN" dirty="0">
                <a:solidFill>
                  <a:prstClr val="black"/>
                </a:solidFill>
              </a:rPr>
              <a:t>Mix(0)</a:t>
            </a:r>
            <a:r>
              <a:rPr lang="zh-CN" altLang="en-US" dirty="0">
                <a:solidFill>
                  <a:prstClr val="black"/>
                </a:solidFill>
              </a:rPr>
              <a:t>通过某个特定算法映射到</a:t>
            </a:r>
            <a:r>
              <a:rPr lang="en-US" altLang="zh-CN" dirty="0">
                <a:solidFill>
                  <a:prstClr val="black"/>
                </a:solidFill>
              </a:rPr>
              <a:t>dataset</a:t>
            </a:r>
            <a:r>
              <a:rPr lang="zh-CN" altLang="en-US" dirty="0">
                <a:solidFill>
                  <a:prstClr val="black"/>
                </a:solidFill>
              </a:rPr>
              <a:t>中，抓取</a:t>
            </a:r>
            <a:r>
              <a:rPr lang="en-US" altLang="zh-CN" dirty="0">
                <a:solidFill>
                  <a:prstClr val="black"/>
                </a:solidFill>
              </a:rPr>
              <a:t>dataset</a:t>
            </a:r>
            <a:r>
              <a:rPr lang="zh-CN" altLang="en-US" dirty="0">
                <a:solidFill>
                  <a:prstClr val="black"/>
                </a:solidFill>
              </a:rPr>
              <a:t>某个片段数据</a:t>
            </a:r>
            <a:r>
              <a:rPr lang="en-US" altLang="zh-CN" dirty="0">
                <a:solidFill>
                  <a:prstClr val="black"/>
                </a:solidFill>
              </a:rPr>
              <a:t>data</a:t>
            </a:r>
          </a:p>
          <a:p>
            <a:pPr lvl="1">
              <a:lnSpc>
                <a:spcPct val="130000"/>
              </a:lnSpc>
            </a:pPr>
            <a:r>
              <a:rPr lang="zh-CN" altLang="en-US" dirty="0">
                <a:solidFill>
                  <a:prstClr val="black"/>
                </a:solidFill>
              </a:rPr>
              <a:t>将</a:t>
            </a:r>
            <a:r>
              <a:rPr lang="en-US" altLang="zh-CN" dirty="0">
                <a:solidFill>
                  <a:prstClr val="black"/>
                </a:solidFill>
              </a:rPr>
              <a:t>data</a:t>
            </a:r>
            <a:r>
              <a:rPr lang="zh-CN" altLang="en-US" dirty="0">
                <a:solidFill>
                  <a:prstClr val="black"/>
                </a:solidFill>
              </a:rPr>
              <a:t>和</a:t>
            </a:r>
            <a:r>
              <a:rPr lang="en-US" altLang="zh-CN" dirty="0">
                <a:solidFill>
                  <a:prstClr val="black"/>
                </a:solidFill>
              </a:rPr>
              <a:t>Mix(0)</a:t>
            </a:r>
            <a:r>
              <a:rPr lang="zh-CN" altLang="en-US" dirty="0">
                <a:solidFill>
                  <a:prstClr val="black"/>
                </a:solidFill>
              </a:rPr>
              <a:t>通过</a:t>
            </a:r>
            <a:r>
              <a:rPr lang="en-US" altLang="zh-CN" dirty="0">
                <a:solidFill>
                  <a:prstClr val="black"/>
                </a:solidFill>
              </a:rPr>
              <a:t>FNV</a:t>
            </a:r>
            <a:r>
              <a:rPr lang="zh-CN" altLang="en-US" dirty="0">
                <a:solidFill>
                  <a:prstClr val="black"/>
                </a:solidFill>
              </a:rPr>
              <a:t>哈希算法进行混合，得到新的混合结果</a:t>
            </a:r>
            <a:r>
              <a:rPr lang="en-US" altLang="zh-CN" dirty="0">
                <a:solidFill>
                  <a:prstClr val="black"/>
                </a:solidFill>
              </a:rPr>
              <a:t>Mix(1)</a:t>
            </a:r>
          </a:p>
          <a:p>
            <a:pPr lvl="1">
              <a:lnSpc>
                <a:spcPct val="130000"/>
              </a:lnSpc>
            </a:pPr>
            <a:r>
              <a:rPr lang="zh-CN" altLang="en-US" dirty="0">
                <a:solidFill>
                  <a:prstClr val="black"/>
                </a:solidFill>
              </a:rPr>
              <a:t>基于</a:t>
            </a:r>
            <a:r>
              <a:rPr lang="en-US" altLang="zh-CN" dirty="0">
                <a:solidFill>
                  <a:prstClr val="black"/>
                </a:solidFill>
              </a:rPr>
              <a:t>Mix(1)</a:t>
            </a:r>
            <a:r>
              <a:rPr lang="zh-CN" altLang="en-US" dirty="0">
                <a:solidFill>
                  <a:prstClr val="black"/>
                </a:solidFill>
              </a:rPr>
              <a:t>再去抓取</a:t>
            </a:r>
            <a:r>
              <a:rPr lang="en-US" altLang="zh-CN" dirty="0">
                <a:solidFill>
                  <a:prstClr val="black"/>
                </a:solidFill>
              </a:rPr>
              <a:t>dataset</a:t>
            </a:r>
            <a:r>
              <a:rPr lang="zh-CN" altLang="en-US" dirty="0">
                <a:solidFill>
                  <a:prstClr val="black"/>
                </a:solidFill>
              </a:rPr>
              <a:t>中某个片段，继续上述的混合操作，循环混合</a:t>
            </a:r>
            <a:r>
              <a:rPr lang="en-US" altLang="zh-CN" dirty="0">
                <a:solidFill>
                  <a:prstClr val="black"/>
                </a:solidFill>
              </a:rPr>
              <a:t>64</a:t>
            </a:r>
            <a:r>
              <a:rPr lang="zh-CN" altLang="en-US" dirty="0">
                <a:solidFill>
                  <a:prstClr val="black"/>
                </a:solidFill>
              </a:rPr>
              <a:t>次之后得到最后的混合结果</a:t>
            </a:r>
            <a:r>
              <a:rPr lang="en-US" altLang="zh-CN" dirty="0">
                <a:solidFill>
                  <a:prstClr val="black"/>
                </a:solidFill>
              </a:rPr>
              <a:t>Mix(64)</a:t>
            </a:r>
          </a:p>
          <a:p>
            <a:pPr lvl="1">
              <a:lnSpc>
                <a:spcPct val="130000"/>
              </a:lnSpc>
            </a:pPr>
            <a:r>
              <a:rPr lang="zh-CN" altLang="en-US" dirty="0">
                <a:solidFill>
                  <a:prstClr val="black"/>
                </a:solidFill>
              </a:rPr>
              <a:t>将</a:t>
            </a:r>
            <a:r>
              <a:rPr lang="en-US" altLang="zh-CN" dirty="0">
                <a:solidFill>
                  <a:prstClr val="black"/>
                </a:solidFill>
              </a:rPr>
              <a:t>Mix(64)</a:t>
            </a:r>
            <a:r>
              <a:rPr lang="zh-CN" altLang="en-US" dirty="0">
                <a:solidFill>
                  <a:prstClr val="black"/>
                </a:solidFill>
              </a:rPr>
              <a:t>整合为</a:t>
            </a:r>
            <a:r>
              <a:rPr lang="en-US" altLang="zh-CN" dirty="0">
                <a:solidFill>
                  <a:prstClr val="black"/>
                </a:solidFill>
              </a:rPr>
              <a:t>32</a:t>
            </a:r>
            <a:r>
              <a:rPr lang="zh-CN" altLang="en-US" dirty="0">
                <a:solidFill>
                  <a:prstClr val="black"/>
                </a:solidFill>
              </a:rPr>
              <a:t>字节的</a:t>
            </a:r>
            <a:r>
              <a:rPr lang="en-US" altLang="zh-CN" dirty="0">
                <a:solidFill>
                  <a:prstClr val="black"/>
                </a:solidFill>
              </a:rPr>
              <a:t>digest</a:t>
            </a:r>
            <a:r>
              <a:rPr lang="zh-CN" altLang="en-US" dirty="0">
                <a:solidFill>
                  <a:prstClr val="black"/>
                </a:solidFill>
              </a:rPr>
              <a:t>，并依据</a:t>
            </a:r>
            <a:r>
              <a:rPr lang="en-US" altLang="zh-CN" dirty="0">
                <a:solidFill>
                  <a:prstClr val="black"/>
                </a:solidFill>
              </a:rPr>
              <a:t>H</a:t>
            </a:r>
            <a:r>
              <a:rPr lang="zh-CN" altLang="en-US" dirty="0">
                <a:solidFill>
                  <a:prstClr val="black"/>
                </a:solidFill>
              </a:rPr>
              <a:t>和</a:t>
            </a:r>
            <a:r>
              <a:rPr lang="en-US" altLang="zh-CN" dirty="0">
                <a:solidFill>
                  <a:prstClr val="black"/>
                </a:solidFill>
              </a:rPr>
              <a:t>digest</a:t>
            </a:r>
            <a:r>
              <a:rPr lang="zh-CN" altLang="en-US" dirty="0">
                <a:solidFill>
                  <a:prstClr val="black"/>
                </a:solidFill>
              </a:rPr>
              <a:t>采用</a:t>
            </a:r>
            <a:r>
              <a:rPr lang="en-US" altLang="zh-CN" dirty="0">
                <a:solidFill>
                  <a:prstClr val="black"/>
                </a:solidFill>
              </a:rPr>
              <a:t>Keccak256</a:t>
            </a:r>
            <a:r>
              <a:rPr lang="zh-CN" altLang="en-US" dirty="0">
                <a:solidFill>
                  <a:prstClr val="black"/>
                </a:solidFill>
              </a:rPr>
              <a:t>哈希算法生成最终的哈希值</a:t>
            </a:r>
            <a:r>
              <a:rPr lang="en-US" altLang="zh-CN" dirty="0">
                <a:solidFill>
                  <a:prstClr val="black"/>
                </a:solidFill>
              </a:rPr>
              <a:t>result</a:t>
            </a:r>
            <a:r>
              <a:rPr lang="zh-CN" altLang="en-US" dirty="0">
                <a:solidFill>
                  <a:prstClr val="black"/>
                </a:solidFill>
              </a:rPr>
              <a:t>，并与目标值进行比对，判断其是否满足出块的条件</a:t>
            </a:r>
            <a:endParaRPr lang="en-US" altLang="zh-CN" dirty="0">
              <a:solidFill>
                <a:prstClr val="black"/>
              </a:solidFill>
            </a:endParaRPr>
          </a:p>
          <a:p>
            <a:pPr lvl="1">
              <a:lnSpc>
                <a:spcPct val="130000"/>
              </a:lnSpc>
            </a:pPr>
            <a:r>
              <a:rPr lang="zh-CN" altLang="en-US" dirty="0">
                <a:solidFill>
                  <a:prstClr val="black"/>
                </a:solidFill>
              </a:rPr>
              <a:t>若满足条件，则将</a:t>
            </a:r>
            <a:r>
              <a:rPr lang="en-US" altLang="zh-CN" dirty="0">
                <a:solidFill>
                  <a:prstClr val="black"/>
                </a:solidFill>
              </a:rPr>
              <a:t>digest</a:t>
            </a:r>
            <a:r>
              <a:rPr lang="zh-CN" altLang="en-US" dirty="0">
                <a:solidFill>
                  <a:prstClr val="black"/>
                </a:solidFill>
              </a:rPr>
              <a:t>和</a:t>
            </a:r>
            <a:r>
              <a:rPr lang="en-US" altLang="zh-CN" dirty="0">
                <a:solidFill>
                  <a:prstClr val="black"/>
                </a:solidFill>
              </a:rPr>
              <a:t>Nonce</a:t>
            </a:r>
            <a:r>
              <a:rPr lang="zh-CN" altLang="en-US" dirty="0">
                <a:solidFill>
                  <a:prstClr val="black"/>
                </a:solidFill>
              </a:rPr>
              <a:t>分别填充到区块头的</a:t>
            </a:r>
            <a:r>
              <a:rPr lang="en-US" altLang="zh-CN" dirty="0" err="1">
                <a:solidFill>
                  <a:prstClr val="black"/>
                </a:solidFill>
              </a:rPr>
              <a:t>MixDigest</a:t>
            </a:r>
            <a:r>
              <a:rPr lang="zh-CN" altLang="en-US" dirty="0">
                <a:solidFill>
                  <a:prstClr val="black"/>
                </a:solidFill>
              </a:rPr>
              <a:t>字段和</a:t>
            </a:r>
            <a:r>
              <a:rPr lang="en-US" altLang="zh-CN" dirty="0">
                <a:solidFill>
                  <a:prstClr val="black"/>
                </a:solidFill>
              </a:rPr>
              <a:t>Nonce</a:t>
            </a:r>
            <a:r>
              <a:rPr lang="zh-CN" altLang="en-US" dirty="0">
                <a:solidFill>
                  <a:prstClr val="black"/>
                </a:solidFill>
              </a:rPr>
              <a:t>字段，其他节点将利用这两个字段对该区块进行工作量证明的相关验证</a:t>
            </a:r>
            <a:endParaRPr lang="en-US" altLang="zh-CN" dirty="0">
              <a:solidFill>
                <a:prstClr val="black"/>
              </a:solidFill>
            </a:endParaRPr>
          </a:p>
        </p:txBody>
      </p:sp>
      <p:sp>
        <p:nvSpPr>
          <p:cNvPr id="7" name="灯片编号占位符 6">
            <a:extLst>
              <a:ext uri="{FF2B5EF4-FFF2-40B4-BE49-F238E27FC236}">
                <a16:creationId xmlns:a16="http://schemas.microsoft.com/office/drawing/2014/main" id="{97E080B7-C088-8B4E-B8CF-3281335EB402}"/>
              </a:ext>
            </a:extLst>
          </p:cNvPr>
          <p:cNvSpPr>
            <a:spLocks noGrp="1"/>
          </p:cNvSpPr>
          <p:nvPr>
            <p:ph type="sldNum" sz="quarter" idx="12"/>
          </p:nvPr>
        </p:nvSpPr>
        <p:spPr/>
        <p:txBody>
          <a:bodyPr/>
          <a:lstStyle/>
          <a:p>
            <a:fld id="{8D4D1E41-7A09-AB4A-A4E1-09765ADA2698}" type="slidenum">
              <a:rPr kumimoji="1" lang="zh-CN" altLang="en-US" smtClean="0"/>
              <a:t>35</a:t>
            </a:fld>
            <a:endParaRPr kumimoji="1" lang="zh-CN" altLang="en-US" dirty="0"/>
          </a:p>
        </p:txBody>
      </p:sp>
      <p:pic>
        <p:nvPicPr>
          <p:cNvPr id="5" name="图片 4"/>
          <p:cNvPicPr/>
          <p:nvPr/>
        </p:nvPicPr>
        <p:blipFill>
          <a:blip r:embed="rId3"/>
          <a:stretch>
            <a:fillRect/>
          </a:stretch>
        </p:blipFill>
        <p:spPr>
          <a:xfrm>
            <a:off x="6411311" y="2995448"/>
            <a:ext cx="5237480" cy="3627448"/>
          </a:xfrm>
          <a:prstGeom prst="rect">
            <a:avLst/>
          </a:prstGeom>
          <a:noFill/>
          <a:ln>
            <a:noFill/>
          </a:ln>
        </p:spPr>
      </p:pic>
      <p:pic>
        <p:nvPicPr>
          <p:cNvPr id="6" name="图片 5"/>
          <p:cNvPicPr/>
          <p:nvPr/>
        </p:nvPicPr>
        <p:blipFill>
          <a:blip r:embed="rId4"/>
          <a:stretch>
            <a:fillRect/>
          </a:stretch>
        </p:blipFill>
        <p:spPr>
          <a:xfrm>
            <a:off x="7134647" y="1501774"/>
            <a:ext cx="3490595" cy="1395095"/>
          </a:xfrm>
          <a:prstGeom prst="rect">
            <a:avLst/>
          </a:prstGeom>
        </p:spPr>
      </p:pic>
    </p:spTree>
    <p:extLst>
      <p:ext uri="{BB962C8B-B14F-4D97-AF65-F5344CB8AC3E}">
        <p14:creationId xmlns:p14="http://schemas.microsoft.com/office/powerpoint/2010/main" val="38338357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以太坊共识算法</a:t>
            </a:r>
            <a:r>
              <a:rPr lang="en-US" altLang="zh-CN" dirty="0" err="1"/>
              <a:t>Ethash</a:t>
            </a:r>
            <a:endParaRPr lang="en-US" altLang="zh-CN" dirty="0"/>
          </a:p>
        </p:txBody>
      </p:sp>
      <p:sp>
        <p:nvSpPr>
          <p:cNvPr id="3" name="内容占位符 2"/>
          <p:cNvSpPr>
            <a:spLocks noGrp="1"/>
          </p:cNvSpPr>
          <p:nvPr>
            <p:ph idx="1"/>
          </p:nvPr>
        </p:nvSpPr>
        <p:spPr>
          <a:xfrm>
            <a:off x="838200" y="1510758"/>
            <a:ext cx="10248899" cy="4845592"/>
          </a:xfrm>
        </p:spPr>
        <p:txBody>
          <a:bodyPr>
            <a:normAutofit/>
          </a:bodyPr>
          <a:lstStyle/>
          <a:p>
            <a:pPr lvl="0">
              <a:lnSpc>
                <a:spcPct val="130000"/>
              </a:lnSpc>
            </a:pPr>
            <a:r>
              <a:rPr lang="zh-CN" altLang="en-US" dirty="0">
                <a:solidFill>
                  <a:prstClr val="black"/>
                </a:solidFill>
              </a:rPr>
              <a:t>特点</a:t>
            </a:r>
          </a:p>
          <a:p>
            <a:pPr lvl="1">
              <a:lnSpc>
                <a:spcPct val="130000"/>
              </a:lnSpc>
            </a:pPr>
            <a:r>
              <a:rPr lang="zh-CN" altLang="en-US" dirty="0">
                <a:solidFill>
                  <a:prstClr val="black"/>
                </a:solidFill>
              </a:rPr>
              <a:t>需要</a:t>
            </a:r>
            <a:r>
              <a:rPr lang="en-US" altLang="zh-CN" dirty="0">
                <a:solidFill>
                  <a:prstClr val="black"/>
                </a:solidFill>
              </a:rPr>
              <a:t>GB</a:t>
            </a:r>
            <a:r>
              <a:rPr lang="zh-CN" altLang="en-US" dirty="0">
                <a:solidFill>
                  <a:prstClr val="black"/>
                </a:solidFill>
              </a:rPr>
              <a:t>级别的</a:t>
            </a:r>
            <a:r>
              <a:rPr lang="en-US" altLang="zh-CN" dirty="0">
                <a:solidFill>
                  <a:prstClr val="black"/>
                </a:solidFill>
              </a:rPr>
              <a:t>dataset</a:t>
            </a:r>
            <a:r>
              <a:rPr lang="zh-CN" altLang="en-US" dirty="0">
                <a:solidFill>
                  <a:prstClr val="black"/>
                </a:solidFill>
              </a:rPr>
              <a:t>不断地读取片段数据</a:t>
            </a:r>
            <a:endParaRPr lang="en-US" altLang="zh-CN" dirty="0">
              <a:solidFill>
                <a:prstClr val="black"/>
              </a:solidFill>
            </a:endParaRPr>
          </a:p>
          <a:p>
            <a:pPr lvl="1">
              <a:lnSpc>
                <a:spcPct val="130000"/>
              </a:lnSpc>
            </a:pPr>
            <a:r>
              <a:rPr lang="zh-CN" altLang="en-US" dirty="0">
                <a:solidFill>
                  <a:prstClr val="black"/>
                </a:solidFill>
              </a:rPr>
              <a:t>相比于比特币工作量证明，</a:t>
            </a:r>
            <a:r>
              <a:rPr lang="en-US" altLang="zh-CN" dirty="0" err="1">
                <a:solidFill>
                  <a:prstClr val="black"/>
                </a:solidFill>
              </a:rPr>
              <a:t>Ethash</a:t>
            </a:r>
            <a:r>
              <a:rPr lang="zh-CN" altLang="en-US" dirty="0">
                <a:solidFill>
                  <a:prstClr val="black"/>
                </a:solidFill>
              </a:rPr>
              <a:t>增加了对内存消耗的要求，要求旷工提供在挖矿过程中使用大量内存的证明，最终达到抵抗</a:t>
            </a:r>
            <a:r>
              <a:rPr lang="en-US" altLang="zh-CN" dirty="0">
                <a:solidFill>
                  <a:prstClr val="black"/>
                </a:solidFill>
              </a:rPr>
              <a:t>ASIC</a:t>
            </a:r>
            <a:r>
              <a:rPr lang="zh-CN" altLang="en-US" dirty="0">
                <a:solidFill>
                  <a:prstClr val="black"/>
                </a:solidFill>
              </a:rPr>
              <a:t>的目的</a:t>
            </a:r>
            <a:endParaRPr lang="en-US" altLang="zh-CN" dirty="0">
              <a:solidFill>
                <a:prstClr val="black"/>
              </a:solidFill>
            </a:endParaRPr>
          </a:p>
          <a:p>
            <a:pPr lvl="1">
              <a:lnSpc>
                <a:spcPct val="130000"/>
              </a:lnSpc>
            </a:pPr>
            <a:r>
              <a:rPr lang="zh-CN" altLang="en-US" dirty="0">
                <a:solidFill>
                  <a:prstClr val="black"/>
                </a:solidFill>
              </a:rPr>
              <a:t>支持轻节点对区块进行验证，验证节点只需保存一个</a:t>
            </a:r>
            <a:r>
              <a:rPr lang="en-US" altLang="zh-CN" dirty="0">
                <a:solidFill>
                  <a:prstClr val="black"/>
                </a:solidFill>
              </a:rPr>
              <a:t>16MB</a:t>
            </a:r>
            <a:r>
              <a:rPr lang="zh-CN" altLang="en-US" dirty="0">
                <a:solidFill>
                  <a:prstClr val="black"/>
                </a:solidFill>
              </a:rPr>
              <a:t>的</a:t>
            </a:r>
            <a:r>
              <a:rPr lang="en-US" altLang="zh-CN" dirty="0">
                <a:solidFill>
                  <a:prstClr val="black"/>
                </a:solidFill>
              </a:rPr>
              <a:t>cache</a:t>
            </a:r>
          </a:p>
          <a:p>
            <a:pPr lvl="1">
              <a:lnSpc>
                <a:spcPct val="130000"/>
              </a:lnSpc>
            </a:pPr>
            <a:r>
              <a:rPr lang="en-US" altLang="zh-CN" dirty="0" err="1">
                <a:solidFill>
                  <a:prstClr val="black"/>
                </a:solidFill>
              </a:rPr>
              <a:t>Ethash</a:t>
            </a:r>
            <a:r>
              <a:rPr lang="zh-CN" altLang="en-US" dirty="0">
                <a:solidFill>
                  <a:prstClr val="black"/>
                </a:solidFill>
              </a:rPr>
              <a:t>侧重的是工作量证明过程中快速</a:t>
            </a:r>
            <a:r>
              <a:rPr lang="en-US" altLang="zh-CN" dirty="0">
                <a:solidFill>
                  <a:prstClr val="black"/>
                </a:solidFill>
              </a:rPr>
              <a:t>IO</a:t>
            </a:r>
            <a:r>
              <a:rPr lang="zh-CN" altLang="en-US" dirty="0">
                <a:solidFill>
                  <a:prstClr val="black"/>
                </a:solidFill>
              </a:rPr>
              <a:t>的能力而比特币工作量证明侧重的是哈希速率，均在做无意义的哈希或</a:t>
            </a:r>
            <a:r>
              <a:rPr lang="en-US" altLang="zh-CN" dirty="0">
                <a:solidFill>
                  <a:prstClr val="black"/>
                </a:solidFill>
              </a:rPr>
              <a:t>IO</a:t>
            </a:r>
          </a:p>
        </p:txBody>
      </p:sp>
      <p:sp>
        <p:nvSpPr>
          <p:cNvPr id="7" name="灯片编号占位符 6">
            <a:extLst>
              <a:ext uri="{FF2B5EF4-FFF2-40B4-BE49-F238E27FC236}">
                <a16:creationId xmlns:a16="http://schemas.microsoft.com/office/drawing/2014/main" id="{97E080B7-C088-8B4E-B8CF-3281335EB402}"/>
              </a:ext>
            </a:extLst>
          </p:cNvPr>
          <p:cNvSpPr>
            <a:spLocks noGrp="1"/>
          </p:cNvSpPr>
          <p:nvPr>
            <p:ph type="sldNum" sz="quarter" idx="12"/>
          </p:nvPr>
        </p:nvSpPr>
        <p:spPr/>
        <p:txBody>
          <a:bodyPr/>
          <a:lstStyle/>
          <a:p>
            <a:fld id="{8D4D1E41-7A09-AB4A-A4E1-09765ADA2698}" type="slidenum">
              <a:rPr kumimoji="1" lang="zh-CN" altLang="en-US" smtClean="0"/>
              <a:t>36</a:t>
            </a:fld>
            <a:endParaRPr kumimoji="1" lang="zh-CN" altLang="en-US" dirty="0"/>
          </a:p>
        </p:txBody>
      </p:sp>
    </p:spTree>
    <p:extLst>
      <p:ext uri="{BB962C8B-B14F-4D97-AF65-F5344CB8AC3E}">
        <p14:creationId xmlns:p14="http://schemas.microsoft.com/office/powerpoint/2010/main" val="57567906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以太坊共识算法</a:t>
            </a:r>
            <a:r>
              <a:rPr lang="en-US" altLang="zh-CN" dirty="0"/>
              <a:t>Casper</a:t>
            </a:r>
            <a:r>
              <a:rPr lang="zh-CN" altLang="en-US" dirty="0"/>
              <a:t>（选学）</a:t>
            </a:r>
            <a:endParaRPr lang="en-US" altLang="zh-CN" dirty="0"/>
          </a:p>
        </p:txBody>
      </p:sp>
      <p:sp>
        <p:nvSpPr>
          <p:cNvPr id="3" name="内容占位符 2"/>
          <p:cNvSpPr>
            <a:spLocks noGrp="1"/>
          </p:cNvSpPr>
          <p:nvPr>
            <p:ph idx="1"/>
          </p:nvPr>
        </p:nvSpPr>
        <p:spPr>
          <a:xfrm>
            <a:off x="838200" y="1510758"/>
            <a:ext cx="10248899" cy="4845592"/>
          </a:xfrm>
        </p:spPr>
        <p:txBody>
          <a:bodyPr>
            <a:normAutofit/>
          </a:bodyPr>
          <a:lstStyle/>
          <a:p>
            <a:pPr lvl="0">
              <a:lnSpc>
                <a:spcPct val="130000"/>
              </a:lnSpc>
            </a:pPr>
            <a:r>
              <a:rPr lang="zh-CN" altLang="en-US" dirty="0">
                <a:solidFill>
                  <a:prstClr val="black"/>
                </a:solidFill>
              </a:rPr>
              <a:t>权益证明</a:t>
            </a:r>
          </a:p>
          <a:p>
            <a:pPr lvl="1">
              <a:lnSpc>
                <a:spcPct val="130000"/>
              </a:lnSpc>
            </a:pPr>
            <a:r>
              <a:rPr lang="zh-CN" altLang="en-US" dirty="0">
                <a:solidFill>
                  <a:prstClr val="black"/>
                </a:solidFill>
              </a:rPr>
              <a:t>公有区块链采用共识机制主要有两种：工作量证明（</a:t>
            </a:r>
            <a:r>
              <a:rPr lang="en-US" altLang="zh-CN" dirty="0" err="1">
                <a:solidFill>
                  <a:prstClr val="black"/>
                </a:solidFill>
              </a:rPr>
              <a:t>PoW</a:t>
            </a:r>
            <a:r>
              <a:rPr lang="zh-CN" altLang="en-US" dirty="0">
                <a:solidFill>
                  <a:prstClr val="black"/>
                </a:solidFill>
              </a:rPr>
              <a:t>）和权益证明（</a:t>
            </a:r>
            <a:r>
              <a:rPr lang="en-US" altLang="zh-CN" dirty="0" err="1">
                <a:solidFill>
                  <a:prstClr val="black"/>
                </a:solidFill>
              </a:rPr>
              <a:t>PoS</a:t>
            </a:r>
            <a:r>
              <a:rPr lang="zh-CN" altLang="en-US" dirty="0">
                <a:solidFill>
                  <a:prstClr val="black"/>
                </a:solidFill>
              </a:rPr>
              <a:t>）</a:t>
            </a:r>
            <a:endParaRPr lang="en-US" altLang="zh-CN" dirty="0">
              <a:solidFill>
                <a:prstClr val="black"/>
              </a:solidFill>
            </a:endParaRPr>
          </a:p>
          <a:p>
            <a:pPr lvl="1">
              <a:lnSpc>
                <a:spcPct val="130000"/>
              </a:lnSpc>
            </a:pPr>
            <a:r>
              <a:rPr lang="en-US" altLang="zh-CN" dirty="0" err="1">
                <a:solidFill>
                  <a:prstClr val="black"/>
                </a:solidFill>
              </a:rPr>
              <a:t>PoW</a:t>
            </a:r>
            <a:r>
              <a:rPr lang="zh-CN" altLang="en-US" dirty="0">
                <a:solidFill>
                  <a:prstClr val="black"/>
                </a:solidFill>
              </a:rPr>
              <a:t>能源消耗巨大，</a:t>
            </a:r>
            <a:r>
              <a:rPr lang="en-US" altLang="zh-CN" dirty="0" err="1">
                <a:solidFill>
                  <a:prstClr val="black"/>
                </a:solidFill>
              </a:rPr>
              <a:t>PsS</a:t>
            </a:r>
            <a:r>
              <a:rPr lang="zh-CN" altLang="en-US" dirty="0">
                <a:solidFill>
                  <a:prstClr val="black"/>
                </a:solidFill>
              </a:rPr>
              <a:t>基于某种稀缺资源对记账权进行竞争</a:t>
            </a:r>
            <a:endParaRPr lang="en-US" altLang="zh-CN" dirty="0">
              <a:solidFill>
                <a:prstClr val="black"/>
              </a:solidFill>
            </a:endParaRPr>
          </a:p>
          <a:p>
            <a:pPr lvl="1">
              <a:lnSpc>
                <a:spcPct val="130000"/>
              </a:lnSpc>
            </a:pPr>
            <a:r>
              <a:rPr lang="zh-CN" altLang="en-US" dirty="0">
                <a:solidFill>
                  <a:prstClr val="black"/>
                </a:solidFill>
              </a:rPr>
              <a:t>权益证明中的稀缺资源为权益，权益的表现形式大多为公有区块链上的加密货币，包括持币量以及币龄等</a:t>
            </a:r>
            <a:endParaRPr lang="en-US" altLang="zh-CN" dirty="0">
              <a:solidFill>
                <a:prstClr val="black"/>
              </a:solidFill>
            </a:endParaRPr>
          </a:p>
          <a:p>
            <a:pPr lvl="1">
              <a:lnSpc>
                <a:spcPct val="130000"/>
              </a:lnSpc>
            </a:pPr>
            <a:r>
              <a:rPr lang="zh-CN" altLang="en-US" dirty="0">
                <a:solidFill>
                  <a:prstClr val="black"/>
                </a:solidFill>
              </a:rPr>
              <a:t>主要面临两个挑战：长程攻击（</a:t>
            </a:r>
            <a:r>
              <a:rPr lang="en-US" altLang="zh-CN" dirty="0">
                <a:solidFill>
                  <a:prstClr val="black"/>
                </a:solidFill>
              </a:rPr>
              <a:t>long range attack</a:t>
            </a:r>
            <a:r>
              <a:rPr lang="zh-CN" altLang="en-US" dirty="0">
                <a:solidFill>
                  <a:prstClr val="black"/>
                </a:solidFill>
              </a:rPr>
              <a:t>）和无利害关系（</a:t>
            </a:r>
            <a:r>
              <a:rPr lang="en-US" altLang="zh-CN" dirty="0">
                <a:solidFill>
                  <a:prstClr val="black"/>
                </a:solidFill>
              </a:rPr>
              <a:t>nothing at stake</a:t>
            </a:r>
            <a:r>
              <a:rPr lang="zh-CN" altLang="en-US" dirty="0">
                <a:solidFill>
                  <a:prstClr val="black"/>
                </a:solidFill>
              </a:rPr>
              <a:t>）</a:t>
            </a:r>
            <a:endParaRPr lang="en-US" altLang="zh-CN" dirty="0">
              <a:solidFill>
                <a:prstClr val="black"/>
              </a:solidFill>
            </a:endParaRPr>
          </a:p>
        </p:txBody>
      </p:sp>
      <p:sp>
        <p:nvSpPr>
          <p:cNvPr id="7" name="灯片编号占位符 6">
            <a:extLst>
              <a:ext uri="{FF2B5EF4-FFF2-40B4-BE49-F238E27FC236}">
                <a16:creationId xmlns:a16="http://schemas.microsoft.com/office/drawing/2014/main" id="{97E080B7-C088-8B4E-B8CF-3281335EB402}"/>
              </a:ext>
            </a:extLst>
          </p:cNvPr>
          <p:cNvSpPr>
            <a:spLocks noGrp="1"/>
          </p:cNvSpPr>
          <p:nvPr>
            <p:ph type="sldNum" sz="quarter" idx="12"/>
          </p:nvPr>
        </p:nvSpPr>
        <p:spPr/>
        <p:txBody>
          <a:bodyPr/>
          <a:lstStyle/>
          <a:p>
            <a:fld id="{8D4D1E41-7A09-AB4A-A4E1-09765ADA2698}" type="slidenum">
              <a:rPr kumimoji="1" lang="zh-CN" altLang="en-US" smtClean="0"/>
              <a:t>37</a:t>
            </a:fld>
            <a:endParaRPr kumimoji="1" lang="zh-CN" altLang="en-US" dirty="0"/>
          </a:p>
        </p:txBody>
      </p:sp>
    </p:spTree>
    <p:extLst>
      <p:ext uri="{BB962C8B-B14F-4D97-AF65-F5344CB8AC3E}">
        <p14:creationId xmlns:p14="http://schemas.microsoft.com/office/powerpoint/2010/main" val="162869084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以太坊共识算法</a:t>
            </a:r>
            <a:r>
              <a:rPr lang="en-US" altLang="zh-CN" dirty="0"/>
              <a:t>Casper</a:t>
            </a:r>
            <a:r>
              <a:rPr lang="zh-CN" altLang="en-US" dirty="0"/>
              <a:t>（选学）</a:t>
            </a:r>
            <a:endParaRPr lang="en-US" altLang="zh-CN" dirty="0"/>
          </a:p>
        </p:txBody>
      </p:sp>
      <p:sp>
        <p:nvSpPr>
          <p:cNvPr id="3" name="内容占位符 2"/>
          <p:cNvSpPr>
            <a:spLocks noGrp="1"/>
          </p:cNvSpPr>
          <p:nvPr>
            <p:ph idx="1"/>
          </p:nvPr>
        </p:nvSpPr>
        <p:spPr>
          <a:xfrm>
            <a:off x="838200" y="1510758"/>
            <a:ext cx="10248899" cy="4845592"/>
          </a:xfrm>
        </p:spPr>
        <p:txBody>
          <a:bodyPr>
            <a:normAutofit/>
          </a:bodyPr>
          <a:lstStyle/>
          <a:p>
            <a:pPr lvl="0">
              <a:lnSpc>
                <a:spcPct val="130000"/>
              </a:lnSpc>
            </a:pPr>
            <a:r>
              <a:rPr lang="zh-CN" altLang="en-US" dirty="0">
                <a:solidFill>
                  <a:prstClr val="black"/>
                </a:solidFill>
              </a:rPr>
              <a:t>长程攻击</a:t>
            </a:r>
          </a:p>
          <a:p>
            <a:pPr lvl="1">
              <a:lnSpc>
                <a:spcPct val="130000"/>
              </a:lnSpc>
            </a:pPr>
            <a:r>
              <a:rPr lang="zh-CN" altLang="en-US" dirty="0">
                <a:solidFill>
                  <a:prstClr val="black"/>
                </a:solidFill>
              </a:rPr>
              <a:t>区块链矿工</a:t>
            </a:r>
            <a:r>
              <a:rPr lang="en-US" altLang="zh-CN" dirty="0">
                <a:solidFill>
                  <a:prstClr val="black"/>
                </a:solidFill>
              </a:rPr>
              <a:t>/</a:t>
            </a:r>
            <a:r>
              <a:rPr lang="zh-CN" altLang="en-US" dirty="0">
                <a:solidFill>
                  <a:prstClr val="black"/>
                </a:solidFill>
              </a:rPr>
              <a:t>验证者在退回抵押的权益后，从历史上的某个区块开始重写后续区块，由于矿工</a:t>
            </a:r>
            <a:r>
              <a:rPr lang="en-US" altLang="zh-CN" dirty="0">
                <a:solidFill>
                  <a:prstClr val="black"/>
                </a:solidFill>
              </a:rPr>
              <a:t>/</a:t>
            </a:r>
            <a:r>
              <a:rPr lang="zh-CN" altLang="en-US" dirty="0">
                <a:solidFill>
                  <a:prstClr val="black"/>
                </a:solidFill>
              </a:rPr>
              <a:t>验证者已经没有保证金，系统就不能对该攻击矿工</a:t>
            </a:r>
            <a:r>
              <a:rPr lang="en-US" altLang="zh-CN" dirty="0">
                <a:solidFill>
                  <a:prstClr val="black"/>
                </a:solidFill>
              </a:rPr>
              <a:t>/</a:t>
            </a:r>
            <a:r>
              <a:rPr lang="zh-CN" altLang="en-US" dirty="0">
                <a:solidFill>
                  <a:prstClr val="black"/>
                </a:solidFill>
              </a:rPr>
              <a:t>验证者进行惩罚</a:t>
            </a:r>
            <a:endParaRPr lang="en-US" altLang="zh-CN" dirty="0">
              <a:solidFill>
                <a:prstClr val="black"/>
              </a:solidFill>
            </a:endParaRPr>
          </a:p>
          <a:p>
            <a:pPr lvl="1">
              <a:lnSpc>
                <a:spcPct val="130000"/>
              </a:lnSpc>
            </a:pPr>
            <a:r>
              <a:rPr lang="zh-CN" altLang="en-US" dirty="0">
                <a:solidFill>
                  <a:prstClr val="black"/>
                </a:solidFill>
              </a:rPr>
              <a:t>新参与者需要咨询受信任节点以安全地冷启动，该方式被称为“主观依赖”（</a:t>
            </a:r>
            <a:r>
              <a:rPr lang="en-US" altLang="zh-CN" dirty="0">
                <a:solidFill>
                  <a:prstClr val="black"/>
                </a:solidFill>
              </a:rPr>
              <a:t>Weak Subjectivity</a:t>
            </a:r>
            <a:r>
              <a:rPr lang="zh-CN" altLang="en-US" dirty="0">
                <a:solidFill>
                  <a:prstClr val="black"/>
                </a:solidFill>
              </a:rPr>
              <a:t>）。当前该问题只能缓解而不能解决，可以被称为权益证明的达摩克利斯之剑</a:t>
            </a:r>
            <a:endParaRPr lang="en-US" altLang="zh-CN" dirty="0">
              <a:solidFill>
                <a:prstClr val="black"/>
              </a:solidFill>
            </a:endParaRPr>
          </a:p>
          <a:p>
            <a:pPr lvl="1">
              <a:lnSpc>
                <a:spcPct val="130000"/>
              </a:lnSpc>
            </a:pPr>
            <a:r>
              <a:rPr lang="zh-CN" altLang="en-US" dirty="0">
                <a:solidFill>
                  <a:prstClr val="black"/>
                </a:solidFill>
              </a:rPr>
              <a:t>工作量证明不会出现这个问题</a:t>
            </a:r>
            <a:endParaRPr lang="en-US" altLang="zh-CN" dirty="0">
              <a:solidFill>
                <a:prstClr val="black"/>
              </a:solidFill>
            </a:endParaRPr>
          </a:p>
        </p:txBody>
      </p:sp>
      <p:sp>
        <p:nvSpPr>
          <p:cNvPr id="7" name="灯片编号占位符 6">
            <a:extLst>
              <a:ext uri="{FF2B5EF4-FFF2-40B4-BE49-F238E27FC236}">
                <a16:creationId xmlns:a16="http://schemas.microsoft.com/office/drawing/2014/main" id="{97E080B7-C088-8B4E-B8CF-3281335EB402}"/>
              </a:ext>
            </a:extLst>
          </p:cNvPr>
          <p:cNvSpPr>
            <a:spLocks noGrp="1"/>
          </p:cNvSpPr>
          <p:nvPr>
            <p:ph type="sldNum" sz="quarter" idx="12"/>
          </p:nvPr>
        </p:nvSpPr>
        <p:spPr/>
        <p:txBody>
          <a:bodyPr/>
          <a:lstStyle/>
          <a:p>
            <a:fld id="{8D4D1E41-7A09-AB4A-A4E1-09765ADA2698}" type="slidenum">
              <a:rPr kumimoji="1" lang="zh-CN" altLang="en-US" smtClean="0"/>
              <a:t>38</a:t>
            </a:fld>
            <a:endParaRPr kumimoji="1" lang="zh-CN" altLang="en-US" dirty="0"/>
          </a:p>
        </p:txBody>
      </p:sp>
    </p:spTree>
    <p:extLst>
      <p:ext uri="{BB962C8B-B14F-4D97-AF65-F5344CB8AC3E}">
        <p14:creationId xmlns:p14="http://schemas.microsoft.com/office/powerpoint/2010/main" val="209937825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以太坊共识算法</a:t>
            </a:r>
            <a:r>
              <a:rPr lang="en-US" altLang="zh-CN" dirty="0"/>
              <a:t>Casper</a:t>
            </a:r>
            <a:r>
              <a:rPr lang="zh-CN" altLang="en-US" dirty="0"/>
              <a:t>（选学）</a:t>
            </a:r>
            <a:endParaRPr lang="en-US" altLang="zh-CN" dirty="0"/>
          </a:p>
        </p:txBody>
      </p:sp>
      <p:sp>
        <p:nvSpPr>
          <p:cNvPr id="3" name="内容占位符 2"/>
          <p:cNvSpPr>
            <a:spLocks noGrp="1"/>
          </p:cNvSpPr>
          <p:nvPr>
            <p:ph idx="1"/>
          </p:nvPr>
        </p:nvSpPr>
        <p:spPr>
          <a:xfrm>
            <a:off x="838201" y="1510758"/>
            <a:ext cx="3891454" cy="4845592"/>
          </a:xfrm>
        </p:spPr>
        <p:txBody>
          <a:bodyPr>
            <a:normAutofit lnSpcReduction="10000"/>
          </a:bodyPr>
          <a:lstStyle/>
          <a:p>
            <a:pPr lvl="0">
              <a:lnSpc>
                <a:spcPct val="130000"/>
              </a:lnSpc>
            </a:pPr>
            <a:r>
              <a:rPr lang="zh-CN" altLang="en-US" dirty="0">
                <a:solidFill>
                  <a:prstClr val="black"/>
                </a:solidFill>
              </a:rPr>
              <a:t>无利害关系</a:t>
            </a:r>
          </a:p>
          <a:p>
            <a:pPr lvl="1">
              <a:lnSpc>
                <a:spcPct val="130000"/>
              </a:lnSpc>
            </a:pPr>
            <a:r>
              <a:rPr lang="zh-CN" altLang="en-US" dirty="0">
                <a:solidFill>
                  <a:prstClr val="black"/>
                </a:solidFill>
              </a:rPr>
              <a:t>相对于工作量证明矿工的每份算力只能选择一个分叉进行投入，权益证明矿工的每份权益可以同时在所有的分叉上押宝</a:t>
            </a:r>
            <a:endParaRPr lang="en-US" altLang="zh-CN" dirty="0">
              <a:solidFill>
                <a:prstClr val="black"/>
              </a:solidFill>
            </a:endParaRPr>
          </a:p>
          <a:p>
            <a:pPr lvl="1">
              <a:lnSpc>
                <a:spcPct val="130000"/>
              </a:lnSpc>
            </a:pPr>
            <a:r>
              <a:rPr lang="zh-CN" altLang="en-US" dirty="0">
                <a:solidFill>
                  <a:prstClr val="black"/>
                </a:solidFill>
              </a:rPr>
              <a:t>导致权益证明区块链长时间维持分叉的状态</a:t>
            </a:r>
            <a:endParaRPr lang="en-US" altLang="zh-CN" dirty="0">
              <a:solidFill>
                <a:prstClr val="black"/>
              </a:solidFill>
            </a:endParaRPr>
          </a:p>
        </p:txBody>
      </p:sp>
      <p:sp>
        <p:nvSpPr>
          <p:cNvPr id="7" name="灯片编号占位符 6">
            <a:extLst>
              <a:ext uri="{FF2B5EF4-FFF2-40B4-BE49-F238E27FC236}">
                <a16:creationId xmlns:a16="http://schemas.microsoft.com/office/drawing/2014/main" id="{97E080B7-C088-8B4E-B8CF-3281335EB402}"/>
              </a:ext>
            </a:extLst>
          </p:cNvPr>
          <p:cNvSpPr>
            <a:spLocks noGrp="1"/>
          </p:cNvSpPr>
          <p:nvPr>
            <p:ph type="sldNum" sz="quarter" idx="12"/>
          </p:nvPr>
        </p:nvSpPr>
        <p:spPr/>
        <p:txBody>
          <a:bodyPr/>
          <a:lstStyle/>
          <a:p>
            <a:fld id="{8D4D1E41-7A09-AB4A-A4E1-09765ADA2698}" type="slidenum">
              <a:rPr kumimoji="1" lang="zh-CN" altLang="en-US" smtClean="0"/>
              <a:t>39</a:t>
            </a:fld>
            <a:endParaRPr kumimoji="1" lang="zh-CN" altLang="en-US" dirty="0"/>
          </a:p>
        </p:txBody>
      </p:sp>
      <p:pic>
        <p:nvPicPr>
          <p:cNvPr id="5" name="图片 4"/>
          <p:cNvPicPr/>
          <p:nvPr/>
        </p:nvPicPr>
        <p:blipFill>
          <a:blip r:embed="rId3"/>
          <a:stretch>
            <a:fillRect/>
          </a:stretch>
        </p:blipFill>
        <p:spPr>
          <a:xfrm>
            <a:off x="5705221" y="1656371"/>
            <a:ext cx="4862195" cy="1934210"/>
          </a:xfrm>
          <a:prstGeom prst="rect">
            <a:avLst/>
          </a:prstGeom>
        </p:spPr>
      </p:pic>
      <p:pic>
        <p:nvPicPr>
          <p:cNvPr id="6" name="图片 5"/>
          <p:cNvPicPr/>
          <p:nvPr/>
        </p:nvPicPr>
        <p:blipFill>
          <a:blip r:embed="rId4"/>
          <a:stretch>
            <a:fillRect/>
          </a:stretch>
        </p:blipFill>
        <p:spPr>
          <a:xfrm>
            <a:off x="5590922" y="3967436"/>
            <a:ext cx="5090795" cy="1976755"/>
          </a:xfrm>
          <a:prstGeom prst="rect">
            <a:avLst/>
          </a:prstGeom>
        </p:spPr>
      </p:pic>
    </p:spTree>
    <p:extLst>
      <p:ext uri="{BB962C8B-B14F-4D97-AF65-F5344CB8AC3E}">
        <p14:creationId xmlns:p14="http://schemas.microsoft.com/office/powerpoint/2010/main" val="17972055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以太坊共识算法</a:t>
            </a:r>
            <a:r>
              <a:rPr lang="en-US" altLang="zh-CN" dirty="0"/>
              <a:t>Casper</a:t>
            </a:r>
            <a:r>
              <a:rPr lang="zh-CN" altLang="en-US" dirty="0"/>
              <a:t>（选学）</a:t>
            </a:r>
            <a:endParaRPr lang="en-US" altLang="zh-CN" dirty="0"/>
          </a:p>
        </p:txBody>
      </p:sp>
      <p:sp>
        <p:nvSpPr>
          <p:cNvPr id="3" name="内容占位符 2"/>
          <p:cNvSpPr>
            <a:spLocks noGrp="1"/>
          </p:cNvSpPr>
          <p:nvPr>
            <p:ph idx="1"/>
          </p:nvPr>
        </p:nvSpPr>
        <p:spPr>
          <a:xfrm>
            <a:off x="838200" y="1510758"/>
            <a:ext cx="10248899" cy="4845592"/>
          </a:xfrm>
        </p:spPr>
        <p:txBody>
          <a:bodyPr>
            <a:normAutofit/>
          </a:bodyPr>
          <a:lstStyle/>
          <a:p>
            <a:pPr lvl="0">
              <a:lnSpc>
                <a:spcPct val="130000"/>
              </a:lnSpc>
            </a:pPr>
            <a:r>
              <a:rPr lang="en-US" altLang="zh-CN" dirty="0">
                <a:solidFill>
                  <a:prstClr val="black"/>
                </a:solidFill>
              </a:rPr>
              <a:t>Casper FFG</a:t>
            </a:r>
            <a:endParaRPr lang="zh-CN" altLang="en-US" dirty="0">
              <a:solidFill>
                <a:prstClr val="black"/>
              </a:solidFill>
            </a:endParaRPr>
          </a:p>
          <a:p>
            <a:pPr lvl="1">
              <a:lnSpc>
                <a:spcPct val="130000"/>
              </a:lnSpc>
            </a:pPr>
            <a:r>
              <a:rPr lang="zh-CN" altLang="en-US" dirty="0">
                <a:solidFill>
                  <a:prstClr val="black"/>
                </a:solidFill>
              </a:rPr>
              <a:t>拜占庭容错（</a:t>
            </a:r>
            <a:r>
              <a:rPr lang="en-US" altLang="zh-CN" dirty="0">
                <a:solidFill>
                  <a:prstClr val="black"/>
                </a:solidFill>
              </a:rPr>
              <a:t>BFT</a:t>
            </a:r>
            <a:r>
              <a:rPr lang="zh-CN" altLang="en-US" dirty="0">
                <a:solidFill>
                  <a:prstClr val="black"/>
                </a:solidFill>
              </a:rPr>
              <a:t>）风格的权益证明，其目前容错率为</a:t>
            </a:r>
            <a:r>
              <a:rPr lang="en-US" altLang="zh-CN" dirty="0">
                <a:solidFill>
                  <a:prstClr val="black"/>
                </a:solidFill>
              </a:rPr>
              <a:t>1/3</a:t>
            </a:r>
          </a:p>
          <a:p>
            <a:pPr lvl="1">
              <a:lnSpc>
                <a:spcPct val="130000"/>
              </a:lnSpc>
            </a:pPr>
            <a:r>
              <a:rPr lang="zh-CN" altLang="en-US" dirty="0">
                <a:solidFill>
                  <a:prstClr val="black"/>
                </a:solidFill>
              </a:rPr>
              <a:t>针对长程攻击，</a:t>
            </a:r>
            <a:r>
              <a:rPr lang="en-US" altLang="zh-CN" dirty="0">
                <a:solidFill>
                  <a:prstClr val="black"/>
                </a:solidFill>
              </a:rPr>
              <a:t>Casper FFG</a:t>
            </a:r>
            <a:r>
              <a:rPr lang="zh-CN" altLang="en-US" dirty="0">
                <a:solidFill>
                  <a:prstClr val="black"/>
                </a:solidFill>
              </a:rPr>
              <a:t>要求验证者在离开验证者集合拿回抵押的保证金前必须要经过一个解冻期以符合同步的前提，比如四个月</a:t>
            </a:r>
            <a:endParaRPr lang="en-US" altLang="zh-CN" dirty="0">
              <a:solidFill>
                <a:prstClr val="black"/>
              </a:solidFill>
            </a:endParaRPr>
          </a:p>
          <a:p>
            <a:pPr lvl="1">
              <a:lnSpc>
                <a:spcPct val="130000"/>
              </a:lnSpc>
            </a:pPr>
            <a:r>
              <a:rPr lang="zh-CN" altLang="en-US" dirty="0">
                <a:solidFill>
                  <a:prstClr val="black"/>
                </a:solidFill>
              </a:rPr>
              <a:t>只算缓解了长程攻击的问题，并不能解决</a:t>
            </a:r>
            <a:endParaRPr lang="en-US" altLang="zh-CN" dirty="0">
              <a:solidFill>
                <a:prstClr val="black"/>
              </a:solidFill>
            </a:endParaRPr>
          </a:p>
          <a:p>
            <a:pPr lvl="1">
              <a:lnSpc>
                <a:spcPct val="130000"/>
              </a:lnSpc>
            </a:pPr>
            <a:r>
              <a:rPr lang="zh-CN" altLang="en-US" dirty="0">
                <a:solidFill>
                  <a:prstClr val="black"/>
                </a:solidFill>
              </a:rPr>
              <a:t>保证金的引入解决了无利害关系的问题：同时支持两个互不兼容的分叉时，系统会对恶意投票者的保证金进行划扣</a:t>
            </a:r>
            <a:endParaRPr lang="en-US" altLang="zh-CN" dirty="0">
              <a:solidFill>
                <a:prstClr val="black"/>
              </a:solidFill>
            </a:endParaRPr>
          </a:p>
        </p:txBody>
      </p:sp>
      <p:sp>
        <p:nvSpPr>
          <p:cNvPr id="7" name="灯片编号占位符 6">
            <a:extLst>
              <a:ext uri="{FF2B5EF4-FFF2-40B4-BE49-F238E27FC236}">
                <a16:creationId xmlns:a16="http://schemas.microsoft.com/office/drawing/2014/main" id="{97E080B7-C088-8B4E-B8CF-3281335EB402}"/>
              </a:ext>
            </a:extLst>
          </p:cNvPr>
          <p:cNvSpPr>
            <a:spLocks noGrp="1"/>
          </p:cNvSpPr>
          <p:nvPr>
            <p:ph type="sldNum" sz="quarter" idx="12"/>
          </p:nvPr>
        </p:nvSpPr>
        <p:spPr/>
        <p:txBody>
          <a:bodyPr/>
          <a:lstStyle/>
          <a:p>
            <a:fld id="{8D4D1E41-7A09-AB4A-A4E1-09765ADA2698}" type="slidenum">
              <a:rPr kumimoji="1" lang="zh-CN" altLang="en-US" smtClean="0"/>
              <a:t>40</a:t>
            </a:fld>
            <a:endParaRPr kumimoji="1" lang="zh-CN" altLang="en-US" dirty="0"/>
          </a:p>
        </p:txBody>
      </p:sp>
    </p:spTree>
    <p:extLst>
      <p:ext uri="{BB962C8B-B14F-4D97-AF65-F5344CB8AC3E}">
        <p14:creationId xmlns:p14="http://schemas.microsoft.com/office/powerpoint/2010/main" val="410331152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EOSIO</a:t>
            </a:r>
            <a:r>
              <a:rPr lang="zh-CN" altLang="en-US" dirty="0"/>
              <a:t>共识算法</a:t>
            </a:r>
            <a:r>
              <a:rPr lang="en-US" altLang="zh-CN" dirty="0"/>
              <a:t>BFT-</a:t>
            </a:r>
            <a:r>
              <a:rPr lang="en-US" altLang="zh-CN" dirty="0" err="1"/>
              <a:t>DPoS</a:t>
            </a:r>
            <a:r>
              <a:rPr lang="zh-CN" altLang="en-US" dirty="0"/>
              <a:t>（选学）</a:t>
            </a:r>
            <a:endParaRPr lang="en-US" altLang="zh-CN" dirty="0"/>
          </a:p>
        </p:txBody>
      </p:sp>
      <p:sp>
        <p:nvSpPr>
          <p:cNvPr id="3" name="内容占位符 2"/>
          <p:cNvSpPr>
            <a:spLocks noGrp="1"/>
          </p:cNvSpPr>
          <p:nvPr>
            <p:ph idx="1"/>
          </p:nvPr>
        </p:nvSpPr>
        <p:spPr>
          <a:xfrm>
            <a:off x="838200" y="1510758"/>
            <a:ext cx="10248899" cy="4845592"/>
          </a:xfrm>
        </p:spPr>
        <p:txBody>
          <a:bodyPr>
            <a:normAutofit fontScale="92500" lnSpcReduction="10000"/>
          </a:bodyPr>
          <a:lstStyle/>
          <a:p>
            <a:pPr lvl="0">
              <a:lnSpc>
                <a:spcPct val="130000"/>
              </a:lnSpc>
            </a:pPr>
            <a:r>
              <a:rPr lang="zh-CN" altLang="en-US" dirty="0">
                <a:solidFill>
                  <a:prstClr val="black"/>
                </a:solidFill>
              </a:rPr>
              <a:t>委托权益证明（</a:t>
            </a:r>
            <a:r>
              <a:rPr lang="en-US" altLang="zh-CN" dirty="0">
                <a:solidFill>
                  <a:prstClr val="black"/>
                </a:solidFill>
              </a:rPr>
              <a:t>Delegated Proof of Stake</a:t>
            </a:r>
            <a:r>
              <a:rPr lang="zh-CN" altLang="en-US" dirty="0">
                <a:solidFill>
                  <a:prstClr val="black"/>
                </a:solidFill>
              </a:rPr>
              <a:t>，</a:t>
            </a:r>
            <a:r>
              <a:rPr lang="en-US" altLang="zh-CN" dirty="0" err="1">
                <a:solidFill>
                  <a:prstClr val="black"/>
                </a:solidFill>
              </a:rPr>
              <a:t>DPoS</a:t>
            </a:r>
            <a:r>
              <a:rPr lang="zh-CN" altLang="en-US" dirty="0">
                <a:solidFill>
                  <a:prstClr val="black"/>
                </a:solidFill>
              </a:rPr>
              <a:t>）</a:t>
            </a:r>
          </a:p>
          <a:p>
            <a:pPr lvl="1">
              <a:lnSpc>
                <a:spcPct val="130000"/>
              </a:lnSpc>
            </a:pPr>
            <a:r>
              <a:rPr lang="zh-CN" altLang="en-US" dirty="0">
                <a:solidFill>
                  <a:prstClr val="black"/>
                </a:solidFill>
              </a:rPr>
              <a:t>委托权益证明在成千上万个</a:t>
            </a:r>
            <a:r>
              <a:rPr lang="en-US" altLang="zh-CN" dirty="0" err="1">
                <a:solidFill>
                  <a:prstClr val="black"/>
                </a:solidFill>
              </a:rPr>
              <a:t>PoS</a:t>
            </a:r>
            <a:r>
              <a:rPr lang="zh-CN" altLang="en-US" dirty="0">
                <a:solidFill>
                  <a:prstClr val="black"/>
                </a:solidFill>
              </a:rPr>
              <a:t>节点中，通过某种机制（例如持有代币的数量）选举出若干（奇数个）代表节点，进而在这几个代表节点之间进行投票选举出新区块的创建者</a:t>
            </a:r>
            <a:endParaRPr lang="en-US" altLang="zh-CN" dirty="0">
              <a:solidFill>
                <a:prstClr val="black"/>
              </a:solidFill>
            </a:endParaRPr>
          </a:p>
          <a:p>
            <a:pPr lvl="1">
              <a:lnSpc>
                <a:spcPct val="130000"/>
              </a:lnSpc>
            </a:pPr>
            <a:r>
              <a:rPr lang="zh-CN" altLang="en-US" dirty="0">
                <a:solidFill>
                  <a:prstClr val="black"/>
                </a:solidFill>
              </a:rPr>
              <a:t>大幅度提升选举效率</a:t>
            </a:r>
            <a:endParaRPr lang="en-US" altLang="zh-CN" dirty="0">
              <a:solidFill>
                <a:prstClr val="black"/>
              </a:solidFill>
            </a:endParaRPr>
          </a:p>
          <a:p>
            <a:pPr lvl="0">
              <a:lnSpc>
                <a:spcPct val="130000"/>
              </a:lnSpc>
            </a:pPr>
            <a:r>
              <a:rPr lang="en-US" altLang="zh-CN" dirty="0">
                <a:solidFill>
                  <a:prstClr val="black"/>
                </a:solidFill>
              </a:rPr>
              <a:t>BFT-</a:t>
            </a:r>
            <a:r>
              <a:rPr lang="en-US" altLang="zh-CN" dirty="0" err="1">
                <a:solidFill>
                  <a:prstClr val="black"/>
                </a:solidFill>
              </a:rPr>
              <a:t>DPoS</a:t>
            </a:r>
            <a:endParaRPr lang="zh-CN" altLang="en-US" dirty="0">
              <a:solidFill>
                <a:prstClr val="black"/>
              </a:solidFill>
            </a:endParaRPr>
          </a:p>
          <a:p>
            <a:pPr lvl="1">
              <a:lnSpc>
                <a:spcPct val="130000"/>
              </a:lnSpc>
            </a:pPr>
            <a:r>
              <a:rPr lang="zh-CN" altLang="en-US" dirty="0">
                <a:solidFill>
                  <a:prstClr val="black"/>
                </a:solidFill>
              </a:rPr>
              <a:t>为了缩短传统的</a:t>
            </a:r>
            <a:r>
              <a:rPr lang="en-US" altLang="zh-CN" dirty="0" err="1">
                <a:solidFill>
                  <a:prstClr val="black"/>
                </a:solidFill>
              </a:rPr>
              <a:t>DPoS</a:t>
            </a:r>
            <a:r>
              <a:rPr lang="zh-CN" altLang="en-US" dirty="0">
                <a:solidFill>
                  <a:prstClr val="black"/>
                </a:solidFill>
              </a:rPr>
              <a:t>的交易确认时间（</a:t>
            </a:r>
            <a:r>
              <a:rPr lang="en-US" altLang="zh-CN" dirty="0">
                <a:solidFill>
                  <a:prstClr val="black"/>
                </a:solidFill>
              </a:rPr>
              <a:t>45</a:t>
            </a:r>
            <a:r>
              <a:rPr lang="zh-CN" altLang="en-US" dirty="0">
                <a:solidFill>
                  <a:prstClr val="black"/>
                </a:solidFill>
              </a:rPr>
              <a:t>秒），</a:t>
            </a:r>
            <a:r>
              <a:rPr lang="en-US" altLang="zh-CN" dirty="0">
                <a:solidFill>
                  <a:prstClr val="black"/>
                </a:solidFill>
              </a:rPr>
              <a:t>EOSIO</a:t>
            </a:r>
            <a:r>
              <a:rPr lang="zh-CN" altLang="en-US" dirty="0">
                <a:solidFill>
                  <a:prstClr val="black"/>
                </a:solidFill>
              </a:rPr>
              <a:t>借鉴</a:t>
            </a:r>
            <a:r>
              <a:rPr lang="en-US" altLang="zh-CN" dirty="0">
                <a:solidFill>
                  <a:prstClr val="black"/>
                </a:solidFill>
              </a:rPr>
              <a:t>PBFT</a:t>
            </a:r>
            <a:r>
              <a:rPr lang="zh-CN" altLang="en-US" dirty="0">
                <a:solidFill>
                  <a:prstClr val="black"/>
                </a:solidFill>
              </a:rPr>
              <a:t>共识机制的思想进行改进，从 </a:t>
            </a:r>
            <a:r>
              <a:rPr lang="en-US" altLang="zh-CN" dirty="0">
                <a:solidFill>
                  <a:prstClr val="black"/>
                </a:solidFill>
              </a:rPr>
              <a:t>45 </a:t>
            </a:r>
            <a:r>
              <a:rPr lang="zh-CN" altLang="en-US" dirty="0">
                <a:solidFill>
                  <a:prstClr val="black"/>
                </a:solidFill>
              </a:rPr>
              <a:t>秒缩短至</a:t>
            </a:r>
            <a:r>
              <a:rPr lang="en-US" altLang="zh-CN" dirty="0">
                <a:solidFill>
                  <a:prstClr val="black"/>
                </a:solidFill>
              </a:rPr>
              <a:t>3 </a:t>
            </a:r>
            <a:r>
              <a:rPr lang="zh-CN" altLang="en-US" dirty="0">
                <a:solidFill>
                  <a:prstClr val="black"/>
                </a:solidFill>
              </a:rPr>
              <a:t>秒左右</a:t>
            </a:r>
            <a:endParaRPr lang="en-US" altLang="zh-CN" dirty="0">
              <a:solidFill>
                <a:prstClr val="black"/>
              </a:solidFill>
            </a:endParaRPr>
          </a:p>
          <a:p>
            <a:pPr lvl="1">
              <a:lnSpc>
                <a:spcPct val="130000"/>
              </a:lnSpc>
            </a:pPr>
            <a:r>
              <a:rPr lang="zh-CN" altLang="en-US" dirty="0">
                <a:solidFill>
                  <a:prstClr val="black"/>
                </a:solidFill>
              </a:rPr>
              <a:t>为了挖掘更高的性能，</a:t>
            </a:r>
            <a:r>
              <a:rPr lang="en-US" altLang="zh-CN" dirty="0">
                <a:solidFill>
                  <a:prstClr val="black"/>
                </a:solidFill>
              </a:rPr>
              <a:t>EOSIO</a:t>
            </a:r>
            <a:r>
              <a:rPr lang="zh-CN" altLang="en-US" dirty="0">
                <a:solidFill>
                  <a:prstClr val="black"/>
                </a:solidFill>
              </a:rPr>
              <a:t>在初级版</a:t>
            </a:r>
            <a:r>
              <a:rPr lang="en-US" altLang="zh-CN" dirty="0">
                <a:solidFill>
                  <a:prstClr val="black"/>
                </a:solidFill>
              </a:rPr>
              <a:t>BFT-</a:t>
            </a:r>
            <a:r>
              <a:rPr lang="en-US" altLang="zh-CN" dirty="0" err="1">
                <a:solidFill>
                  <a:prstClr val="black"/>
                </a:solidFill>
              </a:rPr>
              <a:t>DPoS</a:t>
            </a:r>
            <a:r>
              <a:rPr lang="zh-CN" altLang="en-US" dirty="0">
                <a:solidFill>
                  <a:prstClr val="black"/>
                </a:solidFill>
              </a:rPr>
              <a:t>共识机制的基础上又进行了修改，将出块速度从之前的</a:t>
            </a:r>
            <a:r>
              <a:rPr lang="en-US" altLang="zh-CN" dirty="0">
                <a:solidFill>
                  <a:prstClr val="black"/>
                </a:solidFill>
              </a:rPr>
              <a:t>3</a:t>
            </a:r>
            <a:r>
              <a:rPr lang="zh-CN" altLang="en-US" dirty="0">
                <a:solidFill>
                  <a:prstClr val="black"/>
                </a:solidFill>
              </a:rPr>
              <a:t>秒缩短至</a:t>
            </a:r>
            <a:r>
              <a:rPr lang="en-US" altLang="zh-CN" dirty="0">
                <a:solidFill>
                  <a:prstClr val="black"/>
                </a:solidFill>
              </a:rPr>
              <a:t>0.5</a:t>
            </a:r>
            <a:r>
              <a:rPr lang="zh-CN" altLang="en-US" dirty="0">
                <a:solidFill>
                  <a:prstClr val="black"/>
                </a:solidFill>
              </a:rPr>
              <a:t>秒</a:t>
            </a:r>
            <a:endParaRPr lang="en-US" altLang="zh-CN" dirty="0">
              <a:solidFill>
                <a:prstClr val="black"/>
              </a:solidFill>
            </a:endParaRPr>
          </a:p>
        </p:txBody>
      </p:sp>
      <p:sp>
        <p:nvSpPr>
          <p:cNvPr id="7" name="灯片编号占位符 6">
            <a:extLst>
              <a:ext uri="{FF2B5EF4-FFF2-40B4-BE49-F238E27FC236}">
                <a16:creationId xmlns:a16="http://schemas.microsoft.com/office/drawing/2014/main" id="{97E080B7-C088-8B4E-B8CF-3281335EB402}"/>
              </a:ext>
            </a:extLst>
          </p:cNvPr>
          <p:cNvSpPr>
            <a:spLocks noGrp="1"/>
          </p:cNvSpPr>
          <p:nvPr>
            <p:ph type="sldNum" sz="quarter" idx="12"/>
          </p:nvPr>
        </p:nvSpPr>
        <p:spPr/>
        <p:txBody>
          <a:bodyPr/>
          <a:lstStyle/>
          <a:p>
            <a:fld id="{8D4D1E41-7A09-AB4A-A4E1-09765ADA2698}" type="slidenum">
              <a:rPr kumimoji="1" lang="zh-CN" altLang="en-US" smtClean="0"/>
              <a:t>41</a:t>
            </a:fld>
            <a:endParaRPr kumimoji="1" lang="zh-CN" altLang="en-US" dirty="0"/>
          </a:p>
        </p:txBody>
      </p:sp>
    </p:spTree>
    <p:extLst>
      <p:ext uri="{BB962C8B-B14F-4D97-AF65-F5344CB8AC3E}">
        <p14:creationId xmlns:p14="http://schemas.microsoft.com/office/powerpoint/2010/main" val="283669638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Monoxide</a:t>
            </a:r>
            <a:r>
              <a:rPr lang="zh-CN" altLang="en-US" dirty="0"/>
              <a:t>（选学）</a:t>
            </a:r>
            <a:endParaRPr lang="en-US" altLang="zh-CN" dirty="0"/>
          </a:p>
        </p:txBody>
      </p:sp>
      <p:sp>
        <p:nvSpPr>
          <p:cNvPr id="3" name="内容占位符 2"/>
          <p:cNvSpPr>
            <a:spLocks noGrp="1"/>
          </p:cNvSpPr>
          <p:nvPr>
            <p:ph idx="1"/>
          </p:nvPr>
        </p:nvSpPr>
        <p:spPr>
          <a:xfrm>
            <a:off x="838200" y="1510758"/>
            <a:ext cx="10248899" cy="4845592"/>
          </a:xfrm>
        </p:spPr>
        <p:txBody>
          <a:bodyPr>
            <a:normAutofit fontScale="92500" lnSpcReduction="10000"/>
          </a:bodyPr>
          <a:lstStyle/>
          <a:p>
            <a:pPr lvl="0">
              <a:lnSpc>
                <a:spcPct val="130000"/>
              </a:lnSpc>
            </a:pPr>
            <a:r>
              <a:rPr lang="en-US" altLang="zh-CN" dirty="0">
                <a:solidFill>
                  <a:prstClr val="black"/>
                </a:solidFill>
              </a:rPr>
              <a:t>Monoxide</a:t>
            </a:r>
            <a:endParaRPr lang="zh-CN" altLang="en-US" dirty="0">
              <a:solidFill>
                <a:prstClr val="black"/>
              </a:solidFill>
            </a:endParaRPr>
          </a:p>
          <a:p>
            <a:pPr lvl="1">
              <a:lnSpc>
                <a:spcPct val="130000"/>
              </a:lnSpc>
            </a:pPr>
            <a:r>
              <a:rPr lang="en-US" altLang="zh-CN" dirty="0">
                <a:solidFill>
                  <a:prstClr val="black"/>
                </a:solidFill>
              </a:rPr>
              <a:t>"Monoxide: Scale Out </a:t>
            </a:r>
            <a:r>
              <a:rPr lang="en-US" altLang="zh-CN" dirty="0" err="1">
                <a:solidFill>
                  <a:prstClr val="black"/>
                </a:solidFill>
              </a:rPr>
              <a:t>Blockchain</a:t>
            </a:r>
            <a:r>
              <a:rPr lang="en-US" altLang="zh-CN" dirty="0">
                <a:solidFill>
                  <a:prstClr val="black"/>
                </a:solidFill>
              </a:rPr>
              <a:t> with </a:t>
            </a:r>
            <a:r>
              <a:rPr lang="en-US" altLang="zh-CN" dirty="0" err="1">
                <a:solidFill>
                  <a:prstClr val="black"/>
                </a:solidFill>
              </a:rPr>
              <a:t>AsynchronizedConsensus</a:t>
            </a:r>
            <a:r>
              <a:rPr lang="en-US" altLang="zh-CN" dirty="0">
                <a:solidFill>
                  <a:prstClr val="black"/>
                </a:solidFill>
              </a:rPr>
              <a:t> Zones"</a:t>
            </a:r>
            <a:r>
              <a:rPr lang="zh-CN" altLang="en-US" dirty="0">
                <a:solidFill>
                  <a:prstClr val="black"/>
                </a:solidFill>
              </a:rPr>
              <a:t>，</a:t>
            </a:r>
            <a:r>
              <a:rPr lang="en-US" altLang="zh-CN" dirty="0">
                <a:solidFill>
                  <a:prstClr val="black"/>
                </a:solidFill>
              </a:rPr>
              <a:t>2019</a:t>
            </a:r>
            <a:r>
              <a:rPr lang="zh-CN" altLang="en-US" dirty="0">
                <a:solidFill>
                  <a:prstClr val="black"/>
                </a:solidFill>
              </a:rPr>
              <a:t>年由计算机网络顶级学术会议 </a:t>
            </a:r>
            <a:r>
              <a:rPr lang="en-US" altLang="zh-CN" dirty="0">
                <a:solidFill>
                  <a:prstClr val="black"/>
                </a:solidFill>
              </a:rPr>
              <a:t>NSDI</a:t>
            </a:r>
            <a:r>
              <a:rPr lang="zh-CN" altLang="en-US" dirty="0">
                <a:solidFill>
                  <a:prstClr val="black"/>
                </a:solidFill>
              </a:rPr>
              <a:t>所接收</a:t>
            </a:r>
            <a:endParaRPr lang="en-US" altLang="zh-CN" dirty="0">
              <a:solidFill>
                <a:prstClr val="black"/>
              </a:solidFill>
            </a:endParaRPr>
          </a:p>
          <a:p>
            <a:pPr lvl="1">
              <a:lnSpc>
                <a:spcPct val="130000"/>
              </a:lnSpc>
            </a:pPr>
            <a:r>
              <a:rPr lang="zh-CN" altLang="en-US" dirty="0">
                <a:solidFill>
                  <a:prstClr val="black"/>
                </a:solidFill>
              </a:rPr>
              <a:t>利用分片的思想把区块链划分为多个共识组以提升区块链的可扩展性</a:t>
            </a:r>
            <a:endParaRPr lang="en-US" altLang="zh-CN" dirty="0">
              <a:solidFill>
                <a:prstClr val="black"/>
              </a:solidFill>
            </a:endParaRPr>
          </a:p>
          <a:p>
            <a:pPr lvl="1">
              <a:lnSpc>
                <a:spcPct val="130000"/>
              </a:lnSpc>
            </a:pPr>
            <a:r>
              <a:rPr lang="zh-CN" altLang="en-US" dirty="0">
                <a:solidFill>
                  <a:prstClr val="black"/>
                </a:solidFill>
              </a:rPr>
              <a:t>单一系统分割成一定程度上独立的</a:t>
            </a:r>
            <a:r>
              <a:rPr lang="en-US" altLang="zh-CN" dirty="0">
                <a:solidFill>
                  <a:prstClr val="black"/>
                </a:solidFill>
              </a:rPr>
              <a:t>N</a:t>
            </a:r>
            <a:r>
              <a:rPr lang="zh-CN" altLang="en-US" dirty="0">
                <a:solidFill>
                  <a:prstClr val="black"/>
                </a:solidFill>
              </a:rPr>
              <a:t>个共识组子系统，以线性地提升整个系统的交易处理速度与吞吐量</a:t>
            </a:r>
            <a:endParaRPr lang="en-US" altLang="zh-CN" dirty="0">
              <a:solidFill>
                <a:prstClr val="black"/>
              </a:solidFill>
            </a:endParaRPr>
          </a:p>
          <a:p>
            <a:pPr lvl="1">
              <a:lnSpc>
                <a:spcPct val="130000"/>
              </a:lnSpc>
            </a:pPr>
            <a:r>
              <a:rPr lang="zh-CN" altLang="en-US" dirty="0">
                <a:solidFill>
                  <a:prstClr val="black"/>
                </a:solidFill>
              </a:rPr>
              <a:t>交易的吞吐量及</a:t>
            </a:r>
            <a:r>
              <a:rPr lang="en-US" altLang="zh-CN" dirty="0">
                <a:solidFill>
                  <a:prstClr val="black"/>
                </a:solidFill>
              </a:rPr>
              <a:t>TPS</a:t>
            </a:r>
            <a:r>
              <a:rPr lang="zh-CN" altLang="en-US" dirty="0">
                <a:solidFill>
                  <a:prstClr val="black"/>
                </a:solidFill>
              </a:rPr>
              <a:t>约为原来的</a:t>
            </a:r>
            <a:r>
              <a:rPr lang="en-US" altLang="zh-CN" dirty="0">
                <a:solidFill>
                  <a:prstClr val="black"/>
                </a:solidFill>
              </a:rPr>
              <a:t>N</a:t>
            </a:r>
            <a:r>
              <a:rPr lang="zh-CN" altLang="en-US" dirty="0">
                <a:solidFill>
                  <a:prstClr val="black"/>
                </a:solidFill>
              </a:rPr>
              <a:t>倍</a:t>
            </a:r>
            <a:endParaRPr lang="en-US" altLang="zh-CN" dirty="0">
              <a:solidFill>
                <a:prstClr val="black"/>
              </a:solidFill>
            </a:endParaRPr>
          </a:p>
          <a:p>
            <a:pPr lvl="1">
              <a:lnSpc>
                <a:spcPct val="130000"/>
              </a:lnSpc>
            </a:pPr>
            <a:r>
              <a:rPr lang="zh-CN" altLang="en-US" dirty="0">
                <a:solidFill>
                  <a:prstClr val="black"/>
                </a:solidFill>
              </a:rPr>
              <a:t>在连弩挖矿这种模式下，矿工算力不会稀释到多个共识组上，使得攻击者集中算力去攻击单个共识组也不能获得优势</a:t>
            </a:r>
            <a:endParaRPr lang="en-US" altLang="zh-CN" dirty="0">
              <a:solidFill>
                <a:prstClr val="black"/>
              </a:solidFill>
            </a:endParaRPr>
          </a:p>
          <a:p>
            <a:pPr lvl="1">
              <a:lnSpc>
                <a:spcPct val="130000"/>
              </a:lnSpc>
            </a:pPr>
            <a:r>
              <a:rPr lang="zh-CN" altLang="en-US" dirty="0">
                <a:solidFill>
                  <a:prstClr val="black"/>
                </a:solidFill>
              </a:rPr>
              <a:t>连弩挖矿会带来潜在的中心化问题</a:t>
            </a:r>
            <a:endParaRPr lang="en-US" altLang="zh-CN" dirty="0">
              <a:solidFill>
                <a:prstClr val="black"/>
              </a:solidFill>
            </a:endParaRPr>
          </a:p>
        </p:txBody>
      </p:sp>
      <p:sp>
        <p:nvSpPr>
          <p:cNvPr id="7" name="灯片编号占位符 6">
            <a:extLst>
              <a:ext uri="{FF2B5EF4-FFF2-40B4-BE49-F238E27FC236}">
                <a16:creationId xmlns:a16="http://schemas.microsoft.com/office/drawing/2014/main" id="{97E080B7-C088-8B4E-B8CF-3281335EB402}"/>
              </a:ext>
            </a:extLst>
          </p:cNvPr>
          <p:cNvSpPr>
            <a:spLocks noGrp="1"/>
          </p:cNvSpPr>
          <p:nvPr>
            <p:ph type="sldNum" sz="quarter" idx="12"/>
          </p:nvPr>
        </p:nvSpPr>
        <p:spPr/>
        <p:txBody>
          <a:bodyPr/>
          <a:lstStyle/>
          <a:p>
            <a:fld id="{8D4D1E41-7A09-AB4A-A4E1-09765ADA2698}" type="slidenum">
              <a:rPr kumimoji="1" lang="zh-CN" altLang="en-US" smtClean="0"/>
              <a:t>42</a:t>
            </a:fld>
            <a:endParaRPr kumimoji="1" lang="zh-CN" altLang="en-US" dirty="0"/>
          </a:p>
        </p:txBody>
      </p:sp>
    </p:spTree>
    <p:extLst>
      <p:ext uri="{BB962C8B-B14F-4D97-AF65-F5344CB8AC3E}">
        <p14:creationId xmlns:p14="http://schemas.microsoft.com/office/powerpoint/2010/main" val="159270399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7EFC88-15A8-8F47-A008-BBB6B0BEC7A2}"/>
              </a:ext>
            </a:extLst>
          </p:cNvPr>
          <p:cNvSpPr>
            <a:spLocks noGrp="1"/>
          </p:cNvSpPr>
          <p:nvPr>
            <p:ph type="title"/>
          </p:nvPr>
        </p:nvSpPr>
        <p:spPr/>
        <p:txBody>
          <a:bodyPr/>
          <a:lstStyle/>
          <a:p>
            <a:r>
              <a:rPr kumimoji="1" lang="zh-CN" altLang="en-US" dirty="0"/>
              <a:t>本章总结</a:t>
            </a:r>
          </a:p>
        </p:txBody>
      </p:sp>
      <p:sp>
        <p:nvSpPr>
          <p:cNvPr id="3" name="内容占位符 2">
            <a:extLst>
              <a:ext uri="{FF2B5EF4-FFF2-40B4-BE49-F238E27FC236}">
                <a16:creationId xmlns:a16="http://schemas.microsoft.com/office/drawing/2014/main" id="{8D01C0D4-2EC3-7D4D-AAC5-3C4CCB3DBC8F}"/>
              </a:ext>
            </a:extLst>
          </p:cNvPr>
          <p:cNvSpPr>
            <a:spLocks noGrp="1"/>
          </p:cNvSpPr>
          <p:nvPr>
            <p:ph idx="1"/>
          </p:nvPr>
        </p:nvSpPr>
        <p:spPr/>
        <p:txBody>
          <a:bodyPr>
            <a:normAutofit fontScale="85000" lnSpcReduction="10000"/>
          </a:bodyPr>
          <a:lstStyle/>
          <a:p>
            <a:pPr>
              <a:lnSpc>
                <a:spcPct val="120000"/>
              </a:lnSpc>
            </a:pPr>
            <a:r>
              <a:rPr kumimoji="1" lang="zh-CN" altLang="en-US" dirty="0"/>
              <a:t>一致性问题与挑战</a:t>
            </a:r>
          </a:p>
          <a:p>
            <a:pPr>
              <a:lnSpc>
                <a:spcPct val="120000"/>
              </a:lnSpc>
            </a:pPr>
            <a:r>
              <a:rPr kumimoji="1" lang="zh-CN" altLang="en-US" dirty="0"/>
              <a:t>不同的一致性要求</a:t>
            </a:r>
            <a:endParaRPr kumimoji="1" lang="en-US" altLang="zh-CN" dirty="0"/>
          </a:p>
          <a:p>
            <a:pPr>
              <a:lnSpc>
                <a:spcPct val="120000"/>
              </a:lnSpc>
            </a:pPr>
            <a:r>
              <a:rPr kumimoji="1" lang="en-US" altLang="zh-CN" dirty="0"/>
              <a:t>FLP</a:t>
            </a:r>
            <a:r>
              <a:rPr kumimoji="1" lang="zh-CN" altLang="en-US" dirty="0"/>
              <a:t>不可能原理</a:t>
            </a:r>
            <a:endParaRPr kumimoji="1" lang="en-US" altLang="zh-CN" dirty="0"/>
          </a:p>
          <a:p>
            <a:pPr>
              <a:lnSpc>
                <a:spcPct val="120000"/>
              </a:lnSpc>
            </a:pPr>
            <a:r>
              <a:rPr kumimoji="1" lang="en-US" altLang="zh-CN" dirty="0"/>
              <a:t>CAP</a:t>
            </a:r>
            <a:r>
              <a:rPr kumimoji="1" lang="zh-CN" altLang="en-US" dirty="0"/>
              <a:t>原理</a:t>
            </a:r>
            <a:endParaRPr kumimoji="1" lang="en-US" altLang="zh-CN" dirty="0"/>
          </a:p>
          <a:p>
            <a:pPr>
              <a:lnSpc>
                <a:spcPct val="120000"/>
              </a:lnSpc>
            </a:pPr>
            <a:r>
              <a:rPr kumimoji="1" lang="zh-CN" altLang="en-US" dirty="0"/>
              <a:t>拜占庭将军问题</a:t>
            </a:r>
          </a:p>
          <a:p>
            <a:pPr>
              <a:lnSpc>
                <a:spcPct val="120000"/>
              </a:lnSpc>
            </a:pPr>
            <a:r>
              <a:rPr kumimoji="1" lang="zh-CN" altLang="en-US" dirty="0"/>
              <a:t>拜占庭容错算法</a:t>
            </a:r>
          </a:p>
          <a:p>
            <a:pPr>
              <a:lnSpc>
                <a:spcPct val="120000"/>
              </a:lnSpc>
            </a:pPr>
            <a:r>
              <a:rPr kumimoji="1" lang="zh-CN" altLang="en-US" dirty="0"/>
              <a:t>比特币的工作量证明共识机制</a:t>
            </a:r>
          </a:p>
          <a:p>
            <a:pPr>
              <a:lnSpc>
                <a:spcPct val="120000"/>
              </a:lnSpc>
            </a:pPr>
            <a:r>
              <a:rPr kumimoji="1" lang="zh-CN" altLang="en-US" dirty="0"/>
              <a:t>以太坊共识算法</a:t>
            </a:r>
            <a:r>
              <a:rPr kumimoji="1" lang="en-US" altLang="zh-CN" dirty="0" err="1"/>
              <a:t>Ethash</a:t>
            </a:r>
            <a:endParaRPr kumimoji="1" lang="en-US" altLang="zh-CN" dirty="0"/>
          </a:p>
          <a:p>
            <a:pPr>
              <a:lnSpc>
                <a:spcPct val="120000"/>
              </a:lnSpc>
            </a:pPr>
            <a:r>
              <a:rPr kumimoji="1" lang="zh-CN" altLang="en-US" dirty="0"/>
              <a:t>以太坊共识算法</a:t>
            </a:r>
            <a:r>
              <a:rPr kumimoji="1" lang="en-US" altLang="zh-CN" dirty="0"/>
              <a:t>Casper</a:t>
            </a:r>
            <a:r>
              <a:rPr kumimoji="1" lang="zh-CN" altLang="en-US" dirty="0"/>
              <a:t>、</a:t>
            </a:r>
            <a:r>
              <a:rPr kumimoji="1" lang="en-US" altLang="zh-CN" dirty="0"/>
              <a:t>EOSIO</a:t>
            </a:r>
            <a:r>
              <a:rPr kumimoji="1" lang="zh-CN" altLang="en-US" dirty="0"/>
              <a:t>共识算法</a:t>
            </a:r>
            <a:r>
              <a:rPr kumimoji="1" lang="en-US" altLang="zh-CN" dirty="0"/>
              <a:t>BFT-</a:t>
            </a:r>
            <a:r>
              <a:rPr kumimoji="1" lang="en-US" altLang="zh-CN" dirty="0" err="1"/>
              <a:t>DPoS</a:t>
            </a:r>
            <a:r>
              <a:rPr kumimoji="1" lang="zh-CN" altLang="en-US" dirty="0"/>
              <a:t>、</a:t>
            </a:r>
            <a:r>
              <a:rPr kumimoji="1" lang="en-US" altLang="zh-CN" dirty="0"/>
              <a:t>Monoxide</a:t>
            </a:r>
            <a:r>
              <a:rPr kumimoji="1" lang="zh-CN" altLang="en-US" dirty="0"/>
              <a:t>（选学）</a:t>
            </a:r>
          </a:p>
          <a:p>
            <a:pPr>
              <a:lnSpc>
                <a:spcPct val="120000"/>
              </a:lnSpc>
            </a:pPr>
            <a:endParaRPr kumimoji="1" lang="en-US" altLang="zh-CN" dirty="0"/>
          </a:p>
        </p:txBody>
      </p:sp>
      <p:sp>
        <p:nvSpPr>
          <p:cNvPr id="5" name="灯片编号占位符 4">
            <a:extLst>
              <a:ext uri="{FF2B5EF4-FFF2-40B4-BE49-F238E27FC236}">
                <a16:creationId xmlns:a16="http://schemas.microsoft.com/office/drawing/2014/main" id="{8FE33C2B-DFEA-AB45-B09F-58B1C2A169C6}"/>
              </a:ext>
            </a:extLst>
          </p:cNvPr>
          <p:cNvSpPr>
            <a:spLocks noGrp="1"/>
          </p:cNvSpPr>
          <p:nvPr>
            <p:ph type="sldNum" sz="quarter" idx="12"/>
          </p:nvPr>
        </p:nvSpPr>
        <p:spPr/>
        <p:txBody>
          <a:bodyPr/>
          <a:lstStyle/>
          <a:p>
            <a:fld id="{8D4D1E41-7A09-AB4A-A4E1-09765ADA2698}" type="slidenum">
              <a:rPr kumimoji="1" lang="zh-CN" altLang="en-US" smtClean="0"/>
              <a:t>43</a:t>
            </a:fld>
            <a:endParaRPr kumimoji="1" lang="zh-CN" altLang="en-US" dirty="0"/>
          </a:p>
        </p:txBody>
      </p:sp>
    </p:spTree>
    <p:extLst>
      <p:ext uri="{BB962C8B-B14F-4D97-AF65-F5344CB8AC3E}">
        <p14:creationId xmlns:p14="http://schemas.microsoft.com/office/powerpoint/2010/main" val="1697461291"/>
      </p:ext>
    </p:extLst>
  </p:cSld>
  <p:clrMapOvr>
    <a:masterClrMapping/>
  </p:clrMapOvr>
</p:sld>
</file>

<file path=ppt/theme/theme1.xml><?xml version="1.0" encoding="utf-8"?>
<a:theme xmlns:a="http://schemas.openxmlformats.org/drawingml/2006/main" name="Office 主题​​">
  <a:themeElements>
    <a:clrScheme name="灰度">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9524</TotalTime>
  <Words>6824</Words>
  <Application>Microsoft Office PowerPoint</Application>
  <PresentationFormat>宽屏</PresentationFormat>
  <Paragraphs>416</Paragraphs>
  <Slides>44</Slides>
  <Notes>43</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44</vt:i4>
      </vt:variant>
    </vt:vector>
  </HeadingPairs>
  <TitlesOfParts>
    <vt:vector size="52" baseType="lpstr">
      <vt:lpstr>等线</vt:lpstr>
      <vt:lpstr>Microsoft YaHei</vt:lpstr>
      <vt:lpstr>Microsoft YaHei</vt:lpstr>
      <vt:lpstr>Arial</vt:lpstr>
      <vt:lpstr>Calibri</vt:lpstr>
      <vt:lpstr>Cambria Math</vt:lpstr>
      <vt:lpstr>Wingdings</vt:lpstr>
      <vt:lpstr>Office 主题​​</vt:lpstr>
      <vt:lpstr>第五章 区块链共识层</vt:lpstr>
      <vt:lpstr>本章内容</vt:lpstr>
      <vt:lpstr>一致性问题</vt:lpstr>
      <vt:lpstr>问题与挑战</vt:lpstr>
      <vt:lpstr>一致性要求</vt:lpstr>
      <vt:lpstr>不同的一致性要求</vt:lpstr>
      <vt:lpstr>不同的一致性要求</vt:lpstr>
      <vt:lpstr>不同的一致性要求</vt:lpstr>
      <vt:lpstr>本章内容</vt:lpstr>
      <vt:lpstr>FLP不可能原理</vt:lpstr>
      <vt:lpstr>FLP不可能原理</vt:lpstr>
      <vt:lpstr>FLP不可能原理</vt:lpstr>
      <vt:lpstr>CAP原理</vt:lpstr>
      <vt:lpstr>本章内容</vt:lpstr>
      <vt:lpstr>拜占庭将军问题</vt:lpstr>
      <vt:lpstr>拜占庭将军问题</vt:lpstr>
      <vt:lpstr>拜占庭容错算法</vt:lpstr>
      <vt:lpstr>PBFT基本概念</vt:lpstr>
      <vt:lpstr>PBFT具体流程</vt:lpstr>
      <vt:lpstr>PBFT具体流程</vt:lpstr>
      <vt:lpstr>PBFT具体流程</vt:lpstr>
      <vt:lpstr>PBFT具体流程</vt:lpstr>
      <vt:lpstr>日志压缩</vt:lpstr>
      <vt:lpstr>日志压缩</vt:lpstr>
      <vt:lpstr>视图切换</vt:lpstr>
      <vt:lpstr>视图切换</vt:lpstr>
      <vt:lpstr>PBFT中节点的状态</vt:lpstr>
      <vt:lpstr>PBFT的一些思考</vt:lpstr>
      <vt:lpstr>PBFT的一些思考</vt:lpstr>
      <vt:lpstr>比特币的工作量证明共识机制</vt:lpstr>
      <vt:lpstr>比特币的工作量证明共识机制</vt:lpstr>
      <vt:lpstr>比特币的工作量证明共识机制</vt:lpstr>
      <vt:lpstr>比特币的工作量证明共识机制</vt:lpstr>
      <vt:lpstr>比特币的工作量证明共识机制</vt:lpstr>
      <vt:lpstr>以太坊共识算法Ethash</vt:lpstr>
      <vt:lpstr>以太坊共识算法Ethash</vt:lpstr>
      <vt:lpstr>以太坊共识算法Ethash</vt:lpstr>
      <vt:lpstr>以太坊共识算法Casper（选学）</vt:lpstr>
      <vt:lpstr>以太坊共识算法Casper（选学）</vt:lpstr>
      <vt:lpstr>以太坊共识算法Casper（选学）</vt:lpstr>
      <vt:lpstr>以太坊共识算法Casper（选学）</vt:lpstr>
      <vt:lpstr>EOSIO共识算法BFT-DPoS（选学）</vt:lpstr>
      <vt:lpstr>Monoxide（选学）</vt:lpstr>
      <vt:lpstr>本章总结</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Yong Cui</dc:creator>
  <cp:lastModifiedBy>Canhui Wang</cp:lastModifiedBy>
  <cp:revision>1364</cp:revision>
  <dcterms:created xsi:type="dcterms:W3CDTF">2021-01-06T05:35:51Z</dcterms:created>
  <dcterms:modified xsi:type="dcterms:W3CDTF">2025-06-05T16:02:28Z</dcterms:modified>
</cp:coreProperties>
</file>