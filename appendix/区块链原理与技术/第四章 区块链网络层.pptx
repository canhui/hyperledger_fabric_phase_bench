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46"/>
  </p:notesMasterIdLst>
  <p:sldIdLst>
    <p:sldId id="1257" r:id="rId2"/>
    <p:sldId id="1062" r:id="rId3"/>
    <p:sldId id="1261" r:id="rId4"/>
    <p:sldId id="1262" r:id="rId5"/>
    <p:sldId id="1263" r:id="rId6"/>
    <p:sldId id="1264" r:id="rId7"/>
    <p:sldId id="1265" r:id="rId8"/>
    <p:sldId id="1266" r:id="rId9"/>
    <p:sldId id="1258" r:id="rId10"/>
    <p:sldId id="1267" r:id="rId11"/>
    <p:sldId id="1268" r:id="rId12"/>
    <p:sldId id="1269" r:id="rId13"/>
    <p:sldId id="1270" r:id="rId14"/>
    <p:sldId id="1271" r:id="rId15"/>
    <p:sldId id="1272" r:id="rId16"/>
    <p:sldId id="1273" r:id="rId17"/>
    <p:sldId id="1274" r:id="rId18"/>
    <p:sldId id="1275" r:id="rId19"/>
    <p:sldId id="1276" r:id="rId20"/>
    <p:sldId id="1277" r:id="rId21"/>
    <p:sldId id="1278" r:id="rId22"/>
    <p:sldId id="1280" r:id="rId23"/>
    <p:sldId id="1281" r:id="rId24"/>
    <p:sldId id="1282" r:id="rId25"/>
    <p:sldId id="1259" r:id="rId26"/>
    <p:sldId id="1283" r:id="rId27"/>
    <p:sldId id="1284" r:id="rId28"/>
    <p:sldId id="1285" r:id="rId29"/>
    <p:sldId id="1286" r:id="rId30"/>
    <p:sldId id="1287" r:id="rId31"/>
    <p:sldId id="1288" r:id="rId32"/>
    <p:sldId id="1289" r:id="rId33"/>
    <p:sldId id="1290" r:id="rId34"/>
    <p:sldId id="1291" r:id="rId35"/>
    <p:sldId id="1292" r:id="rId36"/>
    <p:sldId id="1293" r:id="rId37"/>
    <p:sldId id="1294" r:id="rId38"/>
    <p:sldId id="1260" r:id="rId39"/>
    <p:sldId id="1295" r:id="rId40"/>
    <p:sldId id="1296" r:id="rId41"/>
    <p:sldId id="1297" r:id="rId42"/>
    <p:sldId id="1298" r:id="rId43"/>
    <p:sldId id="1299" r:id="rId44"/>
    <p:sldId id="994" r:id="rId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A4DC5EF-F422-4A4A-AE2D-E811906D492D}">
          <p14:sldIdLst>
            <p14:sldId id="1257"/>
            <p14:sldId id="1062"/>
            <p14:sldId id="1261"/>
            <p14:sldId id="1262"/>
            <p14:sldId id="1263"/>
            <p14:sldId id="1264"/>
            <p14:sldId id="1265"/>
            <p14:sldId id="1266"/>
            <p14:sldId id="1258"/>
            <p14:sldId id="1267"/>
            <p14:sldId id="1268"/>
            <p14:sldId id="1269"/>
            <p14:sldId id="1270"/>
            <p14:sldId id="1271"/>
            <p14:sldId id="1272"/>
            <p14:sldId id="1273"/>
            <p14:sldId id="1274"/>
            <p14:sldId id="1275"/>
            <p14:sldId id="1276"/>
            <p14:sldId id="1277"/>
            <p14:sldId id="1278"/>
            <p14:sldId id="1280"/>
            <p14:sldId id="1281"/>
            <p14:sldId id="1282"/>
            <p14:sldId id="1259"/>
            <p14:sldId id="1283"/>
            <p14:sldId id="1284"/>
            <p14:sldId id="1285"/>
            <p14:sldId id="1286"/>
            <p14:sldId id="1287"/>
            <p14:sldId id="1288"/>
            <p14:sldId id="1289"/>
            <p14:sldId id="1290"/>
            <p14:sldId id="1291"/>
            <p14:sldId id="1292"/>
            <p14:sldId id="1293"/>
            <p14:sldId id="1294"/>
            <p14:sldId id="1260"/>
            <p14:sldId id="1295"/>
            <p14:sldId id="1296"/>
            <p14:sldId id="1297"/>
            <p14:sldId id="1298"/>
            <p14:sldId id="1299"/>
            <p14:sldId id="9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00FF"/>
    <a:srgbClr val="5B307E"/>
    <a:srgbClr val="B962FF"/>
    <a:srgbClr val="FDCB0B"/>
    <a:srgbClr val="FFD700"/>
    <a:srgbClr val="F9BC12"/>
    <a:srgbClr val="FFD801"/>
    <a:srgbClr val="EFB914"/>
    <a:srgbClr val="F5BD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64" autoAdjust="0"/>
    <p:restoredTop sz="86677" autoAdjust="0"/>
  </p:normalViewPr>
  <p:slideViewPr>
    <p:cSldViewPr snapToGrid="0" snapToObjects="1">
      <p:cViewPr varScale="1">
        <p:scale>
          <a:sx n="80" d="100"/>
          <a:sy n="80" d="100"/>
        </p:scale>
        <p:origin x="150" y="90"/>
      </p:cViewPr>
      <p:guideLst/>
    </p:cSldViewPr>
  </p:slideViewPr>
  <p:outlineViewPr>
    <p:cViewPr>
      <p:scale>
        <a:sx n="33" d="100"/>
        <a:sy n="33" d="100"/>
      </p:scale>
      <p:origin x="0" y="-2640"/>
    </p:cViewPr>
  </p:outlineViewPr>
  <p:notesTextViewPr>
    <p:cViewPr>
      <p:scale>
        <a:sx n="145" d="100"/>
        <a:sy n="145" d="100"/>
      </p:scale>
      <p:origin x="0" y="0"/>
    </p:cViewPr>
  </p:notesTextViewPr>
  <p:sorterViewPr>
    <p:cViewPr>
      <p:scale>
        <a:sx n="173" d="100"/>
        <a:sy n="173"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2025/5/20</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0</a:t>
            </a:fld>
            <a:endParaRPr kumimoji="1" lang="zh-CN" altLang="en-US"/>
          </a:p>
        </p:txBody>
      </p:sp>
    </p:spTree>
    <p:extLst>
      <p:ext uri="{BB962C8B-B14F-4D97-AF65-F5344CB8AC3E}">
        <p14:creationId xmlns:p14="http://schemas.microsoft.com/office/powerpoint/2010/main" val="1111909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a:t>
            </a:fld>
            <a:endParaRPr kumimoji="1" lang="zh-CN" altLang="en-US"/>
          </a:p>
        </p:txBody>
      </p:sp>
    </p:spTree>
    <p:extLst>
      <p:ext uri="{BB962C8B-B14F-4D97-AF65-F5344CB8AC3E}">
        <p14:creationId xmlns:p14="http://schemas.microsoft.com/office/powerpoint/2010/main" val="111293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a:t>
            </a:fld>
            <a:endParaRPr kumimoji="1" lang="zh-CN" altLang="en-US"/>
          </a:p>
        </p:txBody>
      </p:sp>
    </p:spTree>
    <p:extLst>
      <p:ext uri="{BB962C8B-B14F-4D97-AF65-F5344CB8AC3E}">
        <p14:creationId xmlns:p14="http://schemas.microsoft.com/office/powerpoint/2010/main" val="1339556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a:t>
            </a:fld>
            <a:endParaRPr kumimoji="1" lang="zh-CN" altLang="en-US"/>
          </a:p>
        </p:txBody>
      </p:sp>
    </p:spTree>
    <p:extLst>
      <p:ext uri="{BB962C8B-B14F-4D97-AF65-F5344CB8AC3E}">
        <p14:creationId xmlns:p14="http://schemas.microsoft.com/office/powerpoint/2010/main" val="2282063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当一个用户需要查找某个音乐文件时，首先需要通过中心索引服务器对音乐文件进行检索，得到拥有该音乐文件的其他用户的信息，接着可以依据检索结果直接连接到资源拥有者，实现文件传输和共享。</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a:t>
            </a:fld>
            <a:endParaRPr kumimoji="1" lang="zh-CN" altLang="en-US"/>
          </a:p>
        </p:txBody>
      </p:sp>
    </p:spTree>
    <p:extLst>
      <p:ext uri="{BB962C8B-B14F-4D97-AF65-F5344CB8AC3E}">
        <p14:creationId xmlns:p14="http://schemas.microsoft.com/office/powerpoint/2010/main" val="358875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首先，节点会根据资源关键字向邻居发送查询请求，如果它的邻居拥有这种资源，则会与发起查询请求的节点建立连接，进行资源的传输；否则，这个邻居会继续向自己的邻居扩散这个查询请求，直到找到这种资源。</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a:t>
            </a:fld>
            <a:endParaRPr kumimoji="1" lang="zh-CN" altLang="en-US"/>
          </a:p>
        </p:txBody>
      </p:sp>
    </p:spTree>
    <p:extLst>
      <p:ext uri="{BB962C8B-B14F-4D97-AF65-F5344CB8AC3E}">
        <p14:creationId xmlns:p14="http://schemas.microsoft.com/office/powerpoint/2010/main" val="41979745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当一个节点需要请求某种资源时，首先找到包含对应资源关键词的散列表所处的节点，从该节点中获取资源对应的地址信息，最后依据地址信息连接对应的节点实现资源的请求与传输。</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a:t>
            </a:fld>
            <a:endParaRPr kumimoji="1" lang="zh-CN" altLang="en-US"/>
          </a:p>
        </p:txBody>
      </p:sp>
    </p:spTree>
    <p:extLst>
      <p:ext uri="{BB962C8B-B14F-4D97-AF65-F5344CB8AC3E}">
        <p14:creationId xmlns:p14="http://schemas.microsoft.com/office/powerpoint/2010/main" val="17485552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对于半分布式拓扑上的资源查找，会先在普通节点所在的簇内进行，如果簇内的超级节点查询到该资源在与超级节点相邻的叶子节点上，超级节点会将查询请求转发给对应的节点；否则，超级节点间会进行有限的洪泛，经由其他超级节点继续对这个文件进行查询。</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a:t>
            </a:fld>
            <a:endParaRPr kumimoji="1" lang="zh-CN" altLang="en-US"/>
          </a:p>
        </p:txBody>
      </p:sp>
    </p:spTree>
    <p:extLst>
      <p:ext uri="{BB962C8B-B14F-4D97-AF65-F5344CB8AC3E}">
        <p14:creationId xmlns:p14="http://schemas.microsoft.com/office/powerpoint/2010/main" val="1873758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a:t>
            </a:fld>
            <a:endParaRPr kumimoji="1" lang="zh-CN" altLang="en-US"/>
          </a:p>
        </p:txBody>
      </p:sp>
    </p:spTree>
    <p:extLst>
      <p:ext uri="{BB962C8B-B14F-4D97-AF65-F5344CB8AC3E}">
        <p14:creationId xmlns:p14="http://schemas.microsoft.com/office/powerpoint/2010/main" val="915124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a:t>
            </a:fld>
            <a:endParaRPr kumimoji="1" lang="zh-CN" altLang="en-US"/>
          </a:p>
        </p:txBody>
      </p:sp>
    </p:spTree>
    <p:extLst>
      <p:ext uri="{BB962C8B-B14F-4D97-AF65-F5344CB8AC3E}">
        <p14:creationId xmlns:p14="http://schemas.microsoft.com/office/powerpoint/2010/main" val="2391524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a:t>
            </a:fld>
            <a:endParaRPr kumimoji="1" lang="zh-CN" altLang="en-US"/>
          </a:p>
        </p:txBody>
      </p:sp>
    </p:spTree>
    <p:extLst>
      <p:ext uri="{BB962C8B-B14F-4D97-AF65-F5344CB8AC3E}">
        <p14:creationId xmlns:p14="http://schemas.microsoft.com/office/powerpoint/2010/main" val="39585292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a:t>
            </a:fld>
            <a:endParaRPr kumimoji="1" lang="zh-CN" altLang="en-US"/>
          </a:p>
        </p:txBody>
      </p:sp>
    </p:spTree>
    <p:extLst>
      <p:ext uri="{BB962C8B-B14F-4D97-AF65-F5344CB8AC3E}">
        <p14:creationId xmlns:p14="http://schemas.microsoft.com/office/powerpoint/2010/main" val="2744511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a:t>
            </a:fld>
            <a:endParaRPr kumimoji="1" lang="zh-CN" altLang="en-US"/>
          </a:p>
        </p:txBody>
      </p:sp>
    </p:spTree>
    <p:extLst>
      <p:ext uri="{BB962C8B-B14F-4D97-AF65-F5344CB8AC3E}">
        <p14:creationId xmlns:p14="http://schemas.microsoft.com/office/powerpoint/2010/main" val="891444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13</a:t>
            </a:fld>
            <a:endParaRPr kumimoji="1" lang="zh-CN" altLang="en-US"/>
          </a:p>
        </p:txBody>
      </p:sp>
    </p:spTree>
    <p:extLst>
      <p:ext uri="{BB962C8B-B14F-4D97-AF65-F5344CB8AC3E}">
        <p14:creationId xmlns:p14="http://schemas.microsoft.com/office/powerpoint/2010/main" val="2240648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14</a:t>
            </a:fld>
            <a:endParaRPr kumimoji="1" lang="zh-CN" altLang="en-US"/>
          </a:p>
        </p:txBody>
      </p:sp>
    </p:spTree>
    <p:extLst>
      <p:ext uri="{BB962C8B-B14F-4D97-AF65-F5344CB8AC3E}">
        <p14:creationId xmlns:p14="http://schemas.microsoft.com/office/powerpoint/2010/main" val="37379108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节点</a:t>
            </a:r>
            <a:r>
              <a:rPr kumimoji="1" lang="en-US" altLang="zh-CN" dirty="0"/>
              <a:t>B</a:t>
            </a:r>
            <a:r>
              <a:rPr kumimoji="1" lang="zh-CN" altLang="en-US" dirty="0"/>
              <a:t>收到</a:t>
            </a:r>
            <a:r>
              <a:rPr kumimoji="1" lang="en-US" altLang="zh-CN" dirty="0"/>
              <a:t>version</a:t>
            </a:r>
            <a:r>
              <a:rPr kumimoji="1" lang="zh-CN" altLang="en-US" dirty="0"/>
              <a:t>信息后，会向节点</a:t>
            </a:r>
            <a:r>
              <a:rPr kumimoji="1" lang="en-US" altLang="zh-CN" dirty="0"/>
              <a:t>A</a:t>
            </a:r>
            <a:r>
              <a:rPr kumimoji="1" lang="zh-CN" altLang="en-US" dirty="0"/>
              <a:t>发送</a:t>
            </a:r>
            <a:r>
              <a:rPr kumimoji="1" lang="en-US" altLang="zh-CN" dirty="0" err="1"/>
              <a:t>verack</a:t>
            </a:r>
            <a:r>
              <a:rPr kumimoji="1" lang="zh-CN" altLang="en-US" dirty="0"/>
              <a:t>进行确认并建立连接。若节点间需要互换连接以连回起始节点的时候，节点</a:t>
            </a:r>
            <a:r>
              <a:rPr kumimoji="1" lang="en-US" altLang="zh-CN" dirty="0"/>
              <a:t>B</a:t>
            </a:r>
            <a:r>
              <a:rPr kumimoji="1" lang="zh-CN" altLang="en-US" dirty="0"/>
              <a:t>也会向节点</a:t>
            </a:r>
            <a:r>
              <a:rPr kumimoji="1" lang="en-US" altLang="zh-CN" dirty="0"/>
              <a:t>A</a:t>
            </a:r>
            <a:r>
              <a:rPr kumimoji="1" lang="zh-CN" altLang="en-US" dirty="0"/>
              <a:t>发送它的</a:t>
            </a:r>
            <a:r>
              <a:rPr kumimoji="1" lang="en-US" altLang="zh-CN" dirty="0"/>
              <a:t>version</a:t>
            </a:r>
            <a:r>
              <a:rPr kumimoji="1" lang="zh-CN" altLang="en-US" dirty="0"/>
              <a:t>信息</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35149027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a:t>
            </a:fld>
            <a:endParaRPr kumimoji="1" lang="zh-CN" altLang="en-US"/>
          </a:p>
        </p:txBody>
      </p:sp>
    </p:spTree>
    <p:extLst>
      <p:ext uri="{BB962C8B-B14F-4D97-AF65-F5344CB8AC3E}">
        <p14:creationId xmlns:p14="http://schemas.microsoft.com/office/powerpoint/2010/main" val="31484579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a:t>
            </a:fld>
            <a:endParaRPr kumimoji="1" lang="zh-CN" altLang="en-US"/>
          </a:p>
        </p:txBody>
      </p:sp>
    </p:spTree>
    <p:extLst>
      <p:ext uri="{BB962C8B-B14F-4D97-AF65-F5344CB8AC3E}">
        <p14:creationId xmlns:p14="http://schemas.microsoft.com/office/powerpoint/2010/main" val="17014136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a:t>
            </a:fld>
            <a:endParaRPr kumimoji="1" lang="zh-CN" altLang="en-US"/>
          </a:p>
        </p:txBody>
      </p:sp>
    </p:spTree>
    <p:extLst>
      <p:ext uri="{BB962C8B-B14F-4D97-AF65-F5344CB8AC3E}">
        <p14:creationId xmlns:p14="http://schemas.microsoft.com/office/powerpoint/2010/main" val="34138825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a:t>
            </a:fld>
            <a:endParaRPr kumimoji="1" lang="zh-CN" altLang="en-US"/>
          </a:p>
        </p:txBody>
      </p:sp>
    </p:spTree>
    <p:extLst>
      <p:ext uri="{BB962C8B-B14F-4D97-AF65-F5344CB8AC3E}">
        <p14:creationId xmlns:p14="http://schemas.microsoft.com/office/powerpoint/2010/main" val="37022280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a:t>
            </a:fld>
            <a:endParaRPr kumimoji="1" lang="zh-CN" altLang="en-US"/>
          </a:p>
        </p:txBody>
      </p:sp>
    </p:spTree>
    <p:extLst>
      <p:ext uri="{BB962C8B-B14F-4D97-AF65-F5344CB8AC3E}">
        <p14:creationId xmlns:p14="http://schemas.microsoft.com/office/powerpoint/2010/main" val="29303782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21</a:t>
            </a:fld>
            <a:endParaRPr kumimoji="1" lang="zh-CN" altLang="en-US"/>
          </a:p>
        </p:txBody>
      </p:sp>
    </p:spTree>
    <p:extLst>
      <p:ext uri="{BB962C8B-B14F-4D97-AF65-F5344CB8AC3E}">
        <p14:creationId xmlns:p14="http://schemas.microsoft.com/office/powerpoint/2010/main" val="381117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22</a:t>
            </a:fld>
            <a:endParaRPr kumimoji="1" lang="zh-CN" altLang="en-US"/>
          </a:p>
        </p:txBody>
      </p:sp>
    </p:spTree>
    <p:extLst>
      <p:ext uri="{BB962C8B-B14F-4D97-AF65-F5344CB8AC3E}">
        <p14:creationId xmlns:p14="http://schemas.microsoft.com/office/powerpoint/2010/main" val="34730699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23</a:t>
            </a:fld>
            <a:endParaRPr kumimoji="1" lang="zh-CN" altLang="en-US"/>
          </a:p>
        </p:txBody>
      </p:sp>
    </p:spTree>
    <p:extLst>
      <p:ext uri="{BB962C8B-B14F-4D97-AF65-F5344CB8AC3E}">
        <p14:creationId xmlns:p14="http://schemas.microsoft.com/office/powerpoint/2010/main" val="28239889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24</a:t>
            </a:fld>
            <a:endParaRPr kumimoji="1" lang="zh-CN" altLang="en-US"/>
          </a:p>
        </p:txBody>
      </p:sp>
    </p:spTree>
    <p:extLst>
      <p:ext uri="{BB962C8B-B14F-4D97-AF65-F5344CB8AC3E}">
        <p14:creationId xmlns:p14="http://schemas.microsoft.com/office/powerpoint/2010/main" val="9327794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25</a:t>
            </a:fld>
            <a:endParaRPr kumimoji="1" lang="zh-CN" altLang="en-US"/>
          </a:p>
        </p:txBody>
      </p:sp>
    </p:spTree>
    <p:extLst>
      <p:ext uri="{BB962C8B-B14F-4D97-AF65-F5344CB8AC3E}">
        <p14:creationId xmlns:p14="http://schemas.microsoft.com/office/powerpoint/2010/main" val="23443376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26</a:t>
            </a:fld>
            <a:endParaRPr kumimoji="1" lang="zh-CN" altLang="en-US"/>
          </a:p>
        </p:txBody>
      </p:sp>
    </p:spTree>
    <p:extLst>
      <p:ext uri="{BB962C8B-B14F-4D97-AF65-F5344CB8AC3E}">
        <p14:creationId xmlns:p14="http://schemas.microsoft.com/office/powerpoint/2010/main" val="33354401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27</a:t>
            </a:fld>
            <a:endParaRPr kumimoji="1" lang="zh-CN" altLang="en-US"/>
          </a:p>
        </p:txBody>
      </p:sp>
    </p:spTree>
    <p:extLst>
      <p:ext uri="{BB962C8B-B14F-4D97-AF65-F5344CB8AC3E}">
        <p14:creationId xmlns:p14="http://schemas.microsoft.com/office/powerpoint/2010/main" val="2766847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28</a:t>
            </a:fld>
            <a:endParaRPr kumimoji="1" lang="zh-CN" altLang="en-US"/>
          </a:p>
        </p:txBody>
      </p:sp>
    </p:spTree>
    <p:extLst>
      <p:ext uri="{BB962C8B-B14F-4D97-AF65-F5344CB8AC3E}">
        <p14:creationId xmlns:p14="http://schemas.microsoft.com/office/powerpoint/2010/main" val="39617776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29</a:t>
            </a:fld>
            <a:endParaRPr kumimoji="1" lang="zh-CN" altLang="en-US"/>
          </a:p>
        </p:txBody>
      </p:sp>
    </p:spTree>
    <p:extLst>
      <p:ext uri="{BB962C8B-B14F-4D97-AF65-F5344CB8AC3E}">
        <p14:creationId xmlns:p14="http://schemas.microsoft.com/office/powerpoint/2010/main" val="29423218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30</a:t>
            </a:fld>
            <a:endParaRPr kumimoji="1" lang="zh-CN" altLang="en-US"/>
          </a:p>
        </p:txBody>
      </p:sp>
    </p:spTree>
    <p:extLst>
      <p:ext uri="{BB962C8B-B14F-4D97-AF65-F5344CB8AC3E}">
        <p14:creationId xmlns:p14="http://schemas.microsoft.com/office/powerpoint/2010/main" val="15162040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31</a:t>
            </a:fld>
            <a:endParaRPr kumimoji="1" lang="zh-CN" altLang="en-US"/>
          </a:p>
        </p:txBody>
      </p:sp>
    </p:spTree>
    <p:extLst>
      <p:ext uri="{BB962C8B-B14F-4D97-AF65-F5344CB8AC3E}">
        <p14:creationId xmlns:p14="http://schemas.microsoft.com/office/powerpoint/2010/main" val="39736844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TW"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TW" altLang="zh-CN" sz="1200" kern="1200" dirty="0">
                <a:solidFill>
                  <a:schemeClr val="tx1"/>
                </a:solidFill>
                <a:effectLst/>
                <a:latin typeface="+mn-lt"/>
                <a:ea typeface="+mn-ea"/>
                <a:cs typeface="+mn-cs"/>
              </a:rPr>
              <a:t>）查询发起者从自己的</a:t>
            </a:r>
            <a:r>
              <a:rPr lang="en-US" altLang="zh-CN" sz="1200" kern="1200" dirty="0">
                <a:solidFill>
                  <a:schemeClr val="tx1"/>
                </a:solidFill>
                <a:effectLst/>
                <a:latin typeface="+mn-lt"/>
                <a:ea typeface="+mn-ea"/>
                <a:cs typeface="+mn-cs"/>
              </a:rPr>
              <a:t>K</a:t>
            </a:r>
            <a:r>
              <a:rPr lang="zh-TW" altLang="zh-CN" sz="1200" kern="1200" dirty="0">
                <a:solidFill>
                  <a:schemeClr val="tx1"/>
                </a:solidFill>
                <a:effectLst/>
                <a:latin typeface="+mn-lt"/>
                <a:ea typeface="+mn-ea"/>
                <a:cs typeface="+mn-cs"/>
              </a:rPr>
              <a:t>桶中选出若干距离目标节点最近的节点，并向这些节点同时发送异步查询请求。</a:t>
            </a:r>
            <a:endParaRPr lang="zh-CN" altLang="zh-CN" sz="1200" kern="1200" dirty="0">
              <a:solidFill>
                <a:schemeClr val="tx1"/>
              </a:solidFill>
              <a:effectLst/>
              <a:latin typeface="+mn-lt"/>
              <a:ea typeface="+mn-ea"/>
              <a:cs typeface="+mn-cs"/>
            </a:endParaRPr>
          </a:p>
          <a:p>
            <a:r>
              <a:rPr lang="zh-TW"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TW" altLang="zh-CN" sz="1200" kern="1200" dirty="0">
                <a:solidFill>
                  <a:schemeClr val="tx1"/>
                </a:solidFill>
                <a:effectLst/>
                <a:latin typeface="+mn-lt"/>
                <a:ea typeface="+mn-ea"/>
                <a:cs typeface="+mn-cs"/>
              </a:rPr>
              <a:t>）收到请求的节点，从</a:t>
            </a:r>
            <a:r>
              <a:rPr lang="en-US" altLang="zh-CN" sz="1200" kern="1200" dirty="0">
                <a:solidFill>
                  <a:schemeClr val="tx1"/>
                </a:solidFill>
                <a:effectLst/>
                <a:latin typeface="+mn-lt"/>
                <a:ea typeface="+mn-ea"/>
                <a:cs typeface="+mn-cs"/>
              </a:rPr>
              <a:t>K</a:t>
            </a:r>
            <a:r>
              <a:rPr lang="zh-TW" altLang="zh-CN" sz="1200" kern="1200" dirty="0">
                <a:solidFill>
                  <a:schemeClr val="tx1"/>
                </a:solidFill>
                <a:effectLst/>
                <a:latin typeface="+mn-lt"/>
                <a:ea typeface="+mn-ea"/>
                <a:cs typeface="+mn-cs"/>
              </a:rPr>
              <a:t>桶中找出自己所知道的距离目标节点最近的若干个节点信息，返回给查询发起者。</a:t>
            </a:r>
            <a:endParaRPr lang="zh-CN" altLang="zh-CN" sz="1200" kern="1200" dirty="0">
              <a:solidFill>
                <a:schemeClr val="tx1"/>
              </a:solidFill>
              <a:effectLst/>
              <a:latin typeface="+mn-lt"/>
              <a:ea typeface="+mn-ea"/>
              <a:cs typeface="+mn-cs"/>
            </a:endParaRPr>
          </a:p>
          <a:p>
            <a:r>
              <a:rPr lang="zh-TW"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a:t>
            </a:r>
            <a:r>
              <a:rPr lang="zh-TW" altLang="zh-CN" sz="1200" kern="1200" dirty="0">
                <a:solidFill>
                  <a:schemeClr val="tx1"/>
                </a:solidFill>
                <a:effectLst/>
                <a:latin typeface="+mn-lt"/>
                <a:ea typeface="+mn-ea"/>
                <a:cs typeface="+mn-cs"/>
              </a:rPr>
              <a:t>）查询发起者收到节点信息后，更新</a:t>
            </a:r>
            <a:r>
              <a:rPr lang="en-US" altLang="zh-CN" sz="1200" kern="1200" dirty="0">
                <a:solidFill>
                  <a:schemeClr val="tx1"/>
                </a:solidFill>
                <a:effectLst/>
                <a:latin typeface="+mn-lt"/>
                <a:ea typeface="+mn-ea"/>
                <a:cs typeface="+mn-cs"/>
              </a:rPr>
              <a:t>K</a:t>
            </a:r>
            <a:r>
              <a:rPr lang="zh-TW" altLang="zh-CN" sz="1200" kern="1200" dirty="0">
                <a:solidFill>
                  <a:schemeClr val="tx1"/>
                </a:solidFill>
                <a:effectLst/>
                <a:latin typeface="+mn-lt"/>
                <a:ea typeface="+mn-ea"/>
                <a:cs typeface="+mn-cs"/>
              </a:rPr>
              <a:t>桶，再从自己目前已知的距离目标节点较近的节点中选出若干没有被请求过的节点，向它们发送查询请求。</a:t>
            </a:r>
            <a:endParaRPr lang="zh-CN" altLang="zh-CN" sz="1200" kern="1200" dirty="0">
              <a:solidFill>
                <a:schemeClr val="tx1"/>
              </a:solidFill>
              <a:effectLst/>
              <a:latin typeface="+mn-lt"/>
              <a:ea typeface="+mn-ea"/>
              <a:cs typeface="+mn-cs"/>
            </a:endParaRPr>
          </a:p>
          <a:p>
            <a:r>
              <a:rPr lang="zh-TW"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a:t>
            </a:r>
            <a:r>
              <a:rPr lang="zh-TW" altLang="zh-CN" sz="1200" kern="1200" dirty="0">
                <a:solidFill>
                  <a:schemeClr val="tx1"/>
                </a:solidFill>
                <a:effectLst/>
                <a:latin typeface="+mn-lt"/>
                <a:ea typeface="+mn-ea"/>
                <a:cs typeface="+mn-cs"/>
              </a:rPr>
              <a:t>）重复（</a:t>
            </a:r>
            <a:r>
              <a:rPr lang="en-US" altLang="zh-CN" sz="1200" kern="1200" dirty="0">
                <a:solidFill>
                  <a:schemeClr val="tx1"/>
                </a:solidFill>
                <a:effectLst/>
                <a:latin typeface="+mn-lt"/>
                <a:ea typeface="+mn-ea"/>
                <a:cs typeface="+mn-cs"/>
              </a:rPr>
              <a:t>2</a:t>
            </a:r>
            <a:r>
              <a:rPr lang="zh-TW"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3</a:t>
            </a:r>
            <a:r>
              <a:rPr lang="zh-TW" altLang="zh-CN" sz="1200" kern="1200" dirty="0">
                <a:solidFill>
                  <a:schemeClr val="tx1"/>
                </a:solidFill>
                <a:effectLst/>
                <a:latin typeface="+mn-lt"/>
                <a:ea typeface="+mn-ea"/>
                <a:cs typeface="+mn-cs"/>
              </a:rPr>
              <a:t>），直到第n次查询返回的结果和第n-1次查询返回的结果相等。</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32</a:t>
            </a:fld>
            <a:endParaRPr kumimoji="1" lang="zh-CN" altLang="en-US"/>
          </a:p>
        </p:txBody>
      </p:sp>
    </p:spTree>
    <p:extLst>
      <p:ext uri="{BB962C8B-B14F-4D97-AF65-F5344CB8AC3E}">
        <p14:creationId xmlns:p14="http://schemas.microsoft.com/office/powerpoint/2010/main" val="22853315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33</a:t>
            </a:fld>
            <a:endParaRPr kumimoji="1" lang="zh-CN" altLang="en-US"/>
          </a:p>
        </p:txBody>
      </p:sp>
    </p:spTree>
    <p:extLst>
      <p:ext uri="{BB962C8B-B14F-4D97-AF65-F5344CB8AC3E}">
        <p14:creationId xmlns:p14="http://schemas.microsoft.com/office/powerpoint/2010/main" val="5451443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34</a:t>
            </a:fld>
            <a:endParaRPr kumimoji="1" lang="zh-CN" altLang="en-US"/>
          </a:p>
        </p:txBody>
      </p:sp>
    </p:spTree>
    <p:extLst>
      <p:ext uri="{BB962C8B-B14F-4D97-AF65-F5344CB8AC3E}">
        <p14:creationId xmlns:p14="http://schemas.microsoft.com/office/powerpoint/2010/main" val="13073257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35</a:t>
            </a:fld>
            <a:endParaRPr kumimoji="1" lang="zh-CN" altLang="en-US"/>
          </a:p>
        </p:txBody>
      </p:sp>
    </p:spTree>
    <p:extLst>
      <p:ext uri="{BB962C8B-B14F-4D97-AF65-F5344CB8AC3E}">
        <p14:creationId xmlns:p14="http://schemas.microsoft.com/office/powerpoint/2010/main" val="32685354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36</a:t>
            </a:fld>
            <a:endParaRPr kumimoji="1" lang="zh-CN" altLang="en-US"/>
          </a:p>
        </p:txBody>
      </p:sp>
    </p:spTree>
    <p:extLst>
      <p:ext uri="{BB962C8B-B14F-4D97-AF65-F5344CB8AC3E}">
        <p14:creationId xmlns:p14="http://schemas.microsoft.com/office/powerpoint/2010/main" val="8356198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37</a:t>
            </a:fld>
            <a:endParaRPr kumimoji="1" lang="zh-CN" altLang="en-US"/>
          </a:p>
        </p:txBody>
      </p:sp>
    </p:spTree>
    <p:extLst>
      <p:ext uri="{BB962C8B-B14F-4D97-AF65-F5344CB8AC3E}">
        <p14:creationId xmlns:p14="http://schemas.microsoft.com/office/powerpoint/2010/main" val="20736135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38</a:t>
            </a:fld>
            <a:endParaRPr kumimoji="1" lang="zh-CN" altLang="en-US"/>
          </a:p>
        </p:txBody>
      </p:sp>
    </p:spTree>
    <p:extLst>
      <p:ext uri="{BB962C8B-B14F-4D97-AF65-F5344CB8AC3E}">
        <p14:creationId xmlns:p14="http://schemas.microsoft.com/office/powerpoint/2010/main" val="42908864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39</a:t>
            </a:fld>
            <a:endParaRPr kumimoji="1" lang="zh-CN" altLang="en-US"/>
          </a:p>
        </p:txBody>
      </p:sp>
    </p:spTree>
    <p:extLst>
      <p:ext uri="{BB962C8B-B14F-4D97-AF65-F5344CB8AC3E}">
        <p14:creationId xmlns:p14="http://schemas.microsoft.com/office/powerpoint/2010/main" val="14046417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40</a:t>
            </a:fld>
            <a:endParaRPr kumimoji="1" lang="zh-CN" altLang="en-US"/>
          </a:p>
        </p:txBody>
      </p:sp>
    </p:spTree>
    <p:extLst>
      <p:ext uri="{BB962C8B-B14F-4D97-AF65-F5344CB8AC3E}">
        <p14:creationId xmlns:p14="http://schemas.microsoft.com/office/powerpoint/2010/main" val="34385669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41</a:t>
            </a:fld>
            <a:endParaRPr kumimoji="1" lang="zh-CN" altLang="en-US"/>
          </a:p>
        </p:txBody>
      </p:sp>
    </p:spTree>
    <p:extLst>
      <p:ext uri="{BB962C8B-B14F-4D97-AF65-F5344CB8AC3E}">
        <p14:creationId xmlns:p14="http://schemas.microsoft.com/office/powerpoint/2010/main" val="13916873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42</a:t>
            </a:fld>
            <a:endParaRPr kumimoji="1" lang="zh-CN" altLang="en-US"/>
          </a:p>
        </p:txBody>
      </p:sp>
    </p:spTree>
    <p:extLst>
      <p:ext uri="{BB962C8B-B14F-4D97-AF65-F5344CB8AC3E}">
        <p14:creationId xmlns:p14="http://schemas.microsoft.com/office/powerpoint/2010/main" val="1316872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7" name="矩形 6">
            <a:extLst>
              <a:ext uri="{FF2B5EF4-FFF2-40B4-BE49-F238E27FC236}">
                <a16:creationId xmlns:a16="http://schemas.microsoft.com/office/drawing/2014/main" id="{B6F9E280-F138-8142-8DB1-324EA9F38324}"/>
              </a:ext>
            </a:extLst>
          </p:cNvPr>
          <p:cNvSpPr/>
          <p:nvPr userDrawn="1"/>
        </p:nvSpPr>
        <p:spPr>
          <a:xfrm>
            <a:off x="-9940" y="-8628"/>
            <a:ext cx="12201939" cy="90195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区块链原理与技术</a:t>
            </a:r>
          </a:p>
        </p:txBody>
      </p:sp>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00000"/>
              </a:lnSpc>
              <a:spcBef>
                <a:spcPts val="600"/>
              </a:spcBef>
              <a:buFont typeface="Wingdings" pitchFamily="2" charset="2"/>
              <a:buChar char="Ø"/>
              <a:tabLst/>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a:extLst>
              <a:ext uri="{FF2B5EF4-FFF2-40B4-BE49-F238E27FC236}">
                <a16:creationId xmlns:a16="http://schemas.microsoft.com/office/drawing/2014/main" id="{06B569DB-EE88-CB4A-A634-A7CA45E81663}"/>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15452" y="634525"/>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33" name="直线连接符 32">
            <a:extLst>
              <a:ext uri="{FF2B5EF4-FFF2-40B4-BE49-F238E27FC236}">
                <a16:creationId xmlns:a16="http://schemas.microsoft.com/office/drawing/2014/main" id="{E9B9A2A5-908B-3244-B39F-9E6705AE6320}"/>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B9D207E2-3418-4A06-B654-340457A4F5A3}"/>
              </a:ext>
            </a:extLst>
          </p:cNvPr>
          <p:cNvSpPr txBox="1"/>
          <p:nvPr userDrawn="1"/>
        </p:nvSpPr>
        <p:spPr>
          <a:xfrm>
            <a:off x="10058428" y="497975"/>
            <a:ext cx="1738717" cy="369332"/>
          </a:xfrm>
          <a:prstGeom prst="rect">
            <a:avLst/>
          </a:prstGeom>
          <a:noFill/>
        </p:spPr>
        <p:txBody>
          <a:bodyPr wrap="square" rtlCol="0">
            <a:spAutoFit/>
          </a:bodyPr>
          <a:lstStyle/>
          <a:p>
            <a:r>
              <a:rPr lang="zh-CN" altLang="en-US" dirty="0"/>
              <a:t>学校</a:t>
            </a:r>
            <a:r>
              <a:rPr lang="en-US" altLang="zh-CN" dirty="0"/>
              <a:t>logo</a:t>
            </a:r>
            <a:endParaRPr lang="zh-CN" altLang="en-US" dirty="0"/>
          </a:p>
        </p:txBody>
      </p:sp>
    </p:spTree>
    <p:extLst>
      <p:ext uri="{BB962C8B-B14F-4D97-AF65-F5344CB8AC3E}">
        <p14:creationId xmlns:p14="http://schemas.microsoft.com/office/powerpoint/2010/main" val="487275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5" name="Rectangle 8">
            <a:extLst>
              <a:ext uri="{FF2B5EF4-FFF2-40B4-BE49-F238E27FC236}">
                <a16:creationId xmlns:a16="http://schemas.microsoft.com/office/drawing/2014/main" id="{EB931506-C8E0-1649-BE54-52B88034B126}"/>
              </a:ext>
            </a:extLst>
          </p:cNvPr>
          <p:cNvSpPr>
            <a:spLocks noGrp="1" noChangeArrowheads="1"/>
          </p:cNvSpPr>
          <p:nvPr>
            <p:ph type="sldNum" sz="quarter" idx="12"/>
          </p:nvPr>
        </p:nvSpPr>
        <p:spPr>
          <a:ln/>
        </p:spPr>
        <p:txBody>
          <a:bodyPr/>
          <a:lstStyle>
            <a:lvl1pPr>
              <a:defRPr/>
            </a:lvl1pPr>
          </a:lstStyle>
          <a:p>
            <a:fld id="{07279A2F-85B5-794E-ADF1-0805CD3C44B7}" type="slidenum">
              <a:rPr lang="en-US" altLang="zh-CN"/>
              <a:pPr/>
              <a:t>‹#›</a:t>
            </a:fld>
            <a:endParaRPr lang="en-US" altLang="zh-CN"/>
          </a:p>
        </p:txBody>
      </p:sp>
    </p:spTree>
    <p:extLst>
      <p:ext uri="{BB962C8B-B14F-4D97-AF65-F5344CB8AC3E}">
        <p14:creationId xmlns:p14="http://schemas.microsoft.com/office/powerpoint/2010/main" val="27104658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524000" y="891254"/>
            <a:ext cx="9144000" cy="2002674"/>
          </a:xfrm>
        </p:spPr>
        <p:txBody>
          <a:bodyPr/>
          <a:lstStyle/>
          <a:p>
            <a:r>
              <a:rPr kumimoji="1" lang="zh-CN" altLang="en-US" dirty="0"/>
              <a:t>第四章 区块链网络层</a:t>
            </a:r>
          </a:p>
        </p:txBody>
      </p:sp>
      <p:sp>
        <p:nvSpPr>
          <p:cNvPr id="5" name="副标题 4">
            <a:extLst>
              <a:ext uri="{FF2B5EF4-FFF2-40B4-BE49-F238E27FC236}">
                <a16:creationId xmlns:a16="http://schemas.microsoft.com/office/drawing/2014/main" id="{85CB96EA-C97D-4D55-AA1E-D7FB1EB431DF}"/>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465913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solidFill>
                  <a:srgbClr val="C00000"/>
                </a:solidFill>
              </a:rPr>
              <a:t>4.1 P2P</a:t>
            </a:r>
            <a:r>
              <a:rPr kumimoji="1" lang="zh-CN" altLang="en-US" dirty="0">
                <a:solidFill>
                  <a:srgbClr val="C00000"/>
                </a:solidFill>
              </a:rPr>
              <a:t>网络</a:t>
            </a:r>
            <a:endParaRPr kumimoji="1" lang="en-US" altLang="zh-CN" dirty="0">
              <a:solidFill>
                <a:srgbClr val="C00000"/>
              </a:solidFill>
            </a:endParaRPr>
          </a:p>
          <a:p>
            <a:pPr marL="0" indent="0">
              <a:lnSpc>
                <a:spcPct val="130000"/>
              </a:lnSpc>
              <a:buNone/>
            </a:pPr>
            <a:r>
              <a:rPr kumimoji="1" lang="en-US" altLang="zh-CN" dirty="0"/>
              <a:t>4.2 </a:t>
            </a:r>
            <a:r>
              <a:rPr kumimoji="1" lang="zh-CN" altLang="en-US" dirty="0"/>
              <a:t>比特币网络</a:t>
            </a:r>
            <a:endParaRPr kumimoji="1" lang="en-US" altLang="zh-CN" dirty="0"/>
          </a:p>
          <a:p>
            <a:pPr marL="0" indent="0">
              <a:lnSpc>
                <a:spcPct val="130000"/>
              </a:lnSpc>
              <a:buNone/>
            </a:pPr>
            <a:r>
              <a:rPr kumimoji="1" lang="en-US" altLang="zh-CN" dirty="0"/>
              <a:t>4.3 </a:t>
            </a:r>
            <a:r>
              <a:rPr kumimoji="1" lang="zh-CN" altLang="en-US" dirty="0"/>
              <a:t>以太坊网络</a:t>
            </a:r>
            <a:endParaRPr kumimoji="1" lang="en-US" altLang="zh-CN" dirty="0"/>
          </a:p>
          <a:p>
            <a:pPr marL="0" indent="0">
              <a:lnSpc>
                <a:spcPct val="130000"/>
              </a:lnSpc>
              <a:buNone/>
            </a:pPr>
            <a:r>
              <a:rPr kumimoji="1" lang="en-US" altLang="zh-CN" dirty="0"/>
              <a:t>4.4 </a:t>
            </a:r>
            <a:r>
              <a:rPr kumimoji="1" lang="zh-CN" altLang="en-US" dirty="0"/>
              <a:t>网络层安全</a:t>
            </a:r>
            <a:endParaRPr lang="zh-CN" altLang="en-US" dirty="0"/>
          </a:p>
        </p:txBody>
      </p:sp>
      <p:sp>
        <p:nvSpPr>
          <p:cNvPr id="7" name="矩形标注 6">
            <a:extLst>
              <a:ext uri="{FF2B5EF4-FFF2-40B4-BE49-F238E27FC236}">
                <a16:creationId xmlns:a16="http://schemas.microsoft.com/office/drawing/2014/main" id="{E4BFCB96-0FA1-7740-8F94-683CEFB67F89}"/>
              </a:ext>
            </a:extLst>
          </p:cNvPr>
          <p:cNvSpPr/>
          <p:nvPr/>
        </p:nvSpPr>
        <p:spPr>
          <a:xfrm>
            <a:off x="6096000" y="1620253"/>
            <a:ext cx="4281889" cy="2257683"/>
          </a:xfrm>
          <a:prstGeom prst="wedgeRectCallout">
            <a:avLst>
              <a:gd name="adj1" fmla="val -81204"/>
              <a:gd name="adj2" fmla="val -4243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中心化拓扑</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全分布式非结构化拓扑</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全分布式结构化拓扑</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半分布式拓扑</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a:t>
            </a:fld>
            <a:endParaRPr kumimoji="1" lang="zh-CN" altLang="en-US" dirty="0"/>
          </a:p>
        </p:txBody>
      </p:sp>
    </p:spTree>
    <p:extLst>
      <p:ext uri="{BB962C8B-B14F-4D97-AF65-F5344CB8AC3E}">
        <p14:creationId xmlns:p14="http://schemas.microsoft.com/office/powerpoint/2010/main" val="3152775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a:t>
            </a:r>
            <a:r>
              <a:rPr lang="en-US" altLang="zh-CN" dirty="0"/>
              <a:t>P2P</a:t>
            </a:r>
            <a:r>
              <a:rPr lang="zh-CN" altLang="en-US" dirty="0"/>
              <a:t>网络</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不同的定义</a:t>
            </a:r>
          </a:p>
          <a:p>
            <a:pPr lvl="1">
              <a:lnSpc>
                <a:spcPct val="130000"/>
              </a:lnSpc>
            </a:pPr>
            <a:r>
              <a:rPr lang="en-US" altLang="zh-CN" dirty="0"/>
              <a:t>Intel</a:t>
            </a:r>
            <a:r>
              <a:rPr lang="zh-CN" altLang="en-US" dirty="0"/>
              <a:t>：通过系统间的直接交换达成计算机资源与信息的共享</a:t>
            </a:r>
            <a:endParaRPr lang="en-US" altLang="zh-CN" dirty="0"/>
          </a:p>
          <a:p>
            <a:pPr lvl="1">
              <a:lnSpc>
                <a:spcPct val="130000"/>
              </a:lnSpc>
            </a:pPr>
            <a:r>
              <a:rPr lang="en-US" altLang="zh-CN" dirty="0"/>
              <a:t>IBM</a:t>
            </a:r>
            <a:r>
              <a:rPr lang="zh-CN" altLang="en-US" dirty="0"/>
              <a:t>：由若干互联协作的计算机构成并具备如下特性之一：系统依存于边缘化设备的主动协作；每个成员同时扮演客户端和服务器的角色；系统应用的用户能意识到彼此的存在而构成一个虚拟或真实的群体</a:t>
            </a:r>
            <a:endParaRPr lang="en-US" altLang="zh-CN" dirty="0"/>
          </a:p>
          <a:p>
            <a:pPr lvl="0">
              <a:lnSpc>
                <a:spcPct val="130000"/>
              </a:lnSpc>
            </a:pPr>
            <a:r>
              <a:rPr lang="zh-CN" altLang="en-US" dirty="0">
                <a:solidFill>
                  <a:prstClr val="black"/>
                </a:solidFill>
              </a:rPr>
              <a:t>特点</a:t>
            </a:r>
            <a:endParaRPr lang="en-US" altLang="zh-CN" dirty="0">
              <a:solidFill>
                <a:prstClr val="black"/>
              </a:solidFill>
            </a:endParaRPr>
          </a:p>
          <a:p>
            <a:pPr lvl="1">
              <a:lnSpc>
                <a:spcPct val="130000"/>
              </a:lnSpc>
            </a:pPr>
            <a:r>
              <a:rPr lang="zh-CN" altLang="en-US" dirty="0">
                <a:solidFill>
                  <a:prstClr val="black"/>
                </a:solidFill>
              </a:rPr>
              <a:t>节点彼此对等，既作为服务和资源的提供者，又作为服务和资源的获取者</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extLst>
      <p:ext uri="{BB962C8B-B14F-4D97-AF65-F5344CB8AC3E}">
        <p14:creationId xmlns:p14="http://schemas.microsoft.com/office/powerpoint/2010/main" val="3577719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区块链依靠</a:t>
            </a:r>
            <a:r>
              <a:rPr lang="en-US" altLang="zh-CN" dirty="0"/>
              <a:t>P2P</a:t>
            </a:r>
            <a:r>
              <a:rPr lang="zh-CN" altLang="en-US" dirty="0"/>
              <a:t>网络</a:t>
            </a:r>
            <a:endParaRPr lang="en-US" altLang="zh-CN" dirty="0"/>
          </a:p>
        </p:txBody>
      </p:sp>
      <p:sp>
        <p:nvSpPr>
          <p:cNvPr id="3" name="内容占位符 2"/>
          <p:cNvSpPr>
            <a:spLocks noGrp="1"/>
          </p:cNvSpPr>
          <p:nvPr>
            <p:ph idx="1"/>
          </p:nvPr>
        </p:nvSpPr>
        <p:spPr>
          <a:xfrm>
            <a:off x="838200" y="1510758"/>
            <a:ext cx="9888940" cy="4845592"/>
          </a:xfrm>
        </p:spPr>
        <p:txBody>
          <a:bodyPr>
            <a:normAutofit lnSpcReduction="10000"/>
          </a:bodyPr>
          <a:lstStyle/>
          <a:p>
            <a:pPr fontAlgn="auto">
              <a:lnSpc>
                <a:spcPct val="130000"/>
              </a:lnSpc>
            </a:pPr>
            <a:r>
              <a:rPr lang="zh-CN" altLang="en-US" dirty="0"/>
              <a:t>可扩展性、健壮性</a:t>
            </a:r>
          </a:p>
          <a:p>
            <a:pPr lvl="1">
              <a:lnSpc>
                <a:spcPct val="130000"/>
              </a:lnSpc>
            </a:pPr>
            <a:r>
              <a:rPr lang="en-US" altLang="zh-CN" dirty="0"/>
              <a:t>P2P</a:t>
            </a:r>
            <a:r>
              <a:rPr lang="zh-CN" altLang="en-US" dirty="0"/>
              <a:t>网络中的所有对等节点都可以提供带宽、存储空间以及计算能力等资源，随着更多节点的加入，系统整体的资源和服务能力也在同步地得到扩充</a:t>
            </a:r>
            <a:endParaRPr lang="en-US" altLang="zh-CN" dirty="0"/>
          </a:p>
          <a:p>
            <a:pPr lvl="0">
              <a:lnSpc>
                <a:spcPct val="130000"/>
              </a:lnSpc>
            </a:pPr>
            <a:r>
              <a:rPr lang="zh-CN" altLang="en-US" dirty="0">
                <a:solidFill>
                  <a:prstClr val="black"/>
                </a:solidFill>
              </a:rPr>
              <a:t>负载均衡</a:t>
            </a:r>
            <a:endParaRPr lang="en-US" altLang="zh-CN" dirty="0">
              <a:solidFill>
                <a:prstClr val="black"/>
              </a:solidFill>
            </a:endParaRPr>
          </a:p>
          <a:p>
            <a:pPr lvl="1">
              <a:lnSpc>
                <a:spcPct val="130000"/>
              </a:lnSpc>
            </a:pPr>
            <a:r>
              <a:rPr lang="en-US" altLang="zh-CN" dirty="0">
                <a:solidFill>
                  <a:prstClr val="black"/>
                </a:solidFill>
              </a:rPr>
              <a:t>P2P</a:t>
            </a:r>
            <a:r>
              <a:rPr lang="zh-CN" altLang="en-US" dirty="0">
                <a:solidFill>
                  <a:prstClr val="black"/>
                </a:solidFill>
              </a:rPr>
              <a:t>网络的资源分布在多个节点上，可以实现网络的负载均衡</a:t>
            </a:r>
          </a:p>
          <a:p>
            <a:pPr lvl="0">
              <a:lnSpc>
                <a:spcPct val="130000"/>
              </a:lnSpc>
            </a:pPr>
            <a:r>
              <a:rPr lang="zh-CN" altLang="en-US" dirty="0">
                <a:solidFill>
                  <a:prstClr val="black"/>
                </a:solidFill>
              </a:rPr>
              <a:t>去中心化</a:t>
            </a:r>
            <a:endParaRPr lang="en-US" altLang="zh-CN" dirty="0">
              <a:solidFill>
                <a:prstClr val="black"/>
              </a:solidFill>
            </a:endParaRPr>
          </a:p>
          <a:p>
            <a:pPr lvl="1">
              <a:lnSpc>
                <a:spcPct val="130000"/>
              </a:lnSpc>
            </a:pPr>
            <a:r>
              <a:rPr lang="zh-CN" altLang="en-US" dirty="0">
                <a:solidFill>
                  <a:prstClr val="black"/>
                </a:solidFill>
              </a:rPr>
              <a:t>在区块链系统的</a:t>
            </a:r>
            <a:r>
              <a:rPr lang="en-US" altLang="zh-CN" dirty="0">
                <a:solidFill>
                  <a:prstClr val="black"/>
                </a:solidFill>
              </a:rPr>
              <a:t>P2P</a:t>
            </a:r>
            <a:r>
              <a:rPr lang="zh-CN" altLang="en-US" dirty="0">
                <a:solidFill>
                  <a:prstClr val="black"/>
                </a:solidFill>
              </a:rPr>
              <a:t>网络中，节点是信息的发送方和接收方，它们共同维护区块链</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Tree>
    <p:extLst>
      <p:ext uri="{BB962C8B-B14F-4D97-AF65-F5344CB8AC3E}">
        <p14:creationId xmlns:p14="http://schemas.microsoft.com/office/powerpoint/2010/main" val="2895354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拓扑形式一</a:t>
            </a:r>
            <a:endParaRPr lang="en-US" altLang="zh-CN" dirty="0"/>
          </a:p>
        </p:txBody>
      </p:sp>
      <p:sp>
        <p:nvSpPr>
          <p:cNvPr id="3" name="内容占位符 2"/>
          <p:cNvSpPr>
            <a:spLocks noGrp="1"/>
          </p:cNvSpPr>
          <p:nvPr>
            <p:ph idx="1"/>
          </p:nvPr>
        </p:nvSpPr>
        <p:spPr>
          <a:xfrm>
            <a:off x="838200" y="1510758"/>
            <a:ext cx="5410200" cy="4845592"/>
          </a:xfrm>
        </p:spPr>
        <p:txBody>
          <a:bodyPr>
            <a:normAutofit fontScale="92500" lnSpcReduction="20000"/>
          </a:bodyPr>
          <a:lstStyle/>
          <a:p>
            <a:pPr fontAlgn="auto">
              <a:lnSpc>
                <a:spcPct val="130000"/>
              </a:lnSpc>
            </a:pPr>
            <a:r>
              <a:rPr lang="zh-CN" altLang="en-US" dirty="0"/>
              <a:t>中心化拓扑</a:t>
            </a:r>
            <a:endParaRPr lang="en-US" altLang="zh-CN" dirty="0"/>
          </a:p>
          <a:p>
            <a:pPr lvl="1">
              <a:lnSpc>
                <a:spcPct val="130000"/>
              </a:lnSpc>
            </a:pPr>
            <a:r>
              <a:rPr lang="zh-CN" altLang="en-US" dirty="0"/>
              <a:t>由一台中心索引服务器和多个客户端节点构成，并非纯粹的</a:t>
            </a:r>
            <a:r>
              <a:rPr lang="en-US" altLang="zh-CN" dirty="0"/>
              <a:t>P2P</a:t>
            </a:r>
            <a:r>
              <a:rPr lang="zh-CN" altLang="en-US" dirty="0"/>
              <a:t>网络</a:t>
            </a:r>
            <a:endParaRPr lang="en-US" altLang="zh-CN" dirty="0"/>
          </a:p>
          <a:p>
            <a:pPr lvl="1">
              <a:lnSpc>
                <a:spcPct val="130000"/>
              </a:lnSpc>
            </a:pPr>
            <a:r>
              <a:rPr lang="zh-CN" altLang="en-US" dirty="0"/>
              <a:t>中心索引服务器用于保存接入节点的地址信息，向其他节点提供地址索引服务</a:t>
            </a:r>
            <a:endParaRPr lang="en-US" altLang="zh-CN" dirty="0"/>
          </a:p>
          <a:p>
            <a:pPr lvl="0">
              <a:lnSpc>
                <a:spcPct val="130000"/>
              </a:lnSpc>
            </a:pPr>
            <a:r>
              <a:rPr lang="zh-CN" altLang="en-US" dirty="0">
                <a:solidFill>
                  <a:prstClr val="black"/>
                </a:solidFill>
              </a:rPr>
              <a:t>特点</a:t>
            </a:r>
            <a:endParaRPr lang="en-US" altLang="zh-CN" dirty="0">
              <a:solidFill>
                <a:prstClr val="black"/>
              </a:solidFill>
            </a:endParaRPr>
          </a:p>
          <a:p>
            <a:pPr lvl="1">
              <a:lnSpc>
                <a:spcPct val="130000"/>
              </a:lnSpc>
            </a:pPr>
            <a:r>
              <a:rPr lang="zh-CN" altLang="en-US" dirty="0">
                <a:solidFill>
                  <a:prstClr val="black"/>
                </a:solidFill>
              </a:rPr>
              <a:t>实现了文件查询和文件传输的分离，且维护简单</a:t>
            </a:r>
            <a:endParaRPr lang="en-US" altLang="zh-CN" dirty="0">
              <a:solidFill>
                <a:prstClr val="black"/>
              </a:solidFill>
            </a:endParaRPr>
          </a:p>
          <a:p>
            <a:pPr lvl="1">
              <a:lnSpc>
                <a:spcPct val="130000"/>
              </a:lnSpc>
            </a:pPr>
            <a:r>
              <a:rPr lang="zh-CN" altLang="en-US" dirty="0"/>
              <a:t>一旦中心索引服务器发生了故障，就会导致整个网络无法正常工作</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a:xfrm>
            <a:off x="6353175" y="2000056"/>
            <a:ext cx="4895850" cy="3600450"/>
          </a:xfrm>
          <a:prstGeom prst="rect">
            <a:avLst/>
          </a:prstGeom>
          <a:noFill/>
          <a:ln>
            <a:noFill/>
          </a:ln>
        </p:spPr>
      </p:pic>
    </p:spTree>
    <p:extLst>
      <p:ext uri="{BB962C8B-B14F-4D97-AF65-F5344CB8AC3E}">
        <p14:creationId xmlns:p14="http://schemas.microsoft.com/office/powerpoint/2010/main" val="3832924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拓扑形式二</a:t>
            </a:r>
            <a:endParaRPr lang="en-US" altLang="zh-CN" dirty="0"/>
          </a:p>
        </p:txBody>
      </p:sp>
      <p:sp>
        <p:nvSpPr>
          <p:cNvPr id="3" name="内容占位符 2"/>
          <p:cNvSpPr>
            <a:spLocks noGrp="1"/>
          </p:cNvSpPr>
          <p:nvPr>
            <p:ph idx="1"/>
          </p:nvPr>
        </p:nvSpPr>
        <p:spPr>
          <a:xfrm>
            <a:off x="838200" y="1510758"/>
            <a:ext cx="5410200" cy="4845592"/>
          </a:xfrm>
        </p:spPr>
        <p:txBody>
          <a:bodyPr>
            <a:normAutofit fontScale="92500" lnSpcReduction="10000"/>
          </a:bodyPr>
          <a:lstStyle/>
          <a:p>
            <a:pPr fontAlgn="auto">
              <a:lnSpc>
                <a:spcPct val="130000"/>
              </a:lnSpc>
            </a:pPr>
            <a:r>
              <a:rPr lang="zh-CN" altLang="en-US" dirty="0"/>
              <a:t>全分布式非结构化拓扑</a:t>
            </a:r>
            <a:endParaRPr lang="en-US" altLang="zh-CN" dirty="0"/>
          </a:p>
          <a:p>
            <a:pPr lvl="1">
              <a:lnSpc>
                <a:spcPct val="130000"/>
              </a:lnSpc>
            </a:pPr>
            <a:r>
              <a:rPr lang="zh-CN" altLang="en-US" dirty="0"/>
              <a:t>没有使用中心索引服务器，其节点拥有真正的对等关系</a:t>
            </a:r>
            <a:endParaRPr lang="en-US" altLang="zh-CN" dirty="0"/>
          </a:p>
          <a:p>
            <a:pPr lvl="1">
              <a:lnSpc>
                <a:spcPct val="130000"/>
              </a:lnSpc>
            </a:pPr>
            <a:r>
              <a:rPr lang="zh-CN" altLang="en-US" dirty="0"/>
              <a:t>洪泛（</a:t>
            </a:r>
            <a:r>
              <a:rPr lang="en-US" altLang="zh-CN" dirty="0"/>
              <a:t>Flooding</a:t>
            </a:r>
            <a:r>
              <a:rPr lang="zh-CN" altLang="en-US" dirty="0"/>
              <a:t>）数据广播，即节点会将接收到的消息向邻居节点转发，直到所有节点都接收到了这个消息或消息传播的深度到达一定的限制</a:t>
            </a:r>
            <a:endParaRPr lang="en-US" altLang="zh-CN" dirty="0"/>
          </a:p>
          <a:p>
            <a:pPr lvl="0">
              <a:lnSpc>
                <a:spcPct val="130000"/>
              </a:lnSpc>
            </a:pPr>
            <a:r>
              <a:rPr lang="zh-CN" altLang="en-US" dirty="0">
                <a:solidFill>
                  <a:prstClr val="black"/>
                </a:solidFill>
              </a:rPr>
              <a:t>特点</a:t>
            </a:r>
            <a:endParaRPr lang="en-US" altLang="zh-CN" dirty="0">
              <a:solidFill>
                <a:prstClr val="black"/>
              </a:solidFill>
            </a:endParaRPr>
          </a:p>
          <a:p>
            <a:pPr lvl="1">
              <a:lnSpc>
                <a:spcPct val="130000"/>
              </a:lnSpc>
            </a:pPr>
            <a:r>
              <a:rPr lang="zh-CN" altLang="en-US" dirty="0">
                <a:solidFill>
                  <a:prstClr val="black"/>
                </a:solidFill>
              </a:rPr>
              <a:t>可能会出现广播风暴</a:t>
            </a:r>
            <a:endParaRPr lang="en-US" altLang="zh-CN" dirty="0">
              <a:solidFill>
                <a:prstClr val="black"/>
              </a:solidFill>
            </a:endParaRPr>
          </a:p>
          <a:p>
            <a:pPr lvl="1">
              <a:lnSpc>
                <a:spcPct val="130000"/>
              </a:lnSpc>
            </a:pPr>
            <a:r>
              <a:rPr lang="zh-CN" altLang="en-US" dirty="0"/>
              <a:t>实现快速的消息传播和资源查找</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a:xfrm>
            <a:off x="6533500" y="2057206"/>
            <a:ext cx="5040890" cy="3486150"/>
          </a:xfrm>
          <a:prstGeom prst="rect">
            <a:avLst/>
          </a:prstGeom>
          <a:noFill/>
          <a:ln>
            <a:noFill/>
          </a:ln>
        </p:spPr>
      </p:pic>
    </p:spTree>
    <p:extLst>
      <p:ext uri="{BB962C8B-B14F-4D97-AF65-F5344CB8AC3E}">
        <p14:creationId xmlns:p14="http://schemas.microsoft.com/office/powerpoint/2010/main" val="3395366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拓扑形式三</a:t>
            </a:r>
            <a:endParaRPr lang="en-US" altLang="zh-CN" dirty="0"/>
          </a:p>
        </p:txBody>
      </p:sp>
      <p:sp>
        <p:nvSpPr>
          <p:cNvPr id="3" name="内容占位符 2"/>
          <p:cNvSpPr>
            <a:spLocks noGrp="1"/>
          </p:cNvSpPr>
          <p:nvPr>
            <p:ph idx="1"/>
          </p:nvPr>
        </p:nvSpPr>
        <p:spPr>
          <a:xfrm>
            <a:off x="838200" y="1510758"/>
            <a:ext cx="5410200" cy="4845592"/>
          </a:xfrm>
        </p:spPr>
        <p:txBody>
          <a:bodyPr>
            <a:normAutofit fontScale="85000" lnSpcReduction="10000"/>
          </a:bodyPr>
          <a:lstStyle/>
          <a:p>
            <a:pPr fontAlgn="auto">
              <a:lnSpc>
                <a:spcPct val="130000"/>
              </a:lnSpc>
            </a:pPr>
            <a:r>
              <a:rPr lang="zh-CN" altLang="en-US" dirty="0"/>
              <a:t>全分布式结构化拓扑</a:t>
            </a:r>
            <a:endParaRPr lang="en-US" altLang="zh-CN" dirty="0"/>
          </a:p>
          <a:p>
            <a:pPr lvl="1">
              <a:lnSpc>
                <a:spcPct val="130000"/>
              </a:lnSpc>
            </a:pPr>
            <a:r>
              <a:rPr lang="zh-CN" altLang="en-US" dirty="0"/>
              <a:t>采用分布式散列表（</a:t>
            </a:r>
            <a:r>
              <a:rPr lang="en-US" altLang="zh-CN" dirty="0"/>
              <a:t>Distributed Hash Tables</a:t>
            </a:r>
            <a:r>
              <a:rPr lang="zh-CN" altLang="en-US" dirty="0"/>
              <a:t>，简称</a:t>
            </a:r>
            <a:r>
              <a:rPr lang="en-US" altLang="zh-CN" dirty="0"/>
              <a:t>DHT</a:t>
            </a:r>
            <a:r>
              <a:rPr lang="zh-CN" altLang="en-US" dirty="0"/>
              <a:t>）来实现整个网络的寻址和存储，从而结构化地址管理</a:t>
            </a:r>
            <a:endParaRPr lang="en-US" altLang="zh-CN" dirty="0"/>
          </a:p>
          <a:p>
            <a:pPr lvl="1">
              <a:lnSpc>
                <a:spcPct val="130000"/>
              </a:lnSpc>
            </a:pPr>
            <a:r>
              <a:rPr lang="zh-CN" altLang="en-US" dirty="0"/>
              <a:t>分布式散列表将存储着网络中所有资源信息的散列表划分成很多不连续的小块，分散地存储在多个节点上</a:t>
            </a:r>
            <a:endParaRPr lang="en-US" altLang="zh-CN" dirty="0"/>
          </a:p>
          <a:p>
            <a:pPr lvl="0">
              <a:lnSpc>
                <a:spcPct val="130000"/>
              </a:lnSpc>
            </a:pPr>
            <a:r>
              <a:rPr lang="zh-CN" altLang="en-US" dirty="0">
                <a:solidFill>
                  <a:prstClr val="black"/>
                </a:solidFill>
              </a:rPr>
              <a:t>特点</a:t>
            </a:r>
            <a:endParaRPr lang="en-US" altLang="zh-CN" dirty="0">
              <a:solidFill>
                <a:prstClr val="black"/>
              </a:solidFill>
            </a:endParaRPr>
          </a:p>
          <a:p>
            <a:pPr lvl="1">
              <a:lnSpc>
                <a:spcPct val="130000"/>
              </a:lnSpc>
            </a:pPr>
            <a:r>
              <a:rPr lang="zh-CN" altLang="en-US" dirty="0">
                <a:solidFill>
                  <a:prstClr val="black"/>
                </a:solidFill>
              </a:rPr>
              <a:t>维护机制较为复杂</a:t>
            </a:r>
            <a:endParaRPr lang="en-US" altLang="zh-CN" dirty="0">
              <a:solidFill>
                <a:prstClr val="black"/>
              </a:solidFill>
            </a:endParaRPr>
          </a:p>
          <a:p>
            <a:pPr lvl="1">
              <a:lnSpc>
                <a:spcPct val="130000"/>
              </a:lnSpc>
            </a:pPr>
            <a:r>
              <a:rPr lang="zh-CN" altLang="en-US" dirty="0"/>
              <a:t>良好的健壮性、可扩展性和动态适应性</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6</a:t>
            </a:fld>
            <a:endParaRPr kumimoji="1" lang="zh-CN" altLang="en-US" dirty="0"/>
          </a:p>
        </p:txBody>
      </p:sp>
      <p:pic>
        <p:nvPicPr>
          <p:cNvPr id="8" name="图片 7"/>
          <p:cNvPicPr/>
          <p:nvPr/>
        </p:nvPicPr>
        <p:blipFill>
          <a:blip r:embed="rId3" cstate="print">
            <a:extLst>
              <a:ext uri="{28A0092B-C50C-407E-A947-70E740481C1C}">
                <a14:useLocalDpi xmlns:a14="http://schemas.microsoft.com/office/drawing/2010/main" val="0"/>
              </a:ext>
            </a:extLst>
          </a:blip>
          <a:srcRect/>
          <a:stretch>
            <a:fillRect/>
          </a:stretch>
        </p:blipFill>
        <p:spPr>
          <a:xfrm>
            <a:off x="6480175" y="2743199"/>
            <a:ext cx="5316970" cy="2371725"/>
          </a:xfrm>
          <a:prstGeom prst="rect">
            <a:avLst/>
          </a:prstGeom>
          <a:noFill/>
          <a:ln>
            <a:noFill/>
          </a:ln>
        </p:spPr>
      </p:pic>
    </p:spTree>
    <p:extLst>
      <p:ext uri="{BB962C8B-B14F-4D97-AF65-F5344CB8AC3E}">
        <p14:creationId xmlns:p14="http://schemas.microsoft.com/office/powerpoint/2010/main" val="2218579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拓扑形式四</a:t>
            </a:r>
            <a:endParaRPr lang="en-US" altLang="zh-CN" dirty="0"/>
          </a:p>
        </p:txBody>
      </p:sp>
      <p:sp>
        <p:nvSpPr>
          <p:cNvPr id="3" name="内容占位符 2"/>
          <p:cNvSpPr>
            <a:spLocks noGrp="1"/>
          </p:cNvSpPr>
          <p:nvPr>
            <p:ph idx="1"/>
          </p:nvPr>
        </p:nvSpPr>
        <p:spPr>
          <a:xfrm>
            <a:off x="838200" y="1510758"/>
            <a:ext cx="5410200" cy="4845592"/>
          </a:xfrm>
        </p:spPr>
        <p:txBody>
          <a:bodyPr>
            <a:normAutofit fontScale="85000" lnSpcReduction="20000"/>
          </a:bodyPr>
          <a:lstStyle/>
          <a:p>
            <a:pPr fontAlgn="auto">
              <a:lnSpc>
                <a:spcPct val="130000"/>
              </a:lnSpc>
            </a:pPr>
            <a:r>
              <a:rPr lang="zh-CN" altLang="en-US" dirty="0"/>
              <a:t>半分布式拓扑</a:t>
            </a:r>
            <a:endParaRPr lang="en-US" altLang="zh-CN" dirty="0"/>
          </a:p>
          <a:p>
            <a:pPr lvl="1">
              <a:lnSpc>
                <a:spcPct val="130000"/>
              </a:lnSpc>
            </a:pPr>
            <a:r>
              <a:rPr lang="zh-CN" altLang="en-US" dirty="0"/>
              <a:t>将网络中性能较高的机器作为超级节点，每个超级节点存储着系统中其他部分节点的文件信息，执行维护这些节点的地址、文件索引等工作</a:t>
            </a:r>
            <a:endParaRPr lang="en-US" altLang="zh-CN" dirty="0"/>
          </a:p>
          <a:p>
            <a:pPr lvl="1">
              <a:lnSpc>
                <a:spcPct val="130000"/>
              </a:lnSpc>
            </a:pPr>
            <a:r>
              <a:rPr lang="zh-CN" altLang="en-US" dirty="0"/>
              <a:t>超级节点之间形成一个高速的转发层，并与接入的普通节点形成一个自治的簇，簇内采用中心拓扑的</a:t>
            </a:r>
            <a:r>
              <a:rPr lang="en-US" altLang="zh-CN" dirty="0"/>
              <a:t>P2P</a:t>
            </a:r>
            <a:r>
              <a:rPr lang="zh-CN" altLang="en-US" dirty="0"/>
              <a:t>网络</a:t>
            </a:r>
            <a:endParaRPr lang="en-US" altLang="zh-CN" dirty="0"/>
          </a:p>
          <a:p>
            <a:pPr lvl="0">
              <a:lnSpc>
                <a:spcPct val="130000"/>
              </a:lnSpc>
            </a:pPr>
            <a:r>
              <a:rPr lang="zh-CN" altLang="en-US" dirty="0">
                <a:solidFill>
                  <a:prstClr val="black"/>
                </a:solidFill>
              </a:rPr>
              <a:t>特点</a:t>
            </a:r>
            <a:endParaRPr lang="en-US" altLang="zh-CN" dirty="0">
              <a:solidFill>
                <a:prstClr val="black"/>
              </a:solidFill>
            </a:endParaRPr>
          </a:p>
          <a:p>
            <a:pPr lvl="1">
              <a:lnSpc>
                <a:spcPct val="130000"/>
              </a:lnSpc>
            </a:pPr>
            <a:r>
              <a:rPr lang="zh-CN" altLang="en-US" dirty="0">
                <a:solidFill>
                  <a:prstClr val="black"/>
                </a:solidFill>
              </a:rPr>
              <a:t>消除了网络拥塞的隐患，并在性能和可扩展性上具有一定的优势</a:t>
            </a:r>
            <a:endParaRPr lang="en-US" altLang="zh-CN" dirty="0">
              <a:solidFill>
                <a:prstClr val="black"/>
              </a:solidFill>
            </a:endParaRPr>
          </a:p>
          <a:p>
            <a:pPr lvl="1">
              <a:lnSpc>
                <a:spcPct val="130000"/>
              </a:lnSpc>
            </a:pPr>
            <a:r>
              <a:rPr lang="zh-CN" altLang="en-US" dirty="0"/>
              <a:t>对超级节点的依赖性较大</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7</a:t>
            </a:fld>
            <a:endParaRPr kumimoji="1" lang="zh-CN" altLang="en-US" dirty="0"/>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a:xfrm>
            <a:off x="6643687" y="1978547"/>
            <a:ext cx="4500563" cy="3910013"/>
          </a:xfrm>
          <a:prstGeom prst="rect">
            <a:avLst/>
          </a:prstGeom>
          <a:noFill/>
          <a:ln>
            <a:noFill/>
          </a:ln>
        </p:spPr>
      </p:pic>
    </p:spTree>
    <p:extLst>
      <p:ext uri="{BB962C8B-B14F-4D97-AF65-F5344CB8AC3E}">
        <p14:creationId xmlns:p14="http://schemas.microsoft.com/office/powerpoint/2010/main" val="1230437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4.1 P2P</a:t>
            </a:r>
            <a:r>
              <a:rPr kumimoji="1" lang="zh-CN" altLang="en-US" dirty="0"/>
              <a:t>网络</a:t>
            </a:r>
            <a:endParaRPr kumimoji="1" lang="en-US" altLang="zh-CN" dirty="0"/>
          </a:p>
          <a:p>
            <a:pPr marL="0" indent="0">
              <a:lnSpc>
                <a:spcPct val="130000"/>
              </a:lnSpc>
              <a:buNone/>
            </a:pPr>
            <a:r>
              <a:rPr kumimoji="1" lang="en-US" altLang="zh-CN" dirty="0">
                <a:solidFill>
                  <a:srgbClr val="C00000"/>
                </a:solidFill>
              </a:rPr>
              <a:t>4.2 </a:t>
            </a:r>
            <a:r>
              <a:rPr kumimoji="1" lang="zh-CN" altLang="en-US" dirty="0">
                <a:solidFill>
                  <a:srgbClr val="C00000"/>
                </a:solidFill>
              </a:rPr>
              <a:t>比特币网络</a:t>
            </a:r>
            <a:endParaRPr kumimoji="1" lang="en-US" altLang="zh-CN" dirty="0">
              <a:solidFill>
                <a:srgbClr val="C00000"/>
              </a:solidFill>
            </a:endParaRPr>
          </a:p>
          <a:p>
            <a:pPr marL="0" indent="0">
              <a:lnSpc>
                <a:spcPct val="130000"/>
              </a:lnSpc>
              <a:buNone/>
            </a:pPr>
            <a:r>
              <a:rPr kumimoji="1" lang="en-US" altLang="zh-CN" dirty="0"/>
              <a:t>4.3 </a:t>
            </a:r>
            <a:r>
              <a:rPr kumimoji="1" lang="zh-CN" altLang="en-US" dirty="0"/>
              <a:t>以太坊网络</a:t>
            </a:r>
            <a:endParaRPr kumimoji="1" lang="en-US" altLang="zh-CN" dirty="0"/>
          </a:p>
          <a:p>
            <a:pPr marL="0" indent="0">
              <a:lnSpc>
                <a:spcPct val="130000"/>
              </a:lnSpc>
              <a:buNone/>
            </a:pPr>
            <a:r>
              <a:rPr kumimoji="1" lang="en-US" altLang="zh-CN" dirty="0"/>
              <a:t>4.4 </a:t>
            </a:r>
            <a:r>
              <a:rPr kumimoji="1" lang="zh-CN" altLang="en-US" dirty="0"/>
              <a:t>网络层安全</a:t>
            </a:r>
            <a:endParaRPr lang="zh-CN" altLang="en-US" dirty="0"/>
          </a:p>
        </p:txBody>
      </p:sp>
      <p:sp>
        <p:nvSpPr>
          <p:cNvPr id="7" name="矩形标注 6">
            <a:extLst>
              <a:ext uri="{FF2B5EF4-FFF2-40B4-BE49-F238E27FC236}">
                <a16:creationId xmlns:a16="http://schemas.microsoft.com/office/drawing/2014/main" id="{E4BFCB96-0FA1-7740-8F94-683CEFB67F89}"/>
              </a:ext>
            </a:extLst>
          </p:cNvPr>
          <p:cNvSpPr/>
          <p:nvPr/>
        </p:nvSpPr>
        <p:spPr>
          <a:xfrm>
            <a:off x="6096000" y="1620253"/>
            <a:ext cx="4281889" cy="2257683"/>
          </a:xfrm>
          <a:prstGeom prst="wedgeRectCallout">
            <a:avLst>
              <a:gd name="adj1" fmla="val -82748"/>
              <a:gd name="adj2" fmla="val -1510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节点类型及其功能</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扩展比特币网络</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比特币节点通信</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比特币中继网络</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spTree>
    <p:extLst>
      <p:ext uri="{BB962C8B-B14F-4D97-AF65-F5344CB8AC3E}">
        <p14:creationId xmlns:p14="http://schemas.microsoft.com/office/powerpoint/2010/main" val="1458299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比特币网络</a:t>
            </a:r>
            <a:endParaRPr lang="en-US" altLang="zh-CN" dirty="0"/>
          </a:p>
        </p:txBody>
      </p:sp>
      <p:sp>
        <p:nvSpPr>
          <p:cNvPr id="3" name="内容占位符 2"/>
          <p:cNvSpPr>
            <a:spLocks noGrp="1"/>
          </p:cNvSpPr>
          <p:nvPr>
            <p:ph idx="1"/>
          </p:nvPr>
        </p:nvSpPr>
        <p:spPr>
          <a:xfrm>
            <a:off x="838200" y="1510758"/>
            <a:ext cx="9888940" cy="4845592"/>
          </a:xfrm>
        </p:spPr>
        <p:txBody>
          <a:bodyPr>
            <a:normAutofit fontScale="92500" lnSpcReduction="10000"/>
          </a:bodyPr>
          <a:lstStyle/>
          <a:p>
            <a:pPr fontAlgn="auto">
              <a:lnSpc>
                <a:spcPct val="130000"/>
              </a:lnSpc>
            </a:pPr>
            <a:r>
              <a:rPr lang="zh-CN" altLang="en-US" dirty="0"/>
              <a:t>基于全分布式非结构化拓扑</a:t>
            </a:r>
            <a:endParaRPr lang="en-US" altLang="zh-CN" dirty="0"/>
          </a:p>
          <a:p>
            <a:pPr lvl="1">
              <a:lnSpc>
                <a:spcPct val="130000"/>
              </a:lnSpc>
            </a:pPr>
            <a:r>
              <a:rPr lang="zh-CN" altLang="en-US" dirty="0"/>
              <a:t>网络中的节点彼此对等，不存在特权节点和索引服务器，通过共识机制使所有诚实的节点保存一致的区块链视图，从而实现去中心化控制</a:t>
            </a:r>
            <a:endParaRPr lang="en-US" altLang="zh-CN" dirty="0"/>
          </a:p>
          <a:p>
            <a:pPr lvl="0">
              <a:lnSpc>
                <a:spcPct val="130000"/>
              </a:lnSpc>
            </a:pPr>
            <a:r>
              <a:rPr lang="zh-CN" altLang="en-US" dirty="0">
                <a:solidFill>
                  <a:prstClr val="black"/>
                </a:solidFill>
              </a:rPr>
              <a:t>协议</a:t>
            </a:r>
            <a:endParaRPr lang="en-US" altLang="zh-CN" dirty="0">
              <a:solidFill>
                <a:prstClr val="black"/>
              </a:solidFill>
            </a:endParaRPr>
          </a:p>
          <a:p>
            <a:pPr lvl="1">
              <a:lnSpc>
                <a:spcPct val="130000"/>
              </a:lnSpc>
            </a:pPr>
            <a:r>
              <a:rPr lang="zh-CN" altLang="en-US" dirty="0">
                <a:solidFill>
                  <a:prstClr val="black"/>
                </a:solidFill>
              </a:rPr>
              <a:t>比特币网络是依照比特币</a:t>
            </a:r>
            <a:r>
              <a:rPr lang="en-US" altLang="zh-CN" dirty="0">
                <a:solidFill>
                  <a:prstClr val="black"/>
                </a:solidFill>
              </a:rPr>
              <a:t>P2P</a:t>
            </a:r>
            <a:r>
              <a:rPr lang="zh-CN" altLang="en-US" dirty="0">
                <a:solidFill>
                  <a:prstClr val="black"/>
                </a:solidFill>
              </a:rPr>
              <a:t>协议运行的一系列节点的集合，其</a:t>
            </a:r>
            <a:r>
              <a:rPr lang="en-US" altLang="zh-CN" dirty="0">
                <a:solidFill>
                  <a:prstClr val="black"/>
                </a:solidFill>
              </a:rPr>
              <a:t>P2P</a:t>
            </a:r>
            <a:r>
              <a:rPr lang="zh-CN" altLang="en-US" dirty="0">
                <a:solidFill>
                  <a:prstClr val="black"/>
                </a:solidFill>
              </a:rPr>
              <a:t>协议建立在传输层的</a:t>
            </a:r>
            <a:r>
              <a:rPr lang="en-US" altLang="zh-CN" dirty="0">
                <a:solidFill>
                  <a:prstClr val="black"/>
                </a:solidFill>
              </a:rPr>
              <a:t>TCP</a:t>
            </a:r>
            <a:r>
              <a:rPr lang="zh-CN" altLang="en-US" dirty="0">
                <a:solidFill>
                  <a:prstClr val="black"/>
                </a:solidFill>
              </a:rPr>
              <a:t>协议之上，采用</a:t>
            </a:r>
            <a:r>
              <a:rPr lang="en-US" altLang="zh-CN" dirty="0">
                <a:solidFill>
                  <a:prstClr val="black"/>
                </a:solidFill>
              </a:rPr>
              <a:t>8333</a:t>
            </a:r>
            <a:r>
              <a:rPr lang="zh-CN" altLang="en-US" dirty="0">
                <a:solidFill>
                  <a:prstClr val="black"/>
                </a:solidFill>
              </a:rPr>
              <a:t>端口作为主网默认通信端口</a:t>
            </a:r>
            <a:endParaRPr lang="en-US" altLang="zh-CN" dirty="0">
              <a:solidFill>
                <a:prstClr val="black"/>
              </a:solidFill>
            </a:endParaRPr>
          </a:p>
          <a:p>
            <a:pPr lvl="1">
              <a:lnSpc>
                <a:spcPct val="130000"/>
              </a:lnSpc>
            </a:pPr>
            <a:r>
              <a:rPr lang="zh-CN" altLang="en-US" dirty="0">
                <a:solidFill>
                  <a:prstClr val="black"/>
                </a:solidFill>
              </a:rPr>
              <a:t>比特币还运行着其他协议，如应用于矿池挖矿、轻量级或移动端比特币钱包中的</a:t>
            </a:r>
            <a:r>
              <a:rPr lang="en-US" altLang="zh-CN" dirty="0">
                <a:solidFill>
                  <a:prstClr val="black"/>
                </a:solidFill>
              </a:rPr>
              <a:t>Stratum</a:t>
            </a:r>
            <a:r>
              <a:rPr lang="zh-CN" altLang="en-US" dirty="0">
                <a:solidFill>
                  <a:prstClr val="black"/>
                </a:solidFill>
              </a:rPr>
              <a:t>协议。这些协议由网关路由服务器提供，通过比特币</a:t>
            </a:r>
            <a:r>
              <a:rPr lang="en-US" altLang="zh-CN" dirty="0">
                <a:solidFill>
                  <a:prstClr val="black"/>
                </a:solidFill>
              </a:rPr>
              <a:t>P2P</a:t>
            </a:r>
            <a:r>
              <a:rPr lang="zh-CN" altLang="en-US" dirty="0">
                <a:solidFill>
                  <a:prstClr val="black"/>
                </a:solidFill>
              </a:rPr>
              <a:t>协议接入到比特币网络，使得运行着扩展功能的网络节点连接到比特币主网络</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spTree>
    <p:extLst>
      <p:ext uri="{BB962C8B-B14F-4D97-AF65-F5344CB8AC3E}">
        <p14:creationId xmlns:p14="http://schemas.microsoft.com/office/powerpoint/2010/main" val="547241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节点类型</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依照节点保存区块数据内容和是否能独立完成交易验证划分</a:t>
            </a:r>
            <a:endParaRPr lang="en-US" altLang="zh-CN" dirty="0"/>
          </a:p>
          <a:p>
            <a:pPr fontAlgn="auto">
              <a:lnSpc>
                <a:spcPct val="130000"/>
              </a:lnSpc>
            </a:pPr>
            <a:r>
              <a:rPr lang="zh-CN" altLang="en-US" dirty="0"/>
              <a:t>全节点（</a:t>
            </a:r>
            <a:r>
              <a:rPr lang="en-US" altLang="zh-CN" dirty="0"/>
              <a:t>Full Node</a:t>
            </a:r>
            <a:r>
              <a:rPr lang="zh-CN" altLang="en-US" dirty="0"/>
              <a:t>）</a:t>
            </a:r>
            <a:endParaRPr lang="en-US" altLang="zh-CN" dirty="0"/>
          </a:p>
          <a:p>
            <a:pPr lvl="1">
              <a:lnSpc>
                <a:spcPct val="130000"/>
              </a:lnSpc>
            </a:pPr>
            <a:r>
              <a:rPr lang="zh-CN" altLang="en-US" dirty="0"/>
              <a:t>拥有完整的区块链数据，可以独立地进行区块和交易的验证</a:t>
            </a:r>
            <a:endParaRPr lang="en-US" altLang="zh-CN" dirty="0"/>
          </a:p>
          <a:p>
            <a:pPr lvl="0">
              <a:lnSpc>
                <a:spcPct val="130000"/>
              </a:lnSpc>
            </a:pPr>
            <a:r>
              <a:rPr lang="zh-CN" altLang="en-US" dirty="0">
                <a:solidFill>
                  <a:prstClr val="black"/>
                </a:solidFill>
              </a:rPr>
              <a:t>轻节点（</a:t>
            </a:r>
            <a:r>
              <a:rPr lang="en-US" altLang="zh-CN" dirty="0">
                <a:solidFill>
                  <a:prstClr val="black"/>
                </a:solidFill>
              </a:rPr>
              <a:t>Lightweight Node</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只保存区块链数据的部分信息（如：区块头），不能独立地进行区块和交易的验证。它通过简易支付验证（</a:t>
            </a:r>
            <a:r>
              <a:rPr lang="en-US" altLang="zh-CN" dirty="0">
                <a:solidFill>
                  <a:prstClr val="black"/>
                </a:solidFill>
              </a:rPr>
              <a:t>Simplified Payment Verification</a:t>
            </a:r>
            <a:r>
              <a:rPr lang="zh-CN" altLang="en-US" dirty="0">
                <a:solidFill>
                  <a:prstClr val="black"/>
                </a:solidFill>
              </a:rPr>
              <a:t>，简称</a:t>
            </a:r>
            <a:r>
              <a:rPr lang="en-US" altLang="zh-CN" dirty="0">
                <a:solidFill>
                  <a:prstClr val="black"/>
                </a:solidFill>
              </a:rPr>
              <a:t>SPV</a:t>
            </a:r>
            <a:r>
              <a:rPr lang="zh-CN" altLang="en-US" dirty="0">
                <a:solidFill>
                  <a:prstClr val="black"/>
                </a:solidFill>
              </a:rPr>
              <a:t>）方式向其他节点请求数据来完成支付验证</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spTree>
    <p:extLst>
      <p:ext uri="{BB962C8B-B14F-4D97-AF65-F5344CB8AC3E}">
        <p14:creationId xmlns:p14="http://schemas.microsoft.com/office/powerpoint/2010/main" val="2389138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功能类型</a:t>
            </a:r>
            <a:endParaRPr lang="en-US" altLang="zh-CN" dirty="0"/>
          </a:p>
        </p:txBody>
      </p:sp>
      <p:sp>
        <p:nvSpPr>
          <p:cNvPr id="3" name="内容占位符 2"/>
          <p:cNvSpPr>
            <a:spLocks noGrp="1"/>
          </p:cNvSpPr>
          <p:nvPr>
            <p:ph idx="1"/>
          </p:nvPr>
        </p:nvSpPr>
        <p:spPr>
          <a:xfrm>
            <a:off x="838200" y="1510758"/>
            <a:ext cx="9888940" cy="4845592"/>
          </a:xfrm>
        </p:spPr>
        <p:txBody>
          <a:bodyPr>
            <a:normAutofit fontScale="85000" lnSpcReduction="10000"/>
          </a:bodyPr>
          <a:lstStyle/>
          <a:p>
            <a:pPr fontAlgn="auto">
              <a:lnSpc>
                <a:spcPct val="130000"/>
              </a:lnSpc>
            </a:pPr>
            <a:r>
              <a:rPr lang="zh-CN" altLang="en-US" dirty="0"/>
              <a:t>依照节点承载的功能进行划分</a:t>
            </a:r>
            <a:endParaRPr lang="en-US" altLang="zh-CN" dirty="0"/>
          </a:p>
          <a:p>
            <a:pPr fontAlgn="auto">
              <a:lnSpc>
                <a:spcPct val="130000"/>
              </a:lnSpc>
            </a:pPr>
            <a:r>
              <a:rPr lang="zh-CN" altLang="en-US" dirty="0"/>
              <a:t>钱包（</a:t>
            </a:r>
            <a:r>
              <a:rPr lang="en-US" altLang="zh-CN" dirty="0"/>
              <a:t>Wallet</a:t>
            </a:r>
            <a:r>
              <a:rPr lang="zh-CN" altLang="en-US" dirty="0"/>
              <a:t>）</a:t>
            </a:r>
            <a:endParaRPr lang="en-US" altLang="zh-CN" dirty="0"/>
          </a:p>
          <a:p>
            <a:pPr lvl="1">
              <a:lnSpc>
                <a:spcPct val="130000"/>
              </a:lnSpc>
            </a:pPr>
            <a:r>
              <a:rPr lang="zh-CN" altLang="en-US" dirty="0"/>
              <a:t>可以支持比特币交易、查询等功能</a:t>
            </a:r>
            <a:endParaRPr lang="en-US" altLang="zh-CN" dirty="0"/>
          </a:p>
          <a:p>
            <a:pPr lvl="0">
              <a:lnSpc>
                <a:spcPct val="130000"/>
              </a:lnSpc>
            </a:pPr>
            <a:r>
              <a:rPr lang="zh-CN" altLang="en-US" dirty="0">
                <a:solidFill>
                  <a:prstClr val="black"/>
                </a:solidFill>
              </a:rPr>
              <a:t>矿工（</a:t>
            </a:r>
            <a:r>
              <a:rPr lang="en-US" altLang="zh-CN" dirty="0">
                <a:solidFill>
                  <a:prstClr val="black"/>
                </a:solidFill>
              </a:rPr>
              <a:t>Miner</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可以运行工作量证明算法来争夺创建新块的资格，从而赚取系统奖励的比特币以及交易手续费</a:t>
            </a:r>
            <a:endParaRPr lang="en-US" altLang="zh-CN" dirty="0">
              <a:solidFill>
                <a:prstClr val="black"/>
              </a:solidFill>
            </a:endParaRPr>
          </a:p>
          <a:p>
            <a:pPr lvl="0">
              <a:lnSpc>
                <a:spcPct val="130000"/>
              </a:lnSpc>
            </a:pPr>
            <a:r>
              <a:rPr lang="zh-CN" altLang="en-US" dirty="0">
                <a:solidFill>
                  <a:prstClr val="black"/>
                </a:solidFill>
              </a:rPr>
              <a:t>完整区块数据存储（</a:t>
            </a:r>
            <a:r>
              <a:rPr lang="en-US" altLang="zh-CN" dirty="0">
                <a:solidFill>
                  <a:prstClr val="black"/>
                </a:solidFill>
              </a:rPr>
              <a:t>Full </a:t>
            </a:r>
            <a:r>
              <a:rPr lang="en-US" altLang="zh-CN" dirty="0" err="1">
                <a:solidFill>
                  <a:prstClr val="black"/>
                </a:solidFill>
              </a:rPr>
              <a:t>Blockchain</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存储着区块链的完整数据，可以独立地验证所有交易，不需要借助任何外来参考</a:t>
            </a:r>
            <a:endParaRPr lang="en-US" altLang="zh-CN" dirty="0">
              <a:solidFill>
                <a:prstClr val="black"/>
              </a:solidFill>
            </a:endParaRPr>
          </a:p>
          <a:p>
            <a:pPr lvl="0">
              <a:lnSpc>
                <a:spcPct val="130000"/>
              </a:lnSpc>
            </a:pPr>
            <a:r>
              <a:rPr lang="zh-CN" altLang="en-US" dirty="0">
                <a:solidFill>
                  <a:prstClr val="black"/>
                </a:solidFill>
              </a:rPr>
              <a:t>网络路由（</a:t>
            </a:r>
            <a:r>
              <a:rPr lang="en-US" altLang="zh-CN" dirty="0">
                <a:solidFill>
                  <a:prstClr val="black"/>
                </a:solidFill>
              </a:rPr>
              <a:t>Network Routing Node</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连接着一定数量的节点，能帮助转发交易和区块数据，发现和维护节点间的连接</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11</a:t>
            </a:fld>
            <a:endParaRPr kumimoji="1" lang="zh-CN" altLang="en-US" dirty="0"/>
          </a:p>
        </p:txBody>
      </p:sp>
    </p:spTree>
    <p:extLst>
      <p:ext uri="{BB962C8B-B14F-4D97-AF65-F5344CB8AC3E}">
        <p14:creationId xmlns:p14="http://schemas.microsoft.com/office/powerpoint/2010/main" val="2966695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节点类型</a:t>
            </a:r>
            <a:endParaRPr lang="en-US" altLang="zh-CN" dirty="0"/>
          </a:p>
        </p:txBody>
      </p:sp>
      <p:sp>
        <p:nvSpPr>
          <p:cNvPr id="3" name="内容占位符 2"/>
          <p:cNvSpPr>
            <a:spLocks noGrp="1"/>
          </p:cNvSpPr>
          <p:nvPr>
            <p:ph idx="1"/>
          </p:nvPr>
        </p:nvSpPr>
        <p:spPr>
          <a:xfrm>
            <a:off x="838200" y="1510758"/>
            <a:ext cx="9888940" cy="4845592"/>
          </a:xfrm>
        </p:spPr>
        <p:txBody>
          <a:bodyPr>
            <a:normAutofit fontScale="92500" lnSpcReduction="20000"/>
          </a:bodyPr>
          <a:lstStyle/>
          <a:p>
            <a:pPr fontAlgn="auto">
              <a:lnSpc>
                <a:spcPct val="130000"/>
              </a:lnSpc>
            </a:pPr>
            <a:r>
              <a:rPr lang="zh-CN" altLang="en-US" dirty="0"/>
              <a:t>依照节点的功能进行划分</a:t>
            </a:r>
            <a:endParaRPr lang="en-US" altLang="zh-CN" dirty="0"/>
          </a:p>
          <a:p>
            <a:pPr fontAlgn="auto">
              <a:lnSpc>
                <a:spcPct val="130000"/>
              </a:lnSpc>
            </a:pPr>
            <a:r>
              <a:rPr lang="zh-CN" altLang="en-US" dirty="0"/>
              <a:t>核心客户端节点（</a:t>
            </a:r>
            <a:r>
              <a:rPr lang="en-US" altLang="zh-CN" dirty="0"/>
              <a:t>Reference Client</a:t>
            </a:r>
            <a:r>
              <a:rPr lang="zh-CN" altLang="en-US" dirty="0"/>
              <a:t>（</a:t>
            </a:r>
            <a:r>
              <a:rPr lang="en-US" altLang="zh-CN" dirty="0"/>
              <a:t>Bitcoin Core</a:t>
            </a:r>
            <a:r>
              <a:rPr lang="zh-CN" altLang="en-US" dirty="0"/>
              <a:t>））</a:t>
            </a:r>
            <a:endParaRPr lang="en-US" altLang="zh-CN" dirty="0"/>
          </a:p>
          <a:p>
            <a:pPr lvl="1">
              <a:lnSpc>
                <a:spcPct val="130000"/>
              </a:lnSpc>
            </a:pPr>
            <a:r>
              <a:rPr lang="zh-CN" altLang="en-US" dirty="0"/>
              <a:t>包含钱包、矿工、完整区块存储、网络路由四种功能</a:t>
            </a:r>
            <a:endParaRPr lang="en-US" altLang="zh-CN" dirty="0"/>
          </a:p>
          <a:p>
            <a:pPr lvl="0">
              <a:lnSpc>
                <a:spcPct val="130000"/>
              </a:lnSpc>
            </a:pPr>
            <a:r>
              <a:rPr lang="zh-CN" altLang="en-US" dirty="0">
                <a:solidFill>
                  <a:prstClr val="black"/>
                </a:solidFill>
              </a:rPr>
              <a:t>全节点（</a:t>
            </a:r>
            <a:r>
              <a:rPr lang="en-US" altLang="zh-CN" dirty="0">
                <a:solidFill>
                  <a:prstClr val="black"/>
                </a:solidFill>
              </a:rPr>
              <a:t>Full Block Chain Node</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拥有完整的区块链数据，具有网络路由功能</a:t>
            </a:r>
            <a:endParaRPr lang="en-US" altLang="zh-CN" dirty="0">
              <a:solidFill>
                <a:prstClr val="black"/>
              </a:solidFill>
            </a:endParaRPr>
          </a:p>
          <a:p>
            <a:pPr lvl="0">
              <a:lnSpc>
                <a:spcPct val="130000"/>
              </a:lnSpc>
            </a:pPr>
            <a:r>
              <a:rPr lang="zh-CN" altLang="en-US" dirty="0">
                <a:solidFill>
                  <a:prstClr val="black"/>
                </a:solidFill>
              </a:rPr>
              <a:t>独立矿工节点（</a:t>
            </a:r>
            <a:r>
              <a:rPr lang="en-US" altLang="zh-CN" dirty="0">
                <a:solidFill>
                  <a:prstClr val="black"/>
                </a:solidFill>
              </a:rPr>
              <a:t>Solo Miner</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拥有完整区块链数据，具有路由功能和挖矿能力，能不依赖其他节点的算力单独进行挖矿</a:t>
            </a:r>
            <a:endParaRPr lang="en-US" altLang="zh-CN" dirty="0">
              <a:solidFill>
                <a:prstClr val="black"/>
              </a:solidFill>
            </a:endParaRPr>
          </a:p>
          <a:p>
            <a:pPr lvl="0">
              <a:lnSpc>
                <a:spcPct val="130000"/>
              </a:lnSpc>
            </a:pPr>
            <a:r>
              <a:rPr lang="zh-CN" altLang="en-US" dirty="0">
                <a:solidFill>
                  <a:prstClr val="black"/>
                </a:solidFill>
              </a:rPr>
              <a:t>轻量级钱包（</a:t>
            </a:r>
            <a:r>
              <a:rPr lang="en-US" altLang="zh-CN" dirty="0">
                <a:solidFill>
                  <a:prstClr val="black"/>
                </a:solidFill>
              </a:rPr>
              <a:t>Lightweight</a:t>
            </a:r>
            <a:r>
              <a:rPr lang="zh-CN" altLang="en-US" dirty="0">
                <a:solidFill>
                  <a:prstClr val="black"/>
                </a:solidFill>
              </a:rPr>
              <a:t>（</a:t>
            </a:r>
            <a:r>
              <a:rPr lang="en-US" altLang="zh-CN" dirty="0">
                <a:solidFill>
                  <a:prstClr val="black"/>
                </a:solidFill>
              </a:rPr>
              <a:t>SPV</a:t>
            </a:r>
            <a:r>
              <a:rPr lang="zh-CN" altLang="en-US" dirty="0">
                <a:solidFill>
                  <a:prstClr val="black"/>
                </a:solidFill>
              </a:rPr>
              <a:t>）</a:t>
            </a:r>
            <a:r>
              <a:rPr lang="en-US" altLang="zh-CN" dirty="0">
                <a:solidFill>
                  <a:prstClr val="black"/>
                </a:solidFill>
              </a:rPr>
              <a:t>Wallet</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包含钱包与路由转发功能</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spTree>
    <p:extLst>
      <p:ext uri="{BB962C8B-B14F-4D97-AF65-F5344CB8AC3E}">
        <p14:creationId xmlns:p14="http://schemas.microsoft.com/office/powerpoint/2010/main" val="2410087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扩展比特币网络</a:t>
            </a:r>
            <a:endParaRPr lang="en-US" altLang="zh-CN" dirty="0"/>
          </a:p>
        </p:txBody>
      </p:sp>
      <p:sp>
        <p:nvSpPr>
          <p:cNvPr id="3" name="内容占位符 2"/>
          <p:cNvSpPr>
            <a:spLocks noGrp="1"/>
          </p:cNvSpPr>
          <p:nvPr>
            <p:ph idx="1"/>
          </p:nvPr>
        </p:nvSpPr>
        <p:spPr>
          <a:xfrm>
            <a:off x="838200" y="1510758"/>
            <a:ext cx="9888940" cy="4845592"/>
          </a:xfrm>
        </p:spPr>
        <p:txBody>
          <a:bodyPr>
            <a:normAutofit fontScale="92500" lnSpcReduction="20000"/>
          </a:bodyPr>
          <a:lstStyle/>
          <a:p>
            <a:pPr fontAlgn="auto">
              <a:lnSpc>
                <a:spcPct val="130000"/>
              </a:lnSpc>
            </a:pPr>
            <a:r>
              <a:rPr lang="zh-CN" altLang="en-US" dirty="0"/>
              <a:t>包含比特币</a:t>
            </a:r>
            <a:r>
              <a:rPr lang="en-US" altLang="zh-CN" dirty="0"/>
              <a:t>P2P</a:t>
            </a:r>
            <a:r>
              <a:rPr lang="zh-CN" altLang="en-US" dirty="0"/>
              <a:t>协议、矿池挖矿协议、</a:t>
            </a:r>
            <a:r>
              <a:rPr lang="en-US" altLang="zh-CN" dirty="0"/>
              <a:t>Stratum</a:t>
            </a:r>
            <a:r>
              <a:rPr lang="zh-CN" altLang="en-US" dirty="0"/>
              <a:t>协议（矿机与矿池软件之间的通信协议）及其他连接比特币系统组件的相关协议的整体网络结构被称为扩展比特币网络</a:t>
            </a:r>
            <a:endParaRPr lang="en-US" altLang="zh-CN" dirty="0"/>
          </a:p>
          <a:p>
            <a:pPr fontAlgn="auto">
              <a:lnSpc>
                <a:spcPct val="130000"/>
              </a:lnSpc>
            </a:pPr>
            <a:r>
              <a:rPr lang="zh-CN" altLang="en-US" dirty="0"/>
              <a:t>常见的扩展节点有</a:t>
            </a:r>
            <a:endParaRPr lang="en-US" altLang="zh-CN" dirty="0"/>
          </a:p>
          <a:p>
            <a:pPr lvl="1">
              <a:lnSpc>
                <a:spcPct val="130000"/>
              </a:lnSpc>
            </a:pPr>
            <a:r>
              <a:rPr lang="zh-CN" altLang="en-US" dirty="0"/>
              <a:t>矿池协议服务器（</a:t>
            </a:r>
            <a:r>
              <a:rPr lang="en-US" altLang="zh-CN" dirty="0"/>
              <a:t>Pool Protocol Server</a:t>
            </a:r>
            <a:r>
              <a:rPr lang="zh-CN" altLang="en-US" dirty="0"/>
              <a:t>）：常作为比特币网络与其他矿池挖矿节点的网关路由</a:t>
            </a:r>
            <a:endParaRPr lang="en-US" altLang="zh-CN" dirty="0">
              <a:solidFill>
                <a:prstClr val="black"/>
              </a:solidFill>
            </a:endParaRPr>
          </a:p>
          <a:p>
            <a:pPr lvl="1">
              <a:lnSpc>
                <a:spcPct val="130000"/>
              </a:lnSpc>
            </a:pPr>
            <a:r>
              <a:rPr lang="zh-CN" altLang="en-US" dirty="0"/>
              <a:t>挖矿节点（</a:t>
            </a:r>
            <a:r>
              <a:rPr lang="en-US" altLang="zh-CN" dirty="0"/>
              <a:t>Mining Node</a:t>
            </a:r>
            <a:r>
              <a:rPr lang="zh-CN" altLang="en-US" dirty="0"/>
              <a:t>）：一种轻量级节点，包含挖矿功能，但不包含区块链数据，必须依赖矿池服务器维护的全节点进行工作，通常运行</a:t>
            </a:r>
            <a:r>
              <a:rPr lang="en-US" altLang="zh-CN" dirty="0"/>
              <a:t>Stratum</a:t>
            </a:r>
            <a:r>
              <a:rPr lang="zh-CN" altLang="en-US" dirty="0"/>
              <a:t>协议或其他矿池挖矿协议</a:t>
            </a:r>
            <a:endParaRPr lang="en-US" altLang="zh-CN" dirty="0"/>
          </a:p>
          <a:p>
            <a:pPr lvl="1">
              <a:lnSpc>
                <a:spcPct val="130000"/>
              </a:lnSpc>
            </a:pPr>
            <a:r>
              <a:rPr lang="zh-CN" altLang="en-US" dirty="0"/>
              <a:t>轻型</a:t>
            </a:r>
            <a:r>
              <a:rPr lang="en-US" altLang="zh-CN" dirty="0"/>
              <a:t>Stratum</a:t>
            </a:r>
            <a:r>
              <a:rPr lang="zh-CN" altLang="en-US" dirty="0"/>
              <a:t>协议钱包（</a:t>
            </a:r>
            <a:r>
              <a:rPr lang="en-US" altLang="zh-CN" dirty="0"/>
              <a:t>Lightweight</a:t>
            </a:r>
            <a:r>
              <a:rPr lang="zh-CN" altLang="en-US" dirty="0"/>
              <a:t>（</a:t>
            </a:r>
            <a:r>
              <a:rPr lang="en-US" altLang="zh-CN" dirty="0"/>
              <a:t>SPV</a:t>
            </a:r>
            <a:r>
              <a:rPr lang="zh-CN" altLang="en-US" dirty="0"/>
              <a:t>） </a:t>
            </a:r>
            <a:r>
              <a:rPr lang="en-US" altLang="zh-CN" dirty="0"/>
              <a:t>Stratum Wallet</a:t>
            </a:r>
            <a:r>
              <a:rPr lang="zh-CN" altLang="en-US" dirty="0"/>
              <a:t>）：运行在</a:t>
            </a:r>
            <a:r>
              <a:rPr lang="en-US" altLang="zh-CN" dirty="0"/>
              <a:t>Stratum</a:t>
            </a:r>
            <a:r>
              <a:rPr lang="zh-CN" altLang="en-US" dirty="0"/>
              <a:t>协议下包含钱包功能的节点</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spTree>
    <p:extLst>
      <p:ext uri="{BB962C8B-B14F-4D97-AF65-F5344CB8AC3E}">
        <p14:creationId xmlns:p14="http://schemas.microsoft.com/office/powerpoint/2010/main" val="171746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比特币节点通信</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为了能够参与协同运作，节点需要发现网络中的其他节点并与它们建立通信连接</a:t>
            </a:r>
            <a:endParaRPr lang="en-US" altLang="zh-CN" dirty="0"/>
          </a:p>
          <a:p>
            <a:pPr fontAlgn="auto">
              <a:lnSpc>
                <a:spcPct val="130000"/>
              </a:lnSpc>
            </a:pPr>
            <a:r>
              <a:rPr lang="zh-CN" altLang="en-US" dirty="0"/>
              <a:t>新加入的节点通常采用下面两种方式进行节点发现</a:t>
            </a:r>
            <a:endParaRPr lang="en-US" altLang="zh-CN" dirty="0"/>
          </a:p>
          <a:p>
            <a:pPr lvl="1">
              <a:lnSpc>
                <a:spcPct val="130000"/>
              </a:lnSpc>
            </a:pPr>
            <a:r>
              <a:rPr lang="zh-CN" altLang="en-US" dirty="0"/>
              <a:t>使用“</a:t>
            </a:r>
            <a:r>
              <a:rPr lang="en-US" altLang="zh-CN" dirty="0"/>
              <a:t>DNS</a:t>
            </a:r>
            <a:r>
              <a:rPr lang="zh-CN" altLang="en-US" dirty="0"/>
              <a:t>种子”（</a:t>
            </a:r>
            <a:r>
              <a:rPr lang="en-US" altLang="zh-CN" dirty="0"/>
              <a:t>DNS seeds</a:t>
            </a:r>
            <a:r>
              <a:rPr lang="zh-CN" altLang="en-US" dirty="0"/>
              <a:t>）来查询</a:t>
            </a:r>
            <a:r>
              <a:rPr lang="en-US" altLang="zh-CN" dirty="0"/>
              <a:t>DNS</a:t>
            </a:r>
            <a:r>
              <a:rPr lang="zh-CN" altLang="en-US" dirty="0"/>
              <a:t>。比特币客户端会维护一个记录长期稳定运行节点的列表，这些节点也被称为种子节点，种子节点能提供比特币节点的</a:t>
            </a:r>
            <a:r>
              <a:rPr lang="en-US" altLang="zh-CN" dirty="0"/>
              <a:t>IP</a:t>
            </a:r>
            <a:r>
              <a:rPr lang="zh-CN" altLang="en-US" dirty="0"/>
              <a:t>地址列表。通过与种子节点进行连接，新节点可以快速发现网络中的其他节点</a:t>
            </a:r>
            <a:endParaRPr lang="en-US" altLang="zh-CN" dirty="0">
              <a:solidFill>
                <a:prstClr val="black"/>
              </a:solidFill>
            </a:endParaRPr>
          </a:p>
          <a:p>
            <a:pPr lvl="1">
              <a:lnSpc>
                <a:spcPct val="130000"/>
              </a:lnSpc>
            </a:pPr>
            <a:r>
              <a:rPr lang="zh-CN" altLang="en-US" dirty="0"/>
              <a:t>通过</a:t>
            </a:r>
            <a:r>
              <a:rPr lang="en-US" altLang="zh-CN" dirty="0"/>
              <a:t>-</a:t>
            </a:r>
            <a:r>
              <a:rPr lang="en-US" altLang="zh-CN" dirty="0" err="1"/>
              <a:t>seednode</a:t>
            </a:r>
            <a:r>
              <a:rPr lang="zh-CN" altLang="en-US" dirty="0"/>
              <a:t>命令指定一个比特币节点的</a:t>
            </a:r>
            <a:r>
              <a:rPr lang="en-US" altLang="zh-CN" dirty="0"/>
              <a:t>IP</a:t>
            </a:r>
            <a:r>
              <a:rPr lang="zh-CN" altLang="en-US" dirty="0"/>
              <a:t>地址作为比特币种子节点。节点会和这个种子节点进行连接以发现新节点</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spTree>
    <p:extLst>
      <p:ext uri="{BB962C8B-B14F-4D97-AF65-F5344CB8AC3E}">
        <p14:creationId xmlns:p14="http://schemas.microsoft.com/office/powerpoint/2010/main" val="3641318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节点握手</a:t>
            </a:r>
            <a:endParaRPr lang="en-US" altLang="zh-CN" dirty="0"/>
          </a:p>
        </p:txBody>
      </p:sp>
      <p:sp>
        <p:nvSpPr>
          <p:cNvPr id="3" name="内容占位符 2"/>
          <p:cNvSpPr>
            <a:spLocks noGrp="1"/>
          </p:cNvSpPr>
          <p:nvPr>
            <p:ph idx="1"/>
          </p:nvPr>
        </p:nvSpPr>
        <p:spPr>
          <a:xfrm>
            <a:off x="838200" y="1510758"/>
            <a:ext cx="6553200" cy="4845592"/>
          </a:xfrm>
        </p:spPr>
        <p:txBody>
          <a:bodyPr>
            <a:normAutofit fontScale="70000" lnSpcReduction="20000"/>
          </a:bodyPr>
          <a:lstStyle/>
          <a:p>
            <a:pPr fontAlgn="auto">
              <a:lnSpc>
                <a:spcPct val="130000"/>
              </a:lnSpc>
            </a:pPr>
            <a:r>
              <a:rPr lang="zh-CN" altLang="en-US" dirty="0"/>
              <a:t>节点发现之后，节点间进行“握手”连接实现信息的交换</a:t>
            </a:r>
            <a:endParaRPr lang="en-US" altLang="zh-CN" dirty="0"/>
          </a:p>
          <a:p>
            <a:pPr fontAlgn="auto">
              <a:lnSpc>
                <a:spcPct val="130000"/>
              </a:lnSpc>
            </a:pPr>
            <a:r>
              <a:rPr lang="zh-CN" altLang="en-US" dirty="0"/>
              <a:t>节点</a:t>
            </a:r>
            <a:r>
              <a:rPr lang="en-US" altLang="zh-CN" dirty="0"/>
              <a:t>A</a:t>
            </a:r>
            <a:r>
              <a:rPr lang="zh-CN" altLang="en-US" dirty="0"/>
              <a:t>先向节点</a:t>
            </a:r>
            <a:r>
              <a:rPr lang="en-US" altLang="zh-CN" dirty="0"/>
              <a:t>B</a:t>
            </a:r>
            <a:r>
              <a:rPr lang="zh-CN" altLang="en-US" dirty="0"/>
              <a:t>发送</a:t>
            </a:r>
            <a:r>
              <a:rPr lang="en-US" altLang="zh-CN" dirty="0"/>
              <a:t>version</a:t>
            </a:r>
            <a:r>
              <a:rPr lang="zh-CN" altLang="en-US" dirty="0"/>
              <a:t>信息，包括以下内容</a:t>
            </a:r>
            <a:endParaRPr lang="en-US" altLang="zh-CN" dirty="0"/>
          </a:p>
          <a:p>
            <a:pPr lvl="1">
              <a:lnSpc>
                <a:spcPct val="130000"/>
              </a:lnSpc>
            </a:pPr>
            <a:r>
              <a:rPr lang="en-US" altLang="zh-CN" dirty="0" err="1"/>
              <a:t>nVersion</a:t>
            </a:r>
            <a:r>
              <a:rPr lang="zh-CN" altLang="en-US" dirty="0"/>
              <a:t>：客户端采用的比特币</a:t>
            </a:r>
            <a:r>
              <a:rPr lang="en-US" altLang="zh-CN" dirty="0"/>
              <a:t>P2P</a:t>
            </a:r>
            <a:r>
              <a:rPr lang="zh-CN" altLang="en-US" dirty="0"/>
              <a:t>协议版本</a:t>
            </a:r>
          </a:p>
          <a:p>
            <a:pPr lvl="1">
              <a:lnSpc>
                <a:spcPct val="130000"/>
              </a:lnSpc>
            </a:pPr>
            <a:r>
              <a:rPr lang="en-US" altLang="zh-CN" dirty="0" err="1"/>
              <a:t>nLocalServices</a:t>
            </a:r>
            <a:r>
              <a:rPr lang="zh-CN" altLang="en-US" dirty="0"/>
              <a:t>：一组该节点支持的本地服务列表，当前仅支持</a:t>
            </a:r>
            <a:r>
              <a:rPr lang="en-US" altLang="zh-CN" dirty="0"/>
              <a:t>NODE_NETWORK</a:t>
            </a:r>
          </a:p>
          <a:p>
            <a:pPr lvl="1">
              <a:lnSpc>
                <a:spcPct val="130000"/>
              </a:lnSpc>
            </a:pPr>
            <a:r>
              <a:rPr lang="en-US" altLang="zh-CN" dirty="0" err="1"/>
              <a:t>nTime</a:t>
            </a:r>
            <a:r>
              <a:rPr lang="zh-CN" altLang="en-US" dirty="0"/>
              <a:t>：当前时间</a:t>
            </a:r>
          </a:p>
          <a:p>
            <a:pPr lvl="1">
              <a:lnSpc>
                <a:spcPct val="130000"/>
              </a:lnSpc>
            </a:pPr>
            <a:r>
              <a:rPr lang="en-US" altLang="zh-CN" dirty="0" err="1"/>
              <a:t>addrYou</a:t>
            </a:r>
            <a:r>
              <a:rPr lang="zh-CN" altLang="en-US" dirty="0"/>
              <a:t>：当前节点可见的远程节点的</a:t>
            </a:r>
            <a:r>
              <a:rPr lang="en-US" altLang="zh-CN" dirty="0"/>
              <a:t>IP</a:t>
            </a:r>
            <a:r>
              <a:rPr lang="zh-CN" altLang="en-US" dirty="0"/>
              <a:t>地址（节点</a:t>
            </a:r>
            <a:r>
              <a:rPr lang="en-US" altLang="zh-CN" dirty="0"/>
              <a:t>B</a:t>
            </a:r>
            <a:r>
              <a:rPr lang="zh-CN" altLang="en-US" dirty="0"/>
              <a:t>的</a:t>
            </a:r>
            <a:r>
              <a:rPr lang="en-US" altLang="zh-CN" dirty="0"/>
              <a:t>IP</a:t>
            </a:r>
            <a:r>
              <a:rPr lang="zh-CN" altLang="en-US" dirty="0"/>
              <a:t>）</a:t>
            </a:r>
          </a:p>
          <a:p>
            <a:pPr lvl="1">
              <a:lnSpc>
                <a:spcPct val="130000"/>
              </a:lnSpc>
            </a:pPr>
            <a:r>
              <a:rPr lang="en-US" altLang="zh-CN" dirty="0" err="1"/>
              <a:t>addrMe</a:t>
            </a:r>
            <a:r>
              <a:rPr lang="zh-CN" altLang="en-US" dirty="0"/>
              <a:t>：当前节点的</a:t>
            </a:r>
            <a:r>
              <a:rPr lang="en-US" altLang="zh-CN" dirty="0"/>
              <a:t>IP</a:t>
            </a:r>
            <a:r>
              <a:rPr lang="zh-CN" altLang="en-US" dirty="0"/>
              <a:t>地址（节点</a:t>
            </a:r>
            <a:r>
              <a:rPr lang="en-US" altLang="zh-CN" dirty="0"/>
              <a:t>A</a:t>
            </a:r>
            <a:r>
              <a:rPr lang="zh-CN" altLang="en-US" dirty="0"/>
              <a:t>的</a:t>
            </a:r>
            <a:r>
              <a:rPr lang="en-US" altLang="zh-CN" dirty="0"/>
              <a:t>IP</a:t>
            </a:r>
            <a:r>
              <a:rPr lang="zh-CN" altLang="en-US" dirty="0"/>
              <a:t>）</a:t>
            </a:r>
          </a:p>
          <a:p>
            <a:pPr lvl="1">
              <a:lnSpc>
                <a:spcPct val="130000"/>
              </a:lnSpc>
            </a:pPr>
            <a:r>
              <a:rPr lang="en-US" altLang="zh-CN" dirty="0" err="1"/>
              <a:t>subver</a:t>
            </a:r>
            <a:r>
              <a:rPr lang="zh-CN" altLang="en-US" dirty="0"/>
              <a:t>：指示当前节点运行的软件类型的子版本号</a:t>
            </a:r>
          </a:p>
          <a:p>
            <a:pPr lvl="1">
              <a:lnSpc>
                <a:spcPct val="130000"/>
              </a:lnSpc>
            </a:pPr>
            <a:r>
              <a:rPr lang="en-US" altLang="zh-CN" dirty="0" err="1"/>
              <a:t>BestHeight</a:t>
            </a:r>
            <a:r>
              <a:rPr lang="zh-CN" altLang="en-US" dirty="0"/>
              <a:t>：当前节点区块链的区块高度（初始为</a:t>
            </a:r>
            <a:r>
              <a:rPr lang="en-US" altLang="zh-CN" dirty="0"/>
              <a:t>0</a:t>
            </a:r>
            <a:r>
              <a:rPr lang="zh-CN" altLang="en-US" dirty="0"/>
              <a:t>，即只包含创世区块）</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pic>
        <p:nvPicPr>
          <p:cNvPr id="5" name="图片 4"/>
          <p:cNvPicPr/>
          <p:nvPr/>
        </p:nvPicPr>
        <p:blipFill>
          <a:blip r:embed="rId3" cstate="print">
            <a:extLst>
              <a:ext uri="{28A0092B-C50C-407E-A947-70E740481C1C}">
                <a14:useLocalDpi xmlns:a14="http://schemas.microsoft.com/office/drawing/2010/main" val="0"/>
              </a:ext>
            </a:extLst>
          </a:blip>
          <a:srcRect/>
          <a:stretch>
            <a:fillRect/>
          </a:stretch>
        </p:blipFill>
        <p:spPr>
          <a:xfrm>
            <a:off x="8040687" y="2348547"/>
            <a:ext cx="3351213" cy="2642553"/>
          </a:xfrm>
          <a:prstGeom prst="rect">
            <a:avLst/>
          </a:prstGeom>
          <a:noFill/>
          <a:ln>
            <a:noFill/>
          </a:ln>
        </p:spPr>
      </p:pic>
    </p:spTree>
    <p:extLst>
      <p:ext uri="{BB962C8B-B14F-4D97-AF65-F5344CB8AC3E}">
        <p14:creationId xmlns:p14="http://schemas.microsoft.com/office/powerpoint/2010/main" val="2303097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地址传播和发现</a:t>
            </a:r>
            <a:endParaRPr lang="en-US" altLang="zh-CN" dirty="0"/>
          </a:p>
        </p:txBody>
      </p:sp>
      <p:sp>
        <p:nvSpPr>
          <p:cNvPr id="3" name="内容占位符 2"/>
          <p:cNvSpPr>
            <a:spLocks noGrp="1"/>
          </p:cNvSpPr>
          <p:nvPr>
            <p:ph idx="1"/>
          </p:nvPr>
        </p:nvSpPr>
        <p:spPr>
          <a:xfrm>
            <a:off x="838200" y="1510758"/>
            <a:ext cx="5667375" cy="4845592"/>
          </a:xfrm>
        </p:spPr>
        <p:txBody>
          <a:bodyPr>
            <a:normAutofit fontScale="77500" lnSpcReduction="20000"/>
          </a:bodyPr>
          <a:lstStyle/>
          <a:p>
            <a:pPr fontAlgn="auto">
              <a:lnSpc>
                <a:spcPct val="130000"/>
              </a:lnSpc>
            </a:pPr>
            <a:r>
              <a:rPr lang="zh-CN" altLang="en-US" dirty="0"/>
              <a:t>当节点</a:t>
            </a:r>
            <a:r>
              <a:rPr lang="en-US" altLang="zh-CN" dirty="0"/>
              <a:t>A</a:t>
            </a:r>
            <a:r>
              <a:rPr lang="zh-CN" altLang="en-US" dirty="0"/>
              <a:t>和节点</a:t>
            </a:r>
            <a:r>
              <a:rPr lang="en-US" altLang="zh-CN" dirty="0"/>
              <a:t>B</a:t>
            </a:r>
            <a:r>
              <a:rPr lang="zh-CN" altLang="en-US" dirty="0"/>
              <a:t>的握手连接建立之后，节点</a:t>
            </a:r>
            <a:r>
              <a:rPr lang="en-US" altLang="zh-CN" dirty="0"/>
              <a:t>B</a:t>
            </a:r>
            <a:r>
              <a:rPr lang="zh-CN" altLang="en-US" dirty="0"/>
              <a:t>可以转发节点</a:t>
            </a:r>
            <a:r>
              <a:rPr lang="en-US" altLang="zh-CN" dirty="0"/>
              <a:t>A</a:t>
            </a:r>
            <a:r>
              <a:rPr lang="zh-CN" altLang="en-US" dirty="0"/>
              <a:t>的地址，让新节点被更多节点接收，并进一步向节点</a:t>
            </a:r>
            <a:r>
              <a:rPr lang="en-US" altLang="zh-CN" dirty="0"/>
              <a:t>A</a:t>
            </a:r>
            <a:r>
              <a:rPr lang="zh-CN" altLang="en-US" dirty="0"/>
              <a:t>提供节点引荐</a:t>
            </a:r>
            <a:endParaRPr lang="en-US" altLang="zh-CN" dirty="0"/>
          </a:p>
          <a:p>
            <a:pPr fontAlgn="auto">
              <a:lnSpc>
                <a:spcPct val="130000"/>
              </a:lnSpc>
            </a:pPr>
            <a:r>
              <a:rPr lang="zh-CN" altLang="en-US" dirty="0"/>
              <a:t>节点</a:t>
            </a:r>
            <a:r>
              <a:rPr lang="en-US" altLang="zh-CN" dirty="0"/>
              <a:t>A</a:t>
            </a:r>
            <a:r>
              <a:rPr lang="zh-CN" altLang="en-US" dirty="0"/>
              <a:t>将一条包含自己</a:t>
            </a:r>
            <a:r>
              <a:rPr lang="en-US" altLang="zh-CN" dirty="0"/>
              <a:t>IP</a:t>
            </a:r>
            <a:r>
              <a:rPr lang="zh-CN" altLang="en-US" dirty="0"/>
              <a:t>地址的</a:t>
            </a:r>
            <a:r>
              <a:rPr lang="en-US" altLang="zh-CN" dirty="0" err="1"/>
              <a:t>addr</a:t>
            </a:r>
            <a:r>
              <a:rPr lang="zh-CN" altLang="en-US" dirty="0"/>
              <a:t>消息发送给节点</a:t>
            </a:r>
            <a:r>
              <a:rPr lang="en-US" altLang="zh-CN" dirty="0"/>
              <a:t>B</a:t>
            </a:r>
            <a:r>
              <a:rPr lang="zh-CN" altLang="en-US" dirty="0"/>
              <a:t>，节点</a:t>
            </a:r>
            <a:r>
              <a:rPr lang="en-US" altLang="zh-CN" dirty="0"/>
              <a:t>B</a:t>
            </a:r>
            <a:r>
              <a:rPr lang="zh-CN" altLang="en-US" dirty="0"/>
              <a:t>会将这条</a:t>
            </a:r>
            <a:r>
              <a:rPr lang="en-US" altLang="zh-CN" dirty="0" err="1"/>
              <a:t>addr</a:t>
            </a:r>
            <a:r>
              <a:rPr lang="zh-CN" altLang="en-US" dirty="0"/>
              <a:t>消息转发给节点</a:t>
            </a:r>
            <a:r>
              <a:rPr lang="en-US" altLang="zh-CN" dirty="0"/>
              <a:t>B</a:t>
            </a:r>
            <a:r>
              <a:rPr lang="zh-CN" altLang="en-US" dirty="0"/>
              <a:t>的相邻节点，使得节点</a:t>
            </a:r>
            <a:r>
              <a:rPr lang="en-US" altLang="zh-CN" dirty="0"/>
              <a:t>A</a:t>
            </a:r>
            <a:r>
              <a:rPr lang="zh-CN" altLang="en-US" dirty="0"/>
              <a:t>的信息会在网络中广播出去，被更多节点发现</a:t>
            </a:r>
            <a:endParaRPr lang="en-US" altLang="zh-CN" dirty="0"/>
          </a:p>
          <a:p>
            <a:pPr fontAlgn="auto">
              <a:lnSpc>
                <a:spcPct val="130000"/>
              </a:lnSpc>
            </a:pPr>
            <a:r>
              <a:rPr lang="zh-CN" altLang="en-US" dirty="0"/>
              <a:t>此外，节点</a:t>
            </a:r>
            <a:r>
              <a:rPr lang="en-US" altLang="zh-CN" dirty="0"/>
              <a:t>A</a:t>
            </a:r>
            <a:r>
              <a:rPr lang="zh-CN" altLang="en-US" dirty="0"/>
              <a:t>可以向节点</a:t>
            </a:r>
            <a:r>
              <a:rPr lang="en-US" altLang="zh-CN" dirty="0"/>
              <a:t>B</a:t>
            </a:r>
            <a:r>
              <a:rPr lang="zh-CN" altLang="en-US" dirty="0"/>
              <a:t>发送</a:t>
            </a:r>
            <a:r>
              <a:rPr lang="en-US" altLang="zh-CN" dirty="0" err="1"/>
              <a:t>getaddr</a:t>
            </a:r>
            <a:r>
              <a:rPr lang="zh-CN" altLang="en-US" dirty="0"/>
              <a:t>请求，要求节点</a:t>
            </a:r>
            <a:r>
              <a:rPr lang="en-US" altLang="zh-CN" dirty="0"/>
              <a:t>B</a:t>
            </a:r>
            <a:r>
              <a:rPr lang="zh-CN" altLang="en-US" dirty="0"/>
              <a:t>向其发送已知的其他节点的</a:t>
            </a:r>
            <a:r>
              <a:rPr lang="en-US" altLang="zh-CN" dirty="0"/>
              <a:t>IP</a:t>
            </a:r>
            <a:r>
              <a:rPr lang="zh-CN" altLang="en-US" dirty="0"/>
              <a:t>地址。通过这种方式，可以实现比特币地址的传播和发现</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16</a:t>
            </a:fld>
            <a:endParaRPr kumimoji="1" lang="zh-CN" altLang="en-US" dirty="0"/>
          </a:p>
        </p:txBody>
      </p:sp>
      <p:pic>
        <p:nvPicPr>
          <p:cNvPr id="6" name="图片 5"/>
          <p:cNvPicPr/>
          <p:nvPr/>
        </p:nvPicPr>
        <p:blipFill>
          <a:blip r:embed="rId3" cstate="print">
            <a:extLst>
              <a:ext uri="{28A0092B-C50C-407E-A947-70E740481C1C}">
                <a14:useLocalDpi xmlns:a14="http://schemas.microsoft.com/office/drawing/2010/main" val="0"/>
              </a:ext>
            </a:extLst>
          </a:blip>
          <a:srcRect/>
          <a:stretch>
            <a:fillRect/>
          </a:stretch>
        </p:blipFill>
        <p:spPr>
          <a:xfrm>
            <a:off x="7376781" y="2438082"/>
            <a:ext cx="3560128" cy="3000693"/>
          </a:xfrm>
          <a:prstGeom prst="rect">
            <a:avLst/>
          </a:prstGeom>
          <a:noFill/>
          <a:ln>
            <a:noFill/>
          </a:ln>
        </p:spPr>
      </p:pic>
    </p:spTree>
    <p:extLst>
      <p:ext uri="{BB962C8B-B14F-4D97-AF65-F5344CB8AC3E}">
        <p14:creationId xmlns:p14="http://schemas.microsoft.com/office/powerpoint/2010/main" val="4098955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地址管理</a:t>
            </a:r>
            <a:endParaRPr lang="en-US" altLang="zh-CN" dirty="0"/>
          </a:p>
        </p:txBody>
      </p:sp>
      <p:sp>
        <p:nvSpPr>
          <p:cNvPr id="3" name="内容占位符 2"/>
          <p:cNvSpPr>
            <a:spLocks noGrp="1"/>
          </p:cNvSpPr>
          <p:nvPr>
            <p:ph idx="1"/>
          </p:nvPr>
        </p:nvSpPr>
        <p:spPr>
          <a:xfrm>
            <a:off x="838200" y="1510758"/>
            <a:ext cx="9888940" cy="4845592"/>
          </a:xfrm>
        </p:spPr>
        <p:txBody>
          <a:bodyPr>
            <a:normAutofit fontScale="85000" lnSpcReduction="10000"/>
          </a:bodyPr>
          <a:lstStyle/>
          <a:p>
            <a:pPr fontAlgn="auto">
              <a:lnSpc>
                <a:spcPct val="130000"/>
              </a:lnSpc>
            </a:pPr>
            <a:r>
              <a:rPr lang="zh-CN" altLang="en-US" dirty="0"/>
              <a:t>比特币节点使用</a:t>
            </a:r>
            <a:r>
              <a:rPr lang="en-US" altLang="zh-CN" dirty="0"/>
              <a:t>tried</a:t>
            </a:r>
            <a:r>
              <a:rPr lang="zh-CN" altLang="en-US" dirty="0"/>
              <a:t>和</a:t>
            </a:r>
            <a:r>
              <a:rPr lang="en-US" altLang="zh-CN" dirty="0"/>
              <a:t>new</a:t>
            </a:r>
            <a:r>
              <a:rPr lang="zh-CN" altLang="en-US" dirty="0"/>
              <a:t>列表管理网络中节点的</a:t>
            </a:r>
            <a:r>
              <a:rPr lang="en-US" altLang="zh-CN" dirty="0"/>
              <a:t>IP</a:t>
            </a:r>
            <a:r>
              <a:rPr lang="zh-CN" altLang="en-US" dirty="0"/>
              <a:t>地址</a:t>
            </a:r>
            <a:endParaRPr lang="en-US" altLang="zh-CN" dirty="0"/>
          </a:p>
          <a:p>
            <a:pPr lvl="1">
              <a:lnSpc>
                <a:spcPct val="130000"/>
              </a:lnSpc>
            </a:pPr>
            <a:r>
              <a:rPr lang="en-US" altLang="zh-CN" dirty="0"/>
              <a:t>tried</a:t>
            </a:r>
            <a:r>
              <a:rPr lang="zh-CN" altLang="en-US" dirty="0"/>
              <a:t>列表包含了</a:t>
            </a:r>
            <a:r>
              <a:rPr lang="en-US" altLang="zh-CN" dirty="0"/>
              <a:t>64</a:t>
            </a:r>
            <a:r>
              <a:rPr lang="zh-CN" altLang="en-US" dirty="0"/>
              <a:t>个桶（</a:t>
            </a:r>
            <a:r>
              <a:rPr lang="en-US" altLang="zh-CN" dirty="0"/>
              <a:t>bucket</a:t>
            </a:r>
            <a:r>
              <a:rPr lang="zh-CN" altLang="en-US" dirty="0"/>
              <a:t>），每个桶可以存储这个节点成功建立过入连接或出连接的</a:t>
            </a:r>
            <a:r>
              <a:rPr lang="en-US" altLang="zh-CN" dirty="0"/>
              <a:t>64</a:t>
            </a:r>
            <a:r>
              <a:rPr lang="zh-CN" altLang="en-US" dirty="0"/>
              <a:t>个不同的地址。</a:t>
            </a:r>
            <a:r>
              <a:rPr lang="en-US" altLang="zh-CN" dirty="0"/>
              <a:t>tried</a:t>
            </a:r>
            <a:r>
              <a:rPr lang="zh-CN" altLang="en-US" dirty="0"/>
              <a:t>列表还保存最近一次成功连接到该节点的时间戳。</a:t>
            </a:r>
            <a:endParaRPr lang="en-US" altLang="zh-CN" dirty="0"/>
          </a:p>
          <a:p>
            <a:pPr lvl="1">
              <a:lnSpc>
                <a:spcPct val="130000"/>
              </a:lnSpc>
            </a:pPr>
            <a:r>
              <a:rPr lang="zh-CN" altLang="en-US" dirty="0"/>
              <a:t>当插入节点信息时遇到桶已满的情况，如果节点地址已存在于桶中，可以直接更新时间戳；否则，会从桶中随机选出四个节点，其中最远一次与节点成功建立连接的节点将被替换为新节点的信息，并被插入到</a:t>
            </a:r>
            <a:r>
              <a:rPr lang="en-US" altLang="zh-CN" dirty="0"/>
              <a:t>new</a:t>
            </a:r>
            <a:r>
              <a:rPr lang="zh-CN" altLang="en-US" dirty="0"/>
              <a:t>列表中。</a:t>
            </a:r>
            <a:endParaRPr lang="en-US" altLang="zh-CN" dirty="0">
              <a:solidFill>
                <a:prstClr val="black"/>
              </a:solidFill>
            </a:endParaRPr>
          </a:p>
          <a:p>
            <a:pPr lvl="1">
              <a:lnSpc>
                <a:spcPct val="130000"/>
              </a:lnSpc>
            </a:pPr>
            <a:r>
              <a:rPr lang="en-US" altLang="zh-CN" dirty="0"/>
              <a:t>new</a:t>
            </a:r>
            <a:r>
              <a:rPr lang="zh-CN" altLang="en-US" dirty="0"/>
              <a:t>列表包含了</a:t>
            </a:r>
            <a:r>
              <a:rPr lang="en-US" altLang="zh-CN" dirty="0"/>
              <a:t>256</a:t>
            </a:r>
            <a:r>
              <a:rPr lang="zh-CN" altLang="en-US" dirty="0"/>
              <a:t>个桶，每个桶可以为节点保存</a:t>
            </a:r>
            <a:r>
              <a:rPr lang="en-US" altLang="zh-CN" dirty="0"/>
              <a:t>64</a:t>
            </a:r>
            <a:r>
              <a:rPr lang="zh-CN" altLang="en-US" dirty="0"/>
              <a:t>个尚未成功发起连接的节点地址。节点会利用从种子节点或从</a:t>
            </a:r>
            <a:r>
              <a:rPr lang="en-US" altLang="zh-CN" dirty="0" err="1"/>
              <a:t>addr</a:t>
            </a:r>
            <a:r>
              <a:rPr lang="zh-CN" altLang="en-US" dirty="0"/>
              <a:t>消息中学习的信息来填充</a:t>
            </a:r>
            <a:r>
              <a:rPr lang="en-US" altLang="zh-CN" dirty="0"/>
              <a:t>new</a:t>
            </a:r>
            <a:r>
              <a:rPr lang="zh-CN" altLang="en-US" dirty="0"/>
              <a:t>列表。</a:t>
            </a:r>
            <a:endParaRPr lang="en-US" altLang="zh-CN" dirty="0"/>
          </a:p>
          <a:p>
            <a:pPr lvl="1">
              <a:lnSpc>
                <a:spcPct val="130000"/>
              </a:lnSpc>
            </a:pPr>
            <a:r>
              <a:rPr lang="zh-CN" altLang="en-US" dirty="0"/>
              <a:t>如果遇到桶已满的情况，会遍历桶中的所有节点，将时间戳超过</a:t>
            </a:r>
            <a:r>
              <a:rPr lang="en-US" altLang="zh-CN" dirty="0"/>
              <a:t>30</a:t>
            </a:r>
            <a:r>
              <a:rPr lang="zh-CN" altLang="en-US" dirty="0"/>
              <a:t>天或多次尝试连接不成功的节点移出桶。</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17</a:t>
            </a:fld>
            <a:endParaRPr kumimoji="1" lang="zh-CN" altLang="en-US" dirty="0"/>
          </a:p>
        </p:txBody>
      </p:sp>
    </p:spTree>
    <p:extLst>
      <p:ext uri="{BB962C8B-B14F-4D97-AF65-F5344CB8AC3E}">
        <p14:creationId xmlns:p14="http://schemas.microsoft.com/office/powerpoint/2010/main" val="888179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全节点区块同步</a:t>
            </a:r>
            <a:endParaRPr lang="en-US" altLang="zh-CN" dirty="0"/>
          </a:p>
        </p:txBody>
      </p:sp>
      <p:sp>
        <p:nvSpPr>
          <p:cNvPr id="3" name="内容占位符 2"/>
          <p:cNvSpPr>
            <a:spLocks noGrp="1"/>
          </p:cNvSpPr>
          <p:nvPr>
            <p:ph idx="1"/>
          </p:nvPr>
        </p:nvSpPr>
        <p:spPr>
          <a:xfrm>
            <a:off x="838200" y="1510758"/>
            <a:ext cx="6553200" cy="4845592"/>
          </a:xfrm>
        </p:spPr>
        <p:txBody>
          <a:bodyPr>
            <a:normAutofit fontScale="62500" lnSpcReduction="20000"/>
          </a:bodyPr>
          <a:lstStyle/>
          <a:p>
            <a:pPr fontAlgn="auto">
              <a:lnSpc>
                <a:spcPct val="130000"/>
              </a:lnSpc>
            </a:pPr>
            <a:r>
              <a:rPr lang="zh-CN" altLang="en-US" dirty="0"/>
              <a:t>一个全节点在连接到其他节点以后，需要构建完整的区块链数据</a:t>
            </a:r>
            <a:endParaRPr lang="en-US" altLang="zh-CN" dirty="0"/>
          </a:p>
          <a:p>
            <a:pPr fontAlgn="auto">
              <a:lnSpc>
                <a:spcPct val="130000"/>
              </a:lnSpc>
            </a:pPr>
            <a:r>
              <a:rPr lang="zh-CN" altLang="en-US" dirty="0"/>
              <a:t>节点</a:t>
            </a:r>
            <a:r>
              <a:rPr lang="en-US" altLang="zh-CN" dirty="0"/>
              <a:t>A</a:t>
            </a:r>
            <a:r>
              <a:rPr lang="zh-CN" altLang="en-US" dirty="0"/>
              <a:t>先向节点</a:t>
            </a:r>
            <a:r>
              <a:rPr lang="en-US" altLang="zh-CN" dirty="0"/>
              <a:t>B</a:t>
            </a:r>
            <a:r>
              <a:rPr lang="zh-CN" altLang="en-US" dirty="0"/>
              <a:t>发送</a:t>
            </a:r>
            <a:r>
              <a:rPr lang="en-US" altLang="zh-CN" dirty="0"/>
              <a:t>version</a:t>
            </a:r>
            <a:r>
              <a:rPr lang="zh-CN" altLang="en-US" dirty="0"/>
              <a:t>信息，包括以下内容</a:t>
            </a:r>
          </a:p>
          <a:p>
            <a:pPr lvl="1">
              <a:lnSpc>
                <a:spcPct val="130000"/>
              </a:lnSpc>
            </a:pPr>
            <a:r>
              <a:rPr lang="zh-CN" altLang="en-US" dirty="0"/>
              <a:t>在初始握手的</a:t>
            </a:r>
            <a:r>
              <a:rPr lang="en-US" altLang="zh-CN" dirty="0"/>
              <a:t>version</a:t>
            </a:r>
            <a:r>
              <a:rPr lang="zh-CN" altLang="en-US" dirty="0"/>
              <a:t>消息中，由于包含了</a:t>
            </a:r>
            <a:r>
              <a:rPr lang="en-US" altLang="zh-CN" dirty="0" err="1"/>
              <a:t>BestHeight</a:t>
            </a:r>
            <a:r>
              <a:rPr lang="zh-CN" altLang="en-US" dirty="0"/>
              <a:t>字段，节点可以了解对等节点的区块高度。</a:t>
            </a:r>
            <a:endParaRPr lang="en-US" altLang="zh-CN" dirty="0"/>
          </a:p>
          <a:p>
            <a:pPr lvl="1">
              <a:lnSpc>
                <a:spcPct val="130000"/>
              </a:lnSpc>
            </a:pPr>
            <a:r>
              <a:rPr lang="zh-CN" altLang="en-US" dirty="0"/>
              <a:t>然后节点间交换</a:t>
            </a:r>
            <a:r>
              <a:rPr lang="en-US" altLang="zh-CN" dirty="0" err="1"/>
              <a:t>getblocks</a:t>
            </a:r>
            <a:r>
              <a:rPr lang="zh-CN" altLang="en-US" dirty="0"/>
              <a:t>消息，其中包含本地区块链顶端区块的哈希值，通过判断接收到的哈希值是否属于顶端区块，节点可以判断哪一方拥有较多的区块信息。</a:t>
            </a:r>
            <a:endParaRPr lang="en-US" altLang="zh-CN" dirty="0"/>
          </a:p>
          <a:p>
            <a:pPr lvl="1">
              <a:lnSpc>
                <a:spcPct val="130000"/>
              </a:lnSpc>
            </a:pPr>
            <a:r>
              <a:rPr lang="zh-CN" altLang="en-US" dirty="0"/>
              <a:t>接着，拥有较多区块信息的一方会识别出其他节点缺少的区块数据，通过</a:t>
            </a:r>
            <a:r>
              <a:rPr lang="en-US" altLang="zh-CN" dirty="0" err="1"/>
              <a:t>inv</a:t>
            </a:r>
            <a:r>
              <a:rPr lang="zh-CN" altLang="en-US" dirty="0"/>
              <a:t>消息（每一个</a:t>
            </a:r>
            <a:r>
              <a:rPr lang="en-US" altLang="zh-CN" dirty="0" err="1"/>
              <a:t>inv</a:t>
            </a:r>
            <a:r>
              <a:rPr lang="zh-CN" altLang="en-US" dirty="0"/>
              <a:t>消息只包含</a:t>
            </a:r>
            <a:r>
              <a:rPr lang="en-US" altLang="zh-CN" dirty="0"/>
              <a:t>500</a:t>
            </a:r>
            <a:r>
              <a:rPr lang="zh-CN" altLang="en-US" dirty="0"/>
              <a:t>个区块的</a:t>
            </a:r>
            <a:r>
              <a:rPr lang="en-US" altLang="zh-CN" dirty="0"/>
              <a:t>Hash</a:t>
            </a:r>
            <a:r>
              <a:rPr lang="zh-CN" altLang="en-US" dirty="0"/>
              <a:t>信息，限制每次同步区块数量可以减少新节点同步区块对网络造成的影响）分批将对等方缺少的区块的哈希值传播出去。</a:t>
            </a:r>
            <a:endParaRPr lang="en-US" altLang="zh-CN" dirty="0"/>
          </a:p>
          <a:p>
            <a:pPr lvl="1">
              <a:lnSpc>
                <a:spcPct val="130000"/>
              </a:lnSpc>
            </a:pPr>
            <a:r>
              <a:rPr lang="zh-CN" altLang="en-US" dirty="0"/>
              <a:t>拥有较少区块的一方会向所有已连接的节点发送</a:t>
            </a:r>
            <a:r>
              <a:rPr lang="en-US" altLang="zh-CN" dirty="0" err="1"/>
              <a:t>getdata</a:t>
            </a:r>
            <a:r>
              <a:rPr lang="zh-CN" altLang="en-US" dirty="0"/>
              <a:t>信息继续请求全区块数据，并根据</a:t>
            </a:r>
            <a:r>
              <a:rPr lang="en-US" altLang="zh-CN" dirty="0" err="1"/>
              <a:t>inv</a:t>
            </a:r>
            <a:r>
              <a:rPr lang="zh-CN" altLang="en-US" dirty="0"/>
              <a:t>消息的哈希值找到自己缺少的区块数据进行读取。</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18</a:t>
            </a:fld>
            <a:endParaRPr kumimoji="1" lang="zh-CN" altLang="en-US" dirty="0"/>
          </a:p>
        </p:txBody>
      </p:sp>
      <p:pic>
        <p:nvPicPr>
          <p:cNvPr id="6" name="图片 5"/>
          <p:cNvPicPr/>
          <p:nvPr/>
        </p:nvPicPr>
        <p:blipFill>
          <a:blip r:embed="rId3" cstate="print">
            <a:extLst>
              <a:ext uri="{28A0092B-C50C-407E-A947-70E740481C1C}">
                <a14:useLocalDpi xmlns:a14="http://schemas.microsoft.com/office/drawing/2010/main" val="0"/>
              </a:ext>
            </a:extLst>
          </a:blip>
          <a:srcRect/>
          <a:stretch>
            <a:fillRect/>
          </a:stretch>
        </p:blipFill>
        <p:spPr>
          <a:xfrm>
            <a:off x="8015287" y="2095499"/>
            <a:ext cx="3281363" cy="3571875"/>
          </a:xfrm>
          <a:prstGeom prst="rect">
            <a:avLst/>
          </a:prstGeom>
          <a:noFill/>
          <a:ln>
            <a:noFill/>
          </a:ln>
        </p:spPr>
      </p:pic>
    </p:spTree>
    <p:extLst>
      <p:ext uri="{BB962C8B-B14F-4D97-AF65-F5344CB8AC3E}">
        <p14:creationId xmlns:p14="http://schemas.microsoft.com/office/powerpoint/2010/main" val="31958044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SPV</a:t>
            </a:r>
            <a:r>
              <a:rPr lang="zh-CN" altLang="en-US" dirty="0"/>
              <a:t>节点通信</a:t>
            </a:r>
            <a:endParaRPr lang="en-US" altLang="zh-CN" dirty="0"/>
          </a:p>
        </p:txBody>
      </p:sp>
      <p:sp>
        <p:nvSpPr>
          <p:cNvPr id="3" name="内容占位符 2"/>
          <p:cNvSpPr>
            <a:spLocks noGrp="1"/>
          </p:cNvSpPr>
          <p:nvPr>
            <p:ph idx="1"/>
          </p:nvPr>
        </p:nvSpPr>
        <p:spPr>
          <a:xfrm>
            <a:off x="838200" y="1510758"/>
            <a:ext cx="4648200" cy="4845592"/>
          </a:xfrm>
        </p:spPr>
        <p:txBody>
          <a:bodyPr>
            <a:normAutofit fontScale="70000" lnSpcReduction="20000"/>
          </a:bodyPr>
          <a:lstStyle/>
          <a:p>
            <a:pPr fontAlgn="auto">
              <a:lnSpc>
                <a:spcPct val="130000"/>
              </a:lnSpc>
            </a:pPr>
            <a:r>
              <a:rPr lang="zh-CN" altLang="en-US" dirty="0"/>
              <a:t>一个全节点在连接到其他节点以后，需要构建完整的区块链数据</a:t>
            </a:r>
            <a:endParaRPr lang="en-US" altLang="zh-CN" dirty="0"/>
          </a:p>
          <a:p>
            <a:pPr fontAlgn="auto">
              <a:lnSpc>
                <a:spcPct val="130000"/>
              </a:lnSpc>
            </a:pPr>
            <a:r>
              <a:rPr lang="zh-CN" altLang="en-US" dirty="0"/>
              <a:t>借助</a:t>
            </a:r>
            <a:r>
              <a:rPr lang="en-US" altLang="zh-CN" dirty="0" err="1"/>
              <a:t>Merkle</a:t>
            </a:r>
            <a:r>
              <a:rPr lang="zh-CN" altLang="en-US" dirty="0"/>
              <a:t>树算法，可以通过以下步骤进行简易支付验证</a:t>
            </a:r>
          </a:p>
          <a:p>
            <a:pPr lvl="1">
              <a:lnSpc>
                <a:spcPct val="130000"/>
              </a:lnSpc>
            </a:pPr>
            <a:r>
              <a:rPr lang="zh-CN" altLang="en-US" dirty="0"/>
              <a:t>进行区块头同步</a:t>
            </a:r>
            <a:endParaRPr lang="en-US" altLang="zh-CN" dirty="0"/>
          </a:p>
          <a:p>
            <a:pPr lvl="1">
              <a:lnSpc>
                <a:spcPct val="130000"/>
              </a:lnSpc>
            </a:pPr>
            <a:r>
              <a:rPr lang="zh-CN" altLang="en-US" dirty="0"/>
              <a:t>寻找包含该交易哈希的区块，验证区块头是否包含在最长链中</a:t>
            </a:r>
            <a:endParaRPr lang="en-US" altLang="zh-CN" dirty="0"/>
          </a:p>
          <a:p>
            <a:pPr lvl="1">
              <a:lnSpc>
                <a:spcPct val="130000"/>
              </a:lnSpc>
            </a:pPr>
            <a:r>
              <a:rPr lang="zh-CN" altLang="en-US" dirty="0"/>
              <a:t>获取构造</a:t>
            </a:r>
            <a:r>
              <a:rPr lang="en-US" altLang="zh-CN" dirty="0" err="1"/>
              <a:t>Merkle</a:t>
            </a:r>
            <a:r>
              <a:rPr lang="zh-CN" altLang="en-US" dirty="0"/>
              <a:t>树所需的交易哈希，计算</a:t>
            </a:r>
            <a:r>
              <a:rPr lang="en-US" altLang="zh-CN" dirty="0" err="1"/>
              <a:t>Merkle</a:t>
            </a:r>
            <a:r>
              <a:rPr lang="zh-CN" altLang="en-US" dirty="0"/>
              <a:t>树根的哈希</a:t>
            </a:r>
            <a:endParaRPr lang="en-US" altLang="zh-CN" dirty="0"/>
          </a:p>
          <a:p>
            <a:pPr lvl="1">
              <a:lnSpc>
                <a:spcPct val="130000"/>
              </a:lnSpc>
            </a:pPr>
            <a:r>
              <a:rPr lang="zh-CN" altLang="en-US" dirty="0"/>
              <a:t>若计算出的哈希与区块中的</a:t>
            </a:r>
            <a:r>
              <a:rPr lang="en-US" altLang="zh-CN" dirty="0" err="1"/>
              <a:t>Merkle</a:t>
            </a:r>
            <a:r>
              <a:rPr lang="zh-CN" altLang="en-US" dirty="0"/>
              <a:t>树根的哈希值相等，则交易存在于区块中</a:t>
            </a:r>
            <a:endParaRPr lang="en-US" altLang="zh-CN" dirty="0"/>
          </a:p>
          <a:p>
            <a:pPr lvl="1">
              <a:lnSpc>
                <a:spcPct val="130000"/>
              </a:lnSpc>
            </a:pPr>
            <a:r>
              <a:rPr lang="zh-CN" altLang="en-US" dirty="0"/>
              <a:t>根据区块头所处的位置，判断交易得到的确认数。如果交易已经经过六次确认，则完成对交易的验证</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19</a:t>
            </a:fld>
            <a:endParaRPr kumimoji="1" lang="zh-CN" altLang="en-US" dirty="0"/>
          </a:p>
        </p:txBody>
      </p:sp>
      <p:pic>
        <p:nvPicPr>
          <p:cNvPr id="8" name="图片 7"/>
          <p:cNvPicPr/>
          <p:nvPr/>
        </p:nvPicPr>
        <p:blipFill>
          <a:blip r:embed="rId3" cstate="print">
            <a:extLst>
              <a:ext uri="{28A0092B-C50C-407E-A947-70E740481C1C}">
                <a14:useLocalDpi xmlns:a14="http://schemas.microsoft.com/office/drawing/2010/main" val="0"/>
              </a:ext>
            </a:extLst>
          </a:blip>
          <a:srcRect/>
          <a:stretch>
            <a:fillRect/>
          </a:stretch>
        </p:blipFill>
        <p:spPr>
          <a:xfrm>
            <a:off x="5748770" y="2719193"/>
            <a:ext cx="6048375" cy="2162176"/>
          </a:xfrm>
          <a:prstGeom prst="rect">
            <a:avLst/>
          </a:prstGeom>
          <a:noFill/>
          <a:ln>
            <a:noFill/>
          </a:ln>
        </p:spPr>
      </p:pic>
    </p:spTree>
    <p:extLst>
      <p:ext uri="{BB962C8B-B14F-4D97-AF65-F5344CB8AC3E}">
        <p14:creationId xmlns:p14="http://schemas.microsoft.com/office/powerpoint/2010/main" val="3671334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加密和认证连接</a:t>
            </a:r>
            <a:endParaRPr lang="en-US" altLang="zh-CN" dirty="0"/>
          </a:p>
        </p:txBody>
      </p:sp>
      <p:sp>
        <p:nvSpPr>
          <p:cNvPr id="3" name="内容占位符 2"/>
          <p:cNvSpPr>
            <a:spLocks noGrp="1"/>
          </p:cNvSpPr>
          <p:nvPr>
            <p:ph idx="1"/>
          </p:nvPr>
        </p:nvSpPr>
        <p:spPr>
          <a:xfrm>
            <a:off x="838200" y="1510758"/>
            <a:ext cx="5791200" cy="4845592"/>
          </a:xfrm>
        </p:spPr>
        <p:txBody>
          <a:bodyPr>
            <a:normAutofit fontScale="77500" lnSpcReduction="20000"/>
          </a:bodyPr>
          <a:lstStyle/>
          <a:p>
            <a:pPr fontAlgn="auto">
              <a:lnSpc>
                <a:spcPct val="130000"/>
              </a:lnSpc>
            </a:pPr>
            <a:r>
              <a:rPr lang="zh-CN" altLang="en-US" dirty="0"/>
              <a:t>增加比特币网络的隐私性和安全性的方法</a:t>
            </a:r>
            <a:endParaRPr lang="en-US" altLang="zh-CN" dirty="0"/>
          </a:p>
          <a:p>
            <a:pPr fontAlgn="auto">
              <a:lnSpc>
                <a:spcPct val="130000"/>
              </a:lnSpc>
            </a:pPr>
            <a:r>
              <a:rPr lang="en-US" altLang="zh-CN" dirty="0"/>
              <a:t>Tor</a:t>
            </a:r>
            <a:r>
              <a:rPr lang="zh-CN" altLang="en-US" dirty="0"/>
              <a:t>网络</a:t>
            </a:r>
            <a:endParaRPr lang="en-US" altLang="zh-CN" dirty="0"/>
          </a:p>
          <a:p>
            <a:pPr lvl="1">
              <a:lnSpc>
                <a:spcPct val="130000"/>
              </a:lnSpc>
            </a:pPr>
            <a:r>
              <a:rPr lang="en-US" altLang="zh-CN" dirty="0">
                <a:solidFill>
                  <a:prstClr val="black"/>
                </a:solidFill>
              </a:rPr>
              <a:t>Tor</a:t>
            </a:r>
            <a:r>
              <a:rPr lang="zh-CN" altLang="en-US" dirty="0">
                <a:solidFill>
                  <a:prstClr val="black"/>
                </a:solidFill>
              </a:rPr>
              <a:t>软件将</a:t>
            </a:r>
            <a:r>
              <a:rPr lang="en-US" altLang="zh-CN" dirty="0">
                <a:solidFill>
                  <a:prstClr val="black"/>
                </a:solidFill>
              </a:rPr>
              <a:t>web</a:t>
            </a:r>
            <a:r>
              <a:rPr lang="zh-CN" altLang="en-US" dirty="0">
                <a:solidFill>
                  <a:prstClr val="black"/>
                </a:solidFill>
              </a:rPr>
              <a:t>请求进行多层加密，随机发给一个入口节点，入口节点第一次解密后发给中继节点解密</a:t>
            </a:r>
            <a:endParaRPr lang="en-US" altLang="zh-CN" dirty="0">
              <a:solidFill>
                <a:prstClr val="black"/>
              </a:solidFill>
            </a:endParaRPr>
          </a:p>
          <a:p>
            <a:pPr lvl="1">
              <a:lnSpc>
                <a:spcPct val="130000"/>
              </a:lnSpc>
            </a:pPr>
            <a:r>
              <a:rPr lang="zh-CN" altLang="en-US" dirty="0">
                <a:solidFill>
                  <a:prstClr val="black"/>
                </a:solidFill>
              </a:rPr>
              <a:t>经过多次中继节点解密，最后到出口节点</a:t>
            </a:r>
            <a:endParaRPr lang="en-US" altLang="zh-CN" dirty="0">
              <a:solidFill>
                <a:prstClr val="black"/>
              </a:solidFill>
            </a:endParaRPr>
          </a:p>
          <a:p>
            <a:pPr lvl="1">
              <a:lnSpc>
                <a:spcPct val="130000"/>
              </a:lnSpc>
            </a:pPr>
            <a:r>
              <a:rPr lang="zh-CN" altLang="en-US" dirty="0">
                <a:solidFill>
                  <a:prstClr val="black"/>
                </a:solidFill>
              </a:rPr>
              <a:t>出口节点最后一次解密后发给目的地址</a:t>
            </a:r>
            <a:endParaRPr lang="en-US" altLang="zh-CN" dirty="0">
              <a:solidFill>
                <a:prstClr val="black"/>
              </a:solidFill>
            </a:endParaRPr>
          </a:p>
          <a:p>
            <a:pPr lvl="0">
              <a:lnSpc>
                <a:spcPct val="130000"/>
              </a:lnSpc>
            </a:pPr>
            <a:r>
              <a:rPr lang="zh-CN" altLang="en-US" dirty="0">
                <a:solidFill>
                  <a:prstClr val="black"/>
                </a:solidFill>
              </a:rPr>
              <a:t>特点</a:t>
            </a:r>
            <a:endParaRPr lang="en-US" altLang="zh-CN" dirty="0">
              <a:solidFill>
                <a:prstClr val="black"/>
              </a:solidFill>
            </a:endParaRPr>
          </a:p>
          <a:p>
            <a:pPr lvl="1">
              <a:lnSpc>
                <a:spcPct val="130000"/>
              </a:lnSpc>
            </a:pPr>
            <a:r>
              <a:rPr lang="zh-CN" altLang="en-US" dirty="0">
                <a:solidFill>
                  <a:prstClr val="black"/>
                </a:solidFill>
              </a:rPr>
              <a:t>只有入口节点知道发送地址，出口节点知道目的地址</a:t>
            </a:r>
            <a:endParaRPr lang="en-US" altLang="zh-CN" dirty="0">
              <a:solidFill>
                <a:prstClr val="black"/>
              </a:solidFill>
            </a:endParaRPr>
          </a:p>
          <a:p>
            <a:pPr lvl="1">
              <a:lnSpc>
                <a:spcPct val="130000"/>
              </a:lnSpc>
            </a:pPr>
            <a:r>
              <a:rPr lang="zh-CN" altLang="en-US" dirty="0">
                <a:solidFill>
                  <a:prstClr val="black"/>
                </a:solidFill>
              </a:rPr>
              <a:t>每一跳都有独立密钥</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20</a:t>
            </a:fld>
            <a:endParaRPr kumimoji="1" lang="zh-CN" altLang="en-US" dirty="0"/>
          </a:p>
        </p:txBody>
      </p:sp>
      <p:pic>
        <p:nvPicPr>
          <p:cNvPr id="5" name="图片 4"/>
          <p:cNvPicPr/>
          <p:nvPr/>
        </p:nvPicPr>
        <p:blipFill>
          <a:blip r:embed="rId3" cstate="print">
            <a:extLst>
              <a:ext uri="{28A0092B-C50C-407E-A947-70E740481C1C}">
                <a14:useLocalDpi xmlns:a14="http://schemas.microsoft.com/office/drawing/2010/main" val="0"/>
              </a:ext>
            </a:extLst>
          </a:blip>
          <a:srcRect/>
          <a:stretch>
            <a:fillRect/>
          </a:stretch>
        </p:blipFill>
        <p:spPr>
          <a:xfrm>
            <a:off x="6017057" y="2057717"/>
            <a:ext cx="5780088" cy="2647633"/>
          </a:xfrm>
          <a:prstGeom prst="rect">
            <a:avLst/>
          </a:prstGeom>
          <a:noFill/>
          <a:ln>
            <a:noFill/>
          </a:ln>
        </p:spPr>
      </p:pic>
    </p:spTree>
    <p:extLst>
      <p:ext uri="{BB962C8B-B14F-4D97-AF65-F5344CB8AC3E}">
        <p14:creationId xmlns:p14="http://schemas.microsoft.com/office/powerpoint/2010/main" val="26464190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加密和认证连接</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增加比特币网络的隐私性和安全性的方法</a:t>
            </a:r>
            <a:endParaRPr lang="en-US" altLang="zh-CN" dirty="0"/>
          </a:p>
          <a:p>
            <a:pPr fontAlgn="auto">
              <a:lnSpc>
                <a:spcPct val="130000"/>
              </a:lnSpc>
            </a:pPr>
            <a:r>
              <a:rPr lang="en-US" altLang="zh-CN" dirty="0"/>
              <a:t>P2P</a:t>
            </a:r>
            <a:r>
              <a:rPr lang="zh-CN" altLang="en-US" dirty="0"/>
              <a:t>对等认证和通信加密</a:t>
            </a:r>
            <a:endParaRPr lang="en-US" altLang="zh-CN" dirty="0"/>
          </a:p>
          <a:p>
            <a:pPr lvl="1">
              <a:lnSpc>
                <a:spcPct val="130000"/>
              </a:lnSpc>
            </a:pPr>
            <a:r>
              <a:rPr lang="zh-CN" altLang="en-US" dirty="0">
                <a:solidFill>
                  <a:prstClr val="black"/>
                </a:solidFill>
              </a:rPr>
              <a:t>请求方发送</a:t>
            </a:r>
            <a:r>
              <a:rPr lang="en-US" altLang="zh-CN" dirty="0">
                <a:solidFill>
                  <a:prstClr val="black"/>
                </a:solidFill>
              </a:rPr>
              <a:t>AUTHCHALLENGE</a:t>
            </a:r>
            <a:r>
              <a:rPr lang="zh-CN" altLang="en-US" dirty="0">
                <a:solidFill>
                  <a:prstClr val="black"/>
                </a:solidFill>
              </a:rPr>
              <a:t>（含对等体公钥哈希）</a:t>
            </a:r>
            <a:endParaRPr lang="en-US" altLang="zh-CN" dirty="0">
              <a:solidFill>
                <a:prstClr val="black"/>
              </a:solidFill>
            </a:endParaRPr>
          </a:p>
          <a:p>
            <a:pPr lvl="1">
              <a:lnSpc>
                <a:spcPct val="130000"/>
              </a:lnSpc>
            </a:pPr>
            <a:r>
              <a:rPr lang="zh-CN" altLang="en-US" dirty="0">
                <a:solidFill>
                  <a:prstClr val="black"/>
                </a:solidFill>
              </a:rPr>
              <a:t>响应方验证成功后发送</a:t>
            </a:r>
            <a:r>
              <a:rPr lang="en-US" altLang="zh-CN" dirty="0">
                <a:solidFill>
                  <a:prstClr val="black"/>
                </a:solidFill>
              </a:rPr>
              <a:t>AUTHREPLY</a:t>
            </a:r>
            <a:r>
              <a:rPr lang="zh-CN" altLang="en-US" dirty="0">
                <a:solidFill>
                  <a:prstClr val="black"/>
                </a:solidFill>
              </a:rPr>
              <a:t>（含签名）</a:t>
            </a:r>
            <a:endParaRPr lang="en-US" altLang="zh-CN" dirty="0">
              <a:solidFill>
                <a:prstClr val="black"/>
              </a:solidFill>
            </a:endParaRPr>
          </a:p>
          <a:p>
            <a:pPr lvl="1">
              <a:lnSpc>
                <a:spcPct val="130000"/>
              </a:lnSpc>
            </a:pPr>
            <a:r>
              <a:rPr lang="zh-CN" altLang="en-US" dirty="0">
                <a:solidFill>
                  <a:prstClr val="black"/>
                </a:solidFill>
              </a:rPr>
              <a:t>请求方验证成功后发送</a:t>
            </a:r>
            <a:r>
              <a:rPr lang="en-US" altLang="zh-CN" dirty="0">
                <a:solidFill>
                  <a:prstClr val="black"/>
                </a:solidFill>
              </a:rPr>
              <a:t>AUTHPROPOSE</a:t>
            </a:r>
            <a:r>
              <a:rPr lang="zh-CN" altLang="en-US" dirty="0">
                <a:solidFill>
                  <a:prstClr val="black"/>
                </a:solidFill>
              </a:rPr>
              <a:t>（含客户端认证公钥哈希）</a:t>
            </a:r>
            <a:endParaRPr lang="en-US" altLang="zh-CN" dirty="0">
              <a:solidFill>
                <a:prstClr val="black"/>
              </a:solidFill>
            </a:endParaRPr>
          </a:p>
          <a:p>
            <a:pPr lvl="1">
              <a:lnSpc>
                <a:spcPct val="130000"/>
              </a:lnSpc>
            </a:pPr>
            <a:r>
              <a:rPr lang="zh-CN" altLang="en-US" dirty="0">
                <a:solidFill>
                  <a:prstClr val="black"/>
                </a:solidFill>
              </a:rPr>
              <a:t>响应方验证成功后发送</a:t>
            </a:r>
            <a:r>
              <a:rPr lang="en-US" altLang="zh-CN" dirty="0">
                <a:solidFill>
                  <a:prstClr val="black"/>
                </a:solidFill>
              </a:rPr>
              <a:t>AUTHCHALLENGE</a:t>
            </a:r>
            <a:r>
              <a:rPr lang="zh-CN" altLang="en-US" dirty="0">
                <a:solidFill>
                  <a:prstClr val="black"/>
                </a:solidFill>
              </a:rPr>
              <a:t>（含客户端公钥哈希）</a:t>
            </a:r>
            <a:endParaRPr lang="en-US" altLang="zh-CN" dirty="0">
              <a:solidFill>
                <a:prstClr val="black"/>
              </a:solidFill>
            </a:endParaRPr>
          </a:p>
          <a:p>
            <a:pPr lvl="1">
              <a:lnSpc>
                <a:spcPct val="130000"/>
              </a:lnSpc>
            </a:pPr>
            <a:r>
              <a:rPr lang="zh-CN" altLang="en-US" dirty="0">
                <a:solidFill>
                  <a:prstClr val="black"/>
                </a:solidFill>
              </a:rPr>
              <a:t>请求方验证成功后发送</a:t>
            </a:r>
            <a:r>
              <a:rPr lang="en-US" altLang="zh-CN" dirty="0">
                <a:solidFill>
                  <a:prstClr val="black"/>
                </a:solidFill>
              </a:rPr>
              <a:t>AUTHREPLY</a:t>
            </a:r>
            <a:r>
              <a:rPr lang="zh-CN" altLang="en-US" dirty="0">
                <a:solidFill>
                  <a:prstClr val="black"/>
                </a:solidFill>
              </a:rPr>
              <a:t>（含签名）</a:t>
            </a:r>
            <a:endParaRPr lang="en-US" altLang="zh-CN" dirty="0">
              <a:solidFill>
                <a:prstClr val="black"/>
              </a:solidFill>
            </a:endParaRPr>
          </a:p>
          <a:p>
            <a:pPr lvl="1">
              <a:lnSpc>
                <a:spcPct val="130000"/>
              </a:lnSpc>
            </a:pPr>
            <a:r>
              <a:rPr lang="zh-CN" altLang="en-US" dirty="0">
                <a:solidFill>
                  <a:prstClr val="black"/>
                </a:solidFill>
              </a:rPr>
              <a:t>响应方验证成功后授予访问权限</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spTree>
    <p:extLst>
      <p:ext uri="{BB962C8B-B14F-4D97-AF65-F5344CB8AC3E}">
        <p14:creationId xmlns:p14="http://schemas.microsoft.com/office/powerpoint/2010/main" val="37367497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交易池</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交易池（</a:t>
            </a:r>
            <a:r>
              <a:rPr lang="en-US" altLang="zh-CN" dirty="0"/>
              <a:t>Transaction Pool</a:t>
            </a:r>
            <a:r>
              <a:rPr lang="zh-CN" altLang="en-US" dirty="0"/>
              <a:t>）</a:t>
            </a:r>
            <a:endParaRPr lang="en-US" altLang="zh-CN" dirty="0"/>
          </a:p>
          <a:p>
            <a:pPr lvl="1">
              <a:lnSpc>
                <a:spcPct val="130000"/>
              </a:lnSpc>
            </a:pPr>
            <a:r>
              <a:rPr lang="zh-CN" altLang="en-US" dirty="0"/>
              <a:t>每个节点会在本地维护一个记录已被网络发现但未被区块链所记录的交易的临时列表</a:t>
            </a:r>
            <a:endParaRPr lang="en-US" altLang="zh-CN" dirty="0"/>
          </a:p>
          <a:p>
            <a:pPr fontAlgn="auto">
              <a:lnSpc>
                <a:spcPct val="130000"/>
              </a:lnSpc>
            </a:pPr>
            <a:r>
              <a:rPr lang="zh-CN" altLang="en-US" dirty="0"/>
              <a:t>孤立交易池（</a:t>
            </a:r>
            <a:r>
              <a:rPr lang="en-US" altLang="zh-CN" dirty="0"/>
              <a:t>Orphan Pool</a:t>
            </a:r>
            <a:r>
              <a:rPr lang="zh-CN" altLang="en-US" dirty="0"/>
              <a:t>）</a:t>
            </a:r>
            <a:endParaRPr lang="en-US" altLang="zh-CN" dirty="0"/>
          </a:p>
          <a:p>
            <a:pPr lvl="1">
              <a:lnSpc>
                <a:spcPct val="130000"/>
              </a:lnSpc>
            </a:pPr>
            <a:r>
              <a:rPr lang="zh-CN" altLang="en-US" dirty="0">
                <a:solidFill>
                  <a:prstClr val="black"/>
                </a:solidFill>
              </a:rPr>
              <a:t>父交易未被节点所知的且未被记录在区块链上的交易，节点会将其存入孤立交易池</a:t>
            </a:r>
            <a:endParaRPr lang="en-US" altLang="zh-CN" sz="2000" dirty="0"/>
          </a:p>
          <a:p>
            <a:pPr fontAlgn="auto">
              <a:lnSpc>
                <a:spcPct val="130000"/>
              </a:lnSpc>
            </a:pPr>
            <a:r>
              <a:rPr lang="en-US" altLang="zh-CN" dirty="0"/>
              <a:t>UTXO</a:t>
            </a:r>
            <a:r>
              <a:rPr lang="zh-CN" altLang="en-US" dirty="0"/>
              <a:t>池（</a:t>
            </a:r>
            <a:r>
              <a:rPr lang="en-US" altLang="zh-CN" dirty="0"/>
              <a:t>UTXO Pool</a:t>
            </a:r>
            <a:r>
              <a:rPr lang="zh-CN" altLang="en-US" dirty="0"/>
              <a:t>）</a:t>
            </a:r>
            <a:endParaRPr lang="en-US" altLang="zh-CN" dirty="0"/>
          </a:p>
          <a:p>
            <a:pPr lvl="1">
              <a:lnSpc>
                <a:spcPct val="130000"/>
              </a:lnSpc>
            </a:pPr>
            <a:r>
              <a:rPr lang="zh-CN" altLang="en-US" dirty="0">
                <a:solidFill>
                  <a:prstClr val="black"/>
                </a:solidFill>
              </a:rPr>
              <a:t>包含着所有</a:t>
            </a:r>
            <a:r>
              <a:rPr lang="en-US" altLang="zh-CN" dirty="0">
                <a:solidFill>
                  <a:prstClr val="black"/>
                </a:solidFill>
              </a:rPr>
              <a:t>UTXO</a:t>
            </a:r>
            <a:r>
              <a:rPr lang="zh-CN" altLang="en-US" dirty="0">
                <a:solidFill>
                  <a:prstClr val="black"/>
                </a:solidFill>
              </a:rPr>
              <a:t>的集合，且只包含已确认交易</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22</a:t>
            </a:fld>
            <a:endParaRPr kumimoji="1" lang="zh-CN" altLang="en-US" dirty="0"/>
          </a:p>
        </p:txBody>
      </p:sp>
    </p:spTree>
    <p:extLst>
      <p:ext uri="{BB962C8B-B14F-4D97-AF65-F5344CB8AC3E}">
        <p14:creationId xmlns:p14="http://schemas.microsoft.com/office/powerpoint/2010/main" val="41796871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比特币中继网络</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尝试最小化矿工之间传输块的延迟的网络</a:t>
            </a:r>
            <a:endParaRPr lang="en-US" altLang="zh-CN" dirty="0"/>
          </a:p>
          <a:p>
            <a:pPr fontAlgn="auto">
              <a:lnSpc>
                <a:spcPct val="130000"/>
              </a:lnSpc>
            </a:pPr>
            <a:r>
              <a:rPr lang="en-US" altLang="zh-CN" dirty="0"/>
              <a:t>FIBRE</a:t>
            </a:r>
          </a:p>
          <a:p>
            <a:pPr lvl="1">
              <a:lnSpc>
                <a:spcPct val="130000"/>
              </a:lnSpc>
            </a:pPr>
            <a:r>
              <a:rPr lang="zh-CN" altLang="en-US" dirty="0"/>
              <a:t>基于</a:t>
            </a:r>
            <a:r>
              <a:rPr lang="en-US" altLang="zh-CN" dirty="0"/>
              <a:t>UDP</a:t>
            </a:r>
            <a:r>
              <a:rPr lang="zh-CN" altLang="en-US" dirty="0"/>
              <a:t>的中继网络，它通过发送额外的数据来补偿数据包丢失，并基于</a:t>
            </a:r>
            <a:r>
              <a:rPr lang="en-US" altLang="zh-CN" dirty="0"/>
              <a:t>Bitcoin core</a:t>
            </a:r>
            <a:r>
              <a:rPr lang="zh-CN" altLang="en-US" dirty="0"/>
              <a:t>客户端中的压缩块进一步减少传输的数据量和网络延迟</a:t>
            </a:r>
            <a:endParaRPr lang="en-US" altLang="zh-CN" dirty="0"/>
          </a:p>
          <a:p>
            <a:pPr fontAlgn="auto">
              <a:lnSpc>
                <a:spcPct val="130000"/>
              </a:lnSpc>
            </a:pPr>
            <a:r>
              <a:rPr lang="en-US" altLang="zh-CN" dirty="0"/>
              <a:t>Falcon</a:t>
            </a:r>
          </a:p>
          <a:p>
            <a:pPr lvl="1">
              <a:lnSpc>
                <a:spcPct val="130000"/>
              </a:lnSpc>
            </a:pPr>
            <a:r>
              <a:rPr lang="zh-CN" altLang="en-US" dirty="0">
                <a:solidFill>
                  <a:prstClr val="black"/>
                </a:solidFill>
              </a:rPr>
              <a:t>通过传播块的部分来减少网络延迟，使得节点不用一直等待直到接收到完整的块</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23</a:t>
            </a:fld>
            <a:endParaRPr kumimoji="1" lang="zh-CN" altLang="en-US" dirty="0"/>
          </a:p>
        </p:txBody>
      </p:sp>
    </p:spTree>
    <p:extLst>
      <p:ext uri="{BB962C8B-B14F-4D97-AF65-F5344CB8AC3E}">
        <p14:creationId xmlns:p14="http://schemas.microsoft.com/office/powerpoint/2010/main" val="3487446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4.1 P2P</a:t>
            </a:r>
            <a:r>
              <a:rPr kumimoji="1" lang="zh-CN" altLang="en-US" dirty="0"/>
              <a:t>网络</a:t>
            </a:r>
            <a:endParaRPr kumimoji="1" lang="en-US" altLang="zh-CN" dirty="0"/>
          </a:p>
          <a:p>
            <a:pPr marL="0" indent="0">
              <a:lnSpc>
                <a:spcPct val="130000"/>
              </a:lnSpc>
              <a:buNone/>
            </a:pPr>
            <a:r>
              <a:rPr kumimoji="1" lang="en-US" altLang="zh-CN" dirty="0"/>
              <a:t>4.2 </a:t>
            </a:r>
            <a:r>
              <a:rPr kumimoji="1" lang="zh-CN" altLang="en-US" dirty="0"/>
              <a:t>比特币网络</a:t>
            </a:r>
            <a:endParaRPr kumimoji="1" lang="en-US" altLang="zh-CN" dirty="0"/>
          </a:p>
          <a:p>
            <a:pPr marL="0" indent="0">
              <a:lnSpc>
                <a:spcPct val="130000"/>
              </a:lnSpc>
              <a:buNone/>
            </a:pPr>
            <a:r>
              <a:rPr kumimoji="1" lang="en-US" altLang="zh-CN" dirty="0">
                <a:solidFill>
                  <a:srgbClr val="C00000"/>
                </a:solidFill>
              </a:rPr>
              <a:t>4.3 </a:t>
            </a:r>
            <a:r>
              <a:rPr kumimoji="1" lang="zh-CN" altLang="en-US" dirty="0">
                <a:solidFill>
                  <a:srgbClr val="C00000"/>
                </a:solidFill>
              </a:rPr>
              <a:t>以太坊网络</a:t>
            </a:r>
            <a:endParaRPr kumimoji="1" lang="en-US" altLang="zh-CN" dirty="0">
              <a:solidFill>
                <a:srgbClr val="C00000"/>
              </a:solidFill>
            </a:endParaRPr>
          </a:p>
          <a:p>
            <a:pPr marL="0" indent="0">
              <a:lnSpc>
                <a:spcPct val="130000"/>
              </a:lnSpc>
              <a:buNone/>
            </a:pPr>
            <a:r>
              <a:rPr kumimoji="1" lang="en-US" altLang="zh-CN" dirty="0"/>
              <a:t>4.4 </a:t>
            </a:r>
            <a:r>
              <a:rPr kumimoji="1" lang="zh-CN" altLang="en-US" dirty="0"/>
              <a:t>网络层安全</a:t>
            </a:r>
            <a:endParaRPr lang="zh-CN" altLang="en-US" dirty="0"/>
          </a:p>
        </p:txBody>
      </p:sp>
      <p:sp>
        <p:nvSpPr>
          <p:cNvPr id="7" name="矩形标注 6">
            <a:extLst>
              <a:ext uri="{FF2B5EF4-FFF2-40B4-BE49-F238E27FC236}">
                <a16:creationId xmlns:a16="http://schemas.microsoft.com/office/drawing/2014/main" id="{E4BFCB96-0FA1-7740-8F94-683CEFB67F89}"/>
              </a:ext>
            </a:extLst>
          </p:cNvPr>
          <p:cNvSpPr/>
          <p:nvPr/>
        </p:nvSpPr>
        <p:spPr>
          <a:xfrm>
            <a:off x="6096000" y="1620253"/>
            <a:ext cx="4281889" cy="1808747"/>
          </a:xfrm>
          <a:prstGeom prst="wedgeRectCallout">
            <a:avLst>
              <a:gd name="adj1" fmla="val -86093"/>
              <a:gd name="adj2" fmla="val 24281"/>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en-US" altLang="zh-CN" sz="2400" dirty="0" err="1">
                <a:solidFill>
                  <a:prstClr val="black"/>
                </a:solidFill>
                <a:latin typeface="Microsoft YaHei" panose="020B0503020204020204" pitchFamily="34" charset="-122"/>
                <a:ea typeface="Microsoft YaHei" panose="020B0503020204020204" pitchFamily="34" charset="-122"/>
              </a:rPr>
              <a:t>Kademlia</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节点类型及其功能</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以太坊节点通信</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24</a:t>
            </a:fld>
            <a:endParaRPr kumimoji="1" lang="zh-CN" altLang="en-US" dirty="0"/>
          </a:p>
        </p:txBody>
      </p:sp>
    </p:spTree>
    <p:extLst>
      <p:ext uri="{BB962C8B-B14F-4D97-AF65-F5344CB8AC3E}">
        <p14:creationId xmlns:p14="http://schemas.microsoft.com/office/powerpoint/2010/main" val="40495305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以太坊网络</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基于全分布式结构化拓扑</a:t>
            </a:r>
            <a:endParaRPr lang="en-US" altLang="zh-CN" dirty="0"/>
          </a:p>
          <a:p>
            <a:pPr lvl="1">
              <a:lnSpc>
                <a:spcPct val="130000"/>
              </a:lnSpc>
            </a:pPr>
            <a:r>
              <a:rPr lang="zh-CN" altLang="en-US" dirty="0"/>
              <a:t>基于分布式散列表技术，可以在分布式环境下进行快速路由和数据定位</a:t>
            </a:r>
            <a:endParaRPr lang="en-US" altLang="zh-CN" dirty="0"/>
          </a:p>
          <a:p>
            <a:pPr lvl="0">
              <a:lnSpc>
                <a:spcPct val="130000"/>
              </a:lnSpc>
            </a:pPr>
            <a:r>
              <a:rPr lang="zh-CN" altLang="en-US" dirty="0">
                <a:solidFill>
                  <a:prstClr val="black"/>
                </a:solidFill>
              </a:rPr>
              <a:t>协议</a:t>
            </a:r>
            <a:endParaRPr lang="en-US" altLang="zh-CN" dirty="0">
              <a:solidFill>
                <a:prstClr val="black"/>
              </a:solidFill>
            </a:endParaRPr>
          </a:p>
          <a:p>
            <a:pPr lvl="1">
              <a:lnSpc>
                <a:spcPct val="130000"/>
              </a:lnSpc>
            </a:pPr>
            <a:r>
              <a:rPr lang="zh-CN" altLang="en-US" dirty="0"/>
              <a:t>以太坊的</a:t>
            </a:r>
            <a:r>
              <a:rPr lang="en-US" altLang="zh-CN" dirty="0"/>
              <a:t>P2P</a:t>
            </a:r>
            <a:r>
              <a:rPr lang="zh-CN" altLang="en-US" dirty="0"/>
              <a:t>网络是一个完全加密的网络，提供了</a:t>
            </a:r>
            <a:r>
              <a:rPr lang="en-US" altLang="zh-CN" dirty="0"/>
              <a:t>UDP</a:t>
            </a:r>
            <a:r>
              <a:rPr lang="zh-CN" altLang="en-US" dirty="0"/>
              <a:t>（主网推荐端口为</a:t>
            </a:r>
            <a:r>
              <a:rPr lang="en-US" altLang="zh-CN" dirty="0"/>
              <a:t>30301</a:t>
            </a:r>
            <a:r>
              <a:rPr lang="zh-CN" altLang="en-US" dirty="0"/>
              <a:t>）和</a:t>
            </a:r>
            <a:r>
              <a:rPr lang="en-US" altLang="zh-CN" dirty="0"/>
              <a:t>TCP</a:t>
            </a:r>
            <a:r>
              <a:rPr lang="zh-CN" altLang="en-US" dirty="0"/>
              <a:t>（主网默认端口为</a:t>
            </a:r>
            <a:r>
              <a:rPr lang="en-US" altLang="zh-CN" dirty="0"/>
              <a:t>30303</a:t>
            </a:r>
            <a:r>
              <a:rPr lang="zh-CN" altLang="en-US" dirty="0"/>
              <a:t>）两种连接方式，其中</a:t>
            </a:r>
            <a:r>
              <a:rPr lang="en-US" altLang="zh-CN" dirty="0"/>
              <a:t>UDP</a:t>
            </a:r>
            <a:r>
              <a:rPr lang="zh-CN" altLang="en-US" dirty="0"/>
              <a:t>主要用于</a:t>
            </a:r>
            <a:r>
              <a:rPr lang="en-US" altLang="zh-CN" dirty="0"/>
              <a:t>P2P</a:t>
            </a:r>
            <a:r>
              <a:rPr lang="zh-CN" altLang="en-US" dirty="0"/>
              <a:t>节点发现，</a:t>
            </a:r>
            <a:r>
              <a:rPr lang="en-US" altLang="zh-CN" dirty="0"/>
              <a:t>TCP</a:t>
            </a:r>
            <a:r>
              <a:rPr lang="zh-CN" altLang="en-US" dirty="0"/>
              <a:t>主要用于数据传输与交互</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25</a:t>
            </a:fld>
            <a:endParaRPr kumimoji="1" lang="zh-CN" altLang="en-US" dirty="0"/>
          </a:p>
        </p:txBody>
      </p:sp>
    </p:spTree>
    <p:extLst>
      <p:ext uri="{BB962C8B-B14F-4D97-AF65-F5344CB8AC3E}">
        <p14:creationId xmlns:p14="http://schemas.microsoft.com/office/powerpoint/2010/main" val="33692112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Kademlia</a:t>
            </a:r>
            <a:endParaRPr lang="en-US" altLang="zh-CN" dirty="0"/>
          </a:p>
        </p:txBody>
      </p:sp>
      <p:sp>
        <p:nvSpPr>
          <p:cNvPr id="3" name="内容占位符 2"/>
          <p:cNvSpPr>
            <a:spLocks noGrp="1"/>
          </p:cNvSpPr>
          <p:nvPr>
            <p:ph idx="1"/>
          </p:nvPr>
        </p:nvSpPr>
        <p:spPr>
          <a:xfrm>
            <a:off x="838200" y="1510758"/>
            <a:ext cx="5095875" cy="4845592"/>
          </a:xfrm>
        </p:spPr>
        <p:txBody>
          <a:bodyPr>
            <a:normAutofit fontScale="92500" lnSpcReduction="10000"/>
          </a:bodyPr>
          <a:lstStyle/>
          <a:p>
            <a:pPr fontAlgn="auto">
              <a:lnSpc>
                <a:spcPct val="130000"/>
              </a:lnSpc>
            </a:pPr>
            <a:r>
              <a:rPr lang="en-US" altLang="zh-CN" dirty="0" err="1"/>
              <a:t>Kad</a:t>
            </a:r>
            <a:endParaRPr lang="zh-CN" altLang="en-US" dirty="0"/>
          </a:p>
          <a:p>
            <a:pPr lvl="1">
              <a:lnSpc>
                <a:spcPct val="130000"/>
              </a:lnSpc>
            </a:pPr>
            <a:r>
              <a:rPr lang="zh-CN" altLang="en-US" dirty="0"/>
              <a:t>一种分布式散列表技术，能将所有的信息作为哈希表的条目进行存储，分散地由各个节点来维护，从而以全网的方式构成巨大的分布式散列表，实现快速路由和准确定位</a:t>
            </a:r>
            <a:endParaRPr lang="en-US" altLang="zh-CN" dirty="0"/>
          </a:p>
          <a:p>
            <a:pPr fontAlgn="auto">
              <a:lnSpc>
                <a:spcPct val="130000"/>
              </a:lnSpc>
            </a:pPr>
            <a:r>
              <a:rPr lang="zh-CN" altLang="en-US" dirty="0"/>
              <a:t>所有节点被表示为二叉树的叶子节点</a:t>
            </a:r>
            <a:endParaRPr lang="en-US" altLang="zh-CN" dirty="0"/>
          </a:p>
          <a:p>
            <a:pPr lvl="1">
              <a:lnSpc>
                <a:spcPct val="130000"/>
              </a:lnSpc>
            </a:pPr>
            <a:r>
              <a:rPr lang="zh-CN" altLang="en-US" dirty="0"/>
              <a:t>每一个节点都被分配一个随机生成的</a:t>
            </a:r>
            <a:r>
              <a:rPr lang="en-US" altLang="zh-CN" dirty="0"/>
              <a:t>160bit</a:t>
            </a:r>
            <a:r>
              <a:rPr lang="zh-CN" altLang="en-US" dirty="0"/>
              <a:t>的节点</a:t>
            </a:r>
            <a:r>
              <a:rPr lang="en-US" altLang="zh-CN" dirty="0"/>
              <a:t>ID</a:t>
            </a:r>
            <a:r>
              <a:rPr lang="zh-CN" altLang="en-US" dirty="0"/>
              <a:t>作为标识符</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pic>
        <p:nvPicPr>
          <p:cNvPr id="6" name="图片 5"/>
          <p:cNvPicPr/>
          <p:nvPr/>
        </p:nvPicPr>
        <p:blipFill>
          <a:blip r:embed="rId3" cstate="print">
            <a:extLst>
              <a:ext uri="{28A0092B-C50C-407E-A947-70E740481C1C}">
                <a14:useLocalDpi xmlns:a14="http://schemas.microsoft.com/office/drawing/2010/main" val="0"/>
              </a:ext>
            </a:extLst>
          </a:blip>
          <a:srcRect/>
          <a:stretch>
            <a:fillRect/>
          </a:stretch>
        </p:blipFill>
        <p:spPr>
          <a:xfrm>
            <a:off x="6476162" y="2150744"/>
            <a:ext cx="5155565" cy="2935605"/>
          </a:xfrm>
          <a:prstGeom prst="rect">
            <a:avLst/>
          </a:prstGeom>
          <a:noFill/>
          <a:ln>
            <a:noFill/>
          </a:ln>
        </p:spPr>
      </p:pic>
    </p:spTree>
    <p:extLst>
      <p:ext uri="{BB962C8B-B14F-4D97-AF65-F5344CB8AC3E}">
        <p14:creationId xmlns:p14="http://schemas.microsoft.com/office/powerpoint/2010/main" val="20874259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网络拆分</a:t>
            </a:r>
            <a:endParaRPr lang="en-US" altLang="zh-CN" dirty="0"/>
          </a:p>
        </p:txBody>
      </p:sp>
      <p:sp>
        <p:nvSpPr>
          <p:cNvPr id="3" name="内容占位符 2"/>
          <p:cNvSpPr>
            <a:spLocks noGrp="1"/>
          </p:cNvSpPr>
          <p:nvPr>
            <p:ph idx="1"/>
          </p:nvPr>
        </p:nvSpPr>
        <p:spPr>
          <a:xfrm>
            <a:off x="838200" y="1510758"/>
            <a:ext cx="5095875" cy="4845592"/>
          </a:xfrm>
        </p:spPr>
        <p:txBody>
          <a:bodyPr>
            <a:normAutofit fontScale="92500" lnSpcReduction="10000"/>
          </a:bodyPr>
          <a:lstStyle/>
          <a:p>
            <a:pPr fontAlgn="auto">
              <a:lnSpc>
                <a:spcPct val="130000"/>
              </a:lnSpc>
            </a:pPr>
            <a:r>
              <a:rPr lang="zh-CN" altLang="en-US" dirty="0"/>
              <a:t>节点距离</a:t>
            </a:r>
          </a:p>
          <a:p>
            <a:pPr lvl="1">
              <a:lnSpc>
                <a:spcPct val="130000"/>
              </a:lnSpc>
            </a:pPr>
            <a:r>
              <a:rPr lang="zh-CN" altLang="en-US" dirty="0"/>
              <a:t>假设</a:t>
            </a:r>
            <a:r>
              <a:rPr lang="en-US" altLang="zh-CN" dirty="0"/>
              <a:t>ID</a:t>
            </a:r>
            <a:r>
              <a:rPr lang="zh-CN" altLang="en-US" dirty="0"/>
              <a:t>空间是</a:t>
            </a:r>
            <a:r>
              <a:rPr lang="en-US" altLang="zh-CN" dirty="0"/>
              <a:t>3bits</a:t>
            </a:r>
            <a:r>
              <a:rPr lang="zh-CN" altLang="en-US" dirty="0"/>
              <a:t>，那么</a:t>
            </a:r>
            <a:r>
              <a:rPr lang="en-US" altLang="zh-CN" dirty="0"/>
              <a:t>ID</a:t>
            </a:r>
            <a:r>
              <a:rPr lang="zh-CN" altLang="en-US" dirty="0"/>
              <a:t>为</a:t>
            </a:r>
            <a:r>
              <a:rPr lang="en-US" altLang="zh-CN" dirty="0"/>
              <a:t>001</a:t>
            </a:r>
            <a:r>
              <a:rPr lang="zh-CN" altLang="en-US" dirty="0"/>
              <a:t>和</a:t>
            </a:r>
            <a:r>
              <a:rPr lang="en-US" altLang="zh-CN" dirty="0"/>
              <a:t>100</a:t>
            </a:r>
            <a:r>
              <a:rPr lang="zh-CN" altLang="en-US" dirty="0"/>
              <a:t>的节点的距离为：</a:t>
            </a:r>
          </a:p>
          <a:p>
            <a:pPr lvl="1">
              <a:lnSpc>
                <a:spcPct val="130000"/>
              </a:lnSpc>
            </a:pPr>
            <a:r>
              <a:rPr lang="en-US" altLang="zh-CN" dirty="0"/>
              <a:t>d(1,4)=d(001,100)=001⊕100=101=5</a:t>
            </a:r>
          </a:p>
          <a:p>
            <a:pPr fontAlgn="auto">
              <a:lnSpc>
                <a:spcPct val="130000"/>
              </a:lnSpc>
            </a:pPr>
            <a:r>
              <a:rPr lang="zh-CN" altLang="en-US" dirty="0"/>
              <a:t>网络拆分</a:t>
            </a:r>
            <a:endParaRPr lang="en-US" altLang="zh-CN" dirty="0"/>
          </a:p>
          <a:p>
            <a:pPr lvl="1">
              <a:lnSpc>
                <a:spcPct val="130000"/>
              </a:lnSpc>
            </a:pPr>
            <a:r>
              <a:rPr lang="zh-CN" altLang="en-US" dirty="0"/>
              <a:t>按</a:t>
            </a:r>
            <a:r>
              <a:rPr lang="en-US" altLang="zh-CN" dirty="0"/>
              <a:t>ID</a:t>
            </a:r>
            <a:r>
              <a:rPr lang="zh-CN" altLang="en-US" dirty="0"/>
              <a:t>经过的节点拆分子树</a:t>
            </a:r>
            <a:endParaRPr lang="en-US" altLang="zh-CN" dirty="0"/>
          </a:p>
          <a:p>
            <a:pPr lvl="1">
              <a:lnSpc>
                <a:spcPct val="130000"/>
              </a:lnSpc>
            </a:pPr>
            <a:r>
              <a:rPr lang="zh-CN" altLang="en-US" dirty="0"/>
              <a:t>通过递归路由，每次得到离目标节点最近的节点，从而不断逼近并最终到达目标节点</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pic>
        <p:nvPicPr>
          <p:cNvPr id="8" name="图片 7"/>
          <p:cNvPicPr/>
          <p:nvPr/>
        </p:nvPicPr>
        <p:blipFill>
          <a:blip r:embed="rId3">
            <a:extLst>
              <a:ext uri="{28A0092B-C50C-407E-A947-70E740481C1C}">
                <a14:useLocalDpi xmlns:a14="http://schemas.microsoft.com/office/drawing/2010/main" val="0"/>
              </a:ext>
            </a:extLst>
          </a:blip>
          <a:srcRect/>
          <a:stretch>
            <a:fillRect/>
          </a:stretch>
        </p:blipFill>
        <p:spPr>
          <a:xfrm>
            <a:off x="6557962" y="2219325"/>
            <a:ext cx="5424488" cy="2838450"/>
          </a:xfrm>
          <a:prstGeom prst="rect">
            <a:avLst/>
          </a:prstGeom>
          <a:noFill/>
          <a:ln>
            <a:noFill/>
          </a:ln>
        </p:spPr>
      </p:pic>
    </p:spTree>
    <p:extLst>
      <p:ext uri="{BB962C8B-B14F-4D97-AF65-F5344CB8AC3E}">
        <p14:creationId xmlns:p14="http://schemas.microsoft.com/office/powerpoint/2010/main" val="2179475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K</a:t>
            </a:r>
            <a:r>
              <a:rPr lang="zh-CN" altLang="en-US" dirty="0"/>
              <a:t>桶</a:t>
            </a:r>
            <a:endParaRPr lang="en-US" altLang="zh-CN" dirty="0"/>
          </a:p>
        </p:txBody>
      </p:sp>
      <p:sp>
        <p:nvSpPr>
          <p:cNvPr id="3" name="内容占位符 2"/>
          <p:cNvSpPr>
            <a:spLocks noGrp="1"/>
          </p:cNvSpPr>
          <p:nvPr>
            <p:ph idx="1"/>
          </p:nvPr>
        </p:nvSpPr>
        <p:spPr>
          <a:xfrm>
            <a:off x="838200" y="1510758"/>
            <a:ext cx="5095875" cy="4845592"/>
          </a:xfrm>
        </p:spPr>
        <p:txBody>
          <a:bodyPr>
            <a:normAutofit fontScale="62500" lnSpcReduction="20000"/>
          </a:bodyPr>
          <a:lstStyle/>
          <a:p>
            <a:pPr fontAlgn="auto">
              <a:lnSpc>
                <a:spcPct val="130000"/>
              </a:lnSpc>
            </a:pPr>
            <a:r>
              <a:rPr lang="en-US" altLang="zh-CN" dirty="0" err="1"/>
              <a:t>Kbucket</a:t>
            </a:r>
            <a:endParaRPr lang="zh-CN" altLang="en-US" dirty="0"/>
          </a:p>
          <a:p>
            <a:pPr lvl="1">
              <a:lnSpc>
                <a:spcPct val="130000"/>
              </a:lnSpc>
            </a:pPr>
            <a:r>
              <a:rPr lang="zh-CN" altLang="en-US" dirty="0"/>
              <a:t>节点</a:t>
            </a:r>
            <a:r>
              <a:rPr lang="en-US" altLang="zh-CN" dirty="0"/>
              <a:t>ID</a:t>
            </a:r>
            <a:r>
              <a:rPr lang="zh-CN" altLang="en-US" dirty="0"/>
              <a:t>空间为</a:t>
            </a:r>
            <a:r>
              <a:rPr lang="en-US" altLang="zh-CN" dirty="0"/>
              <a:t>n bit</a:t>
            </a:r>
            <a:r>
              <a:rPr lang="zh-CN" altLang="en-US" dirty="0"/>
              <a:t>，每个节点从自己的视角拆分完子树后，可以得到最多</a:t>
            </a:r>
            <a:r>
              <a:rPr lang="en-US" altLang="zh-CN" dirty="0"/>
              <a:t>n</a:t>
            </a:r>
            <a:r>
              <a:rPr lang="zh-CN" altLang="en-US" dirty="0"/>
              <a:t>个子树</a:t>
            </a:r>
            <a:endParaRPr lang="en-US" altLang="zh-CN" dirty="0"/>
          </a:p>
          <a:p>
            <a:pPr lvl="1">
              <a:lnSpc>
                <a:spcPct val="130000"/>
              </a:lnSpc>
            </a:pPr>
            <a:r>
              <a:rPr lang="zh-CN" altLang="en-US" dirty="0"/>
              <a:t>每个节点需要记录每个子树的</a:t>
            </a:r>
            <a:r>
              <a:rPr lang="en-US" altLang="zh-CN" dirty="0"/>
              <a:t>k</a:t>
            </a:r>
            <a:r>
              <a:rPr lang="zh-CN" altLang="en-US" dirty="0"/>
              <a:t>个节点，记录一棵子树中</a:t>
            </a:r>
            <a:r>
              <a:rPr lang="en-US" altLang="zh-CN" dirty="0"/>
              <a:t>k</a:t>
            </a:r>
            <a:r>
              <a:rPr lang="zh-CN" altLang="en-US" dirty="0"/>
              <a:t>个节点的列表被称为一个</a:t>
            </a:r>
            <a:r>
              <a:rPr lang="en-US" altLang="zh-CN" dirty="0"/>
              <a:t>K</a:t>
            </a:r>
            <a:r>
              <a:rPr lang="zh-CN" altLang="en-US" dirty="0"/>
              <a:t>桶</a:t>
            </a:r>
            <a:endParaRPr lang="en-US" altLang="zh-CN" dirty="0"/>
          </a:p>
          <a:p>
            <a:pPr fontAlgn="auto">
              <a:lnSpc>
                <a:spcPct val="130000"/>
              </a:lnSpc>
            </a:pPr>
            <a:r>
              <a:rPr lang="en-US" altLang="zh-CN" dirty="0"/>
              <a:t>K</a:t>
            </a:r>
            <a:r>
              <a:rPr lang="zh-CN" altLang="en-US" dirty="0"/>
              <a:t>桶实际上就是路由表</a:t>
            </a:r>
            <a:endParaRPr lang="en-US" altLang="zh-CN" dirty="0"/>
          </a:p>
          <a:p>
            <a:pPr lvl="1">
              <a:lnSpc>
                <a:spcPct val="130000"/>
              </a:lnSpc>
            </a:pPr>
            <a:r>
              <a:rPr lang="zh-CN" altLang="en-US" dirty="0"/>
              <a:t>每一个</a:t>
            </a:r>
            <a:r>
              <a:rPr lang="en-US" altLang="zh-CN" dirty="0"/>
              <a:t>K</a:t>
            </a:r>
            <a:r>
              <a:rPr lang="zh-CN" altLang="en-US" dirty="0"/>
              <a:t>桶</a:t>
            </a:r>
            <a:r>
              <a:rPr lang="en-US" altLang="zh-CN" dirty="0" err="1"/>
              <a:t>i</a:t>
            </a:r>
            <a:r>
              <a:rPr lang="zh-CN" altLang="en-US" dirty="0"/>
              <a:t>，它会存储和节点距离在</a:t>
            </a:r>
            <a:r>
              <a:rPr lang="en-US" altLang="zh-CN" dirty="0"/>
              <a:t>[2^i,2^(i+1)]</a:t>
            </a:r>
            <a:r>
              <a:rPr lang="zh-CN" altLang="en-US" dirty="0"/>
              <a:t>范围内的</a:t>
            </a:r>
            <a:r>
              <a:rPr lang="en-US" altLang="zh-CN" dirty="0"/>
              <a:t>k</a:t>
            </a:r>
            <a:r>
              <a:rPr lang="zh-CN" altLang="en-US" dirty="0"/>
              <a:t>个节点的状态信息</a:t>
            </a:r>
            <a:endParaRPr lang="en-US" altLang="zh-CN" dirty="0"/>
          </a:p>
          <a:p>
            <a:pPr lvl="1">
              <a:lnSpc>
                <a:spcPct val="130000"/>
              </a:lnSpc>
            </a:pPr>
            <a:r>
              <a:rPr lang="zh-CN" altLang="en-US" dirty="0"/>
              <a:t>每个</a:t>
            </a:r>
            <a:r>
              <a:rPr lang="en-US" altLang="zh-CN" dirty="0"/>
              <a:t>K</a:t>
            </a:r>
            <a:r>
              <a:rPr lang="zh-CN" altLang="en-US" dirty="0"/>
              <a:t>桶内部信息存放的位置根据上次访问的时间顺序排列，最早访问的节点会放在头部，最新访问的节点会放在尾部</a:t>
            </a:r>
            <a:endParaRPr lang="en-US" altLang="zh-CN" dirty="0"/>
          </a:p>
          <a:p>
            <a:pPr lvl="1">
              <a:lnSpc>
                <a:spcPct val="130000"/>
              </a:lnSpc>
            </a:pPr>
            <a:r>
              <a:rPr lang="zh-CN" altLang="en-US" dirty="0"/>
              <a:t>以太坊网络对节点</a:t>
            </a:r>
            <a:r>
              <a:rPr lang="en-US" altLang="zh-CN" dirty="0"/>
              <a:t>ID</a:t>
            </a:r>
            <a:r>
              <a:rPr lang="zh-CN" altLang="en-US" dirty="0"/>
              <a:t>（这里指使用</a:t>
            </a:r>
            <a:r>
              <a:rPr lang="en-US" altLang="zh-CN" dirty="0" err="1"/>
              <a:t>Eckey</a:t>
            </a:r>
            <a:r>
              <a:rPr lang="zh-CN" altLang="en-US" dirty="0"/>
              <a:t>算法生成的</a:t>
            </a:r>
            <a:r>
              <a:rPr lang="en-US" altLang="zh-CN" dirty="0"/>
              <a:t>512bit</a:t>
            </a:r>
            <a:r>
              <a:rPr lang="zh-CN" altLang="en-US" dirty="0"/>
              <a:t>的网络节点公钥）使用</a:t>
            </a:r>
            <a:r>
              <a:rPr lang="en-US" altLang="zh-CN" dirty="0"/>
              <a:t>sha3</a:t>
            </a:r>
            <a:r>
              <a:rPr lang="zh-CN" altLang="en-US" dirty="0"/>
              <a:t>算法生成一个</a:t>
            </a:r>
            <a:r>
              <a:rPr lang="en-US" altLang="zh-CN" dirty="0"/>
              <a:t>256bit</a:t>
            </a:r>
            <a:r>
              <a:rPr lang="zh-CN" altLang="en-US" dirty="0"/>
              <a:t>的哈希码，每个节点有</a:t>
            </a:r>
            <a:r>
              <a:rPr lang="en-US" altLang="zh-CN" dirty="0"/>
              <a:t>256</a:t>
            </a:r>
            <a:r>
              <a:rPr lang="zh-CN" altLang="en-US" dirty="0"/>
              <a:t>个</a:t>
            </a:r>
            <a:r>
              <a:rPr lang="en-US" altLang="zh-CN" dirty="0"/>
              <a:t>K</a:t>
            </a:r>
            <a:r>
              <a:rPr lang="zh-CN" altLang="en-US" dirty="0"/>
              <a:t>桶，其中</a:t>
            </a:r>
            <a:r>
              <a:rPr lang="en-US" altLang="zh-CN" dirty="0"/>
              <a:t>K</a:t>
            </a:r>
            <a:r>
              <a:rPr lang="zh-CN" altLang="en-US" dirty="0"/>
              <a:t>桶的</a:t>
            </a:r>
            <a:r>
              <a:rPr lang="en-US" altLang="zh-CN" dirty="0"/>
              <a:t>k</a:t>
            </a:r>
            <a:r>
              <a:rPr lang="zh-CN" altLang="en-US" dirty="0"/>
              <a:t>值是</a:t>
            </a:r>
            <a:r>
              <a:rPr lang="en-US" altLang="zh-CN" dirty="0"/>
              <a:t>16</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pic>
        <p:nvPicPr>
          <p:cNvPr id="6" name="图片 5"/>
          <p:cNvPicPr/>
          <p:nvPr/>
        </p:nvPicPr>
        <p:blipFill>
          <a:blip r:embed="rId3" cstate="print">
            <a:extLst>
              <a:ext uri="{28A0092B-C50C-407E-A947-70E740481C1C}">
                <a14:useLocalDpi xmlns:a14="http://schemas.microsoft.com/office/drawing/2010/main" val="0"/>
              </a:ext>
            </a:extLst>
          </a:blip>
          <a:srcRect/>
          <a:stretch>
            <a:fillRect/>
          </a:stretch>
        </p:blipFill>
        <p:spPr>
          <a:xfrm>
            <a:off x="6943725" y="2486025"/>
            <a:ext cx="4610100" cy="2381250"/>
          </a:xfrm>
          <a:prstGeom prst="rect">
            <a:avLst/>
          </a:prstGeom>
          <a:noFill/>
          <a:ln>
            <a:noFill/>
          </a:ln>
        </p:spPr>
      </p:pic>
    </p:spTree>
    <p:extLst>
      <p:ext uri="{BB962C8B-B14F-4D97-AF65-F5344CB8AC3E}">
        <p14:creationId xmlns:p14="http://schemas.microsoft.com/office/powerpoint/2010/main" val="14867073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节点类型</a:t>
            </a:r>
            <a:endParaRPr lang="en-US" altLang="zh-CN" dirty="0"/>
          </a:p>
        </p:txBody>
      </p:sp>
      <p:sp>
        <p:nvSpPr>
          <p:cNvPr id="3" name="内容占位符 2"/>
          <p:cNvSpPr>
            <a:spLocks noGrp="1"/>
          </p:cNvSpPr>
          <p:nvPr>
            <p:ph idx="1"/>
          </p:nvPr>
        </p:nvSpPr>
        <p:spPr>
          <a:xfrm>
            <a:off x="838200" y="1510758"/>
            <a:ext cx="9888940" cy="4845592"/>
          </a:xfrm>
        </p:spPr>
        <p:txBody>
          <a:bodyPr>
            <a:normAutofit fontScale="77500" lnSpcReduction="20000"/>
          </a:bodyPr>
          <a:lstStyle/>
          <a:p>
            <a:pPr fontAlgn="auto">
              <a:lnSpc>
                <a:spcPct val="130000"/>
              </a:lnSpc>
            </a:pPr>
            <a:r>
              <a:rPr lang="zh-CN" altLang="en-US" dirty="0"/>
              <a:t>依照分片后的功能划分</a:t>
            </a:r>
            <a:endParaRPr lang="en-US" altLang="zh-CN" dirty="0"/>
          </a:p>
          <a:p>
            <a:pPr fontAlgn="auto">
              <a:lnSpc>
                <a:spcPct val="130000"/>
              </a:lnSpc>
            </a:pPr>
            <a:r>
              <a:rPr lang="zh-CN" altLang="en-US" dirty="0"/>
              <a:t>超级全节点（</a:t>
            </a:r>
            <a:r>
              <a:rPr lang="en-US" altLang="zh-CN" dirty="0"/>
              <a:t>Super-full node</a:t>
            </a:r>
            <a:r>
              <a:rPr lang="zh-CN" altLang="en-US" dirty="0"/>
              <a:t>）</a:t>
            </a:r>
            <a:endParaRPr lang="en-US" altLang="zh-CN" dirty="0"/>
          </a:p>
          <a:p>
            <a:pPr lvl="1">
              <a:lnSpc>
                <a:spcPct val="130000"/>
              </a:lnSpc>
            </a:pPr>
            <a:r>
              <a:rPr lang="zh-CN" altLang="en-US" dirty="0"/>
              <a:t>下载了全部主链数据和与主链中每个分片有关的数据，旨在充分验证一切，可以在单个分片遭到破坏或攻击的情况下保持系统的可用性</a:t>
            </a:r>
            <a:endParaRPr lang="en-US" altLang="zh-CN" dirty="0"/>
          </a:p>
          <a:p>
            <a:pPr lvl="0">
              <a:lnSpc>
                <a:spcPct val="130000"/>
              </a:lnSpc>
            </a:pPr>
            <a:r>
              <a:rPr lang="zh-CN" altLang="en-US" dirty="0">
                <a:solidFill>
                  <a:prstClr val="black"/>
                </a:solidFill>
              </a:rPr>
              <a:t>顶级节点（</a:t>
            </a:r>
            <a:r>
              <a:rPr lang="en-US" altLang="zh-CN" dirty="0">
                <a:solidFill>
                  <a:prstClr val="black"/>
                </a:solidFill>
              </a:rPr>
              <a:t>Top-level node</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只处理所有主链区块，包括分片中的区块头和签名，不下载分片区块上的全部数据</a:t>
            </a:r>
            <a:endParaRPr lang="en-US" altLang="zh-CN" dirty="0">
              <a:solidFill>
                <a:prstClr val="black"/>
              </a:solidFill>
            </a:endParaRPr>
          </a:p>
          <a:p>
            <a:pPr lvl="0">
              <a:lnSpc>
                <a:spcPct val="130000"/>
              </a:lnSpc>
            </a:pPr>
            <a:r>
              <a:rPr lang="zh-CN" altLang="en-US" dirty="0">
                <a:solidFill>
                  <a:prstClr val="black"/>
                </a:solidFill>
              </a:rPr>
              <a:t>单分片节点（</a:t>
            </a:r>
            <a:r>
              <a:rPr lang="en-US" altLang="zh-CN" dirty="0">
                <a:solidFill>
                  <a:prstClr val="black"/>
                </a:solidFill>
              </a:rPr>
              <a:t>Single-shard node</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充当顶级节点的角色，同时会完全下载和验证它关注的特定分片上的每一个校验规则</a:t>
            </a:r>
            <a:endParaRPr lang="en-US" altLang="zh-CN" dirty="0">
              <a:solidFill>
                <a:prstClr val="black"/>
              </a:solidFill>
            </a:endParaRPr>
          </a:p>
          <a:p>
            <a:pPr lvl="0">
              <a:lnSpc>
                <a:spcPct val="130000"/>
              </a:lnSpc>
            </a:pPr>
            <a:r>
              <a:rPr lang="zh-CN" altLang="en-US" dirty="0">
                <a:solidFill>
                  <a:prstClr val="black"/>
                </a:solidFill>
              </a:rPr>
              <a:t>轻节点（</a:t>
            </a:r>
            <a:r>
              <a:rPr lang="en-US" altLang="zh-CN" dirty="0">
                <a:solidFill>
                  <a:prstClr val="black"/>
                </a:solidFill>
              </a:rPr>
              <a:t>Light node</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只下载和验证主链区块的区块头数据</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29</a:t>
            </a:fld>
            <a:endParaRPr kumimoji="1" lang="zh-CN" altLang="en-US" dirty="0"/>
          </a:p>
        </p:txBody>
      </p:sp>
    </p:spTree>
    <p:extLst>
      <p:ext uri="{BB962C8B-B14F-4D97-AF65-F5344CB8AC3E}">
        <p14:creationId xmlns:p14="http://schemas.microsoft.com/office/powerpoint/2010/main" val="22354998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节点通信</a:t>
            </a:r>
            <a:endParaRPr lang="en-US" altLang="zh-CN" dirty="0"/>
          </a:p>
        </p:txBody>
      </p:sp>
      <p:sp>
        <p:nvSpPr>
          <p:cNvPr id="3" name="内容占位符 2"/>
          <p:cNvSpPr>
            <a:spLocks noGrp="1"/>
          </p:cNvSpPr>
          <p:nvPr>
            <p:ph idx="1"/>
          </p:nvPr>
        </p:nvSpPr>
        <p:spPr>
          <a:xfrm>
            <a:off x="838200" y="1510758"/>
            <a:ext cx="9888940" cy="4845592"/>
          </a:xfrm>
        </p:spPr>
        <p:txBody>
          <a:bodyPr>
            <a:normAutofit lnSpcReduction="10000"/>
          </a:bodyPr>
          <a:lstStyle/>
          <a:p>
            <a:pPr fontAlgn="auto">
              <a:lnSpc>
                <a:spcPct val="130000"/>
              </a:lnSpc>
            </a:pPr>
            <a:r>
              <a:rPr lang="en-US" altLang="zh-CN" dirty="0" err="1"/>
              <a:t>Kad</a:t>
            </a:r>
            <a:r>
              <a:rPr lang="zh-CN" altLang="en-US" dirty="0"/>
              <a:t>节点加入</a:t>
            </a:r>
            <a:endParaRPr lang="en-US" altLang="zh-CN" dirty="0"/>
          </a:p>
          <a:p>
            <a:pPr lvl="1">
              <a:lnSpc>
                <a:spcPct val="130000"/>
              </a:lnSpc>
            </a:pPr>
            <a:r>
              <a:rPr lang="zh-CN" altLang="en-US" dirty="0">
                <a:solidFill>
                  <a:prstClr val="black"/>
                </a:solidFill>
              </a:rPr>
              <a:t>获取任意一个已加入</a:t>
            </a:r>
            <a:r>
              <a:rPr lang="en-US" altLang="zh-CN" dirty="0" err="1">
                <a:solidFill>
                  <a:prstClr val="black"/>
                </a:solidFill>
              </a:rPr>
              <a:t>Kad</a:t>
            </a:r>
            <a:r>
              <a:rPr lang="zh-CN" altLang="en-US" dirty="0">
                <a:solidFill>
                  <a:prstClr val="black"/>
                </a:solidFill>
              </a:rPr>
              <a:t>网络中的节点的信息，将其加入对应的</a:t>
            </a:r>
            <a:r>
              <a:rPr lang="en-US" altLang="zh-CN" dirty="0">
                <a:solidFill>
                  <a:prstClr val="black"/>
                </a:solidFill>
              </a:rPr>
              <a:t>K</a:t>
            </a:r>
            <a:r>
              <a:rPr lang="zh-CN" altLang="en-US" dirty="0">
                <a:solidFill>
                  <a:prstClr val="black"/>
                </a:solidFill>
              </a:rPr>
              <a:t>桶中，并向该节点针对自己的</a:t>
            </a:r>
            <a:r>
              <a:rPr lang="en-US" altLang="zh-CN" dirty="0">
                <a:solidFill>
                  <a:prstClr val="black"/>
                </a:solidFill>
              </a:rPr>
              <a:t>ID</a:t>
            </a:r>
            <a:r>
              <a:rPr lang="zh-CN" altLang="en-US" dirty="0">
                <a:solidFill>
                  <a:prstClr val="black"/>
                </a:solidFill>
              </a:rPr>
              <a:t>发起查询请求</a:t>
            </a:r>
            <a:endParaRPr lang="en-US" altLang="zh-CN" dirty="0">
              <a:solidFill>
                <a:prstClr val="black"/>
              </a:solidFill>
            </a:endParaRPr>
          </a:p>
          <a:p>
            <a:pPr lvl="1">
              <a:lnSpc>
                <a:spcPct val="130000"/>
              </a:lnSpc>
            </a:pPr>
            <a:r>
              <a:rPr lang="zh-CN" altLang="en-US" dirty="0">
                <a:solidFill>
                  <a:prstClr val="black"/>
                </a:solidFill>
              </a:rPr>
              <a:t>对等节点收到请求后，会按照与新节点的距离对自己的</a:t>
            </a:r>
            <a:r>
              <a:rPr lang="en-US" altLang="zh-CN" dirty="0">
                <a:solidFill>
                  <a:prstClr val="black"/>
                </a:solidFill>
              </a:rPr>
              <a:t>K</a:t>
            </a:r>
            <a:r>
              <a:rPr lang="zh-CN" altLang="en-US" dirty="0">
                <a:solidFill>
                  <a:prstClr val="black"/>
                </a:solidFill>
              </a:rPr>
              <a:t>桶进行更新，然后返回</a:t>
            </a:r>
            <a:r>
              <a:rPr lang="en-US" altLang="zh-CN" dirty="0">
                <a:solidFill>
                  <a:prstClr val="black"/>
                </a:solidFill>
              </a:rPr>
              <a:t>k</a:t>
            </a:r>
            <a:r>
              <a:rPr lang="zh-CN" altLang="en-US" dirty="0">
                <a:solidFill>
                  <a:prstClr val="black"/>
                </a:solidFill>
              </a:rPr>
              <a:t>个与新节点最近的节点</a:t>
            </a:r>
            <a:endParaRPr lang="en-US" altLang="zh-CN" dirty="0">
              <a:solidFill>
                <a:prstClr val="black"/>
              </a:solidFill>
            </a:endParaRPr>
          </a:p>
          <a:p>
            <a:pPr lvl="1">
              <a:lnSpc>
                <a:spcPct val="130000"/>
              </a:lnSpc>
            </a:pPr>
            <a:r>
              <a:rPr lang="zh-CN" altLang="en-US" dirty="0">
                <a:solidFill>
                  <a:prstClr val="black"/>
                </a:solidFill>
              </a:rPr>
              <a:t>新节点收到返回的节点信息后，将这些节点加入自己的</a:t>
            </a:r>
            <a:r>
              <a:rPr lang="en-US" altLang="zh-CN" dirty="0">
                <a:solidFill>
                  <a:prstClr val="black"/>
                </a:solidFill>
              </a:rPr>
              <a:t>K</a:t>
            </a:r>
            <a:r>
              <a:rPr lang="zh-CN" altLang="en-US" dirty="0">
                <a:solidFill>
                  <a:prstClr val="black"/>
                </a:solidFill>
              </a:rPr>
              <a:t>桶，并向这些节点发送查询请求，如此往复，从而建立自己的路由表</a:t>
            </a:r>
            <a:endParaRPr lang="en-US" altLang="zh-CN" dirty="0">
              <a:solidFill>
                <a:prstClr val="black"/>
              </a:solidFill>
            </a:endParaRPr>
          </a:p>
          <a:p>
            <a:pPr lvl="0">
              <a:lnSpc>
                <a:spcPct val="130000"/>
              </a:lnSpc>
            </a:pPr>
            <a:r>
              <a:rPr lang="zh-CN" altLang="en-US" dirty="0">
                <a:solidFill>
                  <a:prstClr val="black"/>
                </a:solidFill>
              </a:rPr>
              <a:t>节点退出</a:t>
            </a:r>
            <a:endParaRPr lang="en-US" altLang="zh-CN" dirty="0">
              <a:solidFill>
                <a:prstClr val="black"/>
              </a:solidFill>
            </a:endParaRPr>
          </a:p>
          <a:p>
            <a:pPr lvl="1">
              <a:lnSpc>
                <a:spcPct val="130000"/>
              </a:lnSpc>
            </a:pPr>
            <a:r>
              <a:rPr lang="zh-CN" altLang="en-US" dirty="0">
                <a:solidFill>
                  <a:prstClr val="black"/>
                </a:solidFill>
              </a:rPr>
              <a:t>节点在维护自己的</a:t>
            </a:r>
            <a:r>
              <a:rPr lang="en-US" altLang="zh-CN" dirty="0">
                <a:solidFill>
                  <a:prstClr val="black"/>
                </a:solidFill>
              </a:rPr>
              <a:t>K</a:t>
            </a:r>
            <a:r>
              <a:rPr lang="zh-CN" altLang="en-US" dirty="0">
                <a:solidFill>
                  <a:prstClr val="black"/>
                </a:solidFill>
              </a:rPr>
              <a:t>桶时会主动把没响应的节点从自己的</a:t>
            </a:r>
            <a:r>
              <a:rPr lang="en-US" altLang="zh-CN" dirty="0">
                <a:solidFill>
                  <a:prstClr val="black"/>
                </a:solidFill>
              </a:rPr>
              <a:t>K</a:t>
            </a:r>
            <a:r>
              <a:rPr lang="zh-CN" altLang="en-US" dirty="0">
                <a:solidFill>
                  <a:prstClr val="black"/>
                </a:solidFill>
              </a:rPr>
              <a:t>桶中移除</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30</a:t>
            </a:fld>
            <a:endParaRPr kumimoji="1" lang="zh-CN" altLang="en-US" dirty="0"/>
          </a:p>
        </p:txBody>
      </p:sp>
    </p:spTree>
    <p:extLst>
      <p:ext uri="{BB962C8B-B14F-4D97-AF65-F5344CB8AC3E}">
        <p14:creationId xmlns:p14="http://schemas.microsoft.com/office/powerpoint/2010/main" val="10694821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K</a:t>
            </a:r>
            <a:r>
              <a:rPr lang="zh-CN" altLang="en-US" dirty="0"/>
              <a:t>桶维护</a:t>
            </a:r>
            <a:endParaRPr lang="en-US" altLang="zh-CN" dirty="0"/>
          </a:p>
        </p:txBody>
      </p:sp>
      <p:sp>
        <p:nvSpPr>
          <p:cNvPr id="3" name="内容占位符 2"/>
          <p:cNvSpPr>
            <a:spLocks noGrp="1"/>
          </p:cNvSpPr>
          <p:nvPr>
            <p:ph idx="1"/>
          </p:nvPr>
        </p:nvSpPr>
        <p:spPr>
          <a:xfrm>
            <a:off x="838200" y="1510758"/>
            <a:ext cx="9888940" cy="4845592"/>
          </a:xfrm>
        </p:spPr>
        <p:txBody>
          <a:bodyPr>
            <a:normAutofit fontScale="92500" lnSpcReduction="10000"/>
          </a:bodyPr>
          <a:lstStyle/>
          <a:p>
            <a:pPr fontAlgn="auto">
              <a:lnSpc>
                <a:spcPct val="130000"/>
              </a:lnSpc>
            </a:pPr>
            <a:r>
              <a:rPr lang="zh-CN" altLang="en-US" dirty="0"/>
              <a:t>更新时基本遵循抛弃最近最少访问节点的原则</a:t>
            </a:r>
            <a:endParaRPr lang="en-US" altLang="zh-CN" dirty="0"/>
          </a:p>
          <a:p>
            <a:pPr lvl="1">
              <a:lnSpc>
                <a:spcPct val="130000"/>
              </a:lnSpc>
            </a:pPr>
            <a:r>
              <a:rPr lang="zh-CN" altLang="en-US" dirty="0">
                <a:solidFill>
                  <a:prstClr val="black"/>
                </a:solidFill>
              </a:rPr>
              <a:t>计算节点本身与新节点的距离，根据这个距离，选择对应的</a:t>
            </a:r>
            <a:r>
              <a:rPr lang="en-US" altLang="zh-CN" dirty="0">
                <a:solidFill>
                  <a:prstClr val="black"/>
                </a:solidFill>
              </a:rPr>
              <a:t>K</a:t>
            </a:r>
            <a:r>
              <a:rPr lang="zh-CN" altLang="en-US" dirty="0">
                <a:solidFill>
                  <a:prstClr val="black"/>
                </a:solidFill>
              </a:rPr>
              <a:t>桶进行操作</a:t>
            </a:r>
            <a:endParaRPr lang="en-US" altLang="zh-CN" dirty="0">
              <a:solidFill>
                <a:prstClr val="black"/>
              </a:solidFill>
            </a:endParaRPr>
          </a:p>
          <a:p>
            <a:pPr lvl="1">
              <a:lnSpc>
                <a:spcPct val="130000"/>
              </a:lnSpc>
            </a:pPr>
            <a:r>
              <a:rPr lang="zh-CN" altLang="en-US" dirty="0">
                <a:solidFill>
                  <a:prstClr val="black"/>
                </a:solidFill>
              </a:rPr>
              <a:t>如果新节点的信息在这个</a:t>
            </a:r>
            <a:r>
              <a:rPr lang="en-US" altLang="zh-CN" dirty="0">
                <a:solidFill>
                  <a:prstClr val="black"/>
                </a:solidFill>
              </a:rPr>
              <a:t>K</a:t>
            </a:r>
            <a:r>
              <a:rPr lang="zh-CN" altLang="en-US" dirty="0">
                <a:solidFill>
                  <a:prstClr val="black"/>
                </a:solidFill>
              </a:rPr>
              <a:t>桶中，则将其信息移动到列表尾部</a:t>
            </a:r>
            <a:endParaRPr lang="en-US" altLang="zh-CN" dirty="0">
              <a:solidFill>
                <a:prstClr val="black"/>
              </a:solidFill>
            </a:endParaRPr>
          </a:p>
          <a:p>
            <a:pPr lvl="1">
              <a:lnSpc>
                <a:spcPct val="130000"/>
              </a:lnSpc>
            </a:pPr>
            <a:r>
              <a:rPr lang="zh-CN" altLang="en-US" dirty="0">
                <a:solidFill>
                  <a:prstClr val="black"/>
                </a:solidFill>
              </a:rPr>
              <a:t>如果新节点的信息不在</a:t>
            </a:r>
            <a:r>
              <a:rPr lang="en-US" altLang="zh-CN" dirty="0">
                <a:solidFill>
                  <a:prstClr val="black"/>
                </a:solidFill>
              </a:rPr>
              <a:t>K</a:t>
            </a:r>
            <a:r>
              <a:rPr lang="zh-CN" altLang="en-US" dirty="0">
                <a:solidFill>
                  <a:prstClr val="black"/>
                </a:solidFill>
              </a:rPr>
              <a:t>桶中，则分为两种情况：</a:t>
            </a:r>
            <a:endParaRPr lang="en-US" altLang="zh-CN" dirty="0">
              <a:solidFill>
                <a:prstClr val="black"/>
              </a:solidFill>
            </a:endParaRPr>
          </a:p>
          <a:p>
            <a:pPr lvl="1">
              <a:lnSpc>
                <a:spcPct val="130000"/>
              </a:lnSpc>
            </a:pPr>
            <a:r>
              <a:rPr lang="zh-CN" altLang="en-US" dirty="0">
                <a:solidFill>
                  <a:prstClr val="black"/>
                </a:solidFill>
              </a:rPr>
              <a:t>在</a:t>
            </a:r>
            <a:r>
              <a:rPr lang="en-US" altLang="zh-CN" dirty="0">
                <a:solidFill>
                  <a:prstClr val="black"/>
                </a:solidFill>
              </a:rPr>
              <a:t>K</a:t>
            </a:r>
            <a:r>
              <a:rPr lang="zh-CN" altLang="en-US" dirty="0">
                <a:solidFill>
                  <a:prstClr val="black"/>
                </a:solidFill>
              </a:rPr>
              <a:t>桶未满的情况下，直接将该信息添加到列表尾部；</a:t>
            </a:r>
            <a:endParaRPr lang="en-US" altLang="zh-CN" dirty="0">
              <a:solidFill>
                <a:prstClr val="black"/>
              </a:solidFill>
            </a:endParaRPr>
          </a:p>
          <a:p>
            <a:pPr lvl="1">
              <a:lnSpc>
                <a:spcPct val="130000"/>
              </a:lnSpc>
            </a:pPr>
            <a:r>
              <a:rPr lang="zh-CN" altLang="en-US" dirty="0">
                <a:solidFill>
                  <a:prstClr val="black"/>
                </a:solidFill>
              </a:rPr>
              <a:t>在</a:t>
            </a:r>
            <a:r>
              <a:rPr lang="en-US" altLang="zh-CN" dirty="0">
                <a:solidFill>
                  <a:prstClr val="black"/>
                </a:solidFill>
              </a:rPr>
              <a:t>K</a:t>
            </a:r>
            <a:r>
              <a:rPr lang="zh-CN" altLang="en-US" dirty="0">
                <a:solidFill>
                  <a:prstClr val="black"/>
                </a:solidFill>
              </a:rPr>
              <a:t>桶已满的情况下，先在列表头部检查最早访问的节点是否有响应。如果有响应，则将头部节点移动到列表尾部，并忽略新节点信息；如果没有响应，则将头部节点信息抛弃，并将新节点信息添加到列表尾部。保留在线时间长的节点的信息是因为在线时间长的节点在下一个时间段继续保持在线的概率可能会更大</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31</a:t>
            </a:fld>
            <a:endParaRPr kumimoji="1" lang="zh-CN" altLang="en-US" dirty="0"/>
          </a:p>
        </p:txBody>
      </p:sp>
    </p:spTree>
    <p:extLst>
      <p:ext uri="{BB962C8B-B14F-4D97-AF65-F5344CB8AC3E}">
        <p14:creationId xmlns:p14="http://schemas.microsoft.com/office/powerpoint/2010/main" val="1918659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Kad</a:t>
            </a:r>
            <a:r>
              <a:rPr lang="zh-CN" altLang="en-US" dirty="0"/>
              <a:t>网络节点查询</a:t>
            </a:r>
            <a:endParaRPr lang="en-US" altLang="zh-CN" dirty="0"/>
          </a:p>
        </p:txBody>
      </p:sp>
      <p:sp>
        <p:nvSpPr>
          <p:cNvPr id="3" name="内容占位符 2"/>
          <p:cNvSpPr>
            <a:spLocks noGrp="1"/>
          </p:cNvSpPr>
          <p:nvPr>
            <p:ph idx="1"/>
          </p:nvPr>
        </p:nvSpPr>
        <p:spPr>
          <a:xfrm>
            <a:off x="838200" y="1510758"/>
            <a:ext cx="9888940" cy="1280067"/>
          </a:xfrm>
        </p:spPr>
        <p:txBody>
          <a:bodyPr>
            <a:normAutofit/>
          </a:bodyPr>
          <a:lstStyle/>
          <a:p>
            <a:pPr fontAlgn="auto">
              <a:lnSpc>
                <a:spcPct val="130000"/>
              </a:lnSpc>
            </a:pPr>
            <a:r>
              <a:rPr lang="zh-CN" altLang="en-US" sz="2400" dirty="0"/>
              <a:t>定义：已知某个节点的</a:t>
            </a:r>
            <a:r>
              <a:rPr lang="en-US" altLang="zh-CN" sz="2400" dirty="0"/>
              <a:t>ID</a:t>
            </a:r>
            <a:r>
              <a:rPr lang="zh-CN" altLang="en-US" sz="2400" dirty="0"/>
              <a:t>，查找当前节点与目标节点距离最短的</a:t>
            </a:r>
            <a:r>
              <a:rPr lang="en-US" altLang="zh-CN" sz="2400" dirty="0"/>
              <a:t>k</a:t>
            </a:r>
            <a:r>
              <a:rPr lang="zh-CN" altLang="en-US" sz="2400" dirty="0"/>
              <a:t>个节点所对应的网络信息（不能保证被查找的节点一定存在在网络上）</a:t>
            </a:r>
            <a:endParaRPr lang="en-US" altLang="zh-CN" sz="2400"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32</a:t>
            </a:fld>
            <a:endParaRPr kumimoji="1" lang="zh-CN" altLang="en-US" dirty="0"/>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a:xfrm>
            <a:off x="1581150" y="2553969"/>
            <a:ext cx="8953500" cy="4389755"/>
          </a:xfrm>
          <a:prstGeom prst="rect">
            <a:avLst/>
          </a:prstGeom>
          <a:noFill/>
          <a:ln>
            <a:noFill/>
          </a:ln>
        </p:spPr>
      </p:pic>
    </p:spTree>
    <p:extLst>
      <p:ext uri="{BB962C8B-B14F-4D97-AF65-F5344CB8AC3E}">
        <p14:creationId xmlns:p14="http://schemas.microsoft.com/office/powerpoint/2010/main" val="42051888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网络节点发现</a:t>
            </a:r>
            <a:endParaRPr lang="en-US" altLang="zh-CN" dirty="0"/>
          </a:p>
        </p:txBody>
      </p:sp>
      <p:sp>
        <p:nvSpPr>
          <p:cNvPr id="3" name="内容占位符 2"/>
          <p:cNvSpPr>
            <a:spLocks noGrp="1"/>
          </p:cNvSpPr>
          <p:nvPr>
            <p:ph idx="1"/>
          </p:nvPr>
        </p:nvSpPr>
        <p:spPr>
          <a:xfrm>
            <a:off x="838201" y="1510758"/>
            <a:ext cx="7505700" cy="5347242"/>
          </a:xfrm>
        </p:spPr>
        <p:txBody>
          <a:bodyPr>
            <a:normAutofit fontScale="62500" lnSpcReduction="20000"/>
          </a:bodyPr>
          <a:lstStyle/>
          <a:p>
            <a:pPr fontAlgn="auto">
              <a:lnSpc>
                <a:spcPct val="130000"/>
              </a:lnSpc>
            </a:pPr>
            <a:r>
              <a:rPr lang="zh-CN" altLang="en-US" dirty="0"/>
              <a:t>四种报文命令</a:t>
            </a:r>
            <a:endParaRPr lang="en-US" altLang="zh-CN" dirty="0"/>
          </a:p>
          <a:p>
            <a:pPr lvl="1">
              <a:lnSpc>
                <a:spcPct val="130000"/>
              </a:lnSpc>
            </a:pPr>
            <a:r>
              <a:rPr lang="zh-CN" altLang="en-US" dirty="0">
                <a:solidFill>
                  <a:prstClr val="black"/>
                </a:solidFill>
              </a:rPr>
              <a:t>用于探测对等节点是否在线的</a:t>
            </a:r>
            <a:r>
              <a:rPr lang="en-US" altLang="zh-CN" dirty="0">
                <a:solidFill>
                  <a:prstClr val="black"/>
                </a:solidFill>
              </a:rPr>
              <a:t>Ping</a:t>
            </a:r>
            <a:r>
              <a:rPr lang="zh-CN" altLang="en-US" dirty="0">
                <a:solidFill>
                  <a:prstClr val="black"/>
                </a:solidFill>
              </a:rPr>
              <a:t>命令</a:t>
            </a:r>
            <a:endParaRPr lang="en-US" altLang="zh-CN" dirty="0">
              <a:solidFill>
                <a:prstClr val="black"/>
              </a:solidFill>
            </a:endParaRPr>
          </a:p>
          <a:p>
            <a:pPr lvl="1">
              <a:lnSpc>
                <a:spcPct val="130000"/>
              </a:lnSpc>
            </a:pPr>
            <a:r>
              <a:rPr lang="zh-CN" altLang="en-US" dirty="0">
                <a:solidFill>
                  <a:prstClr val="black"/>
                </a:solidFill>
              </a:rPr>
              <a:t>用于响应</a:t>
            </a:r>
            <a:r>
              <a:rPr lang="en-US" altLang="zh-CN" dirty="0">
                <a:solidFill>
                  <a:prstClr val="black"/>
                </a:solidFill>
              </a:rPr>
              <a:t>Ping</a:t>
            </a:r>
            <a:r>
              <a:rPr lang="zh-CN" altLang="en-US" dirty="0">
                <a:solidFill>
                  <a:prstClr val="black"/>
                </a:solidFill>
              </a:rPr>
              <a:t>报文的应答命令</a:t>
            </a:r>
            <a:r>
              <a:rPr lang="en-US" altLang="zh-CN" dirty="0">
                <a:solidFill>
                  <a:prstClr val="black"/>
                </a:solidFill>
              </a:rPr>
              <a:t>Pong</a:t>
            </a:r>
          </a:p>
          <a:p>
            <a:pPr lvl="1">
              <a:lnSpc>
                <a:spcPct val="130000"/>
              </a:lnSpc>
            </a:pPr>
            <a:r>
              <a:rPr lang="zh-CN" altLang="en-US" dirty="0">
                <a:solidFill>
                  <a:prstClr val="black"/>
                </a:solidFill>
              </a:rPr>
              <a:t>用于向对等节点请求查询邻居节点的</a:t>
            </a:r>
            <a:r>
              <a:rPr lang="en-US" altLang="zh-CN" dirty="0" err="1">
                <a:solidFill>
                  <a:prstClr val="black"/>
                </a:solidFill>
              </a:rPr>
              <a:t>FindNode</a:t>
            </a:r>
            <a:r>
              <a:rPr lang="zh-CN" altLang="en-US" dirty="0">
                <a:solidFill>
                  <a:prstClr val="black"/>
                </a:solidFill>
              </a:rPr>
              <a:t>命令</a:t>
            </a:r>
            <a:endParaRPr lang="en-US" altLang="zh-CN" dirty="0">
              <a:solidFill>
                <a:prstClr val="black"/>
              </a:solidFill>
            </a:endParaRPr>
          </a:p>
          <a:p>
            <a:pPr lvl="1">
              <a:lnSpc>
                <a:spcPct val="130000"/>
              </a:lnSpc>
            </a:pPr>
            <a:r>
              <a:rPr lang="zh-CN" altLang="en-US" dirty="0">
                <a:solidFill>
                  <a:prstClr val="black"/>
                </a:solidFill>
              </a:rPr>
              <a:t>用于回传找到的邻居节点列表的</a:t>
            </a:r>
            <a:r>
              <a:rPr lang="en-US" altLang="zh-CN" dirty="0">
                <a:solidFill>
                  <a:prstClr val="black"/>
                </a:solidFill>
              </a:rPr>
              <a:t>Neighbors</a:t>
            </a:r>
            <a:r>
              <a:rPr lang="zh-CN" altLang="en-US" dirty="0">
                <a:solidFill>
                  <a:prstClr val="black"/>
                </a:solidFill>
              </a:rPr>
              <a:t>命令</a:t>
            </a:r>
            <a:endParaRPr lang="en-US" altLang="zh-CN" dirty="0">
              <a:solidFill>
                <a:prstClr val="black"/>
              </a:solidFill>
            </a:endParaRPr>
          </a:p>
          <a:p>
            <a:pPr lvl="0">
              <a:lnSpc>
                <a:spcPct val="130000"/>
              </a:lnSpc>
            </a:pPr>
            <a:r>
              <a:rPr lang="zh-CN" altLang="en-US" dirty="0">
                <a:solidFill>
                  <a:prstClr val="black"/>
                </a:solidFill>
              </a:rPr>
              <a:t>六种生命周期</a:t>
            </a:r>
            <a:endParaRPr lang="en-US" altLang="zh-CN" dirty="0">
              <a:solidFill>
                <a:prstClr val="black"/>
              </a:solidFill>
            </a:endParaRPr>
          </a:p>
          <a:p>
            <a:pPr lvl="1">
              <a:lnSpc>
                <a:spcPct val="130000"/>
              </a:lnSpc>
            </a:pPr>
            <a:r>
              <a:rPr lang="zh-CN" altLang="en-US" dirty="0">
                <a:solidFill>
                  <a:prstClr val="black"/>
                </a:solidFill>
              </a:rPr>
              <a:t>发现状态（</a:t>
            </a:r>
            <a:r>
              <a:rPr lang="en-US" altLang="zh-CN" dirty="0">
                <a:solidFill>
                  <a:prstClr val="black"/>
                </a:solidFill>
              </a:rPr>
              <a:t>discovered</a:t>
            </a:r>
            <a:r>
              <a:rPr lang="zh-CN" altLang="en-US" dirty="0">
                <a:solidFill>
                  <a:prstClr val="black"/>
                </a:solidFill>
              </a:rPr>
              <a:t>）：引导节点、从持久化文件加载的节点、被引荐的节点、接收到</a:t>
            </a:r>
            <a:r>
              <a:rPr lang="en-US" altLang="zh-CN" dirty="0">
                <a:solidFill>
                  <a:prstClr val="black"/>
                </a:solidFill>
              </a:rPr>
              <a:t>Ping</a:t>
            </a:r>
            <a:r>
              <a:rPr lang="zh-CN" altLang="en-US" dirty="0">
                <a:solidFill>
                  <a:prstClr val="black"/>
                </a:solidFill>
              </a:rPr>
              <a:t>报文的节点</a:t>
            </a:r>
            <a:endParaRPr lang="en-US" altLang="zh-CN" dirty="0">
              <a:solidFill>
                <a:prstClr val="black"/>
              </a:solidFill>
            </a:endParaRPr>
          </a:p>
          <a:p>
            <a:pPr lvl="1">
              <a:lnSpc>
                <a:spcPct val="130000"/>
              </a:lnSpc>
            </a:pPr>
            <a:r>
              <a:rPr lang="zh-CN" altLang="en-US" dirty="0">
                <a:solidFill>
                  <a:prstClr val="black"/>
                </a:solidFill>
              </a:rPr>
              <a:t>在线状态（</a:t>
            </a:r>
            <a:r>
              <a:rPr lang="en-US" altLang="zh-CN" dirty="0">
                <a:solidFill>
                  <a:prstClr val="black"/>
                </a:solidFill>
              </a:rPr>
              <a:t>alive</a:t>
            </a:r>
            <a:r>
              <a:rPr lang="zh-CN" altLang="en-US" dirty="0">
                <a:solidFill>
                  <a:prstClr val="black"/>
                </a:solidFill>
              </a:rPr>
              <a:t>）：在节点发现状态回复</a:t>
            </a:r>
            <a:r>
              <a:rPr lang="en-US" altLang="zh-CN" dirty="0">
                <a:solidFill>
                  <a:prstClr val="black"/>
                </a:solidFill>
              </a:rPr>
              <a:t>Pong</a:t>
            </a:r>
            <a:r>
              <a:rPr lang="zh-CN" altLang="en-US" dirty="0">
                <a:solidFill>
                  <a:prstClr val="black"/>
                </a:solidFill>
              </a:rPr>
              <a:t>报文后，节点会被置为在线状态</a:t>
            </a:r>
            <a:endParaRPr lang="en-US" altLang="zh-CN" dirty="0">
              <a:solidFill>
                <a:prstClr val="black"/>
              </a:solidFill>
            </a:endParaRPr>
          </a:p>
          <a:p>
            <a:pPr lvl="1">
              <a:lnSpc>
                <a:spcPct val="130000"/>
              </a:lnSpc>
            </a:pPr>
            <a:r>
              <a:rPr lang="zh-CN" altLang="en-US" dirty="0">
                <a:solidFill>
                  <a:prstClr val="black"/>
                </a:solidFill>
              </a:rPr>
              <a:t>活跃状态（</a:t>
            </a:r>
            <a:r>
              <a:rPr lang="en-US" altLang="zh-CN" dirty="0">
                <a:solidFill>
                  <a:prstClr val="black"/>
                </a:solidFill>
              </a:rPr>
              <a:t>active</a:t>
            </a:r>
            <a:r>
              <a:rPr lang="zh-CN" altLang="en-US" dirty="0">
                <a:solidFill>
                  <a:prstClr val="black"/>
                </a:solidFill>
              </a:rPr>
              <a:t>）：节点处于</a:t>
            </a:r>
            <a:r>
              <a:rPr lang="en-US" altLang="zh-CN" dirty="0">
                <a:solidFill>
                  <a:prstClr val="black"/>
                </a:solidFill>
              </a:rPr>
              <a:t>K</a:t>
            </a:r>
            <a:r>
              <a:rPr lang="zh-CN" altLang="en-US" dirty="0">
                <a:solidFill>
                  <a:prstClr val="black"/>
                </a:solidFill>
              </a:rPr>
              <a:t>桶时的状态</a:t>
            </a:r>
            <a:endParaRPr lang="en-US" altLang="zh-CN" dirty="0">
              <a:solidFill>
                <a:prstClr val="black"/>
              </a:solidFill>
            </a:endParaRPr>
          </a:p>
          <a:p>
            <a:pPr lvl="1">
              <a:lnSpc>
                <a:spcPct val="130000"/>
              </a:lnSpc>
            </a:pPr>
            <a:r>
              <a:rPr lang="zh-CN" altLang="en-US" dirty="0">
                <a:solidFill>
                  <a:prstClr val="black"/>
                </a:solidFill>
              </a:rPr>
              <a:t>候选状态（</a:t>
            </a:r>
            <a:r>
              <a:rPr lang="en-US" altLang="zh-CN" dirty="0" err="1">
                <a:solidFill>
                  <a:prstClr val="black"/>
                </a:solidFill>
              </a:rPr>
              <a:t>evictcandidate</a:t>
            </a:r>
            <a:r>
              <a:rPr lang="zh-CN" altLang="en-US" dirty="0">
                <a:solidFill>
                  <a:prstClr val="black"/>
                </a:solidFill>
              </a:rPr>
              <a:t>）：</a:t>
            </a:r>
            <a:r>
              <a:rPr lang="en-US" altLang="zh-CN" dirty="0">
                <a:solidFill>
                  <a:prstClr val="black"/>
                </a:solidFill>
              </a:rPr>
              <a:t>K</a:t>
            </a:r>
            <a:r>
              <a:rPr lang="zh-CN" altLang="en-US" dirty="0">
                <a:solidFill>
                  <a:prstClr val="black"/>
                </a:solidFill>
              </a:rPr>
              <a:t>桶满时，活跃状态的节点被新节点替代后会暂时被置为此状态</a:t>
            </a:r>
            <a:endParaRPr lang="en-US" altLang="zh-CN" dirty="0">
              <a:solidFill>
                <a:prstClr val="black"/>
              </a:solidFill>
            </a:endParaRPr>
          </a:p>
          <a:p>
            <a:pPr lvl="1">
              <a:lnSpc>
                <a:spcPct val="130000"/>
              </a:lnSpc>
            </a:pPr>
            <a:r>
              <a:rPr lang="zh-CN" altLang="en-US" dirty="0">
                <a:solidFill>
                  <a:prstClr val="black"/>
                </a:solidFill>
              </a:rPr>
              <a:t>不活跃状态（</a:t>
            </a:r>
            <a:r>
              <a:rPr lang="en-US" altLang="zh-CN" dirty="0" err="1">
                <a:solidFill>
                  <a:prstClr val="black"/>
                </a:solidFill>
              </a:rPr>
              <a:t>noactive</a:t>
            </a:r>
            <a:r>
              <a:rPr lang="zh-CN" altLang="en-US" dirty="0">
                <a:solidFill>
                  <a:prstClr val="black"/>
                </a:solidFill>
              </a:rPr>
              <a:t>）：如果节点向处于候选状态的节点发送</a:t>
            </a:r>
            <a:r>
              <a:rPr lang="en-US" altLang="zh-CN" dirty="0">
                <a:solidFill>
                  <a:prstClr val="black"/>
                </a:solidFill>
              </a:rPr>
              <a:t>Ping</a:t>
            </a:r>
            <a:r>
              <a:rPr lang="zh-CN" altLang="en-US" dirty="0">
                <a:solidFill>
                  <a:prstClr val="black"/>
                </a:solidFill>
              </a:rPr>
              <a:t>报文，且该候选状态的节点长时间没有响应，那么候选状态的节点会被置为不活跃状态</a:t>
            </a:r>
            <a:endParaRPr lang="en-US" altLang="zh-CN" dirty="0">
              <a:solidFill>
                <a:prstClr val="black"/>
              </a:solidFill>
            </a:endParaRPr>
          </a:p>
          <a:p>
            <a:pPr lvl="1">
              <a:lnSpc>
                <a:spcPct val="130000"/>
              </a:lnSpc>
            </a:pPr>
            <a:r>
              <a:rPr lang="zh-CN" altLang="en-US" dirty="0">
                <a:solidFill>
                  <a:prstClr val="black"/>
                </a:solidFill>
              </a:rPr>
              <a:t>死亡状态（</a:t>
            </a:r>
            <a:r>
              <a:rPr lang="en-US" altLang="zh-CN" dirty="0">
                <a:solidFill>
                  <a:prstClr val="black"/>
                </a:solidFill>
              </a:rPr>
              <a:t>dead</a:t>
            </a:r>
            <a:r>
              <a:rPr lang="zh-CN" altLang="en-US" dirty="0">
                <a:solidFill>
                  <a:prstClr val="black"/>
                </a:solidFill>
              </a:rPr>
              <a:t>）：节点在规定时间内没有返回</a:t>
            </a:r>
            <a:r>
              <a:rPr lang="en-US" altLang="zh-CN" dirty="0">
                <a:solidFill>
                  <a:prstClr val="black"/>
                </a:solidFill>
              </a:rPr>
              <a:t>Pong</a:t>
            </a:r>
            <a:r>
              <a:rPr lang="zh-CN" altLang="en-US" dirty="0">
                <a:solidFill>
                  <a:prstClr val="black"/>
                </a:solidFill>
              </a:rPr>
              <a:t>报文会进入的状态，这是最终状态</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33</a:t>
            </a:fld>
            <a:endParaRPr kumimoji="1" lang="zh-CN" altLang="en-US" dirty="0"/>
          </a:p>
        </p:txBody>
      </p:sp>
      <p:pic>
        <p:nvPicPr>
          <p:cNvPr id="5" name="图片 4" descr="说明: C:\Users\Administrator\Desktop\区块链教程写作\图片\15.png"/>
          <p:cNvPicPr/>
          <p:nvPr/>
        </p:nvPicPr>
        <p:blipFill>
          <a:blip r:embed="rId3">
            <a:extLst>
              <a:ext uri="{28A0092B-C50C-407E-A947-70E740481C1C}">
                <a14:useLocalDpi xmlns:a14="http://schemas.microsoft.com/office/drawing/2010/main" val="0"/>
              </a:ext>
            </a:extLst>
          </a:blip>
          <a:srcRect/>
          <a:stretch>
            <a:fillRect/>
          </a:stretch>
        </p:blipFill>
        <p:spPr>
          <a:xfrm>
            <a:off x="7781290" y="1810114"/>
            <a:ext cx="4410710" cy="2552065"/>
          </a:xfrm>
          <a:prstGeom prst="rect">
            <a:avLst/>
          </a:prstGeom>
          <a:noFill/>
          <a:ln>
            <a:noFill/>
          </a:ln>
        </p:spPr>
      </p:pic>
    </p:spTree>
    <p:extLst>
      <p:ext uri="{BB962C8B-B14F-4D97-AF65-F5344CB8AC3E}">
        <p14:creationId xmlns:p14="http://schemas.microsoft.com/office/powerpoint/2010/main" val="328578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加密和认证连接</a:t>
            </a:r>
            <a:endParaRPr lang="en-US" altLang="zh-CN" dirty="0"/>
          </a:p>
        </p:txBody>
      </p:sp>
      <p:sp>
        <p:nvSpPr>
          <p:cNvPr id="3" name="内容占位符 2"/>
          <p:cNvSpPr>
            <a:spLocks noGrp="1"/>
          </p:cNvSpPr>
          <p:nvPr>
            <p:ph idx="1"/>
          </p:nvPr>
        </p:nvSpPr>
        <p:spPr>
          <a:xfrm>
            <a:off x="838200" y="1510758"/>
            <a:ext cx="9888940" cy="4845592"/>
          </a:xfrm>
        </p:spPr>
        <p:txBody>
          <a:bodyPr>
            <a:normAutofit fontScale="85000" lnSpcReduction="20000"/>
          </a:bodyPr>
          <a:lstStyle/>
          <a:p>
            <a:pPr fontAlgn="auto">
              <a:lnSpc>
                <a:spcPct val="130000"/>
              </a:lnSpc>
            </a:pPr>
            <a:r>
              <a:rPr lang="zh-CN" altLang="en-US" dirty="0"/>
              <a:t>阶段一：密钥交换</a:t>
            </a:r>
            <a:endParaRPr lang="en-US" altLang="zh-CN" dirty="0"/>
          </a:p>
          <a:p>
            <a:pPr lvl="1">
              <a:lnSpc>
                <a:spcPct val="130000"/>
              </a:lnSpc>
            </a:pPr>
            <a:r>
              <a:rPr lang="zh-CN" altLang="en-US" dirty="0">
                <a:solidFill>
                  <a:prstClr val="black"/>
                </a:solidFill>
              </a:rPr>
              <a:t>节点</a:t>
            </a:r>
            <a:r>
              <a:rPr lang="en-US" altLang="zh-CN" dirty="0">
                <a:solidFill>
                  <a:prstClr val="black"/>
                </a:solidFill>
              </a:rPr>
              <a:t>A</a:t>
            </a:r>
            <a:r>
              <a:rPr lang="zh-CN" altLang="en-US" dirty="0">
                <a:solidFill>
                  <a:prstClr val="black"/>
                </a:solidFill>
              </a:rPr>
              <a:t>生成随机密钥对和随机数，用自己的私钥对节点</a:t>
            </a:r>
            <a:r>
              <a:rPr lang="en-US" altLang="zh-CN" dirty="0">
                <a:solidFill>
                  <a:prstClr val="black"/>
                </a:solidFill>
              </a:rPr>
              <a:t>B</a:t>
            </a:r>
            <a:r>
              <a:rPr lang="zh-CN" altLang="en-US" dirty="0">
                <a:solidFill>
                  <a:prstClr val="black"/>
                </a:solidFill>
              </a:rPr>
              <a:t>的公钥执行</a:t>
            </a:r>
            <a:r>
              <a:rPr lang="en-US" altLang="zh-CN" dirty="0">
                <a:solidFill>
                  <a:prstClr val="black"/>
                </a:solidFill>
              </a:rPr>
              <a:t>ECDH</a:t>
            </a:r>
            <a:r>
              <a:rPr lang="zh-CN" altLang="en-US" dirty="0">
                <a:solidFill>
                  <a:prstClr val="black"/>
                </a:solidFill>
              </a:rPr>
              <a:t>算法，将结果和随机数异或后使用随机生成的私钥对其签名，然后将随机数、签名、节点</a:t>
            </a:r>
            <a:r>
              <a:rPr lang="en-US" altLang="zh-CN" dirty="0">
                <a:solidFill>
                  <a:prstClr val="black"/>
                </a:solidFill>
              </a:rPr>
              <a:t>A</a:t>
            </a:r>
            <a:r>
              <a:rPr lang="zh-CN" altLang="en-US" dirty="0">
                <a:solidFill>
                  <a:prstClr val="black"/>
                </a:solidFill>
              </a:rPr>
              <a:t>的公钥、版本号打包后用节点</a:t>
            </a:r>
            <a:r>
              <a:rPr lang="en-US" altLang="zh-CN" dirty="0">
                <a:solidFill>
                  <a:prstClr val="black"/>
                </a:solidFill>
              </a:rPr>
              <a:t>B</a:t>
            </a:r>
            <a:r>
              <a:rPr lang="zh-CN" altLang="en-US" dirty="0">
                <a:solidFill>
                  <a:prstClr val="black"/>
                </a:solidFill>
              </a:rPr>
              <a:t>的公钥进行加密作为请求认证的握手报文进行发送</a:t>
            </a:r>
            <a:endParaRPr lang="en-US" altLang="zh-CN" dirty="0">
              <a:solidFill>
                <a:prstClr val="black"/>
              </a:solidFill>
            </a:endParaRPr>
          </a:p>
          <a:p>
            <a:pPr lvl="1">
              <a:lnSpc>
                <a:spcPct val="130000"/>
              </a:lnSpc>
            </a:pPr>
            <a:r>
              <a:rPr lang="zh-CN" altLang="en-US" dirty="0">
                <a:solidFill>
                  <a:prstClr val="black"/>
                </a:solidFill>
              </a:rPr>
              <a:t>节点</a:t>
            </a:r>
            <a:r>
              <a:rPr lang="en-US" altLang="zh-CN" dirty="0">
                <a:solidFill>
                  <a:prstClr val="black"/>
                </a:solidFill>
              </a:rPr>
              <a:t>B</a:t>
            </a:r>
            <a:r>
              <a:rPr lang="zh-CN" altLang="en-US" dirty="0">
                <a:solidFill>
                  <a:prstClr val="black"/>
                </a:solidFill>
              </a:rPr>
              <a:t>使用自己的私钥对收到的握手报文进行解密，得到节点</a:t>
            </a:r>
            <a:r>
              <a:rPr lang="en-US" altLang="zh-CN" dirty="0">
                <a:solidFill>
                  <a:prstClr val="black"/>
                </a:solidFill>
              </a:rPr>
              <a:t>A</a:t>
            </a:r>
            <a:r>
              <a:rPr lang="zh-CN" altLang="en-US" dirty="0">
                <a:solidFill>
                  <a:prstClr val="black"/>
                </a:solidFill>
              </a:rPr>
              <a:t>生成的随机数、签名、公钥和版本号。</a:t>
            </a:r>
            <a:endParaRPr lang="en-US" altLang="zh-CN" dirty="0">
              <a:solidFill>
                <a:prstClr val="black"/>
              </a:solidFill>
            </a:endParaRPr>
          </a:p>
          <a:p>
            <a:pPr lvl="1">
              <a:lnSpc>
                <a:spcPct val="130000"/>
              </a:lnSpc>
            </a:pPr>
            <a:r>
              <a:rPr lang="zh-CN" altLang="en-US" dirty="0">
                <a:solidFill>
                  <a:prstClr val="black"/>
                </a:solidFill>
              </a:rPr>
              <a:t>节点</a:t>
            </a:r>
            <a:r>
              <a:rPr lang="en-US" altLang="zh-CN" dirty="0">
                <a:solidFill>
                  <a:prstClr val="black"/>
                </a:solidFill>
              </a:rPr>
              <a:t>B</a:t>
            </a:r>
            <a:r>
              <a:rPr lang="zh-CN" altLang="en-US" dirty="0">
                <a:solidFill>
                  <a:prstClr val="black"/>
                </a:solidFill>
              </a:rPr>
              <a:t>生成随机密钥对和随机数，用自己的私钥和节点</a:t>
            </a:r>
            <a:r>
              <a:rPr lang="en-US" altLang="zh-CN" dirty="0">
                <a:solidFill>
                  <a:prstClr val="black"/>
                </a:solidFill>
              </a:rPr>
              <a:t>A</a:t>
            </a:r>
            <a:r>
              <a:rPr lang="zh-CN" altLang="en-US" dirty="0">
                <a:solidFill>
                  <a:prstClr val="black"/>
                </a:solidFill>
              </a:rPr>
              <a:t>的公钥执行</a:t>
            </a:r>
            <a:r>
              <a:rPr lang="en-US" altLang="zh-CN" dirty="0">
                <a:solidFill>
                  <a:prstClr val="black"/>
                </a:solidFill>
              </a:rPr>
              <a:t>ECDH</a:t>
            </a:r>
            <a:r>
              <a:rPr lang="zh-CN" altLang="en-US" dirty="0">
                <a:solidFill>
                  <a:prstClr val="black"/>
                </a:solidFill>
              </a:rPr>
              <a:t>算法，根据得到的结果和签名推导出节点</a:t>
            </a:r>
            <a:r>
              <a:rPr lang="en-US" altLang="zh-CN" dirty="0">
                <a:solidFill>
                  <a:prstClr val="black"/>
                </a:solidFill>
              </a:rPr>
              <a:t>A</a:t>
            </a:r>
            <a:r>
              <a:rPr lang="zh-CN" altLang="en-US" dirty="0">
                <a:solidFill>
                  <a:prstClr val="black"/>
                </a:solidFill>
              </a:rPr>
              <a:t>的随机公钥，利用随机私钥和节点</a:t>
            </a:r>
            <a:r>
              <a:rPr lang="en-US" altLang="zh-CN" dirty="0">
                <a:solidFill>
                  <a:prstClr val="black"/>
                </a:solidFill>
              </a:rPr>
              <a:t>A</a:t>
            </a:r>
            <a:r>
              <a:rPr lang="zh-CN" altLang="en-US" dirty="0">
                <a:solidFill>
                  <a:prstClr val="black"/>
                </a:solidFill>
              </a:rPr>
              <a:t>的随机公钥生成共享密钥，然后把自己的临时公钥和随机数用发起者的公钥进行加密并发送</a:t>
            </a:r>
            <a:endParaRPr lang="en-US" altLang="zh-CN" dirty="0">
              <a:solidFill>
                <a:prstClr val="black"/>
              </a:solidFill>
            </a:endParaRPr>
          </a:p>
          <a:p>
            <a:pPr lvl="1">
              <a:lnSpc>
                <a:spcPct val="130000"/>
              </a:lnSpc>
            </a:pPr>
            <a:r>
              <a:rPr lang="zh-CN" altLang="en-US" dirty="0">
                <a:solidFill>
                  <a:prstClr val="black"/>
                </a:solidFill>
              </a:rPr>
              <a:t>节点</a:t>
            </a:r>
            <a:r>
              <a:rPr lang="en-US" altLang="zh-CN" dirty="0">
                <a:solidFill>
                  <a:prstClr val="black"/>
                </a:solidFill>
              </a:rPr>
              <a:t>A</a:t>
            </a:r>
            <a:r>
              <a:rPr lang="zh-CN" altLang="en-US" dirty="0">
                <a:solidFill>
                  <a:prstClr val="black"/>
                </a:solidFill>
              </a:rPr>
              <a:t>对节点</a:t>
            </a:r>
            <a:r>
              <a:rPr lang="en-US" altLang="zh-CN" dirty="0">
                <a:solidFill>
                  <a:prstClr val="black"/>
                </a:solidFill>
              </a:rPr>
              <a:t>B</a:t>
            </a:r>
            <a:r>
              <a:rPr lang="zh-CN" altLang="en-US" dirty="0">
                <a:solidFill>
                  <a:prstClr val="black"/>
                </a:solidFill>
              </a:rPr>
              <a:t>的消息进行解密获得节点</a:t>
            </a:r>
            <a:r>
              <a:rPr lang="en-US" altLang="zh-CN" dirty="0">
                <a:solidFill>
                  <a:prstClr val="black"/>
                </a:solidFill>
              </a:rPr>
              <a:t>B</a:t>
            </a:r>
            <a:r>
              <a:rPr lang="zh-CN" altLang="en-US" dirty="0">
                <a:solidFill>
                  <a:prstClr val="black"/>
                </a:solidFill>
              </a:rPr>
              <a:t>的临时公钥和随机数，利用</a:t>
            </a:r>
            <a:r>
              <a:rPr lang="en-US" altLang="zh-CN" dirty="0">
                <a:solidFill>
                  <a:prstClr val="black"/>
                </a:solidFill>
              </a:rPr>
              <a:t>ECDH</a:t>
            </a:r>
            <a:r>
              <a:rPr lang="zh-CN" altLang="en-US" dirty="0">
                <a:solidFill>
                  <a:prstClr val="black"/>
                </a:solidFill>
              </a:rPr>
              <a:t>算法计算出共享密钥</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34</a:t>
            </a:fld>
            <a:endParaRPr kumimoji="1" lang="zh-CN" altLang="en-US" dirty="0"/>
          </a:p>
        </p:txBody>
      </p:sp>
    </p:spTree>
    <p:extLst>
      <p:ext uri="{BB962C8B-B14F-4D97-AF65-F5344CB8AC3E}">
        <p14:creationId xmlns:p14="http://schemas.microsoft.com/office/powerpoint/2010/main" val="1729573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加密和认证连接</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阶段二：身份认证与协议握手</a:t>
            </a:r>
            <a:endParaRPr lang="en-US" altLang="zh-CN" dirty="0"/>
          </a:p>
          <a:p>
            <a:pPr lvl="1">
              <a:lnSpc>
                <a:spcPct val="130000"/>
              </a:lnSpc>
            </a:pPr>
            <a:r>
              <a:rPr lang="zh-CN" altLang="en-US" dirty="0">
                <a:solidFill>
                  <a:prstClr val="black"/>
                </a:solidFill>
              </a:rPr>
              <a:t>节点</a:t>
            </a:r>
            <a:r>
              <a:rPr lang="en-US" altLang="zh-CN" dirty="0">
                <a:solidFill>
                  <a:prstClr val="black"/>
                </a:solidFill>
              </a:rPr>
              <a:t>A</a:t>
            </a:r>
            <a:r>
              <a:rPr lang="zh-CN" altLang="en-US" dirty="0">
                <a:solidFill>
                  <a:prstClr val="black"/>
                </a:solidFill>
              </a:rPr>
              <a:t>用共享密钥加密由自己使用的</a:t>
            </a:r>
            <a:r>
              <a:rPr lang="en-US" altLang="zh-CN" dirty="0">
                <a:solidFill>
                  <a:prstClr val="black"/>
                </a:solidFill>
              </a:rPr>
              <a:t>P2P</a:t>
            </a:r>
            <a:r>
              <a:rPr lang="zh-CN" altLang="en-US" dirty="0">
                <a:solidFill>
                  <a:prstClr val="black"/>
                </a:solidFill>
              </a:rPr>
              <a:t>版本号、端口号、</a:t>
            </a:r>
            <a:r>
              <a:rPr lang="en-US" altLang="zh-CN" dirty="0">
                <a:solidFill>
                  <a:prstClr val="black"/>
                </a:solidFill>
              </a:rPr>
              <a:t>ID</a:t>
            </a:r>
            <a:r>
              <a:rPr lang="zh-CN" altLang="en-US" dirty="0">
                <a:solidFill>
                  <a:prstClr val="black"/>
                </a:solidFill>
              </a:rPr>
              <a:t>等信息构成</a:t>
            </a:r>
            <a:r>
              <a:rPr lang="en-US" altLang="zh-CN" dirty="0">
                <a:solidFill>
                  <a:prstClr val="black"/>
                </a:solidFill>
              </a:rPr>
              <a:t>hello</a:t>
            </a:r>
            <a:r>
              <a:rPr lang="zh-CN" altLang="en-US" dirty="0">
                <a:solidFill>
                  <a:prstClr val="black"/>
                </a:solidFill>
              </a:rPr>
              <a:t>报文，并将</a:t>
            </a:r>
            <a:r>
              <a:rPr lang="en-US" altLang="zh-CN" dirty="0">
                <a:solidFill>
                  <a:prstClr val="black"/>
                </a:solidFill>
              </a:rPr>
              <a:t>hello</a:t>
            </a:r>
            <a:r>
              <a:rPr lang="zh-CN" altLang="en-US" dirty="0">
                <a:solidFill>
                  <a:prstClr val="black"/>
                </a:solidFill>
              </a:rPr>
              <a:t>报文向节点</a:t>
            </a:r>
            <a:r>
              <a:rPr lang="en-US" altLang="zh-CN" dirty="0">
                <a:solidFill>
                  <a:prstClr val="black"/>
                </a:solidFill>
              </a:rPr>
              <a:t>B</a:t>
            </a:r>
            <a:r>
              <a:rPr lang="zh-CN" altLang="en-US" dirty="0">
                <a:solidFill>
                  <a:prstClr val="black"/>
                </a:solidFill>
              </a:rPr>
              <a:t>发送</a:t>
            </a:r>
            <a:endParaRPr lang="en-US" altLang="zh-CN" dirty="0">
              <a:solidFill>
                <a:prstClr val="black"/>
              </a:solidFill>
            </a:endParaRPr>
          </a:p>
          <a:p>
            <a:pPr lvl="1">
              <a:lnSpc>
                <a:spcPct val="130000"/>
              </a:lnSpc>
            </a:pPr>
            <a:r>
              <a:rPr lang="zh-CN" altLang="en-US" dirty="0">
                <a:solidFill>
                  <a:prstClr val="black"/>
                </a:solidFill>
              </a:rPr>
              <a:t>节点</a:t>
            </a:r>
            <a:r>
              <a:rPr lang="en-US" altLang="zh-CN" dirty="0">
                <a:solidFill>
                  <a:prstClr val="black"/>
                </a:solidFill>
              </a:rPr>
              <a:t>B</a:t>
            </a:r>
            <a:r>
              <a:rPr lang="zh-CN" altLang="en-US" dirty="0">
                <a:solidFill>
                  <a:prstClr val="black"/>
                </a:solidFill>
              </a:rPr>
              <a:t>使用共享密钥对</a:t>
            </a:r>
            <a:r>
              <a:rPr lang="en-US" altLang="zh-CN" dirty="0">
                <a:solidFill>
                  <a:prstClr val="black"/>
                </a:solidFill>
              </a:rPr>
              <a:t>hello</a:t>
            </a:r>
            <a:r>
              <a:rPr lang="zh-CN" altLang="en-US" dirty="0">
                <a:solidFill>
                  <a:prstClr val="black"/>
                </a:solidFill>
              </a:rPr>
              <a:t>报文进行解密，也类似地用共享密钥对自己的</a:t>
            </a:r>
            <a:r>
              <a:rPr lang="en-US" altLang="zh-CN" dirty="0">
                <a:solidFill>
                  <a:prstClr val="black"/>
                </a:solidFill>
              </a:rPr>
              <a:t>hello</a:t>
            </a:r>
            <a:r>
              <a:rPr lang="zh-CN" altLang="en-US" dirty="0">
                <a:solidFill>
                  <a:prstClr val="black"/>
                </a:solidFill>
              </a:rPr>
              <a:t>报文进行加密并发送</a:t>
            </a:r>
            <a:endParaRPr lang="en-US" altLang="zh-CN" dirty="0">
              <a:solidFill>
                <a:prstClr val="black"/>
              </a:solidFill>
            </a:endParaRPr>
          </a:p>
          <a:p>
            <a:pPr lvl="1">
              <a:lnSpc>
                <a:spcPct val="130000"/>
              </a:lnSpc>
            </a:pPr>
            <a:r>
              <a:rPr lang="zh-CN" altLang="en-US" dirty="0">
                <a:solidFill>
                  <a:prstClr val="black"/>
                </a:solidFill>
              </a:rPr>
              <a:t>节点</a:t>
            </a:r>
            <a:r>
              <a:rPr lang="en-US" altLang="zh-CN" dirty="0">
                <a:solidFill>
                  <a:prstClr val="black"/>
                </a:solidFill>
              </a:rPr>
              <a:t>A</a:t>
            </a:r>
            <a:r>
              <a:rPr lang="zh-CN" altLang="en-US" dirty="0">
                <a:solidFill>
                  <a:prstClr val="black"/>
                </a:solidFill>
              </a:rPr>
              <a:t>完成</a:t>
            </a:r>
            <a:r>
              <a:rPr lang="en-US" altLang="zh-CN" dirty="0">
                <a:solidFill>
                  <a:prstClr val="black"/>
                </a:solidFill>
              </a:rPr>
              <a:t>hello</a:t>
            </a:r>
            <a:r>
              <a:rPr lang="zh-CN" altLang="en-US" dirty="0">
                <a:solidFill>
                  <a:prstClr val="black"/>
                </a:solidFill>
              </a:rPr>
              <a:t>报文的校验。如果双方都能接受对方的协议版本，双方开始建立通讯</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35</a:t>
            </a:fld>
            <a:endParaRPr kumimoji="1" lang="zh-CN" altLang="en-US" dirty="0"/>
          </a:p>
        </p:txBody>
      </p:sp>
    </p:spTree>
    <p:extLst>
      <p:ext uri="{BB962C8B-B14F-4D97-AF65-F5344CB8AC3E}">
        <p14:creationId xmlns:p14="http://schemas.microsoft.com/office/powerpoint/2010/main" val="23239254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区块同步</a:t>
            </a:r>
            <a:endParaRPr lang="en-US" altLang="zh-CN" dirty="0"/>
          </a:p>
        </p:txBody>
      </p:sp>
      <p:sp>
        <p:nvSpPr>
          <p:cNvPr id="3" name="内容占位符 2"/>
          <p:cNvSpPr>
            <a:spLocks noGrp="1"/>
          </p:cNvSpPr>
          <p:nvPr>
            <p:ph idx="1"/>
          </p:nvPr>
        </p:nvSpPr>
        <p:spPr>
          <a:xfrm>
            <a:off x="838200" y="1510758"/>
            <a:ext cx="8029575" cy="4845592"/>
          </a:xfrm>
        </p:spPr>
        <p:txBody>
          <a:bodyPr>
            <a:normAutofit fontScale="70000" lnSpcReduction="20000"/>
          </a:bodyPr>
          <a:lstStyle/>
          <a:p>
            <a:pPr fontAlgn="auto">
              <a:lnSpc>
                <a:spcPct val="130000"/>
              </a:lnSpc>
            </a:pPr>
            <a:r>
              <a:rPr lang="zh-CN" altLang="en-US" dirty="0"/>
              <a:t>确定同步区块</a:t>
            </a:r>
            <a:r>
              <a:rPr lang="en-US" altLang="zh-CN" dirty="0"/>
              <a:t>-</a:t>
            </a:r>
            <a:r>
              <a:rPr lang="zh-CN" altLang="en-US" dirty="0"/>
              <a:t>同步区块头</a:t>
            </a:r>
            <a:r>
              <a:rPr lang="en-US" altLang="zh-CN" dirty="0"/>
              <a:t>-</a:t>
            </a:r>
            <a:r>
              <a:rPr lang="zh-CN" altLang="en-US" dirty="0"/>
              <a:t>同步区块体</a:t>
            </a:r>
            <a:endParaRPr lang="en-US" altLang="zh-CN" dirty="0"/>
          </a:p>
          <a:p>
            <a:pPr lvl="1">
              <a:lnSpc>
                <a:spcPct val="130000"/>
              </a:lnSpc>
            </a:pPr>
            <a:r>
              <a:rPr lang="zh-CN" altLang="en-US" dirty="0">
                <a:solidFill>
                  <a:prstClr val="black"/>
                </a:solidFill>
              </a:rPr>
              <a:t>两个节点进行简单的握手连接，连接成功后节点</a:t>
            </a:r>
            <a:r>
              <a:rPr lang="en-US" altLang="zh-CN" dirty="0">
                <a:solidFill>
                  <a:prstClr val="black"/>
                </a:solidFill>
              </a:rPr>
              <a:t>B</a:t>
            </a:r>
            <a:r>
              <a:rPr lang="zh-CN" altLang="en-US" dirty="0">
                <a:solidFill>
                  <a:prstClr val="black"/>
                </a:solidFill>
              </a:rPr>
              <a:t>将自己交易池中的交易信息同步给节点</a:t>
            </a:r>
            <a:r>
              <a:rPr lang="en-US" altLang="zh-CN" dirty="0">
                <a:solidFill>
                  <a:prstClr val="black"/>
                </a:solidFill>
              </a:rPr>
              <a:t>A</a:t>
            </a:r>
            <a:r>
              <a:rPr lang="zh-CN" altLang="en-US" dirty="0">
                <a:solidFill>
                  <a:prstClr val="black"/>
                </a:solidFill>
              </a:rPr>
              <a:t>，然后各自循环监听对方的消息</a:t>
            </a:r>
            <a:endParaRPr lang="en-US" altLang="zh-CN" dirty="0">
              <a:solidFill>
                <a:prstClr val="black"/>
              </a:solidFill>
            </a:endParaRPr>
          </a:p>
          <a:p>
            <a:pPr lvl="1">
              <a:lnSpc>
                <a:spcPct val="130000"/>
              </a:lnSpc>
            </a:pPr>
            <a:r>
              <a:rPr lang="zh-CN" altLang="en-US" dirty="0">
                <a:solidFill>
                  <a:prstClr val="black"/>
                </a:solidFill>
              </a:rPr>
              <a:t>节点</a:t>
            </a:r>
            <a:r>
              <a:rPr lang="en-US" altLang="zh-CN" dirty="0">
                <a:solidFill>
                  <a:prstClr val="black"/>
                </a:solidFill>
              </a:rPr>
              <a:t>A</a:t>
            </a:r>
            <a:r>
              <a:rPr lang="zh-CN" altLang="en-US" dirty="0">
                <a:solidFill>
                  <a:prstClr val="black"/>
                </a:solidFill>
              </a:rPr>
              <a:t>发送</a:t>
            </a:r>
            <a:r>
              <a:rPr lang="en-US" altLang="zh-CN" dirty="0" err="1">
                <a:solidFill>
                  <a:prstClr val="black"/>
                </a:solidFill>
              </a:rPr>
              <a:t>GetBlockHeadersMsg</a:t>
            </a:r>
            <a:r>
              <a:rPr lang="zh-CN" altLang="en-US" dirty="0">
                <a:solidFill>
                  <a:prstClr val="black"/>
                </a:solidFill>
              </a:rPr>
              <a:t>获取同步区块的区块头信息，存入数据库</a:t>
            </a:r>
            <a:endParaRPr lang="en-US" altLang="zh-CN" dirty="0">
              <a:solidFill>
                <a:prstClr val="black"/>
              </a:solidFill>
            </a:endParaRPr>
          </a:p>
          <a:p>
            <a:pPr lvl="1">
              <a:lnSpc>
                <a:spcPct val="130000"/>
              </a:lnSpc>
            </a:pPr>
            <a:r>
              <a:rPr lang="zh-CN" altLang="en-US" dirty="0">
                <a:solidFill>
                  <a:prstClr val="black"/>
                </a:solidFill>
              </a:rPr>
              <a:t>节点</a:t>
            </a:r>
            <a:r>
              <a:rPr lang="en-US" altLang="zh-CN" dirty="0">
                <a:solidFill>
                  <a:prstClr val="black"/>
                </a:solidFill>
              </a:rPr>
              <a:t>A</a:t>
            </a:r>
            <a:r>
              <a:rPr lang="zh-CN" altLang="en-US" dirty="0">
                <a:solidFill>
                  <a:prstClr val="black"/>
                </a:solidFill>
              </a:rPr>
              <a:t>依次发送</a:t>
            </a:r>
            <a:r>
              <a:rPr lang="en-US" altLang="zh-CN" dirty="0" err="1">
                <a:solidFill>
                  <a:prstClr val="black"/>
                </a:solidFill>
              </a:rPr>
              <a:t>GetBlockBodiesMsg</a:t>
            </a:r>
            <a:r>
              <a:rPr lang="zh-CN" altLang="en-US" dirty="0">
                <a:solidFill>
                  <a:prstClr val="black"/>
                </a:solidFill>
              </a:rPr>
              <a:t>、</a:t>
            </a:r>
            <a:r>
              <a:rPr lang="en-US" altLang="zh-CN" dirty="0" err="1">
                <a:solidFill>
                  <a:prstClr val="black"/>
                </a:solidFill>
              </a:rPr>
              <a:t>GetReceiptsMsg</a:t>
            </a:r>
            <a:r>
              <a:rPr lang="zh-CN" altLang="en-US" dirty="0">
                <a:solidFill>
                  <a:prstClr val="black"/>
                </a:solidFill>
              </a:rPr>
              <a:t>、</a:t>
            </a:r>
            <a:r>
              <a:rPr lang="en-US" altLang="zh-CN" dirty="0" err="1">
                <a:solidFill>
                  <a:prstClr val="black"/>
                </a:solidFill>
              </a:rPr>
              <a:t>GetNodeDataMsg</a:t>
            </a:r>
            <a:r>
              <a:rPr lang="zh-CN" altLang="en-US" dirty="0">
                <a:solidFill>
                  <a:prstClr val="black"/>
                </a:solidFill>
              </a:rPr>
              <a:t>请求获取</a:t>
            </a:r>
            <a:r>
              <a:rPr lang="en-US" altLang="zh-CN" dirty="0">
                <a:solidFill>
                  <a:prstClr val="black"/>
                </a:solidFill>
              </a:rPr>
              <a:t>block body</a:t>
            </a:r>
            <a:r>
              <a:rPr lang="zh-CN" altLang="en-US" dirty="0">
                <a:solidFill>
                  <a:prstClr val="black"/>
                </a:solidFill>
              </a:rPr>
              <a:t>、</a:t>
            </a:r>
            <a:r>
              <a:rPr lang="en-US" altLang="zh-CN" dirty="0">
                <a:solidFill>
                  <a:prstClr val="black"/>
                </a:solidFill>
              </a:rPr>
              <a:t>receipt</a:t>
            </a:r>
            <a:r>
              <a:rPr lang="zh-CN" altLang="en-US" dirty="0">
                <a:solidFill>
                  <a:prstClr val="black"/>
                </a:solidFill>
              </a:rPr>
              <a:t>（合约执行后的结果）和</a:t>
            </a:r>
            <a:r>
              <a:rPr lang="en-US" altLang="zh-CN" dirty="0">
                <a:solidFill>
                  <a:prstClr val="black"/>
                </a:solidFill>
              </a:rPr>
              <a:t>state</a:t>
            </a:r>
            <a:r>
              <a:rPr lang="zh-CN" altLang="en-US" dirty="0">
                <a:solidFill>
                  <a:prstClr val="black"/>
                </a:solidFill>
              </a:rPr>
              <a:t>（储存所有的账号状态，包括余额等信息）数据，并从回复的</a:t>
            </a:r>
            <a:r>
              <a:rPr lang="en-US" altLang="zh-CN" dirty="0" err="1">
                <a:solidFill>
                  <a:prstClr val="black"/>
                </a:solidFill>
              </a:rPr>
              <a:t>BlockBodiesMsg</a:t>
            </a:r>
            <a:r>
              <a:rPr lang="zh-CN" altLang="en-US" dirty="0">
                <a:solidFill>
                  <a:prstClr val="black"/>
                </a:solidFill>
              </a:rPr>
              <a:t>、</a:t>
            </a:r>
            <a:r>
              <a:rPr lang="en-US" altLang="zh-CN" dirty="0" err="1">
                <a:solidFill>
                  <a:prstClr val="black"/>
                </a:solidFill>
              </a:rPr>
              <a:t>ReceiptsMsg</a:t>
            </a:r>
            <a:r>
              <a:rPr lang="zh-CN" altLang="en-US" dirty="0">
                <a:solidFill>
                  <a:prstClr val="black"/>
                </a:solidFill>
              </a:rPr>
              <a:t>、</a:t>
            </a:r>
            <a:r>
              <a:rPr lang="en-US" altLang="zh-CN" dirty="0" err="1">
                <a:solidFill>
                  <a:prstClr val="black"/>
                </a:solidFill>
              </a:rPr>
              <a:t>NodeDataMsg</a:t>
            </a:r>
            <a:r>
              <a:rPr lang="zh-CN" altLang="en-US" dirty="0">
                <a:solidFill>
                  <a:prstClr val="black"/>
                </a:solidFill>
              </a:rPr>
              <a:t>报文中提取数据进行存储</a:t>
            </a:r>
            <a:endParaRPr lang="en-US" altLang="zh-CN" dirty="0">
              <a:solidFill>
                <a:prstClr val="black"/>
              </a:solidFill>
            </a:endParaRPr>
          </a:p>
          <a:p>
            <a:pPr lvl="1">
              <a:lnSpc>
                <a:spcPct val="130000"/>
              </a:lnSpc>
            </a:pPr>
            <a:r>
              <a:rPr lang="zh-CN" altLang="en-US" dirty="0">
                <a:solidFill>
                  <a:prstClr val="black"/>
                </a:solidFill>
              </a:rPr>
              <a:t>如果节点</a:t>
            </a:r>
            <a:r>
              <a:rPr lang="en-US" altLang="zh-CN" dirty="0">
                <a:solidFill>
                  <a:prstClr val="black"/>
                </a:solidFill>
              </a:rPr>
              <a:t>B</a:t>
            </a:r>
            <a:r>
              <a:rPr lang="zh-CN" altLang="en-US" dirty="0">
                <a:solidFill>
                  <a:prstClr val="black"/>
                </a:solidFill>
              </a:rPr>
              <a:t>挖出了新的区块，会向节点</a:t>
            </a:r>
            <a:r>
              <a:rPr lang="en-US" altLang="zh-CN" dirty="0">
                <a:solidFill>
                  <a:prstClr val="black"/>
                </a:solidFill>
              </a:rPr>
              <a:t>A</a:t>
            </a:r>
            <a:r>
              <a:rPr lang="zh-CN" altLang="en-US" dirty="0">
                <a:solidFill>
                  <a:prstClr val="black"/>
                </a:solidFill>
              </a:rPr>
              <a:t>发送</a:t>
            </a:r>
            <a:r>
              <a:rPr lang="en-US" altLang="zh-CN" dirty="0" err="1">
                <a:solidFill>
                  <a:prstClr val="black"/>
                </a:solidFill>
              </a:rPr>
              <a:t>NewBlockMsg</a:t>
            </a:r>
            <a:r>
              <a:rPr lang="zh-CN" altLang="en-US" dirty="0">
                <a:solidFill>
                  <a:prstClr val="black"/>
                </a:solidFill>
              </a:rPr>
              <a:t>或者</a:t>
            </a:r>
            <a:r>
              <a:rPr lang="en-US" altLang="zh-CN" dirty="0" err="1">
                <a:solidFill>
                  <a:prstClr val="black"/>
                </a:solidFill>
              </a:rPr>
              <a:t>NewBlockHashesMsg</a:t>
            </a:r>
            <a:r>
              <a:rPr lang="zh-CN" altLang="en-US" dirty="0">
                <a:solidFill>
                  <a:prstClr val="black"/>
                </a:solidFill>
              </a:rPr>
              <a:t>进行区块同步（像这种接收到其他节点的消息，然后进行区块同步的方式被称为被动同步）</a:t>
            </a:r>
            <a:endParaRPr lang="en-US" altLang="zh-CN" dirty="0">
              <a:solidFill>
                <a:prstClr val="black"/>
              </a:solidFill>
            </a:endParaRPr>
          </a:p>
          <a:p>
            <a:pPr lvl="1">
              <a:lnSpc>
                <a:spcPct val="130000"/>
              </a:lnSpc>
            </a:pPr>
            <a:r>
              <a:rPr lang="zh-CN" altLang="en-US" dirty="0">
                <a:solidFill>
                  <a:prstClr val="black"/>
                </a:solidFill>
              </a:rPr>
              <a:t>如果节点</a:t>
            </a:r>
            <a:r>
              <a:rPr lang="en-US" altLang="zh-CN" dirty="0">
                <a:solidFill>
                  <a:prstClr val="black"/>
                </a:solidFill>
              </a:rPr>
              <a:t>A</a:t>
            </a:r>
            <a:r>
              <a:rPr lang="zh-CN" altLang="en-US" dirty="0">
                <a:solidFill>
                  <a:prstClr val="black"/>
                </a:solidFill>
              </a:rPr>
              <a:t>收到的是</a:t>
            </a:r>
            <a:r>
              <a:rPr lang="en-US" altLang="zh-CN" dirty="0" err="1">
                <a:solidFill>
                  <a:prstClr val="black"/>
                </a:solidFill>
              </a:rPr>
              <a:t>NewBlockMsg</a:t>
            </a:r>
            <a:r>
              <a:rPr lang="zh-CN" altLang="en-US" dirty="0">
                <a:solidFill>
                  <a:prstClr val="black"/>
                </a:solidFill>
              </a:rPr>
              <a:t>，节点</a:t>
            </a:r>
            <a:r>
              <a:rPr lang="en-US" altLang="zh-CN" dirty="0">
                <a:solidFill>
                  <a:prstClr val="black"/>
                </a:solidFill>
              </a:rPr>
              <a:t>A</a:t>
            </a:r>
            <a:r>
              <a:rPr lang="zh-CN" altLang="en-US" dirty="0">
                <a:solidFill>
                  <a:prstClr val="black"/>
                </a:solidFill>
              </a:rPr>
              <a:t>会对消息中的区块直接进行验证并存入本地；如果收的是</a:t>
            </a:r>
            <a:r>
              <a:rPr lang="en-US" altLang="zh-CN" dirty="0" err="1">
                <a:solidFill>
                  <a:prstClr val="black"/>
                </a:solidFill>
              </a:rPr>
              <a:t>NewBlockHashesMsg</a:t>
            </a:r>
            <a:r>
              <a:rPr lang="zh-CN" altLang="en-US" dirty="0">
                <a:solidFill>
                  <a:prstClr val="black"/>
                </a:solidFill>
              </a:rPr>
              <a:t>，节点</a:t>
            </a:r>
            <a:r>
              <a:rPr lang="en-US" altLang="zh-CN" dirty="0">
                <a:solidFill>
                  <a:prstClr val="black"/>
                </a:solidFill>
              </a:rPr>
              <a:t>A</a:t>
            </a:r>
            <a:r>
              <a:rPr lang="zh-CN" altLang="en-US" dirty="0">
                <a:solidFill>
                  <a:prstClr val="black"/>
                </a:solidFill>
              </a:rPr>
              <a:t>会通过请求获取区块头和区块体，然后再组织成完整的区块存入本地</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36</a:t>
            </a:fld>
            <a:endParaRPr kumimoji="1" lang="zh-CN" altLang="en-US" dirty="0"/>
          </a:p>
        </p:txBody>
      </p:sp>
      <p:pic>
        <p:nvPicPr>
          <p:cNvPr id="5" name="图片 4"/>
          <p:cNvPicPr/>
          <p:nvPr/>
        </p:nvPicPr>
        <p:blipFill>
          <a:blip r:embed="rId3" cstate="print">
            <a:extLst>
              <a:ext uri="{28A0092B-C50C-407E-A947-70E740481C1C}">
                <a14:useLocalDpi xmlns:a14="http://schemas.microsoft.com/office/drawing/2010/main" val="0"/>
              </a:ext>
            </a:extLst>
          </a:blip>
          <a:srcRect/>
          <a:stretch>
            <a:fillRect/>
          </a:stretch>
        </p:blipFill>
        <p:spPr>
          <a:xfrm>
            <a:off x="9167812" y="2300287"/>
            <a:ext cx="2319338" cy="3519488"/>
          </a:xfrm>
          <a:prstGeom prst="rect">
            <a:avLst/>
          </a:prstGeom>
          <a:noFill/>
          <a:ln>
            <a:noFill/>
          </a:ln>
        </p:spPr>
      </p:pic>
    </p:spTree>
    <p:extLst>
      <p:ext uri="{BB962C8B-B14F-4D97-AF65-F5344CB8AC3E}">
        <p14:creationId xmlns:p14="http://schemas.microsoft.com/office/powerpoint/2010/main" val="28649416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4.1 P2P</a:t>
            </a:r>
            <a:r>
              <a:rPr kumimoji="1" lang="zh-CN" altLang="en-US" dirty="0"/>
              <a:t>网络</a:t>
            </a:r>
            <a:endParaRPr kumimoji="1" lang="en-US" altLang="zh-CN" dirty="0"/>
          </a:p>
          <a:p>
            <a:pPr marL="0" indent="0">
              <a:lnSpc>
                <a:spcPct val="130000"/>
              </a:lnSpc>
              <a:buNone/>
            </a:pPr>
            <a:r>
              <a:rPr kumimoji="1" lang="en-US" altLang="zh-CN" dirty="0"/>
              <a:t>4.2 </a:t>
            </a:r>
            <a:r>
              <a:rPr kumimoji="1" lang="zh-CN" altLang="en-US" dirty="0"/>
              <a:t>比特币网络</a:t>
            </a:r>
            <a:endParaRPr kumimoji="1" lang="en-US" altLang="zh-CN" dirty="0"/>
          </a:p>
          <a:p>
            <a:pPr marL="0" indent="0">
              <a:lnSpc>
                <a:spcPct val="130000"/>
              </a:lnSpc>
              <a:buNone/>
            </a:pPr>
            <a:r>
              <a:rPr kumimoji="1" lang="en-US" altLang="zh-CN" dirty="0"/>
              <a:t>4.3 </a:t>
            </a:r>
            <a:r>
              <a:rPr kumimoji="1" lang="zh-CN" altLang="en-US" dirty="0"/>
              <a:t>以太坊网络</a:t>
            </a:r>
            <a:endParaRPr kumimoji="1" lang="en-US" altLang="zh-CN" dirty="0"/>
          </a:p>
          <a:p>
            <a:pPr marL="0" indent="0">
              <a:lnSpc>
                <a:spcPct val="130000"/>
              </a:lnSpc>
              <a:buNone/>
            </a:pPr>
            <a:r>
              <a:rPr kumimoji="1" lang="en-US" altLang="zh-CN" dirty="0">
                <a:solidFill>
                  <a:srgbClr val="C00000"/>
                </a:solidFill>
              </a:rPr>
              <a:t>4.4 </a:t>
            </a:r>
            <a:r>
              <a:rPr kumimoji="1" lang="zh-CN" altLang="en-US" dirty="0">
                <a:solidFill>
                  <a:srgbClr val="C00000"/>
                </a:solidFill>
              </a:rPr>
              <a:t>网络层安全</a:t>
            </a:r>
            <a:endParaRPr lang="zh-CN" altLang="en-US" dirty="0">
              <a:solidFill>
                <a:srgbClr val="C00000"/>
              </a:solidFill>
            </a:endParaRPr>
          </a:p>
        </p:txBody>
      </p:sp>
      <p:sp>
        <p:nvSpPr>
          <p:cNvPr id="7" name="矩形标注 6">
            <a:extLst>
              <a:ext uri="{FF2B5EF4-FFF2-40B4-BE49-F238E27FC236}">
                <a16:creationId xmlns:a16="http://schemas.microsoft.com/office/drawing/2014/main" id="{E4BFCB96-0FA1-7740-8F94-683CEFB67F89}"/>
              </a:ext>
            </a:extLst>
          </p:cNvPr>
          <p:cNvSpPr/>
          <p:nvPr/>
        </p:nvSpPr>
        <p:spPr>
          <a:xfrm>
            <a:off x="6096000" y="1620253"/>
            <a:ext cx="4281889" cy="2764460"/>
          </a:xfrm>
          <a:prstGeom prst="wedgeRectCallout">
            <a:avLst>
              <a:gd name="adj1" fmla="val -85578"/>
              <a:gd name="adj2" fmla="val 24518"/>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分布式拒绝服务攻击</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延展性攻击</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女巫攻击</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路由攻击</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日蚀攻击</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spTree>
    <p:extLst>
      <p:ext uri="{BB962C8B-B14F-4D97-AF65-F5344CB8AC3E}">
        <p14:creationId xmlns:p14="http://schemas.microsoft.com/office/powerpoint/2010/main" val="11910570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分布式拒绝服务攻击</a:t>
            </a:r>
            <a:endParaRPr lang="en-US" altLang="zh-CN" dirty="0"/>
          </a:p>
        </p:txBody>
      </p:sp>
      <p:sp>
        <p:nvSpPr>
          <p:cNvPr id="3" name="内容占位符 2"/>
          <p:cNvSpPr>
            <a:spLocks noGrp="1"/>
          </p:cNvSpPr>
          <p:nvPr>
            <p:ph idx="1"/>
          </p:nvPr>
        </p:nvSpPr>
        <p:spPr>
          <a:xfrm>
            <a:off x="838200" y="1510758"/>
            <a:ext cx="9888940" cy="4845592"/>
          </a:xfrm>
        </p:spPr>
        <p:txBody>
          <a:bodyPr>
            <a:normAutofit fontScale="85000" lnSpcReduction="20000"/>
          </a:bodyPr>
          <a:lstStyle/>
          <a:p>
            <a:pPr fontAlgn="auto">
              <a:lnSpc>
                <a:spcPct val="130000"/>
              </a:lnSpc>
            </a:pPr>
            <a:r>
              <a:rPr lang="zh-CN" altLang="en-US" dirty="0"/>
              <a:t>将多个计算机联合起来作为攻击平台，对同一个目标发动大量的攻击请求，从而成倍地提高拒绝服务攻击的能力</a:t>
            </a:r>
            <a:endParaRPr lang="en-US" altLang="zh-CN" dirty="0"/>
          </a:p>
          <a:p>
            <a:pPr fontAlgn="auto">
              <a:lnSpc>
                <a:spcPct val="130000"/>
              </a:lnSpc>
            </a:pPr>
            <a:r>
              <a:rPr lang="zh-CN" altLang="en-US" dirty="0"/>
              <a:t>在层叠网络（应用层）控制区块链网络中的大量在线节点，使其作为一个发起大型分布式拒绝服务攻击的放大平台</a:t>
            </a:r>
            <a:endParaRPr lang="en-US" altLang="zh-CN" dirty="0"/>
          </a:p>
          <a:p>
            <a:pPr fontAlgn="auto">
              <a:lnSpc>
                <a:spcPct val="130000"/>
              </a:lnSpc>
            </a:pPr>
            <a:r>
              <a:rPr lang="zh-CN" altLang="en-US" dirty="0"/>
              <a:t>主动攻击是通过主动向网络中的节点发送大量的虚假索引信息，使得针对这些信息的后续访问都指向被攻击者</a:t>
            </a:r>
            <a:endParaRPr lang="en-US" altLang="zh-CN" dirty="0"/>
          </a:p>
          <a:p>
            <a:pPr fontAlgn="auto">
              <a:lnSpc>
                <a:spcPct val="130000"/>
              </a:lnSpc>
            </a:pPr>
            <a:r>
              <a:rPr lang="zh-CN" altLang="en-US" dirty="0"/>
              <a:t>被动攻击通过修改区块链客户端或服务器软件，被动地等待来自其他节点的查询请求，再通过返回虚假响应来达到攻击效果</a:t>
            </a:r>
            <a:endParaRPr lang="en-US" altLang="zh-CN" dirty="0"/>
          </a:p>
          <a:p>
            <a:pPr fontAlgn="auto">
              <a:lnSpc>
                <a:spcPct val="130000"/>
              </a:lnSpc>
            </a:pPr>
            <a:r>
              <a:rPr lang="zh-CN" altLang="en-US" dirty="0"/>
              <a:t>成本不高，但破坏性很强。例如：恶意矿工可以通过分布式拒绝攻击耗尽其竞争对手的网络资源，使得竞争对手被大量网络请求阻塞，从而提高自己的有效哈希率</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38</a:t>
            </a:fld>
            <a:endParaRPr kumimoji="1" lang="zh-CN" altLang="en-US" dirty="0"/>
          </a:p>
        </p:txBody>
      </p:sp>
    </p:spTree>
    <p:extLst>
      <p:ext uri="{BB962C8B-B14F-4D97-AF65-F5344CB8AC3E}">
        <p14:creationId xmlns:p14="http://schemas.microsoft.com/office/powerpoint/2010/main" val="27628149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延展性攻击</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指在原情况不变的情况下，利用外部的虚假交易实现攻击</a:t>
            </a:r>
            <a:endParaRPr lang="en-US" altLang="zh-CN" dirty="0"/>
          </a:p>
          <a:p>
            <a:pPr lvl="1">
              <a:lnSpc>
                <a:spcPct val="130000"/>
              </a:lnSpc>
            </a:pPr>
            <a:r>
              <a:rPr lang="zh-CN" altLang="en-US" dirty="0"/>
              <a:t>恶意攻击者通过支付高额手续费，以高优先级进行虚假交易，使得矿工在验证这些交易的时候，发现这些交易都是虚假交易，但是它们已经在这些交易的验证上花费了相当长的时间</a:t>
            </a:r>
            <a:endParaRPr lang="en-US" altLang="zh-CN" dirty="0">
              <a:solidFill>
                <a:prstClr val="black"/>
              </a:solidFill>
            </a:endParaRPr>
          </a:p>
          <a:p>
            <a:pPr lvl="1">
              <a:lnSpc>
                <a:spcPct val="130000"/>
              </a:lnSpc>
            </a:pPr>
            <a:r>
              <a:rPr lang="zh-CN" altLang="en-US" dirty="0"/>
              <a:t>攻击者可以侦听一笔未被确认的交易，通过修改交易签名的方式使得原有交易的交易</a:t>
            </a:r>
            <a:r>
              <a:rPr lang="en-US" altLang="zh-CN" dirty="0"/>
              <a:t>ID</a:t>
            </a:r>
            <a:r>
              <a:rPr lang="zh-CN" altLang="en-US" dirty="0"/>
              <a:t>发生改变，并生成一笔新的交易进行广播和确认，而参与交易的另一方无法根据原有的交易</a:t>
            </a:r>
            <a:r>
              <a:rPr lang="en-US" altLang="zh-CN" dirty="0"/>
              <a:t>ID</a:t>
            </a:r>
            <a:r>
              <a:rPr lang="zh-CN" altLang="en-US" dirty="0"/>
              <a:t>查询到交易的确认信息，从而可能进行重复转账并蒙受损失</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39</a:t>
            </a:fld>
            <a:endParaRPr kumimoji="1" lang="zh-CN" altLang="en-US" dirty="0"/>
          </a:p>
        </p:txBody>
      </p:sp>
    </p:spTree>
    <p:extLst>
      <p:ext uri="{BB962C8B-B14F-4D97-AF65-F5344CB8AC3E}">
        <p14:creationId xmlns:p14="http://schemas.microsoft.com/office/powerpoint/2010/main" val="5751290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女巫攻击</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指一个攻击者节点通过向网络广播多个身份信息，非法地拥有多个身份标识，做出一些恶意行为</a:t>
            </a:r>
            <a:endParaRPr lang="en-US" altLang="zh-CN" dirty="0"/>
          </a:p>
          <a:p>
            <a:pPr fontAlgn="auto">
              <a:lnSpc>
                <a:spcPct val="130000"/>
              </a:lnSpc>
            </a:pPr>
            <a:r>
              <a:rPr lang="zh-CN" altLang="en-US" dirty="0"/>
              <a:t>如果区块链网络中采用了投票机制，攻击者可以利用伪造的多个身份进行不公平的重复投票，从而掌握网络的控制权</a:t>
            </a:r>
            <a:endParaRPr lang="en-US" altLang="zh-CN" dirty="0"/>
          </a:p>
          <a:p>
            <a:pPr fontAlgn="auto">
              <a:lnSpc>
                <a:spcPct val="130000"/>
              </a:lnSpc>
            </a:pPr>
            <a:r>
              <a:rPr lang="zh-CN" altLang="en-US" dirty="0"/>
              <a:t>实现反女巫攻击：采用工作量证明机制，通过验证身份的计算能力的方式，增加女巫攻击的成本；另外一种反女巫攻击的方式是身份认证</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40</a:t>
            </a:fld>
            <a:endParaRPr kumimoji="1" lang="zh-CN" altLang="en-US" dirty="0"/>
          </a:p>
        </p:txBody>
      </p:sp>
    </p:spTree>
    <p:extLst>
      <p:ext uri="{BB962C8B-B14F-4D97-AF65-F5344CB8AC3E}">
        <p14:creationId xmlns:p14="http://schemas.microsoft.com/office/powerpoint/2010/main" val="33891401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路由攻击</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指对正常路由进行干扰从而达到攻击目标的手段</a:t>
            </a:r>
            <a:endParaRPr lang="en-US" altLang="zh-CN" dirty="0"/>
          </a:p>
          <a:p>
            <a:pPr lvl="1">
              <a:lnSpc>
                <a:spcPct val="130000"/>
              </a:lnSpc>
            </a:pPr>
            <a:r>
              <a:rPr lang="zh-CN" altLang="en-US" dirty="0"/>
              <a:t>区块链网络隔离成（至少）两个独立的网络，使得它们无法交换交易信息，一段时间后进行网络合并，强制性地使较短链上的所有区块被永久抛弃</a:t>
            </a:r>
            <a:endParaRPr lang="en-US" altLang="zh-CN" dirty="0"/>
          </a:p>
          <a:p>
            <a:pPr lvl="1">
              <a:lnSpc>
                <a:spcPct val="130000"/>
              </a:lnSpc>
            </a:pPr>
            <a:r>
              <a:rPr lang="zh-CN" altLang="en-US" dirty="0"/>
              <a:t>延迟攻击利用了区块请求在超过一定时间后才会再次发起请求的特点，通过对拦截的信息进行简单修改，延迟区块在被攻击节点的传播速度</a:t>
            </a:r>
            <a:endParaRPr lang="en-US" altLang="zh-CN" dirty="0"/>
          </a:p>
          <a:p>
            <a:pPr lvl="1">
              <a:lnSpc>
                <a:spcPct val="130000"/>
              </a:lnSpc>
            </a:pPr>
            <a:r>
              <a:rPr lang="zh-CN" altLang="en-US" dirty="0"/>
              <a:t>带来包括重复支付、计算能力浪费在内的潜在经济损失</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41</a:t>
            </a:fld>
            <a:endParaRPr kumimoji="1" lang="zh-CN" altLang="en-US" dirty="0"/>
          </a:p>
        </p:txBody>
      </p:sp>
    </p:spTree>
    <p:extLst>
      <p:ext uri="{BB962C8B-B14F-4D97-AF65-F5344CB8AC3E}">
        <p14:creationId xmlns:p14="http://schemas.microsoft.com/office/powerpoint/2010/main" val="15080429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日蚀攻击</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攻击者通过侵占节点路由表的方式，控制节点的对外联系并使其保留在一个隔离的网络中，从而实施路由欺骗、拒绝服务、</a:t>
            </a:r>
            <a:r>
              <a:rPr lang="en-US" altLang="zh-CN" dirty="0"/>
              <a:t>ID</a:t>
            </a:r>
            <a:r>
              <a:rPr lang="zh-CN" altLang="en-US" dirty="0"/>
              <a:t>劫持等攻击行为</a:t>
            </a:r>
            <a:endParaRPr lang="en-US" altLang="zh-CN" dirty="0"/>
          </a:p>
          <a:p>
            <a:pPr lvl="1">
              <a:lnSpc>
                <a:spcPct val="130000"/>
              </a:lnSpc>
            </a:pPr>
            <a:r>
              <a:rPr lang="zh-CN" altLang="en-US" dirty="0"/>
              <a:t>在比特币网络中，如果攻击者节点在一个节点的路由表中占据了较高的比例，攻击者节点可以控制这个节点的正常行为，包括路由查找和资源搜索等</a:t>
            </a:r>
            <a:endParaRPr lang="en-US" altLang="zh-CN" dirty="0"/>
          </a:p>
          <a:p>
            <a:pPr lvl="1">
              <a:lnSpc>
                <a:spcPct val="130000"/>
              </a:lnSpc>
            </a:pPr>
            <a:r>
              <a:rPr lang="zh-CN" altLang="en-US" dirty="0"/>
              <a:t>在以太坊中，攻击者使用伪造的节点</a:t>
            </a:r>
            <a:r>
              <a:rPr lang="en-US" altLang="zh-CN" dirty="0"/>
              <a:t>ID</a:t>
            </a:r>
            <a:r>
              <a:rPr lang="zh-CN" altLang="en-US" dirty="0"/>
              <a:t>在受害者节点重启时重复向它发送</a:t>
            </a:r>
            <a:r>
              <a:rPr lang="en-US" altLang="zh-CN" dirty="0"/>
              <a:t>Ping</a:t>
            </a:r>
            <a:r>
              <a:rPr lang="zh-CN" altLang="en-US" dirty="0"/>
              <a:t>请求并占据它的</a:t>
            </a:r>
            <a:r>
              <a:rPr lang="en-US" altLang="zh-CN" dirty="0"/>
              <a:t>K</a:t>
            </a:r>
            <a:r>
              <a:rPr lang="zh-CN" altLang="en-US" dirty="0"/>
              <a:t>桶，使得受害者的出连接指向攻击者</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42</a:t>
            </a:fld>
            <a:endParaRPr kumimoji="1" lang="zh-CN" altLang="en-US" dirty="0"/>
          </a:p>
        </p:txBody>
      </p:sp>
    </p:spTree>
    <p:extLst>
      <p:ext uri="{BB962C8B-B14F-4D97-AF65-F5344CB8AC3E}">
        <p14:creationId xmlns:p14="http://schemas.microsoft.com/office/powerpoint/2010/main" val="35935734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EFC88-15A8-8F47-A008-BBB6B0BEC7A2}"/>
              </a:ext>
            </a:extLst>
          </p:cNvPr>
          <p:cNvSpPr>
            <a:spLocks noGrp="1"/>
          </p:cNvSpPr>
          <p:nvPr>
            <p:ph type="title"/>
          </p:nvPr>
        </p:nvSpPr>
        <p:spPr/>
        <p:txBody>
          <a:bodyPr/>
          <a:lstStyle/>
          <a:p>
            <a:r>
              <a:rPr kumimoji="1" lang="zh-CN" altLang="en-US" dirty="0"/>
              <a:t>本章总结</a:t>
            </a:r>
          </a:p>
        </p:txBody>
      </p:sp>
      <p:sp>
        <p:nvSpPr>
          <p:cNvPr id="3" name="内容占位符 2">
            <a:extLst>
              <a:ext uri="{FF2B5EF4-FFF2-40B4-BE49-F238E27FC236}">
                <a16:creationId xmlns:a16="http://schemas.microsoft.com/office/drawing/2014/main" id="{8D01C0D4-2EC3-7D4D-AAC5-3C4CCB3DBC8F}"/>
              </a:ext>
            </a:extLst>
          </p:cNvPr>
          <p:cNvSpPr>
            <a:spLocks noGrp="1"/>
          </p:cNvSpPr>
          <p:nvPr>
            <p:ph idx="1"/>
          </p:nvPr>
        </p:nvSpPr>
        <p:spPr/>
        <p:txBody>
          <a:bodyPr>
            <a:normAutofit/>
          </a:bodyPr>
          <a:lstStyle/>
          <a:p>
            <a:pPr>
              <a:lnSpc>
                <a:spcPct val="120000"/>
              </a:lnSpc>
            </a:pPr>
            <a:r>
              <a:rPr kumimoji="1" lang="en-US" altLang="zh-CN" dirty="0"/>
              <a:t>P2P</a:t>
            </a:r>
            <a:r>
              <a:rPr kumimoji="1" lang="zh-CN" altLang="en-US" dirty="0"/>
              <a:t>网络的特点</a:t>
            </a:r>
            <a:endParaRPr kumimoji="1" lang="en-US" altLang="zh-CN" dirty="0"/>
          </a:p>
          <a:p>
            <a:pPr>
              <a:lnSpc>
                <a:spcPct val="120000"/>
              </a:lnSpc>
            </a:pPr>
            <a:r>
              <a:rPr kumimoji="1" lang="en-US" altLang="zh-CN" dirty="0"/>
              <a:t>P2P</a:t>
            </a:r>
            <a:r>
              <a:rPr kumimoji="1" lang="zh-CN" altLang="en-US" dirty="0"/>
              <a:t>网络的四种拓扑形式</a:t>
            </a:r>
            <a:endParaRPr kumimoji="1" lang="en-US" altLang="zh-CN" dirty="0">
              <a:solidFill>
                <a:srgbClr val="C00000"/>
              </a:solidFill>
            </a:endParaRPr>
          </a:p>
          <a:p>
            <a:pPr>
              <a:lnSpc>
                <a:spcPct val="120000"/>
              </a:lnSpc>
            </a:pPr>
            <a:r>
              <a:rPr kumimoji="1" lang="zh-CN" altLang="en-US" dirty="0"/>
              <a:t>比特币、以太坊网络节点功能、类型</a:t>
            </a:r>
            <a:endParaRPr kumimoji="1" lang="en-US" altLang="zh-CN" dirty="0"/>
          </a:p>
          <a:p>
            <a:pPr>
              <a:lnSpc>
                <a:spcPct val="120000"/>
              </a:lnSpc>
            </a:pPr>
            <a:r>
              <a:rPr kumimoji="1" lang="zh-CN" altLang="en-US" dirty="0"/>
              <a:t>比特币、以太坊网络节点通信流程</a:t>
            </a:r>
            <a:endParaRPr kumimoji="1" lang="en-US" altLang="zh-CN" dirty="0"/>
          </a:p>
          <a:p>
            <a:pPr>
              <a:lnSpc>
                <a:spcPct val="120000"/>
              </a:lnSpc>
            </a:pPr>
            <a:r>
              <a:rPr kumimoji="1" lang="zh-CN" altLang="en-US" dirty="0"/>
              <a:t>比特币、以太坊网络节点地址管理、区块同步</a:t>
            </a:r>
            <a:endParaRPr kumimoji="1" lang="en-US" altLang="zh-CN" dirty="0"/>
          </a:p>
          <a:p>
            <a:pPr>
              <a:lnSpc>
                <a:spcPct val="120000"/>
              </a:lnSpc>
            </a:pPr>
            <a:r>
              <a:rPr kumimoji="1" lang="zh-CN" altLang="en-US" dirty="0"/>
              <a:t>比特币、以太坊网络通信</a:t>
            </a:r>
            <a:r>
              <a:rPr kumimoji="1" lang="zh-CN" altLang="en-US"/>
              <a:t>加密连接机制</a:t>
            </a:r>
            <a:endParaRPr kumimoji="1" lang="en-US" altLang="zh-CN" dirty="0"/>
          </a:p>
          <a:p>
            <a:pPr>
              <a:lnSpc>
                <a:spcPct val="120000"/>
              </a:lnSpc>
            </a:pPr>
            <a:r>
              <a:rPr kumimoji="1" lang="zh-CN" altLang="en-US" dirty="0"/>
              <a:t>常见区块链网络攻击</a:t>
            </a:r>
            <a:endParaRPr kumimoji="1" lang="en-US" altLang="zh-CN" dirty="0"/>
          </a:p>
        </p:txBody>
      </p:sp>
      <p:sp>
        <p:nvSpPr>
          <p:cNvPr id="5" name="灯片编号占位符 4">
            <a:extLst>
              <a:ext uri="{FF2B5EF4-FFF2-40B4-BE49-F238E27FC236}">
                <a16:creationId xmlns:a16="http://schemas.microsoft.com/office/drawing/2014/main" id="{8FE33C2B-DFEA-AB45-B09F-58B1C2A169C6}"/>
              </a:ext>
            </a:extLst>
          </p:cNvPr>
          <p:cNvSpPr>
            <a:spLocks noGrp="1"/>
          </p:cNvSpPr>
          <p:nvPr>
            <p:ph type="sldNum" sz="quarter" idx="12"/>
          </p:nvPr>
        </p:nvSpPr>
        <p:spPr/>
        <p:txBody>
          <a:bodyPr/>
          <a:lstStyle/>
          <a:p>
            <a:fld id="{8D4D1E41-7A09-AB4A-A4E1-09765ADA2698}" type="slidenum">
              <a:rPr kumimoji="1" lang="zh-CN" altLang="en-US" smtClean="0"/>
              <a:t>43</a:t>
            </a:fld>
            <a:endParaRPr kumimoji="1" lang="zh-CN" altLang="en-US" dirty="0"/>
          </a:p>
        </p:txBody>
      </p:sp>
    </p:spTree>
    <p:extLst>
      <p:ext uri="{BB962C8B-B14F-4D97-AF65-F5344CB8AC3E}">
        <p14:creationId xmlns:p14="http://schemas.microsoft.com/office/powerpoint/2010/main" val="1697461291"/>
      </p:ext>
    </p:extLst>
  </p:cSld>
  <p:clrMapOvr>
    <a:masterClrMapping/>
  </p:clrMapOvr>
</p:sld>
</file>

<file path=ppt/theme/theme1.xml><?xml version="1.0" encoding="utf-8"?>
<a:theme xmlns:a="http://schemas.openxmlformats.org/drawingml/2006/main" name="Office 主题​​">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9796</TotalTime>
  <Words>5211</Words>
  <Application>Microsoft Office PowerPoint</Application>
  <PresentationFormat>宽屏</PresentationFormat>
  <Paragraphs>395</Paragraphs>
  <Slides>44</Slides>
  <Notes>43</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44</vt:i4>
      </vt:variant>
    </vt:vector>
  </HeadingPairs>
  <TitlesOfParts>
    <vt:vector size="50" baseType="lpstr">
      <vt:lpstr>等线</vt:lpstr>
      <vt:lpstr>Microsoft YaHei</vt:lpstr>
      <vt:lpstr>Microsoft YaHei</vt:lpstr>
      <vt:lpstr>Arial</vt:lpstr>
      <vt:lpstr>Wingdings</vt:lpstr>
      <vt:lpstr>Office 主题​​</vt:lpstr>
      <vt:lpstr>第四章 区块链网络层</vt:lpstr>
      <vt:lpstr>本章内容</vt:lpstr>
      <vt:lpstr>什么是P2P网络</vt:lpstr>
      <vt:lpstr>区块链依靠P2P网络</vt:lpstr>
      <vt:lpstr>拓扑形式一</vt:lpstr>
      <vt:lpstr>拓扑形式二</vt:lpstr>
      <vt:lpstr>拓扑形式三</vt:lpstr>
      <vt:lpstr>拓扑形式四</vt:lpstr>
      <vt:lpstr>本章内容</vt:lpstr>
      <vt:lpstr>比特币网络</vt:lpstr>
      <vt:lpstr>节点类型</vt:lpstr>
      <vt:lpstr>功能类型</vt:lpstr>
      <vt:lpstr>节点类型</vt:lpstr>
      <vt:lpstr>扩展比特币网络</vt:lpstr>
      <vt:lpstr>比特币节点通信</vt:lpstr>
      <vt:lpstr>节点握手</vt:lpstr>
      <vt:lpstr>地址传播和发现</vt:lpstr>
      <vt:lpstr>地址管理</vt:lpstr>
      <vt:lpstr>全节点区块同步</vt:lpstr>
      <vt:lpstr>SPV节点通信</vt:lpstr>
      <vt:lpstr>加密和认证连接</vt:lpstr>
      <vt:lpstr>加密和认证连接</vt:lpstr>
      <vt:lpstr>交易池</vt:lpstr>
      <vt:lpstr>比特币中继网络</vt:lpstr>
      <vt:lpstr>本章内容</vt:lpstr>
      <vt:lpstr>以太坊网络</vt:lpstr>
      <vt:lpstr>Kademlia</vt:lpstr>
      <vt:lpstr>网络拆分</vt:lpstr>
      <vt:lpstr>K桶</vt:lpstr>
      <vt:lpstr>节点类型</vt:lpstr>
      <vt:lpstr>节点通信</vt:lpstr>
      <vt:lpstr>K桶维护</vt:lpstr>
      <vt:lpstr>Kad网络节点查询</vt:lpstr>
      <vt:lpstr>网络节点发现</vt:lpstr>
      <vt:lpstr>加密和认证连接</vt:lpstr>
      <vt:lpstr>加密和认证连接</vt:lpstr>
      <vt:lpstr>区块同步</vt:lpstr>
      <vt:lpstr>本章内容</vt:lpstr>
      <vt:lpstr>分布式拒绝服务攻击</vt:lpstr>
      <vt:lpstr>延展性攻击</vt:lpstr>
      <vt:lpstr>女巫攻击</vt:lpstr>
      <vt:lpstr>路由攻击</vt:lpstr>
      <vt:lpstr>日蚀攻击</vt:lpstr>
      <vt:lpstr>本章总结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Canhui Wang</cp:lastModifiedBy>
  <cp:revision>1358</cp:revision>
  <dcterms:created xsi:type="dcterms:W3CDTF">2021-01-06T05:35:51Z</dcterms:created>
  <dcterms:modified xsi:type="dcterms:W3CDTF">2025-05-20T03:42:32Z</dcterms:modified>
</cp:coreProperties>
</file>