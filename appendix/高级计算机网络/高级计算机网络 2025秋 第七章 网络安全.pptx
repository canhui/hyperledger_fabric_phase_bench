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2"/>
  </p:notesMasterIdLst>
  <p:sldIdLst>
    <p:sldId id="647" r:id="rId2"/>
    <p:sldId id="256" r:id="rId3"/>
    <p:sldId id="259" r:id="rId4"/>
    <p:sldId id="260" r:id="rId5"/>
    <p:sldId id="561" r:id="rId6"/>
    <p:sldId id="560" r:id="rId7"/>
    <p:sldId id="559" r:id="rId8"/>
    <p:sldId id="558" r:id="rId9"/>
    <p:sldId id="574" r:id="rId10"/>
    <p:sldId id="797" r:id="rId11"/>
    <p:sldId id="798" r:id="rId12"/>
    <p:sldId id="799" r:id="rId13"/>
    <p:sldId id="570" r:id="rId14"/>
    <p:sldId id="569" r:id="rId15"/>
    <p:sldId id="568" r:id="rId16"/>
    <p:sldId id="567" r:id="rId17"/>
    <p:sldId id="566" r:id="rId18"/>
    <p:sldId id="565" r:id="rId19"/>
    <p:sldId id="564" r:id="rId20"/>
    <p:sldId id="582" r:id="rId21"/>
    <p:sldId id="581" r:id="rId22"/>
    <p:sldId id="747" r:id="rId23"/>
    <p:sldId id="580" r:id="rId24"/>
    <p:sldId id="575" r:id="rId25"/>
    <p:sldId id="579" r:id="rId26"/>
    <p:sldId id="577" r:id="rId27"/>
    <p:sldId id="749" r:id="rId28"/>
    <p:sldId id="562" r:id="rId29"/>
    <p:sldId id="578" r:id="rId30"/>
    <p:sldId id="589" r:id="rId31"/>
    <p:sldId id="750" r:id="rId32"/>
    <p:sldId id="751" r:id="rId33"/>
    <p:sldId id="588" r:id="rId34"/>
    <p:sldId id="756" r:id="rId35"/>
    <p:sldId id="754" r:id="rId36"/>
    <p:sldId id="755" r:id="rId37"/>
    <p:sldId id="757" r:id="rId38"/>
    <p:sldId id="584" r:id="rId39"/>
    <p:sldId id="605" r:id="rId40"/>
    <p:sldId id="604" r:id="rId41"/>
    <p:sldId id="603" r:id="rId42"/>
    <p:sldId id="602" r:id="rId43"/>
    <p:sldId id="758" r:id="rId44"/>
    <p:sldId id="600" r:id="rId45"/>
    <p:sldId id="759" r:id="rId46"/>
    <p:sldId id="598" r:id="rId47"/>
    <p:sldId id="597" r:id="rId48"/>
    <p:sldId id="761" r:id="rId49"/>
    <p:sldId id="596" r:id="rId50"/>
    <p:sldId id="763" r:id="rId51"/>
    <p:sldId id="801" r:id="rId52"/>
    <p:sldId id="610" r:id="rId53"/>
    <p:sldId id="609" r:id="rId54"/>
    <p:sldId id="607" r:id="rId55"/>
    <p:sldId id="661" r:id="rId56"/>
    <p:sldId id="624" r:id="rId57"/>
    <p:sldId id="623" r:id="rId58"/>
    <p:sldId id="662" r:id="rId59"/>
    <p:sldId id="663" r:id="rId60"/>
    <p:sldId id="665" r:id="rId61"/>
    <p:sldId id="666" r:id="rId62"/>
    <p:sldId id="667" r:id="rId63"/>
    <p:sldId id="766" r:id="rId64"/>
    <p:sldId id="767" r:id="rId65"/>
    <p:sldId id="742" r:id="rId66"/>
    <p:sldId id="671" r:id="rId67"/>
    <p:sldId id="672" r:id="rId68"/>
    <p:sldId id="673" r:id="rId69"/>
    <p:sldId id="674" r:id="rId70"/>
    <p:sldId id="768" r:id="rId71"/>
    <p:sldId id="769" r:id="rId72"/>
    <p:sldId id="770" r:id="rId73"/>
    <p:sldId id="676" r:id="rId74"/>
    <p:sldId id="773" r:id="rId75"/>
    <p:sldId id="772" r:id="rId76"/>
    <p:sldId id="677" r:id="rId77"/>
    <p:sldId id="678" r:id="rId78"/>
    <p:sldId id="734" r:id="rId79"/>
    <p:sldId id="680" r:id="rId80"/>
    <p:sldId id="681" r:id="rId81"/>
    <p:sldId id="682" r:id="rId82"/>
    <p:sldId id="683" r:id="rId83"/>
    <p:sldId id="685" r:id="rId84"/>
    <p:sldId id="686" r:id="rId85"/>
    <p:sldId id="687" r:id="rId86"/>
    <p:sldId id="688" r:id="rId87"/>
    <p:sldId id="689" r:id="rId88"/>
    <p:sldId id="690" r:id="rId89"/>
    <p:sldId id="691" r:id="rId90"/>
    <p:sldId id="800" r:id="rId91"/>
    <p:sldId id="698" r:id="rId92"/>
    <p:sldId id="699" r:id="rId93"/>
    <p:sldId id="700" r:id="rId94"/>
    <p:sldId id="701" r:id="rId95"/>
    <p:sldId id="702" r:id="rId96"/>
    <p:sldId id="779" r:id="rId97"/>
    <p:sldId id="705" r:id="rId98"/>
    <p:sldId id="706" r:id="rId99"/>
    <p:sldId id="707" r:id="rId100"/>
    <p:sldId id="736" r:id="rId101"/>
    <p:sldId id="783" r:id="rId102"/>
    <p:sldId id="784" r:id="rId103"/>
    <p:sldId id="785" r:id="rId104"/>
    <p:sldId id="786" r:id="rId105"/>
    <p:sldId id="787" r:id="rId106"/>
    <p:sldId id="788" r:id="rId107"/>
    <p:sldId id="711" r:id="rId108"/>
    <p:sldId id="712" r:id="rId109"/>
    <p:sldId id="713" r:id="rId110"/>
    <p:sldId id="790" r:id="rId111"/>
    <p:sldId id="718" r:id="rId112"/>
    <p:sldId id="792" r:id="rId113"/>
    <p:sldId id="740" r:id="rId114"/>
    <p:sldId id="719" r:id="rId115"/>
    <p:sldId id="793" r:id="rId116"/>
    <p:sldId id="794" r:id="rId117"/>
    <p:sldId id="723" r:id="rId118"/>
    <p:sldId id="725" r:id="rId119"/>
    <p:sldId id="795" r:id="rId120"/>
    <p:sldId id="741" r:id="rId1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3"/>
      <p:bold r:id="rId124"/>
      <p:italic r:id="rId125"/>
      <p:boldItalic r:id="rId126"/>
    </p:embeddedFont>
    <p:embeddedFont>
      <p:font typeface="Cambria Math" panose="02040503050406030204" pitchFamily="18" charset="0"/>
      <p:regular r:id="rId127"/>
    </p:embeddedFont>
    <p:embeddedFont>
      <p:font typeface="黑体" panose="02010609060101010101" pitchFamily="49" charset="-122"/>
      <p:regular r:id="rId128"/>
    </p:embeddedFont>
    <p:embeddedFont>
      <p:font typeface="微软雅黑" panose="020B0503020204020204" pitchFamily="34" charset="-122"/>
      <p:regular r:id="rId129"/>
      <p:bold r:id="rId1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A647DA"/>
    <a:srgbClr val="CC0099"/>
    <a:srgbClr val="FFFF66"/>
    <a:srgbClr val="00FFFF"/>
    <a:srgbClr val="0000CC"/>
    <a:srgbClr val="0000FF"/>
    <a:srgbClr val="FFFF99"/>
    <a:srgbClr val="66FF99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6014" autoAdjust="0"/>
  </p:normalViewPr>
  <p:slideViewPr>
    <p:cSldViewPr snapToGrid="0">
      <p:cViewPr varScale="1">
        <p:scale>
          <a:sx n="105" d="100"/>
          <a:sy n="105" d="100"/>
        </p:scale>
        <p:origin x="35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.fntdata"/><Relationship Id="rId128" Type="http://schemas.openxmlformats.org/officeDocument/2006/relationships/font" Target="fonts/font6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2.fntdata"/><Relationship Id="rId129" Type="http://schemas.openxmlformats.org/officeDocument/2006/relationships/font" Target="fonts/font7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8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D98DA0-95B2-47C8-904B-9AC1171377A9}" type="doc">
      <dgm:prSet loTypeId="urn:microsoft.com/office/officeart/2005/8/layout/hList1" loCatId="list" qsTypeId="urn:microsoft.com/office/officeart/2005/8/quickstyle/simple4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05A68B64-66B2-4FAF-92DD-516FF32B1BC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实体鉴别</a:t>
          </a:r>
        </a:p>
      </dgm:t>
    </dgm:pt>
    <dgm:pt modelId="{2A66D2F3-8AA5-4139-8F76-EA56D3788C49}" type="par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8B910-8BA6-4472-9776-E857A512BC38}" type="sib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97D4A6-72F3-4CF6-AEA3-2D6BCD98E933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鉴别发信者，防止冒充者。</a:t>
          </a:r>
        </a:p>
      </dgm:t>
    </dgm:pt>
    <dgm:pt modelId="{B766684A-032A-4EE5-B123-E63A6AFC542E}" type="par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AEEAF6-2C90-450B-83EB-61A039CB75EF}" type="sib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A3961D-B8A5-4544-96E2-C59E72DF4488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实体：发信的人或进程。</a:t>
          </a:r>
        </a:p>
      </dgm:t>
    </dgm:pt>
    <dgm:pt modelId="{9D2B612A-B922-416A-8015-0298811D6000}" type="parTrans" cxnId="{531E92C4-5F9A-406F-9DEA-551742688FA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629C44-D3F6-4D1E-83B5-B562E481999B}" type="sibTrans" cxnId="{531E92C4-5F9A-406F-9DEA-551742688FA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303DA3-CA59-4DE3-87D8-08ED0B0AE905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鉴别报文的完整性</a:t>
          </a:r>
        </a:p>
      </dgm:t>
    </dgm:pt>
    <dgm:pt modelId="{E3A82F57-0C70-4ABB-BF85-CB7D9C6DEAA5}" type="par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3DAC15-77D8-4571-B151-92735A738E4E}" type="sib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F2F39F-9B4B-44E0-9A3C-3199C8F07F3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报文未被他人篡改过。</a:t>
          </a:r>
        </a:p>
      </dgm:t>
    </dgm:pt>
    <dgm:pt modelId="{DE453C08-46CA-49A8-8B81-DEC0069C6C34}" type="par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4197D5-B346-4C6D-A6FB-82D885410872}" type="sib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DA4F29F-FA67-46C1-AE45-9CD2555EBE0E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也常称为</a:t>
          </a:r>
          <a:r>
            <a:rPr lang="zh-CN" altLang="en-US" sz="1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端点鉴别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13E3C791-58FB-4167-AA72-29C87F06C2F4}" type="parTrans" cxnId="{8CE73835-4AEA-4961-823C-9EE619689508}">
      <dgm:prSet/>
      <dgm:spPr/>
      <dgm:t>
        <a:bodyPr/>
        <a:lstStyle/>
        <a:p>
          <a:endParaRPr lang="zh-CN" altLang="en-US"/>
        </a:p>
      </dgm:t>
    </dgm:pt>
    <dgm:pt modelId="{E1615CA2-E1C4-485B-B14A-31111799F38C}" type="sibTrans" cxnId="{8CE73835-4AEA-4961-823C-9EE619689508}">
      <dgm:prSet/>
      <dgm:spPr/>
      <dgm:t>
        <a:bodyPr/>
        <a:lstStyle/>
        <a:p>
          <a:endParaRPr lang="zh-CN" altLang="en-US"/>
        </a:p>
      </dgm:t>
    </dgm:pt>
    <dgm:pt modelId="{2459AA72-BC4B-4C5C-B556-E8D74D05A708}" type="pres">
      <dgm:prSet presAssocID="{08D98DA0-95B2-47C8-904B-9AC1171377A9}" presName="Name0" presStyleCnt="0">
        <dgm:presLayoutVars>
          <dgm:dir/>
          <dgm:animLvl val="lvl"/>
          <dgm:resizeHandles val="exact"/>
        </dgm:presLayoutVars>
      </dgm:prSet>
      <dgm:spPr/>
    </dgm:pt>
    <dgm:pt modelId="{772C95C8-FB31-4DBD-B776-0832795C686C}" type="pres">
      <dgm:prSet presAssocID="{05A68B64-66B2-4FAF-92DD-516FF32B1BCC}" presName="composite" presStyleCnt="0"/>
      <dgm:spPr/>
    </dgm:pt>
    <dgm:pt modelId="{4C2448E9-2FED-4C18-AEB6-80BAC810D979}" type="pres">
      <dgm:prSet presAssocID="{05A68B64-66B2-4FAF-92DD-516FF32B1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6ECD96F-8117-4A6D-AE9F-1F60F8B55EE5}" type="pres">
      <dgm:prSet presAssocID="{05A68B64-66B2-4FAF-92DD-516FF32B1BCC}" presName="desTx" presStyleLbl="alignAccFollowNode1" presStyleIdx="0" presStyleCnt="2">
        <dgm:presLayoutVars>
          <dgm:bulletEnabled val="1"/>
        </dgm:presLayoutVars>
      </dgm:prSet>
      <dgm:spPr/>
    </dgm:pt>
    <dgm:pt modelId="{C01A89F5-9BE7-45EC-9CC6-C3030B1C2986}" type="pres">
      <dgm:prSet presAssocID="{C7E8B910-8BA6-4472-9776-E857A512BC38}" presName="space" presStyleCnt="0"/>
      <dgm:spPr/>
    </dgm:pt>
    <dgm:pt modelId="{50742E41-305B-4B63-A528-37FA256778AB}" type="pres">
      <dgm:prSet presAssocID="{58303DA3-CA59-4DE3-87D8-08ED0B0AE905}" presName="composite" presStyleCnt="0"/>
      <dgm:spPr/>
    </dgm:pt>
    <dgm:pt modelId="{B9E82E96-11D1-4AE9-AC69-5EA2280CC2A6}" type="pres">
      <dgm:prSet presAssocID="{58303DA3-CA59-4DE3-87D8-08ED0B0AE9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36D80E2-BA89-486A-B948-925364516303}" type="pres">
      <dgm:prSet presAssocID="{58303DA3-CA59-4DE3-87D8-08ED0B0AE9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8CFD09-0A80-42E9-8897-D820D3FF2B10}" type="presOf" srcId="{05A68B64-66B2-4FAF-92DD-516FF32B1BCC}" destId="{4C2448E9-2FED-4C18-AEB6-80BAC810D979}" srcOrd="0" destOrd="0" presId="urn:microsoft.com/office/officeart/2005/8/layout/hList1"/>
    <dgm:cxn modelId="{C6338920-DF49-4EEA-82E5-78F48AEB261A}" type="presOf" srcId="{58303DA3-CA59-4DE3-87D8-08ED0B0AE905}" destId="{B9E82E96-11D1-4AE9-AC69-5EA2280CC2A6}" srcOrd="0" destOrd="0" presId="urn:microsoft.com/office/officeart/2005/8/layout/hList1"/>
    <dgm:cxn modelId="{8CE73835-4AEA-4961-823C-9EE619689508}" srcId="{05A68B64-66B2-4FAF-92DD-516FF32B1BCC}" destId="{CDA4F29F-FA67-46C1-AE45-9CD2555EBE0E}" srcOrd="2" destOrd="0" parTransId="{13E3C791-58FB-4167-AA72-29C87F06C2F4}" sibTransId="{E1615CA2-E1C4-485B-B14A-31111799F38C}"/>
    <dgm:cxn modelId="{253C445E-DE46-45D7-8BC5-D25AC2BB843A}" srcId="{58303DA3-CA59-4DE3-87D8-08ED0B0AE905}" destId="{A6F2F39F-9B4B-44E0-9A3C-3199C8F07F3A}" srcOrd="0" destOrd="0" parTransId="{DE453C08-46CA-49A8-8B81-DEC0069C6C34}" sibTransId="{414197D5-B346-4C6D-A6FB-82D885410872}"/>
    <dgm:cxn modelId="{B60FD945-49AB-4CBD-B400-904BEBC42DAF}" srcId="{08D98DA0-95B2-47C8-904B-9AC1171377A9}" destId="{05A68B64-66B2-4FAF-92DD-516FF32B1BCC}" srcOrd="0" destOrd="0" parTransId="{2A66D2F3-8AA5-4139-8F76-EA56D3788C49}" sibTransId="{C7E8B910-8BA6-4472-9776-E857A512BC38}"/>
    <dgm:cxn modelId="{C5BB5568-D36B-4D85-9545-29771C0C7154}" type="presOf" srcId="{CDA4F29F-FA67-46C1-AE45-9CD2555EBE0E}" destId="{46ECD96F-8117-4A6D-AE9F-1F60F8B55EE5}" srcOrd="0" destOrd="2" presId="urn:microsoft.com/office/officeart/2005/8/layout/hList1"/>
    <dgm:cxn modelId="{383D347D-A841-4089-BA24-0DF594007D2F}" type="presOf" srcId="{08D98DA0-95B2-47C8-904B-9AC1171377A9}" destId="{2459AA72-BC4B-4C5C-B556-E8D74D05A708}" srcOrd="0" destOrd="0" presId="urn:microsoft.com/office/officeart/2005/8/layout/hList1"/>
    <dgm:cxn modelId="{B887E487-09CD-496F-80D5-659B2BED701E}" type="presOf" srcId="{A6A3961D-B8A5-4544-96E2-C59E72DF4488}" destId="{46ECD96F-8117-4A6D-AE9F-1F60F8B55EE5}" srcOrd="0" destOrd="1" presId="urn:microsoft.com/office/officeart/2005/8/layout/hList1"/>
    <dgm:cxn modelId="{7F2F148C-2A93-4731-BAB5-8EC0BEFC4DE1}" srcId="{05A68B64-66B2-4FAF-92DD-516FF32B1BCC}" destId="{4B97D4A6-72F3-4CF6-AEA3-2D6BCD98E933}" srcOrd="0" destOrd="0" parTransId="{B766684A-032A-4EE5-B123-E63A6AFC542E}" sibTransId="{F4AEEAF6-2C90-450B-83EB-61A039CB75EF}"/>
    <dgm:cxn modelId="{F083A590-C2F7-465F-9023-04FFAA866174}" type="presOf" srcId="{4B97D4A6-72F3-4CF6-AEA3-2D6BCD98E933}" destId="{46ECD96F-8117-4A6D-AE9F-1F60F8B55EE5}" srcOrd="0" destOrd="0" presId="urn:microsoft.com/office/officeart/2005/8/layout/hList1"/>
    <dgm:cxn modelId="{531E92C4-5F9A-406F-9DEA-551742688FA5}" srcId="{05A68B64-66B2-4FAF-92DD-516FF32B1BCC}" destId="{A6A3961D-B8A5-4544-96E2-C59E72DF4488}" srcOrd="1" destOrd="0" parTransId="{9D2B612A-B922-416A-8015-0298811D6000}" sibTransId="{B7629C44-D3F6-4D1E-83B5-B562E481999B}"/>
    <dgm:cxn modelId="{99D999C5-381D-4A6F-8162-32F9E77737FD}" type="presOf" srcId="{A6F2F39F-9B4B-44E0-9A3C-3199C8F07F3A}" destId="{D36D80E2-BA89-486A-B948-925364516303}" srcOrd="0" destOrd="0" presId="urn:microsoft.com/office/officeart/2005/8/layout/hList1"/>
    <dgm:cxn modelId="{AC40AEC7-7654-4B7E-8765-D400B8A2A0ED}" srcId="{08D98DA0-95B2-47C8-904B-9AC1171377A9}" destId="{58303DA3-CA59-4DE3-87D8-08ED0B0AE905}" srcOrd="1" destOrd="0" parTransId="{E3A82F57-0C70-4ABB-BF85-CB7D9C6DEAA5}" sibTransId="{F83DAC15-77D8-4571-B151-92735A738E4E}"/>
    <dgm:cxn modelId="{57B7E459-D787-43D0-8E2E-AF123331A1C2}" type="presParOf" srcId="{2459AA72-BC4B-4C5C-B556-E8D74D05A708}" destId="{772C95C8-FB31-4DBD-B776-0832795C686C}" srcOrd="0" destOrd="0" presId="urn:microsoft.com/office/officeart/2005/8/layout/hList1"/>
    <dgm:cxn modelId="{0CD98B86-3BFD-4784-B4BB-0D17913F94A5}" type="presParOf" srcId="{772C95C8-FB31-4DBD-B776-0832795C686C}" destId="{4C2448E9-2FED-4C18-AEB6-80BAC810D979}" srcOrd="0" destOrd="0" presId="urn:microsoft.com/office/officeart/2005/8/layout/hList1"/>
    <dgm:cxn modelId="{225700FE-9627-48DC-80CB-39019CD5EFD7}" type="presParOf" srcId="{772C95C8-FB31-4DBD-B776-0832795C686C}" destId="{46ECD96F-8117-4A6D-AE9F-1F60F8B55EE5}" srcOrd="1" destOrd="0" presId="urn:microsoft.com/office/officeart/2005/8/layout/hList1"/>
    <dgm:cxn modelId="{6EA78E51-4593-4B9B-96F4-21F87607F4FE}" type="presParOf" srcId="{2459AA72-BC4B-4C5C-B556-E8D74D05A708}" destId="{C01A89F5-9BE7-45EC-9CC6-C3030B1C2986}" srcOrd="1" destOrd="0" presId="urn:microsoft.com/office/officeart/2005/8/layout/hList1"/>
    <dgm:cxn modelId="{84087F10-732D-488A-932E-BE075FF10291}" type="presParOf" srcId="{2459AA72-BC4B-4C5C-B556-E8D74D05A708}" destId="{50742E41-305B-4B63-A528-37FA256778AB}" srcOrd="2" destOrd="0" presId="urn:microsoft.com/office/officeart/2005/8/layout/hList1"/>
    <dgm:cxn modelId="{A76DBDD5-7C8E-4E9B-BBD4-0CED420DBCE2}" type="presParOf" srcId="{50742E41-305B-4B63-A528-37FA256778AB}" destId="{B9E82E96-11D1-4AE9-AC69-5EA2280CC2A6}" srcOrd="0" destOrd="0" presId="urn:microsoft.com/office/officeart/2005/8/layout/hList1"/>
    <dgm:cxn modelId="{8143D0F1-2A1A-4D2E-A895-B50524989DE7}" type="presParOf" srcId="{50742E41-305B-4B63-A528-37FA256778AB}" destId="{D36D80E2-BA89-486A-B948-9253645163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D98DA0-95B2-47C8-904B-9AC1171377A9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05A68B64-66B2-4FAF-92DD-516FF32B1BC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</a:p>
      </dgm:t>
    </dgm:pt>
    <dgm:pt modelId="{2A66D2F3-8AA5-4139-8F76-EA56D3788C49}" type="par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8B910-8BA6-4472-9776-E857A512BC38}" type="sibTrans" cxnId="{B60FD945-49AB-4CBD-B400-904BEBC42DA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97D4A6-72F3-4CF6-AEA3-2D6BCD98E933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但许多报文不需要加密，但需要鉴别。</a:t>
          </a:r>
        </a:p>
      </dgm:t>
    </dgm:pt>
    <dgm:pt modelId="{B766684A-032A-4EE5-B123-E63A6AFC542E}" type="par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AEEAF6-2C90-450B-83EB-61A039CB75EF}" type="sibTrans" cxnId="{7F2F148C-2A93-4731-BAB5-8EC0BEFC4DE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303DA3-CA59-4DE3-87D8-08ED0B0AE905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</a:p>
      </dgm:t>
    </dgm:pt>
    <dgm:pt modelId="{E3A82F57-0C70-4ABB-BF85-CB7D9C6DEAA5}" type="par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3DAC15-77D8-4571-B151-92735A738E4E}" type="sibTrans" cxnId="{AC40AEC7-7654-4B7E-8765-D400B8A2A0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F2F39F-9B4B-44E0-9A3C-3199C8F07F3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涉及的问题是：所进行的过程是否被允许（如是否可以对某文件进行读或写）。</a:t>
          </a:r>
        </a:p>
      </dgm:t>
    </dgm:pt>
    <dgm:pt modelId="{DE453C08-46CA-49A8-8B81-DEC0069C6C34}" type="par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4197D5-B346-4C6D-A6FB-82D885410872}" type="sibTrans" cxnId="{253C445E-DE46-45D7-8BC5-D25AC2BB843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73599E9-1D82-46B3-8AC4-6810F11264D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加密可以实现鉴别。</a:t>
          </a:r>
        </a:p>
      </dgm:t>
    </dgm:pt>
    <dgm:pt modelId="{1BB0F821-B39B-4BD0-BCC5-BAB42CAFE74C}" type="par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CAEAA676-DF27-4E8B-B908-DA692B49D398}" type="sibTrans" cxnId="{5CC6A155-590F-490A-992A-0A4D07E6C1EA}">
      <dgm:prSet/>
      <dgm:spPr/>
      <dgm:t>
        <a:bodyPr/>
        <a:lstStyle/>
        <a:p>
          <a:endParaRPr lang="zh-CN" altLang="en-US"/>
        </a:p>
      </dgm:t>
    </dgm:pt>
    <dgm:pt modelId="{2459AA72-BC4B-4C5C-B556-E8D74D05A708}" type="pres">
      <dgm:prSet presAssocID="{08D98DA0-95B2-47C8-904B-9AC1171377A9}" presName="Name0" presStyleCnt="0">
        <dgm:presLayoutVars>
          <dgm:dir/>
          <dgm:animLvl val="lvl"/>
          <dgm:resizeHandles val="exact"/>
        </dgm:presLayoutVars>
      </dgm:prSet>
      <dgm:spPr/>
    </dgm:pt>
    <dgm:pt modelId="{772C95C8-FB31-4DBD-B776-0832795C686C}" type="pres">
      <dgm:prSet presAssocID="{05A68B64-66B2-4FAF-92DD-516FF32B1BCC}" presName="composite" presStyleCnt="0"/>
      <dgm:spPr/>
    </dgm:pt>
    <dgm:pt modelId="{4C2448E9-2FED-4C18-AEB6-80BAC810D979}" type="pres">
      <dgm:prSet presAssocID="{05A68B64-66B2-4FAF-92DD-516FF32B1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6ECD96F-8117-4A6D-AE9F-1F60F8B55EE5}" type="pres">
      <dgm:prSet presAssocID="{05A68B64-66B2-4FAF-92DD-516FF32B1BCC}" presName="desTx" presStyleLbl="alignAccFollowNode1" presStyleIdx="0" presStyleCnt="2">
        <dgm:presLayoutVars>
          <dgm:bulletEnabled val="1"/>
        </dgm:presLayoutVars>
      </dgm:prSet>
      <dgm:spPr/>
    </dgm:pt>
    <dgm:pt modelId="{C01A89F5-9BE7-45EC-9CC6-C3030B1C2986}" type="pres">
      <dgm:prSet presAssocID="{C7E8B910-8BA6-4472-9776-E857A512BC38}" presName="space" presStyleCnt="0"/>
      <dgm:spPr/>
    </dgm:pt>
    <dgm:pt modelId="{50742E41-305B-4B63-A528-37FA256778AB}" type="pres">
      <dgm:prSet presAssocID="{58303DA3-CA59-4DE3-87D8-08ED0B0AE905}" presName="composite" presStyleCnt="0"/>
      <dgm:spPr/>
    </dgm:pt>
    <dgm:pt modelId="{B9E82E96-11D1-4AE9-AC69-5EA2280CC2A6}" type="pres">
      <dgm:prSet presAssocID="{58303DA3-CA59-4DE3-87D8-08ED0B0AE9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36D80E2-BA89-486A-B948-925364516303}" type="pres">
      <dgm:prSet presAssocID="{58303DA3-CA59-4DE3-87D8-08ED0B0AE9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8CFD09-0A80-42E9-8897-D820D3FF2B10}" type="presOf" srcId="{05A68B64-66B2-4FAF-92DD-516FF32B1BCC}" destId="{4C2448E9-2FED-4C18-AEB6-80BAC810D979}" srcOrd="0" destOrd="0" presId="urn:microsoft.com/office/officeart/2005/8/layout/hList1"/>
    <dgm:cxn modelId="{C6338920-DF49-4EEA-82E5-78F48AEB261A}" type="presOf" srcId="{58303DA3-CA59-4DE3-87D8-08ED0B0AE905}" destId="{B9E82E96-11D1-4AE9-AC69-5EA2280CC2A6}" srcOrd="0" destOrd="0" presId="urn:microsoft.com/office/officeart/2005/8/layout/hList1"/>
    <dgm:cxn modelId="{253C445E-DE46-45D7-8BC5-D25AC2BB843A}" srcId="{58303DA3-CA59-4DE3-87D8-08ED0B0AE905}" destId="{A6F2F39F-9B4B-44E0-9A3C-3199C8F07F3A}" srcOrd="0" destOrd="0" parTransId="{DE453C08-46CA-49A8-8B81-DEC0069C6C34}" sibTransId="{414197D5-B346-4C6D-A6FB-82D885410872}"/>
    <dgm:cxn modelId="{B60FD945-49AB-4CBD-B400-904BEBC42DAF}" srcId="{08D98DA0-95B2-47C8-904B-9AC1171377A9}" destId="{05A68B64-66B2-4FAF-92DD-516FF32B1BCC}" srcOrd="0" destOrd="0" parTransId="{2A66D2F3-8AA5-4139-8F76-EA56D3788C49}" sibTransId="{C7E8B910-8BA6-4472-9776-E857A512BC38}"/>
    <dgm:cxn modelId="{5CC6A155-590F-490A-992A-0A4D07E6C1EA}" srcId="{05A68B64-66B2-4FAF-92DD-516FF32B1BCC}" destId="{073599E9-1D82-46B3-8AC4-6810F11264D0}" srcOrd="0" destOrd="0" parTransId="{1BB0F821-B39B-4BD0-BCC5-BAB42CAFE74C}" sibTransId="{CAEAA676-DF27-4E8B-B908-DA692B49D398}"/>
    <dgm:cxn modelId="{383D347D-A841-4089-BA24-0DF594007D2F}" type="presOf" srcId="{08D98DA0-95B2-47C8-904B-9AC1171377A9}" destId="{2459AA72-BC4B-4C5C-B556-E8D74D05A708}" srcOrd="0" destOrd="0" presId="urn:microsoft.com/office/officeart/2005/8/layout/hList1"/>
    <dgm:cxn modelId="{7F2F148C-2A93-4731-BAB5-8EC0BEFC4DE1}" srcId="{05A68B64-66B2-4FAF-92DD-516FF32B1BCC}" destId="{4B97D4A6-72F3-4CF6-AEA3-2D6BCD98E933}" srcOrd="1" destOrd="0" parTransId="{B766684A-032A-4EE5-B123-E63A6AFC542E}" sibTransId="{F4AEEAF6-2C90-450B-83EB-61A039CB75EF}"/>
    <dgm:cxn modelId="{B3980DAD-2EA2-4F24-ABAB-75CEC8296E52}" type="presOf" srcId="{4B97D4A6-72F3-4CF6-AEA3-2D6BCD98E933}" destId="{46ECD96F-8117-4A6D-AE9F-1F60F8B55EE5}" srcOrd="0" destOrd="1" presId="urn:microsoft.com/office/officeart/2005/8/layout/hList1"/>
    <dgm:cxn modelId="{391FDBB2-2E69-4101-8AAD-194CB80E5FDA}" type="presOf" srcId="{073599E9-1D82-46B3-8AC4-6810F11264D0}" destId="{46ECD96F-8117-4A6D-AE9F-1F60F8B55EE5}" srcOrd="0" destOrd="0" presId="urn:microsoft.com/office/officeart/2005/8/layout/hList1"/>
    <dgm:cxn modelId="{99D999C5-381D-4A6F-8162-32F9E77737FD}" type="presOf" srcId="{A6F2F39F-9B4B-44E0-9A3C-3199C8F07F3A}" destId="{D36D80E2-BA89-486A-B948-925364516303}" srcOrd="0" destOrd="0" presId="urn:microsoft.com/office/officeart/2005/8/layout/hList1"/>
    <dgm:cxn modelId="{AC40AEC7-7654-4B7E-8765-D400B8A2A0ED}" srcId="{08D98DA0-95B2-47C8-904B-9AC1171377A9}" destId="{58303DA3-CA59-4DE3-87D8-08ED0B0AE905}" srcOrd="1" destOrd="0" parTransId="{E3A82F57-0C70-4ABB-BF85-CB7D9C6DEAA5}" sibTransId="{F83DAC15-77D8-4571-B151-92735A738E4E}"/>
    <dgm:cxn modelId="{57B7E459-D787-43D0-8E2E-AF123331A1C2}" type="presParOf" srcId="{2459AA72-BC4B-4C5C-B556-E8D74D05A708}" destId="{772C95C8-FB31-4DBD-B776-0832795C686C}" srcOrd="0" destOrd="0" presId="urn:microsoft.com/office/officeart/2005/8/layout/hList1"/>
    <dgm:cxn modelId="{0CD98B86-3BFD-4784-B4BB-0D17913F94A5}" type="presParOf" srcId="{772C95C8-FB31-4DBD-B776-0832795C686C}" destId="{4C2448E9-2FED-4C18-AEB6-80BAC810D979}" srcOrd="0" destOrd="0" presId="urn:microsoft.com/office/officeart/2005/8/layout/hList1"/>
    <dgm:cxn modelId="{225700FE-9627-48DC-80CB-39019CD5EFD7}" type="presParOf" srcId="{772C95C8-FB31-4DBD-B776-0832795C686C}" destId="{46ECD96F-8117-4A6D-AE9F-1F60F8B55EE5}" srcOrd="1" destOrd="0" presId="urn:microsoft.com/office/officeart/2005/8/layout/hList1"/>
    <dgm:cxn modelId="{6EA78E51-4593-4B9B-96F4-21F87607F4FE}" type="presParOf" srcId="{2459AA72-BC4B-4C5C-B556-E8D74D05A708}" destId="{C01A89F5-9BE7-45EC-9CC6-C3030B1C2986}" srcOrd="1" destOrd="0" presId="urn:microsoft.com/office/officeart/2005/8/layout/hList1"/>
    <dgm:cxn modelId="{84087F10-732D-488A-932E-BE075FF10291}" type="presParOf" srcId="{2459AA72-BC4B-4C5C-B556-E8D74D05A708}" destId="{50742E41-305B-4B63-A528-37FA256778AB}" srcOrd="2" destOrd="0" presId="urn:microsoft.com/office/officeart/2005/8/layout/hList1"/>
    <dgm:cxn modelId="{A76DBDD5-7C8E-4E9B-BBD4-0CED420DBCE2}" type="presParOf" srcId="{50742E41-305B-4B63-A528-37FA256778AB}" destId="{B9E82E96-11D1-4AE9-AC69-5EA2280CC2A6}" srcOrd="0" destOrd="0" presId="urn:microsoft.com/office/officeart/2005/8/layout/hList1"/>
    <dgm:cxn modelId="{8143D0F1-2A1A-4D2E-A895-B50524989DE7}" type="presParOf" srcId="{50742E41-305B-4B63-A528-37FA256778AB}" destId="{D36D80E2-BA89-486A-B948-9253645163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448E9-2FED-4C18-AEB6-80BAC810D979}">
      <dsp:nvSpPr>
        <dsp:cNvPr id="0" name=""/>
        <dsp:cNvSpPr/>
      </dsp:nvSpPr>
      <dsp:spPr>
        <a:xfrm>
          <a:off x="32" y="2728"/>
          <a:ext cx="3150184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实体鉴别</a:t>
          </a:r>
        </a:p>
      </dsp:txBody>
      <dsp:txXfrm>
        <a:off x="32" y="2728"/>
        <a:ext cx="3150184" cy="576000"/>
      </dsp:txXfrm>
    </dsp:sp>
    <dsp:sp modelId="{46ECD96F-8117-4A6D-AE9F-1F60F8B55EE5}">
      <dsp:nvSpPr>
        <dsp:cNvPr id="0" name=""/>
        <dsp:cNvSpPr/>
      </dsp:nvSpPr>
      <dsp:spPr>
        <a:xfrm>
          <a:off x="32" y="578728"/>
          <a:ext cx="3150184" cy="14274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鉴别发信者，防止冒充者。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实体：发信的人或进程。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也常称为</a:t>
          </a:r>
          <a:r>
            <a:rPr lang="zh-CN" altLang="en-US" sz="18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端点鉴别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>
        <a:off x="32" y="578728"/>
        <a:ext cx="3150184" cy="1427400"/>
      </dsp:txXfrm>
    </dsp:sp>
    <dsp:sp modelId="{B9E82E96-11D1-4AE9-AC69-5EA2280CC2A6}">
      <dsp:nvSpPr>
        <dsp:cNvPr id="0" name=""/>
        <dsp:cNvSpPr/>
      </dsp:nvSpPr>
      <dsp:spPr>
        <a:xfrm>
          <a:off x="3591242" y="2728"/>
          <a:ext cx="3150184" cy="5760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鉴别报文的完整性</a:t>
          </a:r>
        </a:p>
      </dsp:txBody>
      <dsp:txXfrm>
        <a:off x="3591242" y="2728"/>
        <a:ext cx="3150184" cy="576000"/>
      </dsp:txXfrm>
    </dsp:sp>
    <dsp:sp modelId="{D36D80E2-BA89-486A-B948-925364516303}">
      <dsp:nvSpPr>
        <dsp:cNvPr id="0" name=""/>
        <dsp:cNvSpPr/>
      </dsp:nvSpPr>
      <dsp:spPr>
        <a:xfrm>
          <a:off x="3591242" y="578728"/>
          <a:ext cx="3150184" cy="14274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报文未被他人篡改过。</a:t>
          </a:r>
        </a:p>
      </dsp:txBody>
      <dsp:txXfrm>
        <a:off x="3591242" y="578728"/>
        <a:ext cx="3150184" cy="1427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448E9-2FED-4C18-AEB6-80BAC810D979}">
      <dsp:nvSpPr>
        <dsp:cNvPr id="0" name=""/>
        <dsp:cNvSpPr/>
      </dsp:nvSpPr>
      <dsp:spPr>
        <a:xfrm>
          <a:off x="32" y="15180"/>
          <a:ext cx="3150184" cy="8352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鉴别与加密不同</a:t>
          </a:r>
        </a:p>
      </dsp:txBody>
      <dsp:txXfrm>
        <a:off x="32" y="15180"/>
        <a:ext cx="3150184" cy="835200"/>
      </dsp:txXfrm>
    </dsp:sp>
    <dsp:sp modelId="{46ECD96F-8117-4A6D-AE9F-1F60F8B55EE5}">
      <dsp:nvSpPr>
        <dsp:cNvPr id="0" name=""/>
        <dsp:cNvSpPr/>
      </dsp:nvSpPr>
      <dsp:spPr>
        <a:xfrm>
          <a:off x="32" y="850380"/>
          <a:ext cx="3150184" cy="165429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加密可以实现鉴别。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但许多报文不需要加密，但需要鉴别。</a:t>
          </a:r>
        </a:p>
      </dsp:txBody>
      <dsp:txXfrm>
        <a:off x="32" y="850380"/>
        <a:ext cx="3150184" cy="1654291"/>
      </dsp:txXfrm>
    </dsp:sp>
    <dsp:sp modelId="{B9E82E96-11D1-4AE9-AC69-5EA2280CC2A6}">
      <dsp:nvSpPr>
        <dsp:cNvPr id="0" name=""/>
        <dsp:cNvSpPr/>
      </dsp:nvSpPr>
      <dsp:spPr>
        <a:xfrm>
          <a:off x="3591242" y="15180"/>
          <a:ext cx="3150184" cy="835200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鉴别与授权不同</a:t>
          </a:r>
        </a:p>
      </dsp:txBody>
      <dsp:txXfrm>
        <a:off x="3591242" y="15180"/>
        <a:ext cx="3150184" cy="835200"/>
      </dsp:txXfrm>
    </dsp:sp>
    <dsp:sp modelId="{D36D80E2-BA89-486A-B948-925364516303}">
      <dsp:nvSpPr>
        <dsp:cNvPr id="0" name=""/>
        <dsp:cNvSpPr/>
      </dsp:nvSpPr>
      <dsp:spPr>
        <a:xfrm>
          <a:off x="3591242" y="850380"/>
          <a:ext cx="3150184" cy="1654291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授权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(authorization)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涉及的问题是：所进行的过程是否被允许（如是否可以对某文件进行读或写）。</a:t>
          </a:r>
        </a:p>
      </dsp:txBody>
      <dsp:txXfrm>
        <a:off x="3591242" y="850380"/>
        <a:ext cx="3150184" cy="1654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7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40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1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76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014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36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150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580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64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33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43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599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60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204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279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98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38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08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671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80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7053C-5D5C-4B5B-AE35-DDC5A51407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3C8B7-9624-4A80-89D4-2EF620F5C21C}" type="datetime1">
              <a:rPr lang="zh-CN" altLang="en-US"/>
              <a:pPr>
                <a:defRPr/>
              </a:pPr>
              <a:t>2025/7/23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6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hqu.edu.cn/WCH12/zh_CN/jxzy/233669/list/index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.png"/><Relationship Id="rId4" Type="http://schemas.openxmlformats.org/officeDocument/2006/relationships/image" Target="../media/image1.wmf"/><Relationship Id="rId9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.wmf"/><Relationship Id="rId4" Type="http://schemas.openxmlformats.org/officeDocument/2006/relationships/image" Target="../media/image10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wmf"/><Relationship Id="rId4" Type="http://schemas.openxmlformats.org/officeDocument/2006/relationships/image" Target="../media/image10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高级计算机网络 第七讲</a:t>
            </a:r>
            <a:br>
              <a:rPr lang="en-US" altLang="zh-CN" dirty="0">
                <a:latin typeface="黑体" pitchFamily="49" charset="-122"/>
                <a:ea typeface="黑体" pitchFamily="49" charset="-122"/>
              </a:rPr>
            </a:br>
            <a:r>
              <a:rPr lang="en-US" altLang="zh-CN" sz="135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br>
              <a:rPr lang="en-US" altLang="zh-CN" dirty="0">
                <a:latin typeface="黑体" pitchFamily="49" charset="-122"/>
                <a:ea typeface="黑体" pitchFamily="49" charset="-122"/>
              </a:rPr>
            </a:br>
            <a:r>
              <a:rPr lang="en-US" altLang="zh-CN" sz="2100" dirty="0">
                <a:latin typeface="黑体" pitchFamily="49" charset="-122"/>
                <a:ea typeface="黑体" pitchFamily="49" charset="-122"/>
              </a:rPr>
              <a:t>—— </a:t>
            </a:r>
            <a:r>
              <a:rPr lang="zh-CN" altLang="en-US" sz="2100" dirty="0">
                <a:latin typeface="黑体" pitchFamily="49" charset="-122"/>
                <a:ea typeface="黑体" pitchFamily="49" charset="-122"/>
              </a:rPr>
              <a:t>网络安全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19808D06-59C2-4D57-BCFD-A8A58ABEB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7869" y="3085640"/>
            <a:ext cx="3516840" cy="1441326"/>
          </a:xfrm>
        </p:spPr>
        <p:txBody>
          <a:bodyPr/>
          <a:lstStyle/>
          <a:p>
            <a:pPr eaLnBrk="1" hangingPunct="1"/>
            <a:r>
              <a:rPr lang="zh-CN" altLang="en-US" sz="1800" dirty="0"/>
              <a:t>华侨大学计算机学院</a:t>
            </a:r>
            <a:endParaRPr lang="en-US" altLang="zh-CN" sz="1800" dirty="0"/>
          </a:p>
          <a:p>
            <a:pPr eaLnBrk="1" hangingPunct="1"/>
            <a:r>
              <a:rPr lang="zh-CN" altLang="en-US" sz="1800" dirty="0"/>
              <a:t>王灿辉</a:t>
            </a:r>
            <a:r>
              <a:rPr lang="en-US" altLang="zh-CN" sz="1500" dirty="0"/>
              <a:t> </a:t>
            </a:r>
          </a:p>
          <a:p>
            <a:pPr eaLnBrk="1" hangingPunct="1"/>
            <a:r>
              <a:rPr lang="zh-CN" altLang="en-US" sz="1800" dirty="0"/>
              <a:t>课件下载</a:t>
            </a:r>
            <a:r>
              <a:rPr lang="en-US" altLang="zh-CN" sz="1800" dirty="0"/>
              <a:t>: </a:t>
            </a:r>
            <a:r>
              <a:rPr lang="en-US" altLang="zh-CN" sz="1500" dirty="0">
                <a:hlinkClick r:id="rId3"/>
              </a:rPr>
              <a:t>https://faculty.hqu.edu.cn/WCH12/zh_CN/jxzy/233669/list/index.htm</a:t>
            </a:r>
            <a:r>
              <a:rPr lang="en-US" altLang="zh-CN" sz="1500" dirty="0"/>
              <a:t> </a:t>
            </a:r>
            <a:endParaRPr lang="en-US" altLang="zh-CN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736634" y="2645892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736635" y="721414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736635" y="1201535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736635" y="1685179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736635" y="217367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736635" y="3126629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736635" y="36166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2484345" y="540243"/>
            <a:ext cx="0" cy="3920474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768382" y="563273"/>
            <a:ext cx="5661539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			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				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				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 		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互联网使用的安全协议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 		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系统安全：防火墙与入侵检测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  		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一些未来的发展方向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 			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一些未来的发展方向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2629135" y="232298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2629135" y="14006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2629135" y="186443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3637198" y="1329243"/>
            <a:ext cx="0" cy="142446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39730" y="140068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648619" y="149561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网络安全问题概述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2700573" y="1276380"/>
            <a:ext cx="57560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15534" y="1521074"/>
            <a:ext cx="8129015" cy="256847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509474" y="635772"/>
            <a:ext cx="812901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计算机网络上的通信面临以下两大类威胁：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Rectangle 99"/>
          <p:cNvSpPr>
            <a:spLocks noChangeArrowheads="1"/>
          </p:cNvSpPr>
          <p:nvPr/>
        </p:nvSpPr>
        <p:spPr bwMode="auto">
          <a:xfrm>
            <a:off x="733297" y="1867070"/>
            <a:ext cx="7667251" cy="1866235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66"/>
          <p:cNvSpPr>
            <a:spLocks noChangeArrowheads="1"/>
          </p:cNvSpPr>
          <p:nvPr/>
        </p:nvSpPr>
        <p:spPr bwMode="auto">
          <a:xfrm>
            <a:off x="2678706" y="3285902"/>
            <a:ext cx="5709142" cy="434483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val 68"/>
          <p:cNvSpPr>
            <a:spLocks noChangeArrowheads="1"/>
          </p:cNvSpPr>
          <p:nvPr/>
        </p:nvSpPr>
        <p:spPr bwMode="auto">
          <a:xfrm>
            <a:off x="2888223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val 69"/>
          <p:cNvSpPr>
            <a:spLocks noChangeArrowheads="1"/>
          </p:cNvSpPr>
          <p:nvPr/>
        </p:nvSpPr>
        <p:spPr bwMode="auto">
          <a:xfrm>
            <a:off x="4063514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71"/>
          <p:cNvSpPr>
            <a:spLocks noChangeArrowheads="1"/>
          </p:cNvSpPr>
          <p:nvPr/>
        </p:nvSpPr>
        <p:spPr bwMode="auto">
          <a:xfrm>
            <a:off x="978206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val 72"/>
          <p:cNvSpPr>
            <a:spLocks noChangeArrowheads="1"/>
          </p:cNvSpPr>
          <p:nvPr/>
        </p:nvSpPr>
        <p:spPr bwMode="auto">
          <a:xfrm>
            <a:off x="2154864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3"/>
          <p:cNvSpPr>
            <a:spLocks noChangeShapeType="1"/>
          </p:cNvSpPr>
          <p:nvPr/>
        </p:nvSpPr>
        <p:spPr bwMode="auto">
          <a:xfrm>
            <a:off x="1205328" y="2514232"/>
            <a:ext cx="94953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rc 74"/>
          <p:cNvSpPr/>
          <p:nvPr/>
        </p:nvSpPr>
        <p:spPr bwMode="auto">
          <a:xfrm>
            <a:off x="1205328" y="2514232"/>
            <a:ext cx="489818" cy="340684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val 75"/>
          <p:cNvSpPr>
            <a:spLocks noChangeArrowheads="1"/>
          </p:cNvSpPr>
          <p:nvPr/>
        </p:nvSpPr>
        <p:spPr bwMode="auto">
          <a:xfrm>
            <a:off x="1548749" y="2871334"/>
            <a:ext cx="339315" cy="199758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76"/>
          <p:cNvSpPr txBox="1">
            <a:spLocks noChangeArrowheads="1"/>
          </p:cNvSpPr>
          <p:nvPr/>
        </p:nvSpPr>
        <p:spPr bwMode="auto">
          <a:xfrm>
            <a:off x="1888064" y="2835761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</a:p>
        </p:txBody>
      </p:sp>
      <p:sp>
        <p:nvSpPr>
          <p:cNvPr id="23" name="Oval 77"/>
          <p:cNvSpPr>
            <a:spLocks noChangeArrowheads="1"/>
          </p:cNvSpPr>
          <p:nvPr/>
        </p:nvSpPr>
        <p:spPr bwMode="auto">
          <a:xfrm>
            <a:off x="478455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78"/>
          <p:cNvSpPr>
            <a:spLocks noChangeArrowheads="1"/>
          </p:cNvSpPr>
          <p:nvPr/>
        </p:nvSpPr>
        <p:spPr bwMode="auto">
          <a:xfrm>
            <a:off x="5961217" y="2389725"/>
            <a:ext cx="228491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val 83"/>
          <p:cNvSpPr>
            <a:spLocks noChangeArrowheads="1"/>
          </p:cNvSpPr>
          <p:nvPr/>
        </p:nvSpPr>
        <p:spPr bwMode="auto">
          <a:xfrm>
            <a:off x="672330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85"/>
          <p:cNvSpPr txBox="1">
            <a:spLocks noChangeArrowheads="1"/>
          </p:cNvSpPr>
          <p:nvPr/>
        </p:nvSpPr>
        <p:spPr bwMode="auto">
          <a:xfrm>
            <a:off x="7776829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</a:p>
        </p:txBody>
      </p:sp>
      <p:sp>
        <p:nvSpPr>
          <p:cNvPr id="27" name="Oval 86"/>
          <p:cNvSpPr>
            <a:spLocks noChangeArrowheads="1"/>
          </p:cNvSpPr>
          <p:nvPr/>
        </p:nvSpPr>
        <p:spPr bwMode="auto">
          <a:xfrm>
            <a:off x="7899968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90"/>
          <p:cNvSpPr txBox="1">
            <a:spLocks noChangeArrowheads="1"/>
          </p:cNvSpPr>
          <p:nvPr/>
        </p:nvSpPr>
        <p:spPr bwMode="auto">
          <a:xfrm>
            <a:off x="4805083" y="3313265"/>
            <a:ext cx="13708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动  攻  击</a:t>
            </a:r>
          </a:p>
        </p:txBody>
      </p:sp>
      <p:sp>
        <p:nvSpPr>
          <p:cNvPr id="29" name="Text Box 91"/>
          <p:cNvSpPr txBox="1">
            <a:spLocks noChangeArrowheads="1"/>
          </p:cNvSpPr>
          <p:nvPr/>
        </p:nvSpPr>
        <p:spPr bwMode="auto">
          <a:xfrm>
            <a:off x="7600329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0" name="Text Box 92"/>
          <p:cNvSpPr txBox="1">
            <a:spLocks noChangeArrowheads="1"/>
          </p:cNvSpPr>
          <p:nvPr/>
        </p:nvSpPr>
        <p:spPr bwMode="auto">
          <a:xfrm>
            <a:off x="6544074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1" name="Text Box 93"/>
          <p:cNvSpPr txBox="1">
            <a:spLocks noChangeArrowheads="1"/>
          </p:cNvSpPr>
          <p:nvPr/>
        </p:nvSpPr>
        <p:spPr bwMode="auto">
          <a:xfrm>
            <a:off x="47106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2" name="Text Box 94"/>
          <p:cNvSpPr txBox="1">
            <a:spLocks noChangeArrowheads="1"/>
          </p:cNvSpPr>
          <p:nvPr/>
        </p:nvSpPr>
        <p:spPr bwMode="auto">
          <a:xfrm>
            <a:off x="2807500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8331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源站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697154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3793977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1890801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目的站</a:t>
            </a:r>
          </a:p>
        </p:txBody>
      </p:sp>
      <p:sp>
        <p:nvSpPr>
          <p:cNvPr id="40" name="Arc 105"/>
          <p:cNvSpPr/>
          <p:nvPr/>
        </p:nvSpPr>
        <p:spPr bwMode="auto">
          <a:xfrm>
            <a:off x="3097559" y="2496445"/>
            <a:ext cx="491186" cy="37078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06"/>
          <p:cNvSpPr>
            <a:spLocks noChangeArrowheads="1"/>
          </p:cNvSpPr>
          <p:nvPr/>
        </p:nvSpPr>
        <p:spPr bwMode="auto">
          <a:xfrm>
            <a:off x="3440979" y="2867229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rc 107"/>
          <p:cNvSpPr/>
          <p:nvPr/>
        </p:nvSpPr>
        <p:spPr bwMode="auto">
          <a:xfrm flipH="1">
            <a:off x="3629792" y="2507391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108"/>
          <p:cNvSpPr txBox="1">
            <a:spLocks noChangeArrowheads="1"/>
          </p:cNvSpPr>
          <p:nvPr/>
        </p:nvSpPr>
        <p:spPr bwMode="auto">
          <a:xfrm>
            <a:off x="3781664" y="2830288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篡改</a:t>
            </a:r>
          </a:p>
        </p:txBody>
      </p:sp>
      <p:sp>
        <p:nvSpPr>
          <p:cNvPr id="44" name="Arc 109"/>
          <p:cNvSpPr/>
          <p:nvPr/>
        </p:nvSpPr>
        <p:spPr bwMode="auto">
          <a:xfrm flipH="1">
            <a:off x="5515182" y="2504655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110"/>
          <p:cNvSpPr txBox="1">
            <a:spLocks noChangeArrowheads="1"/>
          </p:cNvSpPr>
          <p:nvPr/>
        </p:nvSpPr>
        <p:spPr bwMode="auto">
          <a:xfrm>
            <a:off x="5667053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恶意</a:t>
            </a:r>
          </a:p>
          <a:p>
            <a:pPr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46" name="Oval 111"/>
          <p:cNvSpPr>
            <a:spLocks noChangeArrowheads="1"/>
          </p:cNvSpPr>
          <p:nvPr/>
        </p:nvSpPr>
        <p:spPr bwMode="auto">
          <a:xfrm>
            <a:off x="5372888" y="2848074"/>
            <a:ext cx="340684" cy="198391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112"/>
          <p:cNvSpPr>
            <a:spLocks noChangeArrowheads="1"/>
          </p:cNvSpPr>
          <p:nvPr/>
        </p:nvSpPr>
        <p:spPr bwMode="auto">
          <a:xfrm>
            <a:off x="6821820" y="2876807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Oval 113"/>
          <p:cNvSpPr>
            <a:spLocks noChangeArrowheads="1"/>
          </p:cNvSpPr>
          <p:nvPr/>
        </p:nvSpPr>
        <p:spPr bwMode="auto">
          <a:xfrm>
            <a:off x="7007896" y="2939745"/>
            <a:ext cx="339315" cy="186076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87"/>
          <p:cNvSpPr>
            <a:spLocks noChangeArrowheads="1"/>
          </p:cNvSpPr>
          <p:nvPr/>
        </p:nvSpPr>
        <p:spPr bwMode="auto">
          <a:xfrm>
            <a:off x="7193973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Oval 114"/>
          <p:cNvSpPr>
            <a:spLocks noChangeArrowheads="1"/>
          </p:cNvSpPr>
          <p:nvPr/>
        </p:nvSpPr>
        <p:spPr bwMode="auto">
          <a:xfrm>
            <a:off x="7442986" y="3001314"/>
            <a:ext cx="339315" cy="197022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115"/>
          <p:cNvSpPr>
            <a:spLocks noChangeShapeType="1"/>
          </p:cNvSpPr>
          <p:nvPr/>
        </p:nvSpPr>
        <p:spPr bwMode="auto">
          <a:xfrm flipV="1">
            <a:off x="7007896" y="2532019"/>
            <a:ext cx="875653" cy="34478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116"/>
          <p:cNvSpPr>
            <a:spLocks noChangeShapeType="1"/>
          </p:cNvSpPr>
          <p:nvPr/>
        </p:nvSpPr>
        <p:spPr bwMode="auto">
          <a:xfrm flipV="1">
            <a:off x="7239123" y="2577169"/>
            <a:ext cx="664949" cy="37078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117"/>
          <p:cNvSpPr>
            <a:spLocks noChangeShapeType="1"/>
          </p:cNvSpPr>
          <p:nvPr/>
        </p:nvSpPr>
        <p:spPr bwMode="auto">
          <a:xfrm flipV="1">
            <a:off x="7401208" y="2616848"/>
            <a:ext cx="542542" cy="38271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118"/>
          <p:cNvSpPr>
            <a:spLocks noChangeShapeType="1"/>
          </p:cNvSpPr>
          <p:nvPr/>
        </p:nvSpPr>
        <p:spPr bwMode="auto">
          <a:xfrm flipV="1">
            <a:off x="7672845" y="2605902"/>
            <a:ext cx="317424" cy="402253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744114" y="3285902"/>
            <a:ext cx="1947292" cy="438192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89"/>
          <p:cNvSpPr txBox="1">
            <a:spLocks noChangeArrowheads="1"/>
          </p:cNvSpPr>
          <p:nvPr/>
        </p:nvSpPr>
        <p:spPr bwMode="auto">
          <a:xfrm>
            <a:off x="1173450" y="3311897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  <p:sp>
        <p:nvSpPr>
          <p:cNvPr id="37" name="Line 101"/>
          <p:cNvSpPr>
            <a:spLocks noChangeShapeType="1"/>
          </p:cNvSpPr>
          <p:nvPr/>
        </p:nvSpPr>
        <p:spPr bwMode="auto">
          <a:xfrm>
            <a:off x="2693938" y="1867070"/>
            <a:ext cx="0" cy="1866235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102"/>
          <p:cNvSpPr>
            <a:spLocks noChangeShapeType="1"/>
          </p:cNvSpPr>
          <p:nvPr/>
        </p:nvSpPr>
        <p:spPr bwMode="auto">
          <a:xfrm>
            <a:off x="457522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103"/>
          <p:cNvSpPr>
            <a:spLocks noChangeShapeType="1"/>
          </p:cNvSpPr>
          <p:nvPr/>
        </p:nvSpPr>
        <p:spPr bwMode="auto">
          <a:xfrm>
            <a:off x="653586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733297" y="3285901"/>
            <a:ext cx="7667251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511896" y="616707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2020256" y="591243"/>
            <a:ext cx="5112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计算机网络面临的安全性威胁</a:t>
            </a:r>
          </a:p>
        </p:txBody>
      </p:sp>
      <p:sp>
        <p:nvSpPr>
          <p:cNvPr id="61" name="Rectangle 46"/>
          <p:cNvSpPr>
            <a:spLocks noChangeArrowheads="1"/>
          </p:cNvSpPr>
          <p:nvPr/>
        </p:nvSpPr>
        <p:spPr bwMode="auto">
          <a:xfrm>
            <a:off x="509475" y="1044020"/>
            <a:ext cx="8129015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两大类威胁：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主动攻击。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969257"/>
            <a:ext cx="8129015" cy="210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指攻击者从网络上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窃听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他人的通信内容。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通常把这类攻击称为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攻击者只是观察和分析某一个协议数据单元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，以便了解所交换的数据的某种性质，但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不干扰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信息流。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这种被动攻击又称为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流量分析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(traffic analysis)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3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68688" y="5821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9200"/>
            <a:ext cx="8312248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若从互联网上的成百上千的网站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一个网站，则称为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DDoS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(Distributed Denial of Service)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有时也把这种攻击称为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网络带宽攻击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连通性攻击。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7333"/>
            <a:ext cx="8133857" cy="341867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8212"/>
            <a:ext cx="2786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分布式拒绝服务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DDoS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1906"/>
            <a:ext cx="812063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对于主动攻击，可以采取适当措施加以检测。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对于被动攻击，通常是检测不出来的。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计算机网络通信安全的目标：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防止分析出报文内容和流量分析。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防止恶意程序。</a:t>
            </a:r>
          </a:p>
          <a:p>
            <a:pPr marL="799465" indent="-45720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检测更改报文流和拒绝服务。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对付被动攻击：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对付主动攻击：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75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43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计算机网络通信安全的目标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20206" y="2013193"/>
            <a:ext cx="4829155" cy="1903487"/>
          </a:xfrm>
          <a:prstGeom prst="borderCallout1">
            <a:avLst>
              <a:gd name="adj1" fmla="val 8120"/>
              <a:gd name="adj2" fmla="val -123"/>
              <a:gd name="adj3" fmla="val 8138"/>
              <a:gd name="adj4" fmla="val -28076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只有信息的发送方和接收方才能懂得所发送信息的内容。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是网络安全通信的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最基本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的内容，也是对付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必须具备的功能。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需要使用各种密码技术。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5" y="1036457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网络的安全性是不可判定的。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一个安全的计算机网络应达到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四个目标：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端点鉴别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信息的完整性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运行的安全性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2003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789697" y="594566"/>
            <a:ext cx="3573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安全的计算机网络</a:t>
            </a:r>
          </a:p>
        </p:txBody>
      </p:sp>
      <p:sp>
        <p:nvSpPr>
          <p:cNvPr id="3" name="线形标注 1 2"/>
          <p:cNvSpPr/>
          <p:nvPr/>
        </p:nvSpPr>
        <p:spPr>
          <a:xfrm>
            <a:off x="3612586" y="2337444"/>
            <a:ext cx="4829155" cy="859547"/>
          </a:xfrm>
          <a:prstGeom prst="borderCallout1">
            <a:avLst>
              <a:gd name="adj1" fmla="val 26737"/>
              <a:gd name="adj2" fmla="val 36"/>
              <a:gd name="adj3" fmla="val 26755"/>
              <a:gd name="adj4" fmla="val -2318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鉴别信息的发送方和接收方的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真实身份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285750" indent="-285750">
              <a:lnSpc>
                <a:spcPts val="28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在对付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主动攻击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中是非常重要的。</a:t>
            </a:r>
          </a:p>
        </p:txBody>
      </p:sp>
    </p:spTree>
    <p:extLst>
      <p:ext uri="{BB962C8B-B14F-4D97-AF65-F5344CB8AC3E}">
        <p14:creationId xmlns:p14="http://schemas.microsoft.com/office/powerpoint/2010/main" val="41372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53782"/>
            <a:ext cx="8312248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加密和解密用的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 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是一串秘密的字符串（即比特串）。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明文通过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17853" y="2160075"/>
            <a:ext cx="763106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接收端利用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解密算法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lang="en-US" altLang="zh-CN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解密算法是加密算法的逆运算。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68188" y="1665365"/>
            <a:ext cx="7180730" cy="461665"/>
            <a:chOff x="968188" y="1665365"/>
            <a:chExt cx="7180730" cy="461665"/>
          </a:xfrm>
        </p:grpSpPr>
        <p:sp>
          <p:nvSpPr>
            <p:cNvPr id="11" name="矩形 10"/>
            <p:cNvSpPr/>
            <p:nvPr/>
          </p:nvSpPr>
          <p:spPr>
            <a:xfrm>
              <a:off x="968188" y="1698751"/>
              <a:ext cx="71807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03406" y="1665365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7-1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3556642" y="1665365"/>
              <a:ext cx="1345240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/>
                <a:t>Y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E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(X) </a:t>
              </a:r>
              <a:endParaRPr lang="zh-CN" altLang="en-US" sz="2400" b="1" i="1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093" y="2870099"/>
            <a:ext cx="7173330" cy="461665"/>
            <a:chOff x="976093" y="2870099"/>
            <a:chExt cx="7173330" cy="461665"/>
          </a:xfrm>
        </p:grpSpPr>
        <p:sp>
          <p:nvSpPr>
            <p:cNvPr id="19" name="矩形 18"/>
            <p:cNvSpPr/>
            <p:nvPr/>
          </p:nvSpPr>
          <p:spPr>
            <a:xfrm>
              <a:off x="976093" y="2903485"/>
              <a:ext cx="71733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406" y="2870099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7-2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820062" y="2870099"/>
              <a:ext cx="281839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/>
                <a:t>D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(Y)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D</a:t>
              </a:r>
              <a:r>
                <a:rPr lang="en-US" altLang="zh-CN" sz="2400" b="1" baseline="-25000" dirty="0"/>
                <a:t>K</a:t>
              </a:r>
              <a:r>
                <a:rPr lang="en-US" altLang="zh-CN" sz="2400" b="1" i="1" dirty="0"/>
                <a:t>(E</a:t>
              </a:r>
              <a:r>
                <a:rPr lang="en-US" altLang="zh-CN" sz="2400" b="1" i="1" baseline="-25000" dirty="0"/>
                <a:t>K</a:t>
              </a:r>
              <a:r>
                <a:rPr lang="en-US" altLang="zh-CN" sz="2400" b="1" i="1" dirty="0"/>
                <a:t>(X))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/>
                <a:t>X </a:t>
              </a:r>
              <a:endParaRPr lang="zh-CN" altLang="en-US" sz="2400" b="1" i="1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968188" y="3444198"/>
            <a:ext cx="7180730" cy="1092607"/>
          </a:xfrm>
          <a:prstGeom prst="rect">
            <a:avLst/>
          </a:prstGeom>
          <a:solidFill>
            <a:srgbClr val="0066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加密密钥和解密密钥可以一样，也可以不一样。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密钥通常由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密钥中心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提供。</a:t>
            </a:r>
          </a:p>
          <a:p>
            <a:pPr marL="285750" indent="-285750">
              <a:lnSpc>
                <a:spcPts val="2600"/>
              </a:lnSpc>
              <a:buClr>
                <a:srgbClr val="FFFF66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当密钥需要向远地传送时，一定要通过另一个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安全信道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509475" y="61502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231228" y="58181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6134"/>
            <a:ext cx="831224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密码编码学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(cryptography)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：密码体制的设计学。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密码分析学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(cryptanalysis)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：在未知密钥的情况下从密文推演出明文或密钥的技术。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密码编码学与密码分析学合起来即为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(cryptology)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8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718267" y="588615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一些重要概念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83949"/>
            <a:ext cx="831224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如果不论截取者获得了多少密文，但在密文中都没有足够的信息来唯一地确定出对应的明文，则这一密码体制称为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理论上是不可破的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如果密码体制中的密码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被可使用的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计算资源破译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，则这一密码体制称为在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计算上是安全的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09475" y="61961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718267" y="586408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一些重要概念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3294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3937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3684702" y="119847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8077" y="1298403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			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				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87234" y="133294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696123" y="142787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两类密码体制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684702" y="2306597"/>
            <a:ext cx="0" cy="13694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utoShape 12"/>
          <p:cNvSpPr>
            <a:spLocks noChangeArrowheads="1"/>
          </p:cNvSpPr>
          <p:nvPr/>
        </p:nvSpPr>
        <p:spPr bwMode="auto">
          <a:xfrm>
            <a:off x="511896" y="61659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Rectangle 13"/>
          <p:cNvSpPr>
            <a:spLocks noChangeArrowheads="1"/>
          </p:cNvSpPr>
          <p:nvPr/>
        </p:nvSpPr>
        <p:spPr bwMode="auto">
          <a:xfrm>
            <a:off x="2698326" y="591131"/>
            <a:ext cx="37561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 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5534" y="1553941"/>
            <a:ext cx="8129015" cy="24035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499643" y="3124731"/>
            <a:ext cx="1843101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7"/>
          <p:cNvGrpSpPr/>
          <p:nvPr/>
        </p:nvGrpSpPr>
        <p:grpSpPr bwMode="auto">
          <a:xfrm>
            <a:off x="3608860" y="2611444"/>
            <a:ext cx="1884855" cy="1171395"/>
            <a:chOff x="2248" y="820"/>
            <a:chExt cx="2248" cy="883"/>
          </a:xfrm>
        </p:grpSpPr>
        <p:grpSp>
          <p:nvGrpSpPr>
            <p:cNvPr id="86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6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1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1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3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37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1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2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3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4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5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38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39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0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4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5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6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2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2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5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6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7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8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9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3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1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2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2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4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3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89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Rectangle 46"/>
          <p:cNvSpPr>
            <a:spLocks noChangeArrowheads="1"/>
          </p:cNvSpPr>
          <p:nvPr/>
        </p:nvSpPr>
        <p:spPr bwMode="auto">
          <a:xfrm>
            <a:off x="509474" y="1041703"/>
            <a:ext cx="8246820" cy="44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的密码体制。</a:t>
            </a: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479678" y="3115423"/>
            <a:ext cx="116623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7497672" y="302367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Freeform 51"/>
          <p:cNvSpPr/>
          <p:nvPr/>
        </p:nvSpPr>
        <p:spPr bwMode="auto">
          <a:xfrm>
            <a:off x="1422488" y="2747069"/>
            <a:ext cx="292556" cy="38032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2"/>
          <p:cNvSpPr/>
          <p:nvPr/>
        </p:nvSpPr>
        <p:spPr bwMode="auto">
          <a:xfrm flipH="1" flipV="1">
            <a:off x="2180474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34"/>
          <p:cNvSpPr/>
          <p:nvPr/>
        </p:nvSpPr>
        <p:spPr bwMode="auto">
          <a:xfrm flipH="1" flipV="1">
            <a:off x="6797535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0"/>
          <p:cNvSpPr/>
          <p:nvPr/>
        </p:nvSpPr>
        <p:spPr bwMode="auto">
          <a:xfrm rot="16200000">
            <a:off x="7491690" y="2792282"/>
            <a:ext cx="183512" cy="48138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5438482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55303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kumimoji="1" lang="en-US" altLang="zh-CN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15" name="Text Box 55"/>
          <p:cNvSpPr txBox="1">
            <a:spLocks noChangeArrowheads="1"/>
          </p:cNvSpPr>
          <p:nvPr/>
        </p:nvSpPr>
        <p:spPr bwMode="auto">
          <a:xfrm>
            <a:off x="755303" y="3115423"/>
            <a:ext cx="87064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2788191" y="2788293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17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56258" y="1909428"/>
            <a:ext cx="621304" cy="3279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Box 70"/>
          <p:cNvSpPr txBox="1">
            <a:spLocks noChangeArrowheads="1"/>
          </p:cNvSpPr>
          <p:nvPr/>
        </p:nvSpPr>
        <p:spPr bwMode="auto">
          <a:xfrm>
            <a:off x="890566" y="2344142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8024279" y="2336827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48" name="Rectangle 102"/>
          <p:cNvSpPr>
            <a:spLocks noChangeArrowheads="1"/>
          </p:cNvSpPr>
          <p:nvPr/>
        </p:nvSpPr>
        <p:spPr bwMode="auto">
          <a:xfrm>
            <a:off x="1715044" y="2825527"/>
            <a:ext cx="1069158" cy="599739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49" name="Rectangle 103"/>
          <p:cNvSpPr>
            <a:spLocks noChangeArrowheads="1"/>
          </p:cNvSpPr>
          <p:nvPr/>
        </p:nvSpPr>
        <p:spPr bwMode="auto">
          <a:xfrm>
            <a:off x="6342744" y="2825527"/>
            <a:ext cx="1070488" cy="599739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77" name="Text Box 131"/>
          <p:cNvSpPr txBox="1">
            <a:spLocks noChangeArrowheads="1"/>
          </p:cNvSpPr>
          <p:nvPr/>
        </p:nvSpPr>
        <p:spPr bwMode="auto">
          <a:xfrm>
            <a:off x="4133158" y="2937744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8" name="Text Box 132"/>
          <p:cNvSpPr txBox="1">
            <a:spLocks noChangeArrowheads="1"/>
          </p:cNvSpPr>
          <p:nvPr/>
        </p:nvSpPr>
        <p:spPr bwMode="auto">
          <a:xfrm>
            <a:off x="6945815" y="1762727"/>
            <a:ext cx="1337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kumimoji="1" lang="en-US" altLang="zh-CN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pic>
        <p:nvPicPr>
          <p:cNvPr id="79" name="Picture 13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6458385" y="1910574"/>
            <a:ext cx="621305" cy="3256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0" name="组合 79"/>
          <p:cNvGrpSpPr/>
          <p:nvPr/>
        </p:nvGrpSpPr>
        <p:grpSpPr>
          <a:xfrm>
            <a:off x="2586208" y="1876068"/>
            <a:ext cx="3959703" cy="461665"/>
            <a:chOff x="2674219" y="3348281"/>
            <a:chExt cx="4727052" cy="551131"/>
          </a:xfrm>
        </p:grpSpPr>
        <p:sp>
          <p:nvSpPr>
            <p:cNvPr id="81" name="TextBox 80"/>
            <p:cNvSpPr txBox="1"/>
            <p:nvPr/>
          </p:nvSpPr>
          <p:spPr>
            <a:xfrm>
              <a:off x="4180954" y="3348281"/>
              <a:ext cx="1690134" cy="55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相同密钥</a:t>
              </a:r>
            </a:p>
          </p:txBody>
        </p:sp>
        <p:sp>
          <p:nvSpPr>
            <p:cNvPr id="82" name="左箭头 81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左箭头 82"/>
            <p:cNvSpPr/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99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74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55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428124" y="584622"/>
            <a:ext cx="23038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数据加密标准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6724"/>
            <a:ext cx="849447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分组密码。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在加密前，先对整个明文进行分组。每一个组长为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然后对每一个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 二进制数据进行加密处理，产生一组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位密文  数据。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最后将各组密文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起来，即得出整个的密文。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使用的密钥为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位（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实际密钥长度为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位用于奇偶校验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仅取决于对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密钥的保密，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其算法是公开的。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严重问题：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密钥长度较短。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现在已经设计出搜索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密钥的专用芯片。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已不再认为是安全的了。 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78544" y="589121"/>
            <a:ext cx="17908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的保密性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3" y="979500"/>
            <a:ext cx="8312248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位的密钥。</a:t>
            </a:r>
          </a:p>
          <a:p>
            <a:pPr marL="342900" indent="-342900" eaLnBrk="0" hangingPunct="0">
              <a:lnSpc>
                <a:spcPts val="27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把一个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位明文用一个密钥加密，再用另一个密钥解密，然后再使用第一个密钥加密，即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17852" y="2635168"/>
            <a:ext cx="8133857" cy="170647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Group 4"/>
          <p:cNvGrpSpPr/>
          <p:nvPr/>
        </p:nvGrpSpPr>
        <p:grpSpPr bwMode="auto">
          <a:xfrm>
            <a:off x="772980" y="2788479"/>
            <a:ext cx="3365696" cy="1476619"/>
            <a:chOff x="1450" y="1026"/>
            <a:chExt cx="2448" cy="1074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rot="5400000">
              <a:off x="1884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rot="5400000">
              <a:off x="2526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rot="5400000">
              <a:off x="3168" y="1397"/>
              <a:ext cx="22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1450" y="1349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2397" y="1831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</p:grpSp>
      <p:grpSp>
        <p:nvGrpSpPr>
          <p:cNvPr id="27" name="Group 21"/>
          <p:cNvGrpSpPr/>
          <p:nvPr/>
        </p:nvGrpSpPr>
        <p:grpSpPr bwMode="auto">
          <a:xfrm>
            <a:off x="4937586" y="2788489"/>
            <a:ext cx="3379444" cy="1476620"/>
            <a:chOff x="1402" y="2387"/>
            <a:chExt cx="2458" cy="1074"/>
          </a:xfrm>
        </p:grpSpPr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9"/>
            <p:cNvSpPr/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0"/>
            <p:cNvSpPr/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3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1402" y="2710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2359" y="3192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  <p:sp>
          <p:nvSpPr>
            <p:cNvPr id="43" name="Freeform 37"/>
            <p:cNvSpPr/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59224" y="2079248"/>
            <a:ext cx="7123481" cy="476295"/>
            <a:chOff x="959224" y="2079248"/>
            <a:chExt cx="7123481" cy="476295"/>
          </a:xfrm>
        </p:grpSpPr>
        <p:sp>
          <p:nvSpPr>
            <p:cNvPr id="5" name="矩形 4"/>
            <p:cNvSpPr/>
            <p:nvPr/>
          </p:nvSpPr>
          <p:spPr>
            <a:xfrm>
              <a:off x="959224" y="2113066"/>
              <a:ext cx="7123481" cy="442477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72254" y="2079248"/>
              <a:ext cx="36525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zh-CN" sz="2400" b="1" i="1" dirty="0">
                  <a:ea typeface="黑体" panose="02010609060101010101" pitchFamily="2" charset="-122"/>
                </a:rPr>
                <a:t>Y</a:t>
              </a:r>
              <a:r>
                <a:rPr lang="en-GB" altLang="zh-CN" sz="2400" b="1" dirty="0">
                  <a:ea typeface="黑体" panose="02010609060101010101" pitchFamily="2" charset="-122"/>
                </a:rPr>
                <a:t> = DES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ea typeface="黑体" panose="02010609060101010101" pitchFamily="2" charset="-122"/>
                </a:rPr>
                <a:t>(DES</a:t>
              </a:r>
              <a:r>
                <a:rPr lang="en-GB" altLang="zh-CN" sz="2400" b="1" baseline="30000" dirty="0">
                  <a:ea typeface="黑体" panose="02010609060101010101" pitchFamily="2" charset="-122"/>
                </a:rPr>
                <a:t>-1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2</a:t>
              </a:r>
              <a:r>
                <a:rPr lang="en-GB" altLang="zh-CN" sz="2400" b="1" dirty="0">
                  <a:ea typeface="黑体" panose="02010609060101010101" pitchFamily="2" charset="-122"/>
                </a:rPr>
                <a:t>(DES</a:t>
              </a:r>
              <a:r>
                <a:rPr lang="en-GB" altLang="zh-CN" sz="2400" b="1" i="1" baseline="-25000" dirty="0"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ea typeface="黑体" panose="02010609060101010101" pitchFamily="2" charset="-122"/>
                </a:rPr>
                <a:t>(</a:t>
              </a:r>
              <a:r>
                <a:rPr lang="en-GB" altLang="zh-CN" sz="2400" b="1" i="1" dirty="0">
                  <a:ea typeface="黑体" panose="02010609060101010101" pitchFamily="2" charset="-122"/>
                </a:rPr>
                <a:t>X</a:t>
              </a:r>
              <a:r>
                <a:rPr lang="en-GB" altLang="zh-CN" sz="2400" b="1" dirty="0">
                  <a:ea typeface="黑体" panose="02010609060101010101" pitchFamily="2" charset="-122"/>
                </a:rPr>
                <a:t>)))</a:t>
              </a:r>
              <a:endParaRPr lang="zh-CN" altLang="en-US" sz="2400" b="1" dirty="0">
                <a:ea typeface="黑体" panose="0201060906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804791" y="2093878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lt"/>
                  <a:ea typeface="+mn-ea"/>
                </a:rPr>
                <a:t>（</a:t>
              </a:r>
              <a:r>
                <a:rPr lang="en-US" altLang="zh-CN" sz="2400" b="1" dirty="0">
                  <a:latin typeface="+mn-lt"/>
                  <a:ea typeface="+mn-ea"/>
                </a:rPr>
                <a:t>7-3</a:t>
              </a:r>
              <a:r>
                <a:rPr lang="zh-CN" altLang="en-US" sz="2400" b="1" dirty="0">
                  <a:latin typeface="+mn-lt"/>
                  <a:ea typeface="+mn-ea"/>
                </a:rPr>
                <a:t>） </a:t>
              </a:r>
            </a:p>
          </p:txBody>
        </p:sp>
      </p:grpSp>
      <p:sp>
        <p:nvSpPr>
          <p:cNvPr id="4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3935024" y="589681"/>
            <a:ext cx="12779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74903"/>
            <a:ext cx="813385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年成为美国政府加密标准。现在是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ISO/IEC 18033-3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高级加密标准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Advanced Encryption Standard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）是一种分组密码，分组长度为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有三种加密标准，其密钥分别为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加密步骤复杂，运算速度比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3DES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快得多，安全性也大大加强。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78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7674" y="589121"/>
            <a:ext cx="22926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高级加密标准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6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529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97474" y="589835"/>
            <a:ext cx="29578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09474" y="1046197"/>
            <a:ext cx="8246820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这种加密体制又称为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非对称密钥密码体制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公钥密码体制产生的主要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对称密钥密码体制的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密钥分配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</a:t>
            </a:r>
          </a:p>
          <a:p>
            <a:pPr marL="799465" indent="-4572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典型：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体制，一种基于数论中的大数分解问题的体制。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utoShape 5"/>
          <p:cNvSpPr>
            <a:spLocks noChangeArrowheads="1"/>
          </p:cNvSpPr>
          <p:nvPr/>
        </p:nvSpPr>
        <p:spPr bwMode="auto">
          <a:xfrm>
            <a:off x="509475" y="62036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Rectangle 6"/>
          <p:cNvSpPr>
            <a:spLocks noChangeArrowheads="1"/>
          </p:cNvSpPr>
          <p:nvPr/>
        </p:nvSpPr>
        <p:spPr bwMode="auto">
          <a:xfrm>
            <a:off x="3712208" y="587154"/>
            <a:ext cx="17235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公钥密码体制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17852" y="1088821"/>
            <a:ext cx="8133857" cy="32484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498304" y="1885250"/>
            <a:ext cx="3993860" cy="461665"/>
            <a:chOff x="2674219" y="3390679"/>
            <a:chExt cx="4653925" cy="537966"/>
          </a:xfrm>
        </p:grpSpPr>
        <p:sp>
          <p:nvSpPr>
            <p:cNvPr id="6" name="TextBox 5"/>
            <p:cNvSpPr txBox="1"/>
            <p:nvPr/>
          </p:nvSpPr>
          <p:spPr>
            <a:xfrm>
              <a:off x="4154408" y="3390679"/>
              <a:ext cx="1649758" cy="537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不同密钥</a:t>
              </a:r>
            </a:p>
          </p:txBody>
        </p:sp>
        <p:sp>
          <p:nvSpPr>
            <p:cNvPr id="7" name="左箭头 6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左箭头 7"/>
            <p:cNvSpPr/>
            <p:nvPr/>
          </p:nvSpPr>
          <p:spPr bwMode="auto">
            <a:xfrm flipH="1">
              <a:off x="5985467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Line 52"/>
          <p:cNvSpPr>
            <a:spLocks noChangeShapeType="1"/>
          </p:cNvSpPr>
          <p:nvPr/>
        </p:nvSpPr>
        <p:spPr bwMode="auto">
          <a:xfrm>
            <a:off x="2389167" y="3430887"/>
            <a:ext cx="1194777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53"/>
          <p:cNvSpPr>
            <a:spLocks noChangeShapeType="1"/>
          </p:cNvSpPr>
          <p:nvPr/>
        </p:nvSpPr>
        <p:spPr bwMode="auto">
          <a:xfrm>
            <a:off x="4458569" y="3440423"/>
            <a:ext cx="188821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7624932" y="3441996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Freeform 51"/>
          <p:cNvSpPr/>
          <p:nvPr/>
        </p:nvSpPr>
        <p:spPr bwMode="auto">
          <a:xfrm>
            <a:off x="1182513" y="3053517"/>
            <a:ext cx="423306" cy="389631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72"/>
          <p:cNvSpPr/>
          <p:nvPr/>
        </p:nvSpPr>
        <p:spPr bwMode="auto">
          <a:xfrm flipH="1" flipV="1">
            <a:off x="2082638" y="2397291"/>
            <a:ext cx="68117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34"/>
          <p:cNvSpPr/>
          <p:nvPr/>
        </p:nvSpPr>
        <p:spPr bwMode="auto">
          <a:xfrm flipV="1">
            <a:off x="6880817" y="2397291"/>
            <a:ext cx="39235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50"/>
          <p:cNvSpPr/>
          <p:nvPr/>
        </p:nvSpPr>
        <p:spPr bwMode="auto">
          <a:xfrm rot="16200000">
            <a:off x="7523844" y="3099836"/>
            <a:ext cx="188004" cy="493169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5470416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18" name="Text Box 54"/>
          <p:cNvSpPr txBox="1">
            <a:spLocks noChangeArrowheads="1"/>
          </p:cNvSpPr>
          <p:nvPr/>
        </p:nvSpPr>
        <p:spPr bwMode="auto">
          <a:xfrm>
            <a:off x="1511923" y="1312506"/>
            <a:ext cx="1433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9" name="Text Box 55"/>
          <p:cNvSpPr txBox="1">
            <a:spLocks noChangeArrowheads="1"/>
          </p:cNvSpPr>
          <p:nvPr/>
        </p:nvSpPr>
        <p:spPr bwMode="auto">
          <a:xfrm>
            <a:off x="586779" y="3430887"/>
            <a:ext cx="891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2755264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21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866629" y="1883045"/>
            <a:ext cx="636511" cy="33593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Box 70"/>
          <p:cNvSpPr txBox="1">
            <a:spLocks noChangeArrowheads="1"/>
          </p:cNvSpPr>
          <p:nvPr/>
        </p:nvSpPr>
        <p:spPr bwMode="auto">
          <a:xfrm>
            <a:off x="659876" y="2662316"/>
            <a:ext cx="349163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8054300" y="2625741"/>
            <a:ext cx="335937" cy="3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26" name="Rectangle 102"/>
          <p:cNvSpPr>
            <a:spLocks noChangeArrowheads="1"/>
          </p:cNvSpPr>
          <p:nvPr/>
        </p:nvSpPr>
        <p:spPr bwMode="auto">
          <a:xfrm>
            <a:off x="1605819" y="3133895"/>
            <a:ext cx="1095325" cy="614417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27" name="Rectangle 103"/>
          <p:cNvSpPr>
            <a:spLocks noChangeArrowheads="1"/>
          </p:cNvSpPr>
          <p:nvPr/>
        </p:nvSpPr>
        <p:spPr bwMode="auto">
          <a:xfrm>
            <a:off x="6346779" y="3133895"/>
            <a:ext cx="1096687" cy="614417"/>
          </a:xfrm>
          <a:prstGeom prst="rect">
            <a:avLst/>
          </a:prstGeom>
          <a:solidFill>
            <a:srgbClr val="009900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31" name="Text Box 132"/>
          <p:cNvSpPr txBox="1">
            <a:spLocks noChangeArrowheads="1"/>
          </p:cNvSpPr>
          <p:nvPr/>
        </p:nvSpPr>
        <p:spPr bwMode="auto">
          <a:xfrm>
            <a:off x="6915587" y="252734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endParaRPr kumimoji="1" lang="en-US" altLang="zh-CN" sz="1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6170163" y="1312506"/>
            <a:ext cx="14221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Text Box 132"/>
          <p:cNvSpPr txBox="1">
            <a:spLocks noChangeArrowheads="1"/>
          </p:cNvSpPr>
          <p:nvPr/>
        </p:nvSpPr>
        <p:spPr bwMode="auto">
          <a:xfrm>
            <a:off x="1569984" y="254483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endParaRPr kumimoji="1" lang="en-US" altLang="zh-CN" sz="1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58" y="2723829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28" y="2693220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Group 107"/>
          <p:cNvGrpSpPr/>
          <p:nvPr/>
        </p:nvGrpSpPr>
        <p:grpSpPr bwMode="auto">
          <a:xfrm>
            <a:off x="3568554" y="2928454"/>
            <a:ext cx="1884855" cy="1171395"/>
            <a:chOff x="2248" y="820"/>
            <a:chExt cx="2248" cy="883"/>
          </a:xfrm>
        </p:grpSpPr>
        <p:grpSp>
          <p:nvGrpSpPr>
            <p:cNvPr id="9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4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4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3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3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3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2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9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9" name="Text Box 131"/>
          <p:cNvSpPr txBox="1">
            <a:spLocks noChangeArrowheads="1"/>
          </p:cNvSpPr>
          <p:nvPr/>
        </p:nvSpPr>
        <p:spPr bwMode="auto">
          <a:xfrm>
            <a:off x="4044475" y="3264384"/>
            <a:ext cx="904650" cy="380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pic>
        <p:nvPicPr>
          <p:cNvPr id="152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6638" y="1865115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513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289015" y="581922"/>
            <a:ext cx="25699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加密密钥与解密密钥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81021"/>
            <a:ext cx="813385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，即公钥）：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secret key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，即私钥或秘钥）：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需要保密。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和解密算法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虽然私钥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是由公钥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决定的，但却不能根据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计算出</a:t>
            </a:r>
            <a:r>
              <a:rPr lang="zh-CN" altLang="en-US" sz="20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密钥对产生器产生出接收者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一对密钥：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解密密钥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，向公众公开。</a:t>
            </a: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解密密钥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，对其他任何人都保密。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对明文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运算），然后发送给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运算），即可恢复出明文：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43274" y="4003436"/>
            <a:ext cx="7189695" cy="406687"/>
            <a:chOff x="943274" y="4111016"/>
            <a:chExt cx="7189695" cy="406687"/>
          </a:xfrm>
        </p:grpSpPr>
        <p:sp>
          <p:nvSpPr>
            <p:cNvPr id="5" name="矩形 4"/>
            <p:cNvSpPr/>
            <p:nvPr/>
          </p:nvSpPr>
          <p:spPr>
            <a:xfrm>
              <a:off x="943274" y="4111016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4117593"/>
              <a:ext cx="109677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7-4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0133319"/>
                </p:ext>
              </p:extLst>
            </p:nvPr>
          </p:nvGraphicFramePr>
          <p:xfrm>
            <a:off x="2827020" y="4133480"/>
            <a:ext cx="264414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2" name="公式" r:id="rId4" imgW="1917360" imgH="241200" progId="Equation.3">
                    <p:embed/>
                  </p:oleObj>
                </mc:Choice>
                <mc:Fallback>
                  <p:oleObj name="公式" r:id="rId4" imgW="1917360" imgH="241200" progId="Equation.3">
                    <p:embed/>
                    <p:pic>
                      <p:nvPicPr>
                        <p:cNvPr id="0" name="Picture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020" y="4133480"/>
                          <a:ext cx="264414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932329" y="3163634"/>
            <a:ext cx="7189695" cy="415925"/>
            <a:chOff x="932329" y="3163634"/>
            <a:chExt cx="7189695" cy="415925"/>
          </a:xfrm>
        </p:grpSpPr>
        <p:sp>
          <p:nvSpPr>
            <p:cNvPr id="12" name="矩形 11"/>
            <p:cNvSpPr/>
            <p:nvPr/>
          </p:nvSpPr>
          <p:spPr>
            <a:xfrm>
              <a:off x="932329" y="3167060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3163634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7-3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375280"/>
                </p:ext>
              </p:extLst>
            </p:nvPr>
          </p:nvGraphicFramePr>
          <p:xfrm>
            <a:off x="2920946" y="3180923"/>
            <a:ext cx="1363755" cy="398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3" name="公式" r:id="rId6" imgW="825480" imgH="241200" progId="Equation.3">
                    <p:embed/>
                  </p:oleObj>
                </mc:Choice>
                <mc:Fallback>
                  <p:oleObj name="公式" r:id="rId6" imgW="825480" imgH="241200" progId="Equation.3">
                    <p:embed/>
                    <p:pic>
                      <p:nvPicPr>
                        <p:cNvPr id="0" name="Picture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0946" y="3180923"/>
                          <a:ext cx="1363755" cy="3986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2055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45496" y="587346"/>
            <a:ext cx="20569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公钥算法的特点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9141"/>
            <a:ext cx="8120638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从已知的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不可能推导出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计算上不可能的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加密密钥是公开的，但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不能用来解密，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加密和解密运算可以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对调，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即加密和解密是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的：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2329" y="2306256"/>
            <a:ext cx="7189695" cy="406960"/>
            <a:chOff x="932329" y="2288326"/>
            <a:chExt cx="7189695" cy="406960"/>
          </a:xfrm>
        </p:grpSpPr>
        <p:sp>
          <p:nvSpPr>
            <p:cNvPr id="12" name="矩形 11"/>
            <p:cNvSpPr/>
            <p:nvPr/>
          </p:nvSpPr>
          <p:spPr>
            <a:xfrm>
              <a:off x="932329" y="2291752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560565" y="2288326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7-5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291625"/>
                </p:ext>
              </p:extLst>
            </p:nvPr>
          </p:nvGraphicFramePr>
          <p:xfrm>
            <a:off x="2705100" y="2306170"/>
            <a:ext cx="1981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6" name="公式" r:id="rId4" imgW="1269720" imgH="241200" progId="Equation.3">
                    <p:embed/>
                  </p:oleObj>
                </mc:Choice>
                <mc:Fallback>
                  <p:oleObj name="公式" r:id="rId4" imgW="1269720" imgH="241200" progId="Equation.3">
                    <p:embed/>
                    <p:pic>
                      <p:nvPicPr>
                        <p:cNvPr id="0" name="Picture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100" y="2306170"/>
                          <a:ext cx="198120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943274" y="3180349"/>
            <a:ext cx="7189695" cy="409448"/>
            <a:chOff x="943274" y="3171384"/>
            <a:chExt cx="7189695" cy="409448"/>
          </a:xfrm>
        </p:grpSpPr>
        <p:sp>
          <p:nvSpPr>
            <p:cNvPr id="5" name="矩形 4"/>
            <p:cNvSpPr/>
            <p:nvPr/>
          </p:nvSpPr>
          <p:spPr>
            <a:xfrm>
              <a:off x="943274" y="3171384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542635" y="3177961"/>
              <a:ext cx="1096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+mn-lt"/>
                  <a:ea typeface="+mn-ea"/>
                </a:rPr>
                <a:t>（</a:t>
              </a:r>
              <a:r>
                <a:rPr lang="en-US" altLang="zh-CN" sz="2000" b="1" dirty="0">
                  <a:latin typeface="+mn-lt"/>
                  <a:ea typeface="+mn-ea"/>
                </a:rPr>
                <a:t>7-6</a:t>
              </a:r>
              <a:r>
                <a:rPr lang="zh-CN" altLang="en-US" sz="2000" b="1" dirty="0">
                  <a:latin typeface="+mn-lt"/>
                  <a:ea typeface="+mn-ea"/>
                </a:rPr>
                <a:t>） 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527294"/>
                </p:ext>
              </p:extLst>
            </p:nvPr>
          </p:nvGraphicFramePr>
          <p:xfrm>
            <a:off x="2514600" y="3183650"/>
            <a:ext cx="3522514" cy="397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7" name="公式" r:id="rId6" imgW="2311200" imgH="241200" progId="Equation.3">
                    <p:embed/>
                  </p:oleObj>
                </mc:Choice>
                <mc:Fallback>
                  <p:oleObj name="公式" r:id="rId6" imgW="2311200" imgH="241200" progId="Equation.3">
                    <p:embed/>
                    <p:pic>
                      <p:nvPicPr>
                        <p:cNvPr id="0" name="Picture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3183650"/>
                          <a:ext cx="3522514" cy="397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201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138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2766" y="588172"/>
            <a:ext cx="32624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公开密钥与对称密钥的区别</a:t>
            </a:r>
          </a:p>
        </p:txBody>
      </p:sp>
      <p:sp>
        <p:nvSpPr>
          <p:cNvPr id="90" name="Rectangle 46"/>
          <p:cNvSpPr>
            <a:spLocks noChangeArrowheads="1"/>
          </p:cNvSpPr>
          <p:nvPr/>
        </p:nvSpPr>
        <p:spPr bwMode="auto">
          <a:xfrm>
            <a:off x="517852" y="989205"/>
            <a:ext cx="813385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使用对称密钥：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在通信信道上可以进行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这种保密通信仅限于持有此密钥的双方。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使用公开密钥：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在通信信道上可以是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多对一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例如：很多顾客都向同一个网站发送各自的信用卡信息。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207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186696" y="587543"/>
            <a:ext cx="7745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7852" y="984504"/>
            <a:ext cx="8133858" cy="1740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公钥加密算法的开销较大，不会使传统密码体制被弃用。</a:t>
            </a:r>
          </a:p>
        </p:txBody>
      </p:sp>
      <p:sp>
        <p:nvSpPr>
          <p:cNvPr id="2" name="矩形 1"/>
          <p:cNvSpPr/>
          <p:nvPr/>
        </p:nvSpPr>
        <p:spPr>
          <a:xfrm>
            <a:off x="971550" y="1175420"/>
            <a:ext cx="7166610" cy="8266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任何加密方法的安全性取决于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密钥的长度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以及攻破密文所需的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计算量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2871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893578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748077" y="1252609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</a:t>
            </a: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687234" y="1287153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696123" y="1382085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3684702" y="116093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1896" y="1023789"/>
            <a:ext cx="812901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(authentication)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是网络安全中一个很重要的问题。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鉴别包括：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359564" y="597457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 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266" y="1899751"/>
            <a:ext cx="6741460" cy="2396118"/>
            <a:chOff x="1532964" y="1926643"/>
            <a:chExt cx="6741460" cy="2396118"/>
          </a:xfrm>
        </p:grpSpPr>
        <p:graphicFrame>
          <p:nvGraphicFramePr>
            <p:cNvPr id="3" name="图示 2"/>
            <p:cNvGraphicFramePr/>
            <p:nvPr>
              <p:extLst>
                <p:ext uri="{D42A27DB-BD31-4B8C-83A1-F6EECF244321}">
                  <p14:modId xmlns:p14="http://schemas.microsoft.com/office/powerpoint/2010/main" val="3085255408"/>
                </p:ext>
              </p:extLst>
            </p:nvPr>
          </p:nvGraphicFramePr>
          <p:xfrm>
            <a:off x="1532964" y="1926643"/>
            <a:ext cx="6741460" cy="20088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4" name="矩形 3"/>
            <p:cNvSpPr/>
            <p:nvPr/>
          </p:nvSpPr>
          <p:spPr>
            <a:xfrm>
              <a:off x="1532964" y="3953429"/>
              <a:ext cx="6741460" cy="369332"/>
            </a:xfrm>
            <a:prstGeom prst="rect">
              <a:avLst/>
            </a:prstGeom>
            <a:solidFill>
              <a:srgbClr val="66CC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报文鉴别通常包含：鉴别报文的发送者，鉴别报文的完整性。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4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11896" y="6229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359564" y="597457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 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935150571"/>
              </p:ext>
            </p:extLst>
          </p:nvPr>
        </p:nvGraphicFramePr>
        <p:xfrm>
          <a:off x="1205674" y="1182572"/>
          <a:ext cx="6741460" cy="251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3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鉴别发送者：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用其私钥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对报文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得到的密文。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为了核实签名，用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，还原出明文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37473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鉴别报文：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由于无法得到并使用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对报文 </a:t>
            </a:r>
            <a:r>
              <a:rPr lang="en-US" altLang="zh-CN" sz="1400" b="1" i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对收到的报文进行核实签名的 </a:t>
            </a:r>
            <a:r>
              <a:rPr lang="en-US" altLang="zh-CN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将会得出不可读的明文，可以发现报文已被篡改过。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3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83208" y="1051300"/>
                <a:ext cx="3363006" cy="137473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不可否认：</a:t>
                </a:r>
                <a:endPara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要抵赖曾发送报文给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可把 </a:t>
                </a:r>
                <a:r>
                  <a:rPr lang="en-US" altLang="zh-CN" sz="1400" b="1" i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𝐒𝐊</m:t>
                            </m:r>
                          </m:e>
                          <m:sub>
                            <m:r>
                              <a:rPr lang="en-US" altLang="zh-CN" sz="1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出示给进行公证的第三者。第三者很容易用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</a:t>
                </a:r>
                <a:r>
                  <a:rPr lang="en-US" altLang="zh-CN" sz="1400" b="1" baseline="-25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去证实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确实发送 </a:t>
                </a:r>
                <a:r>
                  <a:rPr lang="en-US" altLang="zh-CN" sz="1400" b="1" i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  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 </a:t>
                </a:r>
                <a:r>
                  <a:rPr lang="en-US" altLang="zh-CN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208" y="1051300"/>
                <a:ext cx="3363006" cy="1374735"/>
              </a:xfrm>
              <a:prstGeom prst="rect">
                <a:avLst/>
              </a:prstGeom>
              <a:blipFill>
                <a:blip r:embed="rId5"/>
                <a:stretch>
                  <a:fillRect l="-361" r="-4332"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73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59836" y="588442"/>
            <a:ext cx="3828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用数字签名进行鉴别（原理）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3161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295790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2767197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286416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178966"/>
            <a:ext cx="891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2915434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270318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270318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2960970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46213" y="1229648"/>
            <a:ext cx="1455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264471"/>
            <a:ext cx="876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2956952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1768073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256073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2509530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2994452"/>
            <a:ext cx="1076782" cy="604016"/>
          </a:xfrm>
          <a:prstGeom prst="rect">
            <a:avLst/>
          </a:prstGeom>
          <a:solidFill>
            <a:srgbClr val="0000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2994452"/>
            <a:ext cx="1078121" cy="604016"/>
          </a:xfrm>
          <a:prstGeom prst="rect">
            <a:avLst/>
          </a:prstGeom>
          <a:solidFill>
            <a:srgbClr val="009900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144305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6084939" y="2410065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  <a:endParaRPr kumimoji="1" lang="en-US" altLang="zh-CN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22732" y="1229648"/>
            <a:ext cx="1444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kern="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u="none" strike="noStrike" kern="0" cap="none" spc="0" normalizeH="0" baseline="-25000" noProof="0" dirty="0">
                <a:ln>
                  <a:noFill/>
                </a:ln>
                <a:solidFill>
                  <a:srgbClr val="CA30A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25785" y="2385079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  <a:endParaRPr kumimoji="1" lang="en-US" altLang="zh-CN" sz="16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2606252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2575643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1750281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83208" y="1051300"/>
            <a:ext cx="336300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数字签名的三个功能：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证明来源。</a:t>
            </a:r>
            <a:endParaRPr lang="en-US" altLang="zh-CN" sz="1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防篡改，保证完整性。</a:t>
            </a:r>
          </a:p>
          <a:p>
            <a:pPr marL="268288" indent="-268288">
              <a:lnSpc>
                <a:spcPts val="22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不可否认：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防抵赖。</a:t>
            </a:r>
          </a:p>
        </p:txBody>
      </p:sp>
      <p:sp>
        <p:nvSpPr>
          <p:cNvPr id="3" name="矩形 2"/>
          <p:cNvSpPr/>
          <p:nvPr/>
        </p:nvSpPr>
        <p:spPr>
          <a:xfrm>
            <a:off x="2175753" y="4224395"/>
            <a:ext cx="480416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关键：没有其他人能够持有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920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071006" y="588442"/>
            <a:ext cx="30059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可保证机密性的数字签名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9474" y="1021763"/>
            <a:ext cx="8129015" cy="28330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4" name="Picture 3" descr="C:\Users\Administrator\Desktop\图片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65330" y="1470706"/>
            <a:ext cx="352055" cy="34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107"/>
          <p:cNvGrpSpPr/>
          <p:nvPr/>
        </p:nvGrpSpPr>
        <p:grpSpPr bwMode="auto">
          <a:xfrm>
            <a:off x="3664454" y="1878030"/>
            <a:ext cx="1945425" cy="1033091"/>
            <a:chOff x="2248" y="820"/>
            <a:chExt cx="2248" cy="883"/>
          </a:xfrm>
        </p:grpSpPr>
        <p:grpSp>
          <p:nvGrpSpPr>
            <p:cNvPr id="97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7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2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2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4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8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2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3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4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5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56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9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0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51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145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6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147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143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33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6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7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8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39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0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41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34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8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2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3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5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6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7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0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9" name="Text Box 109"/>
          <p:cNvSpPr txBox="1">
            <a:spLocks noChangeArrowheads="1"/>
          </p:cNvSpPr>
          <p:nvPr/>
        </p:nvSpPr>
        <p:spPr bwMode="auto">
          <a:xfrm>
            <a:off x="6511413" y="187678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核实签名</a:t>
            </a:r>
          </a:p>
        </p:txBody>
      </p:sp>
      <p:sp>
        <p:nvSpPr>
          <p:cNvPr id="160" name="Text Box 129"/>
          <p:cNvSpPr txBox="1">
            <a:spLocks noChangeArrowheads="1"/>
          </p:cNvSpPr>
          <p:nvPr/>
        </p:nvSpPr>
        <p:spPr bwMode="auto">
          <a:xfrm>
            <a:off x="5410867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解密 </a:t>
            </a:r>
          </a:p>
        </p:txBody>
      </p:sp>
      <p:sp>
        <p:nvSpPr>
          <p:cNvPr id="161" name="Text Box 128"/>
          <p:cNvSpPr txBox="1">
            <a:spLocks noChangeArrowheads="1"/>
          </p:cNvSpPr>
          <p:nvPr/>
        </p:nvSpPr>
        <p:spPr bwMode="auto">
          <a:xfrm>
            <a:off x="2632644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 </a:t>
            </a:r>
          </a:p>
        </p:txBody>
      </p:sp>
      <p:sp>
        <p:nvSpPr>
          <p:cNvPr id="162" name="Text Box 108"/>
          <p:cNvSpPr txBox="1">
            <a:spLocks noChangeArrowheads="1"/>
          </p:cNvSpPr>
          <p:nvPr/>
        </p:nvSpPr>
        <p:spPr bwMode="auto">
          <a:xfrm>
            <a:off x="1207736" y="1878030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 </a:t>
            </a:r>
          </a:p>
        </p:txBody>
      </p:sp>
      <p:sp>
        <p:nvSpPr>
          <p:cNvPr id="163" name="Rectangle 38"/>
          <p:cNvSpPr>
            <a:spLocks noChangeArrowheads="1"/>
          </p:cNvSpPr>
          <p:nvPr/>
        </p:nvSpPr>
        <p:spPr bwMode="auto">
          <a:xfrm>
            <a:off x="2888296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4" name="Line 39"/>
          <p:cNvSpPr>
            <a:spLocks noChangeShapeType="1"/>
          </p:cNvSpPr>
          <p:nvPr/>
        </p:nvSpPr>
        <p:spPr bwMode="auto">
          <a:xfrm>
            <a:off x="2137480" y="2501661"/>
            <a:ext cx="75683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Rectangle 40"/>
          <p:cNvSpPr>
            <a:spLocks noChangeArrowheads="1"/>
          </p:cNvSpPr>
          <p:nvPr/>
        </p:nvSpPr>
        <p:spPr bwMode="auto">
          <a:xfrm>
            <a:off x="1442714" y="2280454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66" name="Text Box 41"/>
          <p:cNvSpPr txBox="1">
            <a:spLocks noChangeArrowheads="1"/>
          </p:cNvSpPr>
          <p:nvPr/>
        </p:nvSpPr>
        <p:spPr bwMode="auto">
          <a:xfrm>
            <a:off x="575461" y="2501662"/>
            <a:ext cx="7216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67" name="Text Box 42"/>
          <p:cNvSpPr txBox="1">
            <a:spLocks noChangeArrowheads="1"/>
          </p:cNvSpPr>
          <p:nvPr/>
        </p:nvSpPr>
        <p:spPr bwMode="auto">
          <a:xfrm>
            <a:off x="7769962" y="2501662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68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17253" y="1538928"/>
            <a:ext cx="322439" cy="17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69" name="Text Box 44"/>
          <p:cNvSpPr txBox="1">
            <a:spLocks noChangeArrowheads="1"/>
          </p:cNvSpPr>
          <p:nvPr/>
        </p:nvSpPr>
        <p:spPr bwMode="auto">
          <a:xfrm>
            <a:off x="766362" y="1645574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0" name="Text Box 45"/>
          <p:cNvSpPr txBox="1">
            <a:spLocks noChangeArrowheads="1"/>
          </p:cNvSpPr>
          <p:nvPr/>
        </p:nvSpPr>
        <p:spPr bwMode="auto">
          <a:xfrm>
            <a:off x="7875358" y="1650573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1" name="Text Box 47"/>
          <p:cNvSpPr txBox="1">
            <a:spLocks noChangeArrowheads="1"/>
          </p:cNvSpPr>
          <p:nvPr/>
        </p:nvSpPr>
        <p:spPr bwMode="auto">
          <a:xfrm>
            <a:off x="1073261" y="1129256"/>
            <a:ext cx="1444626" cy="36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baseline="-2500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2" name="Freeform 48"/>
          <p:cNvSpPr/>
          <p:nvPr/>
        </p:nvSpPr>
        <p:spPr bwMode="auto">
          <a:xfrm>
            <a:off x="1733053" y="1801795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Freeform 49"/>
          <p:cNvSpPr/>
          <p:nvPr/>
        </p:nvSpPr>
        <p:spPr bwMode="auto">
          <a:xfrm>
            <a:off x="7390658" y="1801795"/>
            <a:ext cx="10831" cy="472410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Freeform 51"/>
          <p:cNvSpPr/>
          <p:nvPr/>
        </p:nvSpPr>
        <p:spPr bwMode="auto">
          <a:xfrm rot="16200000">
            <a:off x="7759862" y="2086689"/>
            <a:ext cx="177466" cy="66747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Freeform 52"/>
          <p:cNvSpPr/>
          <p:nvPr/>
        </p:nvSpPr>
        <p:spPr bwMode="auto">
          <a:xfrm>
            <a:off x="955909" y="2220464"/>
            <a:ext cx="492823" cy="28994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Text Box 107"/>
          <p:cNvSpPr txBox="1">
            <a:spLocks noChangeArrowheads="1"/>
          </p:cNvSpPr>
          <p:nvPr/>
        </p:nvSpPr>
        <p:spPr bwMode="auto">
          <a:xfrm>
            <a:off x="4184196" y="1530595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7" name="Rectangle 110"/>
          <p:cNvSpPr>
            <a:spLocks noChangeArrowheads="1"/>
          </p:cNvSpPr>
          <p:nvPr/>
        </p:nvSpPr>
        <p:spPr bwMode="auto">
          <a:xfrm>
            <a:off x="7098965" y="2274205"/>
            <a:ext cx="705990" cy="457413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79" name="Text Box 113"/>
          <p:cNvSpPr txBox="1">
            <a:spLocks noChangeArrowheads="1"/>
          </p:cNvSpPr>
          <p:nvPr/>
        </p:nvSpPr>
        <p:spPr bwMode="auto">
          <a:xfrm>
            <a:off x="5160323" y="1129256"/>
            <a:ext cx="1422184" cy="34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80" name="Rectangle 115"/>
          <p:cNvSpPr>
            <a:spLocks noChangeArrowheads="1"/>
          </p:cNvSpPr>
          <p:nvPr/>
        </p:nvSpPr>
        <p:spPr bwMode="auto">
          <a:xfrm>
            <a:off x="5655688" y="2274205"/>
            <a:ext cx="705990" cy="457413"/>
          </a:xfrm>
          <a:prstGeom prst="rect">
            <a:avLst/>
          </a:prstGeom>
          <a:solidFill>
            <a:srgbClr val="0000FF"/>
          </a:solidFill>
          <a:ln w="1270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kumimoji="1" lang="en-US" altLang="zh-CN" sz="1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81" name="Line 116"/>
          <p:cNvSpPr>
            <a:spLocks noChangeShapeType="1"/>
          </p:cNvSpPr>
          <p:nvPr/>
        </p:nvSpPr>
        <p:spPr bwMode="auto">
          <a:xfrm>
            <a:off x="6361678" y="2500459"/>
            <a:ext cx="7372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Freeform 117"/>
          <p:cNvSpPr/>
          <p:nvPr/>
        </p:nvSpPr>
        <p:spPr bwMode="auto">
          <a:xfrm>
            <a:off x="3159682" y="1841786"/>
            <a:ext cx="8124" cy="459913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Freeform 118"/>
          <p:cNvSpPr/>
          <p:nvPr/>
        </p:nvSpPr>
        <p:spPr bwMode="auto">
          <a:xfrm>
            <a:off x="5923012" y="1801795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Line 119"/>
          <p:cNvSpPr>
            <a:spLocks noChangeShapeType="1"/>
          </p:cNvSpPr>
          <p:nvPr/>
        </p:nvSpPr>
        <p:spPr bwMode="auto">
          <a:xfrm>
            <a:off x="2894315" y="3140622"/>
            <a:ext cx="334821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Text Box 120"/>
          <p:cNvSpPr txBox="1">
            <a:spLocks noChangeArrowheads="1"/>
          </p:cNvSpPr>
          <p:nvPr/>
        </p:nvSpPr>
        <p:spPr bwMode="auto">
          <a:xfrm>
            <a:off x="3969807" y="2950659"/>
            <a:ext cx="1210588" cy="338554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/>
              <a:t>加密与解密</a:t>
            </a:r>
          </a:p>
        </p:txBody>
      </p:sp>
      <p:sp>
        <p:nvSpPr>
          <p:cNvPr id="186" name="Line 121"/>
          <p:cNvSpPr>
            <a:spLocks noChangeShapeType="1"/>
          </p:cNvSpPr>
          <p:nvPr/>
        </p:nvSpPr>
        <p:spPr bwMode="auto">
          <a:xfrm>
            <a:off x="1507108" y="3471781"/>
            <a:ext cx="626285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Text Box 122"/>
          <p:cNvSpPr txBox="1">
            <a:spLocks noChangeArrowheads="1"/>
          </p:cNvSpPr>
          <p:nvPr/>
        </p:nvSpPr>
        <p:spPr bwMode="auto">
          <a:xfrm>
            <a:off x="3813224" y="3301814"/>
            <a:ext cx="1620957" cy="338554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600" dirty="0"/>
              <a:t>签名与核实签名</a:t>
            </a:r>
          </a:p>
        </p:txBody>
      </p:sp>
      <p:sp>
        <p:nvSpPr>
          <p:cNvPr id="189" name="Text Box 126"/>
          <p:cNvSpPr txBox="1">
            <a:spLocks noChangeArrowheads="1"/>
          </p:cNvSpPr>
          <p:nvPr/>
        </p:nvSpPr>
        <p:spPr bwMode="auto">
          <a:xfrm>
            <a:off x="2508013" y="1129256"/>
            <a:ext cx="1433406" cy="34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90" name="Text Box 127"/>
          <p:cNvSpPr txBox="1">
            <a:spLocks noChangeArrowheads="1"/>
          </p:cNvSpPr>
          <p:nvPr/>
        </p:nvSpPr>
        <p:spPr bwMode="auto">
          <a:xfrm>
            <a:off x="6703092" y="1129256"/>
            <a:ext cx="1455848" cy="36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kumimoji="1" lang="en-US" altLang="zh-CN" sz="1600" b="1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kumimoji="1" lang="en-US" altLang="zh-CN" sz="1600" b="1" baseline="-25000" dirty="0">
                <a:solidFill>
                  <a:srgbClr val="CA3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91" name="Text Box 130"/>
          <p:cNvSpPr txBox="1">
            <a:spLocks noChangeArrowheads="1"/>
          </p:cNvSpPr>
          <p:nvPr/>
        </p:nvSpPr>
        <p:spPr bwMode="auto">
          <a:xfrm>
            <a:off x="4347061" y="195995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密文</a:t>
            </a:r>
            <a:endParaRPr kumimoji="1" lang="zh-CN" altLang="en-US" sz="14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02" y="1921487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332" y="1924854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Line 114"/>
          <p:cNvSpPr>
            <a:spLocks noChangeShapeType="1"/>
          </p:cNvSpPr>
          <p:nvPr/>
        </p:nvSpPr>
        <p:spPr bwMode="auto">
          <a:xfrm>
            <a:off x="3594285" y="2501661"/>
            <a:ext cx="2079606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5" name="Picture 5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54425" y="1531281"/>
            <a:ext cx="319674" cy="1802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732093" y="1461555"/>
            <a:ext cx="352055" cy="357633"/>
            <a:chOff x="5732093" y="1694638"/>
            <a:chExt cx="352055" cy="357633"/>
          </a:xfrm>
        </p:grpSpPr>
        <p:pic>
          <p:nvPicPr>
            <p:cNvPr id="197" name="Picture 3" descr="C:\Users\Administrator\Desktop\图片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732093" y="1703789"/>
              <a:ext cx="352055" cy="348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8" name="矩形 197"/>
            <p:cNvSpPr/>
            <p:nvPr/>
          </p:nvSpPr>
          <p:spPr>
            <a:xfrm>
              <a:off x="5783979" y="1694638"/>
              <a:ext cx="246379" cy="340240"/>
            </a:xfrm>
            <a:prstGeom prst="rect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91541" y="3849558"/>
            <a:ext cx="7329094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先后进行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 </a:t>
            </a:r>
            <a:r>
              <a:rPr lang="en-US" altLang="zh-CN" sz="16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 </a:t>
            </a:r>
            <a:r>
              <a:rPr lang="en-US" altLang="zh-CN" sz="16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，运算量太大，花费非常多的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时间。目前普遍使用开销小得多的对称密钥加密。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SzPct val="9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要实现数字签名必须使用公钥密码，但一定要设法减小公钥密码算法的开销。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18" y="2194758"/>
                <a:ext cx="898323" cy="326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/>
              <p:cNvSpPr/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573" y="2194758"/>
                <a:ext cx="898323" cy="326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矩形 195"/>
              <p:cNvSpPr/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sz="1400" b="1" i="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𝐏𝐊</m:t>
                          </m:r>
                          <m:r>
                            <a:rPr lang="en-US" altLang="zh-CN" sz="1400" b="1" i="0" baseline="-4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𝐒𝐊</m:t>
                              </m:r>
                            </m:e>
                            <m:sub>
                              <m:r>
                                <a:rPr lang="en-US" altLang="zh-CN" sz="1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6" name="矩形 1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325" y="2202084"/>
                <a:ext cx="1393330" cy="326243"/>
              </a:xfrm>
              <a:prstGeom prst="rect">
                <a:avLst/>
              </a:prstGeom>
              <a:blipFill>
                <a:blip r:embed="rId9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7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83139"/>
            <a:ext cx="820780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散列函数（又称为杂凑函数，哈希函数）在计算机领域中广泛使用。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符合密码学要求的散列函数又常称为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(cryptographic hash function)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H(X)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应具有以下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四个特点：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结果的长度应较短和固定。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应具有很好的抗碰撞性，避免不同的输入产生相同的输出。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应是单向函数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(one-way function)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，不能逆向变换。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其他特性：输出的每一个比特都与输入的每一个比特有关；仅改动输入的一个比特，输出也会相差极大；包括许多非线性运算等。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557518" y="588442"/>
            <a:ext cx="2032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22624" y="581976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密码散列函数是单向的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509474" y="974215"/>
            <a:ext cx="8129015" cy="302404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10800000">
            <a:off x="2718455" y="2400484"/>
            <a:ext cx="3976798" cy="144369"/>
          </a:xfrm>
          <a:prstGeom prst="rightArrow">
            <a:avLst>
              <a:gd name="adj1" fmla="val 50000"/>
              <a:gd name="adj2" fmla="val 119191"/>
            </a:avLst>
          </a:prstGeom>
          <a:solidFill>
            <a:srgbClr val="0000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69591" y="1924296"/>
            <a:ext cx="3944978" cy="318149"/>
            <a:chOff x="2669591" y="1924296"/>
            <a:chExt cx="3944978" cy="318149"/>
          </a:xfrm>
        </p:grpSpPr>
        <p:sp>
          <p:nvSpPr>
            <p:cNvPr id="26" name="右箭头 25"/>
            <p:cNvSpPr/>
            <p:nvPr/>
          </p:nvSpPr>
          <p:spPr>
            <a:xfrm>
              <a:off x="2669591" y="2013373"/>
              <a:ext cx="1074978" cy="132592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右箭头 26"/>
            <p:cNvSpPr/>
            <p:nvPr/>
          </p:nvSpPr>
          <p:spPr>
            <a:xfrm>
              <a:off x="5434700" y="2027449"/>
              <a:ext cx="1179869" cy="13562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66444" y="1924296"/>
              <a:ext cx="1807636" cy="318149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单向散列变换 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522677" y="1954062"/>
            <a:ext cx="2295169" cy="995496"/>
            <a:chOff x="3522677" y="1954062"/>
            <a:chExt cx="2295169" cy="995496"/>
          </a:xfrm>
        </p:grpSpPr>
        <p:sp>
          <p:nvSpPr>
            <p:cNvPr id="33" name="TextBox 15"/>
            <p:cNvSpPr txBox="1"/>
            <p:nvPr/>
          </p:nvSpPr>
          <p:spPr>
            <a:xfrm>
              <a:off x="3522677" y="2611004"/>
              <a:ext cx="2295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逆向变换是不可能的</a:t>
              </a:r>
            </a:p>
          </p:txBody>
        </p:sp>
        <p:sp>
          <p:nvSpPr>
            <p:cNvPr id="34" name="TextBox 18"/>
            <p:cNvSpPr txBox="1"/>
            <p:nvPr/>
          </p:nvSpPr>
          <p:spPr>
            <a:xfrm>
              <a:off x="4354963" y="1954062"/>
              <a:ext cx="56457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/>
                </a:rPr>
                <a:t></a:t>
              </a:r>
              <a:endParaRPr lang="zh-CN" altLang="en-US" sz="5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29863" y="1265869"/>
            <a:ext cx="2059716" cy="1412400"/>
            <a:chOff x="6429863" y="1265869"/>
            <a:chExt cx="2059716" cy="1412400"/>
          </a:xfrm>
        </p:grpSpPr>
        <p:sp>
          <p:nvSpPr>
            <p:cNvPr id="30" name="TextBox 12"/>
            <p:cNvSpPr txBox="1"/>
            <p:nvPr/>
          </p:nvSpPr>
          <p:spPr>
            <a:xfrm>
              <a:off x="6429863" y="1265869"/>
              <a:ext cx="2059716" cy="679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输出固定长度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的散列值 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H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)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5" name="流程图: 文档 24"/>
            <p:cNvSpPr/>
            <p:nvPr/>
          </p:nvSpPr>
          <p:spPr>
            <a:xfrm>
              <a:off x="6623598" y="1916527"/>
              <a:ext cx="1579109" cy="761742"/>
            </a:xfrm>
            <a:prstGeom prst="flowChartDocument">
              <a:avLst/>
            </a:prstGeom>
            <a:solidFill>
              <a:srgbClr val="99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10010…1011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6148" y="1192271"/>
            <a:ext cx="1948078" cy="2503002"/>
            <a:chOff x="906148" y="1192271"/>
            <a:chExt cx="1948078" cy="2503002"/>
          </a:xfrm>
        </p:grpSpPr>
        <p:sp>
          <p:nvSpPr>
            <p:cNvPr id="28" name="流程图: 文档 27"/>
            <p:cNvSpPr/>
            <p:nvPr/>
          </p:nvSpPr>
          <p:spPr>
            <a:xfrm>
              <a:off x="1123857" y="1500946"/>
              <a:ext cx="1576667" cy="2194327"/>
            </a:xfrm>
            <a:prstGeom prst="flowChartDocumen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2"/>
            <p:cNvSpPr txBox="1"/>
            <p:nvPr/>
          </p:nvSpPr>
          <p:spPr>
            <a:xfrm>
              <a:off x="906148" y="1192271"/>
              <a:ext cx="19480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任意长度的明文 </a:t>
              </a:r>
              <a:r>
                <a:rPr lang="en-US" altLang="zh-CN" sz="1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X</a:t>
              </a:r>
              <a:endPara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29" name="TextBox 8"/>
            <p:cNvSpPr txBox="1"/>
            <p:nvPr/>
          </p:nvSpPr>
          <p:spPr>
            <a:xfrm>
              <a:off x="1131839" y="1503877"/>
              <a:ext cx="160499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这是要发送的不需要加密的明文，长度不限，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……………………………,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…………………………….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41963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Message Digest 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报文摘要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个版本。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Secure Hash Algorithm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更安全，但计算起来却比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要慢些。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年发布的新版本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[RFC 3174]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在安全性方面有了很大的改进。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1976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实用的单向密码散列函数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2161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84486"/>
            <a:ext cx="1401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932"/>
            <a:ext cx="81290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的设计者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Rivest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曾提出一个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猜想：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用足够复杂的方法，使报文摘要代码中的每一位都与原来报文中的每一位有关。</a:t>
            </a:r>
          </a:p>
        </p:txBody>
      </p:sp>
      <p:sp>
        <p:nvSpPr>
          <p:cNvPr id="2" name="矩形 1"/>
          <p:cNvSpPr/>
          <p:nvPr/>
        </p:nvSpPr>
        <p:spPr>
          <a:xfrm>
            <a:off x="936372" y="1489377"/>
            <a:ext cx="7270378" cy="8775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lvl="1">
              <a:lnSpc>
                <a:spcPts val="3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根据给定的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报文摘要代码，要找出一个与原来报文有相同报文摘要的另一报文，其难度在计算上几乎是不可能的。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把任意长的报文按模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计算其余数（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位），追加在报文的后面。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在报文和余数之间填充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位，使得填充后的总长度是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的整数倍。填充的首位是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，后面都是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09474" y="2207459"/>
            <a:ext cx="8129015" cy="15254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2085029" y="2290979"/>
            <a:ext cx="2672348" cy="366793"/>
          </a:xfrm>
          <a:prstGeom prst="rect">
            <a:avLst/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4757377" y="2290979"/>
            <a:ext cx="1257576" cy="366793"/>
          </a:xfrm>
          <a:prstGeom prst="rect">
            <a:avLst/>
          </a:prstGeom>
          <a:solidFill>
            <a:srgbClr val="CC00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1000…00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014953" y="2290979"/>
            <a:ext cx="1047980" cy="366793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085029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/>
          <p:nvPr/>
        </p:nvCxnSpPr>
        <p:spPr bwMode="auto">
          <a:xfrm>
            <a:off x="4757377" y="2710171"/>
            <a:ext cx="0" cy="3667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6014953" y="2710171"/>
            <a:ext cx="0" cy="68118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>
            <a:off x="7039366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/>
          <p:nvPr/>
        </p:nvCxnSpPr>
        <p:spPr bwMode="auto">
          <a:xfrm>
            <a:off x="2085029" y="2893567"/>
            <a:ext cx="267234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>
            <a:off x="2085029" y="3181761"/>
            <a:ext cx="392992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>
            <a:off x="2085029" y="3496155"/>
            <a:ext cx="4954337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928606" y="2762570"/>
            <a:ext cx="876730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报文长度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019" y="3050764"/>
            <a:ext cx="2721412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带填充位的长度，模 </a:t>
            </a:r>
            <a:r>
              <a:rPr lang="en-US" altLang="zh-CN" dirty="0"/>
              <a:t>512 </a:t>
            </a:r>
            <a:r>
              <a:rPr lang="zh-CN" altLang="en-US" dirty="0"/>
              <a:t>余 </a:t>
            </a:r>
            <a:r>
              <a:rPr lang="en-US" altLang="zh-CN" dirty="0"/>
              <a:t>448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37914" y="3350579"/>
            <a:ext cx="1947735" cy="298885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总长度，</a:t>
            </a:r>
            <a:r>
              <a:rPr lang="en-US" altLang="zh-CN" dirty="0"/>
              <a:t>512 </a:t>
            </a:r>
            <a:r>
              <a:rPr lang="zh-CN" altLang="en-US" dirty="0"/>
              <a:t>的整数倍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014953" y="3047805"/>
            <a:ext cx="1024412" cy="298885"/>
            <a:chOff x="6969224" y="5477162"/>
            <a:chExt cx="1407773" cy="410736"/>
          </a:xfrm>
        </p:grpSpPr>
        <p:cxnSp>
          <p:nvCxnSpPr>
            <p:cNvPr id="20" name="直接箭头连接符 19"/>
            <p:cNvCxnSpPr/>
            <p:nvPr/>
          </p:nvCxnSpPr>
          <p:spPr bwMode="auto">
            <a:xfrm>
              <a:off x="6969224" y="5657182"/>
              <a:ext cx="14077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Box 20"/>
            <p:cNvSpPr txBox="1"/>
            <p:nvPr/>
          </p:nvSpPr>
          <p:spPr>
            <a:xfrm>
              <a:off x="7321260" y="5477162"/>
              <a:ext cx="851849" cy="410736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64 </a:t>
              </a:r>
              <a:r>
                <a:rPr lang="zh-CN" altLang="en-US" dirty="0"/>
                <a:t>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把追加和填充后的报文分割为多个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位的数据块，每个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位的报文数据再分成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位的数据块依次送到不同的散列函数进行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轮计算。每一轮又都按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位的小数据块进行复杂的运算。一直到最后计算出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报文摘要代码（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2" name="矩形 1"/>
          <p:cNvSpPr/>
          <p:nvPr/>
        </p:nvSpPr>
        <p:spPr>
          <a:xfrm>
            <a:off x="905435" y="2976900"/>
            <a:ext cx="7234518" cy="13915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年，中国学者王小云发表了轰动世界的密码学论文，证明可以用系统的方法找出一对报文，这对报文具有相同的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报文，而这仅需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分钟，或不到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的安全性就产生了动摇。随后，又有许多学者开发了对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实际的攻击。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最终被安全散列算法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标准所取代。</a:t>
            </a:r>
          </a:p>
        </p:txBody>
      </p:sp>
    </p:spTree>
    <p:extLst>
      <p:ext uri="{BB962C8B-B14F-4D97-AF65-F5344CB8AC3E}">
        <p14:creationId xmlns:p14="http://schemas.microsoft.com/office/powerpoint/2010/main" val="7496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(Secure Hash Algorithm)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：由美国标准与技术协会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NIST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提出的一个散列算法系列。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相似，但其散列值的长度为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也是先把输入报文划分为许多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位长的数据块，然后经过复杂运算后得出散列值。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0" y="2979662"/>
            <a:ext cx="7091082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后来也被证明其实际安全性并未达到设计要求，并且也曾被王小云教授的研究团队攻破。谷歌也宣布了攻破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的消息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。许多组织都已纷纷宣布停用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627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安全散列算法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已被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所替代。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SHA-512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SHA3-224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SHA3-256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SHA3-384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SHA3-512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SHA-2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完全不同的散列函数。</a:t>
            </a:r>
          </a:p>
        </p:txBody>
      </p:sp>
      <p:sp>
        <p:nvSpPr>
          <p:cNvPr id="2" name="矩形 1"/>
          <p:cNvSpPr/>
          <p:nvPr/>
        </p:nvSpPr>
        <p:spPr>
          <a:xfrm>
            <a:off x="1479176" y="3232043"/>
            <a:ext cx="5979459" cy="7227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目前，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密码学家尚无法把一个任意已知的报文 </a:t>
            </a:r>
            <a:r>
              <a:rPr lang="en-US" altLang="zh-CN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，篡改为具有同样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散列值的另一报文 </a:t>
            </a:r>
            <a:r>
              <a:rPr lang="en-US" altLang="zh-CN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216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961046"/>
            <a:ext cx="8473161" cy="46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防篡改，但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不能防伪造，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不能真正实现报文鉴别。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17852" y="1384379"/>
            <a:ext cx="8133857" cy="301729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5" name="组合 84"/>
          <p:cNvGrpSpPr/>
          <p:nvPr/>
        </p:nvGrpSpPr>
        <p:grpSpPr>
          <a:xfrm>
            <a:off x="4573166" y="2581858"/>
            <a:ext cx="1334311" cy="273985"/>
            <a:chOff x="4573166" y="2581858"/>
            <a:chExt cx="1334311" cy="273985"/>
          </a:xfrm>
        </p:grpSpPr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5503043" y="2627522"/>
              <a:ext cx="40443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4573166" y="2764515"/>
              <a:ext cx="9298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 flipV="1">
              <a:off x="4583214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4773998" y="1723203"/>
            <a:ext cx="1133479" cy="639299"/>
            <a:chOff x="4773998" y="1723203"/>
            <a:chExt cx="1133479" cy="639299"/>
          </a:xfrm>
        </p:grpSpPr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5504476" y="1896895"/>
              <a:ext cx="403001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5039856" y="176656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41" name="AutoShape 26"/>
            <p:cNvSpPr/>
            <p:nvPr/>
          </p:nvSpPr>
          <p:spPr bwMode="auto">
            <a:xfrm>
              <a:off x="4773998" y="172320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994192" y="203388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633436" y="2170880"/>
            <a:ext cx="681627" cy="410978"/>
            <a:chOff x="5633436" y="2170880"/>
            <a:chExt cx="681627" cy="410978"/>
          </a:xfrm>
        </p:grpSpPr>
        <p:sp>
          <p:nvSpPr>
            <p:cNvPr id="43" name="AutoShape 28"/>
            <p:cNvSpPr>
              <a:spLocks noChangeArrowheads="1"/>
            </p:cNvSpPr>
            <p:nvPr/>
          </p:nvSpPr>
          <p:spPr bwMode="auto">
            <a:xfrm>
              <a:off x="5633436" y="217088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Box 29"/>
            <p:cNvSpPr txBox="1">
              <a:spLocks noChangeArrowheads="1"/>
            </p:cNvSpPr>
            <p:nvPr/>
          </p:nvSpPr>
          <p:spPr bwMode="auto">
            <a:xfrm>
              <a:off x="5771324" y="219371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19689" y="1844382"/>
            <a:ext cx="791008" cy="481090"/>
            <a:chOff x="4641155" y="1412783"/>
            <a:chExt cx="1319957" cy="802796"/>
          </a:xfrm>
        </p:grpSpPr>
        <p:sp>
          <p:nvSpPr>
            <p:cNvPr id="30" name="右箭头 29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749867" y="1714238"/>
            <a:ext cx="365314" cy="639299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88150" y="1714238"/>
            <a:ext cx="365314" cy="870478"/>
            <a:chOff x="3730055" y="1669413"/>
            <a:chExt cx="365314" cy="870478"/>
          </a:xfrm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24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115181" y="2581858"/>
            <a:ext cx="765674" cy="182657"/>
            <a:chOff x="2115181" y="2581858"/>
            <a:chExt cx="765674" cy="182657"/>
          </a:xfrm>
        </p:grpSpPr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2115181" y="276451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 flipV="1">
              <a:off x="2879772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655926" y="2328446"/>
            <a:ext cx="459255" cy="527397"/>
            <a:chOff x="1655926" y="2328446"/>
            <a:chExt cx="459255" cy="527397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749867" y="262752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932524" y="235353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55926" y="232844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3455" y="1714238"/>
            <a:ext cx="365314" cy="870478"/>
            <a:chOff x="3730055" y="1669413"/>
            <a:chExt cx="365314" cy="870478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49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H(X)</a:t>
              </a:r>
              <a:endParaRPr kumimoji="1" lang="zh-CN" altLang="en-US" sz="1100" b="1" i="1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左大括号 2"/>
          <p:cNvSpPr/>
          <p:nvPr/>
        </p:nvSpPr>
        <p:spPr>
          <a:xfrm>
            <a:off x="6297134" y="2033888"/>
            <a:ext cx="144192" cy="629230"/>
          </a:xfrm>
          <a:prstGeom prst="leftBrace">
            <a:avLst>
              <a:gd name="adj1" fmla="val 16475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51373" y="1728367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H(X)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451373" y="2361174"/>
            <a:ext cx="175942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 </a:t>
            </a:r>
            <a:r>
              <a:rPr kumimoji="1" lang="en-US" altLang="zh-CN" sz="1600" b="1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kumimoji="1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 </a:t>
            </a:r>
            <a:r>
              <a:rPr kumimoji="1" lang="en-US" altLang="zh-CN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319689" y="3277537"/>
            <a:ext cx="791008" cy="481090"/>
            <a:chOff x="4641155" y="1412783"/>
            <a:chExt cx="1319957" cy="802796"/>
          </a:xfrm>
        </p:grpSpPr>
        <p:sp>
          <p:nvSpPr>
            <p:cNvPr id="63" name="右箭头 62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655926" y="3147393"/>
            <a:ext cx="1397538" cy="1141605"/>
            <a:chOff x="1655926" y="3048778"/>
            <a:chExt cx="1397538" cy="1141605"/>
          </a:xfrm>
        </p:grpSpPr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1749867" y="3048778"/>
              <a:ext cx="365314" cy="639299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"/>
            <p:cNvSpPr>
              <a:spLocks noChangeArrowheads="1"/>
            </p:cNvSpPr>
            <p:nvPr/>
          </p:nvSpPr>
          <p:spPr bwMode="auto">
            <a:xfrm>
              <a:off x="1749867" y="396206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8"/>
            <p:cNvSpPr>
              <a:spLocks noChangeShapeType="1"/>
            </p:cNvSpPr>
            <p:nvPr/>
          </p:nvSpPr>
          <p:spPr bwMode="auto">
            <a:xfrm>
              <a:off x="1932524" y="368807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688150" y="3048778"/>
              <a:ext cx="365314" cy="870478"/>
              <a:chOff x="3730055" y="1669413"/>
              <a:chExt cx="365314" cy="870478"/>
            </a:xfrm>
          </p:grpSpPr>
          <p:sp>
            <p:nvSpPr>
              <p:cNvPr id="69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endPara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>
              <a:off x="2115181" y="409905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V="1">
              <a:off x="2879772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1655926" y="3662986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3455" y="3147393"/>
            <a:ext cx="1931608" cy="1141605"/>
            <a:chOff x="4383455" y="3048778"/>
            <a:chExt cx="1931608" cy="1141605"/>
          </a:xfrm>
        </p:grpSpPr>
        <p:sp>
          <p:nvSpPr>
            <p:cNvPr id="53" name="Rectangle 20"/>
            <p:cNvSpPr>
              <a:spLocks noChangeArrowheads="1"/>
            </p:cNvSpPr>
            <p:nvPr/>
          </p:nvSpPr>
          <p:spPr bwMode="auto">
            <a:xfrm>
              <a:off x="5447251" y="3962062"/>
              <a:ext cx="460226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573166" y="4099055"/>
              <a:ext cx="87408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4583214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24"/>
            <p:cNvSpPr>
              <a:spLocks noChangeArrowheads="1"/>
            </p:cNvSpPr>
            <p:nvPr/>
          </p:nvSpPr>
          <p:spPr bwMode="auto">
            <a:xfrm>
              <a:off x="5447251" y="3231435"/>
              <a:ext cx="460226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H'(M)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5039856" y="3101101"/>
              <a:ext cx="332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</a:p>
          </p:txBody>
        </p:sp>
        <p:sp>
          <p:nvSpPr>
            <p:cNvPr id="58" name="AutoShape 26"/>
            <p:cNvSpPr/>
            <p:nvPr/>
          </p:nvSpPr>
          <p:spPr bwMode="auto">
            <a:xfrm>
              <a:off x="4773998" y="305774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4994192" y="336842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28"/>
            <p:cNvSpPr>
              <a:spLocks noChangeArrowheads="1"/>
            </p:cNvSpPr>
            <p:nvPr/>
          </p:nvSpPr>
          <p:spPr bwMode="auto">
            <a:xfrm>
              <a:off x="5618196" y="350542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29"/>
            <p:cNvSpPr txBox="1">
              <a:spLocks noChangeArrowheads="1"/>
            </p:cNvSpPr>
            <p:nvPr/>
          </p:nvSpPr>
          <p:spPr bwMode="auto">
            <a:xfrm>
              <a:off x="5771324" y="352825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383455" y="3048778"/>
              <a:ext cx="365314" cy="870478"/>
              <a:chOff x="3730055" y="1669413"/>
              <a:chExt cx="365314" cy="870478"/>
            </a:xfrm>
          </p:grpSpPr>
          <p:sp>
            <p:nvSpPr>
              <p:cNvPr id="75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</a:p>
            </p:txBody>
          </p:sp>
          <p:sp>
            <p:nvSpPr>
              <p:cNvPr id="76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6451373" y="3482168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H’(M)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H(M)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825009" y="1833870"/>
            <a:ext cx="8575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kumimoji="1" lang="zh-CN" altLang="en-US" sz="1600" b="1" kern="0" noProof="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825009" y="3222470"/>
            <a:ext cx="8189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伪造</a:t>
            </a:r>
            <a:r>
              <a:rPr kumimoji="1"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endParaRPr kumimoji="1" lang="en-US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/>
      <p:bldP spid="50" grpId="0"/>
      <p:bldP spid="78" grpId="0"/>
      <p:bldP spid="7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53"/>
            <a:ext cx="8129016" cy="47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3275" y="1515980"/>
            <a:ext cx="7331148" cy="13619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双方共享的密钥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，然后进行散列运算。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散列运算得出的结果为固定长度的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H(X + K)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(Message Authentication Code)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17852" y="95625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3529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鉴别报文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28394" y="1067351"/>
            <a:ext cx="7631176" cy="2388484"/>
            <a:chOff x="750635" y="1041447"/>
            <a:chExt cx="7631176" cy="2388484"/>
          </a:xfrm>
        </p:grpSpPr>
        <p:sp>
          <p:nvSpPr>
            <p:cNvPr id="86" name="菱形 105"/>
            <p:cNvSpPr>
              <a:spLocks noChangeArrowheads="1"/>
            </p:cNvSpPr>
            <p:nvPr/>
          </p:nvSpPr>
          <p:spPr bwMode="auto">
            <a:xfrm>
              <a:off x="6804116" y="2811900"/>
              <a:ext cx="364280" cy="474845"/>
            </a:xfrm>
            <a:prstGeom prst="diamond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116"/>
            <p:cNvSpPr>
              <a:spLocks noChangeArrowheads="1"/>
            </p:cNvSpPr>
            <p:nvPr/>
          </p:nvSpPr>
          <p:spPr bwMode="auto">
            <a:xfrm>
              <a:off x="7700905" y="1535319"/>
              <a:ext cx="564680" cy="2073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104"/>
            <p:cNvCxnSpPr>
              <a:cxnSpLocks noChangeShapeType="1"/>
            </p:cNvCxnSpPr>
            <p:nvPr/>
          </p:nvCxnSpPr>
          <p:spPr bwMode="auto">
            <a:xfrm>
              <a:off x="3536308" y="2117009"/>
              <a:ext cx="1398194" cy="0"/>
            </a:xfrm>
            <a:prstGeom prst="line">
              <a:avLst/>
            </a:prstGeom>
            <a:noFill/>
            <a:ln w="12700" algn="ctr">
              <a:solidFill>
                <a:srgbClr val="0000CC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89" name="Object 2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2842233"/>
                </p:ext>
              </p:extLst>
            </p:nvPr>
          </p:nvGraphicFramePr>
          <p:xfrm>
            <a:off x="4752361" y="1492029"/>
            <a:ext cx="1274981" cy="669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7" name="VISIO" r:id="rId3" imgW="1687068" imgH="964692" progId="">
                    <p:embed/>
                  </p:oleObj>
                </mc:Choice>
                <mc:Fallback>
                  <p:oleObj name="VISIO" r:id="rId3" imgW="1687068" imgH="964692" progId="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361" y="1492029"/>
                          <a:ext cx="1274981" cy="669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203"/>
            <p:cNvSpPr>
              <a:spLocks noChangeShapeType="1"/>
            </p:cNvSpPr>
            <p:nvPr/>
          </p:nvSpPr>
          <p:spPr bwMode="auto">
            <a:xfrm rot="5400000">
              <a:off x="734249" y="2331380"/>
              <a:ext cx="765352" cy="1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/>
            <p:cNvSpPr>
              <a:spLocks noChangeShapeType="1"/>
            </p:cNvSpPr>
            <p:nvPr/>
          </p:nvSpPr>
          <p:spPr bwMode="auto">
            <a:xfrm>
              <a:off x="1835440" y="1868871"/>
              <a:ext cx="1154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48"/>
            <p:cNvSpPr txBox="1">
              <a:spLocks noChangeArrowheads="1"/>
            </p:cNvSpPr>
            <p:nvPr/>
          </p:nvSpPr>
          <p:spPr bwMode="auto">
            <a:xfrm>
              <a:off x="925040" y="1278831"/>
              <a:ext cx="3193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grpSp>
          <p:nvGrpSpPr>
            <p:cNvPr id="93" name="Group 103"/>
            <p:cNvGrpSpPr>
              <a:grpSpLocks/>
            </p:cNvGrpSpPr>
            <p:nvPr/>
          </p:nvGrpSpPr>
          <p:grpSpPr bwMode="auto">
            <a:xfrm>
              <a:off x="1148397" y="1315858"/>
              <a:ext cx="425887" cy="369843"/>
              <a:chOff x="921" y="2412"/>
              <a:chExt cx="284" cy="265"/>
            </a:xfrm>
          </p:grpSpPr>
          <p:grpSp>
            <p:nvGrpSpPr>
              <p:cNvPr id="94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08" name="Freeform 105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Freeform 107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2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5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6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17" name="Freeform 114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18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7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95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96" name="Freeform 118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Freeform 120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04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05" name="Freeform 127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6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7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158" name="Rectangle 165"/>
            <p:cNvSpPr>
              <a:spLocks noChangeArrowheads="1"/>
            </p:cNvSpPr>
            <p:nvPr/>
          </p:nvSpPr>
          <p:spPr bwMode="auto">
            <a:xfrm>
              <a:off x="863133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59" name="Text Box 167"/>
            <p:cNvSpPr txBox="1">
              <a:spLocks noChangeArrowheads="1"/>
            </p:cNvSpPr>
            <p:nvPr/>
          </p:nvSpPr>
          <p:spPr bwMode="auto">
            <a:xfrm>
              <a:off x="2920691" y="1681966"/>
              <a:ext cx="340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rgbClr val="C0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</a:p>
          </p:txBody>
        </p:sp>
        <p:sp>
          <p:nvSpPr>
            <p:cNvPr id="160" name="Rectangle 171"/>
            <p:cNvSpPr>
              <a:spLocks noChangeArrowheads="1"/>
            </p:cNvSpPr>
            <p:nvPr/>
          </p:nvSpPr>
          <p:spPr bwMode="auto">
            <a:xfrm>
              <a:off x="2913550" y="2762560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61" name="Rectangle 173"/>
            <p:cNvSpPr>
              <a:spLocks noChangeArrowheads="1"/>
            </p:cNvSpPr>
            <p:nvPr/>
          </p:nvSpPr>
          <p:spPr bwMode="auto">
            <a:xfrm>
              <a:off x="3962194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62" name="Rectangle 174"/>
            <p:cNvSpPr>
              <a:spLocks noChangeArrowheads="1"/>
            </p:cNvSpPr>
            <p:nvPr/>
          </p:nvSpPr>
          <p:spPr bwMode="auto">
            <a:xfrm>
              <a:off x="3536308" y="1766202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63" name="Text Box 175"/>
            <p:cNvSpPr txBox="1">
              <a:spLocks noChangeArrowheads="1"/>
            </p:cNvSpPr>
            <p:nvPr/>
          </p:nvSpPr>
          <p:spPr bwMode="auto">
            <a:xfrm>
              <a:off x="6490209" y="1278831"/>
              <a:ext cx="3080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grpSp>
          <p:nvGrpSpPr>
            <p:cNvPr id="164" name="Group 176"/>
            <p:cNvGrpSpPr>
              <a:grpSpLocks/>
            </p:cNvGrpSpPr>
            <p:nvPr/>
          </p:nvGrpSpPr>
          <p:grpSpPr bwMode="auto">
            <a:xfrm>
              <a:off x="6695636" y="1315858"/>
              <a:ext cx="425887" cy="369843"/>
              <a:chOff x="921" y="2412"/>
              <a:chExt cx="284" cy="265"/>
            </a:xfrm>
          </p:grpSpPr>
          <p:grpSp>
            <p:nvGrpSpPr>
              <p:cNvPr id="165" name="Group 177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79" name="Freeform 178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0" name="Freeform 179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1" name="Freeform 180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2" name="Freeform 181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3" name="Rectangle 18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4" name="Rectangle 18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5" name="Rectangle 18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6" name="Line 18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87" name="Group 186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88" name="Freeform 187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9" name="Freeform 188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0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66" name="Group 190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67" name="Freeform 191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192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193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Freeform 194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1" name="Rectangle 19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2" name="Rectangle 19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3" name="Rectangle 19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4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75" name="Group 199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76" name="Freeform 200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7" name="Freeform 201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8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191" name="Text Box 204"/>
            <p:cNvSpPr txBox="1">
              <a:spLocks noChangeArrowheads="1"/>
            </p:cNvSpPr>
            <p:nvPr/>
          </p:nvSpPr>
          <p:spPr bwMode="auto">
            <a:xfrm>
              <a:off x="6241625" y="2197878"/>
              <a:ext cx="492443" cy="29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</a:p>
          </p:txBody>
        </p:sp>
        <p:sp>
          <p:nvSpPr>
            <p:cNvPr id="192" name="Rectangle 205"/>
            <p:cNvSpPr>
              <a:spLocks noChangeArrowheads="1"/>
            </p:cNvSpPr>
            <p:nvPr/>
          </p:nvSpPr>
          <p:spPr bwMode="auto">
            <a:xfrm>
              <a:off x="6477336" y="1752202"/>
              <a:ext cx="972307" cy="2030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 </a:t>
              </a:r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193" name="Rectangle 206"/>
            <p:cNvSpPr>
              <a:spLocks noChangeArrowheads="1"/>
            </p:cNvSpPr>
            <p:nvPr/>
          </p:nvSpPr>
          <p:spPr bwMode="auto">
            <a:xfrm>
              <a:off x="6047432" y="1752202"/>
              <a:ext cx="425887" cy="2018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194" name="Text Box 208"/>
            <p:cNvSpPr txBox="1">
              <a:spLocks noChangeArrowheads="1"/>
            </p:cNvSpPr>
            <p:nvPr/>
          </p:nvSpPr>
          <p:spPr bwMode="auto">
            <a:xfrm>
              <a:off x="5119321" y="1595865"/>
              <a:ext cx="6018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 </a:t>
              </a:r>
            </a:p>
          </p:txBody>
        </p:sp>
        <p:sp>
          <p:nvSpPr>
            <p:cNvPr id="195" name="Text Box 211"/>
            <p:cNvSpPr txBox="1">
              <a:spLocks noChangeArrowheads="1"/>
            </p:cNvSpPr>
            <p:nvPr/>
          </p:nvSpPr>
          <p:spPr bwMode="auto">
            <a:xfrm>
              <a:off x="2645096" y="2968266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固定长度的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</a:p>
          </p:txBody>
        </p:sp>
        <p:sp>
          <p:nvSpPr>
            <p:cNvPr id="196" name="Rectangle 212"/>
            <p:cNvSpPr>
              <a:spLocks noChangeArrowheads="1"/>
            </p:cNvSpPr>
            <p:nvPr/>
          </p:nvSpPr>
          <p:spPr bwMode="auto">
            <a:xfrm>
              <a:off x="7493839" y="2918068"/>
              <a:ext cx="771746" cy="2711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 + 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97" name="Text Box 213"/>
            <p:cNvSpPr txBox="1">
              <a:spLocks noChangeArrowheads="1"/>
            </p:cNvSpPr>
            <p:nvPr/>
          </p:nvSpPr>
          <p:spPr bwMode="auto">
            <a:xfrm>
              <a:off x="1948760" y="2588153"/>
              <a:ext cx="793998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+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216"/>
            <p:cNvSpPr>
              <a:spLocks noChangeShapeType="1"/>
            </p:cNvSpPr>
            <p:nvPr/>
          </p:nvSpPr>
          <p:spPr bwMode="auto">
            <a:xfrm flipV="1">
              <a:off x="3236312" y="1881705"/>
              <a:ext cx="304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217"/>
            <p:cNvSpPr>
              <a:spLocks noChangeShapeType="1"/>
            </p:cNvSpPr>
            <p:nvPr/>
          </p:nvSpPr>
          <p:spPr bwMode="auto">
            <a:xfrm rot="16200000" flipV="1">
              <a:off x="2688250" y="2389218"/>
              <a:ext cx="847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219"/>
            <p:cNvSpPr>
              <a:spLocks noChangeShapeType="1"/>
            </p:cNvSpPr>
            <p:nvPr/>
          </p:nvSpPr>
          <p:spPr bwMode="auto">
            <a:xfrm rot="10800000" flipH="1">
              <a:off x="1836780" y="2875730"/>
              <a:ext cx="1083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AutoShape 227"/>
            <p:cNvSpPr>
              <a:spLocks noChangeArrowheads="1"/>
            </p:cNvSpPr>
            <p:nvPr/>
          </p:nvSpPr>
          <p:spPr bwMode="auto">
            <a:xfrm>
              <a:off x="4976019" y="1809370"/>
              <a:ext cx="1032574" cy="100336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Text Box 229"/>
            <p:cNvSpPr txBox="1">
              <a:spLocks noChangeArrowheads="1"/>
            </p:cNvSpPr>
            <p:nvPr/>
          </p:nvSpPr>
          <p:spPr bwMode="auto">
            <a:xfrm>
              <a:off x="5036133" y="1252472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</a:t>
              </a:r>
            </a:p>
          </p:txBody>
        </p:sp>
        <p:sp>
          <p:nvSpPr>
            <p:cNvPr id="203" name="Text Box 231"/>
            <p:cNvSpPr txBox="1">
              <a:spLocks noChangeArrowheads="1"/>
            </p:cNvSpPr>
            <p:nvPr/>
          </p:nvSpPr>
          <p:spPr bwMode="auto">
            <a:xfrm>
              <a:off x="3272197" y="1041447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固定长度的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</a:p>
          </p:txBody>
        </p:sp>
        <p:sp>
          <p:nvSpPr>
            <p:cNvPr id="204" name="Line 232"/>
            <p:cNvSpPr>
              <a:spLocks noChangeShapeType="1"/>
            </p:cNvSpPr>
            <p:nvPr/>
          </p:nvSpPr>
          <p:spPr bwMode="auto">
            <a:xfrm flipH="1">
              <a:off x="3737198" y="1469278"/>
              <a:ext cx="0" cy="30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222"/>
            <p:cNvSpPr>
              <a:spLocks noChangeShapeType="1"/>
            </p:cNvSpPr>
            <p:nvPr/>
          </p:nvSpPr>
          <p:spPr bwMode="auto">
            <a:xfrm rot="16200000" flipH="1">
              <a:off x="5794669" y="2438972"/>
              <a:ext cx="958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Text Box 224"/>
            <p:cNvSpPr txBox="1">
              <a:spLocks noChangeArrowheads="1"/>
            </p:cNvSpPr>
            <p:nvPr/>
          </p:nvSpPr>
          <p:spPr bwMode="auto">
            <a:xfrm>
              <a:off x="2839104" y="1530168"/>
              <a:ext cx="52210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207" name="矩形 105"/>
            <p:cNvSpPr>
              <a:spLocks noChangeArrowheads="1"/>
            </p:cNvSpPr>
            <p:nvPr/>
          </p:nvSpPr>
          <p:spPr bwMode="auto">
            <a:xfrm>
              <a:off x="3780054" y="2018941"/>
              <a:ext cx="881237" cy="214003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Text Box 224"/>
            <p:cNvSpPr txBox="1">
              <a:spLocks noChangeArrowheads="1"/>
            </p:cNvSpPr>
            <p:nvPr/>
          </p:nvSpPr>
          <p:spPr bwMode="auto">
            <a:xfrm>
              <a:off x="3751810" y="1982376"/>
              <a:ext cx="9990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扩展的报文</a:t>
              </a:r>
            </a:p>
          </p:txBody>
        </p:sp>
        <p:sp>
          <p:nvSpPr>
            <p:cNvPr id="209" name="Rectangle 165"/>
            <p:cNvSpPr>
              <a:spLocks noChangeArrowheads="1"/>
            </p:cNvSpPr>
            <p:nvPr/>
          </p:nvSpPr>
          <p:spPr bwMode="auto">
            <a:xfrm>
              <a:off x="863134" y="2712392"/>
              <a:ext cx="968176" cy="5191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endPara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TextBox 105"/>
            <p:cNvSpPr txBox="1">
              <a:spLocks noChangeArrowheads="1"/>
            </p:cNvSpPr>
            <p:nvPr/>
          </p:nvSpPr>
          <p:spPr bwMode="auto">
            <a:xfrm>
              <a:off x="750635" y="2706557"/>
              <a:ext cx="1179951" cy="5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拼接后进行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散列运算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6044753" y="2947236"/>
              <a:ext cx="425887" cy="2018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212" name="Text Box 172"/>
            <p:cNvSpPr txBox="1">
              <a:spLocks noChangeArrowheads="1"/>
            </p:cNvSpPr>
            <p:nvPr/>
          </p:nvSpPr>
          <p:spPr bwMode="auto">
            <a:xfrm>
              <a:off x="7608205" y="1476086"/>
              <a:ext cx="718120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3" name="组合 113"/>
            <p:cNvGrpSpPr>
              <a:grpSpLocks/>
            </p:cNvGrpSpPr>
            <p:nvPr/>
          </p:nvGrpSpPr>
          <p:grpSpPr bwMode="auto">
            <a:xfrm>
              <a:off x="7397662" y="2121165"/>
              <a:ext cx="984149" cy="602203"/>
              <a:chOff x="3635896" y="4066386"/>
              <a:chExt cx="1168324" cy="676458"/>
            </a:xfrm>
          </p:grpSpPr>
          <p:sp>
            <p:nvSpPr>
              <p:cNvPr id="214" name="矩形 112"/>
              <p:cNvSpPr>
                <a:spLocks noChangeArrowheads="1"/>
              </p:cNvSpPr>
              <p:nvPr/>
            </p:nvSpPr>
            <p:spPr bwMode="auto">
              <a:xfrm>
                <a:off x="3635896" y="4066386"/>
                <a:ext cx="1149628" cy="58232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Text Box 223"/>
              <p:cNvSpPr txBox="1">
                <a:spLocks noChangeArrowheads="1"/>
              </p:cNvSpPr>
              <p:nvPr/>
            </p:nvSpPr>
            <p:spPr bwMode="auto">
              <a:xfrm>
                <a:off x="3671559" y="4089996"/>
                <a:ext cx="1132661" cy="6528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拼接后进行</a:t>
                </a:r>
                <a:endPara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散列运算</a:t>
                </a:r>
                <a:endParaRPr lang="zh-CN" altLang="en-US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16" name="肘形连接符 118"/>
            <p:cNvCxnSpPr>
              <a:cxnSpLocks noChangeShapeType="1"/>
            </p:cNvCxnSpPr>
            <p:nvPr/>
          </p:nvCxnSpPr>
          <p:spPr bwMode="auto">
            <a:xfrm rot="16200000" flipH="1">
              <a:off x="7428070" y="1865295"/>
              <a:ext cx="298426" cy="247244"/>
            </a:xfrm>
            <a:prstGeom prst="bentConnector3">
              <a:avLst>
                <a:gd name="adj1" fmla="val -1068"/>
              </a:avLst>
            </a:prstGeom>
            <a:noFill/>
            <a:ln w="2857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" name="Line 221"/>
            <p:cNvSpPr>
              <a:spLocks noChangeShapeType="1"/>
            </p:cNvSpPr>
            <p:nvPr/>
          </p:nvSpPr>
          <p:spPr bwMode="auto">
            <a:xfrm rot="16200000" flipH="1">
              <a:off x="1434580" y="2564957"/>
              <a:ext cx="302174" cy="66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1"/>
            <p:cNvSpPr>
              <a:spLocks noChangeShapeType="1"/>
            </p:cNvSpPr>
            <p:nvPr/>
          </p:nvSpPr>
          <p:spPr bwMode="auto">
            <a:xfrm rot="16200000" flipH="1" flipV="1">
              <a:off x="7786320" y="1929539"/>
              <a:ext cx="3873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Text Box 211"/>
            <p:cNvSpPr txBox="1">
              <a:spLocks noChangeArrowheads="1"/>
            </p:cNvSpPr>
            <p:nvPr/>
          </p:nvSpPr>
          <p:spPr bwMode="auto">
            <a:xfrm>
              <a:off x="4760397" y="2425386"/>
              <a:ext cx="954107" cy="276999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不安全信道</a:t>
              </a:r>
            </a:p>
          </p:txBody>
        </p:sp>
        <p:sp>
          <p:nvSpPr>
            <p:cNvPr id="220" name="Line 232"/>
            <p:cNvSpPr>
              <a:spLocks noChangeShapeType="1"/>
            </p:cNvSpPr>
            <p:nvPr/>
          </p:nvSpPr>
          <p:spPr bwMode="auto">
            <a:xfrm flipV="1">
              <a:off x="5246551" y="1896872"/>
              <a:ext cx="182140" cy="528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TextBox 103"/>
            <p:cNvSpPr txBox="1">
              <a:spLocks noChangeArrowheads="1"/>
            </p:cNvSpPr>
            <p:nvPr/>
          </p:nvSpPr>
          <p:spPr bwMode="auto">
            <a:xfrm rot="16200000">
              <a:off x="6287768" y="1935572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Text Box 213"/>
            <p:cNvSpPr txBox="1">
              <a:spLocks noChangeArrowheads="1"/>
            </p:cNvSpPr>
            <p:nvPr/>
          </p:nvSpPr>
          <p:spPr bwMode="auto">
            <a:xfrm>
              <a:off x="6688940" y="2918068"/>
              <a:ext cx="522313" cy="27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400"/>
                </a:lnSpc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=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 rot="16200000" flipH="1">
              <a:off x="7733064" y="2787141"/>
              <a:ext cx="264840" cy="4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1244605" y="2237485"/>
              <a:ext cx="586704" cy="20935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Text Box 172"/>
            <p:cNvSpPr txBox="1">
              <a:spLocks noChangeArrowheads="1"/>
            </p:cNvSpPr>
            <p:nvPr/>
          </p:nvSpPr>
          <p:spPr bwMode="auto">
            <a:xfrm>
              <a:off x="1189701" y="2193211"/>
              <a:ext cx="67807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2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221"/>
            <p:cNvSpPr>
              <a:spLocks noChangeShapeType="1"/>
            </p:cNvSpPr>
            <p:nvPr/>
          </p:nvSpPr>
          <p:spPr bwMode="auto">
            <a:xfrm flipH="1">
              <a:off x="7140273" y="3055738"/>
              <a:ext cx="3535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221"/>
            <p:cNvSpPr>
              <a:spLocks noChangeShapeType="1"/>
            </p:cNvSpPr>
            <p:nvPr/>
          </p:nvSpPr>
          <p:spPr bwMode="auto">
            <a:xfrm rot="10800000" flipH="1">
              <a:off x="6484032" y="3042904"/>
              <a:ext cx="3120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Text Box 204"/>
            <p:cNvSpPr txBox="1">
              <a:spLocks noChangeArrowheads="1"/>
            </p:cNvSpPr>
            <p:nvPr/>
          </p:nvSpPr>
          <p:spPr bwMode="auto">
            <a:xfrm>
              <a:off x="6752537" y="2567935"/>
              <a:ext cx="492443" cy="31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cxnSp>
          <p:nvCxnSpPr>
            <p:cNvPr id="229" name="直接连接符 109"/>
            <p:cNvCxnSpPr>
              <a:cxnSpLocks noChangeShapeType="1"/>
            </p:cNvCxnSpPr>
            <p:nvPr/>
          </p:nvCxnSpPr>
          <p:spPr bwMode="auto">
            <a:xfrm>
              <a:off x="6484032" y="1691042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矩形 44"/>
          <p:cNvSpPr/>
          <p:nvPr/>
        </p:nvSpPr>
        <p:spPr>
          <a:xfrm>
            <a:off x="2027956" y="4217949"/>
            <a:ext cx="528307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sz="20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这样的报文鉴别码称为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数字签名</a:t>
            </a:r>
            <a:r>
              <a:rPr lang="zh-CN" altLang="zh-CN" sz="20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数字指纹。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6844" y="3566932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只要入侵者不掌握密钥 </a:t>
            </a:r>
            <a:r>
              <a:rPr lang="en-US" altLang="zh-CN" sz="1600" b="1" i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发送的报文（因为无法伪造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鉴别过程并没有执行加密算法，消耗的计算资源少。</a:t>
            </a:r>
            <a:endParaRPr lang="zh-CN" altLang="en-US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3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733008" y="965218"/>
            <a:ext cx="3928642" cy="36784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2646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585985" y="1029489"/>
            <a:ext cx="2252161" cy="1632076"/>
            <a:chOff x="1538879" y="1158109"/>
            <a:chExt cx="2579688" cy="2045064"/>
          </a:xfrm>
        </p:grpSpPr>
        <p:sp>
          <p:nvSpPr>
            <p:cNvPr id="231" name="Line 203"/>
            <p:cNvSpPr>
              <a:spLocks noChangeShapeType="1"/>
            </p:cNvSpPr>
            <p:nvPr/>
          </p:nvSpPr>
          <p:spPr bwMode="auto">
            <a:xfrm rot="5400000" flipV="1">
              <a:off x="2041323" y="1441842"/>
              <a:ext cx="449262" cy="419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221"/>
            <p:cNvSpPr>
              <a:spLocks noChangeShapeType="1"/>
            </p:cNvSpPr>
            <p:nvPr/>
          </p:nvSpPr>
          <p:spPr bwMode="auto">
            <a:xfrm rot="16200000" flipH="1" flipV="1">
              <a:off x="3127173" y="1379929"/>
              <a:ext cx="401638" cy="593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165"/>
            <p:cNvSpPr>
              <a:spLocks noChangeArrowheads="1"/>
            </p:cNvSpPr>
            <p:nvPr/>
          </p:nvSpPr>
          <p:spPr bwMode="auto">
            <a:xfrm>
              <a:off x="1538879" y="1198161"/>
              <a:ext cx="1152525" cy="268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171"/>
            <p:cNvSpPr>
              <a:spLocks noChangeArrowheads="1"/>
            </p:cNvSpPr>
            <p:nvPr/>
          </p:nvSpPr>
          <p:spPr bwMode="auto">
            <a:xfrm>
              <a:off x="2364379" y="2914248"/>
              <a:ext cx="742950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  <p:sp>
          <p:nvSpPr>
            <p:cNvPr id="235" name="矩形 234"/>
            <p:cNvSpPr/>
            <p:nvPr/>
          </p:nvSpPr>
          <p:spPr bwMode="auto">
            <a:xfrm>
              <a:off x="3278779" y="1210861"/>
              <a:ext cx="792163" cy="258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Text Box 172"/>
            <p:cNvSpPr txBox="1">
              <a:spLocks noChangeArrowheads="1"/>
            </p:cNvSpPr>
            <p:nvPr/>
          </p:nvSpPr>
          <p:spPr bwMode="auto">
            <a:xfrm>
              <a:off x="3254967" y="1158109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Line 221"/>
            <p:cNvSpPr>
              <a:spLocks noChangeShapeType="1"/>
            </p:cNvSpPr>
            <p:nvPr/>
          </p:nvSpPr>
          <p:spPr bwMode="auto">
            <a:xfrm rot="16200000" flipH="1">
              <a:off x="2580279" y="2744386"/>
              <a:ext cx="331787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椭圆 108"/>
            <p:cNvSpPr>
              <a:spLocks noChangeArrowheads="1"/>
            </p:cNvSpPr>
            <p:nvPr/>
          </p:nvSpPr>
          <p:spPr bwMode="auto">
            <a:xfrm>
              <a:off x="1838917" y="1858561"/>
              <a:ext cx="1871662" cy="72072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Text Box 211"/>
            <p:cNvSpPr txBox="1">
              <a:spLocks noChangeArrowheads="1"/>
            </p:cNvSpPr>
            <p:nvPr/>
          </p:nvSpPr>
          <p:spPr bwMode="auto">
            <a:xfrm>
              <a:off x="2211725" y="1897884"/>
              <a:ext cx="1183198" cy="655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的算法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585985" y="2884059"/>
            <a:ext cx="2252160" cy="1642212"/>
            <a:chOff x="4731342" y="1139059"/>
            <a:chExt cx="2579687" cy="2057764"/>
          </a:xfrm>
        </p:grpSpPr>
        <p:sp>
          <p:nvSpPr>
            <p:cNvPr id="230" name="Line 221"/>
            <p:cNvSpPr>
              <a:spLocks noChangeShapeType="1"/>
            </p:cNvSpPr>
            <p:nvPr/>
          </p:nvSpPr>
          <p:spPr bwMode="auto">
            <a:xfrm rot="16200000" flipH="1">
              <a:off x="5872754" y="2063348"/>
              <a:ext cx="331788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Line 203"/>
            <p:cNvSpPr>
              <a:spLocks noChangeShapeType="1"/>
            </p:cNvSpPr>
            <p:nvPr/>
          </p:nvSpPr>
          <p:spPr bwMode="auto">
            <a:xfrm rot="5400000" flipV="1">
              <a:off x="5271885" y="1378342"/>
              <a:ext cx="409575" cy="3635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Line 221"/>
            <p:cNvSpPr>
              <a:spLocks noChangeShapeType="1"/>
            </p:cNvSpPr>
            <p:nvPr/>
          </p:nvSpPr>
          <p:spPr bwMode="auto">
            <a:xfrm rot="16200000" flipH="1" flipV="1">
              <a:off x="6544267" y="1482323"/>
              <a:ext cx="298450" cy="247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Rectangle 165"/>
            <p:cNvSpPr>
              <a:spLocks noChangeArrowheads="1"/>
            </p:cNvSpPr>
            <p:nvPr/>
          </p:nvSpPr>
          <p:spPr bwMode="auto">
            <a:xfrm>
              <a:off x="4731342" y="1188636"/>
              <a:ext cx="1152525" cy="2587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Rectangle 171"/>
            <p:cNvSpPr>
              <a:spLocks noChangeArrowheads="1"/>
            </p:cNvSpPr>
            <p:nvPr/>
          </p:nvSpPr>
          <p:spPr bwMode="auto">
            <a:xfrm>
              <a:off x="5652092" y="2907898"/>
              <a:ext cx="720725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HMAC</a:t>
              </a:r>
            </a:p>
          </p:txBody>
        </p:sp>
        <p:grpSp>
          <p:nvGrpSpPr>
            <p:cNvPr id="244" name="组合 115"/>
            <p:cNvGrpSpPr>
              <a:grpSpLocks/>
            </p:cNvGrpSpPr>
            <p:nvPr/>
          </p:nvGrpSpPr>
          <p:grpSpPr bwMode="auto">
            <a:xfrm>
              <a:off x="6447429" y="1139059"/>
              <a:ext cx="863600" cy="388871"/>
              <a:chOff x="1883864" y="783243"/>
              <a:chExt cx="864096" cy="388871"/>
            </a:xfrm>
          </p:grpSpPr>
          <p:sp>
            <p:nvSpPr>
              <p:cNvPr id="245" name="矩形 244"/>
              <p:cNvSpPr/>
              <p:nvPr/>
            </p:nvSpPr>
            <p:spPr bwMode="auto">
              <a:xfrm>
                <a:off x="1907691" y="835995"/>
                <a:ext cx="792617" cy="2587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Text Box 172"/>
              <p:cNvSpPr txBox="1">
                <a:spLocks noChangeArrowheads="1"/>
              </p:cNvSpPr>
              <p:nvPr/>
            </p:nvSpPr>
            <p:spPr bwMode="auto">
              <a:xfrm>
                <a:off x="1883864" y="783243"/>
                <a:ext cx="864096" cy="388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密钥 </a:t>
                </a:r>
                <a:r>
                  <a:rPr lang="en-US" altLang="zh-CN" sz="14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endParaRPr lang="zh-CN" altLang="en-US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7" name="Line 221"/>
            <p:cNvSpPr>
              <a:spLocks noChangeShapeType="1"/>
            </p:cNvSpPr>
            <p:nvPr/>
          </p:nvSpPr>
          <p:spPr bwMode="auto">
            <a:xfrm rot="16200000" flipH="1">
              <a:off x="5848942" y="2744386"/>
              <a:ext cx="331787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8" name="组合 128"/>
            <p:cNvGrpSpPr>
              <a:grpSpLocks/>
            </p:cNvGrpSpPr>
            <p:nvPr/>
          </p:nvGrpSpPr>
          <p:grpSpPr bwMode="auto">
            <a:xfrm>
              <a:off x="5036142" y="2212577"/>
              <a:ext cx="1873250" cy="438151"/>
              <a:chOff x="3665798" y="1766129"/>
              <a:chExt cx="1872208" cy="438736"/>
            </a:xfrm>
          </p:grpSpPr>
          <p:sp>
            <p:nvSpPr>
              <p:cNvPr id="249" name="椭圆 119"/>
              <p:cNvSpPr>
                <a:spLocks noChangeArrowheads="1"/>
              </p:cNvSpPr>
              <p:nvPr/>
            </p:nvSpPr>
            <p:spPr bwMode="auto">
              <a:xfrm>
                <a:off x="3665798" y="1766129"/>
                <a:ext cx="1872208" cy="43873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Text Box 211"/>
              <p:cNvSpPr txBox="1">
                <a:spLocks noChangeArrowheads="1"/>
              </p:cNvSpPr>
              <p:nvPr/>
            </p:nvSpPr>
            <p:spPr bwMode="auto">
              <a:xfrm>
                <a:off x="3904062" y="1795826"/>
                <a:ext cx="1444593" cy="38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密码散列算法</a:t>
                </a:r>
                <a:endPara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1" name="Rectangle 165"/>
            <p:cNvSpPr>
              <a:spLocks noChangeArrowheads="1"/>
            </p:cNvSpPr>
            <p:nvPr/>
          </p:nvSpPr>
          <p:spPr bwMode="auto">
            <a:xfrm>
              <a:off x="5026617" y="1763311"/>
              <a:ext cx="1152525" cy="25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 </a:t>
              </a:r>
              <a:endPara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矩形 251"/>
            <p:cNvSpPr/>
            <p:nvPr/>
          </p:nvSpPr>
          <p:spPr bwMode="auto">
            <a:xfrm>
              <a:off x="6171204" y="1764898"/>
              <a:ext cx="792163" cy="25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Text Box 172"/>
            <p:cNvSpPr txBox="1">
              <a:spLocks noChangeArrowheads="1"/>
            </p:cNvSpPr>
            <p:nvPr/>
          </p:nvSpPr>
          <p:spPr bwMode="auto">
            <a:xfrm>
              <a:off x="6147392" y="1710560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Text Box 172"/>
            <p:cNvSpPr txBox="1">
              <a:spLocks noChangeArrowheads="1"/>
            </p:cNvSpPr>
            <p:nvPr/>
          </p:nvSpPr>
          <p:spPr bwMode="auto">
            <a:xfrm>
              <a:off x="5723529" y="1471165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  <a:endParaRPr lang="zh-CN" altLang="en-US" sz="14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914401" y="2788025"/>
            <a:ext cx="3541059" cy="0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4779296" y="1224623"/>
            <a:ext cx="3823334" cy="3172237"/>
            <a:chOff x="4782695" y="1274675"/>
            <a:chExt cx="3617585" cy="3172237"/>
          </a:xfrm>
        </p:grpSpPr>
        <p:sp>
          <p:nvSpPr>
            <p:cNvPr id="53" name="任意多边形 52"/>
            <p:cNvSpPr/>
            <p:nvPr/>
          </p:nvSpPr>
          <p:spPr>
            <a:xfrm>
              <a:off x="4782695" y="1274675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0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  <a:endParaRPr lang="zh-CN" altLang="en-US" sz="20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782695" y="1647085"/>
              <a:ext cx="3617585" cy="740024"/>
            </a:xfrm>
            <a:custGeom>
              <a:avLst/>
              <a:gdLst>
                <a:gd name="connsiteX0" fmla="*/ 0 w 3617585"/>
                <a:gd name="connsiteY0" fmla="*/ 0 h 740024"/>
                <a:gd name="connsiteX1" fmla="*/ 3617585 w 3617585"/>
                <a:gd name="connsiteY1" fmla="*/ 0 h 740024"/>
                <a:gd name="connsiteX2" fmla="*/ 3617585 w 3617585"/>
                <a:gd name="connsiteY2" fmla="*/ 740024 h 740024"/>
                <a:gd name="connsiteX3" fmla="*/ 0 w 3617585"/>
                <a:gd name="connsiteY3" fmla="*/ 740024 h 740024"/>
                <a:gd name="connsiteX4" fmla="*/ 0 w 3617585"/>
                <a:gd name="connsiteY4" fmla="*/ 0 h 74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740024">
                  <a:moveTo>
                    <a:pt x="0" y="0"/>
                  </a:moveTo>
                  <a:lnTo>
                    <a:pt x="3617585" y="0"/>
                  </a:lnTo>
                  <a:lnTo>
                    <a:pt x="3617585" y="740024"/>
                  </a:lnTo>
                  <a:lnTo>
                    <a:pt x="0" y="7400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把密钥 </a:t>
              </a:r>
              <a:r>
                <a:rPr lang="en-US" altLang="en-US" b="1" i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作为计算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的参数。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可以使用多种计算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的算法。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782695" y="2944282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1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20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HMAC (Hashed MAC)</a:t>
              </a:r>
              <a:endParaRPr lang="zh-CN" altLang="en-US" sz="20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782695" y="3316692"/>
              <a:ext cx="3617585" cy="1130220"/>
            </a:xfrm>
            <a:custGeom>
              <a:avLst/>
              <a:gdLst>
                <a:gd name="connsiteX0" fmla="*/ 0 w 3617585"/>
                <a:gd name="connsiteY0" fmla="*/ 0 h 1130220"/>
                <a:gd name="connsiteX1" fmla="*/ 3617585 w 3617585"/>
                <a:gd name="connsiteY1" fmla="*/ 0 h 1130220"/>
                <a:gd name="connsiteX2" fmla="*/ 3617585 w 3617585"/>
                <a:gd name="connsiteY2" fmla="*/ 1130220 h 1130220"/>
                <a:gd name="connsiteX3" fmla="*/ 0 w 3617585"/>
                <a:gd name="connsiteY3" fmla="*/ 1130220 h 1130220"/>
                <a:gd name="connsiteX4" fmla="*/ 0 w 3617585"/>
                <a:gd name="connsiteY4" fmla="*/ 0 h 113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1130220">
                  <a:moveTo>
                    <a:pt x="0" y="0"/>
                  </a:moveTo>
                  <a:lnTo>
                    <a:pt x="3617585" y="0"/>
                  </a:lnTo>
                  <a:lnTo>
                    <a:pt x="3617585" y="1130220"/>
                  </a:lnTo>
                  <a:lnTo>
                    <a:pt x="0" y="11302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把密钥 </a:t>
              </a:r>
              <a:r>
                <a:rPr lang="en-US" altLang="en-US" b="1" i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拼接在明文后面。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使用密码散列算法对其进行运算。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得出的散列值就是 </a:t>
              </a:r>
              <a:r>
                <a:rPr lang="en-US" altLang="en-US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HMAC</a:t>
              </a:r>
              <a:endParaRPr lang="zh-CN" altLang="en-US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对报文鉴别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517852" y="135966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采用公钥系统。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VISIO" r:id="rId3" imgW="1687068" imgH="964692" progId="">
                  <p:embed/>
                </p:oleObj>
              </mc:Choice>
              <mc:Fallback>
                <p:oleObj name="VISIO" r:id="rId3" imgW="1687068" imgH="964692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663157" y="3382213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zh-CN" altLang="en-US" sz="1200" b="1" i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347606" y="1445056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120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对报文鉴别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517852" y="1359664"/>
            <a:ext cx="8133857" cy="261170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如何分发共享密钥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采用公钥系统。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VISIO" r:id="rId3" imgW="1687068" imgH="964692" progId="">
                  <p:embed/>
                </p:oleObj>
              </mc:Choice>
              <mc:Fallback>
                <p:oleObj name="VISIO" r:id="rId3" imgW="1687068" imgH="96469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 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GB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GB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438307" y="3382213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已签名的非固定长度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zh-CN" altLang="en-US" sz="1200" b="1" i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不安全的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032816" y="1445056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已签名的非固定长度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4" name="矩形 113"/>
          <p:cNvSpPr/>
          <p:nvPr/>
        </p:nvSpPr>
        <p:spPr>
          <a:xfrm>
            <a:off x="1571942" y="2533966"/>
            <a:ext cx="5929420" cy="1169551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所得到的扩展报文：不可伪造，不可否认。</a:t>
            </a:r>
            <a:endParaRPr lang="en-US" altLang="zh-CN" b="1" kern="5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可简称为：“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用自己的私钥进行签名，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的公钥进行鉴别”。</a:t>
            </a:r>
            <a:endParaRPr lang="zh-CN" altLang="en-US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41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962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359564" y="594156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1054041"/>
            <a:ext cx="812901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实体鉴别与报文鉴别不同。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报文鉴别：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收到的报文都要鉴别报文的发送者。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实体鉴别：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在系统接入的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全部持续时间内，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对和自己通信的对方实体只需验证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509475" y="61362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3160774" y="580410"/>
            <a:ext cx="2826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最简单的实体鉴别过程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4624"/>
            <a:ext cx="8133857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使用共享的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 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实现实体鉴别。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17852" y="1452467"/>
            <a:ext cx="8133857" cy="152652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1902880" y="2522923"/>
            <a:ext cx="525462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86697" y="1593591"/>
            <a:ext cx="3401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7377769" y="1575777"/>
            <a:ext cx="3289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+mn-lt"/>
                <a:ea typeface="黑体" panose="02010609060101010101" pitchFamily="2" charset="-122"/>
              </a:rPr>
              <a:t>B</a:t>
            </a:r>
          </a:p>
        </p:txBody>
      </p:sp>
      <p:sp>
        <p:nvSpPr>
          <p:cNvPr id="15" name="Line 63"/>
          <p:cNvSpPr>
            <a:spLocks noChangeShapeType="1"/>
          </p:cNvSpPr>
          <p:nvPr/>
        </p:nvSpPr>
        <p:spPr bwMode="auto">
          <a:xfrm rot="16200000" flipH="1">
            <a:off x="1595737" y="2520892"/>
            <a:ext cx="626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Line 64"/>
          <p:cNvSpPr>
            <a:spLocks noChangeShapeType="1"/>
          </p:cNvSpPr>
          <p:nvPr/>
        </p:nvSpPr>
        <p:spPr bwMode="auto">
          <a:xfrm rot="16200000" flipH="1">
            <a:off x="6867763" y="2527835"/>
            <a:ext cx="6261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auto">
          <a:xfrm>
            <a:off x="3683954" y="2302239"/>
            <a:ext cx="1932957" cy="446647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口令</a:t>
            </a:r>
          </a:p>
        </p:txBody>
      </p:sp>
      <p:pic>
        <p:nvPicPr>
          <p:cNvPr id="18" name="Picture 6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3" y="1932254"/>
            <a:ext cx="360736" cy="49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2964880" y="1878821"/>
            <a:ext cx="5261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1" i="1" dirty="0">
                <a:latin typeface="+mn-lt"/>
                <a:ea typeface="黑体" panose="02010609060101010101" pitchFamily="2" charset="-122"/>
              </a:rPr>
              <a:t>K</a:t>
            </a:r>
            <a:r>
              <a:rPr lang="en-US" altLang="zh-CN" sz="2000" b="1" baseline="-25000" dirty="0">
                <a:latin typeface="+mn-lt"/>
                <a:ea typeface="黑体" panose="02010609060101010101" pitchFamily="2" charset="-122"/>
              </a:rPr>
              <a:t>AB</a:t>
            </a:r>
          </a:p>
        </p:txBody>
      </p:sp>
      <p:pic>
        <p:nvPicPr>
          <p:cNvPr id="7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30" y="1676274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301" y="1676031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81325" y="3026368"/>
            <a:ext cx="6991253" cy="132343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存在明显漏洞：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不能抵抗重放攻击。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重放攻击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(replay attack)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：入侵者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不需要破译报文，而是直接把由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加密的报文发送给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误认为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就会向伪装成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发送许多本来应当发给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8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3327486" y="576447"/>
            <a:ext cx="2492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使用不重数进行鉴别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997627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75495" y="1520409"/>
            <a:ext cx="2042931" cy="260981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不重数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(nonce) 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：是一个不重复使用的大随机数，即“一次一数”。</a:t>
            </a: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由于不重数不能重复使用，所以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在进行重放攻击时无法重复使用所截获的不重数。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085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194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18769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0859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17225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6552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2427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6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68546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072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09949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814527" y="576444"/>
            <a:ext cx="3518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使用公钥体制进行不重数鉴别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1000529"/>
            <a:ext cx="8133857" cy="321283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51929" y="1722115"/>
            <a:ext cx="219403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在使用公钥密码体制时，可以对不重数进行签名鉴别。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使用公钥核实签名。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375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484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21671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3761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20127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9454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95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5329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609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87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71448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362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10239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88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68691" y="575593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假冒攻击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94768"/>
            <a:ext cx="8218067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冒充是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，发送报文给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，说：“我是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选择一个不重数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用自己的私钥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的私钥，对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加密，并发送给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发送报文，要求对方把解密用的公钥发送过来，但这报文也被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截获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把自己的公钥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冒充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的公钥发送给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用收到的公钥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对收到的加密的 </a:t>
            </a:r>
            <a:r>
              <a:rPr lang="en-US" altLang="zh-CN" sz="19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9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进行解密，其结果当然正确。于是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相信通信的对方是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，接着就向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发送许多敏感数据，但都被 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截获了。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AutoShape 5"/>
          <p:cNvSpPr>
            <a:spLocks noChangeArrowheads="1"/>
          </p:cNvSpPr>
          <p:nvPr/>
        </p:nvSpPr>
        <p:spPr bwMode="auto">
          <a:xfrm>
            <a:off x="509475" y="61218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" name="Rectangle 6"/>
          <p:cNvSpPr>
            <a:spLocks noChangeArrowheads="1"/>
          </p:cNvSpPr>
          <p:nvPr/>
        </p:nvSpPr>
        <p:spPr bwMode="auto">
          <a:xfrm>
            <a:off x="3801975" y="578974"/>
            <a:ext cx="1544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中间人攻击 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1013346"/>
            <a:ext cx="8133857" cy="293445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82254" y="3988273"/>
            <a:ext cx="6982691" cy="369332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以及认证公钥的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是一个非常重要的问题。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971433" y="1036048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917971" y="1036048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5400000">
            <a:off x="704576" y="2659514"/>
            <a:ext cx="224003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6246702" y="2636371"/>
            <a:ext cx="2221691" cy="5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Group 553"/>
          <p:cNvGrpSpPr/>
          <p:nvPr/>
        </p:nvGrpSpPr>
        <p:grpSpPr bwMode="auto">
          <a:xfrm>
            <a:off x="1817970" y="1508922"/>
            <a:ext cx="2772273" cy="272107"/>
            <a:chOff x="428" y="1792"/>
            <a:chExt cx="2511" cy="267"/>
          </a:xfrm>
        </p:grpSpPr>
        <p:sp>
          <p:nvSpPr>
            <p:cNvPr id="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400" b="1" i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Group 67"/>
          <p:cNvGrpSpPr/>
          <p:nvPr/>
        </p:nvGrpSpPr>
        <p:grpSpPr bwMode="auto">
          <a:xfrm>
            <a:off x="4305398" y="1114522"/>
            <a:ext cx="512280" cy="413765"/>
            <a:chOff x="624" y="2968"/>
            <a:chExt cx="1331" cy="920"/>
          </a:xfrm>
        </p:grpSpPr>
        <p:sp>
          <p:nvSpPr>
            <p:cNvPr id="68" name="Freeform 68"/>
            <p:cNvSpPr/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9"/>
            <p:cNvSpPr/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70"/>
            <p:cNvSpPr/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71"/>
            <p:cNvSpPr/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72"/>
            <p:cNvSpPr/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73"/>
            <p:cNvSpPr/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74"/>
            <p:cNvSpPr/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75"/>
            <p:cNvSpPr/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76"/>
            <p:cNvSpPr/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77"/>
            <p:cNvSpPr/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78"/>
            <p:cNvSpPr/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79"/>
            <p:cNvSpPr/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06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17" name="Freeform 82"/>
                <p:cNvSpPr/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8" name="Freeform 83"/>
                <p:cNvSpPr/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9" name="Freeform 84"/>
                <p:cNvSpPr/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7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14" name="Freeform 86"/>
                <p:cNvSpPr/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5" name="Freeform 87"/>
                <p:cNvSpPr/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6" name="Freeform 88"/>
                <p:cNvSpPr/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8" name="Freeform 89"/>
              <p:cNvSpPr/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90"/>
              <p:cNvSpPr/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91"/>
              <p:cNvSpPr/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92"/>
              <p:cNvSpPr/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2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11" name="Freeform 94"/>
                <p:cNvSpPr/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2" name="Freeform 95"/>
                <p:cNvSpPr/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3" name="Freeform 96"/>
                <p:cNvSpPr/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3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08" name="Freeform 98"/>
                <p:cNvSpPr/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9" name="Freeform 99"/>
                <p:cNvSpPr/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0" name="Freeform 100"/>
                <p:cNvSpPr/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4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05" name="Freeform 102"/>
                <p:cNvSpPr/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03"/>
                <p:cNvSpPr/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7" name="Freeform 104"/>
                <p:cNvSpPr/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5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02" name="Freeform 106"/>
                <p:cNvSpPr/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3" name="Freeform 107"/>
                <p:cNvSpPr/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4" name="Freeform 108"/>
                <p:cNvSpPr/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6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82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499" name="Freeform 111"/>
                  <p:cNvSpPr/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0" name="Freeform 112"/>
                  <p:cNvSpPr/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1" name="Freeform 113"/>
                  <p:cNvSpPr/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3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496" name="Freeform 115"/>
                  <p:cNvSpPr/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7" name="Freeform 116"/>
                  <p:cNvSpPr/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8" name="Freeform 117"/>
                  <p:cNvSpPr/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4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493" name="Freeform 119"/>
                  <p:cNvSpPr/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4" name="Freeform 120"/>
                  <p:cNvSpPr/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5" name="Freeform 121"/>
                  <p:cNvSpPr/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5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490" name="Freeform 123"/>
                  <p:cNvSpPr/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1" name="Freeform 124"/>
                  <p:cNvSpPr/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2" name="Freeform 125"/>
                  <p:cNvSpPr/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86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487" name="Freeform 127"/>
                  <p:cNvSpPr/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8" name="Freeform 128"/>
                  <p:cNvSpPr/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9" name="Freeform 129"/>
                  <p:cNvSpPr/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7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62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79" name="Freeform 132"/>
                  <p:cNvSpPr/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0" name="Freeform 133"/>
                  <p:cNvSpPr/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1" name="Freeform 134"/>
                  <p:cNvSpPr/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3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76" name="Freeform 136"/>
                  <p:cNvSpPr/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7" name="Freeform 137"/>
                  <p:cNvSpPr/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8" name="Freeform 138"/>
                  <p:cNvSpPr/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4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73" name="Freeform 140"/>
                  <p:cNvSpPr/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4" name="Freeform 141"/>
                  <p:cNvSpPr/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5" name="Freeform 142"/>
                  <p:cNvSpPr/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5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70" name="Freeform 144"/>
                  <p:cNvSpPr/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1" name="Freeform 145"/>
                  <p:cNvSpPr/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2" name="Freeform 146"/>
                  <p:cNvSpPr/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66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67" name="Freeform 148"/>
                  <p:cNvSpPr/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8" name="Freeform 149"/>
                  <p:cNvSpPr/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9" name="Freeform 150"/>
                  <p:cNvSpPr/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18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59" name="Freeform 152"/>
                <p:cNvSpPr/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Freeform 153"/>
                <p:cNvSpPr/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Freeform 154"/>
                <p:cNvSpPr/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9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56" name="Freeform 156"/>
                <p:cNvSpPr/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7" name="Freeform 157"/>
                <p:cNvSpPr/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8" name="Freeform 158"/>
                <p:cNvSpPr/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0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53" name="Freeform 160"/>
                <p:cNvSpPr/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4" name="Freeform 161"/>
                <p:cNvSpPr/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5" name="Freeform 162"/>
                <p:cNvSpPr/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Freeform 163"/>
              <p:cNvSpPr/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164"/>
              <p:cNvSpPr/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165"/>
              <p:cNvSpPr/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4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50" name="Freeform 167"/>
                <p:cNvSpPr/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1" name="Freeform 168"/>
                <p:cNvSpPr/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2" name="Freeform 169"/>
                <p:cNvSpPr/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5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47" name="Freeform 171"/>
                <p:cNvSpPr/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8" name="Freeform 172"/>
                <p:cNvSpPr/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9" name="Freeform 173"/>
                <p:cNvSpPr/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6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44" name="Freeform 175"/>
                <p:cNvSpPr/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5" name="Freeform 176"/>
                <p:cNvSpPr/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6" name="Freeform 177"/>
                <p:cNvSpPr/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7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41" name="Freeform 179"/>
                <p:cNvSpPr/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2" name="Freeform 180"/>
                <p:cNvSpPr/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3" name="Freeform 181"/>
                <p:cNvSpPr/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8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21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38" name="Freeform 184"/>
                  <p:cNvSpPr/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9" name="Freeform 185"/>
                  <p:cNvSpPr/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0" name="Freeform 186"/>
                  <p:cNvSpPr/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2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35" name="Freeform 188"/>
                  <p:cNvSpPr/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6" name="Freeform 189"/>
                  <p:cNvSpPr/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7" name="Freeform 190"/>
                  <p:cNvSpPr/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3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32" name="Freeform 192"/>
                  <p:cNvSpPr/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3" name="Freeform 193"/>
                  <p:cNvSpPr/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4" name="Freeform 194"/>
                  <p:cNvSpPr/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4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29" name="Freeform 196"/>
                  <p:cNvSpPr/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0" name="Freeform 197"/>
                  <p:cNvSpPr/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1" name="Freeform 198"/>
                  <p:cNvSpPr/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25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26" name="Freeform 200"/>
                  <p:cNvSpPr/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7" name="Freeform 201"/>
                  <p:cNvSpPr/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8" name="Freeform 202"/>
                  <p:cNvSpPr/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29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01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18" name="Freeform 205"/>
                  <p:cNvSpPr/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9" name="Freeform 206"/>
                  <p:cNvSpPr/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0" name="Freeform 207"/>
                  <p:cNvSpPr/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2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15" name="Freeform 209"/>
                  <p:cNvSpPr/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6" name="Freeform 210"/>
                  <p:cNvSpPr/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7" name="Freeform 211"/>
                  <p:cNvSpPr/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3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12" name="Freeform 213"/>
                  <p:cNvSpPr/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3" name="Freeform 214"/>
                  <p:cNvSpPr/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4" name="Freeform 215"/>
                  <p:cNvSpPr/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4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09" name="Freeform 217"/>
                  <p:cNvSpPr/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0" name="Freeform 218"/>
                  <p:cNvSpPr/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1" name="Freeform 219"/>
                  <p:cNvSpPr/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5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06" name="Freeform 221"/>
                  <p:cNvSpPr/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7" name="Freeform 222"/>
                  <p:cNvSpPr/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8" name="Freeform 223"/>
                  <p:cNvSpPr/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0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398" name="Freeform 225"/>
                <p:cNvSpPr/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9" name="Freeform 226"/>
                <p:cNvSpPr/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0" name="Freeform 227"/>
                <p:cNvSpPr/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1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395" name="Freeform 229"/>
                <p:cNvSpPr/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6" name="Freeform 230"/>
                <p:cNvSpPr/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7" name="Freeform 231"/>
                <p:cNvSpPr/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2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392" name="Freeform 233"/>
                <p:cNvSpPr/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3" name="Freeform 234"/>
                <p:cNvSpPr/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4" name="Freeform 235"/>
                <p:cNvSpPr/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3" name="Freeform 236"/>
              <p:cNvSpPr/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237"/>
              <p:cNvSpPr/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238"/>
              <p:cNvSpPr/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6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389" name="Freeform 240"/>
                <p:cNvSpPr/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0" name="Freeform 241"/>
                <p:cNvSpPr/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1" name="Freeform 242"/>
                <p:cNvSpPr/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7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386" name="Freeform 244"/>
                <p:cNvSpPr/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7" name="Freeform 245"/>
                <p:cNvSpPr/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8" name="Freeform 246"/>
                <p:cNvSpPr/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8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383" name="Freeform 248"/>
                <p:cNvSpPr/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4" name="Freeform 249"/>
                <p:cNvSpPr/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5" name="Freeform 250"/>
                <p:cNvSpPr/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9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80" name="Freeform 252"/>
                <p:cNvSpPr/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1" name="Freeform 253"/>
                <p:cNvSpPr/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2" name="Freeform 254"/>
                <p:cNvSpPr/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0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60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77" name="Freeform 257"/>
                  <p:cNvSpPr/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8" name="Freeform 258"/>
                  <p:cNvSpPr/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9" name="Freeform 259"/>
                  <p:cNvSpPr/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1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74" name="Freeform 261"/>
                  <p:cNvSpPr/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5" name="Freeform 262"/>
                  <p:cNvSpPr/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6" name="Freeform 263"/>
                  <p:cNvSpPr/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2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71" name="Freeform 265"/>
                  <p:cNvSpPr/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2" name="Freeform 266"/>
                  <p:cNvSpPr/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3" name="Freeform 267"/>
                  <p:cNvSpPr/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3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68" name="Freeform 269"/>
                  <p:cNvSpPr/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" name="Freeform 270"/>
                  <p:cNvSpPr/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0" name="Freeform 271"/>
                  <p:cNvSpPr/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4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65" name="Freeform 273"/>
                  <p:cNvSpPr/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6" name="Freeform 274"/>
                  <p:cNvSpPr/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7" name="Freeform 275"/>
                  <p:cNvSpPr/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1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40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57" name="Freeform 278"/>
                  <p:cNvSpPr/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8" name="Freeform 279"/>
                  <p:cNvSpPr/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9" name="Freeform 280"/>
                  <p:cNvSpPr/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1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54" name="Freeform 282"/>
                  <p:cNvSpPr/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5" name="Freeform 283"/>
                  <p:cNvSpPr/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6" name="Freeform 284"/>
                  <p:cNvSpPr/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2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51" name="Freeform 286"/>
                  <p:cNvSpPr/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2" name="Freeform 287"/>
                  <p:cNvSpPr/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3" name="Freeform 288"/>
                  <p:cNvSpPr/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3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48" name="Freeform 290"/>
                  <p:cNvSpPr/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9" name="Freeform 291"/>
                  <p:cNvSpPr/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0" name="Freeform 292"/>
                  <p:cNvSpPr/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44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45" name="Freeform 294"/>
                  <p:cNvSpPr/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6" name="Freeform 295"/>
                  <p:cNvSpPr/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7" name="Freeform 296"/>
                  <p:cNvSpPr/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2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37" name="Freeform 298"/>
                <p:cNvSpPr/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8" name="Freeform 299"/>
                <p:cNvSpPr/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9" name="Freeform 300"/>
                <p:cNvSpPr/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3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34" name="Freeform 302"/>
                <p:cNvSpPr/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5" name="Freeform 303"/>
                <p:cNvSpPr/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6" name="Freeform 304"/>
                <p:cNvSpPr/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4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31" name="Freeform 306"/>
                <p:cNvSpPr/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2" name="Freeform 307"/>
                <p:cNvSpPr/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3" name="Freeform 308"/>
                <p:cNvSpPr/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5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28" name="Freeform 310"/>
                <p:cNvSpPr/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Freeform 311"/>
                <p:cNvSpPr/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0" name="Freeform 312"/>
                <p:cNvSpPr/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6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25" name="Freeform 314"/>
                <p:cNvSpPr/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6" name="Freeform 315"/>
                <p:cNvSpPr/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7" name="Freeform 316"/>
                <p:cNvSpPr/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7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05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22" name="Freeform 319"/>
                  <p:cNvSpPr/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3" name="Freeform 320"/>
                  <p:cNvSpPr/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4" name="Freeform 321"/>
                  <p:cNvSpPr/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6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19" name="Freeform 323"/>
                  <p:cNvSpPr/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0" name="Freeform 324"/>
                  <p:cNvSpPr/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1" name="Freeform 325"/>
                  <p:cNvSpPr/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7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16" name="Freeform 327"/>
                  <p:cNvSpPr/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7" name="Freeform 328"/>
                  <p:cNvSpPr/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8" name="Freeform 329"/>
                  <p:cNvSpPr/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8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13" name="Freeform 331"/>
                  <p:cNvSpPr/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4" name="Freeform 332"/>
                  <p:cNvSpPr/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5" name="Freeform 333"/>
                  <p:cNvSpPr/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09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10" name="Freeform 335"/>
                  <p:cNvSpPr/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1" name="Freeform 336"/>
                  <p:cNvSpPr/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2" name="Freeform 337"/>
                  <p:cNvSpPr/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8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85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02" name="Freeform 340"/>
                  <p:cNvSpPr/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3" name="Freeform 341"/>
                  <p:cNvSpPr/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4" name="Freeform 342"/>
                  <p:cNvSpPr/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6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99" name="Freeform 344"/>
                  <p:cNvSpPr/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0" name="Freeform 345"/>
                  <p:cNvSpPr/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1" name="Freeform 346"/>
                  <p:cNvSpPr/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7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96" name="Freeform 348"/>
                  <p:cNvSpPr/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7" name="Freeform 349"/>
                  <p:cNvSpPr/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8" name="Freeform 350"/>
                  <p:cNvSpPr/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8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93" name="Freeform 352"/>
                  <p:cNvSpPr/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4" name="Freeform 353"/>
                  <p:cNvSpPr/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5" name="Freeform 354"/>
                  <p:cNvSpPr/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89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90" name="Freeform 356"/>
                  <p:cNvSpPr/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1" name="Freeform 357"/>
                  <p:cNvSpPr/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2" name="Freeform 358"/>
                  <p:cNvSpPr/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49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82" name="Freeform 360"/>
                <p:cNvSpPr/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3" name="Freeform 361"/>
                <p:cNvSpPr/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4" name="Freeform 362"/>
                <p:cNvSpPr/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0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79" name="Freeform 364"/>
                <p:cNvSpPr/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0" name="Freeform 365"/>
                <p:cNvSpPr/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Freeform 366"/>
                <p:cNvSpPr/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1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76" name="Freeform 368"/>
                <p:cNvSpPr/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7" name="Freeform 369"/>
                <p:cNvSpPr/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Freeform 370"/>
                <p:cNvSpPr/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2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73" name="Freeform 372"/>
                <p:cNvSpPr/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4" name="Freeform 373"/>
                <p:cNvSpPr/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5" name="Freeform 374"/>
                <p:cNvSpPr/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3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70" name="Freeform 376"/>
                <p:cNvSpPr/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1" name="Freeform 377"/>
                <p:cNvSpPr/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2" name="Freeform 378"/>
                <p:cNvSpPr/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4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54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67" name="Freeform 381"/>
                  <p:cNvSpPr/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8" name="Freeform 382"/>
                  <p:cNvSpPr/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9" name="Freeform 383"/>
                  <p:cNvSpPr/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5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64" name="Freeform 385"/>
                  <p:cNvSpPr/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5" name="Freeform 386"/>
                  <p:cNvSpPr/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6" name="Freeform 387"/>
                  <p:cNvSpPr/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6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61" name="Freeform 389"/>
                  <p:cNvSpPr/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2" name="Freeform 390"/>
                  <p:cNvSpPr/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3" name="Freeform 391"/>
                  <p:cNvSpPr/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57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58" name="Freeform 393"/>
                  <p:cNvSpPr/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9" name="Freeform 394"/>
                  <p:cNvSpPr/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0" name="Freeform 395"/>
                  <p:cNvSpPr/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5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38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51" name="Freeform 398"/>
                  <p:cNvSpPr/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2" name="Freeform 399"/>
                  <p:cNvSpPr/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3" name="Freeform 400"/>
                  <p:cNvSpPr/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39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48" name="Freeform 402"/>
                  <p:cNvSpPr/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9" name="Freeform 403"/>
                  <p:cNvSpPr/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0" name="Freeform 404"/>
                  <p:cNvSpPr/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0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45" name="Freeform 406"/>
                  <p:cNvSpPr/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6" name="Freeform 407"/>
                  <p:cNvSpPr/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7" name="Freeform 408"/>
                  <p:cNvSpPr/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41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42" name="Freeform 410"/>
                  <p:cNvSpPr/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3" name="Freeform 411"/>
                  <p:cNvSpPr/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4" name="Freeform 412"/>
                  <p:cNvSpPr/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6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35" name="Freeform 414"/>
                <p:cNvSpPr/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6" name="Freeform 415"/>
                <p:cNvSpPr/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7" name="Freeform 416"/>
                <p:cNvSpPr/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7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32" name="Freeform 418"/>
                <p:cNvSpPr/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Freeform 419"/>
                <p:cNvSpPr/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4" name="Freeform 420"/>
                <p:cNvSpPr/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8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29" name="Freeform 422"/>
                <p:cNvSpPr/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Freeform 423"/>
                <p:cNvSpPr/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Freeform 424"/>
                <p:cNvSpPr/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9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26" name="Freeform 426"/>
                <p:cNvSpPr/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Freeform 427"/>
                <p:cNvSpPr/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8" name="Freeform 428"/>
                <p:cNvSpPr/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0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23" name="Freeform 430"/>
                <p:cNvSpPr/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4" name="Freeform 431"/>
                <p:cNvSpPr/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5" name="Freeform 432"/>
                <p:cNvSpPr/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1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20" name="Freeform 434"/>
                <p:cNvSpPr/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1" name="Freeform 435"/>
                <p:cNvSpPr/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2" name="Freeform 436"/>
                <p:cNvSpPr/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2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7" name="Freeform 438"/>
                <p:cNvSpPr/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8" name="Freeform 439"/>
                <p:cNvSpPr/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9" name="Freeform 440"/>
                <p:cNvSpPr/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3" name="Freeform 441"/>
              <p:cNvSpPr/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442"/>
              <p:cNvSpPr/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443"/>
              <p:cNvSpPr/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444"/>
              <p:cNvSpPr/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445"/>
              <p:cNvSpPr/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446"/>
              <p:cNvSpPr/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447"/>
              <p:cNvSpPr/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448"/>
              <p:cNvSpPr/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449"/>
              <p:cNvSpPr/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450"/>
              <p:cNvSpPr/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451"/>
              <p:cNvSpPr/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4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4" name="Freeform 453"/>
                <p:cNvSpPr/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Freeform 454"/>
                <p:cNvSpPr/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6" name="Freeform 455"/>
                <p:cNvSpPr/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5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1" name="Freeform 457"/>
                <p:cNvSpPr/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2" name="Freeform 458"/>
                <p:cNvSpPr/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3" name="Freeform 459"/>
                <p:cNvSpPr/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6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08" name="Freeform 461"/>
                <p:cNvSpPr/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9" name="Freeform 462"/>
                <p:cNvSpPr/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0" name="Freeform 463"/>
                <p:cNvSpPr/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7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05" name="Freeform 465"/>
                <p:cNvSpPr/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6" name="Freeform 466"/>
                <p:cNvSpPr/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7" name="Freeform 467"/>
                <p:cNvSpPr/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8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02" name="Freeform 469"/>
                <p:cNvSpPr/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Freeform 470"/>
                <p:cNvSpPr/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4" name="Freeform 471"/>
                <p:cNvSpPr/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9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99" name="Freeform 473"/>
                <p:cNvSpPr/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0" name="Freeform 474"/>
                <p:cNvSpPr/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Freeform 475"/>
                <p:cNvSpPr/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0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96" name="Freeform 477"/>
                <p:cNvSpPr/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Freeform 478"/>
                <p:cNvSpPr/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8" name="Freeform 479"/>
                <p:cNvSpPr/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1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93" name="Freeform 481"/>
                <p:cNvSpPr/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4" name="Freeform 482"/>
                <p:cNvSpPr/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Freeform 483"/>
                <p:cNvSpPr/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2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90" name="Freeform 485"/>
                <p:cNvSpPr/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Freeform 486"/>
                <p:cNvSpPr/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Freeform 487"/>
                <p:cNvSpPr/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3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87" name="Freeform 489"/>
                <p:cNvSpPr/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Freeform 490"/>
                <p:cNvSpPr/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Freeform 491"/>
                <p:cNvSpPr/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4" name="Freeform 492"/>
              <p:cNvSpPr/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493"/>
              <p:cNvSpPr/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494"/>
              <p:cNvSpPr/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02" name="Freeform 496"/>
              <p:cNvSpPr/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497"/>
              <p:cNvSpPr/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83" name="Freeform 501"/>
              <p:cNvSpPr/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502"/>
              <p:cNvSpPr/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503"/>
              <p:cNvSpPr/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505"/>
              <p:cNvSpPr/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506"/>
              <p:cNvSpPr/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507"/>
              <p:cNvSpPr/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508"/>
              <p:cNvSpPr/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509"/>
              <p:cNvSpPr/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510"/>
              <p:cNvSpPr/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511"/>
              <p:cNvSpPr/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512"/>
              <p:cNvSpPr/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513"/>
              <p:cNvSpPr/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514"/>
              <p:cNvSpPr/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517"/>
              <p:cNvSpPr/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20" name="Text Box 520"/>
          <p:cNvSpPr txBox="1">
            <a:spLocks noChangeArrowheads="1"/>
          </p:cNvSpPr>
          <p:nvPr/>
        </p:nvSpPr>
        <p:spPr bwMode="auto">
          <a:xfrm>
            <a:off x="3613344" y="1040591"/>
            <a:ext cx="9989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521" name="Line 521"/>
          <p:cNvSpPr>
            <a:spLocks noChangeShapeType="1"/>
          </p:cNvSpPr>
          <p:nvPr/>
        </p:nvSpPr>
        <p:spPr bwMode="auto">
          <a:xfrm rot="5400000">
            <a:off x="3486361" y="2631998"/>
            <a:ext cx="220334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2" name="Group 554"/>
          <p:cNvGrpSpPr/>
          <p:nvPr/>
        </p:nvGrpSpPr>
        <p:grpSpPr bwMode="auto">
          <a:xfrm>
            <a:off x="4590243" y="1569050"/>
            <a:ext cx="2773377" cy="272106"/>
            <a:chOff x="2939" y="1851"/>
            <a:chExt cx="2512" cy="267"/>
          </a:xfrm>
        </p:grpSpPr>
        <p:sp>
          <p:nvSpPr>
            <p:cNvPr id="5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0000FF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25" name="Group 555"/>
          <p:cNvGrpSpPr/>
          <p:nvPr/>
        </p:nvGrpSpPr>
        <p:grpSpPr bwMode="auto">
          <a:xfrm>
            <a:off x="4572578" y="1902304"/>
            <a:ext cx="2773377" cy="272107"/>
            <a:chOff x="2923" y="2178"/>
            <a:chExt cx="2512" cy="267"/>
          </a:xfrm>
        </p:grpSpPr>
        <p:sp>
          <p:nvSpPr>
            <p:cNvPr id="5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rgbClr val="0099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28" name="Group 558"/>
          <p:cNvGrpSpPr/>
          <p:nvPr/>
        </p:nvGrpSpPr>
        <p:grpSpPr bwMode="auto">
          <a:xfrm>
            <a:off x="4572578" y="2068422"/>
            <a:ext cx="2773377" cy="469816"/>
            <a:chOff x="2923" y="2341"/>
            <a:chExt cx="2512" cy="461"/>
          </a:xfrm>
        </p:grpSpPr>
        <p:sp>
          <p:nvSpPr>
            <p:cNvPr id="5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31" name="Picture 5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2" name="Text Box 529"/>
            <p:cNvSpPr txBox="1">
              <a:spLocks noChangeArrowheads="1"/>
            </p:cNvSpPr>
            <p:nvPr/>
          </p:nvSpPr>
          <p:spPr bwMode="auto">
            <a:xfrm>
              <a:off x="3010" y="2341"/>
              <a:ext cx="45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3" name="Group 559"/>
          <p:cNvGrpSpPr/>
          <p:nvPr/>
        </p:nvGrpSpPr>
        <p:grpSpPr bwMode="auto">
          <a:xfrm>
            <a:off x="4590243" y="2567792"/>
            <a:ext cx="2773377" cy="272106"/>
            <a:chOff x="2939" y="2831"/>
            <a:chExt cx="2512" cy="267"/>
          </a:xfrm>
        </p:grpSpPr>
        <p:sp>
          <p:nvSpPr>
            <p:cNvPr id="5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6" name="Group 563"/>
          <p:cNvGrpSpPr/>
          <p:nvPr/>
        </p:nvGrpSpPr>
        <p:grpSpPr bwMode="auto">
          <a:xfrm>
            <a:off x="4590243" y="2860281"/>
            <a:ext cx="2773377" cy="272107"/>
            <a:chOff x="2939" y="3118"/>
            <a:chExt cx="2512" cy="267"/>
          </a:xfrm>
        </p:grpSpPr>
        <p:sp>
          <p:nvSpPr>
            <p:cNvPr id="5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39" name="Group 556"/>
          <p:cNvGrpSpPr/>
          <p:nvPr/>
        </p:nvGrpSpPr>
        <p:grpSpPr bwMode="auto">
          <a:xfrm>
            <a:off x="1801409" y="1993006"/>
            <a:ext cx="2773377" cy="272106"/>
            <a:chOff x="413" y="2267"/>
            <a:chExt cx="2512" cy="267"/>
          </a:xfrm>
        </p:grpSpPr>
        <p:sp>
          <p:nvSpPr>
            <p:cNvPr id="5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542" name="Group 557"/>
          <p:cNvGrpSpPr/>
          <p:nvPr/>
        </p:nvGrpSpPr>
        <p:grpSpPr bwMode="auto">
          <a:xfrm>
            <a:off x="1817970" y="2156068"/>
            <a:ext cx="2772273" cy="474913"/>
            <a:chOff x="428" y="2427"/>
            <a:chExt cx="2511" cy="466"/>
          </a:xfrm>
        </p:grpSpPr>
        <p:sp>
          <p:nvSpPr>
            <p:cNvPr id="5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45" name="Picture 5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46" name="Text Box 538"/>
            <p:cNvSpPr txBox="1">
              <a:spLocks noChangeArrowheads="1"/>
            </p:cNvSpPr>
            <p:nvPr/>
          </p:nvSpPr>
          <p:spPr bwMode="auto">
            <a:xfrm>
              <a:off x="503" y="2427"/>
              <a:ext cx="459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47" name="Group 560"/>
          <p:cNvGrpSpPr/>
          <p:nvPr/>
        </p:nvGrpSpPr>
        <p:grpSpPr bwMode="auto">
          <a:xfrm>
            <a:off x="1817970" y="2689068"/>
            <a:ext cx="2772273" cy="272107"/>
            <a:chOff x="428" y="2950"/>
            <a:chExt cx="2511" cy="267"/>
          </a:xfrm>
        </p:grpSpPr>
        <p:sp>
          <p:nvSpPr>
            <p:cNvPr id="5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0" name="Group 562"/>
          <p:cNvGrpSpPr/>
          <p:nvPr/>
        </p:nvGrpSpPr>
        <p:grpSpPr bwMode="auto">
          <a:xfrm>
            <a:off x="1817970" y="2993786"/>
            <a:ext cx="2772273" cy="272106"/>
            <a:chOff x="428" y="3249"/>
            <a:chExt cx="2511" cy="267"/>
          </a:xfrm>
        </p:grpSpPr>
        <p:sp>
          <p:nvSpPr>
            <p:cNvPr id="5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009900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553" name="Group 565"/>
          <p:cNvGrpSpPr/>
          <p:nvPr/>
        </p:nvGrpSpPr>
        <p:grpSpPr bwMode="auto">
          <a:xfrm>
            <a:off x="4590243" y="3085510"/>
            <a:ext cx="2773377" cy="521792"/>
            <a:chOff x="2939" y="3339"/>
            <a:chExt cx="2512" cy="512"/>
          </a:xfrm>
        </p:grpSpPr>
        <p:sp>
          <p:nvSpPr>
            <p:cNvPr id="5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5" name="Rectangle 544"/>
            <p:cNvSpPr>
              <a:spLocks noChangeArrowheads="1"/>
            </p:cNvSpPr>
            <p:nvPr/>
          </p:nvSpPr>
          <p:spPr bwMode="auto">
            <a:xfrm>
              <a:off x="4669" y="3584"/>
              <a:ext cx="567" cy="26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56" name="Picture 5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57" name="Text Box 546"/>
            <p:cNvSpPr txBox="1">
              <a:spLocks noChangeArrowheads="1"/>
            </p:cNvSpPr>
            <p:nvPr/>
          </p:nvSpPr>
          <p:spPr bwMode="auto">
            <a:xfrm>
              <a:off x="4226" y="3339"/>
              <a:ext cx="418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  <p:grpSp>
        <p:nvGrpSpPr>
          <p:cNvPr id="558" name="Group 564"/>
          <p:cNvGrpSpPr/>
          <p:nvPr/>
        </p:nvGrpSpPr>
        <p:grpSpPr bwMode="auto">
          <a:xfrm>
            <a:off x="1817970" y="3208825"/>
            <a:ext cx="2772273" cy="510582"/>
            <a:chOff x="428" y="3460"/>
            <a:chExt cx="2511" cy="501"/>
          </a:xfrm>
        </p:grpSpPr>
        <p:sp>
          <p:nvSpPr>
            <p:cNvPr id="5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FF66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</a:p>
          </p:txBody>
        </p:sp>
        <p:pic>
          <p:nvPicPr>
            <p:cNvPr id="561" name="Picture 5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62" name="Text Box 550"/>
            <p:cNvSpPr txBox="1">
              <a:spLocks noChangeArrowheads="1"/>
            </p:cNvSpPr>
            <p:nvPr/>
          </p:nvSpPr>
          <p:spPr bwMode="auto">
            <a:xfrm>
              <a:off x="1688" y="3460"/>
              <a:ext cx="42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sp>
        <p:nvSpPr>
          <p:cNvPr id="563" name="Text Box 551"/>
          <p:cNvSpPr txBox="1">
            <a:spLocks noChangeArrowheads="1"/>
          </p:cNvSpPr>
          <p:nvPr/>
        </p:nvSpPr>
        <p:spPr bwMode="auto">
          <a:xfrm>
            <a:off x="1385565" y="3478890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pic>
        <p:nvPicPr>
          <p:cNvPr id="565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60" y="104091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58" y="105073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605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669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48077" y="1326004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				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687234" y="13605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96123" y="1455480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7.4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3684702" y="1234332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6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16855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安全性：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完全基于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密钥的安全保护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密钥管理包括：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密钥的产生、分配、注入、验证和使用。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是密钥管理中最大的问题。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密钥必须通过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最安全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的通路进行分配。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网外分配方式：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派非常可靠的信使携带密钥分配给互相通信的用户。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网内分配方式：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密钥自动分配。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39508" y="569213"/>
            <a:ext cx="20649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7.4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密钥分配</a:t>
            </a:r>
          </a:p>
        </p:txBody>
      </p:sp>
    </p:spTree>
    <p:extLst>
      <p:ext uri="{BB962C8B-B14F-4D97-AF65-F5344CB8AC3E}">
        <p14:creationId xmlns:p14="http://schemas.microsoft.com/office/powerpoint/2010/main" val="23493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0292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943585" y="584828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7400"/>
            <a:ext cx="8236703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常用方式：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设立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密钥分配中心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(Key Distribution Center)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任务：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给需要进行秘密通信的用户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临时分配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一个会话密钥（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仅使用一次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都是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的登记用户，并已经在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的服务器上安装了各自和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进行通信的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主密钥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master key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主密钥可简称为密钥。</a:t>
            </a:r>
          </a:p>
        </p:txBody>
      </p:sp>
    </p:spTree>
    <p:extLst>
      <p:ext uri="{BB962C8B-B14F-4D97-AF65-F5344CB8AC3E}">
        <p14:creationId xmlns:p14="http://schemas.microsoft.com/office/powerpoint/2010/main" val="57503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utoShape 5"/>
          <p:cNvSpPr>
            <a:spLocks noChangeArrowheads="1"/>
          </p:cNvSpPr>
          <p:nvPr/>
        </p:nvSpPr>
        <p:spPr bwMode="auto">
          <a:xfrm>
            <a:off x="509475" y="6066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2789681" y="573436"/>
            <a:ext cx="35686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的分配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17852" y="996030"/>
            <a:ext cx="8133857" cy="324252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66024" y="1619037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rot="5400000">
            <a:off x="558823" y="3135717"/>
            <a:ext cx="1919794" cy="1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rot="5400000">
            <a:off x="6771538" y="3164496"/>
            <a:ext cx="2002442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74"/>
          <p:cNvSpPr>
            <a:spLocks noChangeShapeType="1"/>
          </p:cNvSpPr>
          <p:nvPr/>
        </p:nvSpPr>
        <p:spPr bwMode="auto">
          <a:xfrm rot="16200000" flipH="1">
            <a:off x="3958850" y="2427157"/>
            <a:ext cx="1526626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3302391" y="1061892"/>
            <a:ext cx="118815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</a:t>
            </a:r>
          </a:p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分配中心</a:t>
            </a:r>
          </a:p>
          <a:p>
            <a:pPr algn="r"/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KDC</a:t>
            </a:r>
          </a:p>
        </p:txBody>
      </p:sp>
      <p:grpSp>
        <p:nvGrpSpPr>
          <p:cNvPr id="66" name="Group 101"/>
          <p:cNvGrpSpPr>
            <a:grpSpLocks/>
          </p:cNvGrpSpPr>
          <p:nvPr/>
        </p:nvGrpSpPr>
        <p:grpSpPr bwMode="auto">
          <a:xfrm>
            <a:off x="1527035" y="3370131"/>
            <a:ext cx="6215027" cy="654100"/>
            <a:chOff x="466" y="3117"/>
            <a:chExt cx="4859" cy="554"/>
          </a:xfrm>
        </p:grpSpPr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466" y="3540"/>
              <a:ext cx="4859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2356" y="3410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69" name="Text Box 71"/>
            <p:cNvSpPr txBox="1">
              <a:spLocks noChangeArrowheads="1"/>
            </p:cNvSpPr>
            <p:nvPr/>
          </p:nvSpPr>
          <p:spPr bwMode="auto">
            <a:xfrm>
              <a:off x="1943" y="3117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70" name="Text Box 78"/>
            <p:cNvSpPr txBox="1">
              <a:spLocks noChangeArrowheads="1"/>
            </p:cNvSpPr>
            <p:nvPr/>
          </p:nvSpPr>
          <p:spPr bwMode="auto">
            <a:xfrm>
              <a:off x="499" y="3207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pic>
          <p:nvPicPr>
            <p:cNvPr id="71" name="Picture 8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" y="3182"/>
              <a:ext cx="259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pic>
        <p:nvPicPr>
          <p:cNvPr id="72" name="Picture 8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94" y="1377135"/>
            <a:ext cx="497560" cy="80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Rectangle 83"/>
          <p:cNvSpPr>
            <a:spLocks noChangeArrowheads="1"/>
          </p:cNvSpPr>
          <p:nvPr/>
        </p:nvSpPr>
        <p:spPr bwMode="auto">
          <a:xfrm>
            <a:off x="5639261" y="1289765"/>
            <a:ext cx="1528495" cy="1531348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84"/>
          <p:cNvSpPr>
            <a:spLocks noChangeArrowheads="1"/>
          </p:cNvSpPr>
          <p:nvPr/>
        </p:nvSpPr>
        <p:spPr bwMode="auto">
          <a:xfrm>
            <a:off x="5831202" y="1583755"/>
            <a:ext cx="1166517" cy="11464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85"/>
          <p:cNvSpPr>
            <a:spLocks noChangeShapeType="1"/>
          </p:cNvSpPr>
          <p:nvPr/>
        </p:nvSpPr>
        <p:spPr bwMode="auto">
          <a:xfrm>
            <a:off x="5831202" y="1844686"/>
            <a:ext cx="1152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86"/>
          <p:cNvSpPr>
            <a:spLocks noChangeShapeType="1"/>
          </p:cNvSpPr>
          <p:nvPr/>
        </p:nvSpPr>
        <p:spPr bwMode="auto">
          <a:xfrm flipV="1">
            <a:off x="5831203" y="2353562"/>
            <a:ext cx="1172911" cy="8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87"/>
          <p:cNvSpPr>
            <a:spLocks noChangeShapeType="1"/>
          </p:cNvSpPr>
          <p:nvPr/>
        </p:nvSpPr>
        <p:spPr bwMode="auto">
          <a:xfrm rot="16200000" flipH="1">
            <a:off x="5688488" y="2147974"/>
            <a:ext cx="1148806" cy="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88"/>
          <p:cNvSpPr txBox="1">
            <a:spLocks noChangeArrowheads="1"/>
          </p:cNvSpPr>
          <p:nvPr/>
        </p:nvSpPr>
        <p:spPr bwMode="auto">
          <a:xfrm rot="16200000">
            <a:off x="5684879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79" name="Text Box 89"/>
          <p:cNvSpPr txBox="1">
            <a:spLocks noChangeArrowheads="1"/>
          </p:cNvSpPr>
          <p:nvPr/>
        </p:nvSpPr>
        <p:spPr bwMode="auto">
          <a:xfrm rot="16200000">
            <a:off x="6275632" y="2289125"/>
            <a:ext cx="5309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80" name="Text Box 90"/>
          <p:cNvSpPr txBox="1">
            <a:spLocks noChangeArrowheads="1"/>
          </p:cNvSpPr>
          <p:nvPr/>
        </p:nvSpPr>
        <p:spPr bwMode="auto">
          <a:xfrm>
            <a:off x="5606006" y="1277957"/>
            <a:ext cx="15617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用户专用主密钥</a:t>
            </a:r>
          </a:p>
        </p:txBody>
      </p:sp>
      <p:sp>
        <p:nvSpPr>
          <p:cNvPr id="82" name="Rectangle 92"/>
          <p:cNvSpPr>
            <a:spLocks noChangeArrowheads="1"/>
          </p:cNvSpPr>
          <p:nvPr/>
        </p:nvSpPr>
        <p:spPr bwMode="auto">
          <a:xfrm>
            <a:off x="4678675" y="1808084"/>
            <a:ext cx="122791" cy="184187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Freeform 93"/>
          <p:cNvSpPr>
            <a:spLocks/>
          </p:cNvSpPr>
          <p:nvPr/>
        </p:nvSpPr>
        <p:spPr bwMode="auto">
          <a:xfrm>
            <a:off x="4800188" y="1294487"/>
            <a:ext cx="835236" cy="1526626"/>
          </a:xfrm>
          <a:custGeom>
            <a:avLst/>
            <a:gdLst>
              <a:gd name="T0" fmla="*/ 0 w 618"/>
              <a:gd name="T1" fmla="*/ 381 h 1125"/>
              <a:gd name="T2" fmla="*/ 615 w 618"/>
              <a:gd name="T3" fmla="*/ 0 h 1125"/>
              <a:gd name="T4" fmla="*/ 618 w 618"/>
              <a:gd name="T5" fmla="*/ 1125 h 1125"/>
              <a:gd name="T6" fmla="*/ 6 w 618"/>
              <a:gd name="T7" fmla="*/ 519 h 1125"/>
              <a:gd name="T8" fmla="*/ 0 w 618"/>
              <a:gd name="T9" fmla="*/ 381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8" h="1125">
                <a:moveTo>
                  <a:pt x="0" y="381"/>
                </a:moveTo>
                <a:lnTo>
                  <a:pt x="615" y="0"/>
                </a:lnTo>
                <a:lnTo>
                  <a:pt x="618" y="1125"/>
                </a:lnTo>
                <a:lnTo>
                  <a:pt x="6" y="519"/>
                </a:lnTo>
                <a:lnTo>
                  <a:pt x="0" y="381"/>
                </a:lnTo>
                <a:close/>
              </a:path>
            </a:pathLst>
          </a:custGeom>
          <a:gradFill rotWithShape="1">
            <a:gsLst>
              <a:gs pos="0">
                <a:srgbClr val="0000FF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94"/>
          <p:cNvSpPr>
            <a:spLocks noChangeShapeType="1"/>
          </p:cNvSpPr>
          <p:nvPr/>
        </p:nvSpPr>
        <p:spPr bwMode="auto">
          <a:xfrm>
            <a:off x="5836318" y="2096171"/>
            <a:ext cx="11677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Group 100"/>
          <p:cNvGrpSpPr>
            <a:grpSpLocks/>
          </p:cNvGrpSpPr>
          <p:nvPr/>
        </p:nvGrpSpPr>
        <p:grpSpPr bwMode="auto">
          <a:xfrm>
            <a:off x="1518080" y="2484618"/>
            <a:ext cx="3198968" cy="824118"/>
            <a:chOff x="459" y="2367"/>
            <a:chExt cx="2501" cy="698"/>
          </a:xfrm>
        </p:grpSpPr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9" y="2789"/>
              <a:ext cx="2501" cy="1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68"/>
            <p:cNvSpPr>
              <a:spLocks noChangeArrowheads="1"/>
            </p:cNvSpPr>
            <p:nvPr/>
          </p:nvSpPr>
          <p:spPr bwMode="auto">
            <a:xfrm>
              <a:off x="1158" y="2527"/>
              <a:ext cx="1324" cy="53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69"/>
            <p:cNvSpPr>
              <a:spLocks noChangeArrowheads="1"/>
            </p:cNvSpPr>
            <p:nvPr/>
          </p:nvSpPr>
          <p:spPr bwMode="auto">
            <a:xfrm>
              <a:off x="1733" y="2778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K</a:t>
              </a:r>
              <a:r>
                <a:rPr kumimoji="1"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9" name="Text Box 70"/>
            <p:cNvSpPr txBox="1">
              <a:spLocks noChangeArrowheads="1"/>
            </p:cNvSpPr>
            <p:nvPr/>
          </p:nvSpPr>
          <p:spPr bwMode="auto">
            <a:xfrm>
              <a:off x="1158" y="2752"/>
              <a:ext cx="37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90" name="Picture 7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2577"/>
              <a:ext cx="25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1349" y="2491"/>
              <a:ext cx="30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92" name="Text Box 77"/>
            <p:cNvSpPr txBox="1">
              <a:spLocks noChangeArrowheads="1"/>
            </p:cNvSpPr>
            <p:nvPr/>
          </p:nvSpPr>
          <p:spPr bwMode="auto">
            <a:xfrm>
              <a:off x="2583" y="2436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3" name="Picture 7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2367"/>
              <a:ext cx="25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4" name="Text Box 80"/>
            <p:cNvSpPr txBox="1">
              <a:spLocks noChangeArrowheads="1"/>
            </p:cNvSpPr>
            <p:nvPr/>
          </p:nvSpPr>
          <p:spPr bwMode="auto">
            <a:xfrm>
              <a:off x="726" y="2367"/>
              <a:ext cx="43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1446" y="2752"/>
              <a:ext cx="184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6" name="Text Box 96"/>
          <p:cNvSpPr txBox="1">
            <a:spLocks noChangeArrowheads="1"/>
          </p:cNvSpPr>
          <p:nvPr/>
        </p:nvSpPr>
        <p:spPr bwMode="auto">
          <a:xfrm>
            <a:off x="1002612" y="374795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grpSp>
        <p:nvGrpSpPr>
          <p:cNvPr id="97" name="Group 99"/>
          <p:cNvGrpSpPr>
            <a:grpSpLocks/>
          </p:cNvGrpSpPr>
          <p:nvPr/>
        </p:nvGrpSpPr>
        <p:grpSpPr bwMode="auto">
          <a:xfrm>
            <a:off x="1515522" y="1972201"/>
            <a:ext cx="3224549" cy="534850"/>
            <a:chOff x="457" y="1933"/>
            <a:chExt cx="2521" cy="453"/>
          </a:xfrm>
        </p:grpSpPr>
        <p:sp>
          <p:nvSpPr>
            <p:cNvPr id="98" name="Line 7"/>
            <p:cNvSpPr>
              <a:spLocks noChangeShapeType="1"/>
            </p:cNvSpPr>
            <p:nvPr/>
          </p:nvSpPr>
          <p:spPr bwMode="auto">
            <a:xfrm>
              <a:off x="457" y="2260"/>
              <a:ext cx="2521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76"/>
            <p:cNvSpPr txBox="1">
              <a:spLocks noChangeArrowheads="1"/>
            </p:cNvSpPr>
            <p:nvPr/>
          </p:nvSpPr>
          <p:spPr bwMode="auto">
            <a:xfrm>
              <a:off x="516" y="1933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  <p:sp>
          <p:nvSpPr>
            <p:cNvPr id="100" name="Rectangle 97"/>
            <p:cNvSpPr>
              <a:spLocks noChangeArrowheads="1"/>
            </p:cNvSpPr>
            <p:nvPr/>
          </p:nvSpPr>
          <p:spPr bwMode="auto">
            <a:xfrm>
              <a:off x="1235" y="2126"/>
              <a:ext cx="619" cy="260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A, B</a:t>
              </a:r>
              <a:endPara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13" y="1672833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55" y="1685491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7918647" y="1640929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5" name="Text Box 91"/>
          <p:cNvSpPr txBox="1">
            <a:spLocks noChangeArrowheads="1"/>
          </p:cNvSpPr>
          <p:nvPr/>
        </p:nvSpPr>
        <p:spPr bwMode="auto">
          <a:xfrm>
            <a:off x="5791253" y="1551203"/>
            <a:ext cx="1247457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 主密钥</a:t>
            </a:r>
          </a:p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kumimoji="1"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  </a:t>
            </a:r>
            <a:r>
              <a:rPr kumimoji="1" lang="en-US" altLang="zh-CN" sz="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223658" y="3196833"/>
            <a:ext cx="1102837" cy="409469"/>
            <a:chOff x="2250553" y="3223728"/>
            <a:chExt cx="1102837" cy="409469"/>
          </a:xfrm>
        </p:grpSpPr>
        <p:sp>
          <p:nvSpPr>
            <p:cNvPr id="50" name="矩形 49"/>
            <p:cNvSpPr/>
            <p:nvPr/>
          </p:nvSpPr>
          <p:spPr>
            <a:xfrm>
              <a:off x="2250553" y="3356198"/>
              <a:ext cx="110283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票据 </a:t>
              </a:r>
              <a:r>
                <a:rPr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(ticket)</a:t>
              </a:r>
              <a:endPara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3147622" y="3223728"/>
              <a:ext cx="123752" cy="1759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96390" y="4262152"/>
            <a:ext cx="7270457" cy="338554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注意：在网络上传送密钥时，都是经过加密的。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解密用的密钥都不在网上传送。</a:t>
            </a:r>
          </a:p>
        </p:txBody>
      </p:sp>
    </p:spTree>
    <p:extLst>
      <p:ext uri="{BB962C8B-B14F-4D97-AF65-F5344CB8AC3E}">
        <p14:creationId xmlns:p14="http://schemas.microsoft.com/office/powerpoint/2010/main" val="139665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0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25748" y="579292"/>
            <a:ext cx="3496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5634"/>
            <a:ext cx="812953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为防止重放攻击，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还可在报文中加入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时间戳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会话密钥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AB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是一次性的，因此保密性较高。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分配给用户的密钥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，应定期更换，以减少攻击者破译密钥的机会。</a:t>
            </a:r>
          </a:p>
        </p:txBody>
      </p:sp>
    </p:spTree>
    <p:extLst>
      <p:ext uri="{BB962C8B-B14F-4D97-AF65-F5344CB8AC3E}">
        <p14:creationId xmlns:p14="http://schemas.microsoft.com/office/powerpoint/2010/main" val="367129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509475" y="966945"/>
            <a:ext cx="8129015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目前最出名的是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V5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既是鉴别协议，同时也是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KDC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，是互联网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建议标准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更加安全的高级加密标准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进行加密。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使用两个服务器：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鉴别服务器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(Authentication Server)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票据授予服务器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TGS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(Ticket-Granting Server)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只用于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客户与服务器之间的鉴别，不用于人对人的鉴别。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3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49349" y="579093"/>
            <a:ext cx="36492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对称密钥分配协议：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</a:t>
            </a:r>
          </a:p>
        </p:txBody>
      </p:sp>
    </p:spTree>
    <p:extLst>
      <p:ext uri="{BB962C8B-B14F-4D97-AF65-F5344CB8AC3E}">
        <p14:creationId xmlns:p14="http://schemas.microsoft.com/office/powerpoint/2010/main" val="207208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47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Picture 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2" name="Picture 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44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45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94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5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48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Picture 5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2" name="Picture 5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  <p:sp>
        <p:nvSpPr>
          <p:cNvPr id="47" name="矩形 46"/>
          <p:cNvSpPr/>
          <p:nvPr/>
        </p:nvSpPr>
        <p:spPr>
          <a:xfrm>
            <a:off x="1268634" y="2502477"/>
            <a:ext cx="4572000" cy="707886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并不保存密钥 </a:t>
            </a:r>
            <a:r>
              <a:rPr lang="en-US" altLang="zh-CN" sz="16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需键入正确口令，利用适当的算法生成密钥 </a:t>
            </a:r>
            <a:r>
              <a:rPr lang="en-US" altLang="zh-CN" sz="1600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。这个口令随即被销毁。</a:t>
            </a:r>
          </a:p>
        </p:txBody>
      </p:sp>
    </p:spTree>
    <p:extLst>
      <p:ext uri="{BB962C8B-B14F-4D97-AF65-F5344CB8AC3E}">
        <p14:creationId xmlns:p14="http://schemas.microsoft.com/office/powerpoint/2010/main" val="416267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2573" y="943706"/>
            <a:ext cx="8128800" cy="35678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90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7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3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1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10"/>
            <a:ext cx="992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Kerberos</a:t>
            </a:r>
          </a:p>
        </p:txBody>
      </p:sp>
      <p:grpSp>
        <p:nvGrpSpPr>
          <p:cNvPr id="37" name="Group 95"/>
          <p:cNvGrpSpPr>
            <a:grpSpLocks/>
          </p:cNvGrpSpPr>
          <p:nvPr/>
        </p:nvGrpSpPr>
        <p:grpSpPr bwMode="auto">
          <a:xfrm>
            <a:off x="2085303" y="1520634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</a:t>
              </a:r>
            </a:p>
          </p:txBody>
        </p:sp>
      </p:grpSp>
      <p:grpSp>
        <p:nvGrpSpPr>
          <p:cNvPr id="46" name="Group 99"/>
          <p:cNvGrpSpPr>
            <a:grpSpLocks/>
          </p:cNvGrpSpPr>
          <p:nvPr/>
        </p:nvGrpSpPr>
        <p:grpSpPr bwMode="auto">
          <a:xfrm>
            <a:off x="2093495" y="3444707"/>
            <a:ext cx="4979865" cy="525971"/>
            <a:chOff x="-68" y="2993"/>
            <a:chExt cx="5471" cy="626"/>
          </a:xfrm>
        </p:grpSpPr>
        <p:sp>
          <p:nvSpPr>
            <p:cNvPr id="47" name="Line 74"/>
            <p:cNvSpPr>
              <a:spLocks noChangeShapeType="1"/>
            </p:cNvSpPr>
            <p:nvPr/>
          </p:nvSpPr>
          <p:spPr bwMode="auto">
            <a:xfrm flipV="1">
              <a:off x="-68" y="3324"/>
              <a:ext cx="5471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75"/>
            <p:cNvSpPr>
              <a:spLocks noChangeArrowheads="1"/>
            </p:cNvSpPr>
            <p:nvPr/>
          </p:nvSpPr>
          <p:spPr bwMode="auto">
            <a:xfrm>
              <a:off x="1526" y="3111"/>
              <a:ext cx="2290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76"/>
            <p:cNvSpPr>
              <a:spLocks noChangeArrowheads="1"/>
            </p:cNvSpPr>
            <p:nvPr/>
          </p:nvSpPr>
          <p:spPr bwMode="auto">
            <a:xfrm>
              <a:off x="2114" y="3324"/>
              <a:ext cx="275" cy="1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Box 77"/>
            <p:cNvSpPr txBox="1">
              <a:spLocks noChangeArrowheads="1"/>
            </p:cNvSpPr>
            <p:nvPr/>
          </p:nvSpPr>
          <p:spPr bwMode="auto">
            <a:xfrm>
              <a:off x="1572" y="3077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51" name="Picture 7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" y="3132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2" name="Text Box 79"/>
            <p:cNvSpPr txBox="1">
              <a:spLocks noChangeArrowheads="1"/>
            </p:cNvSpPr>
            <p:nvPr/>
          </p:nvSpPr>
          <p:spPr bwMode="auto">
            <a:xfrm>
              <a:off x="2363" y="3308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  <p:sp>
          <p:nvSpPr>
            <p:cNvPr id="53" name="Text Box 80"/>
            <p:cNvSpPr txBox="1">
              <a:spLocks noChangeArrowheads="1"/>
            </p:cNvSpPr>
            <p:nvPr/>
          </p:nvSpPr>
          <p:spPr bwMode="auto">
            <a:xfrm>
              <a:off x="-1" y="299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</a:t>
              </a:r>
            </a:p>
          </p:txBody>
        </p:sp>
        <p:sp>
          <p:nvSpPr>
            <p:cNvPr id="54" name="Rectangle 81"/>
            <p:cNvSpPr>
              <a:spLocks noChangeArrowheads="1"/>
            </p:cNvSpPr>
            <p:nvPr/>
          </p:nvSpPr>
          <p:spPr bwMode="auto">
            <a:xfrm>
              <a:off x="3013" y="3324"/>
              <a:ext cx="605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55" name="Text Box 82"/>
            <p:cNvSpPr txBox="1">
              <a:spLocks noChangeArrowheads="1"/>
            </p:cNvSpPr>
            <p:nvPr/>
          </p:nvSpPr>
          <p:spPr bwMode="auto">
            <a:xfrm>
              <a:off x="2496" y="3081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56" name="Picture 8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3127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2093495" y="3932865"/>
            <a:ext cx="4958924" cy="481439"/>
            <a:chOff x="-68" y="3574"/>
            <a:chExt cx="5448" cy="573"/>
          </a:xfrm>
        </p:grpSpPr>
        <p:sp>
          <p:nvSpPr>
            <p:cNvPr id="58" name="Line 5"/>
            <p:cNvSpPr>
              <a:spLocks noChangeShapeType="1"/>
            </p:cNvSpPr>
            <p:nvPr/>
          </p:nvSpPr>
          <p:spPr bwMode="auto">
            <a:xfrm flipH="1" flipV="1">
              <a:off x="-68" y="3899"/>
              <a:ext cx="5445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2044" y="3687"/>
              <a:ext cx="1341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2659" y="3900"/>
              <a:ext cx="557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+ 1</a:t>
              </a:r>
              <a:endParaRPr kumimoji="1" lang="en-US" altLang="zh-CN" sz="11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86"/>
            <p:cNvSpPr txBox="1">
              <a:spLocks noChangeArrowheads="1"/>
            </p:cNvSpPr>
            <p:nvPr/>
          </p:nvSpPr>
          <p:spPr bwMode="auto">
            <a:xfrm>
              <a:off x="2116" y="3653"/>
              <a:ext cx="458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62" name="Picture 8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1" y="3707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3" name="Text Box 88"/>
            <p:cNvSpPr txBox="1">
              <a:spLocks noChangeArrowheads="1"/>
            </p:cNvSpPr>
            <p:nvPr/>
          </p:nvSpPr>
          <p:spPr bwMode="auto">
            <a:xfrm>
              <a:off x="4952" y="3574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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9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5" name="Group 97"/>
          <p:cNvGrpSpPr>
            <a:grpSpLocks/>
          </p:cNvGrpSpPr>
          <p:nvPr/>
        </p:nvGrpSpPr>
        <p:grpSpPr bwMode="auto">
          <a:xfrm>
            <a:off x="2085303" y="2447376"/>
            <a:ext cx="3229494" cy="527650"/>
            <a:chOff x="-77" y="1806"/>
            <a:chExt cx="3548" cy="628"/>
          </a:xfrm>
        </p:grpSpPr>
        <p:sp>
          <p:nvSpPr>
            <p:cNvPr id="66" name="Line 6"/>
            <p:cNvSpPr>
              <a:spLocks noChangeShapeType="1"/>
            </p:cNvSpPr>
            <p:nvPr/>
          </p:nvSpPr>
          <p:spPr bwMode="auto">
            <a:xfrm flipV="1">
              <a:off x="-77" y="2152"/>
              <a:ext cx="35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7"/>
            <p:cNvSpPr>
              <a:spLocks noChangeArrowheads="1"/>
            </p:cNvSpPr>
            <p:nvPr/>
          </p:nvSpPr>
          <p:spPr bwMode="auto">
            <a:xfrm>
              <a:off x="692" y="1925"/>
              <a:ext cx="2021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-18" y="1806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</a:t>
              </a:r>
            </a:p>
          </p:txBody>
        </p:sp>
        <p:sp>
          <p:nvSpPr>
            <p:cNvPr id="69" name="Rectangle 59"/>
            <p:cNvSpPr>
              <a:spLocks noChangeArrowheads="1"/>
            </p:cNvSpPr>
            <p:nvPr/>
          </p:nvSpPr>
          <p:spPr bwMode="auto">
            <a:xfrm>
              <a:off x="2092" y="2140"/>
              <a:ext cx="567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0" name="Picture 6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" y="1943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1106" y="2139"/>
              <a:ext cx="275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11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62"/>
            <p:cNvSpPr txBox="1">
              <a:spLocks noChangeArrowheads="1"/>
            </p:cNvSpPr>
            <p:nvPr/>
          </p:nvSpPr>
          <p:spPr bwMode="auto">
            <a:xfrm>
              <a:off x="639" y="189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73" name="Picture 6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" y="1946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>
              <a:off x="1354" y="2123"/>
              <a:ext cx="44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, B,</a:t>
              </a:r>
            </a:p>
          </p:txBody>
        </p:sp>
        <p:sp>
          <p:nvSpPr>
            <p:cNvPr id="75" name="Text Box 90"/>
            <p:cNvSpPr txBox="1">
              <a:spLocks noChangeArrowheads="1"/>
            </p:cNvSpPr>
            <p:nvPr/>
          </p:nvSpPr>
          <p:spPr bwMode="auto">
            <a:xfrm>
              <a:off x="1510" y="1892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</p:grpSp>
      <p:grpSp>
        <p:nvGrpSpPr>
          <p:cNvPr id="76" name="Group 98"/>
          <p:cNvGrpSpPr>
            <a:grpSpLocks/>
          </p:cNvGrpSpPr>
          <p:nvPr/>
        </p:nvGrpSpPr>
        <p:grpSpPr bwMode="auto">
          <a:xfrm>
            <a:off x="2093495" y="2947304"/>
            <a:ext cx="3221296" cy="519249"/>
            <a:chOff x="-68" y="2401"/>
            <a:chExt cx="3539" cy="618"/>
          </a:xfrm>
        </p:grpSpPr>
        <p:sp>
          <p:nvSpPr>
            <p:cNvPr id="77" name="Line 65"/>
            <p:cNvSpPr>
              <a:spLocks noChangeShapeType="1"/>
            </p:cNvSpPr>
            <p:nvPr/>
          </p:nvSpPr>
          <p:spPr bwMode="auto">
            <a:xfrm flipH="1" flipV="1">
              <a:off x="-68" y="2744"/>
              <a:ext cx="3539" cy="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639" y="2518"/>
              <a:ext cx="2236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2174" y="2732"/>
              <a:ext cx="628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0" name="Text Box 68"/>
            <p:cNvSpPr txBox="1">
              <a:spLocks noChangeArrowheads="1"/>
            </p:cNvSpPr>
            <p:nvPr/>
          </p:nvSpPr>
          <p:spPr bwMode="auto">
            <a:xfrm>
              <a:off x="1663" y="2485"/>
              <a:ext cx="38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pic>
          <p:nvPicPr>
            <p:cNvPr id="81" name="Picture 6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" y="2535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1694" y="2708"/>
              <a:ext cx="24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</a:p>
          </p:txBody>
        </p:sp>
        <p:sp>
          <p:nvSpPr>
            <p:cNvPr id="83" name="Text Box 71"/>
            <p:cNvSpPr txBox="1">
              <a:spLocks noChangeArrowheads="1"/>
            </p:cNvSpPr>
            <p:nvPr/>
          </p:nvSpPr>
          <p:spPr bwMode="auto">
            <a:xfrm>
              <a:off x="3037" y="2401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</a:t>
              </a:r>
            </a:p>
          </p:txBody>
        </p:sp>
        <p:sp>
          <p:nvSpPr>
            <p:cNvPr id="84" name="Rectangle 72"/>
            <p:cNvSpPr>
              <a:spLocks noChangeArrowheads="1"/>
            </p:cNvSpPr>
            <p:nvPr/>
          </p:nvSpPr>
          <p:spPr bwMode="auto">
            <a:xfrm>
              <a:off x="1136" y="2732"/>
              <a:ext cx="601" cy="19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pic>
          <p:nvPicPr>
            <p:cNvPr id="85" name="Picture 7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" y="2538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598" y="2485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</p:grpSp>
      <p:grpSp>
        <p:nvGrpSpPr>
          <p:cNvPr id="87" name="Group 96"/>
          <p:cNvGrpSpPr>
            <a:grpSpLocks/>
          </p:cNvGrpSpPr>
          <p:nvPr/>
        </p:nvGrpSpPr>
        <p:grpSpPr bwMode="auto">
          <a:xfrm>
            <a:off x="2093494" y="1826466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5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72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40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矩形 4"/>
          <p:cNvSpPr>
            <a:spLocks noChangeArrowheads="1"/>
          </p:cNvSpPr>
          <p:nvPr/>
        </p:nvSpPr>
        <p:spPr bwMode="auto">
          <a:xfrm>
            <a:off x="622624" y="570283"/>
            <a:ext cx="2520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Kerberos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</a:p>
        </p:txBody>
      </p:sp>
      <p:sp>
        <p:nvSpPr>
          <p:cNvPr id="101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10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4" name="Picture 5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5" name="Picture 5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7542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</a:p>
          </p:txBody>
        </p:sp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65192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22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10879" y="579356"/>
            <a:ext cx="37262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要求“松散的”同步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73587"/>
            <a:ext cx="812901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要求所有使用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Kerberos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的主机必须在时钟上进行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松散的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同步。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松散的同步：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要求所有主机的时钟误差不能太大，例如，不能超过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分钟的数量级。这个要求是为了防止重放攻击。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511896" y="608698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251362" y="583234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公钥的分配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36511"/>
            <a:ext cx="8131439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在公钥密码体制中，如果每个用户都具有其他用户的公钥，就可实现安全通信。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但不能随意公布用户的公钥，因为：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无法防止假冒和欺骗。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使用者也无法确定公钥的真正拥有者。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3300"/>
              </a:lnSpc>
              <a:buClr>
                <a:srgbClr val="0070C0"/>
              </a:buClr>
              <a:buSzPct val="8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借助可信任的第三方机构。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可信任的第三方机构。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负责签发数字证书。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一般由政府出资建立。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09" y="579356"/>
            <a:ext cx="48389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认证中心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CA (Certification Authority)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13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有时也简称为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是对公钥与其对应的实体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人或机器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进行绑定的一个证明，因此它常称为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公钥证书。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每个证书中写有公钥及其拥有者的标识信息（例如：人名、地址、电子邮件地址或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地址等）。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更重要的是：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证书中有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使用自己私钥的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数字签名。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把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的数字签名和未签名的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的证书放在一起，就最后构成了已签名的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的数字证书。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证书被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进行了数字签名，是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不可伪造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(digital certificate)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730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任何用户都可从可信任的地方（如代表政府的报纸）获得认证中心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的公钥，以验证证书的真伪。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数字证书是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公开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的，不需要加密。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35822" y="579356"/>
            <a:ext cx="3676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数字证书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(digital certificate)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90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93258" y="3618440"/>
            <a:ext cx="804523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buClr>
                <a:srgbClr val="0070C0"/>
              </a:buClr>
            </a:pP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核实：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拿到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的数字证书后，使用数字证书上给出的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的公钥，对数字证书中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的数字签名</a:t>
            </a:r>
            <a:r>
              <a:rPr lang="zh-CN" altLang="en-US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进行 </a:t>
            </a:r>
            <a:r>
              <a:rPr lang="en-US" altLang="zh-CN" sz="1600" b="1" i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en-US" altLang="zh-CN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，得出一个数值。再对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的数字证书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(CA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数字签名除外的部分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进行散列运算，又得出一个数值。比较这两个数值。若一致，则数字证书是真的。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41040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已签名的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的数字证书的产生过程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12573" y="943706"/>
            <a:ext cx="8128800" cy="27228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111624" y="1105959"/>
            <a:ext cx="7377953" cy="2364678"/>
            <a:chOff x="1372249" y="1210699"/>
            <a:chExt cx="7349985" cy="2059516"/>
          </a:xfrm>
        </p:grpSpPr>
        <p:sp>
          <p:nvSpPr>
            <p:cNvPr id="27" name="矩形 47"/>
            <p:cNvSpPr>
              <a:spLocks noChangeArrowheads="1"/>
            </p:cNvSpPr>
            <p:nvPr/>
          </p:nvSpPr>
          <p:spPr bwMode="auto">
            <a:xfrm>
              <a:off x="6632386" y="1681816"/>
              <a:ext cx="1800225" cy="1295400"/>
            </a:xfrm>
            <a:prstGeom prst="rect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62"/>
            <p:cNvSpPr>
              <a:spLocks noChangeArrowheads="1"/>
            </p:cNvSpPr>
            <p:nvPr/>
          </p:nvSpPr>
          <p:spPr bwMode="auto">
            <a:xfrm>
              <a:off x="1877823" y="1470679"/>
              <a:ext cx="1657350" cy="76358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64"/>
            <p:cNvCxnSpPr>
              <a:cxnSpLocks noChangeShapeType="1"/>
            </p:cNvCxnSpPr>
            <p:nvPr/>
          </p:nvCxnSpPr>
          <p:spPr bwMode="auto">
            <a:xfrm flipV="1">
              <a:off x="1884173" y="1938991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372249" y="1210699"/>
              <a:ext cx="266135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未签名的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>
              <a:off x="1820673" y="1436272"/>
              <a:ext cx="1695450" cy="85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2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64"/>
            <p:cNvSpPr txBox="1"/>
            <p:nvPr/>
          </p:nvSpPr>
          <p:spPr>
            <a:xfrm>
              <a:off x="6705411" y="2567641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736536" y="2280304"/>
              <a:ext cx="1008062" cy="50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散列运算</a:t>
              </a:r>
            </a:p>
          </p:txBody>
        </p:sp>
        <p:sp>
          <p:nvSpPr>
            <p:cNvPr id="16" name="TextBox 68"/>
            <p:cNvSpPr txBox="1">
              <a:spLocks noChangeArrowheads="1"/>
            </p:cNvSpPr>
            <p:nvPr/>
          </p:nvSpPr>
          <p:spPr bwMode="auto">
            <a:xfrm>
              <a:off x="7065773" y="1897716"/>
              <a:ext cx="863600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9"/>
            <p:cNvSpPr>
              <a:spLocks noChangeArrowheads="1"/>
            </p:cNvSpPr>
            <p:nvPr/>
          </p:nvSpPr>
          <p:spPr bwMode="auto">
            <a:xfrm>
              <a:off x="2412811" y="2680354"/>
              <a:ext cx="563562" cy="28892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GB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GB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600" b="1" i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2"/>
            <p:cNvSpPr txBox="1">
              <a:spLocks noChangeArrowheads="1"/>
            </p:cNvSpPr>
            <p:nvPr/>
          </p:nvSpPr>
          <p:spPr bwMode="auto">
            <a:xfrm>
              <a:off x="2960498" y="2405876"/>
              <a:ext cx="1317625" cy="460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 </a:t>
              </a:r>
              <a:r>
                <a:rPr lang="en-US" altLang="zh-CN" sz="1400" b="1" i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</a:t>
              </a:r>
            </a:p>
          </p:txBody>
        </p:sp>
        <p:sp>
          <p:nvSpPr>
            <p:cNvPr id="19" name="Text Box 204"/>
            <p:cNvSpPr txBox="1">
              <a:spLocks noChangeArrowheads="1"/>
            </p:cNvSpPr>
            <p:nvPr/>
          </p:nvSpPr>
          <p:spPr bwMode="auto">
            <a:xfrm>
              <a:off x="1944509" y="2975351"/>
              <a:ext cx="1447777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固定长度散列</a:t>
              </a:r>
            </a:p>
          </p:txBody>
        </p:sp>
        <p:sp>
          <p:nvSpPr>
            <p:cNvPr id="20" name="矩形 62"/>
            <p:cNvSpPr>
              <a:spLocks noChangeArrowheads="1"/>
            </p:cNvSpPr>
            <p:nvPr/>
          </p:nvSpPr>
          <p:spPr bwMode="auto">
            <a:xfrm>
              <a:off x="6703823" y="1731029"/>
              <a:ext cx="165735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64"/>
            <p:cNvCxnSpPr>
              <a:cxnSpLocks noChangeShapeType="1"/>
            </p:cNvCxnSpPr>
            <p:nvPr/>
          </p:nvCxnSpPr>
          <p:spPr bwMode="auto">
            <a:xfrm flipV="1">
              <a:off x="6697473" y="2227916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8"/>
            <p:cNvSpPr txBox="1">
              <a:spLocks noChangeArrowheads="1"/>
            </p:cNvSpPr>
            <p:nvPr/>
          </p:nvSpPr>
          <p:spPr bwMode="auto">
            <a:xfrm>
              <a:off x="6664136" y="1727854"/>
              <a:ext cx="1695450" cy="770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证书拥有者：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  <a:p>
              <a:pPr eaLnBrk="1" hangingPunct="1">
                <a:lnSpc>
                  <a:spcPts val="20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证书签发者：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14"/>
            <p:cNvSpPr>
              <a:spLocks noChangeShapeType="1"/>
            </p:cNvSpPr>
            <p:nvPr/>
          </p:nvSpPr>
          <p:spPr bwMode="auto">
            <a:xfrm>
              <a:off x="3543111" y="1856441"/>
              <a:ext cx="3151187" cy="277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41"/>
            <p:cNvSpPr txBox="1"/>
            <p:nvPr/>
          </p:nvSpPr>
          <p:spPr>
            <a:xfrm>
              <a:off x="4281298" y="2685116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的数字签名</a:t>
              </a:r>
            </a:p>
          </p:txBody>
        </p:sp>
        <p:sp>
          <p:nvSpPr>
            <p:cNvPr id="25" name="Line 214"/>
            <p:cNvSpPr>
              <a:spLocks noChangeShapeType="1"/>
            </p:cNvSpPr>
            <p:nvPr/>
          </p:nvSpPr>
          <p:spPr bwMode="auto">
            <a:xfrm>
              <a:off x="2960498" y="2829579"/>
              <a:ext cx="1312863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6362909" y="1390527"/>
              <a:ext cx="235932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已签名的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</a:p>
          </p:txBody>
        </p:sp>
        <p:sp>
          <p:nvSpPr>
            <p:cNvPr id="28" name="Line 214"/>
            <p:cNvSpPr>
              <a:spLocks noChangeShapeType="1"/>
            </p:cNvSpPr>
            <p:nvPr/>
          </p:nvSpPr>
          <p:spPr bwMode="auto">
            <a:xfrm rot="5400000">
              <a:off x="2475517" y="2462073"/>
              <a:ext cx="427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14"/>
            <p:cNvSpPr>
              <a:spLocks noChangeShapeType="1"/>
            </p:cNvSpPr>
            <p:nvPr/>
          </p:nvSpPr>
          <p:spPr bwMode="auto">
            <a:xfrm flipV="1">
              <a:off x="5946586" y="2734329"/>
              <a:ext cx="760412" cy="112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9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20" y="1013106"/>
            <a:ext cx="335431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数字证书的格式必须标准化。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ITU-T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制定了 </a:t>
            </a:r>
            <a:r>
              <a:rPr lang="en-US" altLang="zh-CN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协议标准，描述证书的结构。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采用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X.509 V3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作为互联网的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建议标准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7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又称为</a:t>
            </a:r>
            <a:r>
              <a:rPr lang="zh-CN" altLang="en-US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互联网公钥基础结构 </a:t>
            </a:r>
            <a:r>
              <a:rPr lang="en-US" altLang="zh-CN" sz="17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PKI </a:t>
            </a:r>
            <a:r>
              <a:rPr lang="en-US" altLang="zh-CN" sz="1700" b="1" dirty="0">
                <a:latin typeface="微软雅黑" pitchFamily="34" charset="-122"/>
                <a:ea typeface="微软雅黑" pitchFamily="34" charset="-122"/>
              </a:rPr>
              <a:t>(Public Key Infrastructure)</a:t>
            </a:r>
            <a:r>
              <a:rPr lang="zh-CN" altLang="en-US" sz="17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aphicFrame>
        <p:nvGraphicFramePr>
          <p:cNvPr id="7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801962"/>
              </p:ext>
            </p:extLst>
          </p:nvPr>
        </p:nvGraphicFramePr>
        <p:xfrm>
          <a:off x="3680116" y="1095026"/>
          <a:ext cx="4890981" cy="321906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46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版本号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区分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X.509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不同版本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序列号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发放，唯一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签名算法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签署证书所使用的算法和参数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签发者的唯一标识符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有效期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包括起始时间和终止时间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主体名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或主题名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公钥和数字证书拥有者的唯一标识符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公钥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数字证书拥有者的公钥和使用算法的标识符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发行者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主体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任选，唯一，标识证书持有者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扩展域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扩充信息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认证机构签名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用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私钥对证书签名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20247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数字证书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4105835" y="952671"/>
            <a:ext cx="4532655" cy="31537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18" y="1013106"/>
            <a:ext cx="3818051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X.509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提出：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把多级认证中心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起来的，构成一个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树状的认证系统。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末端是用户。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最高一级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的认证中心都称为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根认证中心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(Root CA)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，是公认可信的认证中心（或无条件信任的），且其公钥是公开的。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14350" y="1090660"/>
            <a:ext cx="3167063" cy="3008115"/>
            <a:chOff x="4913035" y="1089352"/>
            <a:chExt cx="3167063" cy="3008115"/>
          </a:xfrm>
        </p:grpSpPr>
        <p:sp>
          <p:nvSpPr>
            <p:cNvPr id="6" name="Rectangle 173"/>
            <p:cNvSpPr>
              <a:spLocks noChangeArrowheads="1"/>
            </p:cNvSpPr>
            <p:nvPr/>
          </p:nvSpPr>
          <p:spPr bwMode="auto">
            <a:xfrm>
              <a:off x="6271935" y="1089352"/>
              <a:ext cx="766763" cy="39687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endPara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73"/>
            <p:cNvSpPr>
              <a:spLocks noChangeArrowheads="1"/>
            </p:cNvSpPr>
            <p:nvPr/>
          </p:nvSpPr>
          <p:spPr bwMode="auto">
            <a:xfrm>
              <a:off x="5597248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Rectangle 173"/>
            <p:cNvSpPr>
              <a:spLocks noChangeArrowheads="1"/>
            </p:cNvSpPr>
            <p:nvPr/>
          </p:nvSpPr>
          <p:spPr bwMode="auto">
            <a:xfrm>
              <a:off x="6929160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2" name="Rectangle 173"/>
            <p:cNvSpPr>
              <a:spLocks noChangeArrowheads="1"/>
            </p:cNvSpPr>
            <p:nvPr/>
          </p:nvSpPr>
          <p:spPr bwMode="auto">
            <a:xfrm>
              <a:off x="5327373" y="2781627"/>
              <a:ext cx="5048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3" name="Rectangle 173"/>
            <p:cNvSpPr>
              <a:spLocks noChangeArrowheads="1"/>
            </p:cNvSpPr>
            <p:nvPr/>
          </p:nvSpPr>
          <p:spPr bwMode="auto">
            <a:xfrm>
              <a:off x="60639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" name="Rectangle 173"/>
            <p:cNvSpPr>
              <a:spLocks noChangeArrowheads="1"/>
            </p:cNvSpPr>
            <p:nvPr/>
          </p:nvSpPr>
          <p:spPr bwMode="auto">
            <a:xfrm>
              <a:off x="68005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cxnSp>
          <p:nvCxnSpPr>
            <p:cNvPr id="15" name="直接箭头连接符 12"/>
            <p:cNvCxnSpPr>
              <a:cxnSpLocks noChangeShapeType="1"/>
              <a:endCxn id="10" idx="0"/>
            </p:cNvCxnSpPr>
            <p:nvPr/>
          </p:nvCxnSpPr>
          <p:spPr bwMode="auto">
            <a:xfrm flipH="1">
              <a:off x="6052860" y="1486227"/>
              <a:ext cx="409575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13"/>
            <p:cNvCxnSpPr>
              <a:cxnSpLocks noChangeShapeType="1"/>
              <a:endCxn id="11" idx="0"/>
            </p:cNvCxnSpPr>
            <p:nvPr/>
          </p:nvCxnSpPr>
          <p:spPr bwMode="auto">
            <a:xfrm>
              <a:off x="6749773" y="1486227"/>
              <a:ext cx="635000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16"/>
            <p:cNvCxnSpPr>
              <a:cxnSpLocks noChangeShapeType="1"/>
              <a:endCxn id="26" idx="0"/>
            </p:cNvCxnSpPr>
            <p:nvPr/>
          </p:nvCxnSpPr>
          <p:spPr bwMode="auto">
            <a:xfrm>
              <a:off x="7576860" y="2278390"/>
              <a:ext cx="252413" cy="5746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22"/>
            <p:cNvCxnSpPr>
              <a:cxnSpLocks noChangeShapeType="1"/>
              <a:endCxn id="12" idx="0"/>
            </p:cNvCxnSpPr>
            <p:nvPr/>
          </p:nvCxnSpPr>
          <p:spPr bwMode="auto">
            <a:xfrm flipH="1">
              <a:off x="5579785" y="2278390"/>
              <a:ext cx="233363" cy="5032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31"/>
            <p:cNvCxnSpPr>
              <a:cxnSpLocks noChangeShapeType="1"/>
            </p:cNvCxnSpPr>
            <p:nvPr/>
          </p:nvCxnSpPr>
          <p:spPr bwMode="auto">
            <a:xfrm>
              <a:off x="6246535" y="2278390"/>
              <a:ext cx="90488" cy="5238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33"/>
            <p:cNvCxnSpPr>
              <a:cxnSpLocks noChangeShapeType="1"/>
            </p:cNvCxnSpPr>
            <p:nvPr/>
          </p:nvCxnSpPr>
          <p:spPr bwMode="auto">
            <a:xfrm flipH="1">
              <a:off x="7065685" y="2278390"/>
              <a:ext cx="150813" cy="51276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22"/>
            <p:cNvCxnSpPr>
              <a:cxnSpLocks noChangeShapeType="1"/>
            </p:cNvCxnSpPr>
            <p:nvPr/>
          </p:nvCxnSpPr>
          <p:spPr bwMode="auto">
            <a:xfrm>
              <a:off x="5670273" y="3215015"/>
              <a:ext cx="144462" cy="2873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2"/>
            <p:cNvCxnSpPr>
              <a:cxnSpLocks noChangeShapeType="1"/>
              <a:endCxn id="29" idx="0"/>
            </p:cNvCxnSpPr>
            <p:nvPr/>
          </p:nvCxnSpPr>
          <p:spPr bwMode="auto">
            <a:xfrm>
              <a:off x="6292573" y="3207077"/>
              <a:ext cx="92075" cy="276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22"/>
            <p:cNvCxnSpPr>
              <a:cxnSpLocks noChangeShapeType="1"/>
            </p:cNvCxnSpPr>
            <p:nvPr/>
          </p:nvCxnSpPr>
          <p:spPr bwMode="auto">
            <a:xfrm>
              <a:off x="7038698" y="3186440"/>
              <a:ext cx="0" cy="31591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22"/>
            <p:cNvCxnSpPr>
              <a:cxnSpLocks noChangeShapeType="1"/>
              <a:endCxn id="25" idx="0"/>
            </p:cNvCxnSpPr>
            <p:nvPr/>
          </p:nvCxnSpPr>
          <p:spPr bwMode="auto">
            <a:xfrm flipH="1">
              <a:off x="5163860" y="3215015"/>
              <a:ext cx="290513" cy="2682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73"/>
            <p:cNvSpPr>
              <a:spLocks noChangeArrowheads="1"/>
            </p:cNvSpPr>
            <p:nvPr/>
          </p:nvSpPr>
          <p:spPr bwMode="auto">
            <a:xfrm>
              <a:off x="49130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6" name="Rectangle 173"/>
            <p:cNvSpPr>
              <a:spLocks noChangeArrowheads="1"/>
            </p:cNvSpPr>
            <p:nvPr/>
          </p:nvSpPr>
          <p:spPr bwMode="auto">
            <a:xfrm>
              <a:off x="7576860" y="2853065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27" name="Rectangle 173"/>
            <p:cNvSpPr>
              <a:spLocks noChangeArrowheads="1"/>
            </p:cNvSpPr>
            <p:nvPr/>
          </p:nvSpPr>
          <p:spPr bwMode="auto">
            <a:xfrm>
              <a:off x="6794223" y="3488065"/>
              <a:ext cx="503237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8" name="Rectangle 173"/>
            <p:cNvSpPr>
              <a:spLocks noChangeArrowheads="1"/>
            </p:cNvSpPr>
            <p:nvPr/>
          </p:nvSpPr>
          <p:spPr bwMode="auto">
            <a:xfrm>
              <a:off x="55226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9" name="Rectangle 173"/>
            <p:cNvSpPr>
              <a:spLocks noChangeArrowheads="1"/>
            </p:cNvSpPr>
            <p:nvPr/>
          </p:nvSpPr>
          <p:spPr bwMode="auto">
            <a:xfrm>
              <a:off x="6133823" y="3483302"/>
              <a:ext cx="503237" cy="28733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30" name="TextBox 63"/>
            <p:cNvSpPr txBox="1">
              <a:spLocks noChangeArrowheads="1"/>
            </p:cNvSpPr>
            <p:nvPr/>
          </p:nvSpPr>
          <p:spPr bwMode="auto">
            <a:xfrm>
              <a:off x="6337023" y="3789690"/>
              <a:ext cx="4299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(a)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37530" y="4116180"/>
            <a:ext cx="3684845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可以有不止一个根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zh-CN" altLang="zh-CN" sz="16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从根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向下的所有链接都称为</a:t>
            </a:r>
            <a:r>
              <a:rPr lang="zh-CN" altLang="zh-CN" sz="1600" b="1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信任链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526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504633" y="952671"/>
            <a:ext cx="8133857" cy="291111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872834" y="3857240"/>
            <a:ext cx="7287979" cy="75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与信任链对应的是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证书链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最顶层的根证书的数字签名是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自签名的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（即自己的私钥给自己签名）。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证书链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5909007" y="3327016"/>
            <a:ext cx="1295400" cy="28416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8"/>
          <p:cNvSpPr txBox="1">
            <a:spLocks noChangeArrowheads="1"/>
          </p:cNvSpPr>
          <p:nvPr/>
        </p:nvSpPr>
        <p:spPr bwMode="auto">
          <a:xfrm>
            <a:off x="2033165" y="1060264"/>
            <a:ext cx="936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根证书</a:t>
            </a:r>
          </a:p>
        </p:txBody>
      </p:sp>
      <p:sp>
        <p:nvSpPr>
          <p:cNvPr id="34" name="TextBox 63"/>
          <p:cNvSpPr txBox="1">
            <a:spLocks noChangeArrowheads="1"/>
          </p:cNvSpPr>
          <p:nvPr/>
        </p:nvSpPr>
        <p:spPr bwMode="auto">
          <a:xfrm>
            <a:off x="3020143" y="2857116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35" name="TextBox 8"/>
          <p:cNvSpPr txBox="1">
            <a:spLocks noChangeArrowheads="1"/>
          </p:cNvSpPr>
          <p:nvPr/>
        </p:nvSpPr>
        <p:spPr bwMode="auto">
          <a:xfrm>
            <a:off x="5247019" y="1669666"/>
            <a:ext cx="922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签发者</a:t>
            </a:r>
          </a:p>
        </p:txBody>
      </p:sp>
      <p:sp>
        <p:nvSpPr>
          <p:cNvPr id="36" name="TextBox 63"/>
          <p:cNvSpPr txBox="1">
            <a:spLocks noChangeArrowheads="1"/>
          </p:cNvSpPr>
          <p:nvPr/>
        </p:nvSpPr>
        <p:spPr bwMode="auto">
          <a:xfrm>
            <a:off x="4263390" y="3481003"/>
            <a:ext cx="445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66"/>
          <p:cNvSpPr txBox="1">
            <a:spLocks noChangeArrowheads="1"/>
          </p:cNvSpPr>
          <p:nvPr/>
        </p:nvSpPr>
        <p:spPr bwMode="auto">
          <a:xfrm>
            <a:off x="5877256" y="3322253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38" name="TextBox 68"/>
          <p:cNvSpPr txBox="1">
            <a:spLocks noChangeArrowheads="1"/>
          </p:cNvSpPr>
          <p:nvPr/>
        </p:nvSpPr>
        <p:spPr bwMode="auto">
          <a:xfrm>
            <a:off x="6270957" y="2657091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62"/>
          <p:cNvSpPr>
            <a:spLocks noChangeArrowheads="1"/>
          </p:cNvSpPr>
          <p:nvPr/>
        </p:nvSpPr>
        <p:spPr bwMode="auto">
          <a:xfrm>
            <a:off x="5909007" y="2490403"/>
            <a:ext cx="1290637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64"/>
          <p:cNvCxnSpPr>
            <a:cxnSpLocks noChangeShapeType="1"/>
          </p:cNvCxnSpPr>
          <p:nvPr/>
        </p:nvCxnSpPr>
        <p:spPr bwMode="auto">
          <a:xfrm>
            <a:off x="5902657" y="2987291"/>
            <a:ext cx="12922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8"/>
          <p:cNvSpPr txBox="1">
            <a:spLocks noChangeArrowheads="1"/>
          </p:cNvSpPr>
          <p:nvPr/>
        </p:nvSpPr>
        <p:spPr bwMode="auto">
          <a:xfrm>
            <a:off x="5842424" y="2487228"/>
            <a:ext cx="14652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5867732" y="2441191"/>
            <a:ext cx="1376362" cy="1209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73"/>
          <p:cNvSpPr txBox="1"/>
          <p:nvPr/>
        </p:nvSpPr>
        <p:spPr>
          <a:xfrm>
            <a:off x="3626182" y="2666616"/>
            <a:ext cx="1552575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44" name="TextBox 68"/>
          <p:cNvSpPr txBox="1">
            <a:spLocks noChangeArrowheads="1"/>
          </p:cNvSpPr>
          <p:nvPr/>
        </p:nvSpPr>
        <p:spPr bwMode="auto">
          <a:xfrm>
            <a:off x="3986544" y="2033203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62"/>
          <p:cNvSpPr>
            <a:spLocks noChangeArrowheads="1"/>
          </p:cNvSpPr>
          <p:nvPr/>
        </p:nvSpPr>
        <p:spPr bwMode="auto">
          <a:xfrm>
            <a:off x="3624594" y="1866516"/>
            <a:ext cx="1547813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64"/>
          <p:cNvCxnSpPr>
            <a:cxnSpLocks noChangeShapeType="1"/>
          </p:cNvCxnSpPr>
          <p:nvPr/>
        </p:nvCxnSpPr>
        <p:spPr bwMode="auto">
          <a:xfrm flipV="1">
            <a:off x="3627769" y="2395153"/>
            <a:ext cx="1547813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8"/>
          <p:cNvSpPr txBox="1">
            <a:spLocks noChangeArrowheads="1"/>
          </p:cNvSpPr>
          <p:nvPr/>
        </p:nvSpPr>
        <p:spPr bwMode="auto">
          <a:xfrm>
            <a:off x="3584907" y="1863341"/>
            <a:ext cx="1633537" cy="82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签发</a:t>
            </a: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581732" y="1817303"/>
            <a:ext cx="1636712" cy="1220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59"/>
          <p:cNvSpPr txBox="1"/>
          <p:nvPr/>
        </p:nvSpPr>
        <p:spPr>
          <a:xfrm>
            <a:off x="1764044" y="1893503"/>
            <a:ext cx="1192213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签名</a:t>
            </a:r>
          </a:p>
        </p:txBody>
      </p:sp>
      <p:sp>
        <p:nvSpPr>
          <p:cNvPr id="50" name="TextBox 68"/>
          <p:cNvSpPr txBox="1">
            <a:spLocks noChangeArrowheads="1"/>
          </p:cNvSpPr>
          <p:nvPr/>
        </p:nvSpPr>
        <p:spPr bwMode="auto">
          <a:xfrm>
            <a:off x="2124407" y="1547428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62"/>
          <p:cNvSpPr>
            <a:spLocks noChangeArrowheads="1"/>
          </p:cNvSpPr>
          <p:nvPr/>
        </p:nvSpPr>
        <p:spPr bwMode="auto">
          <a:xfrm>
            <a:off x="1762457" y="1380741"/>
            <a:ext cx="1193800" cy="4810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8"/>
          <p:cNvSpPr txBox="1">
            <a:spLocks noChangeArrowheads="1"/>
          </p:cNvSpPr>
          <p:nvPr/>
        </p:nvSpPr>
        <p:spPr bwMode="auto">
          <a:xfrm>
            <a:off x="1646569" y="1355341"/>
            <a:ext cx="141763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</a:p>
          <a:p>
            <a:pPr algn="ctr" eaLnBrk="1" hangingPunct="1">
              <a:lnSpc>
                <a:spcPts val="17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的公钥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1719594" y="1331528"/>
            <a:ext cx="1285875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67"/>
          <p:cNvCxnSpPr>
            <a:cxnSpLocks noChangeShapeType="1"/>
          </p:cNvCxnSpPr>
          <p:nvPr/>
        </p:nvCxnSpPr>
        <p:spPr bwMode="auto">
          <a:xfrm>
            <a:off x="1771982" y="1618866"/>
            <a:ext cx="11779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0"/>
          <p:cNvCxnSpPr>
            <a:cxnSpLocks noChangeShapeType="1"/>
          </p:cNvCxnSpPr>
          <p:nvPr/>
        </p:nvCxnSpPr>
        <p:spPr bwMode="auto">
          <a:xfrm flipV="1">
            <a:off x="3634119" y="2134803"/>
            <a:ext cx="1531938" cy="95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72"/>
          <p:cNvCxnSpPr>
            <a:cxnSpLocks noChangeShapeType="1"/>
          </p:cNvCxnSpPr>
          <p:nvPr/>
        </p:nvCxnSpPr>
        <p:spPr bwMode="auto">
          <a:xfrm>
            <a:off x="5910594" y="2726941"/>
            <a:ext cx="1284288" cy="47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5894953" y="2152266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8" name="TextBox 8"/>
          <p:cNvSpPr txBox="1">
            <a:spLocks noChangeArrowheads="1"/>
          </p:cNvSpPr>
          <p:nvPr/>
        </p:nvSpPr>
        <p:spPr bwMode="auto">
          <a:xfrm>
            <a:off x="3616712" y="1518942"/>
            <a:ext cx="1800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的证书</a:t>
            </a:r>
          </a:p>
        </p:txBody>
      </p:sp>
      <p:sp>
        <p:nvSpPr>
          <p:cNvPr id="59" name="任意多边形 89"/>
          <p:cNvSpPr>
            <a:spLocks/>
          </p:cNvSpPr>
          <p:nvPr/>
        </p:nvSpPr>
        <p:spPr bwMode="auto">
          <a:xfrm>
            <a:off x="2949907" y="1739516"/>
            <a:ext cx="712787" cy="1104900"/>
          </a:xfrm>
          <a:custGeom>
            <a:avLst/>
            <a:gdLst>
              <a:gd name="T0" fmla="*/ 0 w 670560"/>
              <a:gd name="T1" fmla="*/ 0 h 1004389"/>
              <a:gd name="T2" fmla="*/ 137036 w 670560"/>
              <a:gd name="T3" fmla="*/ 0 h 1004389"/>
              <a:gd name="T4" fmla="*/ 140741 w 670560"/>
              <a:gd name="T5" fmla="*/ 1467343 h 1004389"/>
              <a:gd name="T6" fmla="*/ 855551 w 670560"/>
              <a:gd name="T7" fmla="*/ 1471597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90"/>
          <p:cNvSpPr>
            <a:spLocks/>
          </p:cNvSpPr>
          <p:nvPr/>
        </p:nvSpPr>
        <p:spPr bwMode="auto">
          <a:xfrm>
            <a:off x="5173994" y="2261803"/>
            <a:ext cx="771525" cy="1206500"/>
          </a:xfrm>
          <a:custGeom>
            <a:avLst/>
            <a:gdLst>
              <a:gd name="T0" fmla="*/ 0 w 670560"/>
              <a:gd name="T1" fmla="*/ 0 h 1004389"/>
              <a:gd name="T2" fmla="*/ 188205 w 670560"/>
              <a:gd name="T3" fmla="*/ 0 h 1004389"/>
              <a:gd name="T4" fmla="*/ 193293 w 670560"/>
              <a:gd name="T5" fmla="*/ 2085870 h 1004389"/>
              <a:gd name="T6" fmla="*/ 1175012 w 670560"/>
              <a:gd name="T7" fmla="*/ 2091915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3"/>
          <p:cNvSpPr txBox="1">
            <a:spLocks noChangeArrowheads="1"/>
          </p:cNvSpPr>
          <p:nvPr/>
        </p:nvSpPr>
        <p:spPr bwMode="auto">
          <a:xfrm>
            <a:off x="5344243" y="3469891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62" name="任意多边形 94"/>
          <p:cNvSpPr>
            <a:spLocks/>
          </p:cNvSpPr>
          <p:nvPr/>
        </p:nvSpPr>
        <p:spPr bwMode="auto">
          <a:xfrm>
            <a:off x="5031119" y="2006216"/>
            <a:ext cx="863600" cy="1127125"/>
          </a:xfrm>
          <a:custGeom>
            <a:avLst/>
            <a:gdLst>
              <a:gd name="T0" fmla="*/ 0 w 766293"/>
              <a:gd name="T1" fmla="*/ 0 h 1126902"/>
              <a:gd name="T2" fmla="*/ 737949 w 766293"/>
              <a:gd name="T3" fmla="*/ 0 h 1126902"/>
              <a:gd name="T4" fmla="*/ 727556 w 766293"/>
              <a:gd name="T5" fmla="*/ 1127571 h 1126902"/>
              <a:gd name="T6" fmla="*/ 1236845 w 766293"/>
              <a:gd name="T7" fmla="*/ 1127571 h 1126902"/>
              <a:gd name="T8" fmla="*/ 0 60000 65536"/>
              <a:gd name="T9" fmla="*/ 0 60000 65536"/>
              <a:gd name="T10" fmla="*/ 0 60000 65536"/>
              <a:gd name="T11" fmla="*/ 0 60000 65536"/>
              <a:gd name="T12" fmla="*/ 0 w 766293"/>
              <a:gd name="T13" fmla="*/ 0 h 1126902"/>
              <a:gd name="T14" fmla="*/ 766293 w 766293"/>
              <a:gd name="T15" fmla="*/ 1126902 h 11269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6293" h="1126902">
                <a:moveTo>
                  <a:pt x="0" y="0"/>
                </a:moveTo>
                <a:lnTo>
                  <a:pt x="457200" y="0"/>
                </a:lnTo>
                <a:cubicBezTo>
                  <a:pt x="455054" y="375634"/>
                  <a:pt x="452907" y="751268"/>
                  <a:pt x="450761" y="1126902"/>
                </a:cubicBezTo>
                <a:lnTo>
                  <a:pt x="766293" y="1126902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97"/>
          <p:cNvSpPr>
            <a:spLocks/>
          </p:cNvSpPr>
          <p:nvPr/>
        </p:nvSpPr>
        <p:spPr bwMode="auto">
          <a:xfrm>
            <a:off x="2797507" y="1504566"/>
            <a:ext cx="830262" cy="998537"/>
          </a:xfrm>
          <a:custGeom>
            <a:avLst/>
            <a:gdLst>
              <a:gd name="T0" fmla="*/ 0 w 798490"/>
              <a:gd name="T1" fmla="*/ 0 h 907960"/>
              <a:gd name="T2" fmla="*/ 487025 w 798490"/>
              <a:gd name="T3" fmla="*/ 0 h 907960"/>
              <a:gd name="T4" fmla="*/ 493982 w 798490"/>
              <a:gd name="T5" fmla="*/ 1327614 h 907960"/>
              <a:gd name="T6" fmla="*/ 862729 w 798490"/>
              <a:gd name="T7" fmla="*/ 1327614 h 907960"/>
              <a:gd name="T8" fmla="*/ 0 60000 65536"/>
              <a:gd name="T9" fmla="*/ 0 60000 65536"/>
              <a:gd name="T10" fmla="*/ 0 60000 65536"/>
              <a:gd name="T11" fmla="*/ 0 60000 65536"/>
              <a:gd name="T12" fmla="*/ 0 w 798490"/>
              <a:gd name="T13" fmla="*/ 0 h 907960"/>
              <a:gd name="T14" fmla="*/ 798490 w 798490"/>
              <a:gd name="T15" fmla="*/ 907960 h 907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8490" h="907960">
                <a:moveTo>
                  <a:pt x="0" y="0"/>
                </a:moveTo>
                <a:lnTo>
                  <a:pt x="450761" y="0"/>
                </a:lnTo>
                <a:cubicBezTo>
                  <a:pt x="452907" y="302653"/>
                  <a:pt x="455054" y="605307"/>
                  <a:pt x="457200" y="907960"/>
                </a:cubicBezTo>
                <a:lnTo>
                  <a:pt x="798490" y="90796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8"/>
          <p:cNvSpPr txBox="1">
            <a:spLocks noChangeArrowheads="1"/>
          </p:cNvSpPr>
          <p:nvPr/>
        </p:nvSpPr>
        <p:spPr bwMode="auto">
          <a:xfrm>
            <a:off x="2984832" y="1175953"/>
            <a:ext cx="9239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签发者</a:t>
            </a:r>
          </a:p>
        </p:txBody>
      </p:sp>
    </p:spTree>
    <p:extLst>
      <p:ext uri="{BB962C8B-B14F-4D97-AF65-F5344CB8AC3E}">
        <p14:creationId xmlns:p14="http://schemas.microsoft.com/office/powerpoint/2010/main" val="271341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7206"/>
            <a:ext cx="8242640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证书不是永久有效，它可以过期，也可以被吊销。</a:t>
            </a: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每一个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应当有一个公布于众的、用本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的私钥签名的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证书撤销名单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，并定期更新。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有很多原因导致证书被吊销，例如：</a:t>
            </a: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用户私钥被盗或遗失。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用户不再被该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认证。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签署用户证书的私钥被泄漏。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证书撤销与更新</a:t>
            </a:r>
          </a:p>
        </p:txBody>
      </p:sp>
    </p:spTree>
    <p:extLst>
      <p:ext uri="{BB962C8B-B14F-4D97-AF65-F5344CB8AC3E}">
        <p14:creationId xmlns:p14="http://schemas.microsoft.com/office/powerpoint/2010/main" val="397177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676639" y="131572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76639" y="192215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687234" y="131572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696123" y="141066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7.5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互联网使用的安全协议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676639" y="25233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84702" y="1189512"/>
            <a:ext cx="0" cy="1834737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748077" y="1281184"/>
            <a:ext cx="55943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网络层安全协议</a:t>
            </a: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7.5.2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运输层安全协议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22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943585" y="579765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网络层安全协议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9654"/>
            <a:ext cx="8204221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几乎不具备任何安全性，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不能保证：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数据机密性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数据完整性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数据来源认证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由于其在设计和实现上存在安全漏洞，使各种攻击有机可乘。例如：攻击者很容易构造一个包含虚假地址的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提供了标准、健壮且包含广泛的机制保证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层安全。</a:t>
            </a:r>
          </a:p>
        </p:txBody>
      </p:sp>
    </p:spTree>
    <p:extLst>
      <p:ext uri="{BB962C8B-B14F-4D97-AF65-F5344CB8AC3E}">
        <p14:creationId xmlns:p14="http://schemas.microsoft.com/office/powerpoint/2010/main" val="389353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276994" y="572806"/>
            <a:ext cx="25939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协议族概述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1292"/>
            <a:ext cx="812901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security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不是一个单一协议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，而是能够在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层提供互联网通信安全的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协议族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是个框架：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允许通信双方选择合适的算法和参数（例如，密钥长度）。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为保证互操作性，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还包含了所有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都必须实现的一套加密算法。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7377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0249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由三部分组成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2" y="919712"/>
            <a:ext cx="8521711" cy="210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安全数据报格式：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两个协议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鉴别首部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(Authentication Header)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封装安全有效载荷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(Encapsulation Security Payload)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加密算法：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三个协议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910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980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由三部分组成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09474" y="921464"/>
            <a:ext cx="789024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源点鉴别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，但不能保密。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ESP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源点鉴别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数据完整性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保密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支持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数据报称为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IPsec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数据报）。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5625" y="1881456"/>
            <a:ext cx="5011376" cy="9130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协议的功能都已包含在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协议中。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ESP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协议就可以不使用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AH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268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04633" y="940130"/>
            <a:ext cx="8133857" cy="242589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577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8650"/>
            <a:ext cx="35942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安全数据报有两种工作方式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501" y="2191931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74" name="矩形 73"/>
          <p:cNvSpPr/>
          <p:nvPr/>
        </p:nvSpPr>
        <p:spPr>
          <a:xfrm>
            <a:off x="3448851" y="2191931"/>
            <a:ext cx="606633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01287" y="2191931"/>
            <a:ext cx="3359919" cy="804189"/>
            <a:chOff x="701287" y="2191931"/>
            <a:chExt cx="3359919" cy="804189"/>
          </a:xfrm>
        </p:grpSpPr>
        <p:sp>
          <p:nvSpPr>
            <p:cNvPr id="71" name="矩形 70"/>
            <p:cNvSpPr/>
            <p:nvPr/>
          </p:nvSpPr>
          <p:spPr>
            <a:xfrm>
              <a:off x="701287" y="2191931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2117471" y="2191931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</a:p>
          </p:txBody>
        </p:sp>
        <p:sp>
          <p:nvSpPr>
            <p:cNvPr id="77" name="Line 55"/>
            <p:cNvSpPr>
              <a:spLocks noChangeShapeType="1"/>
            </p:cNvSpPr>
            <p:nvPr/>
          </p:nvSpPr>
          <p:spPr bwMode="auto">
            <a:xfrm>
              <a:off x="715467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55"/>
            <p:cNvSpPr>
              <a:spLocks noChangeShapeType="1"/>
            </p:cNvSpPr>
            <p:nvPr/>
          </p:nvSpPr>
          <p:spPr bwMode="auto">
            <a:xfrm>
              <a:off x="4061206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62"/>
            <p:cNvSpPr>
              <a:spLocks noChangeShapeType="1"/>
            </p:cNvSpPr>
            <p:nvPr/>
          </p:nvSpPr>
          <p:spPr bwMode="auto">
            <a:xfrm>
              <a:off x="734951" y="2726565"/>
              <a:ext cx="33205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1739569" y="2719121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56772" y="1009143"/>
            <a:ext cx="2392079" cy="1182788"/>
            <a:chOff x="1056772" y="1009143"/>
            <a:chExt cx="2392079" cy="1182788"/>
          </a:xfrm>
        </p:grpSpPr>
        <p:grpSp>
          <p:nvGrpSpPr>
            <p:cNvPr id="85" name="组合 84"/>
            <p:cNvGrpSpPr/>
            <p:nvPr/>
          </p:nvGrpSpPr>
          <p:grpSpPr>
            <a:xfrm>
              <a:off x="1406502" y="1009143"/>
              <a:ext cx="2042349" cy="648019"/>
              <a:chOff x="5601886" y="1478458"/>
              <a:chExt cx="2042349" cy="648019"/>
            </a:xfrm>
          </p:grpSpPr>
          <p:sp>
            <p:nvSpPr>
              <p:cNvPr id="40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21" name="Line 55"/>
            <p:cNvSpPr>
              <a:spLocks noChangeShapeType="1"/>
            </p:cNvSpPr>
            <p:nvPr/>
          </p:nvSpPr>
          <p:spPr bwMode="auto">
            <a:xfrm>
              <a:off x="2128104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448851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" name="直接箭头连接符 5"/>
            <p:cNvCxnSpPr>
              <a:stCxn id="66" idx="2"/>
              <a:endCxn id="71" idx="0"/>
            </p:cNvCxnSpPr>
            <p:nvPr/>
          </p:nvCxnSpPr>
          <p:spPr>
            <a:xfrm flipH="1">
              <a:off x="1056772" y="1657162"/>
              <a:ext cx="705215" cy="53476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5053348" y="2205317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34" name="矩形 33"/>
          <p:cNvSpPr/>
          <p:nvPr/>
        </p:nvSpPr>
        <p:spPr>
          <a:xfrm>
            <a:off x="7808110" y="2205317"/>
            <a:ext cx="606622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62314" y="2205317"/>
            <a:ext cx="4067115" cy="813154"/>
            <a:chOff x="4362314" y="2205317"/>
            <a:chExt cx="4067115" cy="813154"/>
          </a:xfrm>
        </p:grpSpPr>
        <p:sp>
          <p:nvSpPr>
            <p:cNvPr id="31" name="矩形 30"/>
            <p:cNvSpPr/>
            <p:nvPr/>
          </p:nvSpPr>
          <p:spPr>
            <a:xfrm>
              <a:off x="5764317" y="2205317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6476729" y="2205317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>
              <a:off x="4362314" y="2576632"/>
              <a:ext cx="0" cy="410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8429428" y="2576631"/>
              <a:ext cx="0" cy="419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4362315" y="2730986"/>
              <a:ext cx="40671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5726047" y="2741472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安全数据报</a:t>
              </a:r>
            </a:p>
          </p:txBody>
        </p:sp>
      </p:grpSp>
      <p:sp>
        <p:nvSpPr>
          <p:cNvPr id="39" name="矩形 38"/>
          <p:cNvSpPr/>
          <p:nvPr/>
        </p:nvSpPr>
        <p:spPr>
          <a:xfrm>
            <a:off x="4362314" y="2205317"/>
            <a:ext cx="710969" cy="340242"/>
          </a:xfrm>
          <a:prstGeom prst="rect">
            <a:avLst/>
          </a:prstGeom>
          <a:solidFill>
            <a:srgbClr val="00FF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765760" y="1022529"/>
            <a:ext cx="2042349" cy="1175088"/>
            <a:chOff x="5765760" y="1022529"/>
            <a:chExt cx="2042349" cy="1175088"/>
          </a:xfrm>
        </p:grpSpPr>
        <p:grpSp>
          <p:nvGrpSpPr>
            <p:cNvPr id="25" name="组合 24"/>
            <p:cNvGrpSpPr/>
            <p:nvPr/>
          </p:nvGrpSpPr>
          <p:grpSpPr>
            <a:xfrm>
              <a:off x="5765760" y="1022529"/>
              <a:ext cx="2042349" cy="648019"/>
              <a:chOff x="5601886" y="1478458"/>
              <a:chExt cx="2042349" cy="648019"/>
            </a:xfrm>
          </p:grpSpPr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首部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" pitchFamily="34" charset="-122"/>
                      <a:ea typeface="微软雅黑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>
              <a:off x="5765760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7808109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232823" y="3023056"/>
            <a:ext cx="25193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(transport mode)</a:t>
            </a:r>
          </a:p>
        </p:txBody>
      </p:sp>
      <p:sp>
        <p:nvSpPr>
          <p:cNvPr id="44" name="矩形 43"/>
          <p:cNvSpPr/>
          <p:nvPr/>
        </p:nvSpPr>
        <p:spPr>
          <a:xfrm>
            <a:off x="5136200" y="3023056"/>
            <a:ext cx="2249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隧道方式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(tunnel mode)</a:t>
            </a:r>
          </a:p>
        </p:txBody>
      </p:sp>
      <p:sp>
        <p:nvSpPr>
          <p:cNvPr id="9" name="矩形 8"/>
          <p:cNvSpPr/>
          <p:nvPr/>
        </p:nvSpPr>
        <p:spPr>
          <a:xfrm>
            <a:off x="590227" y="3386684"/>
            <a:ext cx="3742445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在整个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运输层报文段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适合于主机到主机之间的安全传送。 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需要使用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的主机都运行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</a:p>
        </p:txBody>
      </p:sp>
      <p:sp>
        <p:nvSpPr>
          <p:cNvPr id="10" name="矩形 9"/>
          <p:cNvSpPr/>
          <p:nvPr/>
        </p:nvSpPr>
        <p:spPr>
          <a:xfrm>
            <a:off x="4332673" y="3386684"/>
            <a:ext cx="38879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在原始的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的前后分别添加若干控制信息，再加上新的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数据报所经过的所有路由器上都运行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隧道方式常用来实现虚拟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专用网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772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33" grpId="0" animBg="1"/>
      <p:bldP spid="34" grpId="0" animBg="1"/>
      <p:bldP spid="9" grpId="0"/>
      <p:bldP spid="1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6573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9445"/>
            <a:ext cx="42594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首部是不加密的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18908"/>
            <a:ext cx="7621514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无论使用哪种方式，最后得出的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首部都是不加密的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安全数据报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：指数据报的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是经过加密的，并能够被鉴别的。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通常把数据报的数据部分称为数据报的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有效载荷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(payload)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1259"/>
            <a:ext cx="8129015" cy="1317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在发送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安全数据报之前，在源实体和目的实体之间必须创建一条网络层的逻辑连接。此逻辑连接叫做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14000" y="572806"/>
            <a:ext cx="15199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安全关联</a:t>
            </a:r>
          </a:p>
        </p:txBody>
      </p:sp>
      <p:sp>
        <p:nvSpPr>
          <p:cNvPr id="2" name="矩形 1"/>
          <p:cNvSpPr/>
          <p:nvPr/>
        </p:nvSpPr>
        <p:spPr>
          <a:xfrm>
            <a:off x="1592580" y="2414811"/>
            <a:ext cx="5173980" cy="8715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IPsec 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把传统互联网无连接的网络层转换为具有逻辑连接的网络层。 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833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20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安全关联的特点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0671"/>
            <a:ext cx="8129016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安全关联是从源点到终点的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单向连接，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它能够提供安全服务。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上传送的就是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如要进行双向安全通信，则两个方向都需要建立安全关联。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若 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个员工进行双向安全通信，一共需要创建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(2 + 2</a:t>
            </a:r>
            <a:r>
              <a:rPr lang="en-US" altLang="zh-CN" sz="2000" b="1" i="1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条安全关联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SA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0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7984" y="560869"/>
            <a:ext cx="3900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3476" y="1137226"/>
            <a:ext cx="6794406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要和分公司的主机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通过互联网进行安全通信。公司总部与分公司之间的安全关联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是在路由器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之间建立的。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2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2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6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1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0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1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3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18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>
            <a:off x="5668265" y="3150401"/>
            <a:ext cx="648661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09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4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2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" name="组合 990"/>
          <p:cNvGrpSpPr>
            <a:grpSpLocks/>
          </p:cNvGrpSpPr>
          <p:nvPr/>
        </p:nvGrpSpPr>
        <p:grpSpPr bwMode="auto">
          <a:xfrm>
            <a:off x="6857488" y="2906072"/>
            <a:ext cx="617057" cy="175070"/>
            <a:chOff x="1691680" y="1052736"/>
            <a:chExt cx="576064" cy="144016"/>
          </a:xfrm>
        </p:grpSpPr>
        <p:sp>
          <p:nvSpPr>
            <p:cNvPr id="503" name="矩形 502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4" name="直接箭头连接符 988"/>
            <p:cNvCxnSpPr>
              <a:cxnSpLocks noChangeShapeType="1"/>
              <a:stCxn id="503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5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cxnSp>
        <p:nvCxnSpPr>
          <p:cNvPr id="33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0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542"/>
          <p:cNvSpPr>
            <a:spLocks noChangeArrowheads="1"/>
          </p:cNvSpPr>
          <p:nvPr/>
        </p:nvSpPr>
        <p:spPr bwMode="auto">
          <a:xfrm>
            <a:off x="7131169" y="2910086"/>
            <a:ext cx="110493" cy="171223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6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554"/>
          <p:cNvGrpSpPr>
            <a:grpSpLocks/>
          </p:cNvGrpSpPr>
          <p:nvPr/>
        </p:nvGrpSpPr>
        <p:grpSpPr bwMode="auto">
          <a:xfrm>
            <a:off x="6638313" y="2318308"/>
            <a:ext cx="1145725" cy="651251"/>
            <a:chOff x="1501147" y="598373"/>
            <a:chExt cx="1069610" cy="538002"/>
          </a:xfrm>
        </p:grpSpPr>
        <p:grpSp>
          <p:nvGrpSpPr>
            <p:cNvPr id="43" name="组合 516"/>
            <p:cNvGrpSpPr>
              <a:grpSpLocks/>
            </p:cNvGrpSpPr>
            <p:nvPr/>
          </p:nvGrpSpPr>
          <p:grpSpPr bwMode="auto">
            <a:xfrm>
              <a:off x="1501147" y="598373"/>
              <a:ext cx="1069610" cy="294860"/>
              <a:chOff x="1572179" y="576470"/>
              <a:chExt cx="1028712" cy="294860"/>
            </a:xfrm>
          </p:grpSpPr>
          <p:sp>
            <p:nvSpPr>
              <p:cNvPr id="45" name="圆角矩形标注 557"/>
              <p:cNvSpPr>
                <a:spLocks noChangeArrowheads="1"/>
              </p:cNvSpPr>
              <p:nvPr/>
            </p:nvSpPr>
            <p:spPr bwMode="auto">
              <a:xfrm>
                <a:off x="1572179" y="576470"/>
                <a:ext cx="1011994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1572953" y="598164"/>
                <a:ext cx="1027938" cy="254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下箭头 556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88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2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圆角矩形标注 557"/>
          <p:cNvSpPr>
            <a:spLocks noChangeArrowheads="1"/>
          </p:cNvSpPr>
          <p:nvPr/>
        </p:nvSpPr>
        <p:spPr bwMode="auto">
          <a:xfrm>
            <a:off x="2077448" y="3599856"/>
            <a:ext cx="837180" cy="293509"/>
          </a:xfrm>
          <a:prstGeom prst="wedgeRoundRectCallout">
            <a:avLst>
              <a:gd name="adj1" fmla="val 29378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8" name="Text Box 48"/>
          <p:cNvSpPr txBox="1">
            <a:spLocks noChangeArrowheads="1"/>
          </p:cNvSpPr>
          <p:nvPr/>
        </p:nvSpPr>
        <p:spPr bwMode="auto">
          <a:xfrm>
            <a:off x="1937944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装有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9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120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58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637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8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9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9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634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6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0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631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2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3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5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628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9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0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6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625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6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7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58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3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38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55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6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7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9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52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4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0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49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0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1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1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46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7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8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42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43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4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5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9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516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35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6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7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30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8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27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9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24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6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0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521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3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0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513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4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1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510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1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2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2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507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8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9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3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6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502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5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6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99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0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96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7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9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93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4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73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90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4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87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5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84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6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81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7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78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1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53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70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67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64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6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61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7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58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2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50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2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47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8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9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44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5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6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5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8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41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2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3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38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9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35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6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7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32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3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4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412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29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3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26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4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23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5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420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6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417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3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92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409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406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403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5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400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6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97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4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89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0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1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86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7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6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83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4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5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80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77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9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57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74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71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9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68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0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65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1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62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0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37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54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51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48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0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45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1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42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1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34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5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2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31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2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3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28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25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6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22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306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319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316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8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313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9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310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7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90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303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4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5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1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300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1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2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2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97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3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94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08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87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84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81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78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75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72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4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69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66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63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8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60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9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57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0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54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51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48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3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45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4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42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39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54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4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35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640" name="圆角矩形标注 557"/>
          <p:cNvSpPr>
            <a:spLocks noChangeArrowheads="1"/>
          </p:cNvSpPr>
          <p:nvPr/>
        </p:nvSpPr>
        <p:spPr bwMode="auto">
          <a:xfrm>
            <a:off x="6342429" y="3599856"/>
            <a:ext cx="837180" cy="293509"/>
          </a:xfrm>
          <a:prstGeom prst="wedgeRoundRectCallout">
            <a:avLst>
              <a:gd name="adj1" fmla="val -18809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1" name="Text Box 48"/>
          <p:cNvSpPr txBox="1">
            <a:spLocks noChangeArrowheads="1"/>
          </p:cNvSpPr>
          <p:nvPr/>
        </p:nvSpPr>
        <p:spPr bwMode="auto">
          <a:xfrm>
            <a:off x="6202925" y="3598361"/>
            <a:ext cx="1084263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装有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4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6" name="Text Box 201"/>
          <p:cNvSpPr txBox="1">
            <a:spLocks noChangeArrowheads="1"/>
          </p:cNvSpPr>
          <p:nvPr/>
        </p:nvSpPr>
        <p:spPr bwMode="auto">
          <a:xfrm>
            <a:off x="3855953" y="3271247"/>
            <a:ext cx="1574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8" name="TextBox 997"/>
          <p:cNvSpPr txBox="1">
            <a:spLocks noChangeArrowheads="1"/>
          </p:cNvSpPr>
          <p:nvPr/>
        </p:nvSpPr>
        <p:spPr bwMode="auto">
          <a:xfrm>
            <a:off x="3846168" y="2553052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21" name="AutoShape 212"/>
          <p:cNvSpPr>
            <a:spLocks noChangeArrowheads="1"/>
          </p:cNvSpPr>
          <p:nvPr/>
        </p:nvSpPr>
        <p:spPr bwMode="auto">
          <a:xfrm>
            <a:off x="5273197" y="2902886"/>
            <a:ext cx="586953" cy="123766"/>
          </a:xfrm>
          <a:prstGeom prst="rightArrow">
            <a:avLst>
              <a:gd name="adj1" fmla="val 50000"/>
              <a:gd name="adj2" fmla="val 73675"/>
            </a:avLst>
          </a:prstGeom>
          <a:solidFill>
            <a:srgbClr val="CC00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789200" y="2838737"/>
            <a:ext cx="1470375" cy="278959"/>
            <a:chOff x="3789200" y="2883562"/>
            <a:chExt cx="1470375" cy="278959"/>
          </a:xfrm>
        </p:grpSpPr>
        <p:grpSp>
          <p:nvGrpSpPr>
            <p:cNvPr id="8" name="组合 7"/>
            <p:cNvGrpSpPr/>
            <p:nvPr/>
          </p:nvGrpSpPr>
          <p:grpSpPr>
            <a:xfrm>
              <a:off x="3789200" y="2883562"/>
              <a:ext cx="1470375" cy="278959"/>
              <a:chOff x="3789200" y="2883562"/>
              <a:chExt cx="1470375" cy="27895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789200" y="2883562"/>
                <a:ext cx="1470375" cy="278959"/>
                <a:chOff x="3789200" y="2883562"/>
                <a:chExt cx="1470375" cy="278959"/>
              </a:xfrm>
            </p:grpSpPr>
            <p:sp>
              <p:nvSpPr>
                <p:cNvPr id="22" name="Rectangle 210"/>
                <p:cNvSpPr>
                  <a:spLocks noChangeArrowheads="1"/>
                </p:cNvSpPr>
                <p:nvPr/>
              </p:nvSpPr>
              <p:spPr bwMode="auto">
                <a:xfrm>
                  <a:off x="3789200" y="2883562"/>
                  <a:ext cx="1463600" cy="2789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004592" y="2887304"/>
                  <a:ext cx="254983" cy="272619"/>
                </a:xfrm>
                <a:prstGeom prst="rect">
                  <a:avLst/>
                </a:prstGeom>
                <a:solidFill>
                  <a:srgbClr val="FFFF00"/>
                </a:solidFill>
                <a:ln w="63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3" name="矩形 22"/>
              <p:cNvSpPr/>
              <p:nvPr/>
            </p:nvSpPr>
            <p:spPr bwMode="auto">
              <a:xfrm>
                <a:off x="4328063" y="2935507"/>
                <a:ext cx="385872" cy="175070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矩形 541"/>
            <p:cNvSpPr>
              <a:spLocks noChangeArrowheads="1"/>
            </p:cNvSpPr>
            <p:nvPr/>
          </p:nvSpPr>
          <p:spPr bwMode="auto">
            <a:xfrm>
              <a:off x="4601744" y="2937430"/>
              <a:ext cx="110493" cy="169299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圆角矩形标注 559"/>
          <p:cNvSpPr>
            <a:spLocks noChangeArrowheads="1"/>
          </p:cNvSpPr>
          <p:nvPr/>
        </p:nvSpPr>
        <p:spPr bwMode="auto">
          <a:xfrm>
            <a:off x="5359297" y="1824038"/>
            <a:ext cx="1195612" cy="344370"/>
          </a:xfrm>
          <a:prstGeom prst="wedgeRoundRectCallout">
            <a:avLst>
              <a:gd name="adj1" fmla="val -65563"/>
              <a:gd name="adj2" fmla="val 280063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5355410" y="1805892"/>
            <a:ext cx="12330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4" name="AutoShape 2"/>
          <p:cNvSpPr>
            <a:spLocks noChangeArrowheads="1"/>
          </p:cNvSpPr>
          <p:nvPr/>
        </p:nvSpPr>
        <p:spPr bwMode="auto">
          <a:xfrm rot="16200000">
            <a:off x="4533387" y="1646245"/>
            <a:ext cx="186226" cy="3087688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>
            <a:off x="2932067" y="3170317"/>
            <a:ext cx="3384859" cy="19045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7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80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7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6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3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7984" y="560871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之间的通信</a:t>
            </a:r>
          </a:p>
        </p:txBody>
      </p:sp>
      <p:sp>
        <p:nvSpPr>
          <p:cNvPr id="5" name="矩形 4"/>
          <p:cNvSpPr/>
          <p:nvPr/>
        </p:nvSpPr>
        <p:spPr>
          <a:xfrm>
            <a:off x="1363476" y="1137228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假定公司总部的主机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要和内部的主机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进行通信。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由于都在公司内部，不需要加密，因此不需要建立安全关联。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4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4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8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21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9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2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5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20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 flipV="1">
            <a:off x="6036445" y="3150403"/>
            <a:ext cx="280481" cy="962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11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6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4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分公司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2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05902" y="2304938"/>
            <a:ext cx="1144864" cy="653079"/>
            <a:chOff x="1505608" y="598373"/>
            <a:chExt cx="1074067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05608" y="598373"/>
              <a:ext cx="1074067" cy="294860"/>
              <a:chOff x="1576472" y="576470"/>
              <a:chExt cx="1033000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76472" y="609118"/>
                <a:ext cx="1033000" cy="25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90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4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97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98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36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49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1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46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7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8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8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2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43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4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5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40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1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2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37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8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9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34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5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6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12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29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3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26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7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4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23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4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5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20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6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17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7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92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09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0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1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3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06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7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8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4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03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5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5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00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6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97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8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89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9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86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8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0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83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4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5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4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80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77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8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9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74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5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6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71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8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51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68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2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65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3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62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4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59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5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56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9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31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48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2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45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3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42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4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39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5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36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60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28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1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25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7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22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3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4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3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6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19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16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13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9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10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0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90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07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1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04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2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01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3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98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4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95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1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70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87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1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84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2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81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3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78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74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75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2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67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3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64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5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61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5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58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6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55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35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52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6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49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7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46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43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9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40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8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15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32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6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29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26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8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23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9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20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9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12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09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1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06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2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03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00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84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97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9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5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94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5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6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6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91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2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3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7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88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9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0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5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68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81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2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3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9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78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9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0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0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75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6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1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72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3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4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6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65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7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62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59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56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0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53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1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50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47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3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4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44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41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38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35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8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32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29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26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23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20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7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1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32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2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13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pic>
        <p:nvPicPr>
          <p:cNvPr id="13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9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77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4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37984" y="560869"/>
            <a:ext cx="44438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路由器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到主机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363476" y="1137226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若公司总部的主机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要和某外地业务员的主机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进行安全通信，需要在公司总部的路由器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和外地业务员的主机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建立安全关联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1080" name="Group 107"/>
          <p:cNvGrpSpPr>
            <a:grpSpLocks/>
          </p:cNvGrpSpPr>
          <p:nvPr/>
        </p:nvGrpSpPr>
        <p:grpSpPr bwMode="auto">
          <a:xfrm>
            <a:off x="3317042" y="2202839"/>
            <a:ext cx="3220329" cy="1969898"/>
            <a:chOff x="2248" y="820"/>
            <a:chExt cx="2248" cy="883"/>
          </a:xfrm>
        </p:grpSpPr>
        <p:grpSp>
          <p:nvGrpSpPr>
            <p:cNvPr id="1081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11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116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126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128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132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136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7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8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39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140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133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4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135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1129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0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131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1127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1117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120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1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2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3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4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125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1118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9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112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3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4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15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2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96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07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8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9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10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1097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99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0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1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2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3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4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5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06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098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83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84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5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6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7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8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9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0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1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2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3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4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5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141" name="圆角矩形 1140"/>
          <p:cNvSpPr/>
          <p:nvPr/>
        </p:nvSpPr>
        <p:spPr bwMode="auto">
          <a:xfrm>
            <a:off x="853261" y="2249246"/>
            <a:ext cx="2376640" cy="189557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2" name="直接连接符 75"/>
          <p:cNvCxnSpPr>
            <a:cxnSpLocks noChangeShapeType="1"/>
          </p:cNvCxnSpPr>
          <p:nvPr/>
        </p:nvCxnSpPr>
        <p:spPr bwMode="auto">
          <a:xfrm>
            <a:off x="6391403" y="3434454"/>
            <a:ext cx="1275629" cy="15954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3" name="Line 205"/>
          <p:cNvSpPr>
            <a:spLocks noChangeShapeType="1"/>
          </p:cNvSpPr>
          <p:nvPr/>
        </p:nvSpPr>
        <p:spPr bwMode="auto">
          <a:xfrm>
            <a:off x="1687750" y="3109662"/>
            <a:ext cx="16671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4" name="Text Box 48"/>
          <p:cNvSpPr txBox="1">
            <a:spLocks noChangeArrowheads="1"/>
          </p:cNvSpPr>
          <p:nvPr/>
        </p:nvSpPr>
        <p:spPr bwMode="auto">
          <a:xfrm>
            <a:off x="1636937" y="1955216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公司总部</a:t>
            </a:r>
          </a:p>
        </p:txBody>
      </p:sp>
      <p:pic>
        <p:nvPicPr>
          <p:cNvPr id="1145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68" y="2967208"/>
            <a:ext cx="514663" cy="3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7" name="Text Box 207"/>
          <p:cNvSpPr txBox="1">
            <a:spLocks noChangeArrowheads="1"/>
          </p:cNvSpPr>
          <p:nvPr/>
        </p:nvSpPr>
        <p:spPr bwMode="auto">
          <a:xfrm>
            <a:off x="4524703" y="1935211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1148" name="Text Box 201"/>
          <p:cNvSpPr txBox="1">
            <a:spLocks noChangeArrowheads="1"/>
          </p:cNvSpPr>
          <p:nvPr/>
        </p:nvSpPr>
        <p:spPr bwMode="auto">
          <a:xfrm rot="284964">
            <a:off x="4407507" y="3438996"/>
            <a:ext cx="13115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kumimoji="0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H</a:t>
            </a:r>
            <a:r>
              <a:rPr kumimoji="0"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9" name="Text Box 208"/>
          <p:cNvSpPr txBox="1">
            <a:spLocks noChangeArrowheads="1"/>
          </p:cNvSpPr>
          <p:nvPr/>
        </p:nvSpPr>
        <p:spPr bwMode="auto">
          <a:xfrm>
            <a:off x="2772219" y="2564542"/>
            <a:ext cx="4122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150" name="TextBox 997"/>
          <p:cNvSpPr txBox="1">
            <a:spLocks noChangeArrowheads="1"/>
          </p:cNvSpPr>
          <p:nvPr/>
        </p:nvSpPr>
        <p:spPr bwMode="auto">
          <a:xfrm rot="331179">
            <a:off x="4461136" y="2723100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</a:t>
            </a:r>
          </a:p>
        </p:txBody>
      </p:sp>
      <p:sp>
        <p:nvSpPr>
          <p:cNvPr id="1151" name="Text Box 213"/>
          <p:cNvSpPr txBox="1">
            <a:spLocks noChangeArrowheads="1"/>
          </p:cNvSpPr>
          <p:nvPr/>
        </p:nvSpPr>
        <p:spPr bwMode="auto">
          <a:xfrm>
            <a:off x="942331" y="2755698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05" name="Text Box 213"/>
          <p:cNvSpPr txBox="1">
            <a:spLocks noChangeArrowheads="1"/>
          </p:cNvSpPr>
          <p:nvPr/>
        </p:nvSpPr>
        <p:spPr bwMode="auto">
          <a:xfrm>
            <a:off x="7481981" y="3040397"/>
            <a:ext cx="4379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607" name="AutoShape 212"/>
          <p:cNvSpPr>
            <a:spLocks noChangeArrowheads="1"/>
          </p:cNvSpPr>
          <p:nvPr/>
        </p:nvSpPr>
        <p:spPr bwMode="auto">
          <a:xfrm rot="496123">
            <a:off x="5960811" y="3249095"/>
            <a:ext cx="976722" cy="105922"/>
          </a:xfrm>
          <a:prstGeom prst="rightArrow">
            <a:avLst>
              <a:gd name="adj1" fmla="val 50000"/>
              <a:gd name="adj2" fmla="val 72412"/>
            </a:avLst>
          </a:prstGeom>
          <a:solidFill>
            <a:srgbClr val="CC0099"/>
          </a:solidFill>
          <a:ln w="9525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9" name="Text Box 207"/>
          <p:cNvSpPr txBox="1">
            <a:spLocks noChangeArrowheads="1"/>
          </p:cNvSpPr>
          <p:nvPr/>
        </p:nvSpPr>
        <p:spPr bwMode="auto">
          <a:xfrm>
            <a:off x="7282736" y="275998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业务员</a:t>
            </a:r>
          </a:p>
        </p:txBody>
      </p:sp>
      <p:grpSp>
        <p:nvGrpSpPr>
          <p:cNvPr id="1611" name="组合 1610"/>
          <p:cNvGrpSpPr/>
          <p:nvPr/>
        </p:nvGrpSpPr>
        <p:grpSpPr>
          <a:xfrm>
            <a:off x="1855015" y="2877938"/>
            <a:ext cx="667224" cy="172842"/>
            <a:chOff x="1914443" y="4003494"/>
            <a:chExt cx="805871" cy="198282"/>
          </a:xfrm>
        </p:grpSpPr>
        <p:grpSp>
          <p:nvGrpSpPr>
            <p:cNvPr id="1612" name="组合 990"/>
            <p:cNvGrpSpPr>
              <a:grpSpLocks/>
            </p:cNvGrpSpPr>
            <p:nvPr/>
          </p:nvGrpSpPr>
          <p:grpSpPr bwMode="auto">
            <a:xfrm>
              <a:off x="1914443" y="4003494"/>
              <a:ext cx="805871" cy="198282"/>
              <a:chOff x="1691680" y="1052736"/>
              <a:chExt cx="576064" cy="144016"/>
            </a:xfrm>
          </p:grpSpPr>
          <p:sp>
            <p:nvSpPr>
              <p:cNvPr id="1614" name="矩形 1613"/>
              <p:cNvSpPr/>
              <p:nvPr/>
            </p:nvSpPr>
            <p:spPr bwMode="auto">
              <a:xfrm>
                <a:off x="1691680" y="1052736"/>
                <a:ext cx="360239" cy="144016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15" name="直接箭头连接符 988"/>
              <p:cNvCxnSpPr>
                <a:cxnSpLocks noChangeShapeType="1"/>
                <a:stCxn id="1614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 algn="ctr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13" name="矩形 507"/>
            <p:cNvSpPr>
              <a:spLocks noChangeArrowheads="1"/>
            </p:cNvSpPr>
            <p:nvPr/>
          </p:nvSpPr>
          <p:spPr bwMode="auto">
            <a:xfrm>
              <a:off x="2267428" y="4010030"/>
              <a:ext cx="148741" cy="187388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18" name="组合 518"/>
          <p:cNvGrpSpPr>
            <a:grpSpLocks/>
          </p:cNvGrpSpPr>
          <p:nvPr/>
        </p:nvGrpSpPr>
        <p:grpSpPr bwMode="auto">
          <a:xfrm>
            <a:off x="1691639" y="2307246"/>
            <a:ext cx="1159946" cy="644771"/>
            <a:chOff x="1550530" y="598373"/>
            <a:chExt cx="1002848" cy="538002"/>
          </a:xfrm>
        </p:grpSpPr>
        <p:grpSp>
          <p:nvGrpSpPr>
            <p:cNvPr id="1619" name="组合 516"/>
            <p:cNvGrpSpPr>
              <a:grpSpLocks/>
            </p:cNvGrpSpPr>
            <p:nvPr/>
          </p:nvGrpSpPr>
          <p:grpSpPr bwMode="auto">
            <a:xfrm>
              <a:off x="1550530" y="598373"/>
              <a:ext cx="1002848" cy="294860"/>
              <a:chOff x="1619672" y="576470"/>
              <a:chExt cx="964502" cy="294860"/>
            </a:xfrm>
          </p:grpSpPr>
          <p:sp>
            <p:nvSpPr>
              <p:cNvPr id="1621" name="圆角矩形标注 515"/>
              <p:cNvSpPr>
                <a:spLocks noChangeArrowheads="1"/>
              </p:cNvSpPr>
              <p:nvPr/>
            </p:nvSpPr>
            <p:spPr bwMode="auto">
              <a:xfrm>
                <a:off x="1619672" y="576470"/>
                <a:ext cx="964502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2" name="Text Box 48"/>
              <p:cNvSpPr txBox="1">
                <a:spLocks noChangeArrowheads="1"/>
              </p:cNvSpPr>
              <p:nvPr/>
            </p:nvSpPr>
            <p:spPr bwMode="auto">
              <a:xfrm>
                <a:off x="1626950" y="610981"/>
                <a:ext cx="951961" cy="256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20" name="下箭头 517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3998" y="3020180"/>
            <a:ext cx="1582589" cy="336639"/>
            <a:chOff x="4363998" y="3065005"/>
            <a:chExt cx="1582589" cy="336639"/>
          </a:xfrm>
        </p:grpSpPr>
        <p:grpSp>
          <p:nvGrpSpPr>
            <p:cNvPr id="3" name="组合 2"/>
            <p:cNvGrpSpPr/>
            <p:nvPr/>
          </p:nvGrpSpPr>
          <p:grpSpPr>
            <a:xfrm>
              <a:off x="4363998" y="3065005"/>
              <a:ext cx="1582589" cy="336639"/>
              <a:chOff x="4363998" y="3065005"/>
              <a:chExt cx="1582589" cy="336639"/>
            </a:xfrm>
          </p:grpSpPr>
          <p:sp>
            <p:nvSpPr>
              <p:cNvPr id="1608" name="Rectangle 210"/>
              <p:cNvSpPr>
                <a:spLocks noChangeArrowheads="1"/>
              </p:cNvSpPr>
              <p:nvPr/>
            </p:nvSpPr>
            <p:spPr bwMode="auto">
              <a:xfrm rot="349158">
                <a:off x="4363998" y="3065005"/>
                <a:ext cx="1582589" cy="275409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0" name="矩形 1609"/>
              <p:cNvSpPr/>
              <p:nvPr/>
            </p:nvSpPr>
            <p:spPr bwMode="auto">
              <a:xfrm rot="355772">
                <a:off x="5691942" y="3141431"/>
                <a:ext cx="249979" cy="260213"/>
              </a:xfrm>
              <a:prstGeom prst="rect">
                <a:avLst/>
              </a:prstGeom>
              <a:solidFill>
                <a:srgbClr val="FFFF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3" name="组合 1622"/>
            <p:cNvGrpSpPr/>
            <p:nvPr/>
          </p:nvGrpSpPr>
          <p:grpSpPr>
            <a:xfrm rot="353826">
              <a:off x="4914706" y="3105795"/>
              <a:ext cx="417246" cy="172842"/>
              <a:chOff x="1914444" y="4003494"/>
              <a:chExt cx="503948" cy="198282"/>
            </a:xfrm>
          </p:grpSpPr>
          <p:sp>
            <p:nvSpPr>
              <p:cNvPr id="1624" name="矩形 1623"/>
              <p:cNvSpPr/>
              <p:nvPr/>
            </p:nvSpPr>
            <p:spPr bwMode="auto">
              <a:xfrm>
                <a:off x="1914444" y="4003494"/>
                <a:ext cx="503948" cy="198282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5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rgbClr val="00FFFF"/>
              </a:solidFill>
              <a:ln w="63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62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49" y="2807619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059" y="3355705"/>
            <a:ext cx="716843" cy="7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6" name="圆角矩形标注 514"/>
          <p:cNvSpPr>
            <a:spLocks noChangeArrowheads="1"/>
          </p:cNvSpPr>
          <p:nvPr/>
        </p:nvSpPr>
        <p:spPr bwMode="auto">
          <a:xfrm>
            <a:off x="6113853" y="2302429"/>
            <a:ext cx="1217001" cy="324793"/>
          </a:xfrm>
          <a:prstGeom prst="wedgeRoundRectCallout">
            <a:avLst>
              <a:gd name="adj1" fmla="val -77218"/>
              <a:gd name="adj2" fmla="val 217574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7" name="Text Box 48"/>
          <p:cNvSpPr txBox="1">
            <a:spLocks noChangeArrowheads="1"/>
          </p:cNvSpPr>
          <p:nvPr/>
        </p:nvSpPr>
        <p:spPr bwMode="auto">
          <a:xfrm>
            <a:off x="6176515" y="2306615"/>
            <a:ext cx="11224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AutoShape 2"/>
          <p:cNvSpPr>
            <a:spLocks noChangeArrowheads="1"/>
          </p:cNvSpPr>
          <p:nvPr/>
        </p:nvSpPr>
        <p:spPr bwMode="auto">
          <a:xfrm rot="16560000">
            <a:off x="5209874" y="1619751"/>
            <a:ext cx="150781" cy="3616575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" name="Line 176"/>
          <p:cNvSpPr>
            <a:spLocks noChangeShapeType="1"/>
          </p:cNvSpPr>
          <p:nvPr/>
        </p:nvSpPr>
        <p:spPr bwMode="auto">
          <a:xfrm>
            <a:off x="3272178" y="3197033"/>
            <a:ext cx="4084220" cy="429258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95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AutoShape 5"/>
          <p:cNvSpPr>
            <a:spLocks noChangeArrowheads="1"/>
          </p:cNvSpPr>
          <p:nvPr/>
        </p:nvSpPr>
        <p:spPr bwMode="auto">
          <a:xfrm>
            <a:off x="504633" y="61013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9" name="矩形 4"/>
          <p:cNvSpPr>
            <a:spLocks noChangeArrowheads="1"/>
          </p:cNvSpPr>
          <p:nvPr/>
        </p:nvSpPr>
        <p:spPr bwMode="auto">
          <a:xfrm>
            <a:off x="622624" y="573010"/>
            <a:ext cx="35686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包括的状态信息</a:t>
            </a:r>
          </a:p>
        </p:txBody>
      </p:sp>
      <p:sp>
        <p:nvSpPr>
          <p:cNvPr id="580" name="Rectangle 46"/>
          <p:cNvSpPr>
            <a:spLocks noChangeArrowheads="1"/>
          </p:cNvSpPr>
          <p:nvPr/>
        </p:nvSpPr>
        <p:spPr bwMode="auto">
          <a:xfrm>
            <a:off x="509473" y="904103"/>
            <a:ext cx="832972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一个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32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位的连接标识符，称为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安全参数索引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SPI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Parameter Index)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终点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地址（例如路由器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所使用的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加密类型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（例如，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DES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加密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完整性检查的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（例如，使用报文摘要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SHA-1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的报文鉴别码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密钥。</a:t>
            </a:r>
          </a:p>
        </p:txBody>
      </p:sp>
    </p:spTree>
    <p:extLst>
      <p:ext uri="{BB962C8B-B14F-4D97-AF65-F5344CB8AC3E}">
        <p14:creationId xmlns:p14="http://schemas.microsoft.com/office/powerpoint/2010/main" val="429345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9474" y="1080245"/>
            <a:ext cx="8129015" cy="32186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  <p:sp>
        <p:nvSpPr>
          <p:cNvPr id="6" name="矩形 5"/>
          <p:cNvSpPr/>
          <p:nvPr/>
        </p:nvSpPr>
        <p:spPr>
          <a:xfrm>
            <a:off x="598538" y="2427978"/>
            <a:ext cx="16648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隧道方式下的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730157" y="1180814"/>
            <a:ext cx="6088607" cy="994031"/>
            <a:chOff x="1730157" y="1180814"/>
            <a:chExt cx="6088607" cy="994031"/>
          </a:xfrm>
        </p:grpSpPr>
        <p:sp>
          <p:nvSpPr>
            <p:cNvPr id="16" name="Rectangle 56"/>
            <p:cNvSpPr>
              <a:spLocks noChangeArrowheads="1"/>
            </p:cNvSpPr>
            <p:nvPr/>
          </p:nvSpPr>
          <p:spPr bwMode="auto">
            <a:xfrm>
              <a:off x="2281780" y="1506864"/>
              <a:ext cx="5536984" cy="406373"/>
            </a:xfrm>
            <a:prstGeom prst="rect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2942544" y="1506864"/>
              <a:ext cx="4876220" cy="406373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48"/>
            <p:cNvSpPr txBox="1">
              <a:spLocks noChangeArrowheads="1"/>
            </p:cNvSpPr>
            <p:nvPr/>
          </p:nvSpPr>
          <p:spPr bwMode="auto">
            <a:xfrm>
              <a:off x="2180152" y="1913235"/>
              <a:ext cx="83067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 </a:t>
              </a: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 50</a:t>
              </a:r>
            </a:p>
          </p:txBody>
        </p:sp>
        <p:sp>
          <p:nvSpPr>
            <p:cNvPr id="10" name="Line 67"/>
            <p:cNvSpPr>
              <a:spLocks noChangeShapeType="1"/>
            </p:cNvSpPr>
            <p:nvPr/>
          </p:nvSpPr>
          <p:spPr bwMode="auto">
            <a:xfrm flipV="1">
              <a:off x="2281780" y="1354193"/>
              <a:ext cx="5536984" cy="112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8"/>
            <p:cNvSpPr txBox="1">
              <a:spLocks noChangeArrowheads="1"/>
            </p:cNvSpPr>
            <p:nvPr/>
          </p:nvSpPr>
          <p:spPr bwMode="auto">
            <a:xfrm>
              <a:off x="4305240" y="1180814"/>
              <a:ext cx="1314784" cy="312778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en-US" altLang="zh-CN" dirty="0"/>
                <a:t>IP </a:t>
              </a:r>
              <a:r>
                <a:rPr lang="zh-CN" altLang="en-US" dirty="0"/>
                <a:t>安全数据报</a:t>
              </a:r>
            </a:p>
          </p:txBody>
        </p:sp>
        <p:sp>
          <p:nvSpPr>
            <p:cNvPr id="12" name="Line 66"/>
            <p:cNvSpPr>
              <a:spLocks noChangeShapeType="1"/>
            </p:cNvSpPr>
            <p:nvPr/>
          </p:nvSpPr>
          <p:spPr bwMode="auto">
            <a:xfrm flipH="1">
              <a:off x="2281780" y="1252038"/>
              <a:ext cx="0" cy="19308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68"/>
            <p:cNvSpPr txBox="1">
              <a:spLocks noChangeArrowheads="1"/>
            </p:cNvSpPr>
            <p:nvPr/>
          </p:nvSpPr>
          <p:spPr bwMode="auto">
            <a:xfrm>
              <a:off x="3702582" y="1555003"/>
              <a:ext cx="3316935" cy="28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  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   全   数   据   报   的   有   效   载   荷</a:t>
              </a:r>
            </a:p>
          </p:txBody>
        </p:sp>
        <p:sp>
          <p:nvSpPr>
            <p:cNvPr id="17" name="Line 66"/>
            <p:cNvSpPr>
              <a:spLocks noChangeShapeType="1"/>
            </p:cNvSpPr>
            <p:nvPr/>
          </p:nvSpPr>
          <p:spPr bwMode="auto">
            <a:xfrm flipH="1">
              <a:off x="7818764" y="1262142"/>
              <a:ext cx="0" cy="1930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右箭头 17"/>
            <p:cNvSpPr/>
            <p:nvPr/>
          </p:nvSpPr>
          <p:spPr bwMode="auto">
            <a:xfrm flipH="1">
              <a:off x="1844664" y="1659535"/>
              <a:ext cx="431177" cy="101032"/>
            </a:xfrm>
            <a:prstGeom prst="rightArrow">
              <a:avLst>
                <a:gd name="adj1" fmla="val 50000"/>
                <a:gd name="adj2" fmla="val 124075"/>
              </a:avLst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48"/>
            <p:cNvSpPr txBox="1">
              <a:spLocks noChangeArrowheads="1"/>
            </p:cNvSpPr>
            <p:nvPr/>
          </p:nvSpPr>
          <p:spPr bwMode="auto">
            <a:xfrm>
              <a:off x="1730157" y="1188201"/>
              <a:ext cx="5605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在前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任意多边形 20"/>
          <p:cNvSpPr/>
          <p:nvPr/>
        </p:nvSpPr>
        <p:spPr bwMode="auto">
          <a:xfrm>
            <a:off x="5265538" y="3073982"/>
            <a:ext cx="2476593" cy="309831"/>
          </a:xfrm>
          <a:custGeom>
            <a:avLst/>
            <a:gdLst>
              <a:gd name="connsiteX0" fmla="*/ 1090720 w 2808808"/>
              <a:gd name="connsiteY0" fmla="*/ 0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1090720 w 2808808"/>
              <a:gd name="connsiteY4" fmla="*/ 0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887374 w 2808808"/>
              <a:gd name="connsiteY4" fmla="*/ 12339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585794 w 2808808"/>
              <a:gd name="connsiteY3" fmla="*/ 0 h 426447"/>
              <a:gd name="connsiteX4" fmla="*/ 887374 w 2808808"/>
              <a:gd name="connsiteY4" fmla="*/ 12339 h 42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8808" h="426447">
                <a:moveTo>
                  <a:pt x="887374" y="12339"/>
                </a:moveTo>
                <a:lnTo>
                  <a:pt x="0" y="418246"/>
                </a:lnTo>
                <a:lnTo>
                  <a:pt x="2808808" y="426447"/>
                </a:lnTo>
                <a:lnTo>
                  <a:pt x="1585794" y="0"/>
                </a:lnTo>
                <a:lnTo>
                  <a:pt x="887374" y="12339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FF00FF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2743195" y="3071737"/>
            <a:ext cx="1977814" cy="312076"/>
          </a:xfrm>
          <a:custGeom>
            <a:avLst/>
            <a:gdLst>
              <a:gd name="connsiteX0" fmla="*/ 274320 w 2804160"/>
              <a:gd name="connsiteY0" fmla="*/ 0 h 441960"/>
              <a:gd name="connsiteX1" fmla="*/ 0 w 2804160"/>
              <a:gd name="connsiteY1" fmla="*/ 441960 h 441960"/>
              <a:gd name="connsiteX2" fmla="*/ 2804160 w 2804160"/>
              <a:gd name="connsiteY2" fmla="*/ 434340 h 441960"/>
              <a:gd name="connsiteX3" fmla="*/ 1440180 w 2804160"/>
              <a:gd name="connsiteY3" fmla="*/ 7620 h 441960"/>
              <a:gd name="connsiteX4" fmla="*/ 274320 w 2804160"/>
              <a:gd name="connsiteY4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441960">
                <a:moveTo>
                  <a:pt x="274320" y="0"/>
                </a:moveTo>
                <a:lnTo>
                  <a:pt x="0" y="441960"/>
                </a:lnTo>
                <a:lnTo>
                  <a:pt x="2804160" y="434340"/>
                </a:lnTo>
                <a:lnTo>
                  <a:pt x="1440180" y="7620"/>
                </a:lnTo>
                <a:lnTo>
                  <a:pt x="27432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00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51"/>
          <p:cNvSpPr>
            <a:spLocks noChangeShapeType="1"/>
          </p:cNvSpPr>
          <p:nvPr/>
        </p:nvSpPr>
        <p:spPr bwMode="auto">
          <a:xfrm flipH="1">
            <a:off x="6650666" y="2024372"/>
            <a:ext cx="0" cy="6533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53"/>
          <p:cNvSpPr>
            <a:spLocks noChangeShapeType="1"/>
          </p:cNvSpPr>
          <p:nvPr/>
        </p:nvSpPr>
        <p:spPr bwMode="auto">
          <a:xfrm>
            <a:off x="3754500" y="2270217"/>
            <a:ext cx="1120" cy="4063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3755621" y="2322978"/>
            <a:ext cx="289504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55"/>
          <p:cNvSpPr>
            <a:spLocks noChangeShapeType="1"/>
          </p:cNvSpPr>
          <p:nvPr/>
        </p:nvSpPr>
        <p:spPr bwMode="auto">
          <a:xfrm flipV="1">
            <a:off x="2942544" y="2082746"/>
            <a:ext cx="370812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4241071" y="1972733"/>
            <a:ext cx="1241498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rgbClr val="0000FF"/>
                </a:solidFill>
              </a:rPr>
              <a:t>   </a:t>
            </a:r>
          </a:p>
        </p:txBody>
      </p:sp>
      <p:sp>
        <p:nvSpPr>
          <p:cNvPr id="29" name="Rectangle 57"/>
          <p:cNvSpPr>
            <a:spLocks noChangeArrowheads="1"/>
          </p:cNvSpPr>
          <p:nvPr/>
        </p:nvSpPr>
        <p:spPr bwMode="auto">
          <a:xfrm>
            <a:off x="2738715" y="3374833"/>
            <a:ext cx="1981174" cy="586696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59"/>
          <p:cNvSpPr txBox="1">
            <a:spLocks noChangeArrowheads="1"/>
          </p:cNvSpPr>
          <p:nvPr/>
        </p:nvSpPr>
        <p:spPr bwMode="auto">
          <a:xfrm>
            <a:off x="3094856" y="3397310"/>
            <a:ext cx="1399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安全参数索引 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52"/>
          <p:cNvSpPr>
            <a:spLocks noChangeShapeType="1"/>
          </p:cNvSpPr>
          <p:nvPr/>
        </p:nvSpPr>
        <p:spPr bwMode="auto">
          <a:xfrm>
            <a:off x="2942544" y="1913237"/>
            <a:ext cx="0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>
              <a:ln>
                <a:solidFill>
                  <a:schemeClr val="tx1"/>
                </a:solidFill>
                <a:prstDash val="dash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69"/>
          <p:cNvSpPr>
            <a:spLocks noChangeShapeType="1"/>
          </p:cNvSpPr>
          <p:nvPr/>
        </p:nvSpPr>
        <p:spPr bwMode="auto">
          <a:xfrm flipH="1">
            <a:off x="7818764" y="1913237"/>
            <a:ext cx="1119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>
              <a:ln>
                <a:solidFill>
                  <a:schemeClr val="tx1"/>
                </a:solidFill>
                <a:prstDash val="dash"/>
              </a:ln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2"/>
          <p:cNvCxnSpPr>
            <a:cxnSpLocks noChangeShapeType="1"/>
            <a:stCxn id="29" idx="1"/>
            <a:endCxn id="29" idx="3"/>
          </p:cNvCxnSpPr>
          <p:nvPr/>
        </p:nvCxnSpPr>
        <p:spPr bwMode="auto">
          <a:xfrm>
            <a:off x="2738715" y="3668181"/>
            <a:ext cx="1981174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63"/>
          <p:cNvSpPr txBox="1">
            <a:spLocks noChangeArrowheads="1"/>
          </p:cNvSpPr>
          <p:nvPr/>
        </p:nvSpPr>
        <p:spPr bwMode="auto">
          <a:xfrm>
            <a:off x="3411799" y="3685003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</a:p>
        </p:txBody>
      </p:sp>
      <p:sp>
        <p:nvSpPr>
          <p:cNvPr id="36" name="Text Box 63"/>
          <p:cNvSpPr txBox="1">
            <a:spLocks noChangeArrowheads="1"/>
          </p:cNvSpPr>
          <p:nvPr/>
        </p:nvSpPr>
        <p:spPr bwMode="auto">
          <a:xfrm>
            <a:off x="3378305" y="3927309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44" name="Text Box 63"/>
          <p:cNvSpPr txBox="1">
            <a:spLocks noChangeArrowheads="1"/>
          </p:cNvSpPr>
          <p:nvPr/>
        </p:nvSpPr>
        <p:spPr bwMode="auto">
          <a:xfrm>
            <a:off x="5787469" y="3318353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32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>
            <a:off x="6041418" y="2424009"/>
            <a:ext cx="0" cy="25370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Line 54"/>
          <p:cNvSpPr>
            <a:spLocks noChangeShapeType="1"/>
          </p:cNvSpPr>
          <p:nvPr/>
        </p:nvSpPr>
        <p:spPr bwMode="auto">
          <a:xfrm>
            <a:off x="3755621" y="2525041"/>
            <a:ext cx="2285797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4329403" y="2399804"/>
            <a:ext cx="1189748" cy="265586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ESP </a:t>
            </a:r>
            <a:r>
              <a:rPr lang="zh-CN" altLang="en-US" dirty="0">
                <a:solidFill>
                  <a:srgbClr val="C00000"/>
                </a:solidFill>
              </a:rPr>
              <a:t>的有效载荷</a:t>
            </a:r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6608387" y="3318353"/>
            <a:ext cx="279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2942545" y="2661995"/>
            <a:ext cx="811956" cy="406372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3754500" y="2669057"/>
            <a:ext cx="2286918" cy="399309"/>
          </a:xfrm>
          <a:prstGeom prst="rect">
            <a:avLst/>
          </a:prstGeom>
          <a:solidFill>
            <a:srgbClr val="00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6650666" y="2661995"/>
            <a:ext cx="1168098" cy="406372"/>
          </a:xfrm>
          <a:prstGeom prst="rect">
            <a:avLst/>
          </a:prstGeom>
          <a:solidFill>
            <a:srgbClr val="FF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56"/>
          <p:cNvSpPr>
            <a:spLocks noChangeArrowheads="1"/>
          </p:cNvSpPr>
          <p:nvPr/>
        </p:nvSpPr>
        <p:spPr bwMode="auto">
          <a:xfrm>
            <a:off x="2942545" y="2661995"/>
            <a:ext cx="4876219" cy="40637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 Box 68"/>
          <p:cNvSpPr txBox="1">
            <a:spLocks noChangeArrowheads="1"/>
          </p:cNvSpPr>
          <p:nvPr/>
        </p:nvSpPr>
        <p:spPr bwMode="auto">
          <a:xfrm>
            <a:off x="4569247" y="2659750"/>
            <a:ext cx="12554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 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的有效载荷</a:t>
            </a:r>
          </a:p>
        </p:txBody>
      </p:sp>
      <p:sp>
        <p:nvSpPr>
          <p:cNvPr id="58" name="Text Box 68"/>
          <p:cNvSpPr txBox="1">
            <a:spLocks noChangeArrowheads="1"/>
          </p:cNvSpPr>
          <p:nvPr/>
        </p:nvSpPr>
        <p:spPr bwMode="auto">
          <a:xfrm>
            <a:off x="3750594" y="2658628"/>
            <a:ext cx="649537" cy="43088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原始的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cxnSp>
        <p:nvCxnSpPr>
          <p:cNvPr id="59" name="直接连接符 38"/>
          <p:cNvCxnSpPr>
            <a:cxnSpLocks noChangeShapeType="1"/>
          </p:cNvCxnSpPr>
          <p:nvPr/>
        </p:nvCxnSpPr>
        <p:spPr bwMode="auto">
          <a:xfrm>
            <a:off x="4404066" y="2659750"/>
            <a:ext cx="0" cy="40861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38"/>
          <p:cNvSpPr>
            <a:spLocks noChangeArrowheads="1"/>
          </p:cNvSpPr>
          <p:nvPr/>
        </p:nvSpPr>
        <p:spPr bwMode="auto">
          <a:xfrm>
            <a:off x="6041418" y="2661995"/>
            <a:ext cx="609248" cy="406372"/>
          </a:xfrm>
          <a:prstGeom prst="rect">
            <a:avLst/>
          </a:prstGeom>
          <a:solidFill>
            <a:srgbClr val="CC00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51"/>
          <p:cNvSpPr>
            <a:spLocks noChangeArrowheads="1"/>
          </p:cNvSpPr>
          <p:nvPr/>
        </p:nvSpPr>
        <p:spPr bwMode="auto">
          <a:xfrm>
            <a:off x="3749683" y="2665038"/>
            <a:ext cx="2285797" cy="40637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5307065" y="3374082"/>
            <a:ext cx="2429201" cy="286163"/>
          </a:xfrm>
          <a:prstGeom prst="rect">
            <a:avLst/>
          </a:prstGeom>
          <a:solidFill>
            <a:srgbClr val="CC00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5353102" y="3612207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5353102" y="3378959"/>
            <a:ext cx="24533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00…00   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填充长度   下一个首部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6122198" y="3611647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6964887" y="3610152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8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6909293" y="3845754"/>
            <a:ext cx="7970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4</a:t>
            </a:r>
          </a:p>
        </p:txBody>
      </p:sp>
      <p:cxnSp>
        <p:nvCxnSpPr>
          <p:cNvPr id="70" name="直接连接符 61"/>
          <p:cNvCxnSpPr>
            <a:cxnSpLocks noChangeShapeType="1"/>
          </p:cNvCxnSpPr>
          <p:nvPr/>
        </p:nvCxnSpPr>
        <p:spPr bwMode="auto">
          <a:xfrm flipH="1">
            <a:off x="6074854" y="3358767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直接连接符 64"/>
          <p:cNvCxnSpPr>
            <a:cxnSpLocks noChangeShapeType="1"/>
          </p:cNvCxnSpPr>
          <p:nvPr/>
        </p:nvCxnSpPr>
        <p:spPr bwMode="auto">
          <a:xfrm flipH="1">
            <a:off x="6852911" y="3373054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7" name="组合 36"/>
          <p:cNvGrpSpPr/>
          <p:nvPr/>
        </p:nvGrpSpPr>
        <p:grpSpPr>
          <a:xfrm>
            <a:off x="5977703" y="2631262"/>
            <a:ext cx="683015" cy="470662"/>
            <a:chOff x="5977703" y="2631262"/>
            <a:chExt cx="683015" cy="470662"/>
          </a:xfrm>
        </p:grpSpPr>
        <p:sp>
          <p:nvSpPr>
            <p:cNvPr id="60" name="TextBox 40"/>
            <p:cNvSpPr txBox="1">
              <a:spLocks noChangeArrowheads="1"/>
            </p:cNvSpPr>
            <p:nvPr/>
          </p:nvSpPr>
          <p:spPr bwMode="auto">
            <a:xfrm>
              <a:off x="6168275" y="2640259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ESP</a:t>
              </a:r>
            </a:p>
            <a:p>
              <a:pPr eaLnBrk="1" hangingPunct="1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尾部</a:t>
              </a:r>
              <a:endPara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977703" y="2631262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</a:t>
              </a:r>
              <a:endParaRPr lang="zh-CN" altLang="en-US" sz="14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929079" y="2624481"/>
            <a:ext cx="710244" cy="483282"/>
            <a:chOff x="2929079" y="2624481"/>
            <a:chExt cx="710244" cy="483282"/>
          </a:xfrm>
        </p:grpSpPr>
        <p:sp>
          <p:nvSpPr>
            <p:cNvPr id="61" name="TextBox 42"/>
            <p:cNvSpPr txBox="1">
              <a:spLocks noChangeArrowheads="1"/>
            </p:cNvSpPr>
            <p:nvPr/>
          </p:nvSpPr>
          <p:spPr bwMode="auto">
            <a:xfrm>
              <a:off x="2929079" y="262448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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127717" y="2646098"/>
              <a:ext cx="5116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ESP </a:t>
              </a:r>
            </a:p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621156" y="2636503"/>
            <a:ext cx="1165649" cy="477854"/>
            <a:chOff x="6621156" y="2636503"/>
            <a:chExt cx="1165649" cy="477854"/>
          </a:xfrm>
        </p:grpSpPr>
        <p:sp>
          <p:nvSpPr>
            <p:cNvPr id="62" name="TextBox 43"/>
            <p:cNvSpPr txBox="1">
              <a:spLocks noChangeArrowheads="1"/>
            </p:cNvSpPr>
            <p:nvPr/>
          </p:nvSpPr>
          <p:spPr bwMode="auto">
            <a:xfrm>
              <a:off x="6621156" y="263650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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833202" y="2652692"/>
              <a:ext cx="9536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报文鉴别码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</a:t>
              </a:r>
            </a:p>
          </p:txBody>
        </p:sp>
      </p:grpSp>
      <p:sp>
        <p:nvSpPr>
          <p:cNvPr id="72" name="Text Box 15"/>
          <p:cNvSpPr txBox="1">
            <a:spLocks noChangeArrowheads="1"/>
          </p:cNvSpPr>
          <p:nvPr/>
        </p:nvSpPr>
        <p:spPr bwMode="auto">
          <a:xfrm>
            <a:off x="4642479" y="2184901"/>
            <a:ext cx="1182240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 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4683710" y="2173379"/>
            <a:ext cx="1148350" cy="307777"/>
            <a:chOff x="4683710" y="2173379"/>
            <a:chExt cx="1148350" cy="307777"/>
          </a:xfrm>
        </p:grpSpPr>
        <p:sp>
          <p:nvSpPr>
            <p:cNvPr id="74" name="TextBox 41"/>
            <p:cNvSpPr txBox="1">
              <a:spLocks noChangeArrowheads="1"/>
            </p:cNvSpPr>
            <p:nvPr/>
          </p:nvSpPr>
          <p:spPr bwMode="auto">
            <a:xfrm>
              <a:off x="4683710" y="2173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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831465" y="2176742"/>
              <a:ext cx="10005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加密的部分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241072" y="1933879"/>
            <a:ext cx="1187253" cy="307777"/>
            <a:chOff x="4241072" y="1933879"/>
            <a:chExt cx="1187253" cy="307777"/>
          </a:xfrm>
        </p:grpSpPr>
        <p:sp>
          <p:nvSpPr>
            <p:cNvPr id="51" name="TextBox 43"/>
            <p:cNvSpPr txBox="1">
              <a:spLocks noChangeArrowheads="1"/>
            </p:cNvSpPr>
            <p:nvPr/>
          </p:nvSpPr>
          <p:spPr bwMode="auto">
            <a:xfrm>
              <a:off x="4241072" y="19338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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474218" y="1945045"/>
              <a:ext cx="9541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鉴别的部分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220713" y="1485862"/>
            <a:ext cx="755584" cy="443561"/>
            <a:chOff x="2220713" y="1485862"/>
            <a:chExt cx="755584" cy="443561"/>
          </a:xfrm>
        </p:grpSpPr>
        <p:sp>
          <p:nvSpPr>
            <p:cNvPr id="13" name="Text Box 68"/>
            <p:cNvSpPr txBox="1">
              <a:spLocks noChangeArrowheads="1"/>
            </p:cNvSpPr>
            <p:nvPr/>
          </p:nvSpPr>
          <p:spPr bwMode="auto">
            <a:xfrm>
              <a:off x="2326760" y="1498536"/>
              <a:ext cx="649537" cy="4308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新的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4" name="TextBox 43"/>
            <p:cNvSpPr txBox="1">
              <a:spLocks noChangeArrowheads="1"/>
            </p:cNvSpPr>
            <p:nvPr/>
          </p:nvSpPr>
          <p:spPr bwMode="auto">
            <a:xfrm>
              <a:off x="2220713" y="1485862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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733462" y="1116704"/>
            <a:ext cx="7762837" cy="163121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对于路由器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的安全关联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原始的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”中，用主机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地址分别作为源地址和目的地址，而在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安全数据报的“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新的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”中，用路由器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地址分别作为源地址和目的地址。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安全数据报的格式</a:t>
            </a:r>
          </a:p>
        </p:txBody>
      </p:sp>
    </p:spTree>
    <p:extLst>
      <p:ext uri="{BB962C8B-B14F-4D97-AF65-F5344CB8AC3E}">
        <p14:creationId xmlns:p14="http://schemas.microsoft.com/office/powerpoint/2010/main" val="169842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2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276994" y="580015"/>
            <a:ext cx="25939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的其他构件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8501"/>
            <a:ext cx="812901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安全关联数据库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SAD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Association Database) 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安全策略数据库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SPD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(Security Policy Database)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指明什么样的数据报需要进行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IPsec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Key Exchange)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安全数据报创建安全关联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616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19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40313" y="579979"/>
            <a:ext cx="24673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互联网密钥交换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IKE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65"/>
            <a:ext cx="812901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非常复杂。互联网的正式标准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7296]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IKEv2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以另外三个协议为基础：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Oakley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：密钥生成协议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2412]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安全密钥交换机制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SKEME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(Secure Key Exchange Mechanism)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：用于密钥交换的协议。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它利用公钥加密来实现密钥交换协议中的实体鉴别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互联网安全关联和密钥管理协议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ISAKMP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(Internet Secure Association and Key Management Mechanism)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：用于实现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中定义的密钥交换，使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IKE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的交换能够以标准化、格式化的报文创建安全关联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0999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27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943585" y="587257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运输层安全协议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1895" y="1038181"/>
            <a:ext cx="8129017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现在广泛使用以下两个协议： 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安全套接字层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(Secure Socket Layer)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运输层安全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(Transport Layer Security)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65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81190" y="579043"/>
            <a:ext cx="2385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的要点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8564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安全套接层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Netscape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1994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年开发，广泛应用于基于万维网的各种网络应用（但不限于万维网应用）。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SSL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作用在端系统应用层的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和运输层之间，在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之上建立起一个安全通道，为通过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传输的应用层数据提供安全保障。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1999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SSL 3.0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基础上设计了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TLS 1.0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，为所有基于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的网络应用提供安全数据传输服务。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2018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月，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IETF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发布了经历了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28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个草案后才通过的最新版本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[RFC 8446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，建议标准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不向后兼容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2020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年，旧版本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1.0/1.1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均被废弃。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535880" y="579043"/>
            <a:ext cx="2076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的位置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17852" y="994434"/>
            <a:ext cx="8133857" cy="269886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Freeform 10"/>
          <p:cNvSpPr>
            <a:spLocks/>
          </p:cNvSpPr>
          <p:nvPr/>
        </p:nvSpPr>
        <p:spPr bwMode="auto">
          <a:xfrm>
            <a:off x="2782120" y="2772138"/>
            <a:ext cx="3402342" cy="350926"/>
          </a:xfrm>
          <a:custGeom>
            <a:avLst/>
            <a:gdLst>
              <a:gd name="T0" fmla="*/ 0 w 2903"/>
              <a:gd name="T1" fmla="*/ 0 h 317"/>
              <a:gd name="T2" fmla="*/ 0 w 2903"/>
              <a:gd name="T3" fmla="*/ 317 h 317"/>
              <a:gd name="T4" fmla="*/ 2903 w 2903"/>
              <a:gd name="T5" fmla="*/ 317 h 317"/>
              <a:gd name="T6" fmla="*/ 2903 w 290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03" h="317">
                <a:moveTo>
                  <a:pt x="0" y="0"/>
                </a:moveTo>
                <a:lnTo>
                  <a:pt x="0" y="317"/>
                </a:lnTo>
                <a:lnTo>
                  <a:pt x="2903" y="317"/>
                </a:lnTo>
                <a:lnTo>
                  <a:pt x="2903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07"/>
          <p:cNvGrpSpPr>
            <a:grpSpLocks/>
          </p:cNvGrpSpPr>
          <p:nvPr/>
        </p:nvGrpSpPr>
        <p:grpSpPr bwMode="auto">
          <a:xfrm>
            <a:off x="3854219" y="2773437"/>
            <a:ext cx="1584201" cy="756942"/>
            <a:chOff x="2248" y="820"/>
            <a:chExt cx="2248" cy="883"/>
          </a:xfrm>
        </p:grpSpPr>
        <p:grpSp>
          <p:nvGrpSpPr>
            <p:cNvPr id="8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38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3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3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5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59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3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4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5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6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67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0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1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62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56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57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58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54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44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47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48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49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0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1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2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45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39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9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3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4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5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6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7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4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26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7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9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1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3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25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1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83921" y="3692728"/>
            <a:ext cx="739902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在发送方，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接收应用层的数据，对数据进行加密，然后把加密后的数据送往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套接字。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在接收方，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TSL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套接字读取数据，解密后把数据交给应用层。 </a:t>
            </a:r>
          </a:p>
        </p:txBody>
      </p:sp>
      <p:sp>
        <p:nvSpPr>
          <p:cNvPr id="69" name="Rectangle 12"/>
          <p:cNvSpPr>
            <a:spLocks noChangeArrowheads="1"/>
          </p:cNvSpPr>
          <p:nvPr/>
        </p:nvSpPr>
        <p:spPr bwMode="auto">
          <a:xfrm>
            <a:off x="4146894" y="3005720"/>
            <a:ext cx="906652" cy="23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l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2151301" y="1122675"/>
            <a:ext cx="1675387" cy="1649464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2163294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" name="Group 16"/>
          <p:cNvGrpSpPr>
            <a:grpSpLocks/>
          </p:cNvGrpSpPr>
          <p:nvPr/>
        </p:nvGrpSpPr>
        <p:grpSpPr bwMode="auto">
          <a:xfrm>
            <a:off x="2772529" y="1970704"/>
            <a:ext cx="386275" cy="336267"/>
            <a:chOff x="1539" y="891"/>
            <a:chExt cx="378" cy="365"/>
          </a:xfrm>
        </p:grpSpPr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1539" y="891"/>
              <a:ext cx="37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</p:grpSp>
      <p:grpSp>
        <p:nvGrpSpPr>
          <p:cNvPr id="75" name="Group 19"/>
          <p:cNvGrpSpPr>
            <a:grpSpLocks/>
          </p:cNvGrpSpPr>
          <p:nvPr/>
        </p:nvGrpSpPr>
        <p:grpSpPr bwMode="auto">
          <a:xfrm>
            <a:off x="2277052" y="1116136"/>
            <a:ext cx="1574226" cy="304842"/>
            <a:chOff x="1317" y="326"/>
            <a:chExt cx="1548" cy="332"/>
          </a:xfrm>
        </p:grpSpPr>
        <p:sp>
          <p:nvSpPr>
            <p:cNvPr id="76" name="Rectangle 20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1317" y="326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78" name="Rectangle 22"/>
          <p:cNvSpPr>
            <a:spLocks noChangeArrowheads="1"/>
          </p:cNvSpPr>
          <p:nvPr/>
        </p:nvSpPr>
        <p:spPr bwMode="auto">
          <a:xfrm>
            <a:off x="2394754" y="2352373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79" name="Line 23"/>
          <p:cNvSpPr>
            <a:spLocks noChangeShapeType="1"/>
          </p:cNvSpPr>
          <p:nvPr/>
        </p:nvSpPr>
        <p:spPr bwMode="auto">
          <a:xfrm>
            <a:off x="2150102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2147704" y="1394298"/>
            <a:ext cx="1678984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25"/>
          <p:cNvSpPr>
            <a:spLocks noChangeArrowheads="1"/>
          </p:cNvSpPr>
          <p:nvPr/>
        </p:nvSpPr>
        <p:spPr bwMode="auto">
          <a:xfrm>
            <a:off x="2687377" y="1676284"/>
            <a:ext cx="57548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82" name="Line 26"/>
          <p:cNvSpPr>
            <a:spLocks noChangeShapeType="1"/>
          </p:cNvSpPr>
          <p:nvPr/>
        </p:nvSpPr>
        <p:spPr bwMode="auto">
          <a:xfrm>
            <a:off x="2150102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Rectangle 27"/>
          <p:cNvSpPr>
            <a:spLocks noChangeArrowheads="1"/>
          </p:cNvSpPr>
          <p:nvPr/>
        </p:nvSpPr>
        <p:spPr bwMode="auto">
          <a:xfrm>
            <a:off x="2514358" y="1371954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SSL/TLS</a:t>
            </a:r>
          </a:p>
        </p:txBody>
      </p:sp>
      <p:sp>
        <p:nvSpPr>
          <p:cNvPr id="84" name="Line 28"/>
          <p:cNvSpPr>
            <a:spLocks noChangeShapeType="1"/>
          </p:cNvSpPr>
          <p:nvPr/>
        </p:nvSpPr>
        <p:spPr bwMode="auto">
          <a:xfrm>
            <a:off x="2150102" y="1669543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5283806" y="1122675"/>
            <a:ext cx="1675387" cy="1649464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5295798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7" name="Group 32"/>
          <p:cNvGrpSpPr>
            <a:grpSpLocks/>
          </p:cNvGrpSpPr>
          <p:nvPr/>
        </p:nvGrpSpPr>
        <p:grpSpPr bwMode="auto">
          <a:xfrm>
            <a:off x="5905034" y="1987288"/>
            <a:ext cx="386275" cy="336267"/>
            <a:chOff x="1539" y="909"/>
            <a:chExt cx="378" cy="365"/>
          </a:xfrm>
        </p:grpSpPr>
        <p:sp>
          <p:nvSpPr>
            <p:cNvPr id="88" name="Rectangle 33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34"/>
            <p:cNvSpPr>
              <a:spLocks noChangeArrowheads="1"/>
            </p:cNvSpPr>
            <p:nvPr/>
          </p:nvSpPr>
          <p:spPr bwMode="auto">
            <a:xfrm>
              <a:off x="1539" y="909"/>
              <a:ext cx="37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</p:grpSp>
      <p:grpSp>
        <p:nvGrpSpPr>
          <p:cNvPr id="90" name="Group 35"/>
          <p:cNvGrpSpPr>
            <a:grpSpLocks/>
          </p:cNvGrpSpPr>
          <p:nvPr/>
        </p:nvGrpSpPr>
        <p:grpSpPr bwMode="auto">
          <a:xfrm>
            <a:off x="5397353" y="1110627"/>
            <a:ext cx="1574226" cy="304842"/>
            <a:chOff x="1305" y="320"/>
            <a:chExt cx="1548" cy="332"/>
          </a:xfrm>
        </p:grpSpPr>
        <p:sp>
          <p:nvSpPr>
            <p:cNvPr id="91" name="Rectangle 36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Rectangle 37"/>
            <p:cNvSpPr>
              <a:spLocks noChangeArrowheads="1"/>
            </p:cNvSpPr>
            <p:nvPr/>
          </p:nvSpPr>
          <p:spPr bwMode="auto">
            <a:xfrm>
              <a:off x="1305" y="320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5527260" y="2358311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>
            <a:off x="5282607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5283921" y="1394298"/>
            <a:ext cx="1676530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5819881" y="1676284"/>
            <a:ext cx="57548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>
            <a:off x="5282607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5664678" y="1377892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SSL/TLS</a:t>
            </a:r>
          </a:p>
        </p:txBody>
      </p:sp>
      <p:sp>
        <p:nvSpPr>
          <p:cNvPr id="99" name="Line 44"/>
          <p:cNvSpPr>
            <a:spLocks noChangeShapeType="1"/>
          </p:cNvSpPr>
          <p:nvPr/>
        </p:nvSpPr>
        <p:spPr bwMode="auto">
          <a:xfrm>
            <a:off x="5282607" y="1669543"/>
            <a:ext cx="1672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07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881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33150" y="575603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与应用层协议独立无关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779"/>
            <a:ext cx="8129016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提供了一个简单的带有套接字的应用程序接口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API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API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相似。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应用层使用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最多的就是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可用于任何应用层协议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应用程序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调用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对整个网页进行加密时，网页上会提示用户，在网址栏原来显示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的地方，现在变成了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https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代表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security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，表明现在使用的是提供安全服务的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协议（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HTTPS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端口号是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443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，而不是平时使用的端口号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29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66438" y="573086"/>
            <a:ext cx="36150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具有双向鉴别的功能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6642"/>
            <a:ext cx="82542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常用单向鉴别：客户端（浏览器）需要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鉴别服务器，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确信即将访问的网站服务器是安全和可信的。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两个前提：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服务器需要有一个有效的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证书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来证明自己。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证书是运输层安全协议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的基石。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浏览器应具有一些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手段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来证明服务器是安全和可信的。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lvl="1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建立安全会话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两个阶段：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握手阶段：使用握手协议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996028"/>
            <a:ext cx="8133857" cy="335185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0664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804910" y="573434"/>
            <a:ext cx="35381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建立安全会话的工作原理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281672" y="1006754"/>
            <a:ext cx="7046538" cy="3269409"/>
            <a:chOff x="1281672" y="1006754"/>
            <a:chExt cx="7046538" cy="3269409"/>
          </a:xfrm>
        </p:grpSpPr>
        <p:sp>
          <p:nvSpPr>
            <p:cNvPr id="24" name="矩形 23"/>
            <p:cNvSpPr/>
            <p:nvPr/>
          </p:nvSpPr>
          <p:spPr>
            <a:xfrm>
              <a:off x="1281672" y="1994560"/>
              <a:ext cx="7041098" cy="1511084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582"/>
            <p:cNvSpPr>
              <a:spLocks noChangeShapeType="1"/>
            </p:cNvSpPr>
            <p:nvPr/>
          </p:nvSpPr>
          <p:spPr bwMode="auto">
            <a:xfrm flipV="1">
              <a:off x="3528513" y="2591617"/>
              <a:ext cx="290511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515"/>
            <p:cNvSpPr>
              <a:spLocks noChangeShapeType="1"/>
            </p:cNvSpPr>
            <p:nvPr/>
          </p:nvSpPr>
          <p:spPr bwMode="auto">
            <a:xfrm flipV="1">
              <a:off x="3520352" y="2160537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516"/>
            <p:cNvSpPr>
              <a:spLocks noChangeArrowheads="1"/>
            </p:cNvSpPr>
            <p:nvPr/>
          </p:nvSpPr>
          <p:spPr bwMode="auto">
            <a:xfrm>
              <a:off x="4188147" y="2023667"/>
              <a:ext cx="1550484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选定的加密算法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" name="Picture 55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192895" y="1238442"/>
              <a:ext cx="431144" cy="542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" name="Group 551"/>
            <p:cNvGrpSpPr>
              <a:grpSpLocks/>
            </p:cNvGrpSpPr>
            <p:nvPr/>
          </p:nvGrpSpPr>
          <p:grpSpPr bwMode="auto">
            <a:xfrm>
              <a:off x="3342182" y="1299531"/>
              <a:ext cx="456985" cy="349243"/>
              <a:chOff x="717" y="1446"/>
              <a:chExt cx="274" cy="237"/>
            </a:xfrm>
          </p:grpSpPr>
          <p:sp>
            <p:nvSpPr>
              <p:cNvPr id="30" name="Arc 552"/>
              <p:cNvSpPr>
                <a:spLocks/>
              </p:cNvSpPr>
              <p:nvPr/>
            </p:nvSpPr>
            <p:spPr bwMode="auto">
              <a:xfrm>
                <a:off x="930" y="1618"/>
                <a:ext cx="58" cy="39"/>
              </a:xfrm>
              <a:custGeom>
                <a:avLst/>
                <a:gdLst>
                  <a:gd name="T0" fmla="*/ 0 w 38273"/>
                  <a:gd name="T1" fmla="*/ 0 h 35142"/>
                  <a:gd name="T2" fmla="*/ 0 w 38273"/>
                  <a:gd name="T3" fmla="*/ 0 h 35142"/>
                  <a:gd name="T4" fmla="*/ 0 w 38273"/>
                  <a:gd name="T5" fmla="*/ 0 h 35142"/>
                  <a:gd name="T6" fmla="*/ 0 60000 65536"/>
                  <a:gd name="T7" fmla="*/ 0 60000 65536"/>
                  <a:gd name="T8" fmla="*/ 0 60000 65536"/>
                  <a:gd name="T9" fmla="*/ 0 w 38273"/>
                  <a:gd name="T10" fmla="*/ 0 h 35142"/>
                  <a:gd name="T11" fmla="*/ 38273 w 38273"/>
                  <a:gd name="T12" fmla="*/ 35142 h 35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273" h="35142" fill="none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</a:path>
                  <a:path w="38273" h="35142" stroke="0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  <a:lnTo>
                      <a:pt x="16673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49493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Arc 553"/>
              <p:cNvSpPr>
                <a:spLocks/>
              </p:cNvSpPr>
              <p:nvPr/>
            </p:nvSpPr>
            <p:spPr bwMode="auto">
              <a:xfrm>
                <a:off x="929" y="1618"/>
                <a:ext cx="55" cy="36"/>
              </a:xfrm>
              <a:custGeom>
                <a:avLst/>
                <a:gdLst>
                  <a:gd name="T0" fmla="*/ 0 w 38146"/>
                  <a:gd name="T1" fmla="*/ 0 h 34928"/>
                  <a:gd name="T2" fmla="*/ 0 w 38146"/>
                  <a:gd name="T3" fmla="*/ 0 h 34928"/>
                  <a:gd name="T4" fmla="*/ 0 w 38146"/>
                  <a:gd name="T5" fmla="*/ 0 h 34928"/>
                  <a:gd name="T6" fmla="*/ 0 60000 65536"/>
                  <a:gd name="T7" fmla="*/ 0 60000 65536"/>
                  <a:gd name="T8" fmla="*/ 0 60000 65536"/>
                  <a:gd name="T9" fmla="*/ 0 w 38146"/>
                  <a:gd name="T10" fmla="*/ 0 h 34928"/>
                  <a:gd name="T11" fmla="*/ 38146 w 38146"/>
                  <a:gd name="T12" fmla="*/ 34928 h 349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46" h="34928" fill="none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</a:path>
                  <a:path w="38146" h="34928" stroke="0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  <a:lnTo>
                      <a:pt x="16546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DBDBC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554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555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Rectangle 556"/>
              <p:cNvSpPr>
                <a:spLocks noChangeArrowheads="1"/>
              </p:cNvSpPr>
              <p:nvPr/>
            </p:nvSpPr>
            <p:spPr bwMode="auto">
              <a:xfrm>
                <a:off x="751" y="1617"/>
                <a:ext cx="180" cy="3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Rectangle 557"/>
              <p:cNvSpPr>
                <a:spLocks noChangeArrowheads="1"/>
              </p:cNvSpPr>
              <p:nvPr/>
            </p:nvSpPr>
            <p:spPr bwMode="auto">
              <a:xfrm>
                <a:off x="752" y="1618"/>
                <a:ext cx="178" cy="29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Freeform 558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559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560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Freeform 561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562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Freeform 563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Rectangle 564"/>
              <p:cNvSpPr>
                <a:spLocks noChangeArrowheads="1"/>
              </p:cNvSpPr>
              <p:nvPr/>
            </p:nvSpPr>
            <p:spPr bwMode="auto">
              <a:xfrm>
                <a:off x="752" y="1466"/>
                <a:ext cx="181" cy="140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Rectangle 565"/>
              <p:cNvSpPr>
                <a:spLocks noChangeArrowheads="1"/>
              </p:cNvSpPr>
              <p:nvPr/>
            </p:nvSpPr>
            <p:spPr bwMode="auto">
              <a:xfrm>
                <a:off x="768" y="1485"/>
                <a:ext cx="149" cy="10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Freeform 566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567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568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Freeform 569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Freeform 570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571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Rectangle 572"/>
              <p:cNvSpPr>
                <a:spLocks noChangeArrowheads="1"/>
              </p:cNvSpPr>
              <p:nvPr/>
            </p:nvSpPr>
            <p:spPr bwMode="auto">
              <a:xfrm>
                <a:off x="717" y="1677"/>
                <a:ext cx="195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Rectangle 573"/>
              <p:cNvSpPr>
                <a:spLocks noChangeArrowheads="1"/>
              </p:cNvSpPr>
              <p:nvPr/>
            </p:nvSpPr>
            <p:spPr bwMode="auto">
              <a:xfrm>
                <a:off x="718" y="1678"/>
                <a:ext cx="193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574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Freeform 575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576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577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Rectangle 578"/>
              <p:cNvSpPr>
                <a:spLocks noChangeArrowheads="1"/>
              </p:cNvSpPr>
              <p:nvPr/>
            </p:nvSpPr>
            <p:spPr bwMode="auto">
              <a:xfrm>
                <a:off x="950" y="1674"/>
                <a:ext cx="28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Rectangle 579"/>
              <p:cNvSpPr>
                <a:spLocks noChangeArrowheads="1"/>
              </p:cNvSpPr>
              <p:nvPr/>
            </p:nvSpPr>
            <p:spPr bwMode="auto">
              <a:xfrm>
                <a:off x="951" y="1675"/>
                <a:ext cx="26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2" name="Rectangle 580"/>
            <p:cNvSpPr>
              <a:spLocks noChangeArrowheads="1"/>
            </p:cNvSpPr>
            <p:nvPr/>
          </p:nvSpPr>
          <p:spPr bwMode="auto">
            <a:xfrm>
              <a:off x="4189508" y="2369456"/>
              <a:ext cx="1549123" cy="475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确认的加密算法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的数字证书</a:t>
              </a:r>
              <a:endParaRPr kumimoji="1"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584"/>
            <p:cNvSpPr>
              <a:spLocks noChangeShapeType="1"/>
            </p:cNvSpPr>
            <p:nvPr/>
          </p:nvSpPr>
          <p:spPr bwMode="auto">
            <a:xfrm flipV="1">
              <a:off x="3521712" y="3069954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585"/>
            <p:cNvSpPr>
              <a:spLocks noChangeArrowheads="1"/>
            </p:cNvSpPr>
            <p:nvPr/>
          </p:nvSpPr>
          <p:spPr bwMode="auto">
            <a:xfrm>
              <a:off x="4031740" y="2933085"/>
              <a:ext cx="2083632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的公钥加密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PK</a:t>
              </a:r>
              <a:r>
                <a:rPr kumimoji="1" lang="en-US" altLang="zh-CN" sz="1200" b="1" baseline="-25000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(MS)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AutoShape 588"/>
            <p:cNvSpPr>
              <a:spLocks noChangeArrowheads="1"/>
            </p:cNvSpPr>
            <p:nvPr/>
          </p:nvSpPr>
          <p:spPr bwMode="auto">
            <a:xfrm>
              <a:off x="3539393" y="3595548"/>
              <a:ext cx="2884714" cy="371143"/>
            </a:xfrm>
            <a:prstGeom prst="leftRightArrow">
              <a:avLst>
                <a:gd name="adj1" fmla="val 61667"/>
                <a:gd name="adj2" fmla="val 18328"/>
              </a:avLst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数据传输（保密，完整性）</a:t>
              </a:r>
            </a:p>
          </p:txBody>
        </p:sp>
        <p:sp>
          <p:nvSpPr>
            <p:cNvPr id="76" name="Text Box 589"/>
            <p:cNvSpPr txBox="1">
              <a:spLocks noChangeArrowheads="1"/>
            </p:cNvSpPr>
            <p:nvPr/>
          </p:nvSpPr>
          <p:spPr bwMode="auto">
            <a:xfrm>
              <a:off x="2050113" y="2117891"/>
              <a:ext cx="9003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590"/>
            <p:cNvSpPr txBox="1">
              <a:spLocks noChangeArrowheads="1"/>
            </p:cNvSpPr>
            <p:nvPr/>
          </p:nvSpPr>
          <p:spPr bwMode="auto">
            <a:xfrm>
              <a:off x="2267725" y="2081007"/>
              <a:ext cx="125942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协商加密算法</a:t>
              </a:r>
            </a:p>
          </p:txBody>
        </p:sp>
        <p:sp>
          <p:nvSpPr>
            <p:cNvPr id="80" name="Text Box 593"/>
            <p:cNvSpPr txBox="1">
              <a:spLocks noChangeArrowheads="1"/>
            </p:cNvSpPr>
            <p:nvPr/>
          </p:nvSpPr>
          <p:spPr bwMode="auto">
            <a:xfrm>
              <a:off x="6535634" y="3254373"/>
              <a:ext cx="1300230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生成会话密钥</a:t>
              </a:r>
            </a:p>
          </p:txBody>
        </p:sp>
        <p:sp>
          <p:nvSpPr>
            <p:cNvPr id="81" name="Text Box 594"/>
            <p:cNvSpPr txBox="1">
              <a:spLocks noChangeArrowheads="1"/>
            </p:cNvSpPr>
            <p:nvPr/>
          </p:nvSpPr>
          <p:spPr bwMode="auto">
            <a:xfrm>
              <a:off x="6403209" y="2276311"/>
              <a:ext cx="14403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协商加密算法</a:t>
              </a:r>
            </a:p>
          </p:txBody>
        </p:sp>
        <p:grpSp>
          <p:nvGrpSpPr>
            <p:cNvPr id="82" name="组合 66"/>
            <p:cNvGrpSpPr>
              <a:grpSpLocks/>
            </p:cNvGrpSpPr>
            <p:nvPr/>
          </p:nvGrpSpPr>
          <p:grpSpPr bwMode="auto">
            <a:xfrm>
              <a:off x="3523072" y="1682200"/>
              <a:ext cx="2913276" cy="2466605"/>
              <a:chOff x="2687782" y="1551713"/>
              <a:chExt cx="3399487" cy="3942098"/>
            </a:xfrm>
          </p:grpSpPr>
          <p:sp>
            <p:nvSpPr>
              <p:cNvPr id="83" name="Line 512"/>
              <p:cNvSpPr>
                <a:spLocks noChangeShapeType="1"/>
              </p:cNvSpPr>
              <p:nvPr/>
            </p:nvSpPr>
            <p:spPr bwMode="auto">
              <a:xfrm rot="16200000" flipH="1">
                <a:off x="721490" y="3518005"/>
                <a:ext cx="3934822" cy="2237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513"/>
              <p:cNvSpPr>
                <a:spLocks noChangeShapeType="1"/>
              </p:cNvSpPr>
              <p:nvPr/>
            </p:nvSpPr>
            <p:spPr bwMode="auto">
              <a:xfrm rot="16200000" flipH="1">
                <a:off x="4178775" y="3585316"/>
                <a:ext cx="3814636" cy="2353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5" name="Text Box 530"/>
            <p:cNvSpPr txBox="1">
              <a:spLocks noChangeArrowheads="1"/>
            </p:cNvSpPr>
            <p:nvPr/>
          </p:nvSpPr>
          <p:spPr bwMode="auto">
            <a:xfrm>
              <a:off x="3511694" y="3982828"/>
              <a:ext cx="24878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sz="12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Text Box 595"/>
            <p:cNvSpPr txBox="1">
              <a:spLocks noChangeArrowheads="1"/>
            </p:cNvSpPr>
            <p:nvPr/>
          </p:nvSpPr>
          <p:spPr bwMode="auto">
            <a:xfrm>
              <a:off x="6420889" y="3990897"/>
              <a:ext cx="24878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sz="1200" b="1" i="1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Text Box 597"/>
            <p:cNvSpPr txBox="1">
              <a:spLocks noChangeArrowheads="1"/>
            </p:cNvSpPr>
            <p:nvPr/>
          </p:nvSpPr>
          <p:spPr bwMode="auto">
            <a:xfrm>
              <a:off x="3244257" y="1043638"/>
              <a:ext cx="65434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598"/>
            <p:cNvSpPr txBox="1">
              <a:spLocks noChangeArrowheads="1"/>
            </p:cNvSpPr>
            <p:nvPr/>
          </p:nvSpPr>
          <p:spPr bwMode="auto">
            <a:xfrm>
              <a:off x="6013366" y="1006754"/>
              <a:ext cx="7986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 </a:t>
              </a:r>
              <a:r>
                <a:rPr kumimoji="1" lang="en-US" altLang="zh-CN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Box 57"/>
            <p:cNvSpPr txBox="1">
              <a:spLocks noChangeArrowheads="1"/>
            </p:cNvSpPr>
            <p:nvPr/>
          </p:nvSpPr>
          <p:spPr bwMode="auto">
            <a:xfrm>
              <a:off x="3505391" y="1923995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Box 58"/>
            <p:cNvSpPr txBox="1">
              <a:spLocks noChangeArrowheads="1"/>
            </p:cNvSpPr>
            <p:nvPr/>
          </p:nvSpPr>
          <p:spPr bwMode="auto">
            <a:xfrm>
              <a:off x="6116731" y="235232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Box 59"/>
            <p:cNvSpPr txBox="1">
              <a:spLocks noChangeArrowheads="1"/>
            </p:cNvSpPr>
            <p:nvPr/>
          </p:nvSpPr>
          <p:spPr bwMode="auto">
            <a:xfrm>
              <a:off x="2104957" y="291415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Box 60"/>
            <p:cNvSpPr txBox="1">
              <a:spLocks noChangeArrowheads="1"/>
            </p:cNvSpPr>
            <p:nvPr/>
          </p:nvSpPr>
          <p:spPr bwMode="auto">
            <a:xfrm>
              <a:off x="2112676" y="24071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Box 61"/>
            <p:cNvSpPr txBox="1">
              <a:spLocks noChangeArrowheads="1"/>
            </p:cNvSpPr>
            <p:nvPr/>
          </p:nvSpPr>
          <p:spPr bwMode="auto">
            <a:xfrm>
              <a:off x="6421388" y="2816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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TextBox 62"/>
            <p:cNvSpPr txBox="1">
              <a:spLocks noChangeArrowheads="1"/>
            </p:cNvSpPr>
            <p:nvPr/>
          </p:nvSpPr>
          <p:spPr bwMode="auto">
            <a:xfrm>
              <a:off x="3565234" y="2827200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Box 61"/>
            <p:cNvSpPr txBox="1">
              <a:spLocks noChangeArrowheads="1"/>
            </p:cNvSpPr>
            <p:nvPr/>
          </p:nvSpPr>
          <p:spPr bwMode="auto">
            <a:xfrm>
              <a:off x="2103463" y="324976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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515"/>
            <p:cNvSpPr>
              <a:spLocks noChangeShapeType="1"/>
            </p:cNvSpPr>
            <p:nvPr/>
          </p:nvSpPr>
          <p:spPr bwMode="auto">
            <a:xfrm flipV="1">
              <a:off x="3527152" y="1860856"/>
              <a:ext cx="290511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Box 484"/>
            <p:cNvSpPr txBox="1">
              <a:spLocks noChangeArrowheads="1"/>
            </p:cNvSpPr>
            <p:nvPr/>
          </p:nvSpPr>
          <p:spPr bwMode="auto">
            <a:xfrm>
              <a:off x="4035819" y="1613044"/>
              <a:ext cx="1804084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双方已建立了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Text Box 593"/>
            <p:cNvSpPr txBox="1">
              <a:spLocks noChangeArrowheads="1"/>
            </p:cNvSpPr>
            <p:nvPr/>
          </p:nvSpPr>
          <p:spPr bwMode="auto">
            <a:xfrm>
              <a:off x="6338424" y="2831362"/>
              <a:ext cx="1989786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的私钥解密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(PK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(MS)) = MS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593"/>
            <p:cNvSpPr txBox="1">
              <a:spLocks noChangeArrowheads="1"/>
            </p:cNvSpPr>
            <p:nvPr/>
          </p:nvSpPr>
          <p:spPr bwMode="auto">
            <a:xfrm>
              <a:off x="2279966" y="3254373"/>
              <a:ext cx="11589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生成会话密钥</a:t>
              </a:r>
            </a:p>
          </p:txBody>
        </p:sp>
        <p:sp>
          <p:nvSpPr>
            <p:cNvPr id="100" name="Text Box 252"/>
            <p:cNvSpPr txBox="1">
              <a:spLocks noChangeArrowheads="1"/>
            </p:cNvSpPr>
            <p:nvPr/>
          </p:nvSpPr>
          <p:spPr bwMode="auto">
            <a:xfrm flipH="1">
              <a:off x="6422690" y="32553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</a:t>
              </a:r>
            </a:p>
          </p:txBody>
        </p:sp>
        <p:cxnSp>
          <p:nvCxnSpPr>
            <p:cNvPr id="101" name="直接连接符 100"/>
            <p:cNvCxnSpPr/>
            <p:nvPr/>
          </p:nvCxnSpPr>
          <p:spPr>
            <a:xfrm>
              <a:off x="1822981" y="1980729"/>
              <a:ext cx="0" cy="1516847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1418217" y="2679216"/>
              <a:ext cx="816749" cy="276999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握手协议</a:t>
              </a: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1822981" y="3497575"/>
              <a:ext cx="2720" cy="62933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590"/>
            <p:cNvSpPr txBox="1">
              <a:spLocks noChangeArrowheads="1"/>
            </p:cNvSpPr>
            <p:nvPr/>
          </p:nvSpPr>
          <p:spPr bwMode="auto">
            <a:xfrm>
              <a:off x="1351035" y="3669316"/>
              <a:ext cx="990133" cy="28526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记录协议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9655" y="3135653"/>
              <a:ext cx="190598" cy="167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Text Box 590"/>
            <p:cNvSpPr txBox="1">
              <a:spLocks noChangeArrowheads="1"/>
            </p:cNvSpPr>
            <p:nvPr/>
          </p:nvSpPr>
          <p:spPr bwMode="auto">
            <a:xfrm>
              <a:off x="3547554" y="3094545"/>
              <a:ext cx="49778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591"/>
            <p:cNvSpPr txBox="1">
              <a:spLocks noChangeArrowheads="1"/>
            </p:cNvSpPr>
            <p:nvPr/>
          </p:nvSpPr>
          <p:spPr bwMode="auto">
            <a:xfrm>
              <a:off x="2122197" y="2390677"/>
              <a:ext cx="1561364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的公钥</a:t>
              </a:r>
            </a:p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鉴别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的证书</a:t>
              </a:r>
            </a:p>
          </p:txBody>
        </p:sp>
        <p:sp>
          <p:nvSpPr>
            <p:cNvPr id="79" name="Text Box 592"/>
            <p:cNvSpPr txBox="1">
              <a:spLocks noChangeArrowheads="1"/>
            </p:cNvSpPr>
            <p:nvPr/>
          </p:nvSpPr>
          <p:spPr bwMode="auto">
            <a:xfrm>
              <a:off x="2165413" y="2918579"/>
              <a:ext cx="1474319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产生主密钥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39331" y="1197130"/>
            <a:ext cx="2444128" cy="605294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握手阶段：使用握手协议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验证服务器，生成会话阶段所需的共享密钥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212952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协商加密算法。</a:t>
            </a:r>
            <a:r>
              <a:rPr lang="en-US" altLang="zh-CN" dirty="0">
                <a:solidFill>
                  <a:srgbClr val="0000FF"/>
                </a:solidFill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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浏览器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发送浏览器的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版本号和一些可选的加密算法。</a:t>
            </a:r>
            <a:r>
              <a:rPr lang="en-US" altLang="zh-CN" dirty="0">
                <a:sym typeface="Wingdings"/>
              </a:rPr>
              <a:t> 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从中选定自己所支持的算法（如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），并告知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，同时把自己的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数字证书发送给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服务器鉴别。</a:t>
            </a:r>
            <a:r>
              <a:rPr lang="en-US" altLang="zh-CN" dirty="0">
                <a:sym typeface="Wingdings"/>
              </a:rPr>
              <a:t>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用数字证书中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的公钥对数字证书进行验证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鉴别。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生成主密钥。</a:t>
            </a:r>
            <a:r>
              <a:rPr lang="en-US" altLang="zh-CN" dirty="0">
                <a:sym typeface="Wingdings"/>
              </a:rPr>
              <a:t>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按照双方确定的密钥交换算法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生成主密钥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MS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(Master Secret)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sym typeface="Wingdings"/>
              </a:rPr>
              <a:t> 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的公钥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对主密钥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MS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加密，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得出加密的主密钥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(MS)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，发送给服务器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81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用自己的私钥把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主密钥解密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出来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Wingdings 2" panose="05020102010507070707" pitchFamily="18" charset="2"/>
              </a:rPr>
              <a:t>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(PK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(MS)) = MS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。这样，客户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都有了为后面数据传输使用的共同的主密钥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生成会话密钥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Wingdings 2" panose="05020102010507070707" pitchFamily="18" charset="2"/>
              </a:rPr>
              <a:t> 和 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。为了使双方的通信更加安全，客户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最好使用不同的密钥。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主密钥被分割成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个不同的密钥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。每一方都拥有这样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个密钥（注意：这些都是对称密钥）：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发送数据时使用的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验证服务器，生成会话阶段所需的共享密钥</a:t>
            </a:r>
          </a:p>
        </p:txBody>
      </p:sp>
    </p:spTree>
    <p:extLst>
      <p:ext uri="{BB962C8B-B14F-4D97-AF65-F5344CB8AC3E}">
        <p14:creationId xmlns:p14="http://schemas.microsoft.com/office/powerpoint/2010/main" val="2463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把长的数据划分为较小的数据块，叫做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(record)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。对每一个记录进行鉴别运算和加密运算。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记录协议对每一个记录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按发送顺序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赋予序号，第一个记录作为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。发送下一个记录时序号就加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，序号最大值不得超过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latin typeface="微软雅黑" pitchFamily="34" charset="-122"/>
                <a:ea typeface="微软雅黑" pitchFamily="34" charset="-122"/>
              </a:rPr>
              <a:t>64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– 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，且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不允许序号绕回。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序号未写在记录之中，而是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在进行散列运算时，把序号包含进去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。客户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发送一个明文记录时，对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、记录的当前序号和明文记录进行散列运算，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鉴别明文记录的完整性（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内容和顺序均无误）。使用会话密钥 </a:t>
            </a:r>
            <a:r>
              <a:rPr lang="en-US" altLang="zh-CN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b="1" baseline="-25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进行加解密。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的会话阶段：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保证传送数据的机密性和完整性</a:t>
            </a:r>
          </a:p>
        </p:txBody>
      </p:sp>
      <p:sp>
        <p:nvSpPr>
          <p:cNvPr id="2" name="矩形 1"/>
          <p:cNvSpPr/>
          <p:nvPr/>
        </p:nvSpPr>
        <p:spPr>
          <a:xfrm>
            <a:off x="1510113" y="3903207"/>
            <a:ext cx="6127736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这种对记录加密的方法称为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带关联数据的鉴别加密 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AEAD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(Authenticated Encryption with Associated Data)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</p:spTree>
    <p:extLst>
      <p:ext uri="{BB962C8B-B14F-4D97-AF65-F5344CB8AC3E}">
        <p14:creationId xmlns:p14="http://schemas.microsoft.com/office/powerpoint/2010/main" val="19047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传送的记录格式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7852" y="996027"/>
            <a:ext cx="8133857" cy="241011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2070849" y="1596272"/>
            <a:ext cx="4168586" cy="338554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    版本   长度      明  文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记  录  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MAC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2732920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30898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大括号 13"/>
          <p:cNvSpPr/>
          <p:nvPr/>
        </p:nvSpPr>
        <p:spPr>
          <a:xfrm rot="5400000">
            <a:off x="4974236" y="340555"/>
            <a:ext cx="185751" cy="2344645"/>
          </a:xfrm>
          <a:prstGeom prst="leftBrace">
            <a:avLst>
              <a:gd name="adj1" fmla="val 8244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4179856" y="1115587"/>
            <a:ext cx="1988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对这部分用 </a:t>
            </a:r>
            <a:r>
              <a:rPr lang="en-US" altLang="zh-CN" sz="16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K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17" name="矩形 16"/>
          <p:cNvSpPr/>
          <p:nvPr/>
        </p:nvSpPr>
        <p:spPr>
          <a:xfrm>
            <a:off x="1398494" y="2111569"/>
            <a:ext cx="666974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指明所传送的记录</a:t>
            </a:r>
            <a:r>
              <a:rPr lang="zh-CN" altLang="en-US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握手阶段的报文，还是应用程序传送的报文，或最后要关闭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连接的报文。</a:t>
            </a:r>
            <a:endParaRPr lang="en-US" altLang="zh-CN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长度字段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字节数</a:t>
            </a:r>
            <a:r>
              <a:rPr lang="zh-CN" altLang="en-US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，用于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报文中提取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记录。</a:t>
            </a:r>
            <a:endParaRPr lang="en-US" altLang="zh-CN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87487" y="1598644"/>
            <a:ext cx="2351948" cy="3394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3885048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47166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10257" y="1586385"/>
            <a:ext cx="2359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  文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记  录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MAC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9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握手阶段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补充的措施：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相互发送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不重数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防止重放攻击。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生成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预主密钥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PMS (Pre-Master Secret)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，为下一步生成主密钥使用。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生成主密钥。客户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各自使用同样的（已商定的）算法，使用预主密钥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PMS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、客户的不重数和服务器的不重数，生成主密钥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向服务器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服务器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向客户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550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连接：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连接之前，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先发送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以防止截断攻击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(truncation attack)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截断攻击：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正在进行会话时，入侵者突然发送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报文段来关闭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连接。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如果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没有事先发送一个要关闭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的记录，那么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见到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FIN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报文段时，就知道这是入侵者的截断攻击了。因为入侵者无法伪造关闭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的记录。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16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中使用了更加安全的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椭圆曲线密码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ECC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Elliptic Curve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）与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AES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，运算速度比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版本有很大的提高。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还添加了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0-RTT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的功能。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如果客户之前连接过某服务器，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1.3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通过储存先前会话的秘密信息，不需要经过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1-RTT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的握手过程，仅需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0-RTT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即可开始会话阶段，更加提高了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TLS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的效率。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必须要防止可能发生的重放攻击。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17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920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744011" y="583741"/>
            <a:ext cx="33570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7.5.3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应用层安全协议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52595"/>
            <a:ext cx="823076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仅讨论应用层中有关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电子邮件的安全协议。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发送电子邮件是个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即时行为，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单向报文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的安全问题。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不会事先建立任何会话。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读取邮件后，可能会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不会回复邮件。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电子邮件安全协议应当为每种加密操作定义相应的算法，以及密钥管理、鉴别、完整性保护等方法。</a:t>
            </a:r>
          </a:p>
        </p:txBody>
      </p:sp>
    </p:spTree>
    <p:extLst>
      <p:ext uri="{BB962C8B-B14F-4D97-AF65-F5344CB8AC3E}">
        <p14:creationId xmlns:p14="http://schemas.microsoft.com/office/powerpoint/2010/main" val="376897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12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94683" y="581909"/>
            <a:ext cx="35586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(Pretty Good Privacy)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47"/>
            <a:ext cx="824522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PGP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(Pretty Good Privacy) 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是一个完整的电子邮件安全软件包，包括加密、鉴别、电子签名和压缩等技术。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将现有的一些算法如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MD5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RSA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，以及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IDEA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等综合在一起。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提供电子邮件的安全性、发送方鉴别和报文完整性。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并不是互联网的正式标准。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很难被攻破。在目前，可以认为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是足够安全的。 </a:t>
            </a:r>
          </a:p>
        </p:txBody>
      </p:sp>
    </p:spTree>
    <p:extLst>
      <p:ext uri="{BB962C8B-B14F-4D97-AF65-F5344CB8AC3E}">
        <p14:creationId xmlns:p14="http://schemas.microsoft.com/office/powerpoint/2010/main" val="420503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07791" y="577466"/>
            <a:ext cx="3332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发送方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处理过程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2328" y="1047998"/>
            <a:ext cx="7536998" cy="2288008"/>
            <a:chOff x="625490" y="1379432"/>
            <a:chExt cx="8135937" cy="2207143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040702" y="2469422"/>
              <a:ext cx="720725" cy="142875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169040" y="1805080"/>
              <a:ext cx="1873250" cy="143986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6477015" y="1866172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10"/>
            <p:cNvSpPr>
              <a:spLocks noChangeShapeType="1"/>
            </p:cNvSpPr>
            <p:nvPr/>
          </p:nvSpPr>
          <p:spPr bwMode="auto">
            <a:xfrm>
              <a:off x="1633552" y="2253522"/>
              <a:ext cx="1871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64"/>
            <p:cNvSpPr>
              <a:spLocks noChangeArrowheads="1"/>
            </p:cNvSpPr>
            <p:nvPr/>
          </p:nvSpPr>
          <p:spPr bwMode="auto">
            <a:xfrm>
              <a:off x="1704990" y="3117122"/>
              <a:ext cx="1295400" cy="2889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225940" y="3117122"/>
              <a:ext cx="1295400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4267215" y="3112360"/>
              <a:ext cx="12954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76"/>
            <p:cNvSpPr txBox="1">
              <a:spLocks noChangeArrowheads="1"/>
            </p:cNvSpPr>
            <p:nvPr/>
          </p:nvSpPr>
          <p:spPr bwMode="auto">
            <a:xfrm>
              <a:off x="3142557" y="2777397"/>
              <a:ext cx="974554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公钥加密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>
              <a:off x="3016265" y="3261585"/>
              <a:ext cx="1206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97"/>
            <p:cNvSpPr txBox="1">
              <a:spLocks noChangeArrowheads="1"/>
            </p:cNvSpPr>
            <p:nvPr/>
          </p:nvSpPr>
          <p:spPr bwMode="auto">
            <a:xfrm>
              <a:off x="821502" y="1426435"/>
              <a:ext cx="1362162" cy="536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用私钥对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明文邮件签名</a:t>
              </a: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54349" y="2182085"/>
              <a:ext cx="586948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979502" y="3079022"/>
              <a:ext cx="789403" cy="32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6579988" y="2758347"/>
              <a:ext cx="1293813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6611739" y="2758347"/>
              <a:ext cx="12668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V="1">
              <a:off x="5521340" y="2878997"/>
              <a:ext cx="1039812" cy="382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5594365" y="2772635"/>
              <a:ext cx="6477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拼接</a:t>
              </a: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317890" y="1575660"/>
              <a:ext cx="20161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用一次性密钥 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加密</a:t>
              </a:r>
            </a:p>
          </p:txBody>
        </p:sp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625490" y="1379432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696927" y="3019975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2928952" y="2714518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3062301" y="1523891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630414" y="328967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768365" y="1893160"/>
              <a:ext cx="1393825" cy="4333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768365" y="2326547"/>
              <a:ext cx="1393825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1273190" y="2326547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70121" y="2397535"/>
              <a:ext cx="582612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1443052" y="2361472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515" y="2966796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6" name="肘形连接符 58"/>
            <p:cNvCxnSpPr>
              <a:cxnSpLocks noChangeShapeType="1"/>
              <a:stCxn id="62" idx="0"/>
            </p:cNvCxnSpPr>
            <p:nvPr/>
          </p:nvCxnSpPr>
          <p:spPr bwMode="auto">
            <a:xfrm rot="5400000" flipH="1" flipV="1">
              <a:off x="2543190" y="2412272"/>
              <a:ext cx="514350" cy="89535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5014927" y="2251935"/>
              <a:ext cx="144303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Box 62"/>
            <p:cNvSpPr txBox="1">
              <a:spLocks noChangeArrowheads="1"/>
            </p:cNvSpPr>
            <p:nvPr/>
          </p:nvSpPr>
          <p:spPr bwMode="auto">
            <a:xfrm>
              <a:off x="5363059" y="2732446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107606" y="2445174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42888" y="1874493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589352" y="1920147"/>
              <a:ext cx="1392238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58935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09259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245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0063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6078979" y="2453495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6540515" y="1920147"/>
              <a:ext cx="1393825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654210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704534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721520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645338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6017894" y="295295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731" y="2518635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240" y="2486780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114" y="2453443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006" y="2522193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6090" y="3336197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1214" y="2482839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9" name="矩形 108"/>
          <p:cNvSpPr/>
          <p:nvPr/>
        </p:nvSpPr>
        <p:spPr>
          <a:xfrm>
            <a:off x="1034685" y="3406809"/>
            <a:ext cx="7074217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把签名拼接在明文邮件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利用随机数生成一次性密钥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（共享的对称密钥）。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对已签名的邮件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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把已加密的一次性密钥和已加密的签名邮件，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在一起发送给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9367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3633"/>
            <a:ext cx="8133857" cy="239380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39052" y="577466"/>
            <a:ext cx="32698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接收方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处理过程</a:t>
            </a:r>
          </a:p>
        </p:txBody>
      </p:sp>
      <p:sp>
        <p:nvSpPr>
          <p:cNvPr id="61" name="Line 10"/>
          <p:cNvSpPr>
            <a:spLocks noChangeShapeType="1"/>
          </p:cNvSpPr>
          <p:nvPr/>
        </p:nvSpPr>
        <p:spPr bwMode="auto">
          <a:xfrm>
            <a:off x="4828512" y="1644779"/>
            <a:ext cx="195737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4219" y="1712049"/>
            <a:ext cx="571208" cy="445975"/>
            <a:chOff x="809487" y="1755179"/>
            <a:chExt cx="571208" cy="445975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28903" y="2053044"/>
              <a:ext cx="551792" cy="148110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9487" y="1755179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endParaRPr lang="zh-CN" altLang="en-US" sz="14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Line 10"/>
          <p:cNvSpPr>
            <a:spLocks noChangeShapeType="1"/>
          </p:cNvSpPr>
          <p:nvPr/>
        </p:nvSpPr>
        <p:spPr bwMode="auto">
          <a:xfrm>
            <a:off x="4274836" y="2796761"/>
            <a:ext cx="1336807" cy="16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694871" y="1220764"/>
            <a:ext cx="1382230" cy="821185"/>
            <a:chOff x="6466524" y="1263894"/>
            <a:chExt cx="1382230" cy="821185"/>
          </a:xfrm>
        </p:grpSpPr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6557536" y="1263894"/>
              <a:ext cx="1291217" cy="4492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6557536" y="1713159"/>
              <a:ext cx="1291217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7025199" y="1713159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466524" y="1786749"/>
              <a:ext cx="53972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7182555" y="1749365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992" y="1844710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9"/>
          <p:cNvGrpSpPr/>
          <p:nvPr/>
        </p:nvGrpSpPr>
        <p:grpSpPr>
          <a:xfrm>
            <a:off x="3405502" y="1182348"/>
            <a:ext cx="1423010" cy="924863"/>
            <a:chOff x="3560770" y="1225478"/>
            <a:chExt cx="1423010" cy="924863"/>
          </a:xfrm>
        </p:grpSpPr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99914" y="1225478"/>
              <a:ext cx="1383866" cy="924863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642958" y="1272804"/>
              <a:ext cx="1289746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642958" y="1722070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109149" y="1722070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6507" y="1758276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60770" y="1809629"/>
              <a:ext cx="53972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711" y="1856109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0" name="Line 81"/>
          <p:cNvSpPr>
            <a:spLocks noChangeShapeType="1"/>
          </p:cNvSpPr>
          <p:nvPr/>
        </p:nvSpPr>
        <p:spPr bwMode="auto">
          <a:xfrm flipV="1">
            <a:off x="3015049" y="2378273"/>
            <a:ext cx="108517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Line 99"/>
          <p:cNvSpPr>
            <a:spLocks noChangeShapeType="1"/>
          </p:cNvSpPr>
          <p:nvPr/>
        </p:nvSpPr>
        <p:spPr bwMode="auto">
          <a:xfrm>
            <a:off x="4100219" y="2112148"/>
            <a:ext cx="0" cy="5415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67392" y="1323245"/>
            <a:ext cx="1875367" cy="1497715"/>
            <a:chOff x="2177946" y="1149695"/>
            <a:chExt cx="1875367" cy="1497715"/>
          </a:xfrm>
        </p:grpSpPr>
        <p:sp>
          <p:nvSpPr>
            <p:cNvPr id="59" name="矩形 58"/>
            <p:cNvSpPr/>
            <p:nvPr/>
          </p:nvSpPr>
          <p:spPr bwMode="auto">
            <a:xfrm>
              <a:off x="2317965" y="1149695"/>
              <a:ext cx="1735348" cy="149261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2603268" y="1213025"/>
              <a:ext cx="1383866" cy="924862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2698662" y="2137887"/>
              <a:ext cx="119856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728074" y="2137887"/>
              <a:ext cx="1173566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272" y="2353975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2234534" y="182186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2662095" y="1268980"/>
              <a:ext cx="1291217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明文邮件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2663565" y="1718246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3129755" y="1718248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3287113" y="1754453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2581375" y="1805807"/>
              <a:ext cx="539723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2177946" y="2339632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159" y="1856376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096" y="1893086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3548072" y="2649089"/>
            <a:ext cx="1238273" cy="306093"/>
            <a:chOff x="3703340" y="2692219"/>
            <a:chExt cx="1238273" cy="306093"/>
          </a:xfrm>
        </p:grpSpPr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3703340" y="2697155"/>
              <a:ext cx="120003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3741576" y="2692219"/>
              <a:ext cx="1200037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09794" y="2835347"/>
            <a:ext cx="640349" cy="307778"/>
            <a:chOff x="3165062" y="2878477"/>
            <a:chExt cx="640349" cy="307778"/>
          </a:xfrm>
        </p:grpSpPr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165062" y="2878477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411" y="2900830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3071596" y="1846997"/>
            <a:ext cx="427987" cy="307778"/>
            <a:chOff x="3226864" y="1890127"/>
            <a:chExt cx="427987" cy="307778"/>
          </a:xfrm>
        </p:grpSpPr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226864" y="189012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851" y="1966283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" name="Line 10"/>
          <p:cNvSpPr>
            <a:spLocks noChangeShapeType="1"/>
          </p:cNvSpPr>
          <p:nvPr/>
        </p:nvSpPr>
        <p:spPr bwMode="auto">
          <a:xfrm flipH="1" flipV="1">
            <a:off x="5903355" y="1658537"/>
            <a:ext cx="0" cy="10656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64"/>
          <p:cNvSpPr>
            <a:spLocks noChangeArrowheads="1"/>
          </p:cNvSpPr>
          <p:nvPr/>
        </p:nvSpPr>
        <p:spPr bwMode="auto">
          <a:xfrm>
            <a:off x="5606215" y="2648384"/>
            <a:ext cx="1200037" cy="299511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一次性密钥 </a:t>
            </a:r>
            <a:r>
              <a:rPr lang="en-US" altLang="zh-CN" sz="1400" b="1" i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8905" y="2253053"/>
            <a:ext cx="1135283" cy="573362"/>
            <a:chOff x="4646539" y="2296183"/>
            <a:chExt cx="1135283" cy="573362"/>
          </a:xfrm>
        </p:grpSpPr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4646539" y="2296183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3822" y="2346325"/>
              <a:ext cx="1028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私钥解密</a:t>
              </a:r>
              <a:endParaRPr lang="zh-CN" altLang="en-US" sz="14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8131" y="1129275"/>
            <a:ext cx="968012" cy="564262"/>
            <a:chOff x="5765765" y="1172405"/>
            <a:chExt cx="968012" cy="564262"/>
          </a:xfrm>
        </p:grpSpPr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5765765" y="1172405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2714" y="1213447"/>
              <a:ext cx="761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用密钥 </a:t>
              </a:r>
              <a:r>
                <a:rPr lang="en-US" altLang="zh-CN" sz="1400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43706" y="2064580"/>
            <a:ext cx="778306" cy="400110"/>
            <a:chOff x="3221340" y="2107710"/>
            <a:chExt cx="778306" cy="400110"/>
          </a:xfrm>
        </p:grpSpPr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3221340" y="21077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455907" y="2162204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  <a:endParaRPr lang="zh-CN" altLang="en-US" sz="1400" dirty="0"/>
            </a:p>
          </p:txBody>
        </p:sp>
      </p:grpSp>
      <p:sp>
        <p:nvSpPr>
          <p:cNvPr id="113" name="Line 10"/>
          <p:cNvSpPr>
            <a:spLocks noChangeShapeType="1"/>
          </p:cNvSpPr>
          <p:nvPr/>
        </p:nvSpPr>
        <p:spPr bwMode="auto">
          <a:xfrm flipH="1">
            <a:off x="7177992" y="1988494"/>
            <a:ext cx="0" cy="8692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104271" y="2036108"/>
            <a:ext cx="1139957" cy="776888"/>
            <a:chOff x="7181905" y="2234510"/>
            <a:chExt cx="1139957" cy="776888"/>
          </a:xfrm>
        </p:grpSpPr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7181905" y="22345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293862" y="2272734"/>
              <a:ext cx="10280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公钥解密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的签名</a:t>
              </a:r>
              <a:endParaRPr lang="zh-CN" altLang="en-US" sz="1400" dirty="0"/>
            </a:p>
          </p:txBody>
        </p:sp>
      </p:grpSp>
      <p:sp>
        <p:nvSpPr>
          <p:cNvPr id="19" name="椭圆 18"/>
          <p:cNvSpPr/>
          <p:nvPr/>
        </p:nvSpPr>
        <p:spPr>
          <a:xfrm>
            <a:off x="6926414" y="2812996"/>
            <a:ext cx="1279496" cy="4223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验证邮件的完整性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80" idx="3"/>
            <a:endCxn id="19" idx="6"/>
          </p:cNvCxnSpPr>
          <p:nvPr/>
        </p:nvCxnSpPr>
        <p:spPr>
          <a:xfrm>
            <a:off x="8077100" y="1445397"/>
            <a:ext cx="128810" cy="1578787"/>
          </a:xfrm>
          <a:prstGeom prst="bentConnector3">
            <a:avLst>
              <a:gd name="adj1" fmla="val 27747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34685" y="3406809"/>
            <a:ext cx="7404641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根据邮件的种类，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出已加密的一次性密钥和已加密的签名报文。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的私钥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解出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用解出的一次性密钥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对加密的签名邮件进行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出明文邮件 </a:t>
            </a:r>
            <a:r>
              <a:rPr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的数字签名。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手中的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的公钥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的数字签名进行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，即可接着验证邮件的完整性。</a:t>
            </a:r>
          </a:p>
        </p:txBody>
      </p:sp>
    </p:spTree>
    <p:extLst>
      <p:ext uri="{BB962C8B-B14F-4D97-AF65-F5344CB8AC3E}">
        <p14:creationId xmlns:p14="http://schemas.microsoft.com/office/powerpoint/2010/main" val="38837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676639" y="131285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676639" y="1919281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748077" y="1278312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					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687234" y="1312856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696123" y="1407788"/>
            <a:ext cx="16276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系统安全：防火墙与入侵检测</a:t>
            </a: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684702" y="1186640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053712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前述基于密码的安全机制不能有效解决以下安全问题：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利用系统漏洞进行未授权登录；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授权用户非法获取更高级别权限等。</a:t>
            </a: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软件入侵：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通过网络传播病毒、蠕虫和特洛伊木马。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拒绝服务攻击等。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2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解决方法：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控制进出网络边界的分组。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入侵检测：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深度分析与检测进入的分组，发现疑似入侵行为。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14" y="569213"/>
            <a:ext cx="48349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7.6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系统安全：防火墙与入侵检测</a:t>
            </a:r>
          </a:p>
        </p:txBody>
      </p:sp>
    </p:spTree>
    <p:extLst>
      <p:ext uri="{BB962C8B-B14F-4D97-AF65-F5344CB8AC3E}">
        <p14:creationId xmlns:p14="http://schemas.microsoft.com/office/powerpoint/2010/main" val="247801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67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559138" y="580210"/>
            <a:ext cx="2034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1896" y="1039539"/>
            <a:ext cx="8129016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防火墙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(firewall)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防火墙是一种特殊编程的路由器，安装在一个网点和网络的其余部分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之间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，目的是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实施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访问控制策略。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访问控制策略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由使用防火墙的单位自行制定。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8724" y="1545848"/>
            <a:ext cx="6753225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一种访问控制技术，通过严格控制进出网络边界的分组，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任何不必要的通信，从而减少潜在入侵的发生，尽可能降低这类安全威胁所带来的安全风险。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04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17852" y="1017532"/>
            <a:ext cx="8133857" cy="28210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AutoShape 34"/>
          <p:cNvSpPr>
            <a:spLocks noChangeArrowheads="1"/>
          </p:cNvSpPr>
          <p:nvPr/>
        </p:nvSpPr>
        <p:spPr bwMode="auto">
          <a:xfrm>
            <a:off x="2859620" y="1606078"/>
            <a:ext cx="3585187" cy="1845629"/>
          </a:xfrm>
          <a:prstGeom prst="cube">
            <a:avLst>
              <a:gd name="adj" fmla="val 11935"/>
            </a:avLst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5"/>
          <p:cNvSpPr>
            <a:spLocks noChangeShapeType="1"/>
          </p:cNvSpPr>
          <p:nvPr/>
        </p:nvSpPr>
        <p:spPr bwMode="auto">
          <a:xfrm>
            <a:off x="5755347" y="2687998"/>
            <a:ext cx="11031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7"/>
          <p:cNvSpPr>
            <a:spLocks noChangeShapeType="1"/>
          </p:cNvSpPr>
          <p:nvPr/>
        </p:nvSpPr>
        <p:spPr bwMode="auto">
          <a:xfrm>
            <a:off x="3204349" y="3133494"/>
            <a:ext cx="11720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38"/>
          <p:cNvSpPr>
            <a:spLocks noChangeShapeType="1"/>
          </p:cNvSpPr>
          <p:nvPr/>
        </p:nvSpPr>
        <p:spPr bwMode="auto">
          <a:xfrm rot="16200000">
            <a:off x="3283902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rot="16200000">
            <a:off x="4111253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4514321" y="2751640"/>
            <a:ext cx="1172080" cy="381854"/>
            <a:chOff x="1440" y="1872"/>
            <a:chExt cx="816" cy="192"/>
          </a:xfrm>
        </p:grpSpPr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Line 44"/>
          <p:cNvSpPr>
            <a:spLocks noChangeShapeType="1"/>
          </p:cNvSpPr>
          <p:nvPr/>
        </p:nvSpPr>
        <p:spPr bwMode="auto">
          <a:xfrm>
            <a:off x="2583836" y="2751640"/>
            <a:ext cx="5515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46"/>
          <p:cNvSpPr>
            <a:spLocks noChangeArrowheads="1"/>
          </p:cNvSpPr>
          <p:nvPr/>
        </p:nvSpPr>
        <p:spPr bwMode="auto">
          <a:xfrm>
            <a:off x="6513752" y="1797005"/>
            <a:ext cx="1723647" cy="15910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6819700" y="1947635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可信的网络</a:t>
            </a:r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098626" y="184571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不可信的网络</a:t>
            </a:r>
          </a:p>
        </p:txBody>
      </p:sp>
      <p:sp>
        <p:nvSpPr>
          <p:cNvPr id="20" name="Text Box 49"/>
          <p:cNvSpPr txBox="1">
            <a:spLocks noChangeArrowheads="1"/>
          </p:cNvSpPr>
          <p:nvPr/>
        </p:nvSpPr>
        <p:spPr bwMode="auto">
          <a:xfrm>
            <a:off x="2973775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5090989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分组过滤</a:t>
            </a:r>
          </a:p>
          <a:p>
            <a:pPr algn="ctr"/>
            <a:r>
              <a:rPr kumimoji="1" lang="zh-CN" altLang="en-US" sz="14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4031700" y="205157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应用网关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3127945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外局域网</a:t>
            </a:r>
          </a:p>
        </p:txBody>
      </p: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4646468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内局域网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4238537" y="155287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</a:p>
        </p:txBody>
      </p:sp>
      <p:pic>
        <p:nvPicPr>
          <p:cNvPr id="26" name="Picture 5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930" y="2592534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7" name="Picture 5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253" y="2550106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28" name="Group 57"/>
          <p:cNvGrpSpPr>
            <a:grpSpLocks/>
          </p:cNvGrpSpPr>
          <p:nvPr/>
        </p:nvGrpSpPr>
        <p:grpSpPr bwMode="auto">
          <a:xfrm>
            <a:off x="4169592" y="2369786"/>
            <a:ext cx="551567" cy="509139"/>
            <a:chOff x="2256" y="1488"/>
            <a:chExt cx="384" cy="384"/>
          </a:xfrm>
          <a:solidFill>
            <a:srgbClr val="FF66FF"/>
          </a:solidFill>
        </p:grpSpPr>
        <p:sp>
          <p:nvSpPr>
            <p:cNvPr id="29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25" cy="2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</p:grpSp>
      <p:graphicFrame>
        <p:nvGraphicFramePr>
          <p:cNvPr id="3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509213"/>
              </p:ext>
            </p:extLst>
          </p:nvPr>
        </p:nvGraphicFramePr>
        <p:xfrm>
          <a:off x="722297" y="2115217"/>
          <a:ext cx="1999431" cy="114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Visio" r:id="rId4" imgW="1687068" imgH="964692" progId="">
                  <p:embed/>
                </p:oleObj>
              </mc:Choice>
              <mc:Fallback>
                <p:oleObj name="Visio" r:id="rId4" imgW="1687068" imgH="964692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97" y="2115217"/>
                        <a:ext cx="1999431" cy="114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1"/>
          <p:cNvSpPr txBox="1">
            <a:spLocks noChangeArrowheads="1"/>
          </p:cNvSpPr>
          <p:nvPr/>
        </p:nvSpPr>
        <p:spPr bwMode="auto">
          <a:xfrm>
            <a:off x="1297291" y="252295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 flipH="1">
            <a:off x="2861209" y="1449623"/>
            <a:ext cx="1172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6431556" y="128919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防火墙的里面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1383850" y="1269284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防火墙的外面</a:t>
            </a:r>
          </a:p>
        </p:txBody>
      </p:sp>
      <p:sp>
        <p:nvSpPr>
          <p:cNvPr id="36" name="AutoShape 65"/>
          <p:cNvSpPr>
            <a:spLocks noChangeArrowheads="1"/>
          </p:cNvSpPr>
          <p:nvPr/>
        </p:nvSpPr>
        <p:spPr bwMode="auto">
          <a:xfrm>
            <a:off x="4030756" y="1190625"/>
            <a:ext cx="4331609" cy="2447925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6593266" y="2220851"/>
            <a:ext cx="1498578" cy="907037"/>
            <a:chOff x="1680" y="240"/>
            <a:chExt cx="2529" cy="1270"/>
          </a:xfrm>
          <a:solidFill>
            <a:srgbClr val="6699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0" name="Oval 19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1" name="Oval 20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3" name="Oval 22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4" name="Oval 23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5" name="Oval 24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47" name="Oval 26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368AD6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6996374" y="253224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内联网</a:t>
            </a:r>
          </a:p>
        </p:txBody>
      </p:sp>
      <p:sp>
        <p:nvSpPr>
          <p:cNvPr id="50" name="AutoShape 5"/>
          <p:cNvSpPr>
            <a:spLocks noChangeArrowheads="1"/>
          </p:cNvSpPr>
          <p:nvPr/>
        </p:nvSpPr>
        <p:spPr bwMode="auto">
          <a:xfrm>
            <a:off x="509475" y="60966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>
            <a:off x="2942769" y="576458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防火墙在互连网络中的位置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973660" y="3852698"/>
            <a:ext cx="7263739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一般把防火墙里面的网络称为“可信的网络”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(trusted network)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，把防火墙外面的网络称为“不可信的网络”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(untrusted network)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58046" y="581120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分组过滤路由器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4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具有分组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功能的路由器。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根据过滤规则对进出内部网络的分组进行过滤（转发或者丢弃）。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过滤规则：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基于分组的网络层或运输层首部信息，例如：源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地址、源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目的端口、协议类型（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UDP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），等等。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独立地处理每一个分组。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有状态的：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跟踪每个连接或会话的通信状态，根据状态信息决定是否转发分组。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简单高效，对用户透明。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不能对高层数据进行过滤。例如：不能禁止某个用户对某个特定应用进行某个特定的操作，不能支持应用层用户鉴别等。</a:t>
            </a:r>
          </a:p>
        </p:txBody>
      </p:sp>
    </p:spTree>
    <p:extLst>
      <p:ext uri="{BB962C8B-B14F-4D97-AF65-F5344CB8AC3E}">
        <p14:creationId xmlns:p14="http://schemas.microsoft.com/office/powerpoint/2010/main" val="276422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42767" y="5811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应用网关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也称为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代理服务器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(proxy server)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对报文进行中继，实现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基于应用层数据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过滤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和高层用户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所有进出网络的应用程序报文都必须通过应用网关。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应用网关在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应用层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打开报文，查看请求是否合法。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如果合法，应用网关以客户进程的身份将请求报文转发给原始服务器。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如果不合法，则丢弃报文。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endParaRPr lang="en-US" altLang="zh-CN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每种应用都需要一个不同的应用网关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在应用层转发和处理报文，处理负担较重。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对应用程序不透明，需要在应用程序客户端配置应用网关地址。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41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646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51787" y="590997"/>
            <a:ext cx="3049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入侵检测系统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50326"/>
            <a:ext cx="82307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入侵检测系统 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(Intrusion Detection System)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能够在入侵已经开始，但还没有造成危害或在造成更大危害前，及时检测到入侵，以便尽快阻止入侵，把危害降低到最小。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对进入网络的分组执行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深度分组检查。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当观察到可疑分组时，向网络管理员发出告警或执行阻断操作（由于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的“误报”率通常较高，多数情况不执行自动阻断）。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能用于检测多种网络攻击，包括：网络映射、端口扫描、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攻击、蠕虫和病毒、系统漏洞攻击等。 </a:t>
            </a:r>
            <a:endParaRPr lang="zh-CN" altLang="en-US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425801" y="582600"/>
            <a:ext cx="4296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基于特征的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维护一个所有已知攻击标志性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特征的数据库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特征和规则通常由网络安全专家生成，由机构的网络管理员定制并将其加入到数据库中。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只能检测已知攻击，对于未知攻击则束手无策。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至今为止，大多数部署的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IDS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主要是基于特征的。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387330" y="582600"/>
            <a:ext cx="43733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基于异常的 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IDS </a:t>
            </a:r>
            <a:endParaRPr lang="zh-CN" altLang="en-US" sz="2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通过观察正常运行的网络流量，学习正常流量的统计特性和规律。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当检测到网络中流量某种统计规律不符合正常情况时，则认为可能发生了入侵行为。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但区分正常流和统计异常流是一个非常困难的。</a:t>
            </a:r>
          </a:p>
        </p:txBody>
      </p:sp>
    </p:spTree>
    <p:extLst>
      <p:ext uri="{BB962C8B-B14F-4D97-AF65-F5344CB8AC3E}">
        <p14:creationId xmlns:p14="http://schemas.microsoft.com/office/powerpoint/2010/main" val="326007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144" y="1012614"/>
            <a:ext cx="805371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椭圆曲线密码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(Elliptic Curve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ECC)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：已在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TLS 1.3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的握手协议中占据非常重要的地位，现已大量用于电子护照、金融系统。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移动安全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(Mobile Security)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：例如移动支付安全等。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量子密码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(Quantum Cryptography)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量子计算机的到来将使得目前许多使用中的密码技术无效，后量子密码学（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Post-Quantum Cryptography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）的研究方兴未艾。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商密九号算法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SM9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：一种标识密码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(Identity-Based Cryptography)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算法。在互联网应用上有前景。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5144" y="620736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70068" y="578465"/>
            <a:ext cx="360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7.7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一些未来的发展方向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61396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9767</Words>
  <Application>Microsoft Office PowerPoint</Application>
  <PresentationFormat>全屏显示(16:9)</PresentationFormat>
  <Paragraphs>1382</Paragraphs>
  <Slides>120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120</vt:i4>
      </vt:variant>
    </vt:vector>
  </HeadingPairs>
  <TitlesOfParts>
    <vt:vector size="132" baseType="lpstr">
      <vt:lpstr>宋体</vt:lpstr>
      <vt:lpstr>黑体</vt:lpstr>
      <vt:lpstr>Arial</vt:lpstr>
      <vt:lpstr>Cambria Math</vt:lpstr>
      <vt:lpstr>Times New Roman</vt:lpstr>
      <vt:lpstr>微软雅黑</vt:lpstr>
      <vt:lpstr>Calibri</vt:lpstr>
      <vt:lpstr>Wingdings</vt:lpstr>
      <vt:lpstr>Office 主题​​</vt:lpstr>
      <vt:lpstr>公式</vt:lpstr>
      <vt:lpstr>VISIO</vt:lpstr>
      <vt:lpstr>Visio</vt:lpstr>
      <vt:lpstr>高级计算机网络 第七讲 2 —— 网络安全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Canhui Wang</cp:lastModifiedBy>
  <cp:revision>724</cp:revision>
  <dcterms:created xsi:type="dcterms:W3CDTF">2018-07-18T08:51:00Z</dcterms:created>
  <dcterms:modified xsi:type="dcterms:W3CDTF">2025-07-23T13:25:27Z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2052-11.1.0.7693</vt:lpwstr>
  </property>
</Properties>
</file>