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86"/>
  </p:notesMasterIdLst>
  <p:sldIdLst>
    <p:sldId id="647" r:id="rId3"/>
    <p:sldId id="428" r:id="rId4"/>
    <p:sldId id="256" r:id="rId5"/>
    <p:sldId id="340" r:id="rId6"/>
    <p:sldId id="341" r:id="rId7"/>
    <p:sldId id="260" r:id="rId8"/>
    <p:sldId id="342" r:id="rId9"/>
    <p:sldId id="343" r:id="rId10"/>
    <p:sldId id="345" r:id="rId11"/>
    <p:sldId id="346" r:id="rId12"/>
    <p:sldId id="347" r:id="rId13"/>
    <p:sldId id="348" r:id="rId14"/>
    <p:sldId id="349" r:id="rId15"/>
    <p:sldId id="350" r:id="rId16"/>
    <p:sldId id="353" r:id="rId17"/>
    <p:sldId id="354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281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427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3" r:id="rId43"/>
    <p:sldId id="384" r:id="rId44"/>
    <p:sldId id="385" r:id="rId45"/>
    <p:sldId id="386" r:id="rId46"/>
    <p:sldId id="387" r:id="rId47"/>
    <p:sldId id="388" r:id="rId48"/>
    <p:sldId id="390" r:id="rId49"/>
    <p:sldId id="391" r:id="rId50"/>
    <p:sldId id="392" r:id="rId51"/>
    <p:sldId id="297" r:id="rId52"/>
    <p:sldId id="298" r:id="rId53"/>
    <p:sldId id="393" r:id="rId54"/>
    <p:sldId id="394" r:id="rId55"/>
    <p:sldId id="395" r:id="rId56"/>
    <p:sldId id="396" r:id="rId57"/>
    <p:sldId id="397" r:id="rId58"/>
    <p:sldId id="398" r:id="rId59"/>
    <p:sldId id="399" r:id="rId60"/>
    <p:sldId id="400" r:id="rId61"/>
    <p:sldId id="401" r:id="rId62"/>
    <p:sldId id="402" r:id="rId63"/>
    <p:sldId id="403" r:id="rId64"/>
    <p:sldId id="404" r:id="rId65"/>
    <p:sldId id="405" r:id="rId66"/>
    <p:sldId id="406" r:id="rId67"/>
    <p:sldId id="407" r:id="rId68"/>
    <p:sldId id="408" r:id="rId69"/>
    <p:sldId id="409" r:id="rId70"/>
    <p:sldId id="410" r:id="rId71"/>
    <p:sldId id="412" r:id="rId72"/>
    <p:sldId id="320" r:id="rId73"/>
    <p:sldId id="413" r:id="rId74"/>
    <p:sldId id="414" r:id="rId75"/>
    <p:sldId id="415" r:id="rId76"/>
    <p:sldId id="416" r:id="rId77"/>
    <p:sldId id="417" r:id="rId78"/>
    <p:sldId id="418" r:id="rId79"/>
    <p:sldId id="419" r:id="rId80"/>
    <p:sldId id="420" r:id="rId81"/>
    <p:sldId id="421" r:id="rId82"/>
    <p:sldId id="422" r:id="rId83"/>
    <p:sldId id="423" r:id="rId84"/>
    <p:sldId id="424" r:id="rId85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87"/>
    </p:embeddedFont>
    <p:embeddedFont>
      <p:font typeface="Calibri" panose="020F0502020204030204" pitchFamily="34" charset="0"/>
      <p:regular r:id="rId88"/>
      <p:bold r:id="rId89"/>
      <p:italic r:id="rId90"/>
      <p:boldItalic r:id="rId91"/>
    </p:embeddedFont>
    <p:embeddedFont>
      <p:font typeface="黑体" panose="02010609060101010101" pitchFamily="49" charset="-122"/>
      <p:regular r:id="rId92"/>
    </p:embeddedFont>
    <p:embeddedFont>
      <p:font typeface="宋体" panose="02010600030101010101" pitchFamily="2" charset="-122"/>
      <p:regular r:id="rId93"/>
    </p:embeddedFont>
    <p:embeddedFont>
      <p:font typeface="微软雅黑" panose="020B0503020204020204" pitchFamily="34" charset="-122"/>
      <p:regular r:id="rId94"/>
      <p:bold r:id="rId9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D8F9"/>
    <a:srgbClr val="99FFCC"/>
    <a:srgbClr val="0000FF"/>
    <a:srgbClr val="000099"/>
    <a:srgbClr val="C3E3F9"/>
    <a:srgbClr val="FFFF99"/>
    <a:srgbClr val="9900CC"/>
    <a:srgbClr val="FFFF00"/>
    <a:srgbClr val="FF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深色样式 1 - 强调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09" autoAdjust="0"/>
  </p:normalViewPr>
  <p:slideViewPr>
    <p:cSldViewPr snapToGrid="0">
      <p:cViewPr varScale="1">
        <p:scale>
          <a:sx n="110" d="100"/>
          <a:sy n="110" d="100"/>
        </p:scale>
        <p:origin x="12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font" Target="fonts/font3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font" Target="fonts/font4.fntdata"/><Relationship Id="rId95" Type="http://schemas.openxmlformats.org/officeDocument/2006/relationships/font" Target="fonts/font9.fntdata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font" Target="fonts/font2.fntdata"/><Relationship Id="rId91" Type="http://schemas.openxmlformats.org/officeDocument/2006/relationships/font" Target="fonts/font5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94" Type="http://schemas.openxmlformats.org/officeDocument/2006/relationships/font" Target="fonts/font8.fntdata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font" Target="fonts/font1.fnt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font" Target="fonts/font7.fntdata"/><Relationship Id="rId98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37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794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954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328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406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693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68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72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3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0"/>
          </p:nvPr>
        </p:nvSpPr>
        <p:spPr>
          <a:xfrm>
            <a:off x="466344" y="963190"/>
            <a:ext cx="8129016" cy="337699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73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2451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0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70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043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354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27580"/>
            <a:ext cx="8129016" cy="3312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3262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h="254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47422"/>
            <a:ext cx="6632575" cy="33429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34021"/>
            <a:ext cx="8129016" cy="331903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366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21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ECE22F-C5C5-4781-A914-564AC8604FFF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41D5B-6DFE-4544-AB12-B62DBE9FF1F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8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3E13FE-D74E-4681-86EE-8605341373C1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4B2D38-9BBB-44EE-A7EC-0C73C7AF765F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10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B0D37-B650-4F36-9AF4-E0C58AC46186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30FB5E-FBC5-486C-B226-802E21D21F30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89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E24AEA-74A9-4099-9A56-447F8443042D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76FEC2-9CFF-4436-844D-2D5595FDF35B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81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F58448-F6D4-4566-AE9E-C49DFCCFFE7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485B17-6DCC-4B80-BFD5-13BCBC683071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28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329A4-D27B-47FF-810D-EE065D85E4EC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BF8F64-AEEF-4EA5-B05C-A8B826AB69E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3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344629-E8D8-4FC9-B2F5-E1E23C54B76E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92F815-478E-4E94-8CB1-4FA036D12C22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0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271B62-ACE9-45FB-967E-7F3DF287A11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EBAC4-09E0-4CDA-BEAB-7114EA3C252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53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7647C-2BA5-490B-BA8F-200D31D2A37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2025/9/25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98C907-F5C8-4C51-A988-DD1AA919B615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88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46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25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66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0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6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8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0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85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67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94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30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67053C-5D5C-4B5B-AE35-DDC5A51407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3C8B7-9624-4A80-89D4-2EF620F5C21C}" type="datetime1">
              <a:rPr lang="zh-CN" altLang="en-US"/>
              <a:pPr>
                <a:defRPr/>
              </a:pPr>
              <a:t>2025/9/25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455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12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0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aculty.hqu.edu.cn/WCH12/zh_CN/jxzy/233669/list/index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jpe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png"/><Relationship Id="rId4" Type="http://schemas.openxmlformats.org/officeDocument/2006/relationships/image" Target="../media/image17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0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高级计算机网络 第二讲</a:t>
            </a:r>
            <a:br>
              <a:rPr lang="en-US" altLang="zh-CN" dirty="0">
                <a:latin typeface="黑体" pitchFamily="49" charset="-122"/>
                <a:ea typeface="黑体" pitchFamily="49" charset="-122"/>
              </a:rPr>
            </a:br>
            <a:r>
              <a:rPr lang="en-US" altLang="zh-CN" sz="135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</a:t>
            </a:r>
            <a:br>
              <a:rPr lang="en-US" altLang="zh-CN" dirty="0">
                <a:latin typeface="黑体" pitchFamily="49" charset="-122"/>
                <a:ea typeface="黑体" pitchFamily="49" charset="-122"/>
              </a:rPr>
            </a:br>
            <a:r>
              <a:rPr lang="en-US" altLang="zh-CN" sz="2100" dirty="0">
                <a:latin typeface="黑体" pitchFamily="49" charset="-122"/>
                <a:ea typeface="黑体" pitchFamily="49" charset="-122"/>
              </a:rPr>
              <a:t>—— </a:t>
            </a:r>
            <a:r>
              <a:rPr lang="zh-CN" altLang="en-US" sz="2100" dirty="0">
                <a:latin typeface="黑体" pitchFamily="49" charset="-122"/>
                <a:ea typeface="黑体" pitchFamily="49" charset="-122"/>
              </a:rPr>
              <a:t>物理层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23434F17-CF17-4508-A16B-CE7CC3534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7869" y="3085640"/>
            <a:ext cx="3516840" cy="1441326"/>
          </a:xfrm>
        </p:spPr>
        <p:txBody>
          <a:bodyPr/>
          <a:lstStyle/>
          <a:p>
            <a:pPr eaLnBrk="1" hangingPunct="1"/>
            <a:r>
              <a:rPr lang="zh-CN" altLang="en-US" sz="1800" dirty="0"/>
              <a:t>华侨大学计算机学院</a:t>
            </a:r>
            <a:endParaRPr lang="en-US" altLang="zh-CN" sz="1800" dirty="0"/>
          </a:p>
          <a:p>
            <a:pPr eaLnBrk="1" hangingPunct="1"/>
            <a:r>
              <a:rPr lang="zh-CN" altLang="en-US" sz="1800" dirty="0"/>
              <a:t>王灿辉</a:t>
            </a:r>
            <a:r>
              <a:rPr lang="en-US" altLang="zh-CN" sz="1500" dirty="0"/>
              <a:t> </a:t>
            </a:r>
          </a:p>
          <a:p>
            <a:pPr eaLnBrk="1" hangingPunct="1"/>
            <a:r>
              <a:rPr lang="zh-CN" altLang="en-US" sz="1800" dirty="0"/>
              <a:t>课件下载</a:t>
            </a:r>
            <a:r>
              <a:rPr lang="en-US" altLang="zh-CN" sz="1800" dirty="0"/>
              <a:t>: </a:t>
            </a:r>
            <a:r>
              <a:rPr lang="en-US" altLang="zh-CN" sz="1500" dirty="0">
                <a:hlinkClick r:id="rId3"/>
              </a:rPr>
              <a:t>https://faculty.hqu.edu.cn/WCH12/zh_CN/jxzy/233669/list/index.htm</a:t>
            </a:r>
            <a:r>
              <a:rPr lang="en-US" altLang="zh-CN" sz="1500" dirty="0"/>
              <a:t> </a:t>
            </a:r>
            <a:endParaRPr lang="en-US" altLang="zh-CN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66345" y="61654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316859" y="593457"/>
            <a:ext cx="2492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微软雅黑" pitchFamily="34" charset="-122"/>
              </a:rPr>
              <a:t>计算机网络体系结构</a:t>
            </a:r>
          </a:p>
        </p:txBody>
      </p:sp>
      <p:sp>
        <p:nvSpPr>
          <p:cNvPr id="48" name="圆角矩形 47"/>
          <p:cNvSpPr/>
          <p:nvPr/>
        </p:nvSpPr>
        <p:spPr>
          <a:xfrm>
            <a:off x="505072" y="1041128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49" name="组合 48"/>
          <p:cNvGrpSpPr/>
          <p:nvPr/>
        </p:nvGrpSpPr>
        <p:grpSpPr>
          <a:xfrm>
            <a:off x="1557339" y="1494207"/>
            <a:ext cx="1341438" cy="2356685"/>
            <a:chOff x="1557339" y="1623511"/>
            <a:chExt cx="1341438" cy="2356685"/>
          </a:xfrm>
        </p:grpSpPr>
        <p:sp>
          <p:nvSpPr>
            <p:cNvPr id="50" name="AutoShape 58"/>
            <p:cNvSpPr>
              <a:spLocks noChangeArrowheads="1"/>
            </p:cNvSpPr>
            <p:nvPr/>
          </p:nvSpPr>
          <p:spPr bwMode="auto">
            <a:xfrm>
              <a:off x="1560514" y="1623511"/>
              <a:ext cx="1338263" cy="2301875"/>
            </a:xfrm>
            <a:prstGeom prst="cube">
              <a:avLst>
                <a:gd name="adj" fmla="val 9144"/>
              </a:avLst>
            </a:prstGeom>
            <a:solidFill>
              <a:srgbClr val="85D1F7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50"/>
            <p:cNvSpPr/>
            <p:nvPr/>
          </p:nvSpPr>
          <p:spPr bwMode="auto">
            <a:xfrm>
              <a:off x="1560514" y="18727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59"/>
            <p:cNvSpPr/>
            <p:nvPr/>
          </p:nvSpPr>
          <p:spPr bwMode="auto">
            <a:xfrm>
              <a:off x="1560514" y="2185486"/>
              <a:ext cx="1328738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60"/>
            <p:cNvSpPr/>
            <p:nvPr/>
          </p:nvSpPr>
          <p:spPr bwMode="auto">
            <a:xfrm>
              <a:off x="1560514" y="2498223"/>
              <a:ext cx="1328738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Freeform 61"/>
            <p:cNvSpPr/>
            <p:nvPr/>
          </p:nvSpPr>
          <p:spPr bwMode="auto">
            <a:xfrm>
              <a:off x="1560514" y="2810961"/>
              <a:ext cx="1328738" cy="171450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Freeform 62"/>
            <p:cNvSpPr/>
            <p:nvPr/>
          </p:nvSpPr>
          <p:spPr bwMode="auto">
            <a:xfrm>
              <a:off x="1558927" y="3122111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Freeform 63"/>
            <p:cNvSpPr/>
            <p:nvPr/>
          </p:nvSpPr>
          <p:spPr bwMode="auto">
            <a:xfrm>
              <a:off x="1557339" y="34348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2027239" y="1779086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2006602" y="2707916"/>
              <a:ext cx="608012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2014539" y="3006223"/>
              <a:ext cx="608013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0" name="Text Box 54"/>
            <p:cNvSpPr txBox="1">
              <a:spLocks noChangeArrowheads="1"/>
            </p:cNvSpPr>
            <p:nvPr/>
          </p:nvSpPr>
          <p:spPr bwMode="auto">
            <a:xfrm>
              <a:off x="2014539" y="2079123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表示层</a:t>
              </a:r>
            </a:p>
          </p:txBody>
        </p:sp>
        <p:sp>
          <p:nvSpPr>
            <p:cNvPr id="61" name="Text Box 55"/>
            <p:cNvSpPr txBox="1">
              <a:spLocks noChangeArrowheads="1"/>
            </p:cNvSpPr>
            <p:nvPr/>
          </p:nvSpPr>
          <p:spPr bwMode="auto">
            <a:xfrm>
              <a:off x="2014539" y="2391861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会话层</a:t>
              </a:r>
            </a:p>
          </p:txBody>
        </p:sp>
        <p:sp>
          <p:nvSpPr>
            <p:cNvPr id="62" name="Text Box 56"/>
            <p:cNvSpPr txBox="1">
              <a:spLocks noChangeArrowheads="1"/>
            </p:cNvSpPr>
            <p:nvPr/>
          </p:nvSpPr>
          <p:spPr bwMode="auto">
            <a:xfrm>
              <a:off x="1911352" y="3314198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3" name="Text Box 57"/>
            <p:cNvSpPr txBox="1">
              <a:spLocks noChangeArrowheads="1"/>
            </p:cNvSpPr>
            <p:nvPr/>
          </p:nvSpPr>
          <p:spPr bwMode="auto">
            <a:xfrm>
              <a:off x="2014539" y="3638048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4" name="Text Box 43"/>
            <p:cNvSpPr txBox="1">
              <a:spLocks noChangeArrowheads="1"/>
            </p:cNvSpPr>
            <p:nvPr/>
          </p:nvSpPr>
          <p:spPr bwMode="auto">
            <a:xfrm>
              <a:off x="1622427" y="1683083"/>
              <a:ext cx="271462" cy="2297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1156623" y="1157657"/>
            <a:ext cx="21691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的七层协议体系结构</a:t>
            </a:r>
          </a:p>
        </p:txBody>
      </p:sp>
      <p:sp>
        <p:nvSpPr>
          <p:cNvPr id="66" name="Text Box 12"/>
          <p:cNvSpPr txBox="1">
            <a:spLocks noChangeArrowheads="1"/>
          </p:cNvSpPr>
          <p:nvPr/>
        </p:nvSpPr>
        <p:spPr bwMode="auto">
          <a:xfrm>
            <a:off x="3432593" y="1146544"/>
            <a:ext cx="24619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的四层协议体系结构</a:t>
            </a:r>
          </a:p>
        </p:txBody>
      </p:sp>
      <p:sp>
        <p:nvSpPr>
          <p:cNvPr id="67" name="Text Box 95"/>
          <p:cNvSpPr txBox="1">
            <a:spLocks noChangeArrowheads="1"/>
          </p:cNvSpPr>
          <p:nvPr/>
        </p:nvSpPr>
        <p:spPr bwMode="auto">
          <a:xfrm>
            <a:off x="1993066" y="3796082"/>
            <a:ext cx="392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68" name="Text Box 96"/>
          <p:cNvSpPr txBox="1">
            <a:spLocks noChangeArrowheads="1"/>
          </p:cNvSpPr>
          <p:nvPr/>
        </p:nvSpPr>
        <p:spPr bwMode="auto">
          <a:xfrm>
            <a:off x="4328191" y="3796082"/>
            <a:ext cx="404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69" name="Text Box 97"/>
          <p:cNvSpPr txBox="1">
            <a:spLocks noChangeArrowheads="1"/>
          </p:cNvSpPr>
          <p:nvPr/>
        </p:nvSpPr>
        <p:spPr bwMode="auto">
          <a:xfrm>
            <a:off x="6655970" y="3804103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</a:p>
        </p:txBody>
      </p:sp>
      <p:sp>
        <p:nvSpPr>
          <p:cNvPr id="70" name="Text Box 113"/>
          <p:cNvSpPr txBox="1">
            <a:spLocks noChangeArrowheads="1"/>
          </p:cNvSpPr>
          <p:nvPr/>
        </p:nvSpPr>
        <p:spPr bwMode="auto">
          <a:xfrm>
            <a:off x="5946357" y="114178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3578724" y="1462457"/>
            <a:ext cx="1974894" cy="2338387"/>
            <a:chOff x="3578724" y="1591761"/>
            <a:chExt cx="1974894" cy="2338387"/>
          </a:xfrm>
        </p:grpSpPr>
        <p:sp>
          <p:nvSpPr>
            <p:cNvPr id="72" name="AutoShape 66"/>
            <p:cNvSpPr>
              <a:spLocks noChangeArrowheads="1"/>
            </p:cNvSpPr>
            <p:nvPr/>
          </p:nvSpPr>
          <p:spPr bwMode="auto">
            <a:xfrm>
              <a:off x="3647070" y="1591761"/>
              <a:ext cx="1889125" cy="2338387"/>
            </a:xfrm>
            <a:prstGeom prst="cube">
              <a:avLst>
                <a:gd name="adj" fmla="val 9144"/>
              </a:avLst>
            </a:prstGeom>
            <a:solidFill>
              <a:srgbClr val="7CE07C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69"/>
            <p:cNvSpPr/>
            <p:nvPr/>
          </p:nvSpPr>
          <p:spPr bwMode="auto">
            <a:xfrm>
              <a:off x="3642309" y="2488698"/>
              <a:ext cx="1911309" cy="200366"/>
            </a:xfrm>
            <a:custGeom>
              <a:avLst/>
              <a:gdLst>
                <a:gd name="T0" fmla="*/ 2147483647 w 1684"/>
                <a:gd name="T1" fmla="*/ 0 h 176"/>
                <a:gd name="T2" fmla="*/ 2147483647 w 1684"/>
                <a:gd name="T3" fmla="*/ 2147483647 h 176"/>
                <a:gd name="T4" fmla="*/ 0 w 1684"/>
                <a:gd name="T5" fmla="*/ 2147483647 h 176"/>
                <a:gd name="T6" fmla="*/ 0 60000 65536"/>
                <a:gd name="T7" fmla="*/ 0 60000 65536"/>
                <a:gd name="T8" fmla="*/ 0 60000 65536"/>
                <a:gd name="T9" fmla="*/ 0 w 1684"/>
                <a:gd name="T10" fmla="*/ 0 h 176"/>
                <a:gd name="T11" fmla="*/ 1684 w 1684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4" h="176">
                  <a:moveTo>
                    <a:pt x="1684" y="0"/>
                  </a:moveTo>
                  <a:lnTo>
                    <a:pt x="1528" y="172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70"/>
            <p:cNvSpPr/>
            <p:nvPr/>
          </p:nvSpPr>
          <p:spPr bwMode="auto">
            <a:xfrm>
              <a:off x="3642309" y="2790240"/>
              <a:ext cx="1907824" cy="212561"/>
            </a:xfrm>
            <a:custGeom>
              <a:avLst/>
              <a:gdLst>
                <a:gd name="T0" fmla="*/ 2147483647 w 1679"/>
                <a:gd name="T1" fmla="*/ 0 h 186"/>
                <a:gd name="T2" fmla="*/ 2147483647 w 1679"/>
                <a:gd name="T3" fmla="*/ 2147483647 h 186"/>
                <a:gd name="T4" fmla="*/ 0 w 1679"/>
                <a:gd name="T5" fmla="*/ 2147483647 h 186"/>
                <a:gd name="T6" fmla="*/ 0 60000 65536"/>
                <a:gd name="T7" fmla="*/ 0 60000 65536"/>
                <a:gd name="T8" fmla="*/ 0 60000 65536"/>
                <a:gd name="T9" fmla="*/ 0 w 1679"/>
                <a:gd name="T10" fmla="*/ 0 h 186"/>
                <a:gd name="T11" fmla="*/ 1679 w 1679"/>
                <a:gd name="T12" fmla="*/ 186 h 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9" h="186">
                  <a:moveTo>
                    <a:pt x="1679" y="0"/>
                  </a:moveTo>
                  <a:lnTo>
                    <a:pt x="1525" y="186"/>
                  </a:lnTo>
                  <a:lnTo>
                    <a:pt x="0" y="183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71"/>
            <p:cNvSpPr/>
            <p:nvPr/>
          </p:nvSpPr>
          <p:spPr bwMode="auto">
            <a:xfrm>
              <a:off x="3642309" y="3122027"/>
              <a:ext cx="1893886" cy="184684"/>
            </a:xfrm>
            <a:custGeom>
              <a:avLst/>
              <a:gdLst>
                <a:gd name="T0" fmla="*/ 2147483647 w 1668"/>
                <a:gd name="T1" fmla="*/ 0 h 162"/>
                <a:gd name="T2" fmla="*/ 2147483647 w 1668"/>
                <a:gd name="T3" fmla="*/ 2147483647 h 162"/>
                <a:gd name="T4" fmla="*/ 0 w 1668"/>
                <a:gd name="T5" fmla="*/ 2147483647 h 162"/>
                <a:gd name="T6" fmla="*/ 0 60000 65536"/>
                <a:gd name="T7" fmla="*/ 0 60000 65536"/>
                <a:gd name="T8" fmla="*/ 0 60000 65536"/>
                <a:gd name="T9" fmla="*/ 0 w 1668"/>
                <a:gd name="T10" fmla="*/ 0 h 162"/>
                <a:gd name="T11" fmla="*/ 1668 w 1668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8" h="162">
                  <a:moveTo>
                    <a:pt x="1668" y="0"/>
                  </a:moveTo>
                  <a:lnTo>
                    <a:pt x="1527" y="160"/>
                  </a:lnTo>
                  <a:lnTo>
                    <a:pt x="0" y="16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Text Box 73"/>
            <p:cNvSpPr txBox="1">
              <a:spLocks noChangeArrowheads="1"/>
            </p:cNvSpPr>
            <p:nvPr/>
          </p:nvSpPr>
          <p:spPr bwMode="auto">
            <a:xfrm>
              <a:off x="3647071" y="1844173"/>
              <a:ext cx="1687178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77" name="Text Box 15"/>
            <p:cNvSpPr txBox="1">
              <a:spLocks noChangeArrowheads="1"/>
            </p:cNvSpPr>
            <p:nvPr/>
          </p:nvSpPr>
          <p:spPr bwMode="auto">
            <a:xfrm>
              <a:off x="3642308" y="3374523"/>
              <a:ext cx="163512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网络接口层</a:t>
              </a:r>
            </a:p>
          </p:txBody>
        </p:sp>
        <p:sp>
          <p:nvSpPr>
            <p:cNvPr id="78" name="Text Box 9"/>
            <p:cNvSpPr txBox="1">
              <a:spLocks noChangeArrowheads="1"/>
            </p:cNvSpPr>
            <p:nvPr/>
          </p:nvSpPr>
          <p:spPr bwMode="auto">
            <a:xfrm>
              <a:off x="3642309" y="3009398"/>
              <a:ext cx="169194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网际层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79" name="Text Box 16"/>
            <p:cNvSpPr txBox="1">
              <a:spLocks noChangeArrowheads="1"/>
            </p:cNvSpPr>
            <p:nvPr/>
          </p:nvSpPr>
          <p:spPr bwMode="auto">
            <a:xfrm>
              <a:off x="3660606" y="2104523"/>
              <a:ext cx="169703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各种应用层协议，如</a:t>
              </a:r>
            </a:p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DNS, HTTP, SMTP </a:t>
              </a:r>
              <a:r>
                <a:rPr kumimoji="1" lang="zh-CN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3631348" y="2709361"/>
              <a:ext cx="178446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(TCP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UDP)</a:t>
              </a:r>
            </a:p>
          </p:txBody>
        </p:sp>
        <p:sp>
          <p:nvSpPr>
            <p:cNvPr id="81" name="Text Box 15"/>
            <p:cNvSpPr txBox="1">
              <a:spLocks noChangeArrowheads="1"/>
            </p:cNvSpPr>
            <p:nvPr/>
          </p:nvSpPr>
          <p:spPr bwMode="auto">
            <a:xfrm>
              <a:off x="3578724" y="3609473"/>
              <a:ext cx="187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（这一层并没有具体内容）</a:t>
              </a:r>
            </a:p>
          </p:txBody>
        </p:sp>
      </p:grpSp>
      <p:cxnSp>
        <p:nvCxnSpPr>
          <p:cNvPr id="82" name="直接连接符 81"/>
          <p:cNvCxnSpPr/>
          <p:nvPr/>
        </p:nvCxnSpPr>
        <p:spPr>
          <a:xfrm>
            <a:off x="5334249" y="3164424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334249" y="3793157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/>
        </p:nvGrpSpPr>
        <p:grpSpPr>
          <a:xfrm>
            <a:off x="6217820" y="1494290"/>
            <a:ext cx="1341437" cy="2350069"/>
            <a:chOff x="6217820" y="1623594"/>
            <a:chExt cx="1341437" cy="2350069"/>
          </a:xfrm>
        </p:grpSpPr>
        <p:sp>
          <p:nvSpPr>
            <p:cNvPr id="85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7" name="Freeform 102"/>
            <p:cNvSpPr/>
            <p:nvPr/>
          </p:nvSpPr>
          <p:spPr bwMode="auto">
            <a:xfrm>
              <a:off x="6220995" y="281747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8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9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0" name="Text Box 106"/>
            <p:cNvSpPr txBox="1">
              <a:spLocks noChangeArrowheads="1"/>
            </p:cNvSpPr>
            <p:nvPr/>
          </p:nvSpPr>
          <p:spPr bwMode="auto">
            <a:xfrm>
              <a:off x="6667082" y="2698332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91" name="Text Box 107"/>
            <p:cNvSpPr txBox="1">
              <a:spLocks noChangeArrowheads="1"/>
            </p:cNvSpPr>
            <p:nvPr/>
          </p:nvSpPr>
          <p:spPr bwMode="auto">
            <a:xfrm>
              <a:off x="6675020" y="3023769"/>
              <a:ext cx="60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92" name="Text Box 108"/>
            <p:cNvSpPr txBox="1">
              <a:spLocks noChangeArrowheads="1"/>
            </p:cNvSpPr>
            <p:nvPr/>
          </p:nvSpPr>
          <p:spPr bwMode="auto">
            <a:xfrm>
              <a:off x="6675020" y="20204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93" name="Text Box 110"/>
            <p:cNvSpPr txBox="1">
              <a:spLocks noChangeArrowheads="1"/>
            </p:cNvSpPr>
            <p:nvPr/>
          </p:nvSpPr>
          <p:spPr bwMode="auto">
            <a:xfrm>
              <a:off x="6571832" y="3319044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94" name="Text Box 111"/>
            <p:cNvSpPr txBox="1">
              <a:spLocks noChangeArrowheads="1"/>
            </p:cNvSpPr>
            <p:nvPr/>
          </p:nvSpPr>
          <p:spPr bwMode="auto">
            <a:xfrm>
              <a:off x="6675020" y="36333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95" name="Text Box 112"/>
            <p:cNvSpPr txBox="1">
              <a:spLocks noChangeArrowheads="1"/>
            </p:cNvSpPr>
            <p:nvPr/>
          </p:nvSpPr>
          <p:spPr bwMode="auto">
            <a:xfrm>
              <a:off x="6282907" y="1629944"/>
              <a:ext cx="271228" cy="2343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245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654339" y="1231023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654339" y="1711144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654339" y="220113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1654339" y="2689632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1654339" y="317044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654339" y="3663270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2402049" y="1049852"/>
            <a:ext cx="0" cy="3087642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686086" y="1072882"/>
            <a:ext cx="566153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2.1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物理层的基本概念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数据通信的基础知识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物理层下面的传输媒体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信道复用技术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2.5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数字传输系统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                                              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宽带接入技术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356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2.1</a:t>
            </a:r>
            <a:r>
              <a:rPr lang="en-US" altLang="zh-CN" dirty="0"/>
              <a:t>  </a:t>
            </a:r>
            <a:r>
              <a:rPr lang="zh-CN" altLang="en-US" dirty="0"/>
              <a:t>物理层的基本概念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物理层考虑的是怎样才能在连接各种计算机的传输媒体上</a:t>
            </a:r>
            <a:r>
              <a:rPr lang="zh-CN" altLang="en-US" dirty="0">
                <a:solidFill>
                  <a:srgbClr val="0000FF"/>
                </a:solidFill>
              </a:rPr>
              <a:t>传输数据比特流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C00000"/>
                </a:solidFill>
              </a:rPr>
              <a:t>不是</a:t>
            </a:r>
            <a:r>
              <a:rPr lang="zh-CN" altLang="en-US" dirty="0"/>
              <a:t>指具体的传输媒体。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C00000"/>
                </a:solidFill>
              </a:rPr>
              <a:t>作用：</a:t>
            </a:r>
            <a:r>
              <a:rPr lang="zh-CN" altLang="en-US" dirty="0"/>
              <a:t>尽可能</a:t>
            </a:r>
            <a:r>
              <a:rPr lang="zh-CN" altLang="en-US" dirty="0">
                <a:solidFill>
                  <a:srgbClr val="0000FF"/>
                </a:solidFill>
              </a:rPr>
              <a:t>屏蔽</a:t>
            </a:r>
            <a:r>
              <a:rPr lang="zh-CN" altLang="en-US" dirty="0"/>
              <a:t>掉不同传输媒体和通信手段的差异。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用于物理层的协议也常称为物理层</a:t>
            </a:r>
            <a:r>
              <a:rPr lang="zh-CN" altLang="en-US" dirty="0">
                <a:solidFill>
                  <a:srgbClr val="0000FF"/>
                </a:solidFill>
              </a:rPr>
              <a:t>规程</a:t>
            </a:r>
            <a:r>
              <a:rPr lang="zh-CN" altLang="en-US" dirty="0"/>
              <a:t> </a:t>
            </a:r>
            <a:r>
              <a:rPr lang="en-US" altLang="zh-CN" dirty="0"/>
              <a:t>(procedure)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47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确定与传输媒体的</a:t>
            </a:r>
            <a:r>
              <a:rPr lang="zh-CN" altLang="en-US" dirty="0">
                <a:solidFill>
                  <a:srgbClr val="C00000"/>
                </a:solidFill>
              </a:rPr>
              <a:t>接口</a:t>
            </a:r>
            <a:r>
              <a:rPr lang="zh-CN" altLang="en-US" dirty="0"/>
              <a:t>的一些特性。</a:t>
            </a:r>
            <a:r>
              <a:rPr lang="en-US" altLang="zh-CN" dirty="0"/>
              <a:t>4 </a:t>
            </a:r>
            <a:r>
              <a:rPr lang="zh-CN" altLang="en-US" dirty="0"/>
              <a:t>个特性：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机械特性：</a:t>
            </a:r>
            <a:r>
              <a:rPr lang="zh-CN" altLang="en-US" dirty="0"/>
              <a:t>指明接口所用接线器的形状和尺寸、引线数目和排列、固定和锁定装置等。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电气特性：</a:t>
            </a:r>
            <a:r>
              <a:rPr lang="zh-CN" altLang="en-US" dirty="0"/>
              <a:t>指明在接口电缆的各条线上出现的电压的范围。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功能特性：</a:t>
            </a:r>
            <a:r>
              <a:rPr lang="zh-CN" altLang="en-US" dirty="0"/>
              <a:t>指明某条线上出现的某一电平的电压的意义。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过程特性：</a:t>
            </a:r>
            <a:r>
              <a:rPr lang="zh-CN" altLang="en-US" dirty="0"/>
              <a:t>指明对于不同功能的各种可能事件的出现顺序。 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物理层的主要任务</a:t>
            </a:r>
          </a:p>
        </p:txBody>
      </p:sp>
    </p:spTree>
    <p:extLst>
      <p:ext uri="{BB962C8B-B14F-4D97-AF65-F5344CB8AC3E}">
        <p14:creationId xmlns:p14="http://schemas.microsoft.com/office/powerpoint/2010/main" val="298321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629135" y="137994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629135" y="198637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629135" y="2603910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 dirty="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08510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25948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2.2.1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数据通信系统的模型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2.2.2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有关信道的几个基本概念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2.2.3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信道的极限容量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7994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74880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2.2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数据通信的基础知识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89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2.2.1  </a:t>
            </a:r>
            <a:r>
              <a:rPr lang="zh-CN" altLang="en-US" dirty="0"/>
              <a:t>数据通信系统的模型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545144" y="1095658"/>
            <a:ext cx="8053711" cy="330381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4234" y="1187002"/>
            <a:ext cx="7798280" cy="3123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三大部分</a:t>
            </a:r>
            <a:r>
              <a:rPr lang="zh-CN" altLang="en-US" sz="13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源系统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（或发送端、发送方）、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传输系统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（或传输网络）和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目的系统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（或接收端、接收方）</a:t>
            </a:r>
            <a:r>
              <a:rPr lang="zh-CN" altLang="en-US" sz="13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2229820" y="3540006"/>
            <a:ext cx="691334" cy="706563"/>
            <a:chOff x="730" y="3160"/>
            <a:chExt cx="653" cy="723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86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输入数据</a:t>
              </a:r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>
              <a:off x="730" y="3160"/>
              <a:ext cx="65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" name="Group 106"/>
          <p:cNvGrpSpPr>
            <a:grpSpLocks/>
          </p:cNvGrpSpPr>
          <p:nvPr/>
        </p:nvGrpSpPr>
        <p:grpSpPr bwMode="auto">
          <a:xfrm>
            <a:off x="3389847" y="3540003"/>
            <a:ext cx="996979" cy="593200"/>
            <a:chOff x="1599" y="3160"/>
            <a:chExt cx="911" cy="607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599" y="3203"/>
              <a:ext cx="911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发送</a:t>
              </a:r>
              <a:endParaRPr kumimoji="1" lang="en-US" altLang="zh-CN" sz="1000" b="1" dirty="0">
                <a:latin typeface="微软雅黑" pitchFamily="34" charset="-122"/>
                <a:ea typeface="微软雅黑" pitchFamily="34" charset="-122"/>
              </a:endParaRP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的信号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数字的或模拟的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)</a:t>
              </a:r>
              <a:endParaRPr kumimoji="1" lang="zh-CN" altLang="en-US" sz="1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>
              <a:off x="1686" y="3160"/>
              <a:ext cx="668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Group 108"/>
          <p:cNvGrpSpPr>
            <a:grpSpLocks/>
          </p:cNvGrpSpPr>
          <p:nvPr/>
        </p:nvGrpSpPr>
        <p:grpSpPr bwMode="auto">
          <a:xfrm>
            <a:off x="4841514" y="3540009"/>
            <a:ext cx="1106999" cy="575777"/>
            <a:chOff x="2991" y="3160"/>
            <a:chExt cx="824" cy="522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991" y="3182"/>
              <a:ext cx="824" cy="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接收</a:t>
              </a: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的信号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数字的或模拟的</a:t>
              </a:r>
              <a:r>
                <a:rPr kumimoji="1" lang="en-US" altLang="zh-CN" sz="1000" b="1" dirty="0">
                  <a:latin typeface="微软雅黑" pitchFamily="34" charset="-122"/>
                  <a:ea typeface="微软雅黑" pitchFamily="34" charset="-122"/>
                </a:rPr>
                <a:t>)</a:t>
              </a:r>
              <a:endParaRPr kumimoji="1" lang="zh-CN" altLang="en-US" sz="1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3035" y="3160"/>
              <a:ext cx="7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Group 110"/>
          <p:cNvGrpSpPr>
            <a:grpSpLocks/>
          </p:cNvGrpSpPr>
          <p:nvPr/>
        </p:nvGrpSpPr>
        <p:grpSpPr bwMode="auto">
          <a:xfrm>
            <a:off x="6392412" y="3540007"/>
            <a:ext cx="629930" cy="751518"/>
            <a:chOff x="4318" y="3160"/>
            <a:chExt cx="595" cy="769"/>
          </a:xfrm>
        </p:grpSpPr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442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输出数据</a:t>
              </a: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4318" y="3160"/>
              <a:ext cx="595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" name="Group 103"/>
          <p:cNvGrpSpPr>
            <a:grpSpLocks/>
          </p:cNvGrpSpPr>
          <p:nvPr/>
        </p:nvGrpSpPr>
        <p:grpSpPr bwMode="auto">
          <a:xfrm>
            <a:off x="1668186" y="3316210"/>
            <a:ext cx="567465" cy="447587"/>
            <a:chOff x="407" y="2931"/>
            <a:chExt cx="536" cy="458"/>
          </a:xfrm>
          <a:solidFill>
            <a:srgbClr val="0070C0"/>
          </a:solidFill>
        </p:grpSpPr>
        <p:sp>
          <p:nvSpPr>
            <p:cNvPr id="18" name="AutoShape 11"/>
            <p:cNvSpPr>
              <a:spLocks noChangeArrowheads="1"/>
            </p:cNvSpPr>
            <p:nvPr/>
          </p:nvSpPr>
          <p:spPr bwMode="auto">
            <a:xfrm>
              <a:off x="407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31" y="3059"/>
              <a:ext cx="447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源点</a:t>
              </a:r>
            </a:p>
          </p:txBody>
        </p:sp>
      </p:grpSp>
      <p:grpSp>
        <p:nvGrpSpPr>
          <p:cNvPr id="20" name="Group 111"/>
          <p:cNvGrpSpPr>
            <a:grpSpLocks/>
          </p:cNvGrpSpPr>
          <p:nvPr/>
        </p:nvGrpSpPr>
        <p:grpSpPr bwMode="auto">
          <a:xfrm>
            <a:off x="6975109" y="3316210"/>
            <a:ext cx="567465" cy="447587"/>
            <a:chOff x="4654" y="2931"/>
            <a:chExt cx="536" cy="458"/>
          </a:xfrm>
          <a:solidFill>
            <a:srgbClr val="008000"/>
          </a:solidFill>
        </p:grpSpPr>
        <p:sp>
          <p:nvSpPr>
            <p:cNvPr id="21" name="AutoShape 15"/>
            <p:cNvSpPr>
              <a:spLocks noChangeArrowheads="1"/>
            </p:cNvSpPr>
            <p:nvPr/>
          </p:nvSpPr>
          <p:spPr bwMode="auto">
            <a:xfrm>
              <a:off x="4654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4681" y="3061"/>
              <a:ext cx="446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终点</a:t>
              </a:r>
            </a:p>
          </p:txBody>
        </p:sp>
      </p:grpSp>
      <p:grpSp>
        <p:nvGrpSpPr>
          <p:cNvPr id="23" name="Group 105"/>
          <p:cNvGrpSpPr>
            <a:grpSpLocks/>
          </p:cNvGrpSpPr>
          <p:nvPr/>
        </p:nvGrpSpPr>
        <p:grpSpPr bwMode="auto">
          <a:xfrm>
            <a:off x="2887151" y="3316210"/>
            <a:ext cx="617224" cy="447587"/>
            <a:chOff x="1210" y="2931"/>
            <a:chExt cx="583" cy="458"/>
          </a:xfrm>
          <a:solidFill>
            <a:srgbClr val="0070C0"/>
          </a:solidFill>
        </p:grpSpPr>
        <p:sp>
          <p:nvSpPr>
            <p:cNvPr id="24" name="AutoShape 12"/>
            <p:cNvSpPr>
              <a:spLocks noChangeArrowheads="1"/>
            </p:cNvSpPr>
            <p:nvPr/>
          </p:nvSpPr>
          <p:spPr bwMode="auto">
            <a:xfrm>
              <a:off x="1256" y="2931"/>
              <a:ext cx="537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210" y="3068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发送器</a:t>
              </a:r>
            </a:p>
          </p:txBody>
        </p:sp>
      </p:grpSp>
      <p:grpSp>
        <p:nvGrpSpPr>
          <p:cNvPr id="26" name="Group 109"/>
          <p:cNvGrpSpPr>
            <a:grpSpLocks/>
          </p:cNvGrpSpPr>
          <p:nvPr/>
        </p:nvGrpSpPr>
        <p:grpSpPr bwMode="auto">
          <a:xfrm>
            <a:off x="5801653" y="3316210"/>
            <a:ext cx="615107" cy="447587"/>
            <a:chOff x="3760" y="2931"/>
            <a:chExt cx="581" cy="458"/>
          </a:xfrm>
          <a:solidFill>
            <a:srgbClr val="008000"/>
          </a:solidFill>
        </p:grpSpPr>
        <p:sp>
          <p:nvSpPr>
            <p:cNvPr id="27" name="AutoShape 14"/>
            <p:cNvSpPr>
              <a:spLocks noChangeArrowheads="1"/>
            </p:cNvSpPr>
            <p:nvPr/>
          </p:nvSpPr>
          <p:spPr bwMode="auto">
            <a:xfrm>
              <a:off x="3805" y="2931"/>
              <a:ext cx="535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3760" y="3059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接收器</a:t>
              </a:r>
            </a:p>
          </p:txBody>
        </p:sp>
      </p:grp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3221312" y="2317054"/>
            <a:ext cx="2556767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>
            <a:off x="1944516" y="2319009"/>
            <a:ext cx="1038588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525471" y="2450939"/>
            <a:ext cx="90307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>
            <a:off x="6128510" y="2317054"/>
            <a:ext cx="1228655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1353204" y="2495893"/>
            <a:ext cx="85413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r>
              <a:rPr kumimoji="1" lang="en-US" altLang="zh-CN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pic>
        <p:nvPicPr>
          <p:cNvPr id="34" name="Picture 4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624" y="2170465"/>
            <a:ext cx="568524" cy="325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Rectangle 46"/>
          <p:cNvSpPr>
            <a:spLocks noChangeArrowheads="1"/>
          </p:cNvSpPr>
          <p:nvPr/>
        </p:nvSpPr>
        <p:spPr bwMode="auto">
          <a:xfrm>
            <a:off x="5505875" y="2468530"/>
            <a:ext cx="8988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grpSp>
        <p:nvGrpSpPr>
          <p:cNvPr id="36" name="Group 47"/>
          <p:cNvGrpSpPr>
            <a:grpSpLocks/>
          </p:cNvGrpSpPr>
          <p:nvPr/>
        </p:nvGrpSpPr>
        <p:grpSpPr bwMode="auto">
          <a:xfrm>
            <a:off x="3450496" y="2050261"/>
            <a:ext cx="435127" cy="209135"/>
            <a:chOff x="2315" y="3965"/>
            <a:chExt cx="496" cy="254"/>
          </a:xfrm>
        </p:grpSpPr>
        <p:sp>
          <p:nvSpPr>
            <p:cNvPr id="37" name="Freeform 48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Freeform 49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50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51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1" name="Freeform 52"/>
          <p:cNvSpPr>
            <a:spLocks/>
          </p:cNvSpPr>
          <p:nvPr/>
        </p:nvSpPr>
        <p:spPr bwMode="auto">
          <a:xfrm>
            <a:off x="2186011" y="2112805"/>
            <a:ext cx="494414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Rectangle 53"/>
          <p:cNvSpPr>
            <a:spLocks noChangeArrowheads="1"/>
          </p:cNvSpPr>
          <p:nvPr/>
        </p:nvSpPr>
        <p:spPr bwMode="auto">
          <a:xfrm>
            <a:off x="1987769" y="1812786"/>
            <a:ext cx="9676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数字比特流</a:t>
            </a:r>
          </a:p>
        </p:txBody>
      </p:sp>
      <p:sp>
        <p:nvSpPr>
          <p:cNvPr id="43" name="Rectangle 54"/>
          <p:cNvSpPr>
            <a:spLocks noChangeArrowheads="1"/>
          </p:cNvSpPr>
          <p:nvPr/>
        </p:nvSpPr>
        <p:spPr bwMode="auto">
          <a:xfrm>
            <a:off x="6291586" y="1812786"/>
            <a:ext cx="9475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数字比特流</a:t>
            </a:r>
          </a:p>
        </p:txBody>
      </p:sp>
      <p:sp>
        <p:nvSpPr>
          <p:cNvPr id="44" name="Rectangle 55"/>
          <p:cNvSpPr>
            <a:spLocks noChangeArrowheads="1"/>
          </p:cNvSpPr>
          <p:nvPr/>
        </p:nvSpPr>
        <p:spPr bwMode="auto">
          <a:xfrm>
            <a:off x="3267732" y="1812786"/>
            <a:ext cx="8035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模拟信号</a:t>
            </a:r>
          </a:p>
        </p:txBody>
      </p:sp>
      <p:sp>
        <p:nvSpPr>
          <p:cNvPr id="45" name="Rectangle 56"/>
          <p:cNvSpPr>
            <a:spLocks noChangeArrowheads="1"/>
          </p:cNvSpPr>
          <p:nvPr/>
        </p:nvSpPr>
        <p:spPr bwMode="auto">
          <a:xfrm>
            <a:off x="4991330" y="1812786"/>
            <a:ext cx="81308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模拟信号 </a:t>
            </a:r>
          </a:p>
        </p:txBody>
      </p:sp>
      <p:sp>
        <p:nvSpPr>
          <p:cNvPr id="46" name="Rectangle 57"/>
          <p:cNvSpPr>
            <a:spLocks noChangeArrowheads="1"/>
          </p:cNvSpPr>
          <p:nvPr/>
        </p:nvSpPr>
        <p:spPr bwMode="auto">
          <a:xfrm>
            <a:off x="878303" y="2104610"/>
            <a:ext cx="76713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输入汉字</a:t>
            </a:r>
          </a:p>
        </p:txBody>
      </p:sp>
      <p:sp>
        <p:nvSpPr>
          <p:cNvPr id="47" name="Rectangle 58"/>
          <p:cNvSpPr>
            <a:spLocks noChangeArrowheads="1"/>
          </p:cNvSpPr>
          <p:nvPr/>
        </p:nvSpPr>
        <p:spPr bwMode="auto">
          <a:xfrm>
            <a:off x="7595643" y="2104610"/>
            <a:ext cx="795963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显示汉字</a:t>
            </a:r>
          </a:p>
        </p:txBody>
      </p:sp>
      <p:sp>
        <p:nvSpPr>
          <p:cNvPr id="48" name="Freeform 59"/>
          <p:cNvSpPr>
            <a:spLocks/>
          </p:cNvSpPr>
          <p:nvPr/>
        </p:nvSpPr>
        <p:spPr bwMode="auto">
          <a:xfrm>
            <a:off x="6517605" y="2125510"/>
            <a:ext cx="495473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Group 60"/>
          <p:cNvGrpSpPr>
            <a:grpSpLocks/>
          </p:cNvGrpSpPr>
          <p:nvPr/>
        </p:nvGrpSpPr>
        <p:grpSpPr bwMode="auto">
          <a:xfrm>
            <a:off x="5196593" y="2050261"/>
            <a:ext cx="436186" cy="209135"/>
            <a:chOff x="2315" y="3965"/>
            <a:chExt cx="496" cy="254"/>
          </a:xfrm>
        </p:grpSpPr>
        <p:sp>
          <p:nvSpPr>
            <p:cNvPr id="50" name="Freeform 61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Freeform 62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Freeform 63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Freeform 64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4" name="Group 101"/>
          <p:cNvGrpSpPr>
            <a:grpSpLocks/>
          </p:cNvGrpSpPr>
          <p:nvPr/>
        </p:nvGrpSpPr>
        <p:grpSpPr bwMode="auto">
          <a:xfrm>
            <a:off x="5304442" y="2797866"/>
            <a:ext cx="2543004" cy="258974"/>
            <a:chOff x="3491" y="2533"/>
            <a:chExt cx="2402" cy="265"/>
          </a:xfrm>
        </p:grpSpPr>
        <p:sp>
          <p:nvSpPr>
            <p:cNvPr id="55" name="Line 70"/>
            <p:cNvSpPr>
              <a:spLocks noChangeShapeType="1"/>
            </p:cNvSpPr>
            <p:nvPr/>
          </p:nvSpPr>
          <p:spPr bwMode="auto">
            <a:xfrm>
              <a:off x="3491" y="2660"/>
              <a:ext cx="2402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Rectangle 73"/>
            <p:cNvSpPr>
              <a:spLocks noChangeArrowheads="1"/>
            </p:cNvSpPr>
            <p:nvPr/>
          </p:nvSpPr>
          <p:spPr bwMode="auto">
            <a:xfrm>
              <a:off x="4448" y="2533"/>
              <a:ext cx="712" cy="265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目的系统</a:t>
              </a:r>
            </a:p>
          </p:txBody>
        </p:sp>
      </p:grpSp>
      <p:grpSp>
        <p:nvGrpSpPr>
          <p:cNvPr id="57" name="Group 100"/>
          <p:cNvGrpSpPr>
            <a:grpSpLocks/>
          </p:cNvGrpSpPr>
          <p:nvPr/>
        </p:nvGrpSpPr>
        <p:grpSpPr bwMode="auto">
          <a:xfrm>
            <a:off x="3790497" y="2330736"/>
            <a:ext cx="1513945" cy="1191285"/>
            <a:chOff x="2061" y="2055"/>
            <a:chExt cx="1430" cy="1219"/>
          </a:xfrm>
        </p:grpSpPr>
        <p:sp>
          <p:nvSpPr>
            <p:cNvPr id="58" name="Line 69"/>
            <p:cNvSpPr>
              <a:spLocks noChangeShapeType="1"/>
            </p:cNvSpPr>
            <p:nvPr/>
          </p:nvSpPr>
          <p:spPr bwMode="auto">
            <a:xfrm>
              <a:off x="2061" y="2660"/>
              <a:ext cx="143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72"/>
            <p:cNvSpPr>
              <a:spLocks noChangeArrowheads="1"/>
            </p:cNvSpPr>
            <p:nvPr/>
          </p:nvSpPr>
          <p:spPr bwMode="auto">
            <a:xfrm>
              <a:off x="2402" y="2533"/>
              <a:ext cx="734" cy="265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传输系统</a:t>
              </a:r>
            </a:p>
          </p:txBody>
        </p:sp>
        <p:sp>
          <p:nvSpPr>
            <p:cNvPr id="60" name="Line 74"/>
            <p:cNvSpPr>
              <a:spLocks noChangeShapeType="1"/>
            </p:cNvSpPr>
            <p:nvPr/>
          </p:nvSpPr>
          <p:spPr bwMode="auto">
            <a:xfrm flipH="1">
              <a:off x="3489" y="2055"/>
              <a:ext cx="2" cy="121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61" name="Picture 7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161" y="2201737"/>
            <a:ext cx="568523" cy="32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Group 112"/>
          <p:cNvGrpSpPr>
            <a:grpSpLocks/>
          </p:cNvGrpSpPr>
          <p:nvPr/>
        </p:nvGrpSpPr>
        <p:grpSpPr bwMode="auto">
          <a:xfrm>
            <a:off x="7542331" y="3540007"/>
            <a:ext cx="641576" cy="751518"/>
            <a:chOff x="5154" y="3160"/>
            <a:chExt cx="606" cy="769"/>
          </a:xfrm>
        </p:grpSpPr>
        <p:sp>
          <p:nvSpPr>
            <p:cNvPr id="63" name="Rectangle 6"/>
            <p:cNvSpPr>
              <a:spLocks noChangeArrowheads="1"/>
            </p:cNvSpPr>
            <p:nvPr/>
          </p:nvSpPr>
          <p:spPr bwMode="auto">
            <a:xfrm>
              <a:off x="5175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输出信息</a:t>
              </a:r>
            </a:p>
          </p:txBody>
        </p:sp>
        <p:sp>
          <p:nvSpPr>
            <p:cNvPr id="64" name="Line 77"/>
            <p:cNvSpPr>
              <a:spLocks noChangeShapeType="1"/>
            </p:cNvSpPr>
            <p:nvPr/>
          </p:nvSpPr>
          <p:spPr bwMode="auto">
            <a:xfrm>
              <a:off x="5154" y="3160"/>
              <a:ext cx="6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5" name="Rectangle 79"/>
          <p:cNvSpPr>
            <a:spLocks noChangeArrowheads="1"/>
          </p:cNvSpPr>
          <p:nvPr/>
        </p:nvSpPr>
        <p:spPr bwMode="auto">
          <a:xfrm>
            <a:off x="7154820" y="2493938"/>
            <a:ext cx="68301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endParaRPr kumimoji="1" lang="en-US" altLang="zh-CN" sz="10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23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02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1356"/>
          <p:cNvGrpSpPr>
            <a:grpSpLocks/>
          </p:cNvGrpSpPr>
          <p:nvPr/>
        </p:nvGrpSpPr>
        <p:grpSpPr bwMode="auto">
          <a:xfrm>
            <a:off x="4064990" y="1933636"/>
            <a:ext cx="998523" cy="687000"/>
            <a:chOff x="2949" y="196"/>
            <a:chExt cx="941" cy="598"/>
          </a:xfrm>
          <a:solidFill>
            <a:schemeClr val="accent5"/>
          </a:solidFill>
        </p:grpSpPr>
        <p:sp>
          <p:nvSpPr>
            <p:cNvPr id="70" name="Oval 1357"/>
            <p:cNvSpPr>
              <a:spLocks noChangeArrowheads="1"/>
            </p:cNvSpPr>
            <p:nvPr/>
          </p:nvSpPr>
          <p:spPr bwMode="auto">
            <a:xfrm>
              <a:off x="3168" y="196"/>
              <a:ext cx="407" cy="1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1" name="Oval 1358"/>
            <p:cNvSpPr>
              <a:spLocks noChangeArrowheads="1"/>
            </p:cNvSpPr>
            <p:nvPr/>
          </p:nvSpPr>
          <p:spPr bwMode="auto">
            <a:xfrm rot="900000">
              <a:off x="3512" y="252"/>
              <a:ext cx="275" cy="13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2" name="Oval 1359"/>
            <p:cNvSpPr>
              <a:spLocks noChangeArrowheads="1"/>
            </p:cNvSpPr>
            <p:nvPr/>
          </p:nvSpPr>
          <p:spPr bwMode="auto">
            <a:xfrm rot="1500000">
              <a:off x="3650" y="385"/>
              <a:ext cx="240" cy="15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3" name="Oval 1360"/>
            <p:cNvSpPr>
              <a:spLocks noChangeArrowheads="1"/>
            </p:cNvSpPr>
            <p:nvPr/>
          </p:nvSpPr>
          <p:spPr bwMode="auto">
            <a:xfrm rot="-1560000">
              <a:off x="3573" y="537"/>
              <a:ext cx="291" cy="18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4" name="Oval 1361"/>
            <p:cNvSpPr>
              <a:spLocks noChangeArrowheads="1"/>
            </p:cNvSpPr>
            <p:nvPr/>
          </p:nvSpPr>
          <p:spPr bwMode="auto">
            <a:xfrm>
              <a:off x="3216" y="555"/>
              <a:ext cx="471" cy="23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5" name="Oval 1362"/>
            <p:cNvSpPr>
              <a:spLocks noChangeArrowheads="1"/>
            </p:cNvSpPr>
            <p:nvPr/>
          </p:nvSpPr>
          <p:spPr bwMode="auto">
            <a:xfrm rot="1080000">
              <a:off x="3023" y="555"/>
              <a:ext cx="26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6" name="Oval 1363"/>
            <p:cNvSpPr>
              <a:spLocks noChangeArrowheads="1"/>
            </p:cNvSpPr>
            <p:nvPr/>
          </p:nvSpPr>
          <p:spPr bwMode="auto">
            <a:xfrm>
              <a:off x="2949" y="432"/>
              <a:ext cx="217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7" name="Oval 1364"/>
            <p:cNvSpPr>
              <a:spLocks noChangeArrowheads="1"/>
            </p:cNvSpPr>
            <p:nvPr/>
          </p:nvSpPr>
          <p:spPr bwMode="auto">
            <a:xfrm rot="-1860000">
              <a:off x="2984" y="310"/>
              <a:ext cx="29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8" name="Freeform 1365"/>
            <p:cNvSpPr>
              <a:spLocks/>
            </p:cNvSpPr>
            <p:nvPr/>
          </p:nvSpPr>
          <p:spPr bwMode="auto">
            <a:xfrm>
              <a:off x="3051" y="300"/>
              <a:ext cx="738" cy="407"/>
            </a:xfrm>
            <a:custGeom>
              <a:avLst/>
              <a:gdLst>
                <a:gd name="T0" fmla="*/ 108 w 738"/>
                <a:gd name="T1" fmla="*/ 82 h 407"/>
                <a:gd name="T2" fmla="*/ 145 w 738"/>
                <a:gd name="T3" fmla="*/ 77 h 407"/>
                <a:gd name="T4" fmla="*/ 183 w 738"/>
                <a:gd name="T5" fmla="*/ 72 h 407"/>
                <a:gd name="T6" fmla="*/ 215 w 738"/>
                <a:gd name="T7" fmla="*/ 67 h 407"/>
                <a:gd name="T8" fmla="*/ 237 w 738"/>
                <a:gd name="T9" fmla="*/ 46 h 407"/>
                <a:gd name="T10" fmla="*/ 204 w 738"/>
                <a:gd name="T11" fmla="*/ 41 h 407"/>
                <a:gd name="T12" fmla="*/ 172 w 738"/>
                <a:gd name="T13" fmla="*/ 46 h 407"/>
                <a:gd name="T14" fmla="*/ 156 w 738"/>
                <a:gd name="T15" fmla="*/ 46 h 407"/>
                <a:gd name="T16" fmla="*/ 188 w 738"/>
                <a:gd name="T17" fmla="*/ 26 h 407"/>
                <a:gd name="T18" fmla="*/ 226 w 738"/>
                <a:gd name="T19" fmla="*/ 15 h 407"/>
                <a:gd name="T20" fmla="*/ 258 w 738"/>
                <a:gd name="T21" fmla="*/ 10 h 407"/>
                <a:gd name="T22" fmla="*/ 290 w 738"/>
                <a:gd name="T23" fmla="*/ 5 h 407"/>
                <a:gd name="T24" fmla="*/ 323 w 738"/>
                <a:gd name="T25" fmla="*/ 0 h 407"/>
                <a:gd name="T26" fmla="*/ 355 w 738"/>
                <a:gd name="T27" fmla="*/ 0 h 407"/>
                <a:gd name="T28" fmla="*/ 387 w 738"/>
                <a:gd name="T29" fmla="*/ 0 h 407"/>
                <a:gd name="T30" fmla="*/ 463 w 738"/>
                <a:gd name="T31" fmla="*/ 0 h 407"/>
                <a:gd name="T32" fmla="*/ 506 w 738"/>
                <a:gd name="T33" fmla="*/ 0 h 407"/>
                <a:gd name="T34" fmla="*/ 543 w 738"/>
                <a:gd name="T35" fmla="*/ 15 h 407"/>
                <a:gd name="T36" fmla="*/ 570 w 738"/>
                <a:gd name="T37" fmla="*/ 36 h 407"/>
                <a:gd name="T38" fmla="*/ 603 w 738"/>
                <a:gd name="T39" fmla="*/ 51 h 407"/>
                <a:gd name="T40" fmla="*/ 635 w 738"/>
                <a:gd name="T41" fmla="*/ 57 h 407"/>
                <a:gd name="T42" fmla="*/ 667 w 738"/>
                <a:gd name="T43" fmla="*/ 77 h 407"/>
                <a:gd name="T44" fmla="*/ 694 w 738"/>
                <a:gd name="T45" fmla="*/ 98 h 407"/>
                <a:gd name="T46" fmla="*/ 715 w 738"/>
                <a:gd name="T47" fmla="*/ 128 h 407"/>
                <a:gd name="T48" fmla="*/ 721 w 738"/>
                <a:gd name="T49" fmla="*/ 164 h 407"/>
                <a:gd name="T50" fmla="*/ 726 w 738"/>
                <a:gd name="T51" fmla="*/ 195 h 407"/>
                <a:gd name="T52" fmla="*/ 726 w 738"/>
                <a:gd name="T53" fmla="*/ 226 h 407"/>
                <a:gd name="T54" fmla="*/ 726 w 738"/>
                <a:gd name="T55" fmla="*/ 257 h 407"/>
                <a:gd name="T56" fmla="*/ 737 w 738"/>
                <a:gd name="T57" fmla="*/ 288 h 407"/>
                <a:gd name="T58" fmla="*/ 737 w 738"/>
                <a:gd name="T59" fmla="*/ 319 h 407"/>
                <a:gd name="T60" fmla="*/ 715 w 738"/>
                <a:gd name="T61" fmla="*/ 349 h 407"/>
                <a:gd name="T62" fmla="*/ 678 w 738"/>
                <a:gd name="T63" fmla="*/ 365 h 407"/>
                <a:gd name="T64" fmla="*/ 646 w 738"/>
                <a:gd name="T65" fmla="*/ 380 h 407"/>
                <a:gd name="T66" fmla="*/ 613 w 738"/>
                <a:gd name="T67" fmla="*/ 396 h 407"/>
                <a:gd name="T68" fmla="*/ 581 w 738"/>
                <a:gd name="T69" fmla="*/ 401 h 407"/>
                <a:gd name="T70" fmla="*/ 538 w 738"/>
                <a:gd name="T71" fmla="*/ 406 h 407"/>
                <a:gd name="T72" fmla="*/ 500 w 738"/>
                <a:gd name="T73" fmla="*/ 406 h 407"/>
                <a:gd name="T74" fmla="*/ 468 w 738"/>
                <a:gd name="T75" fmla="*/ 406 h 407"/>
                <a:gd name="T76" fmla="*/ 436 w 738"/>
                <a:gd name="T77" fmla="*/ 406 h 407"/>
                <a:gd name="T78" fmla="*/ 403 w 738"/>
                <a:gd name="T79" fmla="*/ 406 h 407"/>
                <a:gd name="T80" fmla="*/ 371 w 738"/>
                <a:gd name="T81" fmla="*/ 406 h 407"/>
                <a:gd name="T82" fmla="*/ 339 w 738"/>
                <a:gd name="T83" fmla="*/ 406 h 407"/>
                <a:gd name="T84" fmla="*/ 307 w 738"/>
                <a:gd name="T85" fmla="*/ 406 h 407"/>
                <a:gd name="T86" fmla="*/ 269 w 738"/>
                <a:gd name="T87" fmla="*/ 406 h 407"/>
                <a:gd name="T88" fmla="*/ 237 w 738"/>
                <a:gd name="T89" fmla="*/ 406 h 407"/>
                <a:gd name="T90" fmla="*/ 204 w 738"/>
                <a:gd name="T91" fmla="*/ 406 h 407"/>
                <a:gd name="T92" fmla="*/ 172 w 738"/>
                <a:gd name="T93" fmla="*/ 391 h 407"/>
                <a:gd name="T94" fmla="*/ 140 w 738"/>
                <a:gd name="T95" fmla="*/ 380 h 407"/>
                <a:gd name="T96" fmla="*/ 108 w 738"/>
                <a:gd name="T97" fmla="*/ 365 h 407"/>
                <a:gd name="T98" fmla="*/ 81 w 738"/>
                <a:gd name="T99" fmla="*/ 339 h 407"/>
                <a:gd name="T100" fmla="*/ 59 w 738"/>
                <a:gd name="T101" fmla="*/ 319 h 407"/>
                <a:gd name="T102" fmla="*/ 38 w 738"/>
                <a:gd name="T103" fmla="*/ 288 h 407"/>
                <a:gd name="T104" fmla="*/ 16 w 738"/>
                <a:gd name="T105" fmla="*/ 252 h 407"/>
                <a:gd name="T106" fmla="*/ 0 w 738"/>
                <a:gd name="T107" fmla="*/ 216 h 407"/>
                <a:gd name="T108" fmla="*/ 0 w 738"/>
                <a:gd name="T109" fmla="*/ 185 h 407"/>
                <a:gd name="T110" fmla="*/ 5 w 738"/>
                <a:gd name="T111" fmla="*/ 149 h 407"/>
                <a:gd name="T112" fmla="*/ 27 w 738"/>
                <a:gd name="T113" fmla="*/ 123 h 407"/>
                <a:gd name="T114" fmla="*/ 54 w 738"/>
                <a:gd name="T115" fmla="*/ 108 h 407"/>
                <a:gd name="T116" fmla="*/ 86 w 738"/>
                <a:gd name="T117" fmla="*/ 98 h 407"/>
                <a:gd name="T118" fmla="*/ 113 w 738"/>
                <a:gd name="T119" fmla="*/ 82 h 407"/>
                <a:gd name="T120" fmla="*/ 129 w 738"/>
                <a:gd name="T121" fmla="*/ 98 h 40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38"/>
                <a:gd name="T184" fmla="*/ 0 h 407"/>
                <a:gd name="T185" fmla="*/ 738 w 738"/>
                <a:gd name="T186" fmla="*/ 407 h 40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38" h="407">
                  <a:moveTo>
                    <a:pt x="91" y="82"/>
                  </a:moveTo>
                  <a:lnTo>
                    <a:pt x="108" y="82"/>
                  </a:lnTo>
                  <a:lnTo>
                    <a:pt x="124" y="82"/>
                  </a:lnTo>
                  <a:lnTo>
                    <a:pt x="145" y="77"/>
                  </a:lnTo>
                  <a:lnTo>
                    <a:pt x="161" y="77"/>
                  </a:lnTo>
                  <a:lnTo>
                    <a:pt x="183" y="72"/>
                  </a:lnTo>
                  <a:lnTo>
                    <a:pt x="199" y="72"/>
                  </a:lnTo>
                  <a:lnTo>
                    <a:pt x="215" y="67"/>
                  </a:lnTo>
                  <a:lnTo>
                    <a:pt x="231" y="62"/>
                  </a:lnTo>
                  <a:lnTo>
                    <a:pt x="237" y="46"/>
                  </a:lnTo>
                  <a:lnTo>
                    <a:pt x="221" y="41"/>
                  </a:lnTo>
                  <a:lnTo>
                    <a:pt x="204" y="41"/>
                  </a:lnTo>
                  <a:lnTo>
                    <a:pt x="188" y="46"/>
                  </a:lnTo>
                  <a:lnTo>
                    <a:pt x="172" y="46"/>
                  </a:lnTo>
                  <a:lnTo>
                    <a:pt x="156" y="62"/>
                  </a:lnTo>
                  <a:lnTo>
                    <a:pt x="156" y="46"/>
                  </a:lnTo>
                  <a:lnTo>
                    <a:pt x="172" y="36"/>
                  </a:lnTo>
                  <a:lnTo>
                    <a:pt x="188" y="26"/>
                  </a:lnTo>
                  <a:lnTo>
                    <a:pt x="210" y="21"/>
                  </a:lnTo>
                  <a:lnTo>
                    <a:pt x="226" y="15"/>
                  </a:lnTo>
                  <a:lnTo>
                    <a:pt x="242" y="15"/>
                  </a:lnTo>
                  <a:lnTo>
                    <a:pt x="258" y="10"/>
                  </a:lnTo>
                  <a:lnTo>
                    <a:pt x="274" y="10"/>
                  </a:lnTo>
                  <a:lnTo>
                    <a:pt x="290" y="5"/>
                  </a:lnTo>
                  <a:lnTo>
                    <a:pt x="307" y="5"/>
                  </a:lnTo>
                  <a:lnTo>
                    <a:pt x="323" y="0"/>
                  </a:lnTo>
                  <a:lnTo>
                    <a:pt x="339" y="0"/>
                  </a:lnTo>
                  <a:lnTo>
                    <a:pt x="355" y="0"/>
                  </a:lnTo>
                  <a:lnTo>
                    <a:pt x="371" y="0"/>
                  </a:lnTo>
                  <a:lnTo>
                    <a:pt x="387" y="0"/>
                  </a:lnTo>
                  <a:lnTo>
                    <a:pt x="420" y="0"/>
                  </a:lnTo>
                  <a:lnTo>
                    <a:pt x="463" y="0"/>
                  </a:lnTo>
                  <a:lnTo>
                    <a:pt x="484" y="0"/>
                  </a:lnTo>
                  <a:lnTo>
                    <a:pt x="506" y="0"/>
                  </a:lnTo>
                  <a:lnTo>
                    <a:pt x="527" y="5"/>
                  </a:lnTo>
                  <a:lnTo>
                    <a:pt x="543" y="15"/>
                  </a:lnTo>
                  <a:lnTo>
                    <a:pt x="554" y="31"/>
                  </a:lnTo>
                  <a:lnTo>
                    <a:pt x="570" y="36"/>
                  </a:lnTo>
                  <a:lnTo>
                    <a:pt x="586" y="46"/>
                  </a:lnTo>
                  <a:lnTo>
                    <a:pt x="603" y="51"/>
                  </a:lnTo>
                  <a:lnTo>
                    <a:pt x="619" y="51"/>
                  </a:lnTo>
                  <a:lnTo>
                    <a:pt x="635" y="57"/>
                  </a:lnTo>
                  <a:lnTo>
                    <a:pt x="651" y="67"/>
                  </a:lnTo>
                  <a:lnTo>
                    <a:pt x="667" y="77"/>
                  </a:lnTo>
                  <a:lnTo>
                    <a:pt x="678" y="93"/>
                  </a:lnTo>
                  <a:lnTo>
                    <a:pt x="694" y="98"/>
                  </a:lnTo>
                  <a:lnTo>
                    <a:pt x="699" y="113"/>
                  </a:lnTo>
                  <a:lnTo>
                    <a:pt x="715" y="128"/>
                  </a:lnTo>
                  <a:lnTo>
                    <a:pt x="721" y="149"/>
                  </a:lnTo>
                  <a:lnTo>
                    <a:pt x="721" y="164"/>
                  </a:lnTo>
                  <a:lnTo>
                    <a:pt x="726" y="180"/>
                  </a:lnTo>
                  <a:lnTo>
                    <a:pt x="726" y="195"/>
                  </a:lnTo>
                  <a:lnTo>
                    <a:pt x="726" y="211"/>
                  </a:lnTo>
                  <a:lnTo>
                    <a:pt x="726" y="226"/>
                  </a:lnTo>
                  <a:lnTo>
                    <a:pt x="726" y="242"/>
                  </a:lnTo>
                  <a:lnTo>
                    <a:pt x="726" y="257"/>
                  </a:lnTo>
                  <a:lnTo>
                    <a:pt x="737" y="272"/>
                  </a:lnTo>
                  <a:lnTo>
                    <a:pt x="737" y="288"/>
                  </a:lnTo>
                  <a:lnTo>
                    <a:pt x="737" y="303"/>
                  </a:lnTo>
                  <a:lnTo>
                    <a:pt x="737" y="319"/>
                  </a:lnTo>
                  <a:lnTo>
                    <a:pt x="732" y="334"/>
                  </a:lnTo>
                  <a:lnTo>
                    <a:pt x="715" y="349"/>
                  </a:lnTo>
                  <a:lnTo>
                    <a:pt x="694" y="360"/>
                  </a:lnTo>
                  <a:lnTo>
                    <a:pt x="678" y="365"/>
                  </a:lnTo>
                  <a:lnTo>
                    <a:pt x="662" y="375"/>
                  </a:lnTo>
                  <a:lnTo>
                    <a:pt x="646" y="380"/>
                  </a:lnTo>
                  <a:lnTo>
                    <a:pt x="629" y="385"/>
                  </a:lnTo>
                  <a:lnTo>
                    <a:pt x="613" y="396"/>
                  </a:lnTo>
                  <a:lnTo>
                    <a:pt x="597" y="401"/>
                  </a:lnTo>
                  <a:lnTo>
                    <a:pt x="581" y="401"/>
                  </a:lnTo>
                  <a:lnTo>
                    <a:pt x="559" y="406"/>
                  </a:lnTo>
                  <a:lnTo>
                    <a:pt x="538" y="406"/>
                  </a:lnTo>
                  <a:lnTo>
                    <a:pt x="522" y="406"/>
                  </a:lnTo>
                  <a:lnTo>
                    <a:pt x="500" y="406"/>
                  </a:lnTo>
                  <a:lnTo>
                    <a:pt x="484" y="406"/>
                  </a:lnTo>
                  <a:lnTo>
                    <a:pt x="468" y="406"/>
                  </a:lnTo>
                  <a:lnTo>
                    <a:pt x="452" y="406"/>
                  </a:lnTo>
                  <a:lnTo>
                    <a:pt x="436" y="406"/>
                  </a:lnTo>
                  <a:lnTo>
                    <a:pt x="420" y="406"/>
                  </a:lnTo>
                  <a:lnTo>
                    <a:pt x="403" y="406"/>
                  </a:lnTo>
                  <a:lnTo>
                    <a:pt x="387" y="406"/>
                  </a:lnTo>
                  <a:lnTo>
                    <a:pt x="371" y="406"/>
                  </a:lnTo>
                  <a:lnTo>
                    <a:pt x="355" y="406"/>
                  </a:lnTo>
                  <a:lnTo>
                    <a:pt x="339" y="406"/>
                  </a:lnTo>
                  <a:lnTo>
                    <a:pt x="323" y="406"/>
                  </a:lnTo>
                  <a:lnTo>
                    <a:pt x="307" y="406"/>
                  </a:lnTo>
                  <a:lnTo>
                    <a:pt x="285" y="406"/>
                  </a:lnTo>
                  <a:lnTo>
                    <a:pt x="269" y="406"/>
                  </a:lnTo>
                  <a:lnTo>
                    <a:pt x="253" y="406"/>
                  </a:lnTo>
                  <a:lnTo>
                    <a:pt x="237" y="406"/>
                  </a:lnTo>
                  <a:lnTo>
                    <a:pt x="221" y="406"/>
                  </a:lnTo>
                  <a:lnTo>
                    <a:pt x="204" y="406"/>
                  </a:lnTo>
                  <a:lnTo>
                    <a:pt x="188" y="396"/>
                  </a:lnTo>
                  <a:lnTo>
                    <a:pt x="172" y="391"/>
                  </a:lnTo>
                  <a:lnTo>
                    <a:pt x="156" y="385"/>
                  </a:lnTo>
                  <a:lnTo>
                    <a:pt x="140" y="380"/>
                  </a:lnTo>
                  <a:lnTo>
                    <a:pt x="124" y="375"/>
                  </a:lnTo>
                  <a:lnTo>
                    <a:pt x="108" y="365"/>
                  </a:lnTo>
                  <a:lnTo>
                    <a:pt x="91" y="355"/>
                  </a:lnTo>
                  <a:lnTo>
                    <a:pt x="81" y="339"/>
                  </a:lnTo>
                  <a:lnTo>
                    <a:pt x="65" y="334"/>
                  </a:lnTo>
                  <a:lnTo>
                    <a:pt x="59" y="319"/>
                  </a:lnTo>
                  <a:lnTo>
                    <a:pt x="43" y="303"/>
                  </a:lnTo>
                  <a:lnTo>
                    <a:pt x="38" y="288"/>
                  </a:lnTo>
                  <a:lnTo>
                    <a:pt x="22" y="272"/>
                  </a:lnTo>
                  <a:lnTo>
                    <a:pt x="16" y="252"/>
                  </a:lnTo>
                  <a:lnTo>
                    <a:pt x="5" y="231"/>
                  </a:lnTo>
                  <a:lnTo>
                    <a:pt x="0" y="216"/>
                  </a:lnTo>
                  <a:lnTo>
                    <a:pt x="0" y="200"/>
                  </a:lnTo>
                  <a:lnTo>
                    <a:pt x="0" y="185"/>
                  </a:lnTo>
                  <a:lnTo>
                    <a:pt x="0" y="170"/>
                  </a:lnTo>
                  <a:lnTo>
                    <a:pt x="5" y="149"/>
                  </a:lnTo>
                  <a:lnTo>
                    <a:pt x="11" y="134"/>
                  </a:lnTo>
                  <a:lnTo>
                    <a:pt x="27" y="123"/>
                  </a:lnTo>
                  <a:lnTo>
                    <a:pt x="38" y="108"/>
                  </a:lnTo>
                  <a:lnTo>
                    <a:pt x="54" y="108"/>
                  </a:lnTo>
                  <a:lnTo>
                    <a:pt x="70" y="103"/>
                  </a:lnTo>
                  <a:lnTo>
                    <a:pt x="86" y="98"/>
                  </a:lnTo>
                  <a:lnTo>
                    <a:pt x="102" y="98"/>
                  </a:lnTo>
                  <a:lnTo>
                    <a:pt x="113" y="82"/>
                  </a:lnTo>
                  <a:lnTo>
                    <a:pt x="113" y="67"/>
                  </a:lnTo>
                  <a:lnTo>
                    <a:pt x="129" y="9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366"/>
            <p:cNvSpPr>
              <a:spLocks/>
            </p:cNvSpPr>
            <p:nvPr/>
          </p:nvSpPr>
          <p:spPr bwMode="auto">
            <a:xfrm>
              <a:off x="3193" y="270"/>
              <a:ext cx="117" cy="118"/>
            </a:xfrm>
            <a:custGeom>
              <a:avLst/>
              <a:gdLst>
                <a:gd name="T0" fmla="*/ 5 w 117"/>
                <a:gd name="T1" fmla="*/ 66 h 118"/>
                <a:gd name="T2" fmla="*/ 0 w 117"/>
                <a:gd name="T3" fmla="*/ 51 h 118"/>
                <a:gd name="T4" fmla="*/ 0 w 117"/>
                <a:gd name="T5" fmla="*/ 36 h 118"/>
                <a:gd name="T6" fmla="*/ 16 w 117"/>
                <a:gd name="T7" fmla="*/ 25 h 118"/>
                <a:gd name="T8" fmla="*/ 32 w 117"/>
                <a:gd name="T9" fmla="*/ 15 h 118"/>
                <a:gd name="T10" fmla="*/ 47 w 117"/>
                <a:gd name="T11" fmla="*/ 0 h 118"/>
                <a:gd name="T12" fmla="*/ 63 w 117"/>
                <a:gd name="T13" fmla="*/ 0 h 118"/>
                <a:gd name="T14" fmla="*/ 79 w 117"/>
                <a:gd name="T15" fmla="*/ 0 h 118"/>
                <a:gd name="T16" fmla="*/ 84 w 117"/>
                <a:gd name="T17" fmla="*/ 15 h 118"/>
                <a:gd name="T18" fmla="*/ 95 w 117"/>
                <a:gd name="T19" fmla="*/ 31 h 118"/>
                <a:gd name="T20" fmla="*/ 105 w 117"/>
                <a:gd name="T21" fmla="*/ 46 h 118"/>
                <a:gd name="T22" fmla="*/ 111 w 117"/>
                <a:gd name="T23" fmla="*/ 61 h 118"/>
                <a:gd name="T24" fmla="*/ 116 w 117"/>
                <a:gd name="T25" fmla="*/ 76 h 118"/>
                <a:gd name="T26" fmla="*/ 116 w 117"/>
                <a:gd name="T27" fmla="*/ 92 h 118"/>
                <a:gd name="T28" fmla="*/ 116 w 117"/>
                <a:gd name="T29" fmla="*/ 107 h 118"/>
                <a:gd name="T30" fmla="*/ 100 w 117"/>
                <a:gd name="T31" fmla="*/ 117 h 118"/>
                <a:gd name="T32" fmla="*/ 84 w 117"/>
                <a:gd name="T33" fmla="*/ 117 h 118"/>
                <a:gd name="T34" fmla="*/ 69 w 117"/>
                <a:gd name="T35" fmla="*/ 117 h 118"/>
                <a:gd name="T36" fmla="*/ 53 w 117"/>
                <a:gd name="T37" fmla="*/ 117 h 118"/>
                <a:gd name="T38" fmla="*/ 37 w 117"/>
                <a:gd name="T39" fmla="*/ 112 h 118"/>
                <a:gd name="T40" fmla="*/ 21 w 117"/>
                <a:gd name="T41" fmla="*/ 102 h 118"/>
                <a:gd name="T42" fmla="*/ 11 w 117"/>
                <a:gd name="T43" fmla="*/ 86 h 118"/>
                <a:gd name="T44" fmla="*/ 5 w 117"/>
                <a:gd name="T45" fmla="*/ 71 h 118"/>
                <a:gd name="T46" fmla="*/ 5 w 117"/>
                <a:gd name="T47" fmla="*/ 66 h 1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17"/>
                <a:gd name="T73" fmla="*/ 0 h 118"/>
                <a:gd name="T74" fmla="*/ 117 w 117"/>
                <a:gd name="T75" fmla="*/ 118 h 11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17" h="118">
                  <a:moveTo>
                    <a:pt x="5" y="66"/>
                  </a:moveTo>
                  <a:lnTo>
                    <a:pt x="0" y="51"/>
                  </a:lnTo>
                  <a:lnTo>
                    <a:pt x="0" y="36"/>
                  </a:lnTo>
                  <a:lnTo>
                    <a:pt x="16" y="25"/>
                  </a:lnTo>
                  <a:lnTo>
                    <a:pt x="32" y="15"/>
                  </a:lnTo>
                  <a:lnTo>
                    <a:pt x="47" y="0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84" y="15"/>
                  </a:lnTo>
                  <a:lnTo>
                    <a:pt x="95" y="31"/>
                  </a:lnTo>
                  <a:lnTo>
                    <a:pt x="105" y="46"/>
                  </a:lnTo>
                  <a:lnTo>
                    <a:pt x="111" y="61"/>
                  </a:lnTo>
                  <a:lnTo>
                    <a:pt x="116" y="76"/>
                  </a:lnTo>
                  <a:lnTo>
                    <a:pt x="116" y="92"/>
                  </a:lnTo>
                  <a:lnTo>
                    <a:pt x="116" y="107"/>
                  </a:lnTo>
                  <a:lnTo>
                    <a:pt x="100" y="117"/>
                  </a:lnTo>
                  <a:lnTo>
                    <a:pt x="84" y="117"/>
                  </a:lnTo>
                  <a:lnTo>
                    <a:pt x="69" y="117"/>
                  </a:lnTo>
                  <a:lnTo>
                    <a:pt x="53" y="117"/>
                  </a:lnTo>
                  <a:lnTo>
                    <a:pt x="37" y="112"/>
                  </a:lnTo>
                  <a:lnTo>
                    <a:pt x="21" y="102"/>
                  </a:lnTo>
                  <a:lnTo>
                    <a:pt x="11" y="86"/>
                  </a:lnTo>
                  <a:lnTo>
                    <a:pt x="5" y="71"/>
                  </a:lnTo>
                  <a:lnTo>
                    <a:pt x="5" y="66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367"/>
            <p:cNvSpPr>
              <a:spLocks/>
            </p:cNvSpPr>
            <p:nvPr/>
          </p:nvSpPr>
          <p:spPr bwMode="auto">
            <a:xfrm>
              <a:off x="3469" y="239"/>
              <a:ext cx="82" cy="87"/>
            </a:xfrm>
            <a:custGeom>
              <a:avLst/>
              <a:gdLst>
                <a:gd name="T0" fmla="*/ 0 w 82"/>
                <a:gd name="T1" fmla="*/ 0 h 87"/>
                <a:gd name="T2" fmla="*/ 16 w 82"/>
                <a:gd name="T3" fmla="*/ 10 h 87"/>
                <a:gd name="T4" fmla="*/ 32 w 82"/>
                <a:gd name="T5" fmla="*/ 20 h 87"/>
                <a:gd name="T6" fmla="*/ 49 w 82"/>
                <a:gd name="T7" fmla="*/ 20 h 87"/>
                <a:gd name="T8" fmla="*/ 65 w 82"/>
                <a:gd name="T9" fmla="*/ 30 h 87"/>
                <a:gd name="T10" fmla="*/ 76 w 82"/>
                <a:gd name="T11" fmla="*/ 46 h 87"/>
                <a:gd name="T12" fmla="*/ 81 w 82"/>
                <a:gd name="T13" fmla="*/ 61 h 87"/>
                <a:gd name="T14" fmla="*/ 81 w 82"/>
                <a:gd name="T15" fmla="*/ 76 h 87"/>
                <a:gd name="T16" fmla="*/ 65 w 82"/>
                <a:gd name="T17" fmla="*/ 86 h 87"/>
                <a:gd name="T18" fmla="*/ 49 w 82"/>
                <a:gd name="T19" fmla="*/ 86 h 87"/>
                <a:gd name="T20" fmla="*/ 27 w 82"/>
                <a:gd name="T21" fmla="*/ 81 h 87"/>
                <a:gd name="T22" fmla="*/ 11 w 82"/>
                <a:gd name="T23" fmla="*/ 71 h 87"/>
                <a:gd name="T24" fmla="*/ 5 w 82"/>
                <a:gd name="T25" fmla="*/ 56 h 87"/>
                <a:gd name="T26" fmla="*/ 0 w 82"/>
                <a:gd name="T27" fmla="*/ 40 h 87"/>
                <a:gd name="T28" fmla="*/ 0 w 82"/>
                <a:gd name="T29" fmla="*/ 25 h 87"/>
                <a:gd name="T30" fmla="*/ 11 w 82"/>
                <a:gd name="T31" fmla="*/ 10 h 87"/>
                <a:gd name="T32" fmla="*/ 0 w 82"/>
                <a:gd name="T33" fmla="*/ 0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2"/>
                <a:gd name="T52" fmla="*/ 0 h 87"/>
                <a:gd name="T53" fmla="*/ 82 w 82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2" h="87">
                  <a:moveTo>
                    <a:pt x="0" y="0"/>
                  </a:moveTo>
                  <a:lnTo>
                    <a:pt x="16" y="10"/>
                  </a:lnTo>
                  <a:lnTo>
                    <a:pt x="32" y="20"/>
                  </a:lnTo>
                  <a:lnTo>
                    <a:pt x="49" y="20"/>
                  </a:lnTo>
                  <a:lnTo>
                    <a:pt x="65" y="30"/>
                  </a:lnTo>
                  <a:lnTo>
                    <a:pt x="76" y="46"/>
                  </a:lnTo>
                  <a:lnTo>
                    <a:pt x="81" y="61"/>
                  </a:lnTo>
                  <a:lnTo>
                    <a:pt x="81" y="76"/>
                  </a:lnTo>
                  <a:lnTo>
                    <a:pt x="65" y="86"/>
                  </a:lnTo>
                  <a:lnTo>
                    <a:pt x="49" y="86"/>
                  </a:lnTo>
                  <a:lnTo>
                    <a:pt x="27" y="81"/>
                  </a:lnTo>
                  <a:lnTo>
                    <a:pt x="11" y="71"/>
                  </a:lnTo>
                  <a:lnTo>
                    <a:pt x="5" y="56"/>
                  </a:lnTo>
                  <a:lnTo>
                    <a:pt x="0" y="40"/>
                  </a:lnTo>
                  <a:lnTo>
                    <a:pt x="0" y="25"/>
                  </a:lnTo>
                  <a:lnTo>
                    <a:pt x="11" y="1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Rectangle 43"/>
          <p:cNvSpPr>
            <a:spLocks noChangeArrowheads="1"/>
          </p:cNvSpPr>
          <p:nvPr/>
        </p:nvSpPr>
        <p:spPr bwMode="auto">
          <a:xfrm>
            <a:off x="4105398" y="2170206"/>
            <a:ext cx="888065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zh-CN" altLang="en-US" sz="1100" b="1" dirty="0">
                <a:latin typeface="微软雅黑" pitchFamily="34" charset="-122"/>
                <a:ea typeface="微软雅黑" pitchFamily="34" charset="-122"/>
              </a:rPr>
              <a:t>公用电话网</a:t>
            </a:r>
          </a:p>
        </p:txBody>
      </p:sp>
      <p:grpSp>
        <p:nvGrpSpPr>
          <p:cNvPr id="82" name="Group 113"/>
          <p:cNvGrpSpPr>
            <a:grpSpLocks/>
          </p:cNvGrpSpPr>
          <p:nvPr/>
        </p:nvGrpSpPr>
        <p:grpSpPr bwMode="auto">
          <a:xfrm>
            <a:off x="986463" y="1584543"/>
            <a:ext cx="7209379" cy="273724"/>
            <a:chOff x="409" y="1268"/>
            <a:chExt cx="3939" cy="149"/>
          </a:xfrm>
        </p:grpSpPr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409" y="1351"/>
              <a:ext cx="3939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CC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2053" y="1268"/>
              <a:ext cx="615" cy="149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数据通信系统</a:t>
              </a:r>
            </a:p>
          </p:txBody>
        </p:sp>
      </p:grpSp>
      <p:grpSp>
        <p:nvGrpSpPr>
          <p:cNvPr id="85" name="Group 107"/>
          <p:cNvGrpSpPr>
            <a:grpSpLocks/>
          </p:cNvGrpSpPr>
          <p:nvPr/>
        </p:nvGrpSpPr>
        <p:grpSpPr bwMode="auto">
          <a:xfrm>
            <a:off x="4216093" y="3316209"/>
            <a:ext cx="683922" cy="467132"/>
            <a:chOff x="2463" y="2931"/>
            <a:chExt cx="646" cy="478"/>
          </a:xfrm>
        </p:grpSpPr>
        <p:sp>
          <p:nvSpPr>
            <p:cNvPr id="86" name="AutoShape 13"/>
            <p:cNvSpPr>
              <a:spLocks noChangeArrowheads="1"/>
            </p:cNvSpPr>
            <p:nvPr/>
          </p:nvSpPr>
          <p:spPr bwMode="auto">
            <a:xfrm>
              <a:off x="2463" y="2931"/>
              <a:ext cx="646" cy="458"/>
            </a:xfrm>
            <a:prstGeom prst="cube">
              <a:avLst>
                <a:gd name="adj" fmla="val 13069"/>
              </a:avLst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Rectangle 16"/>
            <p:cNvSpPr>
              <a:spLocks noChangeArrowheads="1"/>
            </p:cNvSpPr>
            <p:nvPr/>
          </p:nvSpPr>
          <p:spPr bwMode="auto">
            <a:xfrm>
              <a:off x="2546" y="2971"/>
              <a:ext cx="508" cy="4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</a:t>
              </a:r>
            </a:p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系统</a:t>
              </a:r>
            </a:p>
          </p:txBody>
        </p:sp>
      </p:grpSp>
      <p:grpSp>
        <p:nvGrpSpPr>
          <p:cNvPr id="88" name="Group 99"/>
          <p:cNvGrpSpPr>
            <a:grpSpLocks/>
          </p:cNvGrpSpPr>
          <p:nvPr/>
        </p:nvGrpSpPr>
        <p:grpSpPr bwMode="auto">
          <a:xfrm>
            <a:off x="1356538" y="2339533"/>
            <a:ext cx="2433958" cy="1173695"/>
            <a:chOff x="-238" y="2064"/>
            <a:chExt cx="2299" cy="1201"/>
          </a:xfrm>
        </p:grpSpPr>
        <p:sp>
          <p:nvSpPr>
            <p:cNvPr id="89" name="Line 68"/>
            <p:cNvSpPr>
              <a:spLocks noChangeShapeType="1"/>
            </p:cNvSpPr>
            <p:nvPr/>
          </p:nvSpPr>
          <p:spPr bwMode="auto">
            <a:xfrm>
              <a:off x="2061" y="2064"/>
              <a:ext cx="0" cy="120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90" name="Group 98"/>
            <p:cNvGrpSpPr>
              <a:grpSpLocks/>
            </p:cNvGrpSpPr>
            <p:nvPr/>
          </p:nvGrpSpPr>
          <p:grpSpPr bwMode="auto">
            <a:xfrm>
              <a:off x="-238" y="2523"/>
              <a:ext cx="2299" cy="265"/>
              <a:chOff x="-238" y="2523"/>
              <a:chExt cx="2299" cy="265"/>
            </a:xfrm>
          </p:grpSpPr>
          <p:sp>
            <p:nvSpPr>
              <p:cNvPr id="91" name="Line 67"/>
              <p:cNvSpPr>
                <a:spLocks noChangeShapeType="1"/>
              </p:cNvSpPr>
              <p:nvPr/>
            </p:nvSpPr>
            <p:spPr bwMode="auto">
              <a:xfrm>
                <a:off x="-238" y="2660"/>
                <a:ext cx="2299" cy="0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prstDash val="sysDot"/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Rectangle 71"/>
              <p:cNvSpPr>
                <a:spLocks noChangeArrowheads="1"/>
              </p:cNvSpPr>
              <p:nvPr/>
            </p:nvSpPr>
            <p:spPr bwMode="auto">
              <a:xfrm>
                <a:off x="530" y="2523"/>
                <a:ext cx="620" cy="265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 algn="ctr" defTabSz="762000" eaLnBrk="0" hangingPunct="0"/>
                <a:r>
                  <a:rPr kumimoji="1" lang="zh-CN" altLang="en-US" sz="11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源系统</a:t>
                </a:r>
              </a:p>
            </p:txBody>
          </p:sp>
        </p:grpSp>
      </p:grpSp>
      <p:grpSp>
        <p:nvGrpSpPr>
          <p:cNvPr id="93" name="Group 104"/>
          <p:cNvGrpSpPr>
            <a:grpSpLocks/>
          </p:cNvGrpSpPr>
          <p:nvPr/>
        </p:nvGrpSpPr>
        <p:grpSpPr bwMode="auto">
          <a:xfrm>
            <a:off x="1052021" y="3540006"/>
            <a:ext cx="617225" cy="706563"/>
            <a:chOff x="800" y="3160"/>
            <a:chExt cx="583" cy="723"/>
          </a:xfrm>
        </p:grpSpPr>
        <p:sp>
          <p:nvSpPr>
            <p:cNvPr id="94" name="Rectangle 7"/>
            <p:cNvSpPr>
              <a:spLocks noChangeArrowheads="1"/>
            </p:cNvSpPr>
            <p:nvPr/>
          </p:nvSpPr>
          <p:spPr bwMode="auto">
            <a:xfrm>
              <a:off x="90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输入信息</a:t>
              </a:r>
            </a:p>
          </p:txBody>
        </p:sp>
        <p:sp>
          <p:nvSpPr>
            <p:cNvPr id="95" name="Line 18"/>
            <p:cNvSpPr>
              <a:spLocks noChangeShapeType="1"/>
            </p:cNvSpPr>
            <p:nvPr/>
          </p:nvSpPr>
          <p:spPr bwMode="auto">
            <a:xfrm>
              <a:off x="800" y="3160"/>
              <a:ext cx="58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280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00"/>
                            </p:stCondLst>
                            <p:childTnLst>
                              <p:par>
                                <p:cTn id="20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500"/>
                            </p:stCondLst>
                            <p:childTnLst>
                              <p:par>
                                <p:cTn id="26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2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8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966823" y="1570008"/>
            <a:ext cx="6628537" cy="2518913"/>
          </a:xfrm>
        </p:spPr>
        <p:txBody>
          <a:bodyPr/>
          <a:lstStyle/>
          <a:p>
            <a:r>
              <a:rPr lang="zh-CN" altLang="zh-CN" dirty="0">
                <a:solidFill>
                  <a:srgbClr val="0000FF"/>
                </a:solidFill>
              </a:rPr>
              <a:t>消息</a:t>
            </a:r>
            <a:r>
              <a:rPr lang="en-US" altLang="zh-CN" dirty="0"/>
              <a:t>(message)</a:t>
            </a:r>
            <a:r>
              <a:rPr lang="zh-CN" altLang="en-US" dirty="0"/>
              <a:t>：</a:t>
            </a:r>
            <a:r>
              <a:rPr lang="zh-CN" altLang="zh-CN" dirty="0"/>
              <a:t>如话音、文字、图像、视频等。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数据 </a:t>
            </a:r>
            <a:r>
              <a:rPr lang="en-US" altLang="zh-CN" dirty="0"/>
              <a:t>(data)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运送消息的实体。有意义的符号序列。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pic>
        <p:nvPicPr>
          <p:cNvPr id="9220" name="Picture 4" descr="查看源图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00" y="1292053"/>
            <a:ext cx="1124653" cy="1428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739400" y="2822987"/>
            <a:ext cx="112465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11001001001100111101011011001110……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4794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1235853" y="1713034"/>
            <a:ext cx="783565" cy="288984"/>
          </a:xfrm>
          <a:custGeom>
            <a:avLst/>
            <a:gdLst>
              <a:gd name="T0" fmla="*/ 0 w 1008"/>
              <a:gd name="T1" fmla="*/ 384 h 704"/>
              <a:gd name="T2" fmla="*/ 192 w 1008"/>
              <a:gd name="T3" fmla="*/ 48 h 704"/>
              <a:gd name="T4" fmla="*/ 480 w 1008"/>
              <a:gd name="T5" fmla="*/ 672 h 704"/>
              <a:gd name="T6" fmla="*/ 720 w 1008"/>
              <a:gd name="T7" fmla="*/ 240 h 704"/>
              <a:gd name="T8" fmla="*/ 864 w 1008"/>
              <a:gd name="T9" fmla="*/ 576 h 704"/>
              <a:gd name="T10" fmla="*/ 1008 w 1008"/>
              <a:gd name="T11" fmla="*/ 14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704">
                <a:moveTo>
                  <a:pt x="0" y="384"/>
                </a:moveTo>
                <a:cubicBezTo>
                  <a:pt x="56" y="192"/>
                  <a:pt x="112" y="0"/>
                  <a:pt x="192" y="48"/>
                </a:cubicBezTo>
                <a:cubicBezTo>
                  <a:pt x="272" y="96"/>
                  <a:pt x="392" y="640"/>
                  <a:pt x="480" y="672"/>
                </a:cubicBezTo>
                <a:cubicBezTo>
                  <a:pt x="568" y="704"/>
                  <a:pt x="656" y="256"/>
                  <a:pt x="720" y="240"/>
                </a:cubicBezTo>
                <a:cubicBezTo>
                  <a:pt x="784" y="224"/>
                  <a:pt x="816" y="592"/>
                  <a:pt x="864" y="576"/>
                </a:cubicBezTo>
                <a:cubicBezTo>
                  <a:pt x="912" y="560"/>
                  <a:pt x="960" y="352"/>
                  <a:pt x="1008" y="144"/>
                </a:cubicBezTo>
              </a:path>
            </a:pathLst>
          </a:custGeom>
          <a:noFill/>
          <a:ln w="571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168528" y="2507197"/>
            <a:ext cx="891947" cy="320856"/>
          </a:xfrm>
          <a:custGeom>
            <a:avLst/>
            <a:gdLst>
              <a:gd name="T0" fmla="*/ 0 w 1056"/>
              <a:gd name="T1" fmla="*/ 174 h 480"/>
              <a:gd name="T2" fmla="*/ 79 w 1056"/>
              <a:gd name="T3" fmla="*/ 174 h 480"/>
              <a:gd name="T4" fmla="*/ 79 w 1056"/>
              <a:gd name="T5" fmla="*/ 0 h 480"/>
              <a:gd name="T6" fmla="*/ 212 w 1056"/>
              <a:gd name="T7" fmla="*/ 0 h 480"/>
              <a:gd name="T8" fmla="*/ 212 w 1056"/>
              <a:gd name="T9" fmla="*/ 174 h 480"/>
              <a:gd name="T10" fmla="*/ 344 w 1056"/>
              <a:gd name="T11" fmla="*/ 174 h 480"/>
              <a:gd name="T12" fmla="*/ 344 w 1056"/>
              <a:gd name="T13" fmla="*/ 0 h 480"/>
              <a:gd name="T14" fmla="*/ 477 w 1056"/>
              <a:gd name="T15" fmla="*/ 0 h 480"/>
              <a:gd name="T16" fmla="*/ 477 w 1056"/>
              <a:gd name="T17" fmla="*/ 174 h 480"/>
              <a:gd name="T18" fmla="*/ 582 w 1056"/>
              <a:gd name="T19" fmla="*/ 174 h 4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56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  <a:lnTo>
                  <a:pt x="384" y="0"/>
                </a:lnTo>
                <a:lnTo>
                  <a:pt x="384" y="480"/>
                </a:lnTo>
                <a:lnTo>
                  <a:pt x="624" y="480"/>
                </a:lnTo>
                <a:lnTo>
                  <a:pt x="624" y="0"/>
                </a:lnTo>
                <a:lnTo>
                  <a:pt x="864" y="0"/>
                </a:lnTo>
                <a:lnTo>
                  <a:pt x="864" y="480"/>
                </a:lnTo>
                <a:lnTo>
                  <a:pt x="1056" y="48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186981" y="1149927"/>
            <a:ext cx="5956355" cy="3172691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信号 </a:t>
            </a:r>
            <a:r>
              <a:rPr lang="en-US" altLang="zh-CN" dirty="0"/>
              <a:t>(signal)</a:t>
            </a:r>
            <a:r>
              <a:rPr lang="zh-CN" altLang="en-US" dirty="0"/>
              <a:t>：数据的电气的或电磁的表现。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模拟</a:t>
            </a:r>
            <a:r>
              <a:rPr lang="zh-CN" altLang="en-US" dirty="0"/>
              <a:t>信号 </a:t>
            </a:r>
            <a:r>
              <a:rPr lang="en-US" altLang="zh-CN" dirty="0"/>
              <a:t>(analogous signal)</a:t>
            </a:r>
            <a:r>
              <a:rPr lang="zh-CN" altLang="en-US" dirty="0"/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</a:rPr>
              <a:t>连续</a:t>
            </a:r>
            <a:r>
              <a:rPr lang="zh-CN" altLang="en-US" dirty="0"/>
              <a:t>的。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数字</a:t>
            </a:r>
            <a:r>
              <a:rPr lang="zh-CN" altLang="en-US" dirty="0"/>
              <a:t>信号 </a:t>
            </a:r>
            <a:r>
              <a:rPr lang="en-US" altLang="zh-CN" dirty="0"/>
              <a:t>(digital signal)</a:t>
            </a:r>
            <a:r>
              <a:rPr lang="zh-CN" altLang="en-US" dirty="0"/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</a:rPr>
              <a:t>离散</a:t>
            </a:r>
            <a:r>
              <a:rPr lang="zh-CN" altLang="en-US" dirty="0"/>
              <a:t>的。 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码元：</a:t>
            </a:r>
            <a:r>
              <a:rPr lang="zh-CN" altLang="en-US" dirty="0"/>
              <a:t>在使用时间域（简称为</a:t>
            </a:r>
            <a:r>
              <a:rPr lang="zh-CN" altLang="en-US" dirty="0">
                <a:solidFill>
                  <a:srgbClr val="0000FF"/>
                </a:solidFill>
              </a:rPr>
              <a:t>时域</a:t>
            </a:r>
            <a:r>
              <a:rPr lang="zh-CN" altLang="en-US" dirty="0"/>
              <a:t>）的波形表示数字信号时，代表不同离散数值的基本波形。</a:t>
            </a:r>
            <a:endParaRPr lang="en-US" altLang="zh-CN" dirty="0"/>
          </a:p>
          <a:p>
            <a:pPr lvl="1"/>
            <a:r>
              <a:rPr lang="zh-CN" altLang="zh-CN" dirty="0"/>
              <a:t>使用二进制编码时，只有两种不同的码元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0 </a:t>
            </a:r>
            <a:r>
              <a:rPr lang="zh-CN" altLang="zh-CN" dirty="0"/>
              <a:t>状态</a:t>
            </a:r>
            <a:r>
              <a:rPr lang="zh-CN" altLang="en-US" dirty="0"/>
              <a:t>，</a:t>
            </a:r>
            <a:r>
              <a:rPr lang="en-US" altLang="zh-CN" dirty="0"/>
              <a:t>1 </a:t>
            </a:r>
            <a:r>
              <a:rPr lang="zh-CN" altLang="zh-CN" dirty="0"/>
              <a:t>状态。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241538" y="3424687"/>
            <a:ext cx="2182482" cy="829834"/>
            <a:chOff x="241538" y="3424687"/>
            <a:chExt cx="2182482" cy="829834"/>
          </a:xfrm>
        </p:grpSpPr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58150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68288" y="4091258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378426" y="3757892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687707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997845" y="4091258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068288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378426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997845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758150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241538" y="3928186"/>
              <a:ext cx="171347" cy="190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241538" y="3600958"/>
              <a:ext cx="171347" cy="190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4" name="Line 50"/>
            <p:cNvSpPr>
              <a:spLocks noChangeShapeType="1"/>
            </p:cNvSpPr>
            <p:nvPr/>
          </p:nvSpPr>
          <p:spPr bwMode="auto">
            <a:xfrm flipH="1">
              <a:off x="483137" y="3757892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Line 51"/>
            <p:cNvSpPr>
              <a:spLocks noChangeShapeType="1"/>
            </p:cNvSpPr>
            <p:nvPr/>
          </p:nvSpPr>
          <p:spPr bwMode="auto">
            <a:xfrm flipH="1">
              <a:off x="483137" y="4091258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58150" y="3548780"/>
              <a:ext cx="1557914" cy="705741"/>
              <a:chOff x="-1086307" y="2612396"/>
              <a:chExt cx="2936545" cy="3819525"/>
            </a:xfrm>
          </p:grpSpPr>
          <p:sp>
            <p:nvSpPr>
              <p:cNvPr id="9" name="Line 4"/>
              <p:cNvSpPr>
                <a:spLocks noChangeShapeType="1"/>
              </p:cNvSpPr>
              <p:nvPr/>
            </p:nvSpPr>
            <p:spPr bwMode="auto">
              <a:xfrm>
                <a:off x="-1086307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" name="Line 5"/>
              <p:cNvSpPr>
                <a:spLocks noChangeShapeType="1"/>
              </p:cNvSpPr>
              <p:nvPr/>
            </p:nvSpPr>
            <p:spPr bwMode="auto">
              <a:xfrm>
                <a:off x="-501721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82865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" name="Line 9"/>
              <p:cNvSpPr>
                <a:spLocks noChangeShapeType="1"/>
              </p:cNvSpPr>
              <p:nvPr/>
            </p:nvSpPr>
            <p:spPr bwMode="auto">
              <a:xfrm>
                <a:off x="665836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" name="Line 10"/>
              <p:cNvSpPr>
                <a:spLocks noChangeShapeType="1"/>
              </p:cNvSpPr>
              <p:nvPr/>
            </p:nvSpPr>
            <p:spPr bwMode="auto">
              <a:xfrm>
                <a:off x="1250422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Line 10"/>
              <p:cNvSpPr>
                <a:spLocks noChangeShapeType="1"/>
              </p:cNvSpPr>
              <p:nvPr/>
            </p:nvSpPr>
            <p:spPr bwMode="auto">
              <a:xfrm>
                <a:off x="1850238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8" name="Text Box 52"/>
            <p:cNvSpPr txBox="1">
              <a:spLocks noChangeArrowheads="1"/>
            </p:cNvSpPr>
            <p:nvPr/>
          </p:nvSpPr>
          <p:spPr bwMode="auto">
            <a:xfrm>
              <a:off x="767087" y="3424687"/>
              <a:ext cx="1656933" cy="301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1   0    1   1    0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71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036710"/>
            <a:ext cx="8099686" cy="3172691"/>
          </a:xfrm>
        </p:spPr>
        <p:txBody>
          <a:bodyPr/>
          <a:lstStyle/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信道：</a:t>
            </a:r>
            <a:r>
              <a:rPr lang="zh-CN" altLang="en-US" dirty="0"/>
              <a:t>一般用来表示向某一个方向传送信息的媒体。</a:t>
            </a: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466343" y="1519624"/>
            <a:ext cx="5448997" cy="317269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单向通信（单工通信）：</a:t>
            </a:r>
            <a:r>
              <a:rPr lang="zh-CN" altLang="en-US" dirty="0">
                <a:solidFill>
                  <a:srgbClr val="C00000"/>
                </a:solidFill>
              </a:rPr>
              <a:t>只能有一个方向</a:t>
            </a:r>
            <a:r>
              <a:rPr lang="zh-CN" altLang="en-US" dirty="0"/>
              <a:t>的通信，没有反方向的交互。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双向交替通信（半双工通信）：</a:t>
            </a:r>
            <a:r>
              <a:rPr lang="zh-CN" altLang="en-US" dirty="0"/>
              <a:t>通信的双方都可以发送信息，但双方</a:t>
            </a:r>
            <a:r>
              <a:rPr lang="zh-CN" altLang="en-US" dirty="0">
                <a:solidFill>
                  <a:srgbClr val="C00000"/>
                </a:solidFill>
              </a:rPr>
              <a:t>不能同时</a:t>
            </a:r>
            <a:r>
              <a:rPr lang="zh-CN" altLang="en-US" dirty="0"/>
              <a:t>发送（当然也就不能同时接收）。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双向同时通信（全双工通信）：</a:t>
            </a:r>
            <a:r>
              <a:rPr lang="zh-CN" altLang="en-US" dirty="0"/>
              <a:t>通信的双方可以</a:t>
            </a:r>
            <a:r>
              <a:rPr lang="zh-CN" altLang="en-US" dirty="0">
                <a:solidFill>
                  <a:srgbClr val="C00000"/>
                </a:solidFill>
              </a:rPr>
              <a:t>同时发送和接收</a:t>
            </a:r>
            <a:r>
              <a:rPr lang="zh-CN" altLang="en-US" dirty="0"/>
              <a:t>信息。 </a:t>
            </a:r>
          </a:p>
          <a:p>
            <a:endParaRPr lang="zh-CN" altLang="en-US" dirty="0"/>
          </a:p>
        </p:txBody>
      </p:sp>
      <p:sp>
        <p:nvSpPr>
          <p:cNvPr id="23" name="圆柱形 22"/>
          <p:cNvSpPr/>
          <p:nvPr/>
        </p:nvSpPr>
        <p:spPr>
          <a:xfrm rot="5400000">
            <a:off x="6812766" y="58449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21238" y="1600451"/>
            <a:ext cx="1860928" cy="383623"/>
            <a:chOff x="6021238" y="1911003"/>
            <a:chExt cx="1860928" cy="383623"/>
          </a:xfrm>
        </p:grpSpPr>
        <p:sp>
          <p:nvSpPr>
            <p:cNvPr id="7" name="右箭头 6"/>
            <p:cNvSpPr/>
            <p:nvPr/>
          </p:nvSpPr>
          <p:spPr>
            <a:xfrm>
              <a:off x="6021238" y="1911003"/>
              <a:ext cx="1860928" cy="383623"/>
            </a:xfrm>
            <a:prstGeom prst="right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16039" y="195277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5" name="圆柱形 24"/>
          <p:cNvSpPr/>
          <p:nvPr/>
        </p:nvSpPr>
        <p:spPr>
          <a:xfrm rot="5400000">
            <a:off x="6812766" y="288545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021238" y="3899132"/>
            <a:ext cx="1860928" cy="396815"/>
            <a:chOff x="6021238" y="3812872"/>
            <a:chExt cx="1860928" cy="396815"/>
          </a:xfrm>
        </p:grpSpPr>
        <p:sp>
          <p:nvSpPr>
            <p:cNvPr id="11" name="左右箭头 10"/>
            <p:cNvSpPr/>
            <p:nvPr/>
          </p:nvSpPr>
          <p:spPr>
            <a:xfrm>
              <a:off x="6021238" y="3812872"/>
              <a:ext cx="1860928" cy="396815"/>
            </a:xfrm>
            <a:prstGeom prst="leftRightArrow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616039" y="387277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  <p:sp>
        <p:nvSpPr>
          <p:cNvPr id="26" name="圆柱形 25"/>
          <p:cNvSpPr/>
          <p:nvPr/>
        </p:nvSpPr>
        <p:spPr>
          <a:xfrm rot="5400000">
            <a:off x="6659877" y="1821698"/>
            <a:ext cx="767039" cy="2458675"/>
          </a:xfrm>
          <a:prstGeom prst="can">
            <a:avLst>
              <a:gd name="adj" fmla="val 36492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6021238" y="2680444"/>
            <a:ext cx="2889703" cy="736856"/>
            <a:chOff x="6021238" y="2680444"/>
            <a:chExt cx="2889703" cy="736856"/>
          </a:xfrm>
        </p:grpSpPr>
        <p:sp>
          <p:nvSpPr>
            <p:cNvPr id="10" name="右弧形箭头 9"/>
            <p:cNvSpPr/>
            <p:nvPr/>
          </p:nvSpPr>
          <p:spPr>
            <a:xfrm>
              <a:off x="8074326" y="2826106"/>
              <a:ext cx="370933" cy="453306"/>
            </a:xfrm>
            <a:prstGeom prst="curvedLeftArrow">
              <a:avLst>
                <a:gd name="adj1" fmla="val 25000"/>
                <a:gd name="adj2" fmla="val 46748"/>
                <a:gd name="adj3" fmla="val 25000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367202" y="2787135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切换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方向</a:t>
              </a: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021238" y="2680444"/>
              <a:ext cx="1860928" cy="383623"/>
              <a:chOff x="6021238" y="2602810"/>
              <a:chExt cx="1860928" cy="383623"/>
            </a:xfrm>
          </p:grpSpPr>
          <p:sp>
            <p:nvSpPr>
              <p:cNvPr id="8" name="右箭头 7"/>
              <p:cNvSpPr/>
              <p:nvPr/>
            </p:nvSpPr>
            <p:spPr>
              <a:xfrm>
                <a:off x="6021238" y="2602810"/>
                <a:ext cx="1860928" cy="383623"/>
              </a:xfrm>
              <a:prstGeom prst="rightArrow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6616039" y="2659429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021238" y="3018258"/>
              <a:ext cx="1860928" cy="399042"/>
              <a:chOff x="6021238" y="3044140"/>
              <a:chExt cx="1860928" cy="399042"/>
            </a:xfrm>
          </p:grpSpPr>
          <p:sp>
            <p:nvSpPr>
              <p:cNvPr id="9" name="左箭头 8"/>
              <p:cNvSpPr/>
              <p:nvPr/>
            </p:nvSpPr>
            <p:spPr>
              <a:xfrm>
                <a:off x="6021238" y="3044140"/>
                <a:ext cx="1860928" cy="399042"/>
              </a:xfrm>
              <a:prstGeom prst="left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616039" y="3111731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</a:p>
            </p:txBody>
          </p:sp>
        </p:grpSp>
      </p:grpSp>
      <p:sp>
        <p:nvSpPr>
          <p:cNvPr id="27" name="圆柱形 26"/>
          <p:cNvSpPr/>
          <p:nvPr/>
        </p:nvSpPr>
        <p:spPr>
          <a:xfrm rot="5400000">
            <a:off x="6812766" y="1058935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6028676" y="2078488"/>
            <a:ext cx="1860928" cy="399042"/>
            <a:chOff x="6028676" y="2078488"/>
            <a:chExt cx="1860928" cy="399042"/>
          </a:xfrm>
        </p:grpSpPr>
        <p:sp>
          <p:nvSpPr>
            <p:cNvPr id="28" name="左箭头 27"/>
            <p:cNvSpPr/>
            <p:nvPr/>
          </p:nvSpPr>
          <p:spPr>
            <a:xfrm>
              <a:off x="6028676" y="2078488"/>
              <a:ext cx="1860928" cy="399042"/>
            </a:xfrm>
            <a:prstGeom prst="lef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624981" y="213251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202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基带信号</a:t>
            </a:r>
            <a:r>
              <a:rPr lang="zh-CN" altLang="en-US" dirty="0"/>
              <a:t>（即基本频带信号）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来自信源的信号。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包含有较多的低频成分，甚至有直流成分。</a:t>
            </a:r>
            <a:endParaRPr lang="en-US" altLang="zh-CN" dirty="0"/>
          </a:p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调制</a:t>
            </a:r>
            <a:endParaRPr lang="en-US" altLang="zh-CN" dirty="0">
              <a:solidFill>
                <a:srgbClr val="0000FF"/>
              </a:solidFill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基带调制：</a:t>
            </a:r>
            <a:r>
              <a:rPr lang="zh-CN" altLang="en-US" dirty="0"/>
              <a:t>仅对基带信号的波形进行变换，</a:t>
            </a:r>
            <a:r>
              <a:rPr lang="zh-CN" altLang="en-US" dirty="0">
                <a:solidFill>
                  <a:srgbClr val="0000FF"/>
                </a:solidFill>
              </a:rPr>
              <a:t>把数字信号转换为另一种形式的数字信号。</a:t>
            </a:r>
            <a:r>
              <a:rPr lang="zh-CN" altLang="en-US" dirty="0"/>
              <a:t>把这种过程称为</a:t>
            </a:r>
            <a:r>
              <a:rPr lang="zh-CN" altLang="en-US" dirty="0">
                <a:solidFill>
                  <a:srgbClr val="0000FF"/>
                </a:solidFill>
              </a:rPr>
              <a:t>编码</a:t>
            </a:r>
            <a:r>
              <a:rPr lang="zh-CN" altLang="en-US" dirty="0"/>
              <a:t> </a:t>
            </a:r>
            <a:r>
              <a:rPr lang="en-US" altLang="zh-CN" dirty="0"/>
              <a:t>(coding)</a:t>
            </a:r>
            <a:r>
              <a:rPr lang="zh-CN" altLang="en-US" dirty="0"/>
              <a:t>。</a:t>
            </a: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带通调制：</a:t>
            </a:r>
            <a:r>
              <a:rPr lang="zh-CN" altLang="en-US" dirty="0"/>
              <a:t>使用载波 </a:t>
            </a:r>
            <a:r>
              <a:rPr lang="en-US" altLang="zh-CN" dirty="0"/>
              <a:t>(carrier)</a:t>
            </a:r>
            <a:r>
              <a:rPr lang="zh-CN" altLang="en-US" dirty="0"/>
              <a:t>进行调制，把基带信号的频率范围搬移到较高的频段，并</a:t>
            </a:r>
            <a:r>
              <a:rPr lang="zh-CN" altLang="en-US" dirty="0">
                <a:solidFill>
                  <a:srgbClr val="0000FF"/>
                </a:solidFill>
              </a:rPr>
              <a:t>转换为模拟信号。</a:t>
            </a:r>
            <a:r>
              <a:rPr lang="zh-CN" altLang="en-US" dirty="0"/>
              <a:t>经过载波调制后的信号称为</a:t>
            </a:r>
            <a:r>
              <a:rPr lang="zh-CN" altLang="en-US" dirty="0">
                <a:solidFill>
                  <a:srgbClr val="0000FF"/>
                </a:solidFill>
              </a:rPr>
              <a:t>带通信号</a:t>
            </a:r>
            <a:r>
              <a:rPr lang="zh-CN" altLang="en-US" dirty="0"/>
              <a:t>（即仅在一段频率范围内能够通过信道）。</a:t>
            </a:r>
          </a:p>
        </p:txBody>
      </p:sp>
    </p:spTree>
    <p:extLst>
      <p:ext uri="{BB962C8B-B14F-4D97-AF65-F5344CB8AC3E}">
        <p14:creationId xmlns:p14="http://schemas.microsoft.com/office/powerpoint/2010/main" val="236308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不归零制</a:t>
            </a:r>
            <a:r>
              <a:rPr lang="zh-CN" altLang="en-US" dirty="0"/>
              <a:t>：正电平代表 </a:t>
            </a:r>
            <a:r>
              <a:rPr lang="en-US" altLang="zh-CN" dirty="0"/>
              <a:t>1</a:t>
            </a:r>
            <a:r>
              <a:rPr lang="zh-CN" altLang="en-US" dirty="0"/>
              <a:t>，负电平代表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归零制</a:t>
            </a:r>
            <a:r>
              <a:rPr lang="zh-CN" altLang="en-US" dirty="0"/>
              <a:t>：正脉冲代表 </a:t>
            </a:r>
            <a:r>
              <a:rPr lang="en-US" altLang="zh-CN" dirty="0"/>
              <a:t>1</a:t>
            </a:r>
            <a:r>
              <a:rPr lang="zh-CN" altLang="en-US" dirty="0"/>
              <a:t>，负脉冲代表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：位周期中心的向上跳变代表 </a:t>
            </a:r>
            <a:r>
              <a:rPr lang="en-US" altLang="zh-CN" dirty="0"/>
              <a:t>0</a:t>
            </a:r>
            <a:r>
              <a:rPr lang="zh-CN" altLang="en-US" dirty="0"/>
              <a:t>，位周期中心的向下跳变代表 </a:t>
            </a:r>
            <a:r>
              <a:rPr lang="en-US" altLang="zh-CN" dirty="0"/>
              <a:t>1</a:t>
            </a:r>
            <a:r>
              <a:rPr lang="zh-CN" altLang="en-US" dirty="0"/>
              <a:t>。但也可反过来定义。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：在每一位的中心处始终都有跳变。位开始边界有跳变代表 </a:t>
            </a:r>
            <a:r>
              <a:rPr lang="en-US" altLang="zh-CN" dirty="0"/>
              <a:t>0</a:t>
            </a:r>
            <a:r>
              <a:rPr lang="zh-CN" altLang="en-US" dirty="0"/>
              <a:t>，而位开始边界没有跳变代表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  <p:extLst>
      <p:ext uri="{BB962C8B-B14F-4D97-AF65-F5344CB8AC3E}">
        <p14:creationId xmlns:p14="http://schemas.microsoft.com/office/powerpoint/2010/main" val="34632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45145" y="1032954"/>
            <a:ext cx="8053711" cy="28859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3096660" y="3923380"/>
            <a:ext cx="29244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数字信号常用的编码方式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766490" y="1328798"/>
            <a:ext cx="7345085" cy="2294626"/>
            <a:chOff x="766490" y="1642196"/>
            <a:chExt cx="7345085" cy="2294626"/>
          </a:xfrm>
        </p:grpSpPr>
        <p:sp>
          <p:nvSpPr>
            <p:cNvPr id="120" name="Rectangle 6"/>
            <p:cNvSpPr>
              <a:spLocks noChangeArrowheads="1"/>
            </p:cNvSpPr>
            <p:nvPr/>
          </p:nvSpPr>
          <p:spPr bwMode="auto">
            <a:xfrm>
              <a:off x="933205" y="2128211"/>
              <a:ext cx="124713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不归零制</a:t>
              </a:r>
            </a:p>
          </p:txBody>
        </p:sp>
        <p:sp>
          <p:nvSpPr>
            <p:cNvPr id="121" name="Rectangle 7"/>
            <p:cNvSpPr>
              <a:spLocks noChangeArrowheads="1"/>
            </p:cNvSpPr>
            <p:nvPr/>
          </p:nvSpPr>
          <p:spPr bwMode="auto">
            <a:xfrm>
              <a:off x="1176859" y="3108207"/>
              <a:ext cx="100348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曼彻斯特</a:t>
              </a:r>
            </a:p>
          </p:txBody>
        </p:sp>
        <p:sp>
          <p:nvSpPr>
            <p:cNvPr id="122" name="Rectangle 8"/>
            <p:cNvSpPr>
              <a:spLocks noChangeArrowheads="1"/>
            </p:cNvSpPr>
            <p:nvPr/>
          </p:nvSpPr>
          <p:spPr bwMode="auto">
            <a:xfrm>
              <a:off x="6936193" y="1646180"/>
              <a:ext cx="59632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Rectangle 9"/>
            <p:cNvSpPr>
              <a:spLocks noChangeArrowheads="1"/>
            </p:cNvSpPr>
            <p:nvPr/>
          </p:nvSpPr>
          <p:spPr bwMode="auto">
            <a:xfrm>
              <a:off x="3370203" y="1646180"/>
              <a:ext cx="58304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Rectangle 10"/>
            <p:cNvSpPr>
              <a:spLocks noChangeArrowheads="1"/>
            </p:cNvSpPr>
            <p:nvPr/>
          </p:nvSpPr>
          <p:spPr bwMode="auto">
            <a:xfrm>
              <a:off x="4570820" y="1642196"/>
              <a:ext cx="577731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Rectangle 11"/>
            <p:cNvSpPr>
              <a:spLocks noChangeArrowheads="1"/>
            </p:cNvSpPr>
            <p:nvPr/>
          </p:nvSpPr>
          <p:spPr bwMode="auto">
            <a:xfrm>
              <a:off x="5762139" y="1642196"/>
              <a:ext cx="57640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Rectangle 12"/>
            <p:cNvSpPr>
              <a:spLocks noChangeArrowheads="1"/>
            </p:cNvSpPr>
            <p:nvPr/>
          </p:nvSpPr>
          <p:spPr bwMode="auto">
            <a:xfrm>
              <a:off x="2196149" y="1642196"/>
              <a:ext cx="59765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Rectangle 13"/>
            <p:cNvSpPr>
              <a:spLocks noChangeArrowheads="1"/>
            </p:cNvSpPr>
            <p:nvPr/>
          </p:nvSpPr>
          <p:spPr bwMode="auto">
            <a:xfrm>
              <a:off x="234622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dirty="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8" name="Rectangle 14"/>
            <p:cNvSpPr>
              <a:spLocks noChangeArrowheads="1"/>
            </p:cNvSpPr>
            <p:nvPr/>
          </p:nvSpPr>
          <p:spPr bwMode="auto">
            <a:xfrm>
              <a:off x="7669313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9" name="Rectangle 15"/>
            <p:cNvSpPr>
              <a:spLocks noChangeArrowheads="1"/>
            </p:cNvSpPr>
            <p:nvPr/>
          </p:nvSpPr>
          <p:spPr bwMode="auto">
            <a:xfrm>
              <a:off x="4727537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0" name="Rectangle 16"/>
            <p:cNvSpPr>
              <a:spLocks noChangeArrowheads="1"/>
            </p:cNvSpPr>
            <p:nvPr/>
          </p:nvSpPr>
          <p:spPr bwMode="auto">
            <a:xfrm>
              <a:off x="7075645" y="1696641"/>
              <a:ext cx="249686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1" name="Rectangle 17"/>
            <p:cNvSpPr>
              <a:spLocks noChangeArrowheads="1"/>
            </p:cNvSpPr>
            <p:nvPr/>
          </p:nvSpPr>
          <p:spPr bwMode="auto">
            <a:xfrm>
              <a:off x="6487290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2" name="Rectangle 18"/>
            <p:cNvSpPr>
              <a:spLocks noChangeArrowheads="1"/>
            </p:cNvSpPr>
            <p:nvPr/>
          </p:nvSpPr>
          <p:spPr bwMode="auto">
            <a:xfrm>
              <a:off x="295184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3" name="Rectangle 19"/>
            <p:cNvSpPr>
              <a:spLocks noChangeArrowheads="1"/>
            </p:cNvSpPr>
            <p:nvPr/>
          </p:nvSpPr>
          <p:spPr bwMode="auto">
            <a:xfrm>
              <a:off x="3558796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4" name="Rectangle 20"/>
            <p:cNvSpPr>
              <a:spLocks noChangeArrowheads="1"/>
            </p:cNvSpPr>
            <p:nvPr/>
          </p:nvSpPr>
          <p:spPr bwMode="auto">
            <a:xfrm>
              <a:off x="4137854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5" name="Rectangle 21"/>
            <p:cNvSpPr>
              <a:spLocks noChangeArrowheads="1"/>
            </p:cNvSpPr>
            <p:nvPr/>
          </p:nvSpPr>
          <p:spPr bwMode="auto">
            <a:xfrm>
              <a:off x="5319877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6" name="Rectangle 22"/>
            <p:cNvSpPr>
              <a:spLocks noChangeArrowheads="1"/>
            </p:cNvSpPr>
            <p:nvPr/>
          </p:nvSpPr>
          <p:spPr bwMode="auto">
            <a:xfrm>
              <a:off x="589760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grpSp>
          <p:nvGrpSpPr>
            <p:cNvPr id="137" name="Group 23"/>
            <p:cNvGrpSpPr>
              <a:grpSpLocks/>
            </p:cNvGrpSpPr>
            <p:nvPr/>
          </p:nvGrpSpPr>
          <p:grpSpPr bwMode="auto">
            <a:xfrm>
              <a:off x="2173572" y="2088373"/>
              <a:ext cx="5859645" cy="325338"/>
              <a:chOff x="832" y="286"/>
              <a:chExt cx="4728" cy="965"/>
            </a:xfrm>
          </p:grpSpPr>
          <p:sp>
            <p:nvSpPr>
              <p:cNvPr id="138" name="Freeform 24"/>
              <p:cNvSpPr>
                <a:spLocks/>
              </p:cNvSpPr>
              <p:nvPr/>
            </p:nvSpPr>
            <p:spPr bwMode="auto">
              <a:xfrm>
                <a:off x="832" y="298"/>
                <a:ext cx="4728" cy="953"/>
              </a:xfrm>
              <a:custGeom>
                <a:avLst/>
                <a:gdLst>
                  <a:gd name="T0" fmla="*/ 0 w 4728"/>
                  <a:gd name="T1" fmla="*/ 0 h 953"/>
                  <a:gd name="T2" fmla="*/ 486 w 4728"/>
                  <a:gd name="T3" fmla="*/ 0 h 953"/>
                  <a:gd name="T4" fmla="*/ 486 w 4728"/>
                  <a:gd name="T5" fmla="*/ 952 h 953"/>
                  <a:gd name="T6" fmla="*/ 1924 w 4728"/>
                  <a:gd name="T7" fmla="*/ 952 h 953"/>
                  <a:gd name="T8" fmla="*/ 1924 w 4728"/>
                  <a:gd name="T9" fmla="*/ 0 h 953"/>
                  <a:gd name="T10" fmla="*/ 2410 w 4728"/>
                  <a:gd name="T11" fmla="*/ 0 h 953"/>
                  <a:gd name="T12" fmla="*/ 2410 w 4728"/>
                  <a:gd name="T13" fmla="*/ 952 h 953"/>
                  <a:gd name="T14" fmla="*/ 3372 w 4728"/>
                  <a:gd name="T15" fmla="*/ 952 h 953"/>
                  <a:gd name="T16" fmla="*/ 3372 w 4728"/>
                  <a:gd name="T17" fmla="*/ 0 h 953"/>
                  <a:gd name="T18" fmla="*/ 4727 w 4728"/>
                  <a:gd name="T19" fmla="*/ 0 h 9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28" h="953">
                    <a:moveTo>
                      <a:pt x="0" y="0"/>
                    </a:moveTo>
                    <a:lnTo>
                      <a:pt x="486" y="0"/>
                    </a:lnTo>
                    <a:lnTo>
                      <a:pt x="486" y="952"/>
                    </a:lnTo>
                    <a:lnTo>
                      <a:pt x="1924" y="952"/>
                    </a:lnTo>
                    <a:lnTo>
                      <a:pt x="1924" y="0"/>
                    </a:lnTo>
                    <a:lnTo>
                      <a:pt x="2410" y="0"/>
                    </a:lnTo>
                    <a:lnTo>
                      <a:pt x="2410" y="952"/>
                    </a:lnTo>
                    <a:lnTo>
                      <a:pt x="3372" y="952"/>
                    </a:lnTo>
                    <a:lnTo>
                      <a:pt x="3372" y="0"/>
                    </a:lnTo>
                    <a:lnTo>
                      <a:pt x="4727" y="0"/>
                    </a:lnTo>
                  </a:path>
                </a:pathLst>
              </a:custGeom>
              <a:noFill/>
              <a:ln w="952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25"/>
              <p:cNvSpPr>
                <a:spLocks noChangeShapeType="1"/>
              </p:cNvSpPr>
              <p:nvPr/>
            </p:nvSpPr>
            <p:spPr bwMode="auto">
              <a:xfrm flipV="1">
                <a:off x="3721" y="1152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26"/>
              <p:cNvSpPr>
                <a:spLocks noChangeShapeType="1"/>
              </p:cNvSpPr>
              <p:nvPr/>
            </p:nvSpPr>
            <p:spPr bwMode="auto">
              <a:xfrm flipV="1">
                <a:off x="4676" y="28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27"/>
              <p:cNvSpPr>
                <a:spLocks noChangeShapeType="1"/>
              </p:cNvSpPr>
              <p:nvPr/>
            </p:nvSpPr>
            <p:spPr bwMode="auto">
              <a:xfrm flipV="1">
                <a:off x="5155" y="299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28"/>
              <p:cNvSpPr>
                <a:spLocks noChangeShapeType="1"/>
              </p:cNvSpPr>
              <p:nvPr/>
            </p:nvSpPr>
            <p:spPr bwMode="auto">
              <a:xfrm flipV="1">
                <a:off x="2282" y="1150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29"/>
              <p:cNvSpPr>
                <a:spLocks noChangeShapeType="1"/>
              </p:cNvSpPr>
              <p:nvPr/>
            </p:nvSpPr>
            <p:spPr bwMode="auto">
              <a:xfrm flipV="1">
                <a:off x="1796" y="1151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174900" y="3108207"/>
              <a:ext cx="5845036" cy="318698"/>
            </a:xfrm>
            <a:custGeom>
              <a:avLst/>
              <a:gdLst>
                <a:gd name="T0" fmla="*/ 0 w 4401"/>
                <a:gd name="T1" fmla="*/ 0 h 245"/>
                <a:gd name="T2" fmla="*/ 222 w 4401"/>
                <a:gd name="T3" fmla="*/ 0 h 245"/>
                <a:gd name="T4" fmla="*/ 222 w 4401"/>
                <a:gd name="T5" fmla="*/ 245 h 245"/>
                <a:gd name="T6" fmla="*/ 676 w 4401"/>
                <a:gd name="T7" fmla="*/ 245 h 245"/>
                <a:gd name="T8" fmla="*/ 676 w 4401"/>
                <a:gd name="T9" fmla="*/ 0 h 245"/>
                <a:gd name="T10" fmla="*/ 898 w 4401"/>
                <a:gd name="T11" fmla="*/ 0 h 245"/>
                <a:gd name="T12" fmla="*/ 898 w 4401"/>
                <a:gd name="T13" fmla="*/ 245 h 245"/>
                <a:gd name="T14" fmla="*/ 1129 w 4401"/>
                <a:gd name="T15" fmla="*/ 245 h 245"/>
                <a:gd name="T16" fmla="*/ 1129 w 4401"/>
                <a:gd name="T17" fmla="*/ 0 h 245"/>
                <a:gd name="T18" fmla="*/ 1351 w 4401"/>
                <a:gd name="T19" fmla="*/ 0 h 245"/>
                <a:gd name="T20" fmla="*/ 1351 w 4401"/>
                <a:gd name="T21" fmla="*/ 245 h 245"/>
                <a:gd name="T22" fmla="*/ 1573 w 4401"/>
                <a:gd name="T23" fmla="*/ 245 h 245"/>
                <a:gd name="T24" fmla="*/ 1573 w 4401"/>
                <a:gd name="T25" fmla="*/ 0 h 245"/>
                <a:gd name="T26" fmla="*/ 2027 w 4401"/>
                <a:gd name="T27" fmla="*/ 0 h 245"/>
                <a:gd name="T28" fmla="*/ 2027 w 4401"/>
                <a:gd name="T29" fmla="*/ 245 h 245"/>
                <a:gd name="T30" fmla="*/ 2471 w 4401"/>
                <a:gd name="T31" fmla="*/ 245 h 245"/>
                <a:gd name="T32" fmla="*/ 2471 w 4401"/>
                <a:gd name="T33" fmla="*/ 3 h 245"/>
                <a:gd name="T34" fmla="*/ 2693 w 4401"/>
                <a:gd name="T35" fmla="*/ 0 h 245"/>
                <a:gd name="T36" fmla="*/ 2693 w 4401"/>
                <a:gd name="T37" fmla="*/ 245 h 245"/>
                <a:gd name="T38" fmla="*/ 2915 w 4401"/>
                <a:gd name="T39" fmla="*/ 245 h 245"/>
                <a:gd name="T40" fmla="*/ 2915 w 4401"/>
                <a:gd name="T41" fmla="*/ 0 h 245"/>
                <a:gd name="T42" fmla="*/ 3368 w 4401"/>
                <a:gd name="T43" fmla="*/ 0 h 245"/>
                <a:gd name="T44" fmla="*/ 3368 w 4401"/>
                <a:gd name="T45" fmla="*/ 245 h 245"/>
                <a:gd name="T46" fmla="*/ 3590 w 4401"/>
                <a:gd name="T47" fmla="*/ 245 h 245"/>
                <a:gd name="T48" fmla="*/ 3590 w 4401"/>
                <a:gd name="T49" fmla="*/ 0 h 245"/>
                <a:gd name="T50" fmla="*/ 3812 w 4401"/>
                <a:gd name="T51" fmla="*/ 0 h 245"/>
                <a:gd name="T52" fmla="*/ 3812 w 4401"/>
                <a:gd name="T53" fmla="*/ 245 h 245"/>
                <a:gd name="T54" fmla="*/ 4034 w 4401"/>
                <a:gd name="T55" fmla="*/ 245 h 245"/>
                <a:gd name="T56" fmla="*/ 4034 w 4401"/>
                <a:gd name="T57" fmla="*/ 0 h 245"/>
                <a:gd name="T58" fmla="*/ 4256 w 4401"/>
                <a:gd name="T59" fmla="*/ 0 h 245"/>
                <a:gd name="T60" fmla="*/ 4256 w 4401"/>
                <a:gd name="T61" fmla="*/ 245 h 245"/>
                <a:gd name="T62" fmla="*/ 4401 w 4401"/>
                <a:gd name="T6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01" h="245">
                  <a:moveTo>
                    <a:pt x="0" y="0"/>
                  </a:moveTo>
                  <a:lnTo>
                    <a:pt x="222" y="0"/>
                  </a:lnTo>
                  <a:lnTo>
                    <a:pt x="222" y="245"/>
                  </a:lnTo>
                  <a:lnTo>
                    <a:pt x="676" y="245"/>
                  </a:lnTo>
                  <a:lnTo>
                    <a:pt x="676" y="0"/>
                  </a:lnTo>
                  <a:lnTo>
                    <a:pt x="898" y="0"/>
                  </a:lnTo>
                  <a:lnTo>
                    <a:pt x="898" y="245"/>
                  </a:lnTo>
                  <a:lnTo>
                    <a:pt x="1129" y="245"/>
                  </a:lnTo>
                  <a:lnTo>
                    <a:pt x="1129" y="0"/>
                  </a:lnTo>
                  <a:lnTo>
                    <a:pt x="1351" y="0"/>
                  </a:lnTo>
                  <a:lnTo>
                    <a:pt x="1351" y="245"/>
                  </a:lnTo>
                  <a:lnTo>
                    <a:pt x="1573" y="245"/>
                  </a:lnTo>
                  <a:lnTo>
                    <a:pt x="1573" y="0"/>
                  </a:lnTo>
                  <a:lnTo>
                    <a:pt x="2027" y="0"/>
                  </a:lnTo>
                  <a:lnTo>
                    <a:pt x="2027" y="245"/>
                  </a:lnTo>
                  <a:lnTo>
                    <a:pt x="2471" y="245"/>
                  </a:lnTo>
                  <a:lnTo>
                    <a:pt x="2471" y="3"/>
                  </a:lnTo>
                  <a:lnTo>
                    <a:pt x="2693" y="0"/>
                  </a:lnTo>
                  <a:lnTo>
                    <a:pt x="2693" y="245"/>
                  </a:lnTo>
                  <a:lnTo>
                    <a:pt x="2915" y="245"/>
                  </a:lnTo>
                  <a:lnTo>
                    <a:pt x="2915" y="0"/>
                  </a:lnTo>
                  <a:lnTo>
                    <a:pt x="3368" y="0"/>
                  </a:lnTo>
                  <a:lnTo>
                    <a:pt x="3368" y="245"/>
                  </a:lnTo>
                  <a:lnTo>
                    <a:pt x="3590" y="245"/>
                  </a:lnTo>
                  <a:lnTo>
                    <a:pt x="3590" y="0"/>
                  </a:lnTo>
                  <a:lnTo>
                    <a:pt x="3812" y="0"/>
                  </a:lnTo>
                  <a:lnTo>
                    <a:pt x="3812" y="245"/>
                  </a:lnTo>
                  <a:lnTo>
                    <a:pt x="4034" y="245"/>
                  </a:lnTo>
                  <a:lnTo>
                    <a:pt x="4034" y="0"/>
                  </a:lnTo>
                  <a:lnTo>
                    <a:pt x="4256" y="0"/>
                  </a:lnTo>
                  <a:lnTo>
                    <a:pt x="4256" y="245"/>
                  </a:lnTo>
                  <a:lnTo>
                    <a:pt x="4401" y="245"/>
                  </a:lnTo>
                </a:path>
              </a:pathLst>
            </a:custGeom>
            <a:noFill/>
            <a:ln w="952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32"/>
            <p:cNvSpPr>
              <a:spLocks noChangeShapeType="1"/>
            </p:cNvSpPr>
            <p:nvPr/>
          </p:nvSpPr>
          <p:spPr bwMode="auto">
            <a:xfrm flipH="1" flipV="1">
              <a:off x="2190837" y="1675394"/>
              <a:ext cx="2656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33"/>
            <p:cNvSpPr>
              <a:spLocks noChangeShapeType="1"/>
            </p:cNvSpPr>
            <p:nvPr/>
          </p:nvSpPr>
          <p:spPr bwMode="auto">
            <a:xfrm flipV="1">
              <a:off x="2779192" y="1664771"/>
              <a:ext cx="0" cy="22720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34"/>
            <p:cNvSpPr>
              <a:spLocks noChangeShapeType="1"/>
            </p:cNvSpPr>
            <p:nvPr/>
          </p:nvSpPr>
          <p:spPr bwMode="auto">
            <a:xfrm flipV="1">
              <a:off x="3366219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35"/>
            <p:cNvSpPr>
              <a:spLocks noChangeShapeType="1"/>
            </p:cNvSpPr>
            <p:nvPr/>
          </p:nvSpPr>
          <p:spPr bwMode="auto">
            <a:xfrm flipH="1" flipV="1">
              <a:off x="3959887" y="1642196"/>
              <a:ext cx="0" cy="2294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36"/>
            <p:cNvSpPr>
              <a:spLocks noChangeShapeType="1"/>
            </p:cNvSpPr>
            <p:nvPr/>
          </p:nvSpPr>
          <p:spPr bwMode="auto">
            <a:xfrm flipV="1">
              <a:off x="4558867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37"/>
            <p:cNvSpPr>
              <a:spLocks noChangeShapeType="1"/>
            </p:cNvSpPr>
            <p:nvPr/>
          </p:nvSpPr>
          <p:spPr bwMode="auto">
            <a:xfrm flipV="1">
              <a:off x="5161831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38"/>
            <p:cNvSpPr>
              <a:spLocks noChangeShapeType="1"/>
            </p:cNvSpPr>
            <p:nvPr/>
          </p:nvSpPr>
          <p:spPr bwMode="auto">
            <a:xfrm flipV="1">
              <a:off x="5752842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39"/>
            <p:cNvSpPr>
              <a:spLocks noChangeShapeType="1"/>
            </p:cNvSpPr>
            <p:nvPr/>
          </p:nvSpPr>
          <p:spPr bwMode="auto">
            <a:xfrm flipV="1">
              <a:off x="6347838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40"/>
            <p:cNvSpPr>
              <a:spLocks noChangeShapeType="1"/>
            </p:cNvSpPr>
            <p:nvPr/>
          </p:nvSpPr>
          <p:spPr bwMode="auto">
            <a:xfrm flipH="1" flipV="1">
              <a:off x="6938850" y="1675394"/>
              <a:ext cx="1328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41"/>
            <p:cNvSpPr>
              <a:spLocks noChangeShapeType="1"/>
            </p:cNvSpPr>
            <p:nvPr/>
          </p:nvSpPr>
          <p:spPr bwMode="auto">
            <a:xfrm flipV="1">
              <a:off x="7520564" y="1676722"/>
              <a:ext cx="11953" cy="2260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Rectangle 42"/>
            <p:cNvSpPr>
              <a:spLocks noChangeArrowheads="1"/>
            </p:cNvSpPr>
            <p:nvPr/>
          </p:nvSpPr>
          <p:spPr bwMode="auto">
            <a:xfrm>
              <a:off x="1321130" y="1703280"/>
              <a:ext cx="85921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</a:t>
              </a:r>
            </a:p>
          </p:txBody>
        </p:sp>
        <p:grpSp>
          <p:nvGrpSpPr>
            <p:cNvPr id="156" name="Group 66"/>
            <p:cNvGrpSpPr>
              <a:grpSpLocks/>
            </p:cNvGrpSpPr>
            <p:nvPr/>
          </p:nvGrpSpPr>
          <p:grpSpPr bwMode="auto">
            <a:xfrm>
              <a:off x="2174900" y="2591651"/>
              <a:ext cx="5936675" cy="325337"/>
              <a:chOff x="1260" y="3138"/>
              <a:chExt cx="4470" cy="192"/>
            </a:xfrm>
          </p:grpSpPr>
          <p:sp>
            <p:nvSpPr>
              <p:cNvPr id="157" name="Freeform 46"/>
              <p:cNvSpPr>
                <a:spLocks/>
              </p:cNvSpPr>
              <p:nvPr/>
            </p:nvSpPr>
            <p:spPr bwMode="auto">
              <a:xfrm>
                <a:off x="126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47"/>
              <p:cNvSpPr>
                <a:spLocks/>
              </p:cNvSpPr>
              <p:nvPr/>
            </p:nvSpPr>
            <p:spPr bwMode="auto">
              <a:xfrm>
                <a:off x="303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48"/>
              <p:cNvSpPr>
                <a:spLocks/>
              </p:cNvSpPr>
              <p:nvPr/>
            </p:nvSpPr>
            <p:spPr bwMode="auto">
              <a:xfrm>
                <a:off x="438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49"/>
              <p:cNvSpPr>
                <a:spLocks/>
              </p:cNvSpPr>
              <p:nvPr/>
            </p:nvSpPr>
            <p:spPr bwMode="auto">
              <a:xfrm>
                <a:off x="483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50"/>
              <p:cNvSpPr>
                <a:spLocks/>
              </p:cNvSpPr>
              <p:nvPr/>
            </p:nvSpPr>
            <p:spPr bwMode="auto">
              <a:xfrm>
                <a:off x="525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51"/>
              <p:cNvSpPr>
                <a:spLocks/>
              </p:cNvSpPr>
              <p:nvPr/>
            </p:nvSpPr>
            <p:spPr bwMode="auto">
              <a:xfrm flipV="1">
                <a:off x="16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52"/>
              <p:cNvSpPr>
                <a:spLocks/>
              </p:cNvSpPr>
              <p:nvPr/>
            </p:nvSpPr>
            <p:spPr bwMode="auto">
              <a:xfrm flipV="1">
                <a:off x="2130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53"/>
              <p:cNvSpPr>
                <a:spLocks/>
              </p:cNvSpPr>
              <p:nvPr/>
            </p:nvSpPr>
            <p:spPr bwMode="auto">
              <a:xfrm flipV="1">
                <a:off x="25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54"/>
              <p:cNvSpPr>
                <a:spLocks/>
              </p:cNvSpPr>
              <p:nvPr/>
            </p:nvSpPr>
            <p:spPr bwMode="auto">
              <a:xfrm flipV="1">
                <a:off x="348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55"/>
              <p:cNvSpPr>
                <a:spLocks/>
              </p:cNvSpPr>
              <p:nvPr/>
            </p:nvSpPr>
            <p:spPr bwMode="auto">
              <a:xfrm flipV="1">
                <a:off x="393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7" name="Group 65"/>
            <p:cNvGrpSpPr>
              <a:grpSpLocks/>
            </p:cNvGrpSpPr>
            <p:nvPr/>
          </p:nvGrpSpPr>
          <p:grpSpPr bwMode="auto">
            <a:xfrm>
              <a:off x="2182868" y="3594222"/>
              <a:ext cx="5924723" cy="318698"/>
              <a:chOff x="1264" y="2804"/>
              <a:chExt cx="4461" cy="258"/>
            </a:xfrm>
          </p:grpSpPr>
          <p:sp>
            <p:nvSpPr>
              <p:cNvPr id="168" name="Freeform 63"/>
              <p:cNvSpPr>
                <a:spLocks/>
              </p:cNvSpPr>
              <p:nvPr/>
            </p:nvSpPr>
            <p:spPr bwMode="auto">
              <a:xfrm>
                <a:off x="1264" y="2804"/>
                <a:ext cx="2909" cy="258"/>
              </a:xfrm>
              <a:custGeom>
                <a:avLst/>
                <a:gdLst>
                  <a:gd name="T0" fmla="*/ 0 w 2909"/>
                  <a:gd name="T1" fmla="*/ 0 h 258"/>
                  <a:gd name="T2" fmla="*/ 223 w 2909"/>
                  <a:gd name="T3" fmla="*/ 0 h 258"/>
                  <a:gd name="T4" fmla="*/ 223 w 2909"/>
                  <a:gd name="T5" fmla="*/ 258 h 258"/>
                  <a:gd name="T6" fmla="*/ 446 w 2909"/>
                  <a:gd name="T7" fmla="*/ 258 h 258"/>
                  <a:gd name="T8" fmla="*/ 446 w 2909"/>
                  <a:gd name="T9" fmla="*/ 5 h 258"/>
                  <a:gd name="T10" fmla="*/ 681 w 2909"/>
                  <a:gd name="T11" fmla="*/ 5 h 258"/>
                  <a:gd name="T12" fmla="*/ 681 w 2909"/>
                  <a:gd name="T13" fmla="*/ 258 h 258"/>
                  <a:gd name="T14" fmla="*/ 887 w 2909"/>
                  <a:gd name="T15" fmla="*/ 258 h 258"/>
                  <a:gd name="T16" fmla="*/ 887 w 2909"/>
                  <a:gd name="T17" fmla="*/ 0 h 258"/>
                  <a:gd name="T18" fmla="*/ 1111 w 2909"/>
                  <a:gd name="T19" fmla="*/ 0 h 258"/>
                  <a:gd name="T20" fmla="*/ 1111 w 2909"/>
                  <a:gd name="T21" fmla="*/ 258 h 258"/>
                  <a:gd name="T22" fmla="*/ 1340 w 2909"/>
                  <a:gd name="T23" fmla="*/ 258 h 258"/>
                  <a:gd name="T24" fmla="*/ 1340 w 2909"/>
                  <a:gd name="T25" fmla="*/ 0 h 258"/>
                  <a:gd name="T26" fmla="*/ 1563 w 2909"/>
                  <a:gd name="T27" fmla="*/ 0 h 258"/>
                  <a:gd name="T28" fmla="*/ 1563 w 2909"/>
                  <a:gd name="T29" fmla="*/ 258 h 258"/>
                  <a:gd name="T30" fmla="*/ 2010 w 2909"/>
                  <a:gd name="T31" fmla="*/ 258 h 258"/>
                  <a:gd name="T32" fmla="*/ 2010 w 2909"/>
                  <a:gd name="T33" fmla="*/ 0 h 258"/>
                  <a:gd name="T34" fmla="*/ 2245 w 2909"/>
                  <a:gd name="T35" fmla="*/ 0 h 258"/>
                  <a:gd name="T36" fmla="*/ 2245 w 2909"/>
                  <a:gd name="T37" fmla="*/ 258 h 258"/>
                  <a:gd name="T38" fmla="*/ 2462 w 2909"/>
                  <a:gd name="T39" fmla="*/ 258 h 258"/>
                  <a:gd name="T40" fmla="*/ 2462 w 2909"/>
                  <a:gd name="T41" fmla="*/ 0 h 258"/>
                  <a:gd name="T42" fmla="*/ 2686 w 2909"/>
                  <a:gd name="T43" fmla="*/ 0 h 258"/>
                  <a:gd name="T44" fmla="*/ 2686 w 2909"/>
                  <a:gd name="T45" fmla="*/ 258 h 258"/>
                  <a:gd name="T46" fmla="*/ 2909 w 2909"/>
                  <a:gd name="T47" fmla="*/ 258 h 258"/>
                  <a:gd name="T48" fmla="*/ 2909 w 2909"/>
                  <a:gd name="T4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09" h="258">
                    <a:moveTo>
                      <a:pt x="0" y="0"/>
                    </a:moveTo>
                    <a:lnTo>
                      <a:pt x="223" y="0"/>
                    </a:lnTo>
                    <a:lnTo>
                      <a:pt x="223" y="258"/>
                    </a:lnTo>
                    <a:lnTo>
                      <a:pt x="446" y="258"/>
                    </a:lnTo>
                    <a:lnTo>
                      <a:pt x="446" y="5"/>
                    </a:lnTo>
                    <a:lnTo>
                      <a:pt x="681" y="5"/>
                    </a:lnTo>
                    <a:lnTo>
                      <a:pt x="681" y="258"/>
                    </a:lnTo>
                    <a:lnTo>
                      <a:pt x="887" y="258"/>
                    </a:lnTo>
                    <a:lnTo>
                      <a:pt x="887" y="0"/>
                    </a:lnTo>
                    <a:lnTo>
                      <a:pt x="1111" y="0"/>
                    </a:lnTo>
                    <a:lnTo>
                      <a:pt x="1111" y="258"/>
                    </a:lnTo>
                    <a:lnTo>
                      <a:pt x="1340" y="258"/>
                    </a:lnTo>
                    <a:lnTo>
                      <a:pt x="1340" y="0"/>
                    </a:lnTo>
                    <a:lnTo>
                      <a:pt x="1563" y="0"/>
                    </a:lnTo>
                    <a:lnTo>
                      <a:pt x="1563" y="258"/>
                    </a:lnTo>
                    <a:lnTo>
                      <a:pt x="2010" y="258"/>
                    </a:lnTo>
                    <a:lnTo>
                      <a:pt x="2010" y="0"/>
                    </a:lnTo>
                    <a:lnTo>
                      <a:pt x="2245" y="0"/>
                    </a:lnTo>
                    <a:lnTo>
                      <a:pt x="2245" y="258"/>
                    </a:lnTo>
                    <a:lnTo>
                      <a:pt x="2462" y="258"/>
                    </a:lnTo>
                    <a:lnTo>
                      <a:pt x="2462" y="0"/>
                    </a:lnTo>
                    <a:lnTo>
                      <a:pt x="2686" y="0"/>
                    </a:lnTo>
                    <a:lnTo>
                      <a:pt x="2686" y="258"/>
                    </a:lnTo>
                    <a:lnTo>
                      <a:pt x="2909" y="258"/>
                    </a:lnTo>
                    <a:lnTo>
                      <a:pt x="290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64"/>
              <p:cNvSpPr>
                <a:spLocks/>
              </p:cNvSpPr>
              <p:nvPr/>
            </p:nvSpPr>
            <p:spPr bwMode="auto">
              <a:xfrm>
                <a:off x="4173" y="2804"/>
                <a:ext cx="1552" cy="258"/>
              </a:xfrm>
              <a:custGeom>
                <a:avLst/>
                <a:gdLst>
                  <a:gd name="T0" fmla="*/ 0 w 1552"/>
                  <a:gd name="T1" fmla="*/ 0 h 258"/>
                  <a:gd name="T2" fmla="*/ 453 w 1552"/>
                  <a:gd name="T3" fmla="*/ 0 h 258"/>
                  <a:gd name="T4" fmla="*/ 453 w 1552"/>
                  <a:gd name="T5" fmla="*/ 258 h 258"/>
                  <a:gd name="T6" fmla="*/ 905 w 1552"/>
                  <a:gd name="T7" fmla="*/ 258 h 258"/>
                  <a:gd name="T8" fmla="*/ 905 w 1552"/>
                  <a:gd name="T9" fmla="*/ 0 h 258"/>
                  <a:gd name="T10" fmla="*/ 1329 w 1552"/>
                  <a:gd name="T11" fmla="*/ 0 h 258"/>
                  <a:gd name="T12" fmla="*/ 1329 w 1552"/>
                  <a:gd name="T13" fmla="*/ 258 h 258"/>
                  <a:gd name="T14" fmla="*/ 1552 w 1552"/>
                  <a:gd name="T15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52" h="258">
                    <a:moveTo>
                      <a:pt x="0" y="0"/>
                    </a:moveTo>
                    <a:lnTo>
                      <a:pt x="453" y="0"/>
                    </a:lnTo>
                    <a:lnTo>
                      <a:pt x="453" y="258"/>
                    </a:lnTo>
                    <a:lnTo>
                      <a:pt x="905" y="258"/>
                    </a:lnTo>
                    <a:lnTo>
                      <a:pt x="905" y="0"/>
                    </a:lnTo>
                    <a:lnTo>
                      <a:pt x="1329" y="0"/>
                    </a:lnTo>
                    <a:lnTo>
                      <a:pt x="1329" y="258"/>
                    </a:lnTo>
                    <a:lnTo>
                      <a:pt x="1552" y="25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766490" y="3594222"/>
              <a:ext cx="14138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差分曼彻斯特</a:t>
              </a:r>
            </a:p>
          </p:txBody>
        </p:sp>
        <p:sp>
          <p:nvSpPr>
            <p:cNvPr id="171" name="Rectangle 69"/>
            <p:cNvSpPr>
              <a:spLocks noChangeArrowheads="1"/>
            </p:cNvSpPr>
            <p:nvPr/>
          </p:nvSpPr>
          <p:spPr bwMode="auto">
            <a:xfrm>
              <a:off x="1138388" y="2598290"/>
              <a:ext cx="104195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归零制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651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信号频率：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曼彻斯特编码和差分曼彻斯特编码产生的信号频率比不归零制高。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自同步能力：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不归零制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从信号波形本身中提取信号时钟频率（这叫做没有自同步能力）。</a:t>
            </a:r>
            <a:endParaRPr lang="en-US" altLang="zh-CN" dirty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具有</a:t>
            </a:r>
            <a:r>
              <a:rPr lang="zh-CN" altLang="en-US" dirty="0">
                <a:solidFill>
                  <a:srgbClr val="C00000"/>
                </a:solidFill>
              </a:rPr>
              <a:t>自同步能力。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  <p:extLst>
      <p:ext uri="{BB962C8B-B14F-4D97-AF65-F5344CB8AC3E}">
        <p14:creationId xmlns:p14="http://schemas.microsoft.com/office/powerpoint/2010/main" val="384398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基带信号往往包含有较多的低频成分，甚至有直流成分，而许多信道并不能传输这种低频分量或直流分量。</a:t>
            </a:r>
            <a:endParaRPr lang="en-US" altLang="zh-CN" dirty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必须对基带信号进行</a:t>
            </a:r>
            <a:r>
              <a:rPr lang="zh-CN" altLang="en-US" dirty="0">
                <a:solidFill>
                  <a:srgbClr val="C00000"/>
                </a:solidFill>
              </a:rPr>
              <a:t>调制</a:t>
            </a:r>
            <a:r>
              <a:rPr lang="zh-CN" altLang="en-US" dirty="0"/>
              <a:t> </a:t>
            </a:r>
            <a:r>
              <a:rPr lang="en-US" altLang="zh-CN" dirty="0"/>
              <a:t>(modulation)</a:t>
            </a:r>
            <a:r>
              <a:rPr lang="zh-CN" altLang="en-US" dirty="0"/>
              <a:t>。 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最基本的调制方法有以下几种：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调幅</a:t>
            </a:r>
            <a:r>
              <a:rPr lang="en-US" altLang="zh-CN" dirty="0">
                <a:solidFill>
                  <a:srgbClr val="0000FF"/>
                </a:solidFill>
              </a:rPr>
              <a:t>(AM)</a:t>
            </a:r>
            <a:r>
              <a:rPr lang="zh-CN" altLang="en-US" dirty="0"/>
              <a:t>：载波的振幅随基带数字信号而变化。 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调频</a:t>
            </a:r>
            <a:r>
              <a:rPr lang="en-US" altLang="zh-CN" dirty="0">
                <a:solidFill>
                  <a:srgbClr val="0000FF"/>
                </a:solidFill>
              </a:rPr>
              <a:t>(FM)</a:t>
            </a:r>
            <a:r>
              <a:rPr lang="zh-CN" altLang="en-US" dirty="0"/>
              <a:t>：载波的频率随基带数字信号而变化。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调相</a:t>
            </a:r>
            <a:r>
              <a:rPr lang="en-US" altLang="zh-CN" dirty="0">
                <a:solidFill>
                  <a:srgbClr val="0000FF"/>
                </a:solidFill>
              </a:rPr>
              <a:t>(PM) </a:t>
            </a:r>
            <a:r>
              <a:rPr lang="zh-CN" altLang="en-US" dirty="0"/>
              <a:t>：载波的初始相位随基带数字信号而变化。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</p:spTree>
    <p:extLst>
      <p:ext uri="{BB962C8B-B14F-4D97-AF65-F5344CB8AC3E}">
        <p14:creationId xmlns:p14="http://schemas.microsoft.com/office/powerpoint/2010/main" val="218809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圆角矩形 179"/>
          <p:cNvSpPr/>
          <p:nvPr/>
        </p:nvSpPr>
        <p:spPr>
          <a:xfrm>
            <a:off x="545145" y="1041663"/>
            <a:ext cx="8053711" cy="298169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Rectangle 12"/>
          <p:cNvSpPr>
            <a:spLocks noChangeArrowheads="1"/>
          </p:cNvSpPr>
          <p:nvPr/>
        </p:nvSpPr>
        <p:spPr bwMode="auto">
          <a:xfrm>
            <a:off x="6860578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" name="Rectangle 12"/>
          <p:cNvSpPr>
            <a:spLocks noChangeArrowheads="1"/>
          </p:cNvSpPr>
          <p:nvPr/>
        </p:nvSpPr>
        <p:spPr bwMode="auto">
          <a:xfrm>
            <a:off x="5757144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" name="Rectangle 12"/>
          <p:cNvSpPr>
            <a:spLocks noChangeArrowheads="1"/>
          </p:cNvSpPr>
          <p:nvPr/>
        </p:nvSpPr>
        <p:spPr bwMode="auto">
          <a:xfrm>
            <a:off x="4678722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Rectangle 12"/>
          <p:cNvSpPr>
            <a:spLocks noChangeArrowheads="1"/>
          </p:cNvSpPr>
          <p:nvPr/>
        </p:nvSpPr>
        <p:spPr bwMode="auto">
          <a:xfrm>
            <a:off x="3591793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" name="Rectangle 12"/>
          <p:cNvSpPr>
            <a:spLocks noChangeArrowheads="1"/>
          </p:cNvSpPr>
          <p:nvPr/>
        </p:nvSpPr>
        <p:spPr bwMode="auto">
          <a:xfrm>
            <a:off x="2513371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  <p:sp>
        <p:nvSpPr>
          <p:cNvPr id="6" name="Rectangle 154"/>
          <p:cNvSpPr>
            <a:spLocks noChangeArrowheads="1"/>
          </p:cNvSpPr>
          <p:nvPr/>
        </p:nvSpPr>
        <p:spPr bwMode="auto">
          <a:xfrm>
            <a:off x="1313552" y="1230696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基带信号</a:t>
            </a:r>
          </a:p>
        </p:txBody>
      </p:sp>
      <p:sp>
        <p:nvSpPr>
          <p:cNvPr id="7" name="Rectangle 155"/>
          <p:cNvSpPr>
            <a:spLocks noChangeArrowheads="1"/>
          </p:cNvSpPr>
          <p:nvPr/>
        </p:nvSpPr>
        <p:spPr bwMode="auto">
          <a:xfrm>
            <a:off x="1723920" y="1887921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调幅</a:t>
            </a:r>
          </a:p>
        </p:txBody>
      </p:sp>
      <p:sp>
        <p:nvSpPr>
          <p:cNvPr id="8" name="Rectangle 156"/>
          <p:cNvSpPr>
            <a:spLocks noChangeArrowheads="1"/>
          </p:cNvSpPr>
          <p:nvPr/>
        </p:nvSpPr>
        <p:spPr bwMode="auto">
          <a:xfrm>
            <a:off x="1723920" y="26022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调频</a:t>
            </a:r>
          </a:p>
        </p:txBody>
      </p:sp>
      <p:sp>
        <p:nvSpPr>
          <p:cNvPr id="9" name="Rectangle 157"/>
          <p:cNvSpPr>
            <a:spLocks noChangeArrowheads="1"/>
          </p:cNvSpPr>
          <p:nvPr/>
        </p:nvSpPr>
        <p:spPr bwMode="auto">
          <a:xfrm>
            <a:off x="1723920" y="32880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调相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6181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1515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681772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2453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47787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53121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58439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407509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695678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" name="Freeform 13"/>
          <p:cNvSpPr>
            <a:spLocks/>
          </p:cNvSpPr>
          <p:nvPr/>
        </p:nvSpPr>
        <p:spPr bwMode="auto">
          <a:xfrm>
            <a:off x="2497497" y="1298270"/>
            <a:ext cx="4875212" cy="282575"/>
          </a:xfrm>
          <a:custGeom>
            <a:avLst/>
            <a:gdLst>
              <a:gd name="T0" fmla="*/ 0 w 4321"/>
              <a:gd name="T1" fmla="*/ 486 h 487"/>
              <a:gd name="T2" fmla="*/ 477 w 4321"/>
              <a:gd name="T3" fmla="*/ 486 h 487"/>
              <a:gd name="T4" fmla="*/ 477 w 4321"/>
              <a:gd name="T5" fmla="*/ 0 h 487"/>
              <a:gd name="T6" fmla="*/ 963 w 4321"/>
              <a:gd name="T7" fmla="*/ 0 h 487"/>
              <a:gd name="T8" fmla="*/ 963 w 4321"/>
              <a:gd name="T9" fmla="*/ 486 h 487"/>
              <a:gd name="T10" fmla="*/ 1926 w 4321"/>
              <a:gd name="T11" fmla="*/ 486 h 487"/>
              <a:gd name="T12" fmla="*/ 1926 w 4321"/>
              <a:gd name="T13" fmla="*/ 0 h 487"/>
              <a:gd name="T14" fmla="*/ 3357 w 4321"/>
              <a:gd name="T15" fmla="*/ 0 h 487"/>
              <a:gd name="T16" fmla="*/ 3357 w 4321"/>
              <a:gd name="T17" fmla="*/ 486 h 487"/>
              <a:gd name="T18" fmla="*/ 4320 w 4321"/>
              <a:gd name="T19" fmla="*/ 486 h 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321" h="487">
                <a:moveTo>
                  <a:pt x="0" y="486"/>
                </a:moveTo>
                <a:lnTo>
                  <a:pt x="477" y="486"/>
                </a:lnTo>
                <a:lnTo>
                  <a:pt x="477" y="0"/>
                </a:lnTo>
                <a:lnTo>
                  <a:pt x="963" y="0"/>
                </a:lnTo>
                <a:lnTo>
                  <a:pt x="963" y="486"/>
                </a:lnTo>
                <a:lnTo>
                  <a:pt x="1926" y="486"/>
                </a:lnTo>
                <a:lnTo>
                  <a:pt x="1926" y="0"/>
                </a:lnTo>
                <a:lnTo>
                  <a:pt x="3357" y="0"/>
                </a:lnTo>
                <a:lnTo>
                  <a:pt x="3357" y="486"/>
                </a:lnTo>
                <a:lnTo>
                  <a:pt x="4320" y="486"/>
                </a:lnTo>
              </a:path>
            </a:pathLst>
          </a:custGeom>
          <a:noFill/>
          <a:ln w="1905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Group 173"/>
          <p:cNvGrpSpPr>
            <a:grpSpLocks/>
          </p:cNvGrpSpPr>
          <p:nvPr/>
        </p:nvGrpSpPr>
        <p:grpSpPr bwMode="auto">
          <a:xfrm>
            <a:off x="2500672" y="2550808"/>
            <a:ext cx="4857750" cy="423862"/>
            <a:chOff x="771" y="669"/>
            <a:chExt cx="3060" cy="267"/>
          </a:xfrm>
        </p:grpSpPr>
        <p:sp>
          <p:nvSpPr>
            <p:cNvPr id="22" name="Freeform 47"/>
            <p:cNvSpPr>
              <a:spLocks/>
            </p:cNvSpPr>
            <p:nvPr/>
          </p:nvSpPr>
          <p:spPr bwMode="auto">
            <a:xfrm>
              <a:off x="1108" y="671"/>
              <a:ext cx="27" cy="142"/>
            </a:xfrm>
            <a:custGeom>
              <a:avLst/>
              <a:gdLst>
                <a:gd name="T0" fmla="*/ 0 w 38"/>
                <a:gd name="T1" fmla="*/ 290 h 290"/>
                <a:gd name="T2" fmla="*/ 26 w 38"/>
                <a:gd name="T3" fmla="*/ 40 h 290"/>
                <a:gd name="T4" fmla="*/ 27 w 38"/>
                <a:gd name="T5" fmla="*/ 28 h 290"/>
                <a:gd name="T6" fmla="*/ 28 w 38"/>
                <a:gd name="T7" fmla="*/ 19 h 290"/>
                <a:gd name="T8" fmla="*/ 30 w 38"/>
                <a:gd name="T9" fmla="*/ 11 h 290"/>
                <a:gd name="T10" fmla="*/ 33 w 38"/>
                <a:gd name="T11" fmla="*/ 4 h 290"/>
                <a:gd name="T12" fmla="*/ 38 w 38"/>
                <a:gd name="T13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90">
                  <a:moveTo>
                    <a:pt x="0" y="290"/>
                  </a:moveTo>
                  <a:lnTo>
                    <a:pt x="26" y="40"/>
                  </a:lnTo>
                  <a:lnTo>
                    <a:pt x="27" y="28"/>
                  </a:lnTo>
                  <a:lnTo>
                    <a:pt x="28" y="19"/>
                  </a:lnTo>
                  <a:lnTo>
                    <a:pt x="30" y="11"/>
                  </a:lnTo>
                  <a:lnTo>
                    <a:pt x="33" y="4"/>
                  </a:lnTo>
                  <a:lnTo>
                    <a:pt x="3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/>
            </p:cNvSpPr>
            <p:nvPr/>
          </p:nvSpPr>
          <p:spPr bwMode="auto">
            <a:xfrm>
              <a:off x="1136" y="673"/>
              <a:ext cx="61" cy="260"/>
            </a:xfrm>
            <a:custGeom>
              <a:avLst/>
              <a:gdLst>
                <a:gd name="T0" fmla="*/ 0 w 87"/>
                <a:gd name="T1" fmla="*/ 0 h 709"/>
                <a:gd name="T2" fmla="*/ 7 w 87"/>
                <a:gd name="T3" fmla="*/ 4 h 709"/>
                <a:gd name="T4" fmla="*/ 12 w 87"/>
                <a:gd name="T5" fmla="*/ 16 h 709"/>
                <a:gd name="T6" fmla="*/ 14 w 87"/>
                <a:gd name="T7" fmla="*/ 33 h 709"/>
                <a:gd name="T8" fmla="*/ 16 w 87"/>
                <a:gd name="T9" fmla="*/ 59 h 709"/>
                <a:gd name="T10" fmla="*/ 43 w 87"/>
                <a:gd name="T11" fmla="*/ 651 h 709"/>
                <a:gd name="T12" fmla="*/ 46 w 87"/>
                <a:gd name="T13" fmla="*/ 684 h 709"/>
                <a:gd name="T14" fmla="*/ 48 w 87"/>
                <a:gd name="T15" fmla="*/ 694 h 709"/>
                <a:gd name="T16" fmla="*/ 53 w 87"/>
                <a:gd name="T17" fmla="*/ 704 h 709"/>
                <a:gd name="T18" fmla="*/ 58 w 87"/>
                <a:gd name="T19" fmla="*/ 708 h 709"/>
                <a:gd name="T20" fmla="*/ 64 w 87"/>
                <a:gd name="T21" fmla="*/ 700 h 709"/>
                <a:gd name="T22" fmla="*/ 68 w 87"/>
                <a:gd name="T23" fmla="*/ 684 h 709"/>
                <a:gd name="T24" fmla="*/ 86 w 87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6" y="59"/>
                  </a:lnTo>
                  <a:lnTo>
                    <a:pt x="43" y="651"/>
                  </a:lnTo>
                  <a:lnTo>
                    <a:pt x="46" y="684"/>
                  </a:lnTo>
                  <a:lnTo>
                    <a:pt x="48" y="694"/>
                  </a:lnTo>
                  <a:lnTo>
                    <a:pt x="53" y="704"/>
                  </a:lnTo>
                  <a:lnTo>
                    <a:pt x="58" y="708"/>
                  </a:lnTo>
                  <a:lnTo>
                    <a:pt x="64" y="700"/>
                  </a:lnTo>
                  <a:lnTo>
                    <a:pt x="68" y="684"/>
                  </a:lnTo>
                  <a:lnTo>
                    <a:pt x="86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49"/>
            <p:cNvGrpSpPr>
              <a:grpSpLocks/>
            </p:cNvGrpSpPr>
            <p:nvPr/>
          </p:nvGrpSpPr>
          <p:grpSpPr bwMode="auto">
            <a:xfrm>
              <a:off x="1197" y="671"/>
              <a:ext cx="85" cy="262"/>
              <a:chOff x="1557" y="2272"/>
              <a:chExt cx="119" cy="713"/>
            </a:xfrm>
          </p:grpSpPr>
          <p:sp>
            <p:nvSpPr>
              <p:cNvPr id="80" name="Freeform 50"/>
              <p:cNvSpPr>
                <a:spLocks/>
              </p:cNvSpPr>
              <p:nvPr/>
            </p:nvSpPr>
            <p:spPr bwMode="auto">
              <a:xfrm>
                <a:off x="1557" y="2272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Freeform 51"/>
              <p:cNvSpPr>
                <a:spLocks/>
              </p:cNvSpPr>
              <p:nvPr/>
            </p:nvSpPr>
            <p:spPr bwMode="auto">
              <a:xfrm>
                <a:off x="1590" y="2276"/>
                <a:ext cx="86" cy="709"/>
              </a:xfrm>
              <a:custGeom>
                <a:avLst/>
                <a:gdLst>
                  <a:gd name="T0" fmla="*/ 0 w 86"/>
                  <a:gd name="T1" fmla="*/ 0 h 709"/>
                  <a:gd name="T2" fmla="*/ 7 w 86"/>
                  <a:gd name="T3" fmla="*/ 4 h 709"/>
                  <a:gd name="T4" fmla="*/ 12 w 86"/>
                  <a:gd name="T5" fmla="*/ 16 h 709"/>
                  <a:gd name="T6" fmla="*/ 14 w 86"/>
                  <a:gd name="T7" fmla="*/ 33 h 709"/>
                  <a:gd name="T8" fmla="*/ 15 w 86"/>
                  <a:gd name="T9" fmla="*/ 59 h 709"/>
                  <a:gd name="T10" fmla="*/ 43 w 86"/>
                  <a:gd name="T11" fmla="*/ 651 h 709"/>
                  <a:gd name="T12" fmla="*/ 45 w 86"/>
                  <a:gd name="T13" fmla="*/ 684 h 709"/>
                  <a:gd name="T14" fmla="*/ 47 w 86"/>
                  <a:gd name="T15" fmla="*/ 694 h 709"/>
                  <a:gd name="T16" fmla="*/ 53 w 86"/>
                  <a:gd name="T17" fmla="*/ 704 h 709"/>
                  <a:gd name="T18" fmla="*/ 57 w 86"/>
                  <a:gd name="T19" fmla="*/ 708 h 709"/>
                  <a:gd name="T20" fmla="*/ 63 w 86"/>
                  <a:gd name="T21" fmla="*/ 700 h 709"/>
                  <a:gd name="T22" fmla="*/ 67 w 86"/>
                  <a:gd name="T23" fmla="*/ 684 h 709"/>
                  <a:gd name="T24" fmla="*/ 85 w 86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4" y="33"/>
                    </a:lnTo>
                    <a:lnTo>
                      <a:pt x="15" y="59"/>
                    </a:lnTo>
                    <a:lnTo>
                      <a:pt x="43" y="651"/>
                    </a:lnTo>
                    <a:lnTo>
                      <a:pt x="45" y="684"/>
                    </a:lnTo>
                    <a:lnTo>
                      <a:pt x="47" y="694"/>
                    </a:lnTo>
                    <a:lnTo>
                      <a:pt x="53" y="704"/>
                    </a:lnTo>
                    <a:lnTo>
                      <a:pt x="57" y="708"/>
                    </a:lnTo>
                    <a:lnTo>
                      <a:pt x="63" y="700"/>
                    </a:lnTo>
                    <a:lnTo>
                      <a:pt x="67" y="684"/>
                    </a:lnTo>
                    <a:lnTo>
                      <a:pt x="85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" name="Freeform 52"/>
            <p:cNvSpPr>
              <a:spLocks/>
            </p:cNvSpPr>
            <p:nvPr/>
          </p:nvSpPr>
          <p:spPr bwMode="auto">
            <a:xfrm>
              <a:off x="1280" y="669"/>
              <a:ext cx="25" cy="144"/>
            </a:xfrm>
            <a:custGeom>
              <a:avLst/>
              <a:gdLst>
                <a:gd name="T0" fmla="*/ 0 w 35"/>
                <a:gd name="T1" fmla="*/ 294 h 294"/>
                <a:gd name="T2" fmla="*/ 22 w 35"/>
                <a:gd name="T3" fmla="*/ 40 h 294"/>
                <a:gd name="T4" fmla="*/ 24 w 35"/>
                <a:gd name="T5" fmla="*/ 28 h 294"/>
                <a:gd name="T6" fmla="*/ 25 w 35"/>
                <a:gd name="T7" fmla="*/ 19 h 294"/>
                <a:gd name="T8" fmla="*/ 26 w 35"/>
                <a:gd name="T9" fmla="*/ 11 h 294"/>
                <a:gd name="T10" fmla="*/ 30 w 35"/>
                <a:gd name="T11" fmla="*/ 4 h 294"/>
                <a:gd name="T12" fmla="*/ 35 w 35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94">
                  <a:moveTo>
                    <a:pt x="0" y="294"/>
                  </a:moveTo>
                  <a:lnTo>
                    <a:pt x="22" y="40"/>
                  </a:lnTo>
                  <a:lnTo>
                    <a:pt x="24" y="28"/>
                  </a:lnTo>
                  <a:lnTo>
                    <a:pt x="25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53"/>
            <p:cNvSpPr>
              <a:spLocks/>
            </p:cNvSpPr>
            <p:nvPr/>
          </p:nvSpPr>
          <p:spPr bwMode="auto">
            <a:xfrm>
              <a:off x="1306" y="671"/>
              <a:ext cx="61" cy="259"/>
            </a:xfrm>
            <a:custGeom>
              <a:avLst/>
              <a:gdLst>
                <a:gd name="T0" fmla="*/ 0 w 85"/>
                <a:gd name="T1" fmla="*/ 0 h 709"/>
                <a:gd name="T2" fmla="*/ 7 w 85"/>
                <a:gd name="T3" fmla="*/ 4 h 709"/>
                <a:gd name="T4" fmla="*/ 12 w 85"/>
                <a:gd name="T5" fmla="*/ 16 h 709"/>
                <a:gd name="T6" fmla="*/ 14 w 85"/>
                <a:gd name="T7" fmla="*/ 33 h 709"/>
                <a:gd name="T8" fmla="*/ 15 w 85"/>
                <a:gd name="T9" fmla="*/ 59 h 709"/>
                <a:gd name="T10" fmla="*/ 42 w 85"/>
                <a:gd name="T11" fmla="*/ 651 h 709"/>
                <a:gd name="T12" fmla="*/ 45 w 85"/>
                <a:gd name="T13" fmla="*/ 684 h 709"/>
                <a:gd name="T14" fmla="*/ 47 w 85"/>
                <a:gd name="T15" fmla="*/ 694 h 709"/>
                <a:gd name="T16" fmla="*/ 52 w 85"/>
                <a:gd name="T17" fmla="*/ 704 h 709"/>
                <a:gd name="T18" fmla="*/ 57 w 85"/>
                <a:gd name="T19" fmla="*/ 708 h 709"/>
                <a:gd name="T20" fmla="*/ 62 w 85"/>
                <a:gd name="T21" fmla="*/ 700 h 709"/>
                <a:gd name="T22" fmla="*/ 66 w 85"/>
                <a:gd name="T23" fmla="*/ 684 h 709"/>
                <a:gd name="T24" fmla="*/ 84 w 85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5" y="59"/>
                  </a:lnTo>
                  <a:lnTo>
                    <a:pt x="42" y="651"/>
                  </a:lnTo>
                  <a:lnTo>
                    <a:pt x="45" y="684"/>
                  </a:lnTo>
                  <a:lnTo>
                    <a:pt x="47" y="694"/>
                  </a:lnTo>
                  <a:lnTo>
                    <a:pt x="52" y="704"/>
                  </a:lnTo>
                  <a:lnTo>
                    <a:pt x="57" y="708"/>
                  </a:lnTo>
                  <a:lnTo>
                    <a:pt x="62" y="700"/>
                  </a:lnTo>
                  <a:lnTo>
                    <a:pt x="66" y="684"/>
                  </a:lnTo>
                  <a:lnTo>
                    <a:pt x="84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54"/>
            <p:cNvSpPr>
              <a:spLocks/>
            </p:cNvSpPr>
            <p:nvPr/>
          </p:nvSpPr>
          <p:spPr bwMode="auto">
            <a:xfrm>
              <a:off x="1366" y="669"/>
              <a:ext cx="25" cy="137"/>
            </a:xfrm>
            <a:custGeom>
              <a:avLst/>
              <a:gdLst>
                <a:gd name="T0" fmla="*/ 0 w 35"/>
                <a:gd name="T1" fmla="*/ 279 h 279"/>
                <a:gd name="T2" fmla="*/ 22 w 35"/>
                <a:gd name="T3" fmla="*/ 40 h 279"/>
                <a:gd name="T4" fmla="*/ 23 w 35"/>
                <a:gd name="T5" fmla="*/ 28 h 279"/>
                <a:gd name="T6" fmla="*/ 24 w 35"/>
                <a:gd name="T7" fmla="*/ 19 h 279"/>
                <a:gd name="T8" fmla="*/ 26 w 35"/>
                <a:gd name="T9" fmla="*/ 11 h 279"/>
                <a:gd name="T10" fmla="*/ 30 w 35"/>
                <a:gd name="T11" fmla="*/ 4 h 279"/>
                <a:gd name="T12" fmla="*/ 35 w 35"/>
                <a:gd name="T1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79">
                  <a:moveTo>
                    <a:pt x="0" y="279"/>
                  </a:moveTo>
                  <a:lnTo>
                    <a:pt x="22" y="40"/>
                  </a:lnTo>
                  <a:lnTo>
                    <a:pt x="23" y="28"/>
                  </a:lnTo>
                  <a:lnTo>
                    <a:pt x="24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55"/>
            <p:cNvSpPr>
              <a:spLocks/>
            </p:cNvSpPr>
            <p:nvPr/>
          </p:nvSpPr>
          <p:spPr bwMode="auto">
            <a:xfrm>
              <a:off x="1392" y="671"/>
              <a:ext cx="67" cy="259"/>
            </a:xfrm>
            <a:custGeom>
              <a:avLst/>
              <a:gdLst>
                <a:gd name="T0" fmla="*/ 0 w 96"/>
                <a:gd name="T1" fmla="*/ 0 h 530"/>
                <a:gd name="T2" fmla="*/ 7 w 96"/>
                <a:gd name="T3" fmla="*/ 3 h 530"/>
                <a:gd name="T4" fmla="*/ 12 w 96"/>
                <a:gd name="T5" fmla="*/ 12 h 530"/>
                <a:gd name="T6" fmla="*/ 14 w 96"/>
                <a:gd name="T7" fmla="*/ 25 h 530"/>
                <a:gd name="T8" fmla="*/ 15 w 96"/>
                <a:gd name="T9" fmla="*/ 44 h 530"/>
                <a:gd name="T10" fmla="*/ 42 w 96"/>
                <a:gd name="T11" fmla="*/ 488 h 530"/>
                <a:gd name="T12" fmla="*/ 45 w 96"/>
                <a:gd name="T13" fmla="*/ 512 h 530"/>
                <a:gd name="T14" fmla="*/ 47 w 96"/>
                <a:gd name="T15" fmla="*/ 520 h 530"/>
                <a:gd name="T16" fmla="*/ 52 w 96"/>
                <a:gd name="T17" fmla="*/ 527 h 530"/>
                <a:gd name="T18" fmla="*/ 57 w 96"/>
                <a:gd name="T19" fmla="*/ 530 h 530"/>
                <a:gd name="T20" fmla="*/ 62 w 96"/>
                <a:gd name="T21" fmla="*/ 524 h 530"/>
                <a:gd name="T22" fmla="*/ 66 w 96"/>
                <a:gd name="T23" fmla="*/ 512 h 530"/>
                <a:gd name="T24" fmla="*/ 96 w 96"/>
                <a:gd name="T25" fmla="*/ 28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96" y="28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56"/>
            <p:cNvSpPr>
              <a:spLocks/>
            </p:cNvSpPr>
            <p:nvPr/>
          </p:nvSpPr>
          <p:spPr bwMode="auto">
            <a:xfrm>
              <a:off x="2817" y="672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57"/>
            <p:cNvSpPr>
              <a:spLocks/>
            </p:cNvSpPr>
            <p:nvPr/>
          </p:nvSpPr>
          <p:spPr bwMode="auto">
            <a:xfrm>
              <a:off x="2841" y="673"/>
              <a:ext cx="60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3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3 w 85"/>
                <a:gd name="T17" fmla="*/ 527 h 530"/>
                <a:gd name="T18" fmla="*/ 57 w 85"/>
                <a:gd name="T19" fmla="*/ 530 h 530"/>
                <a:gd name="T20" fmla="*/ 63 w 85"/>
                <a:gd name="T21" fmla="*/ 524 h 530"/>
                <a:gd name="T22" fmla="*/ 67 w 85"/>
                <a:gd name="T23" fmla="*/ 512 h 530"/>
                <a:gd name="T24" fmla="*/ 85 w 85"/>
                <a:gd name="T25" fmla="*/ 2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5" y="27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58"/>
            <p:cNvSpPr>
              <a:spLocks/>
            </p:cNvSpPr>
            <p:nvPr/>
          </p:nvSpPr>
          <p:spPr bwMode="auto">
            <a:xfrm>
              <a:off x="2901" y="672"/>
              <a:ext cx="24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59"/>
            <p:cNvSpPr>
              <a:spLocks/>
            </p:cNvSpPr>
            <p:nvPr/>
          </p:nvSpPr>
          <p:spPr bwMode="auto">
            <a:xfrm>
              <a:off x="2925" y="673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2 w 87"/>
                <a:gd name="T17" fmla="*/ 527 h 530"/>
                <a:gd name="T18" fmla="*/ 57 w 87"/>
                <a:gd name="T19" fmla="*/ 530 h 530"/>
                <a:gd name="T20" fmla="*/ 62 w 87"/>
                <a:gd name="T21" fmla="*/ 524 h 530"/>
                <a:gd name="T22" fmla="*/ 66 w 87"/>
                <a:gd name="T23" fmla="*/ 512 h 530"/>
                <a:gd name="T24" fmla="*/ 87 w 87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7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60"/>
            <p:cNvSpPr>
              <a:spLocks/>
            </p:cNvSpPr>
            <p:nvPr/>
          </p:nvSpPr>
          <p:spPr bwMode="auto">
            <a:xfrm>
              <a:off x="2985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61"/>
            <p:cNvSpPr>
              <a:spLocks/>
            </p:cNvSpPr>
            <p:nvPr/>
          </p:nvSpPr>
          <p:spPr bwMode="auto">
            <a:xfrm>
              <a:off x="3009" y="671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3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4 w 85"/>
                <a:gd name="T13" fmla="*/ 512 h 530"/>
                <a:gd name="T14" fmla="*/ 46 w 85"/>
                <a:gd name="T15" fmla="*/ 520 h 530"/>
                <a:gd name="T16" fmla="*/ 52 w 85"/>
                <a:gd name="T17" fmla="*/ 527 h 530"/>
                <a:gd name="T18" fmla="*/ 56 w 85"/>
                <a:gd name="T19" fmla="*/ 530 h 530"/>
                <a:gd name="T20" fmla="*/ 62 w 85"/>
                <a:gd name="T21" fmla="*/ 524 h 530"/>
                <a:gd name="T22" fmla="*/ 65 w 85"/>
                <a:gd name="T23" fmla="*/ 512 h 530"/>
                <a:gd name="T24" fmla="*/ 85 w 85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5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62"/>
            <p:cNvGrpSpPr>
              <a:grpSpLocks/>
            </p:cNvGrpSpPr>
            <p:nvPr/>
          </p:nvGrpSpPr>
          <p:grpSpPr bwMode="auto">
            <a:xfrm>
              <a:off x="3069" y="670"/>
              <a:ext cx="85" cy="261"/>
              <a:chOff x="4190" y="2269"/>
              <a:chExt cx="119" cy="713"/>
            </a:xfrm>
          </p:grpSpPr>
          <p:sp>
            <p:nvSpPr>
              <p:cNvPr id="78" name="Freeform 63"/>
              <p:cNvSpPr>
                <a:spLocks/>
              </p:cNvSpPr>
              <p:nvPr/>
            </p:nvSpPr>
            <p:spPr bwMode="auto">
              <a:xfrm>
                <a:off x="4190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64"/>
              <p:cNvSpPr>
                <a:spLocks/>
              </p:cNvSpPr>
              <p:nvPr/>
            </p:nvSpPr>
            <p:spPr bwMode="auto">
              <a:xfrm>
                <a:off x="4225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Freeform 65"/>
            <p:cNvSpPr>
              <a:spLocks/>
            </p:cNvSpPr>
            <p:nvPr/>
          </p:nvSpPr>
          <p:spPr bwMode="auto">
            <a:xfrm>
              <a:off x="2480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66"/>
            <p:cNvSpPr>
              <a:spLocks/>
            </p:cNvSpPr>
            <p:nvPr/>
          </p:nvSpPr>
          <p:spPr bwMode="auto">
            <a:xfrm>
              <a:off x="2503" y="673"/>
              <a:ext cx="63" cy="260"/>
            </a:xfrm>
            <a:custGeom>
              <a:avLst/>
              <a:gdLst>
                <a:gd name="T0" fmla="*/ 0 w 89"/>
                <a:gd name="T1" fmla="*/ 0 h 530"/>
                <a:gd name="T2" fmla="*/ 7 w 89"/>
                <a:gd name="T3" fmla="*/ 3 h 530"/>
                <a:gd name="T4" fmla="*/ 12 w 89"/>
                <a:gd name="T5" fmla="*/ 12 h 530"/>
                <a:gd name="T6" fmla="*/ 14 w 89"/>
                <a:gd name="T7" fmla="*/ 25 h 530"/>
                <a:gd name="T8" fmla="*/ 15 w 89"/>
                <a:gd name="T9" fmla="*/ 44 h 530"/>
                <a:gd name="T10" fmla="*/ 43 w 89"/>
                <a:gd name="T11" fmla="*/ 488 h 530"/>
                <a:gd name="T12" fmla="*/ 45 w 89"/>
                <a:gd name="T13" fmla="*/ 512 h 530"/>
                <a:gd name="T14" fmla="*/ 47 w 89"/>
                <a:gd name="T15" fmla="*/ 520 h 530"/>
                <a:gd name="T16" fmla="*/ 53 w 89"/>
                <a:gd name="T17" fmla="*/ 527 h 530"/>
                <a:gd name="T18" fmla="*/ 57 w 89"/>
                <a:gd name="T19" fmla="*/ 530 h 530"/>
                <a:gd name="T20" fmla="*/ 63 w 89"/>
                <a:gd name="T21" fmla="*/ 524 h 530"/>
                <a:gd name="T22" fmla="*/ 67 w 89"/>
                <a:gd name="T23" fmla="*/ 512 h 530"/>
                <a:gd name="T24" fmla="*/ 89 w 89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9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67"/>
            <p:cNvSpPr>
              <a:spLocks/>
            </p:cNvSpPr>
            <p:nvPr/>
          </p:nvSpPr>
          <p:spPr bwMode="auto">
            <a:xfrm>
              <a:off x="2564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68"/>
            <p:cNvSpPr>
              <a:spLocks/>
            </p:cNvSpPr>
            <p:nvPr/>
          </p:nvSpPr>
          <p:spPr bwMode="auto">
            <a:xfrm>
              <a:off x="2587" y="673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69"/>
            <p:cNvSpPr>
              <a:spLocks/>
            </p:cNvSpPr>
            <p:nvPr/>
          </p:nvSpPr>
          <p:spPr bwMode="auto">
            <a:xfrm>
              <a:off x="2648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70"/>
            <p:cNvSpPr>
              <a:spLocks/>
            </p:cNvSpPr>
            <p:nvPr/>
          </p:nvSpPr>
          <p:spPr bwMode="auto">
            <a:xfrm>
              <a:off x="2672" y="671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3 w 86"/>
                <a:gd name="T7" fmla="*/ 25 h 530"/>
                <a:gd name="T8" fmla="*/ 15 w 86"/>
                <a:gd name="T9" fmla="*/ 44 h 530"/>
                <a:gd name="T10" fmla="*/ 42 w 86"/>
                <a:gd name="T11" fmla="*/ 488 h 530"/>
                <a:gd name="T12" fmla="*/ 44 w 86"/>
                <a:gd name="T13" fmla="*/ 512 h 530"/>
                <a:gd name="T14" fmla="*/ 46 w 86"/>
                <a:gd name="T15" fmla="*/ 520 h 530"/>
                <a:gd name="T16" fmla="*/ 52 w 86"/>
                <a:gd name="T17" fmla="*/ 527 h 530"/>
                <a:gd name="T18" fmla="*/ 56 w 86"/>
                <a:gd name="T19" fmla="*/ 530 h 530"/>
                <a:gd name="T20" fmla="*/ 62 w 86"/>
                <a:gd name="T21" fmla="*/ 524 h 530"/>
                <a:gd name="T22" fmla="*/ 65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71"/>
            <p:cNvGrpSpPr>
              <a:grpSpLocks/>
            </p:cNvGrpSpPr>
            <p:nvPr/>
          </p:nvGrpSpPr>
          <p:grpSpPr bwMode="auto">
            <a:xfrm>
              <a:off x="2731" y="670"/>
              <a:ext cx="85" cy="261"/>
              <a:chOff x="3715" y="2269"/>
              <a:chExt cx="119" cy="713"/>
            </a:xfrm>
          </p:grpSpPr>
          <p:sp>
            <p:nvSpPr>
              <p:cNvPr id="76" name="Freeform 72"/>
              <p:cNvSpPr>
                <a:spLocks/>
              </p:cNvSpPr>
              <p:nvPr/>
            </p:nvSpPr>
            <p:spPr bwMode="auto">
              <a:xfrm>
                <a:off x="3715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73"/>
              <p:cNvSpPr>
                <a:spLocks/>
              </p:cNvSpPr>
              <p:nvPr/>
            </p:nvSpPr>
            <p:spPr bwMode="auto">
              <a:xfrm>
                <a:off x="3750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Freeform 74"/>
            <p:cNvSpPr>
              <a:spLocks/>
            </p:cNvSpPr>
            <p:nvPr/>
          </p:nvSpPr>
          <p:spPr bwMode="auto">
            <a:xfrm>
              <a:off x="2136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75"/>
            <p:cNvSpPr>
              <a:spLocks/>
            </p:cNvSpPr>
            <p:nvPr/>
          </p:nvSpPr>
          <p:spPr bwMode="auto">
            <a:xfrm>
              <a:off x="2159" y="673"/>
              <a:ext cx="62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76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76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76"/>
            <p:cNvSpPr>
              <a:spLocks/>
            </p:cNvSpPr>
            <p:nvPr/>
          </p:nvSpPr>
          <p:spPr bwMode="auto">
            <a:xfrm>
              <a:off x="2220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77"/>
            <p:cNvSpPr>
              <a:spLocks/>
            </p:cNvSpPr>
            <p:nvPr/>
          </p:nvSpPr>
          <p:spPr bwMode="auto">
            <a:xfrm>
              <a:off x="2243" y="673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78"/>
            <p:cNvSpPr>
              <a:spLocks/>
            </p:cNvSpPr>
            <p:nvPr/>
          </p:nvSpPr>
          <p:spPr bwMode="auto">
            <a:xfrm>
              <a:off x="2304" y="670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9"/>
            <p:cNvSpPr>
              <a:spLocks/>
            </p:cNvSpPr>
            <p:nvPr/>
          </p:nvSpPr>
          <p:spPr bwMode="auto">
            <a:xfrm>
              <a:off x="2328" y="671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3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4 w 87"/>
                <a:gd name="T13" fmla="*/ 512 h 530"/>
                <a:gd name="T14" fmla="*/ 46 w 87"/>
                <a:gd name="T15" fmla="*/ 520 h 530"/>
                <a:gd name="T16" fmla="*/ 52 w 87"/>
                <a:gd name="T17" fmla="*/ 527 h 530"/>
                <a:gd name="T18" fmla="*/ 56 w 87"/>
                <a:gd name="T19" fmla="*/ 530 h 530"/>
                <a:gd name="T20" fmla="*/ 62 w 87"/>
                <a:gd name="T21" fmla="*/ 524 h 530"/>
                <a:gd name="T22" fmla="*/ 65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0"/>
            <p:cNvSpPr>
              <a:spLocks/>
            </p:cNvSpPr>
            <p:nvPr/>
          </p:nvSpPr>
          <p:spPr bwMode="auto">
            <a:xfrm>
              <a:off x="2387" y="670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81"/>
            <p:cNvSpPr>
              <a:spLocks/>
            </p:cNvSpPr>
            <p:nvPr/>
          </p:nvSpPr>
          <p:spPr bwMode="auto">
            <a:xfrm>
              <a:off x="2412" y="671"/>
              <a:ext cx="67" cy="260"/>
            </a:xfrm>
            <a:custGeom>
              <a:avLst/>
              <a:gdLst>
                <a:gd name="T0" fmla="*/ 0 w 94"/>
                <a:gd name="T1" fmla="*/ 0 h 530"/>
                <a:gd name="T2" fmla="*/ 7 w 94"/>
                <a:gd name="T3" fmla="*/ 3 h 530"/>
                <a:gd name="T4" fmla="*/ 12 w 94"/>
                <a:gd name="T5" fmla="*/ 12 h 530"/>
                <a:gd name="T6" fmla="*/ 13 w 94"/>
                <a:gd name="T7" fmla="*/ 25 h 530"/>
                <a:gd name="T8" fmla="*/ 15 w 94"/>
                <a:gd name="T9" fmla="*/ 44 h 530"/>
                <a:gd name="T10" fmla="*/ 42 w 94"/>
                <a:gd name="T11" fmla="*/ 488 h 530"/>
                <a:gd name="T12" fmla="*/ 44 w 94"/>
                <a:gd name="T13" fmla="*/ 512 h 530"/>
                <a:gd name="T14" fmla="*/ 46 w 94"/>
                <a:gd name="T15" fmla="*/ 520 h 530"/>
                <a:gd name="T16" fmla="*/ 52 w 94"/>
                <a:gd name="T17" fmla="*/ 527 h 530"/>
                <a:gd name="T18" fmla="*/ 56 w 94"/>
                <a:gd name="T19" fmla="*/ 530 h 530"/>
                <a:gd name="T20" fmla="*/ 62 w 94"/>
                <a:gd name="T21" fmla="*/ 524 h 530"/>
                <a:gd name="T22" fmla="*/ 65 w 94"/>
                <a:gd name="T23" fmla="*/ 512 h 530"/>
                <a:gd name="T24" fmla="*/ 94 w 94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4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" name="Group 82"/>
            <p:cNvGrpSpPr>
              <a:grpSpLocks/>
            </p:cNvGrpSpPr>
            <p:nvPr/>
          </p:nvGrpSpPr>
          <p:grpSpPr bwMode="auto">
            <a:xfrm>
              <a:off x="771" y="676"/>
              <a:ext cx="337" cy="260"/>
              <a:chOff x="956" y="2283"/>
              <a:chExt cx="476" cy="711"/>
            </a:xfrm>
          </p:grpSpPr>
          <p:sp>
            <p:nvSpPr>
              <p:cNvPr id="72" name="Freeform 83"/>
              <p:cNvSpPr>
                <a:spLocks/>
              </p:cNvSpPr>
              <p:nvPr/>
            </p:nvSpPr>
            <p:spPr bwMode="auto">
              <a:xfrm>
                <a:off x="956" y="2284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84"/>
              <p:cNvSpPr>
                <a:spLocks/>
              </p:cNvSpPr>
              <p:nvPr/>
            </p:nvSpPr>
            <p:spPr bwMode="auto">
              <a:xfrm>
                <a:off x="1022" y="2283"/>
                <a:ext cx="171" cy="711"/>
              </a:xfrm>
              <a:custGeom>
                <a:avLst/>
                <a:gdLst>
                  <a:gd name="T0" fmla="*/ 0 w 171"/>
                  <a:gd name="T1" fmla="*/ 0 h 711"/>
                  <a:gd name="T2" fmla="*/ 14 w 171"/>
                  <a:gd name="T3" fmla="*/ 4 h 711"/>
                  <a:gd name="T4" fmla="*/ 24 w 171"/>
                  <a:gd name="T5" fmla="*/ 16 h 711"/>
                  <a:gd name="T6" fmla="*/ 28 w 171"/>
                  <a:gd name="T7" fmla="*/ 33 h 711"/>
                  <a:gd name="T8" fmla="*/ 31 w 171"/>
                  <a:gd name="T9" fmla="*/ 59 h 711"/>
                  <a:gd name="T10" fmla="*/ 85 w 171"/>
                  <a:gd name="T11" fmla="*/ 653 h 711"/>
                  <a:gd name="T12" fmla="*/ 90 w 171"/>
                  <a:gd name="T13" fmla="*/ 686 h 711"/>
                  <a:gd name="T14" fmla="*/ 95 w 171"/>
                  <a:gd name="T15" fmla="*/ 696 h 711"/>
                  <a:gd name="T16" fmla="*/ 106 w 171"/>
                  <a:gd name="T17" fmla="*/ 706 h 711"/>
                  <a:gd name="T18" fmla="*/ 115 w 171"/>
                  <a:gd name="T19" fmla="*/ 710 h 711"/>
                  <a:gd name="T20" fmla="*/ 126 w 171"/>
                  <a:gd name="T21" fmla="*/ 702 h 711"/>
                  <a:gd name="T22" fmla="*/ 134 w 171"/>
                  <a:gd name="T23" fmla="*/ 686 h 711"/>
                  <a:gd name="T24" fmla="*/ 170 w 171"/>
                  <a:gd name="T25" fmla="*/ 381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11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3"/>
                    </a:lnTo>
                    <a:lnTo>
                      <a:pt x="90" y="686"/>
                    </a:lnTo>
                    <a:lnTo>
                      <a:pt x="95" y="696"/>
                    </a:lnTo>
                    <a:lnTo>
                      <a:pt x="106" y="706"/>
                    </a:lnTo>
                    <a:lnTo>
                      <a:pt x="115" y="710"/>
                    </a:lnTo>
                    <a:lnTo>
                      <a:pt x="126" y="702"/>
                    </a:lnTo>
                    <a:lnTo>
                      <a:pt x="134" y="686"/>
                    </a:lnTo>
                    <a:lnTo>
                      <a:pt x="170" y="381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Freeform 85"/>
              <p:cNvSpPr>
                <a:spLocks/>
              </p:cNvSpPr>
              <p:nvPr/>
            </p:nvSpPr>
            <p:spPr bwMode="auto">
              <a:xfrm>
                <a:off x="1194" y="2290"/>
                <a:ext cx="66" cy="363"/>
              </a:xfrm>
              <a:custGeom>
                <a:avLst/>
                <a:gdLst>
                  <a:gd name="T0" fmla="*/ 0 w 66"/>
                  <a:gd name="T1" fmla="*/ 362 h 363"/>
                  <a:gd name="T2" fmla="*/ 40 w 66"/>
                  <a:gd name="T3" fmla="*/ 54 h 363"/>
                  <a:gd name="T4" fmla="*/ 43 w 66"/>
                  <a:gd name="T5" fmla="*/ 38 h 363"/>
                  <a:gd name="T6" fmla="*/ 44 w 66"/>
                  <a:gd name="T7" fmla="*/ 25 h 363"/>
                  <a:gd name="T8" fmla="*/ 48 w 66"/>
                  <a:gd name="T9" fmla="*/ 15 h 363"/>
                  <a:gd name="T10" fmla="*/ 56 w 66"/>
                  <a:gd name="T11" fmla="*/ 6 h 363"/>
                  <a:gd name="T12" fmla="*/ 65 w 66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3" y="38"/>
                    </a:lnTo>
                    <a:lnTo>
                      <a:pt x="44" y="25"/>
                    </a:lnTo>
                    <a:lnTo>
                      <a:pt x="48" y="15"/>
                    </a:lnTo>
                    <a:lnTo>
                      <a:pt x="56" y="6"/>
                    </a:lnTo>
                    <a:lnTo>
                      <a:pt x="65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Freeform 86"/>
              <p:cNvSpPr>
                <a:spLocks/>
              </p:cNvSpPr>
              <p:nvPr/>
            </p:nvSpPr>
            <p:spPr bwMode="auto">
              <a:xfrm>
                <a:off x="1261" y="2285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" name="Group 87"/>
            <p:cNvGrpSpPr>
              <a:grpSpLocks/>
            </p:cNvGrpSpPr>
            <p:nvPr/>
          </p:nvGrpSpPr>
          <p:grpSpPr bwMode="auto">
            <a:xfrm>
              <a:off x="1462" y="671"/>
              <a:ext cx="338" cy="262"/>
              <a:chOff x="1929" y="2272"/>
              <a:chExt cx="476" cy="713"/>
            </a:xfrm>
          </p:grpSpPr>
          <p:grpSp>
            <p:nvGrpSpPr>
              <p:cNvPr id="66" name="Group 88"/>
              <p:cNvGrpSpPr>
                <a:grpSpLocks/>
              </p:cNvGrpSpPr>
              <p:nvPr/>
            </p:nvGrpSpPr>
            <p:grpSpPr bwMode="auto">
              <a:xfrm>
                <a:off x="1929" y="2272"/>
                <a:ext cx="238" cy="713"/>
                <a:chOff x="1929" y="2272"/>
                <a:chExt cx="238" cy="713"/>
              </a:xfrm>
            </p:grpSpPr>
            <p:sp>
              <p:nvSpPr>
                <p:cNvPr id="70" name="Freeform 89"/>
                <p:cNvSpPr>
                  <a:spLocks/>
                </p:cNvSpPr>
                <p:nvPr/>
              </p:nvSpPr>
              <p:spPr bwMode="auto">
                <a:xfrm>
                  <a:off x="1929" y="2272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Freeform 90"/>
                <p:cNvSpPr>
                  <a:spLocks/>
                </p:cNvSpPr>
                <p:nvPr/>
              </p:nvSpPr>
              <p:spPr bwMode="auto">
                <a:xfrm>
                  <a:off x="1995" y="2276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Group 91"/>
              <p:cNvGrpSpPr>
                <a:grpSpLocks/>
              </p:cNvGrpSpPr>
              <p:nvPr/>
            </p:nvGrpSpPr>
            <p:grpSpPr bwMode="auto">
              <a:xfrm>
                <a:off x="2169" y="2272"/>
                <a:ext cx="236" cy="713"/>
                <a:chOff x="2169" y="2272"/>
                <a:chExt cx="236" cy="713"/>
              </a:xfrm>
            </p:grpSpPr>
            <p:sp>
              <p:nvSpPr>
                <p:cNvPr id="68" name="Freeform 92"/>
                <p:cNvSpPr>
                  <a:spLocks/>
                </p:cNvSpPr>
                <p:nvPr/>
              </p:nvSpPr>
              <p:spPr bwMode="auto">
                <a:xfrm>
                  <a:off x="2169" y="2272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Freeform 93"/>
                <p:cNvSpPr>
                  <a:spLocks/>
                </p:cNvSpPr>
                <p:nvPr/>
              </p:nvSpPr>
              <p:spPr bwMode="auto">
                <a:xfrm>
                  <a:off x="2234" y="2276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3" name="Freeform 94"/>
            <p:cNvSpPr>
              <a:spLocks/>
            </p:cNvSpPr>
            <p:nvPr/>
          </p:nvSpPr>
          <p:spPr bwMode="auto">
            <a:xfrm>
              <a:off x="1799" y="669"/>
              <a:ext cx="48" cy="144"/>
            </a:xfrm>
            <a:custGeom>
              <a:avLst/>
              <a:gdLst>
                <a:gd name="T0" fmla="*/ 0 w 68"/>
                <a:gd name="T1" fmla="*/ 294 h 294"/>
                <a:gd name="T2" fmla="*/ 43 w 68"/>
                <a:gd name="T3" fmla="*/ 40 h 294"/>
                <a:gd name="T4" fmla="*/ 45 w 68"/>
                <a:gd name="T5" fmla="*/ 28 h 294"/>
                <a:gd name="T6" fmla="*/ 47 w 68"/>
                <a:gd name="T7" fmla="*/ 19 h 294"/>
                <a:gd name="T8" fmla="*/ 51 w 68"/>
                <a:gd name="T9" fmla="*/ 11 h 294"/>
                <a:gd name="T10" fmla="*/ 58 w 68"/>
                <a:gd name="T11" fmla="*/ 4 h 294"/>
                <a:gd name="T12" fmla="*/ 68 w 68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294">
                  <a:moveTo>
                    <a:pt x="0" y="294"/>
                  </a:moveTo>
                  <a:lnTo>
                    <a:pt x="43" y="40"/>
                  </a:lnTo>
                  <a:lnTo>
                    <a:pt x="45" y="28"/>
                  </a:lnTo>
                  <a:lnTo>
                    <a:pt x="47" y="19"/>
                  </a:lnTo>
                  <a:lnTo>
                    <a:pt x="51" y="11"/>
                  </a:lnTo>
                  <a:lnTo>
                    <a:pt x="58" y="4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95"/>
            <p:cNvSpPr>
              <a:spLocks/>
            </p:cNvSpPr>
            <p:nvPr/>
          </p:nvSpPr>
          <p:spPr bwMode="auto">
            <a:xfrm>
              <a:off x="1848" y="671"/>
              <a:ext cx="120" cy="259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96"/>
            <p:cNvSpPr>
              <a:spLocks/>
            </p:cNvSpPr>
            <p:nvPr/>
          </p:nvSpPr>
          <p:spPr bwMode="auto">
            <a:xfrm>
              <a:off x="1968" y="669"/>
              <a:ext cx="49" cy="143"/>
            </a:xfrm>
            <a:custGeom>
              <a:avLst/>
              <a:gdLst>
                <a:gd name="T0" fmla="*/ 0 w 71"/>
                <a:gd name="T1" fmla="*/ 291 h 291"/>
                <a:gd name="T2" fmla="*/ 45 w 71"/>
                <a:gd name="T3" fmla="*/ 40 h 291"/>
                <a:gd name="T4" fmla="*/ 48 w 71"/>
                <a:gd name="T5" fmla="*/ 28 h 291"/>
                <a:gd name="T6" fmla="*/ 50 w 71"/>
                <a:gd name="T7" fmla="*/ 19 h 291"/>
                <a:gd name="T8" fmla="*/ 53 w 71"/>
                <a:gd name="T9" fmla="*/ 11 h 291"/>
                <a:gd name="T10" fmla="*/ 61 w 71"/>
                <a:gd name="T11" fmla="*/ 4 h 291"/>
                <a:gd name="T12" fmla="*/ 71 w 71"/>
                <a:gd name="T13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291">
                  <a:moveTo>
                    <a:pt x="0" y="291"/>
                  </a:moveTo>
                  <a:lnTo>
                    <a:pt x="45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97"/>
            <p:cNvSpPr>
              <a:spLocks/>
            </p:cNvSpPr>
            <p:nvPr/>
          </p:nvSpPr>
          <p:spPr bwMode="auto">
            <a:xfrm>
              <a:off x="2019" y="671"/>
              <a:ext cx="117" cy="259"/>
            </a:xfrm>
            <a:custGeom>
              <a:avLst/>
              <a:gdLst>
                <a:gd name="T0" fmla="*/ 0 w 164"/>
                <a:gd name="T1" fmla="*/ 0 h 530"/>
                <a:gd name="T2" fmla="*/ 14 w 164"/>
                <a:gd name="T3" fmla="*/ 3 h 530"/>
                <a:gd name="T4" fmla="*/ 24 w 164"/>
                <a:gd name="T5" fmla="*/ 12 h 530"/>
                <a:gd name="T6" fmla="*/ 27 w 164"/>
                <a:gd name="T7" fmla="*/ 25 h 530"/>
                <a:gd name="T8" fmla="*/ 30 w 164"/>
                <a:gd name="T9" fmla="*/ 44 h 530"/>
                <a:gd name="T10" fmla="*/ 84 w 164"/>
                <a:gd name="T11" fmla="*/ 488 h 530"/>
                <a:gd name="T12" fmla="*/ 89 w 164"/>
                <a:gd name="T13" fmla="*/ 512 h 530"/>
                <a:gd name="T14" fmla="*/ 93 w 164"/>
                <a:gd name="T15" fmla="*/ 520 h 530"/>
                <a:gd name="T16" fmla="*/ 104 w 164"/>
                <a:gd name="T17" fmla="*/ 527 h 530"/>
                <a:gd name="T18" fmla="*/ 113 w 164"/>
                <a:gd name="T19" fmla="*/ 530 h 530"/>
                <a:gd name="T20" fmla="*/ 124 w 164"/>
                <a:gd name="T21" fmla="*/ 524 h 530"/>
                <a:gd name="T22" fmla="*/ 132 w 164"/>
                <a:gd name="T23" fmla="*/ 512 h 530"/>
                <a:gd name="T24" fmla="*/ 164 w 164"/>
                <a:gd name="T25" fmla="*/ 28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64" y="28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98"/>
            <p:cNvSpPr>
              <a:spLocks/>
            </p:cNvSpPr>
            <p:nvPr/>
          </p:nvSpPr>
          <p:spPr bwMode="auto">
            <a:xfrm>
              <a:off x="3155" y="672"/>
              <a:ext cx="46" cy="133"/>
            </a:xfrm>
            <a:custGeom>
              <a:avLst/>
              <a:gdLst>
                <a:gd name="T0" fmla="*/ 0 w 65"/>
                <a:gd name="T1" fmla="*/ 362 h 363"/>
                <a:gd name="T2" fmla="*/ 40 w 65"/>
                <a:gd name="T3" fmla="*/ 54 h 363"/>
                <a:gd name="T4" fmla="*/ 42 w 65"/>
                <a:gd name="T5" fmla="*/ 38 h 363"/>
                <a:gd name="T6" fmla="*/ 44 w 65"/>
                <a:gd name="T7" fmla="*/ 25 h 363"/>
                <a:gd name="T8" fmla="*/ 47 w 65"/>
                <a:gd name="T9" fmla="*/ 15 h 363"/>
                <a:gd name="T10" fmla="*/ 55 w 65"/>
                <a:gd name="T11" fmla="*/ 6 h 363"/>
                <a:gd name="T12" fmla="*/ 64 w 6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363">
                  <a:moveTo>
                    <a:pt x="0" y="362"/>
                  </a:moveTo>
                  <a:lnTo>
                    <a:pt x="40" y="54"/>
                  </a:lnTo>
                  <a:lnTo>
                    <a:pt x="42" y="38"/>
                  </a:lnTo>
                  <a:lnTo>
                    <a:pt x="44" y="25"/>
                  </a:lnTo>
                  <a:lnTo>
                    <a:pt x="47" y="15"/>
                  </a:lnTo>
                  <a:lnTo>
                    <a:pt x="55" y="6"/>
                  </a:lnTo>
                  <a:lnTo>
                    <a:pt x="6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99"/>
            <p:cNvSpPr>
              <a:spLocks/>
            </p:cNvSpPr>
            <p:nvPr/>
          </p:nvSpPr>
          <p:spPr bwMode="auto">
            <a:xfrm>
              <a:off x="3202" y="673"/>
              <a:ext cx="124" cy="260"/>
            </a:xfrm>
            <a:custGeom>
              <a:avLst/>
              <a:gdLst>
                <a:gd name="T0" fmla="*/ 0 w 174"/>
                <a:gd name="T1" fmla="*/ 0 h 530"/>
                <a:gd name="T2" fmla="*/ 14 w 174"/>
                <a:gd name="T3" fmla="*/ 3 h 530"/>
                <a:gd name="T4" fmla="*/ 24 w 174"/>
                <a:gd name="T5" fmla="*/ 12 h 530"/>
                <a:gd name="T6" fmla="*/ 28 w 174"/>
                <a:gd name="T7" fmla="*/ 25 h 530"/>
                <a:gd name="T8" fmla="*/ 31 w 174"/>
                <a:gd name="T9" fmla="*/ 44 h 530"/>
                <a:gd name="T10" fmla="*/ 86 w 174"/>
                <a:gd name="T11" fmla="*/ 488 h 530"/>
                <a:gd name="T12" fmla="*/ 91 w 174"/>
                <a:gd name="T13" fmla="*/ 512 h 530"/>
                <a:gd name="T14" fmla="*/ 95 w 174"/>
                <a:gd name="T15" fmla="*/ 520 h 530"/>
                <a:gd name="T16" fmla="*/ 106 w 174"/>
                <a:gd name="T17" fmla="*/ 527 h 530"/>
                <a:gd name="T18" fmla="*/ 115 w 174"/>
                <a:gd name="T19" fmla="*/ 530 h 530"/>
                <a:gd name="T20" fmla="*/ 127 w 174"/>
                <a:gd name="T21" fmla="*/ 524 h 530"/>
                <a:gd name="T22" fmla="*/ 135 w 174"/>
                <a:gd name="T23" fmla="*/ 512 h 530"/>
                <a:gd name="T24" fmla="*/ 174 w 174"/>
                <a:gd name="T25" fmla="*/ 26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6" y="488"/>
                  </a:lnTo>
                  <a:lnTo>
                    <a:pt x="91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7" y="524"/>
                  </a:lnTo>
                  <a:lnTo>
                    <a:pt x="135" y="512"/>
                  </a:lnTo>
                  <a:lnTo>
                    <a:pt x="174" y="26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00"/>
            <p:cNvSpPr>
              <a:spLocks/>
            </p:cNvSpPr>
            <p:nvPr/>
          </p:nvSpPr>
          <p:spPr bwMode="auto">
            <a:xfrm>
              <a:off x="3326" y="672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01"/>
            <p:cNvSpPr>
              <a:spLocks/>
            </p:cNvSpPr>
            <p:nvPr/>
          </p:nvSpPr>
          <p:spPr bwMode="auto">
            <a:xfrm>
              <a:off x="3371" y="673"/>
              <a:ext cx="125" cy="260"/>
            </a:xfrm>
            <a:custGeom>
              <a:avLst/>
              <a:gdLst>
                <a:gd name="T0" fmla="*/ 0 w 175"/>
                <a:gd name="T1" fmla="*/ 0 h 530"/>
                <a:gd name="T2" fmla="*/ 14 w 175"/>
                <a:gd name="T3" fmla="*/ 3 h 530"/>
                <a:gd name="T4" fmla="*/ 24 w 175"/>
                <a:gd name="T5" fmla="*/ 12 h 530"/>
                <a:gd name="T6" fmla="*/ 28 w 175"/>
                <a:gd name="T7" fmla="*/ 25 h 530"/>
                <a:gd name="T8" fmla="*/ 31 w 175"/>
                <a:gd name="T9" fmla="*/ 44 h 530"/>
                <a:gd name="T10" fmla="*/ 85 w 175"/>
                <a:gd name="T11" fmla="*/ 488 h 530"/>
                <a:gd name="T12" fmla="*/ 90 w 175"/>
                <a:gd name="T13" fmla="*/ 512 h 530"/>
                <a:gd name="T14" fmla="*/ 95 w 175"/>
                <a:gd name="T15" fmla="*/ 520 h 530"/>
                <a:gd name="T16" fmla="*/ 106 w 175"/>
                <a:gd name="T17" fmla="*/ 527 h 530"/>
                <a:gd name="T18" fmla="*/ 115 w 175"/>
                <a:gd name="T19" fmla="*/ 530 h 530"/>
                <a:gd name="T20" fmla="*/ 126 w 175"/>
                <a:gd name="T21" fmla="*/ 524 h 530"/>
                <a:gd name="T22" fmla="*/ 134 w 175"/>
                <a:gd name="T23" fmla="*/ 512 h 530"/>
                <a:gd name="T24" fmla="*/ 175 w 175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5" y="488"/>
                  </a:lnTo>
                  <a:lnTo>
                    <a:pt x="90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6" y="524"/>
                  </a:lnTo>
                  <a:lnTo>
                    <a:pt x="134" y="512"/>
                  </a:lnTo>
                  <a:lnTo>
                    <a:pt x="17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02"/>
            <p:cNvSpPr>
              <a:spLocks/>
            </p:cNvSpPr>
            <p:nvPr/>
          </p:nvSpPr>
          <p:spPr bwMode="auto">
            <a:xfrm>
              <a:off x="3493" y="670"/>
              <a:ext cx="48" cy="133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03"/>
            <p:cNvSpPr>
              <a:spLocks/>
            </p:cNvSpPr>
            <p:nvPr/>
          </p:nvSpPr>
          <p:spPr bwMode="auto">
            <a:xfrm>
              <a:off x="3541" y="671"/>
              <a:ext cx="122" cy="260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" name="Group 104"/>
            <p:cNvGrpSpPr>
              <a:grpSpLocks/>
            </p:cNvGrpSpPr>
            <p:nvPr/>
          </p:nvGrpSpPr>
          <p:grpSpPr bwMode="auto">
            <a:xfrm>
              <a:off x="3663" y="670"/>
              <a:ext cx="168" cy="261"/>
              <a:chOff x="5025" y="2269"/>
              <a:chExt cx="238" cy="713"/>
            </a:xfrm>
          </p:grpSpPr>
          <p:sp>
            <p:nvSpPr>
              <p:cNvPr id="64" name="Freeform 105"/>
              <p:cNvSpPr>
                <a:spLocks/>
              </p:cNvSpPr>
              <p:nvPr/>
            </p:nvSpPr>
            <p:spPr bwMode="auto">
              <a:xfrm>
                <a:off x="5025" y="2269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06"/>
              <p:cNvSpPr>
                <a:spLocks/>
              </p:cNvSpPr>
              <p:nvPr/>
            </p:nvSpPr>
            <p:spPr bwMode="auto">
              <a:xfrm>
                <a:off x="5095" y="2273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Group 172"/>
          <p:cNvGrpSpPr>
            <a:grpSpLocks/>
          </p:cNvGrpSpPr>
          <p:nvPr/>
        </p:nvGrpSpPr>
        <p:grpSpPr bwMode="auto">
          <a:xfrm>
            <a:off x="2486384" y="3235020"/>
            <a:ext cx="4879975" cy="425450"/>
            <a:chOff x="762" y="1028"/>
            <a:chExt cx="3074" cy="268"/>
          </a:xfrm>
        </p:grpSpPr>
        <p:grpSp>
          <p:nvGrpSpPr>
            <p:cNvPr id="83" name="Group 107"/>
            <p:cNvGrpSpPr>
              <a:grpSpLocks/>
            </p:cNvGrpSpPr>
            <p:nvPr/>
          </p:nvGrpSpPr>
          <p:grpSpPr bwMode="auto">
            <a:xfrm>
              <a:off x="762" y="1029"/>
              <a:ext cx="168" cy="262"/>
              <a:chOff x="944" y="3250"/>
              <a:chExt cx="237" cy="713"/>
            </a:xfrm>
          </p:grpSpPr>
          <p:sp>
            <p:nvSpPr>
              <p:cNvPr id="128" name="Freeform 108"/>
              <p:cNvSpPr>
                <a:spLocks/>
              </p:cNvSpPr>
              <p:nvPr/>
            </p:nvSpPr>
            <p:spPr bwMode="auto">
              <a:xfrm>
                <a:off x="944" y="3250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109"/>
              <p:cNvSpPr>
                <a:spLocks/>
              </p:cNvSpPr>
              <p:nvPr/>
            </p:nvSpPr>
            <p:spPr bwMode="auto">
              <a:xfrm>
                <a:off x="1010" y="3254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Freeform 110"/>
            <p:cNvSpPr>
              <a:spLocks/>
            </p:cNvSpPr>
            <p:nvPr/>
          </p:nvSpPr>
          <p:spPr bwMode="auto">
            <a:xfrm>
              <a:off x="931" y="1029"/>
              <a:ext cx="47" cy="133"/>
            </a:xfrm>
            <a:custGeom>
              <a:avLst/>
              <a:gdLst>
                <a:gd name="T0" fmla="*/ 0 w 66"/>
                <a:gd name="T1" fmla="*/ 362 h 363"/>
                <a:gd name="T2" fmla="*/ 40 w 66"/>
                <a:gd name="T3" fmla="*/ 54 h 363"/>
                <a:gd name="T4" fmla="*/ 43 w 66"/>
                <a:gd name="T5" fmla="*/ 38 h 363"/>
                <a:gd name="T6" fmla="*/ 44 w 66"/>
                <a:gd name="T7" fmla="*/ 25 h 363"/>
                <a:gd name="T8" fmla="*/ 48 w 66"/>
                <a:gd name="T9" fmla="*/ 15 h 363"/>
                <a:gd name="T10" fmla="*/ 56 w 66"/>
                <a:gd name="T11" fmla="*/ 6 h 363"/>
                <a:gd name="T12" fmla="*/ 65 w 66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362"/>
                  </a:moveTo>
                  <a:lnTo>
                    <a:pt x="40" y="54"/>
                  </a:lnTo>
                  <a:lnTo>
                    <a:pt x="43" y="38"/>
                  </a:lnTo>
                  <a:lnTo>
                    <a:pt x="44" y="25"/>
                  </a:lnTo>
                  <a:lnTo>
                    <a:pt x="48" y="15"/>
                  </a:lnTo>
                  <a:lnTo>
                    <a:pt x="56" y="6"/>
                  </a:lnTo>
                  <a:lnTo>
                    <a:pt x="6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111"/>
            <p:cNvSpPr>
              <a:spLocks/>
            </p:cNvSpPr>
            <p:nvPr/>
          </p:nvSpPr>
          <p:spPr bwMode="auto">
            <a:xfrm>
              <a:off x="978" y="1030"/>
              <a:ext cx="132" cy="260"/>
            </a:xfrm>
            <a:custGeom>
              <a:avLst/>
              <a:gdLst>
                <a:gd name="T0" fmla="*/ 0 w 185"/>
                <a:gd name="T1" fmla="*/ 1 h 531"/>
                <a:gd name="T2" fmla="*/ 8 w 185"/>
                <a:gd name="T3" fmla="*/ 0 h 531"/>
                <a:gd name="T4" fmla="*/ 24 w 185"/>
                <a:gd name="T5" fmla="*/ 13 h 531"/>
                <a:gd name="T6" fmla="*/ 28 w 185"/>
                <a:gd name="T7" fmla="*/ 26 h 531"/>
                <a:gd name="T8" fmla="*/ 31 w 185"/>
                <a:gd name="T9" fmla="*/ 45 h 531"/>
                <a:gd name="T10" fmla="*/ 85 w 185"/>
                <a:gd name="T11" fmla="*/ 489 h 531"/>
                <a:gd name="T12" fmla="*/ 90 w 185"/>
                <a:gd name="T13" fmla="*/ 513 h 531"/>
                <a:gd name="T14" fmla="*/ 95 w 185"/>
                <a:gd name="T15" fmla="*/ 521 h 531"/>
                <a:gd name="T16" fmla="*/ 106 w 185"/>
                <a:gd name="T17" fmla="*/ 528 h 531"/>
                <a:gd name="T18" fmla="*/ 115 w 185"/>
                <a:gd name="T19" fmla="*/ 531 h 531"/>
                <a:gd name="T20" fmla="*/ 126 w 185"/>
                <a:gd name="T21" fmla="*/ 525 h 531"/>
                <a:gd name="T22" fmla="*/ 134 w 185"/>
                <a:gd name="T23" fmla="*/ 513 h 531"/>
                <a:gd name="T24" fmla="*/ 185 w 185"/>
                <a:gd name="T25" fmla="*/ 258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5" h="531">
                  <a:moveTo>
                    <a:pt x="0" y="1"/>
                  </a:moveTo>
                  <a:lnTo>
                    <a:pt x="8" y="0"/>
                  </a:lnTo>
                  <a:lnTo>
                    <a:pt x="24" y="13"/>
                  </a:lnTo>
                  <a:lnTo>
                    <a:pt x="28" y="26"/>
                  </a:lnTo>
                  <a:lnTo>
                    <a:pt x="31" y="45"/>
                  </a:lnTo>
                  <a:lnTo>
                    <a:pt x="85" y="489"/>
                  </a:lnTo>
                  <a:lnTo>
                    <a:pt x="90" y="513"/>
                  </a:lnTo>
                  <a:lnTo>
                    <a:pt x="95" y="521"/>
                  </a:lnTo>
                  <a:lnTo>
                    <a:pt x="106" y="528"/>
                  </a:lnTo>
                  <a:lnTo>
                    <a:pt x="115" y="531"/>
                  </a:lnTo>
                  <a:lnTo>
                    <a:pt x="126" y="525"/>
                  </a:lnTo>
                  <a:lnTo>
                    <a:pt x="134" y="513"/>
                  </a:lnTo>
                  <a:lnTo>
                    <a:pt x="18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" name="Group 112"/>
            <p:cNvGrpSpPr>
              <a:grpSpLocks/>
            </p:cNvGrpSpPr>
            <p:nvPr/>
          </p:nvGrpSpPr>
          <p:grpSpPr bwMode="auto">
            <a:xfrm>
              <a:off x="1111" y="1029"/>
              <a:ext cx="169" cy="262"/>
              <a:chOff x="1436" y="3250"/>
              <a:chExt cx="237" cy="713"/>
            </a:xfrm>
          </p:grpSpPr>
          <p:sp>
            <p:nvSpPr>
              <p:cNvPr id="126" name="Freeform 113"/>
              <p:cNvSpPr>
                <a:spLocks/>
              </p:cNvSpPr>
              <p:nvPr/>
            </p:nvSpPr>
            <p:spPr bwMode="auto">
              <a:xfrm>
                <a:off x="1436" y="3600"/>
                <a:ext cx="65" cy="363"/>
              </a:xfrm>
              <a:custGeom>
                <a:avLst/>
                <a:gdLst>
                  <a:gd name="T0" fmla="*/ 0 w 65"/>
                  <a:gd name="T1" fmla="*/ 0 h 363"/>
                  <a:gd name="T2" fmla="*/ 40 w 65"/>
                  <a:gd name="T3" fmla="*/ 308 h 363"/>
                  <a:gd name="T4" fmla="*/ 42 w 65"/>
                  <a:gd name="T5" fmla="*/ 324 h 363"/>
                  <a:gd name="T6" fmla="*/ 44 w 65"/>
                  <a:gd name="T7" fmla="*/ 337 h 363"/>
                  <a:gd name="T8" fmla="*/ 47 w 65"/>
                  <a:gd name="T9" fmla="*/ 347 h 363"/>
                  <a:gd name="T10" fmla="*/ 55 w 65"/>
                  <a:gd name="T11" fmla="*/ 356 h 363"/>
                  <a:gd name="T12" fmla="*/ 64 w 65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0"/>
                    </a:moveTo>
                    <a:lnTo>
                      <a:pt x="40" y="308"/>
                    </a:lnTo>
                    <a:lnTo>
                      <a:pt x="42" y="324"/>
                    </a:lnTo>
                    <a:lnTo>
                      <a:pt x="44" y="337"/>
                    </a:lnTo>
                    <a:lnTo>
                      <a:pt x="47" y="347"/>
                    </a:lnTo>
                    <a:lnTo>
                      <a:pt x="55" y="356"/>
                    </a:lnTo>
                    <a:lnTo>
                      <a:pt x="64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114"/>
              <p:cNvSpPr>
                <a:spLocks/>
              </p:cNvSpPr>
              <p:nvPr/>
            </p:nvSpPr>
            <p:spPr bwMode="auto">
              <a:xfrm>
                <a:off x="1502" y="3250"/>
                <a:ext cx="171" cy="709"/>
              </a:xfrm>
              <a:custGeom>
                <a:avLst/>
                <a:gdLst>
                  <a:gd name="T0" fmla="*/ 0 w 171"/>
                  <a:gd name="T1" fmla="*/ 708 h 709"/>
                  <a:gd name="T2" fmla="*/ 14 w 171"/>
                  <a:gd name="T3" fmla="*/ 704 h 709"/>
                  <a:gd name="T4" fmla="*/ 24 w 171"/>
                  <a:gd name="T5" fmla="*/ 692 h 709"/>
                  <a:gd name="T6" fmla="*/ 28 w 171"/>
                  <a:gd name="T7" fmla="*/ 675 h 709"/>
                  <a:gd name="T8" fmla="*/ 31 w 171"/>
                  <a:gd name="T9" fmla="*/ 649 h 709"/>
                  <a:gd name="T10" fmla="*/ 85 w 171"/>
                  <a:gd name="T11" fmla="*/ 57 h 709"/>
                  <a:gd name="T12" fmla="*/ 90 w 171"/>
                  <a:gd name="T13" fmla="*/ 24 h 709"/>
                  <a:gd name="T14" fmla="*/ 95 w 171"/>
                  <a:gd name="T15" fmla="*/ 14 h 709"/>
                  <a:gd name="T16" fmla="*/ 106 w 171"/>
                  <a:gd name="T17" fmla="*/ 4 h 709"/>
                  <a:gd name="T18" fmla="*/ 115 w 171"/>
                  <a:gd name="T19" fmla="*/ 0 h 709"/>
                  <a:gd name="T20" fmla="*/ 126 w 171"/>
                  <a:gd name="T21" fmla="*/ 8 h 709"/>
                  <a:gd name="T22" fmla="*/ 134 w 171"/>
                  <a:gd name="T23" fmla="*/ 24 h 709"/>
                  <a:gd name="T24" fmla="*/ 170 w 171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8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5" y="14"/>
                    </a:lnTo>
                    <a:lnTo>
                      <a:pt x="106" y="4"/>
                    </a:lnTo>
                    <a:lnTo>
                      <a:pt x="115" y="0"/>
                    </a:lnTo>
                    <a:lnTo>
                      <a:pt x="126" y="8"/>
                    </a:lnTo>
                    <a:lnTo>
                      <a:pt x="134" y="24"/>
                    </a:lnTo>
                    <a:lnTo>
                      <a:pt x="170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7" name="Freeform 115"/>
            <p:cNvSpPr>
              <a:spLocks/>
            </p:cNvSpPr>
            <p:nvPr/>
          </p:nvSpPr>
          <p:spPr bwMode="auto">
            <a:xfrm>
              <a:off x="1280" y="1158"/>
              <a:ext cx="48" cy="133"/>
            </a:xfrm>
            <a:custGeom>
              <a:avLst/>
              <a:gdLst>
                <a:gd name="T0" fmla="*/ 0 w 66"/>
                <a:gd name="T1" fmla="*/ 0 h 363"/>
                <a:gd name="T2" fmla="*/ 40 w 66"/>
                <a:gd name="T3" fmla="*/ 308 h 363"/>
                <a:gd name="T4" fmla="*/ 43 w 66"/>
                <a:gd name="T5" fmla="*/ 324 h 363"/>
                <a:gd name="T6" fmla="*/ 44 w 66"/>
                <a:gd name="T7" fmla="*/ 337 h 363"/>
                <a:gd name="T8" fmla="*/ 48 w 66"/>
                <a:gd name="T9" fmla="*/ 347 h 363"/>
                <a:gd name="T10" fmla="*/ 56 w 66"/>
                <a:gd name="T11" fmla="*/ 356 h 363"/>
                <a:gd name="T12" fmla="*/ 65 w 66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0"/>
                  </a:moveTo>
                  <a:lnTo>
                    <a:pt x="40" y="308"/>
                  </a:lnTo>
                  <a:lnTo>
                    <a:pt x="43" y="324"/>
                  </a:lnTo>
                  <a:lnTo>
                    <a:pt x="44" y="337"/>
                  </a:lnTo>
                  <a:lnTo>
                    <a:pt x="48" y="347"/>
                  </a:lnTo>
                  <a:lnTo>
                    <a:pt x="56" y="356"/>
                  </a:lnTo>
                  <a:lnTo>
                    <a:pt x="65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116"/>
            <p:cNvSpPr>
              <a:spLocks/>
            </p:cNvSpPr>
            <p:nvPr/>
          </p:nvSpPr>
          <p:spPr bwMode="auto">
            <a:xfrm>
              <a:off x="1329" y="1029"/>
              <a:ext cx="129" cy="260"/>
            </a:xfrm>
            <a:custGeom>
              <a:avLst/>
              <a:gdLst>
                <a:gd name="T0" fmla="*/ 0 w 182"/>
                <a:gd name="T1" fmla="*/ 530 h 530"/>
                <a:gd name="T2" fmla="*/ 14 w 182"/>
                <a:gd name="T3" fmla="*/ 527 h 530"/>
                <a:gd name="T4" fmla="*/ 24 w 182"/>
                <a:gd name="T5" fmla="*/ 518 h 530"/>
                <a:gd name="T6" fmla="*/ 28 w 182"/>
                <a:gd name="T7" fmla="*/ 506 h 530"/>
                <a:gd name="T8" fmla="*/ 31 w 182"/>
                <a:gd name="T9" fmla="*/ 486 h 530"/>
                <a:gd name="T10" fmla="*/ 85 w 182"/>
                <a:gd name="T11" fmla="*/ 43 h 530"/>
                <a:gd name="T12" fmla="*/ 90 w 182"/>
                <a:gd name="T13" fmla="*/ 18 h 530"/>
                <a:gd name="T14" fmla="*/ 95 w 182"/>
                <a:gd name="T15" fmla="*/ 10 h 530"/>
                <a:gd name="T16" fmla="*/ 106 w 182"/>
                <a:gd name="T17" fmla="*/ 3 h 530"/>
                <a:gd name="T18" fmla="*/ 115 w 182"/>
                <a:gd name="T19" fmla="*/ 0 h 530"/>
                <a:gd name="T20" fmla="*/ 126 w 182"/>
                <a:gd name="T21" fmla="*/ 6 h 530"/>
                <a:gd name="T22" fmla="*/ 134 w 182"/>
                <a:gd name="T23" fmla="*/ 18 h 530"/>
                <a:gd name="T24" fmla="*/ 182 w 182"/>
                <a:gd name="T25" fmla="*/ 29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2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8" y="506"/>
                  </a:lnTo>
                  <a:lnTo>
                    <a:pt x="31" y="486"/>
                  </a:lnTo>
                  <a:lnTo>
                    <a:pt x="85" y="43"/>
                  </a:lnTo>
                  <a:lnTo>
                    <a:pt x="90" y="18"/>
                  </a:lnTo>
                  <a:lnTo>
                    <a:pt x="95" y="10"/>
                  </a:lnTo>
                  <a:lnTo>
                    <a:pt x="106" y="3"/>
                  </a:lnTo>
                  <a:lnTo>
                    <a:pt x="115" y="0"/>
                  </a:lnTo>
                  <a:lnTo>
                    <a:pt x="126" y="6"/>
                  </a:lnTo>
                  <a:lnTo>
                    <a:pt x="134" y="18"/>
                  </a:lnTo>
                  <a:lnTo>
                    <a:pt x="182" y="29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117"/>
            <p:cNvSpPr>
              <a:spLocks/>
            </p:cNvSpPr>
            <p:nvPr/>
          </p:nvSpPr>
          <p:spPr bwMode="auto">
            <a:xfrm>
              <a:off x="1462" y="1030"/>
              <a:ext cx="49" cy="141"/>
            </a:xfrm>
            <a:custGeom>
              <a:avLst/>
              <a:gdLst>
                <a:gd name="T0" fmla="*/ 0 w 70"/>
                <a:gd name="T1" fmla="*/ 288 h 288"/>
                <a:gd name="T2" fmla="*/ 46 w 70"/>
                <a:gd name="T3" fmla="*/ 40 h 288"/>
                <a:gd name="T4" fmla="*/ 48 w 70"/>
                <a:gd name="T5" fmla="*/ 28 h 288"/>
                <a:gd name="T6" fmla="*/ 50 w 70"/>
                <a:gd name="T7" fmla="*/ 19 h 288"/>
                <a:gd name="T8" fmla="*/ 53 w 70"/>
                <a:gd name="T9" fmla="*/ 11 h 288"/>
                <a:gd name="T10" fmla="*/ 61 w 70"/>
                <a:gd name="T11" fmla="*/ 4 h 288"/>
                <a:gd name="T12" fmla="*/ 70 w 70"/>
                <a:gd name="T13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88">
                  <a:moveTo>
                    <a:pt x="0" y="288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0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118"/>
            <p:cNvSpPr>
              <a:spLocks/>
            </p:cNvSpPr>
            <p:nvPr/>
          </p:nvSpPr>
          <p:spPr bwMode="auto">
            <a:xfrm>
              <a:off x="1513" y="1031"/>
              <a:ext cx="122" cy="260"/>
            </a:xfrm>
            <a:custGeom>
              <a:avLst/>
              <a:gdLst>
                <a:gd name="T0" fmla="*/ 0 w 172"/>
                <a:gd name="T1" fmla="*/ 0 h 709"/>
                <a:gd name="T2" fmla="*/ 14 w 172"/>
                <a:gd name="T3" fmla="*/ 4 h 709"/>
                <a:gd name="T4" fmla="*/ 24 w 172"/>
                <a:gd name="T5" fmla="*/ 16 h 709"/>
                <a:gd name="T6" fmla="*/ 28 w 172"/>
                <a:gd name="T7" fmla="*/ 33 h 709"/>
                <a:gd name="T8" fmla="*/ 31 w 172"/>
                <a:gd name="T9" fmla="*/ 59 h 709"/>
                <a:gd name="T10" fmla="*/ 86 w 172"/>
                <a:gd name="T11" fmla="*/ 651 h 709"/>
                <a:gd name="T12" fmla="*/ 91 w 172"/>
                <a:gd name="T13" fmla="*/ 684 h 709"/>
                <a:gd name="T14" fmla="*/ 95 w 172"/>
                <a:gd name="T15" fmla="*/ 694 h 709"/>
                <a:gd name="T16" fmla="*/ 106 w 172"/>
                <a:gd name="T17" fmla="*/ 704 h 709"/>
                <a:gd name="T18" fmla="*/ 115 w 172"/>
                <a:gd name="T19" fmla="*/ 708 h 709"/>
                <a:gd name="T20" fmla="*/ 127 w 172"/>
                <a:gd name="T21" fmla="*/ 700 h 709"/>
                <a:gd name="T22" fmla="*/ 135 w 172"/>
                <a:gd name="T23" fmla="*/ 684 h 709"/>
                <a:gd name="T24" fmla="*/ 171 w 172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8" y="33"/>
                  </a:lnTo>
                  <a:lnTo>
                    <a:pt x="31" y="59"/>
                  </a:lnTo>
                  <a:lnTo>
                    <a:pt x="86" y="651"/>
                  </a:lnTo>
                  <a:lnTo>
                    <a:pt x="91" y="684"/>
                  </a:lnTo>
                  <a:lnTo>
                    <a:pt x="95" y="694"/>
                  </a:lnTo>
                  <a:lnTo>
                    <a:pt x="106" y="704"/>
                  </a:lnTo>
                  <a:lnTo>
                    <a:pt x="115" y="708"/>
                  </a:lnTo>
                  <a:lnTo>
                    <a:pt x="127" y="700"/>
                  </a:lnTo>
                  <a:lnTo>
                    <a:pt x="135" y="684"/>
                  </a:lnTo>
                  <a:lnTo>
                    <a:pt x="171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119"/>
            <p:cNvSpPr>
              <a:spLocks/>
            </p:cNvSpPr>
            <p:nvPr/>
          </p:nvSpPr>
          <p:spPr bwMode="auto">
            <a:xfrm>
              <a:off x="1637" y="1034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120"/>
            <p:cNvSpPr>
              <a:spLocks/>
            </p:cNvSpPr>
            <p:nvPr/>
          </p:nvSpPr>
          <p:spPr bwMode="auto">
            <a:xfrm>
              <a:off x="1684" y="1033"/>
              <a:ext cx="126" cy="259"/>
            </a:xfrm>
            <a:custGeom>
              <a:avLst/>
              <a:gdLst>
                <a:gd name="T0" fmla="*/ 0 w 176"/>
                <a:gd name="T1" fmla="*/ 0 h 708"/>
                <a:gd name="T2" fmla="*/ 15 w 176"/>
                <a:gd name="T3" fmla="*/ 4 h 708"/>
                <a:gd name="T4" fmla="*/ 25 w 176"/>
                <a:gd name="T5" fmla="*/ 16 h 708"/>
                <a:gd name="T6" fmla="*/ 28 w 176"/>
                <a:gd name="T7" fmla="*/ 33 h 708"/>
                <a:gd name="T8" fmla="*/ 32 w 176"/>
                <a:gd name="T9" fmla="*/ 59 h 708"/>
                <a:gd name="T10" fmla="*/ 88 w 176"/>
                <a:gd name="T11" fmla="*/ 650 h 708"/>
                <a:gd name="T12" fmla="*/ 93 w 176"/>
                <a:gd name="T13" fmla="*/ 683 h 708"/>
                <a:gd name="T14" fmla="*/ 97 w 176"/>
                <a:gd name="T15" fmla="*/ 693 h 708"/>
                <a:gd name="T16" fmla="*/ 109 w 176"/>
                <a:gd name="T17" fmla="*/ 703 h 708"/>
                <a:gd name="T18" fmla="*/ 118 w 176"/>
                <a:gd name="T19" fmla="*/ 707 h 708"/>
                <a:gd name="T20" fmla="*/ 130 w 176"/>
                <a:gd name="T21" fmla="*/ 699 h 708"/>
                <a:gd name="T22" fmla="*/ 138 w 176"/>
                <a:gd name="T23" fmla="*/ 683 h 708"/>
                <a:gd name="T24" fmla="*/ 175 w 176"/>
                <a:gd name="T25" fmla="*/ 37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6" h="708">
                  <a:moveTo>
                    <a:pt x="0" y="0"/>
                  </a:moveTo>
                  <a:lnTo>
                    <a:pt x="15" y="4"/>
                  </a:lnTo>
                  <a:lnTo>
                    <a:pt x="25" y="16"/>
                  </a:lnTo>
                  <a:lnTo>
                    <a:pt x="28" y="33"/>
                  </a:lnTo>
                  <a:lnTo>
                    <a:pt x="32" y="59"/>
                  </a:lnTo>
                  <a:lnTo>
                    <a:pt x="88" y="650"/>
                  </a:lnTo>
                  <a:lnTo>
                    <a:pt x="93" y="683"/>
                  </a:lnTo>
                  <a:lnTo>
                    <a:pt x="97" y="693"/>
                  </a:lnTo>
                  <a:lnTo>
                    <a:pt x="109" y="703"/>
                  </a:lnTo>
                  <a:lnTo>
                    <a:pt x="118" y="707"/>
                  </a:lnTo>
                  <a:lnTo>
                    <a:pt x="130" y="699"/>
                  </a:lnTo>
                  <a:lnTo>
                    <a:pt x="138" y="683"/>
                  </a:lnTo>
                  <a:lnTo>
                    <a:pt x="175" y="379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21"/>
            <p:cNvSpPr>
              <a:spLocks/>
            </p:cNvSpPr>
            <p:nvPr/>
          </p:nvSpPr>
          <p:spPr bwMode="auto">
            <a:xfrm>
              <a:off x="1810" y="1035"/>
              <a:ext cx="48" cy="134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22"/>
            <p:cNvSpPr>
              <a:spLocks/>
            </p:cNvSpPr>
            <p:nvPr/>
          </p:nvSpPr>
          <p:spPr bwMode="auto">
            <a:xfrm>
              <a:off x="1861" y="1035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23"/>
            <p:cNvSpPr>
              <a:spLocks/>
            </p:cNvSpPr>
            <p:nvPr/>
          </p:nvSpPr>
          <p:spPr bwMode="auto">
            <a:xfrm>
              <a:off x="1981" y="1035"/>
              <a:ext cx="49" cy="134"/>
            </a:xfrm>
            <a:custGeom>
              <a:avLst/>
              <a:gdLst>
                <a:gd name="T0" fmla="*/ 0 w 69"/>
                <a:gd name="T1" fmla="*/ 362 h 363"/>
                <a:gd name="T2" fmla="*/ 42 w 69"/>
                <a:gd name="T3" fmla="*/ 54 h 363"/>
                <a:gd name="T4" fmla="*/ 45 w 69"/>
                <a:gd name="T5" fmla="*/ 38 h 363"/>
                <a:gd name="T6" fmla="*/ 47 w 69"/>
                <a:gd name="T7" fmla="*/ 25 h 363"/>
                <a:gd name="T8" fmla="*/ 50 w 69"/>
                <a:gd name="T9" fmla="*/ 15 h 363"/>
                <a:gd name="T10" fmla="*/ 58 w 69"/>
                <a:gd name="T11" fmla="*/ 6 h 363"/>
                <a:gd name="T12" fmla="*/ 68 w 69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363">
                  <a:moveTo>
                    <a:pt x="0" y="362"/>
                  </a:moveTo>
                  <a:lnTo>
                    <a:pt x="42" y="54"/>
                  </a:lnTo>
                  <a:lnTo>
                    <a:pt x="45" y="38"/>
                  </a:lnTo>
                  <a:lnTo>
                    <a:pt x="47" y="25"/>
                  </a:lnTo>
                  <a:lnTo>
                    <a:pt x="50" y="15"/>
                  </a:lnTo>
                  <a:lnTo>
                    <a:pt x="58" y="6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24"/>
            <p:cNvSpPr>
              <a:spLocks/>
            </p:cNvSpPr>
            <p:nvPr/>
          </p:nvSpPr>
          <p:spPr bwMode="auto">
            <a:xfrm>
              <a:off x="2032" y="1034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" name="Group 125"/>
            <p:cNvGrpSpPr>
              <a:grpSpLocks/>
            </p:cNvGrpSpPr>
            <p:nvPr/>
          </p:nvGrpSpPr>
          <p:grpSpPr bwMode="auto">
            <a:xfrm>
              <a:off x="2150" y="1035"/>
              <a:ext cx="168" cy="261"/>
              <a:chOff x="2898" y="3265"/>
              <a:chExt cx="235" cy="713"/>
            </a:xfrm>
          </p:grpSpPr>
          <p:sp>
            <p:nvSpPr>
              <p:cNvPr id="124" name="Freeform 126"/>
              <p:cNvSpPr>
                <a:spLocks/>
              </p:cNvSpPr>
              <p:nvPr/>
            </p:nvSpPr>
            <p:spPr bwMode="auto">
              <a:xfrm>
                <a:off x="2898" y="3615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127"/>
              <p:cNvSpPr>
                <a:spLocks/>
              </p:cNvSpPr>
              <p:nvPr/>
            </p:nvSpPr>
            <p:spPr bwMode="auto">
              <a:xfrm>
                <a:off x="2963" y="3265"/>
                <a:ext cx="170" cy="709"/>
              </a:xfrm>
              <a:custGeom>
                <a:avLst/>
                <a:gdLst>
                  <a:gd name="T0" fmla="*/ 0 w 170"/>
                  <a:gd name="T1" fmla="*/ 708 h 709"/>
                  <a:gd name="T2" fmla="*/ 14 w 170"/>
                  <a:gd name="T3" fmla="*/ 704 h 709"/>
                  <a:gd name="T4" fmla="*/ 24 w 170"/>
                  <a:gd name="T5" fmla="*/ 692 h 709"/>
                  <a:gd name="T6" fmla="*/ 27 w 170"/>
                  <a:gd name="T7" fmla="*/ 675 h 709"/>
                  <a:gd name="T8" fmla="*/ 31 w 170"/>
                  <a:gd name="T9" fmla="*/ 649 h 709"/>
                  <a:gd name="T10" fmla="*/ 85 w 170"/>
                  <a:gd name="T11" fmla="*/ 57 h 709"/>
                  <a:gd name="T12" fmla="*/ 90 w 170"/>
                  <a:gd name="T13" fmla="*/ 24 h 709"/>
                  <a:gd name="T14" fmla="*/ 94 w 170"/>
                  <a:gd name="T15" fmla="*/ 14 h 709"/>
                  <a:gd name="T16" fmla="*/ 105 w 170"/>
                  <a:gd name="T17" fmla="*/ 4 h 709"/>
                  <a:gd name="T18" fmla="*/ 114 w 170"/>
                  <a:gd name="T19" fmla="*/ 0 h 709"/>
                  <a:gd name="T20" fmla="*/ 126 w 170"/>
                  <a:gd name="T21" fmla="*/ 8 h 709"/>
                  <a:gd name="T22" fmla="*/ 133 w 170"/>
                  <a:gd name="T23" fmla="*/ 24 h 709"/>
                  <a:gd name="T24" fmla="*/ 169 w 170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4" y="14"/>
                    </a:lnTo>
                    <a:lnTo>
                      <a:pt x="105" y="4"/>
                    </a:lnTo>
                    <a:lnTo>
                      <a:pt x="114" y="0"/>
                    </a:lnTo>
                    <a:lnTo>
                      <a:pt x="126" y="8"/>
                    </a:lnTo>
                    <a:lnTo>
                      <a:pt x="133" y="24"/>
                    </a:lnTo>
                    <a:lnTo>
                      <a:pt x="169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Freeform 128"/>
            <p:cNvSpPr>
              <a:spLocks/>
            </p:cNvSpPr>
            <p:nvPr/>
          </p:nvSpPr>
          <p:spPr bwMode="auto">
            <a:xfrm>
              <a:off x="2317" y="1159"/>
              <a:ext cx="44" cy="133"/>
            </a:xfrm>
            <a:custGeom>
              <a:avLst/>
              <a:gdLst>
                <a:gd name="T0" fmla="*/ 0 w 63"/>
                <a:gd name="T1" fmla="*/ 0 h 363"/>
                <a:gd name="T2" fmla="*/ 38 w 63"/>
                <a:gd name="T3" fmla="*/ 308 h 363"/>
                <a:gd name="T4" fmla="*/ 41 w 63"/>
                <a:gd name="T5" fmla="*/ 324 h 363"/>
                <a:gd name="T6" fmla="*/ 42 w 63"/>
                <a:gd name="T7" fmla="*/ 337 h 363"/>
                <a:gd name="T8" fmla="*/ 46 w 63"/>
                <a:gd name="T9" fmla="*/ 347 h 363"/>
                <a:gd name="T10" fmla="*/ 53 w 63"/>
                <a:gd name="T11" fmla="*/ 356 h 363"/>
                <a:gd name="T12" fmla="*/ 62 w 63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363">
                  <a:moveTo>
                    <a:pt x="0" y="0"/>
                  </a:moveTo>
                  <a:lnTo>
                    <a:pt x="38" y="308"/>
                  </a:lnTo>
                  <a:lnTo>
                    <a:pt x="41" y="324"/>
                  </a:lnTo>
                  <a:lnTo>
                    <a:pt x="42" y="337"/>
                  </a:lnTo>
                  <a:lnTo>
                    <a:pt x="46" y="347"/>
                  </a:lnTo>
                  <a:lnTo>
                    <a:pt x="53" y="356"/>
                  </a:lnTo>
                  <a:lnTo>
                    <a:pt x="62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29"/>
            <p:cNvSpPr>
              <a:spLocks/>
            </p:cNvSpPr>
            <p:nvPr/>
          </p:nvSpPr>
          <p:spPr bwMode="auto">
            <a:xfrm>
              <a:off x="2362" y="1035"/>
              <a:ext cx="121" cy="260"/>
            </a:xfrm>
            <a:custGeom>
              <a:avLst/>
              <a:gdLst>
                <a:gd name="T0" fmla="*/ 0 w 169"/>
                <a:gd name="T1" fmla="*/ 708 h 709"/>
                <a:gd name="T2" fmla="*/ 14 w 169"/>
                <a:gd name="T3" fmla="*/ 704 h 709"/>
                <a:gd name="T4" fmla="*/ 24 w 169"/>
                <a:gd name="T5" fmla="*/ 692 h 709"/>
                <a:gd name="T6" fmla="*/ 27 w 169"/>
                <a:gd name="T7" fmla="*/ 675 h 709"/>
                <a:gd name="T8" fmla="*/ 31 w 169"/>
                <a:gd name="T9" fmla="*/ 649 h 709"/>
                <a:gd name="T10" fmla="*/ 84 w 169"/>
                <a:gd name="T11" fmla="*/ 57 h 709"/>
                <a:gd name="T12" fmla="*/ 89 w 169"/>
                <a:gd name="T13" fmla="*/ 24 h 709"/>
                <a:gd name="T14" fmla="*/ 94 w 169"/>
                <a:gd name="T15" fmla="*/ 14 h 709"/>
                <a:gd name="T16" fmla="*/ 104 w 169"/>
                <a:gd name="T17" fmla="*/ 4 h 709"/>
                <a:gd name="T18" fmla="*/ 113 w 169"/>
                <a:gd name="T19" fmla="*/ 0 h 709"/>
                <a:gd name="T20" fmla="*/ 125 w 169"/>
                <a:gd name="T21" fmla="*/ 8 h 709"/>
                <a:gd name="T22" fmla="*/ 132 w 169"/>
                <a:gd name="T23" fmla="*/ 24 h 709"/>
                <a:gd name="T24" fmla="*/ 168 w 169"/>
                <a:gd name="T25" fmla="*/ 328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709">
                  <a:moveTo>
                    <a:pt x="0" y="708"/>
                  </a:moveTo>
                  <a:lnTo>
                    <a:pt x="14" y="704"/>
                  </a:lnTo>
                  <a:lnTo>
                    <a:pt x="24" y="692"/>
                  </a:lnTo>
                  <a:lnTo>
                    <a:pt x="27" y="675"/>
                  </a:lnTo>
                  <a:lnTo>
                    <a:pt x="31" y="649"/>
                  </a:lnTo>
                  <a:lnTo>
                    <a:pt x="84" y="57"/>
                  </a:lnTo>
                  <a:lnTo>
                    <a:pt x="89" y="24"/>
                  </a:lnTo>
                  <a:lnTo>
                    <a:pt x="94" y="14"/>
                  </a:lnTo>
                  <a:lnTo>
                    <a:pt x="104" y="4"/>
                  </a:lnTo>
                  <a:lnTo>
                    <a:pt x="113" y="0"/>
                  </a:lnTo>
                  <a:lnTo>
                    <a:pt x="125" y="8"/>
                  </a:lnTo>
                  <a:lnTo>
                    <a:pt x="132" y="24"/>
                  </a:lnTo>
                  <a:lnTo>
                    <a:pt x="168" y="32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" name="Group 130"/>
            <p:cNvGrpSpPr>
              <a:grpSpLocks/>
            </p:cNvGrpSpPr>
            <p:nvPr/>
          </p:nvGrpSpPr>
          <p:grpSpPr bwMode="auto">
            <a:xfrm>
              <a:off x="2483" y="1032"/>
              <a:ext cx="334" cy="260"/>
              <a:chOff x="3365" y="3256"/>
              <a:chExt cx="470" cy="713"/>
            </a:xfrm>
          </p:grpSpPr>
          <p:grpSp>
            <p:nvGrpSpPr>
              <p:cNvPr id="118" name="Group 131"/>
              <p:cNvGrpSpPr>
                <a:grpSpLocks/>
              </p:cNvGrpSpPr>
              <p:nvPr/>
            </p:nvGrpSpPr>
            <p:grpSpPr bwMode="auto">
              <a:xfrm>
                <a:off x="3365" y="3256"/>
                <a:ext cx="233" cy="713"/>
                <a:chOff x="3365" y="3256"/>
                <a:chExt cx="233" cy="713"/>
              </a:xfrm>
            </p:grpSpPr>
            <p:sp>
              <p:nvSpPr>
                <p:cNvPr id="122" name="Freeform 132"/>
                <p:cNvSpPr>
                  <a:spLocks/>
                </p:cNvSpPr>
                <p:nvPr/>
              </p:nvSpPr>
              <p:spPr bwMode="auto">
                <a:xfrm>
                  <a:off x="3365" y="3606"/>
                  <a:ext cx="66" cy="363"/>
                </a:xfrm>
                <a:custGeom>
                  <a:avLst/>
                  <a:gdLst>
                    <a:gd name="T0" fmla="*/ 0 w 66"/>
                    <a:gd name="T1" fmla="*/ 0 h 363"/>
                    <a:gd name="T2" fmla="*/ 40 w 66"/>
                    <a:gd name="T3" fmla="*/ 308 h 363"/>
                    <a:gd name="T4" fmla="*/ 43 w 66"/>
                    <a:gd name="T5" fmla="*/ 324 h 363"/>
                    <a:gd name="T6" fmla="*/ 44 w 66"/>
                    <a:gd name="T7" fmla="*/ 337 h 363"/>
                    <a:gd name="T8" fmla="*/ 48 w 66"/>
                    <a:gd name="T9" fmla="*/ 347 h 363"/>
                    <a:gd name="T10" fmla="*/ 56 w 66"/>
                    <a:gd name="T11" fmla="*/ 356 h 363"/>
                    <a:gd name="T12" fmla="*/ 65 w 66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6" h="363">
                      <a:moveTo>
                        <a:pt x="0" y="0"/>
                      </a:moveTo>
                      <a:lnTo>
                        <a:pt x="40" y="308"/>
                      </a:lnTo>
                      <a:lnTo>
                        <a:pt x="43" y="324"/>
                      </a:lnTo>
                      <a:lnTo>
                        <a:pt x="44" y="337"/>
                      </a:lnTo>
                      <a:lnTo>
                        <a:pt x="48" y="347"/>
                      </a:lnTo>
                      <a:lnTo>
                        <a:pt x="56" y="356"/>
                      </a:lnTo>
                      <a:lnTo>
                        <a:pt x="65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Freeform 133"/>
                <p:cNvSpPr>
                  <a:spLocks/>
                </p:cNvSpPr>
                <p:nvPr/>
              </p:nvSpPr>
              <p:spPr bwMode="auto">
                <a:xfrm>
                  <a:off x="3432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" name="Group 134"/>
              <p:cNvGrpSpPr>
                <a:grpSpLocks/>
              </p:cNvGrpSpPr>
              <p:nvPr/>
            </p:nvGrpSpPr>
            <p:grpSpPr bwMode="auto">
              <a:xfrm>
                <a:off x="3600" y="3256"/>
                <a:ext cx="235" cy="713"/>
                <a:chOff x="3600" y="3256"/>
                <a:chExt cx="235" cy="713"/>
              </a:xfrm>
            </p:grpSpPr>
            <p:sp>
              <p:nvSpPr>
                <p:cNvPr id="120" name="Freeform 135"/>
                <p:cNvSpPr>
                  <a:spLocks/>
                </p:cNvSpPr>
                <p:nvPr/>
              </p:nvSpPr>
              <p:spPr bwMode="auto">
                <a:xfrm>
                  <a:off x="3600" y="3606"/>
                  <a:ext cx="68" cy="363"/>
                </a:xfrm>
                <a:custGeom>
                  <a:avLst/>
                  <a:gdLst>
                    <a:gd name="T0" fmla="*/ 0 w 68"/>
                    <a:gd name="T1" fmla="*/ 0 h 363"/>
                    <a:gd name="T2" fmla="*/ 41 w 68"/>
                    <a:gd name="T3" fmla="*/ 308 h 363"/>
                    <a:gd name="T4" fmla="*/ 44 w 68"/>
                    <a:gd name="T5" fmla="*/ 324 h 363"/>
                    <a:gd name="T6" fmla="*/ 46 w 68"/>
                    <a:gd name="T7" fmla="*/ 337 h 363"/>
                    <a:gd name="T8" fmla="*/ 49 w 68"/>
                    <a:gd name="T9" fmla="*/ 347 h 363"/>
                    <a:gd name="T10" fmla="*/ 57 w 68"/>
                    <a:gd name="T11" fmla="*/ 356 h 363"/>
                    <a:gd name="T12" fmla="*/ 67 w 68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8" h="363">
                      <a:moveTo>
                        <a:pt x="0" y="0"/>
                      </a:moveTo>
                      <a:lnTo>
                        <a:pt x="41" y="308"/>
                      </a:lnTo>
                      <a:lnTo>
                        <a:pt x="44" y="324"/>
                      </a:lnTo>
                      <a:lnTo>
                        <a:pt x="46" y="337"/>
                      </a:lnTo>
                      <a:lnTo>
                        <a:pt x="49" y="347"/>
                      </a:lnTo>
                      <a:lnTo>
                        <a:pt x="57" y="356"/>
                      </a:lnTo>
                      <a:lnTo>
                        <a:pt x="67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36"/>
                <p:cNvSpPr>
                  <a:spLocks/>
                </p:cNvSpPr>
                <p:nvPr/>
              </p:nvSpPr>
              <p:spPr bwMode="auto">
                <a:xfrm>
                  <a:off x="3669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1" name="Group 137"/>
            <p:cNvGrpSpPr>
              <a:grpSpLocks/>
            </p:cNvGrpSpPr>
            <p:nvPr/>
          </p:nvGrpSpPr>
          <p:grpSpPr bwMode="auto">
            <a:xfrm>
              <a:off x="2815" y="1028"/>
              <a:ext cx="167" cy="261"/>
              <a:chOff x="3833" y="3247"/>
              <a:chExt cx="234" cy="713"/>
            </a:xfrm>
          </p:grpSpPr>
          <p:sp>
            <p:nvSpPr>
              <p:cNvPr id="116" name="Freeform 138"/>
              <p:cNvSpPr>
                <a:spLocks/>
              </p:cNvSpPr>
              <p:nvPr/>
            </p:nvSpPr>
            <p:spPr bwMode="auto">
              <a:xfrm>
                <a:off x="3833" y="3597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139"/>
              <p:cNvSpPr>
                <a:spLocks/>
              </p:cNvSpPr>
              <p:nvPr/>
            </p:nvSpPr>
            <p:spPr bwMode="auto">
              <a:xfrm>
                <a:off x="3898" y="3247"/>
                <a:ext cx="169" cy="709"/>
              </a:xfrm>
              <a:custGeom>
                <a:avLst/>
                <a:gdLst>
                  <a:gd name="T0" fmla="*/ 0 w 169"/>
                  <a:gd name="T1" fmla="*/ 708 h 709"/>
                  <a:gd name="T2" fmla="*/ 14 w 169"/>
                  <a:gd name="T3" fmla="*/ 704 h 709"/>
                  <a:gd name="T4" fmla="*/ 24 w 169"/>
                  <a:gd name="T5" fmla="*/ 692 h 709"/>
                  <a:gd name="T6" fmla="*/ 27 w 169"/>
                  <a:gd name="T7" fmla="*/ 675 h 709"/>
                  <a:gd name="T8" fmla="*/ 31 w 169"/>
                  <a:gd name="T9" fmla="*/ 649 h 709"/>
                  <a:gd name="T10" fmla="*/ 84 w 169"/>
                  <a:gd name="T11" fmla="*/ 57 h 709"/>
                  <a:gd name="T12" fmla="*/ 89 w 169"/>
                  <a:gd name="T13" fmla="*/ 24 h 709"/>
                  <a:gd name="T14" fmla="*/ 94 w 169"/>
                  <a:gd name="T15" fmla="*/ 14 h 709"/>
                  <a:gd name="T16" fmla="*/ 104 w 169"/>
                  <a:gd name="T17" fmla="*/ 4 h 709"/>
                  <a:gd name="T18" fmla="*/ 113 w 169"/>
                  <a:gd name="T19" fmla="*/ 0 h 709"/>
                  <a:gd name="T20" fmla="*/ 125 w 169"/>
                  <a:gd name="T21" fmla="*/ 8 h 709"/>
                  <a:gd name="T22" fmla="*/ 132 w 169"/>
                  <a:gd name="T23" fmla="*/ 24 h 709"/>
                  <a:gd name="T24" fmla="*/ 168 w 169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4" y="57"/>
                    </a:lnTo>
                    <a:lnTo>
                      <a:pt x="89" y="24"/>
                    </a:lnTo>
                    <a:lnTo>
                      <a:pt x="94" y="14"/>
                    </a:lnTo>
                    <a:lnTo>
                      <a:pt x="104" y="4"/>
                    </a:lnTo>
                    <a:lnTo>
                      <a:pt x="113" y="0"/>
                    </a:lnTo>
                    <a:lnTo>
                      <a:pt x="125" y="8"/>
                    </a:lnTo>
                    <a:lnTo>
                      <a:pt x="132" y="24"/>
                    </a:lnTo>
                    <a:lnTo>
                      <a:pt x="168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" name="Freeform 140"/>
            <p:cNvSpPr>
              <a:spLocks/>
            </p:cNvSpPr>
            <p:nvPr/>
          </p:nvSpPr>
          <p:spPr bwMode="auto">
            <a:xfrm>
              <a:off x="2982" y="1156"/>
              <a:ext cx="46" cy="133"/>
            </a:xfrm>
            <a:custGeom>
              <a:avLst/>
              <a:gdLst>
                <a:gd name="T0" fmla="*/ 0 w 64"/>
                <a:gd name="T1" fmla="*/ 0 h 271"/>
                <a:gd name="T2" fmla="*/ 40 w 64"/>
                <a:gd name="T3" fmla="*/ 231 h 271"/>
                <a:gd name="T4" fmla="*/ 42 w 64"/>
                <a:gd name="T5" fmla="*/ 243 h 271"/>
                <a:gd name="T6" fmla="*/ 44 w 64"/>
                <a:gd name="T7" fmla="*/ 253 h 271"/>
                <a:gd name="T8" fmla="*/ 55 w 64"/>
                <a:gd name="T9" fmla="*/ 267 h 271"/>
                <a:gd name="T10" fmla="*/ 64 w 64"/>
                <a:gd name="T11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71">
                  <a:moveTo>
                    <a:pt x="0" y="0"/>
                  </a:moveTo>
                  <a:lnTo>
                    <a:pt x="40" y="231"/>
                  </a:lnTo>
                  <a:lnTo>
                    <a:pt x="42" y="243"/>
                  </a:lnTo>
                  <a:lnTo>
                    <a:pt x="44" y="253"/>
                  </a:lnTo>
                  <a:lnTo>
                    <a:pt x="55" y="267"/>
                  </a:lnTo>
                  <a:lnTo>
                    <a:pt x="6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41"/>
            <p:cNvSpPr>
              <a:spLocks/>
            </p:cNvSpPr>
            <p:nvPr/>
          </p:nvSpPr>
          <p:spPr bwMode="auto">
            <a:xfrm>
              <a:off x="3029" y="1028"/>
              <a:ext cx="126" cy="260"/>
            </a:xfrm>
            <a:custGeom>
              <a:avLst/>
              <a:gdLst>
                <a:gd name="T0" fmla="*/ 0 w 177"/>
                <a:gd name="T1" fmla="*/ 530 h 530"/>
                <a:gd name="T2" fmla="*/ 14 w 177"/>
                <a:gd name="T3" fmla="*/ 527 h 530"/>
                <a:gd name="T4" fmla="*/ 24 w 177"/>
                <a:gd name="T5" fmla="*/ 518 h 530"/>
                <a:gd name="T6" fmla="*/ 27 w 177"/>
                <a:gd name="T7" fmla="*/ 506 h 530"/>
                <a:gd name="T8" fmla="*/ 31 w 177"/>
                <a:gd name="T9" fmla="*/ 486 h 530"/>
                <a:gd name="T10" fmla="*/ 84 w 177"/>
                <a:gd name="T11" fmla="*/ 43 h 530"/>
                <a:gd name="T12" fmla="*/ 89 w 177"/>
                <a:gd name="T13" fmla="*/ 18 h 530"/>
                <a:gd name="T14" fmla="*/ 94 w 177"/>
                <a:gd name="T15" fmla="*/ 10 h 530"/>
                <a:gd name="T16" fmla="*/ 104 w 177"/>
                <a:gd name="T17" fmla="*/ 3 h 530"/>
                <a:gd name="T18" fmla="*/ 113 w 177"/>
                <a:gd name="T19" fmla="*/ 0 h 530"/>
                <a:gd name="T20" fmla="*/ 125 w 177"/>
                <a:gd name="T21" fmla="*/ 6 h 530"/>
                <a:gd name="T22" fmla="*/ 132 w 177"/>
                <a:gd name="T23" fmla="*/ 18 h 530"/>
                <a:gd name="T24" fmla="*/ 177 w 177"/>
                <a:gd name="T25" fmla="*/ 28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7" y="506"/>
                  </a:lnTo>
                  <a:lnTo>
                    <a:pt x="31" y="486"/>
                  </a:lnTo>
                  <a:lnTo>
                    <a:pt x="84" y="43"/>
                  </a:lnTo>
                  <a:lnTo>
                    <a:pt x="89" y="18"/>
                  </a:lnTo>
                  <a:lnTo>
                    <a:pt x="94" y="10"/>
                  </a:lnTo>
                  <a:lnTo>
                    <a:pt x="104" y="3"/>
                  </a:lnTo>
                  <a:lnTo>
                    <a:pt x="113" y="0"/>
                  </a:lnTo>
                  <a:lnTo>
                    <a:pt x="125" y="6"/>
                  </a:lnTo>
                  <a:lnTo>
                    <a:pt x="132" y="18"/>
                  </a:lnTo>
                  <a:lnTo>
                    <a:pt x="177" y="2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" name="Group 142"/>
            <p:cNvGrpSpPr>
              <a:grpSpLocks/>
            </p:cNvGrpSpPr>
            <p:nvPr/>
          </p:nvGrpSpPr>
          <p:grpSpPr bwMode="auto">
            <a:xfrm>
              <a:off x="3159" y="1029"/>
              <a:ext cx="339" cy="262"/>
              <a:chOff x="4317" y="3250"/>
              <a:chExt cx="476" cy="713"/>
            </a:xfrm>
          </p:grpSpPr>
          <p:grpSp>
            <p:nvGrpSpPr>
              <p:cNvPr id="110" name="Group 143"/>
              <p:cNvGrpSpPr>
                <a:grpSpLocks/>
              </p:cNvGrpSpPr>
              <p:nvPr/>
            </p:nvGrpSpPr>
            <p:grpSpPr bwMode="auto">
              <a:xfrm>
                <a:off x="4317" y="3250"/>
                <a:ext cx="238" cy="713"/>
                <a:chOff x="4317" y="3250"/>
                <a:chExt cx="238" cy="713"/>
              </a:xfrm>
            </p:grpSpPr>
            <p:sp>
              <p:nvSpPr>
                <p:cNvPr id="114" name="Freeform 144"/>
                <p:cNvSpPr>
                  <a:spLocks/>
                </p:cNvSpPr>
                <p:nvPr/>
              </p:nvSpPr>
              <p:spPr bwMode="auto">
                <a:xfrm>
                  <a:off x="4317" y="3250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" name="Freeform 145"/>
                <p:cNvSpPr>
                  <a:spLocks/>
                </p:cNvSpPr>
                <p:nvPr/>
              </p:nvSpPr>
              <p:spPr bwMode="auto">
                <a:xfrm>
                  <a:off x="4383" y="3254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1" name="Group 146"/>
              <p:cNvGrpSpPr>
                <a:grpSpLocks/>
              </p:cNvGrpSpPr>
              <p:nvPr/>
            </p:nvGrpSpPr>
            <p:grpSpPr bwMode="auto">
              <a:xfrm>
                <a:off x="4557" y="3250"/>
                <a:ext cx="236" cy="713"/>
                <a:chOff x="4557" y="3250"/>
                <a:chExt cx="236" cy="713"/>
              </a:xfrm>
            </p:grpSpPr>
            <p:sp>
              <p:nvSpPr>
                <p:cNvPr id="112" name="Freeform 147"/>
                <p:cNvSpPr>
                  <a:spLocks/>
                </p:cNvSpPr>
                <p:nvPr/>
              </p:nvSpPr>
              <p:spPr bwMode="auto">
                <a:xfrm>
                  <a:off x="4557" y="3250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" name="Freeform 148"/>
                <p:cNvSpPr>
                  <a:spLocks/>
                </p:cNvSpPr>
                <p:nvPr/>
              </p:nvSpPr>
              <p:spPr bwMode="auto">
                <a:xfrm>
                  <a:off x="4622" y="3254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5" name="Freeform 149"/>
            <p:cNvSpPr>
              <a:spLocks/>
            </p:cNvSpPr>
            <p:nvPr/>
          </p:nvSpPr>
          <p:spPr bwMode="auto">
            <a:xfrm>
              <a:off x="3494" y="1028"/>
              <a:ext cx="50" cy="151"/>
            </a:xfrm>
            <a:custGeom>
              <a:avLst/>
              <a:gdLst>
                <a:gd name="T0" fmla="*/ 0 w 71"/>
                <a:gd name="T1" fmla="*/ 309 h 309"/>
                <a:gd name="T2" fmla="*/ 46 w 71"/>
                <a:gd name="T3" fmla="*/ 40 h 309"/>
                <a:gd name="T4" fmla="*/ 48 w 71"/>
                <a:gd name="T5" fmla="*/ 28 h 309"/>
                <a:gd name="T6" fmla="*/ 50 w 71"/>
                <a:gd name="T7" fmla="*/ 19 h 309"/>
                <a:gd name="T8" fmla="*/ 54 w 71"/>
                <a:gd name="T9" fmla="*/ 11 h 309"/>
                <a:gd name="T10" fmla="*/ 61 w 71"/>
                <a:gd name="T11" fmla="*/ 4 h 309"/>
                <a:gd name="T12" fmla="*/ 71 w 71"/>
                <a:gd name="T13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309">
                  <a:moveTo>
                    <a:pt x="0" y="309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4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50"/>
            <p:cNvSpPr>
              <a:spLocks/>
            </p:cNvSpPr>
            <p:nvPr/>
          </p:nvSpPr>
          <p:spPr bwMode="auto">
            <a:xfrm>
              <a:off x="3546" y="1029"/>
              <a:ext cx="120" cy="259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7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7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7" name="Group 151"/>
            <p:cNvGrpSpPr>
              <a:grpSpLocks/>
            </p:cNvGrpSpPr>
            <p:nvPr/>
          </p:nvGrpSpPr>
          <p:grpSpPr bwMode="auto">
            <a:xfrm>
              <a:off x="3666" y="1028"/>
              <a:ext cx="170" cy="261"/>
              <a:chOff x="5031" y="3244"/>
              <a:chExt cx="238" cy="713"/>
            </a:xfrm>
          </p:grpSpPr>
          <p:sp>
            <p:nvSpPr>
              <p:cNvPr id="108" name="Freeform 152"/>
              <p:cNvSpPr>
                <a:spLocks/>
              </p:cNvSpPr>
              <p:nvPr/>
            </p:nvSpPr>
            <p:spPr bwMode="auto">
              <a:xfrm>
                <a:off x="5031" y="3244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Freeform 153"/>
              <p:cNvSpPr>
                <a:spLocks/>
              </p:cNvSpPr>
              <p:nvPr/>
            </p:nvSpPr>
            <p:spPr bwMode="auto">
              <a:xfrm>
                <a:off x="5101" y="3248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0" name="Group 174"/>
          <p:cNvGrpSpPr>
            <a:grpSpLocks/>
          </p:cNvGrpSpPr>
          <p:nvPr/>
        </p:nvGrpSpPr>
        <p:grpSpPr bwMode="auto">
          <a:xfrm>
            <a:off x="2505434" y="1872945"/>
            <a:ext cx="4857750" cy="415925"/>
            <a:chOff x="774" y="319"/>
            <a:chExt cx="3060" cy="262"/>
          </a:xfrm>
        </p:grpSpPr>
        <p:sp>
          <p:nvSpPr>
            <p:cNvPr id="131" name="Freeform 15"/>
            <p:cNvSpPr>
              <a:spLocks/>
            </p:cNvSpPr>
            <p:nvPr/>
          </p:nvSpPr>
          <p:spPr bwMode="auto">
            <a:xfrm>
              <a:off x="774" y="456"/>
              <a:ext cx="338" cy="0"/>
            </a:xfrm>
            <a:custGeom>
              <a:avLst/>
              <a:gdLst>
                <a:gd name="T0" fmla="*/ 0 w 475"/>
                <a:gd name="T1" fmla="*/ 0 h 1"/>
                <a:gd name="T2" fmla="*/ 475 w 47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5" h="1">
                  <a:moveTo>
                    <a:pt x="0" y="0"/>
                  </a:moveTo>
                  <a:lnTo>
                    <a:pt x="475" y="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Freeform 16"/>
            <p:cNvSpPr>
              <a:spLocks/>
            </p:cNvSpPr>
            <p:nvPr/>
          </p:nvSpPr>
          <p:spPr bwMode="auto">
            <a:xfrm>
              <a:off x="1452" y="455"/>
              <a:ext cx="688" cy="1"/>
            </a:xfrm>
            <a:custGeom>
              <a:avLst/>
              <a:gdLst>
                <a:gd name="T0" fmla="*/ 0 w 969"/>
                <a:gd name="T1" fmla="*/ 3 h 3"/>
                <a:gd name="T2" fmla="*/ 969 w 96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9" h="3">
                  <a:moveTo>
                    <a:pt x="0" y="3"/>
                  </a:moveTo>
                  <a:lnTo>
                    <a:pt x="9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Line 17"/>
            <p:cNvSpPr>
              <a:spLocks noChangeShapeType="1"/>
            </p:cNvSpPr>
            <p:nvPr/>
          </p:nvSpPr>
          <p:spPr bwMode="auto">
            <a:xfrm>
              <a:off x="3161" y="456"/>
              <a:ext cx="67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Freeform 18"/>
            <p:cNvSpPr>
              <a:spLocks/>
            </p:cNvSpPr>
            <p:nvPr/>
          </p:nvSpPr>
          <p:spPr bwMode="auto">
            <a:xfrm>
              <a:off x="2820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9"/>
            <p:cNvSpPr>
              <a:spLocks/>
            </p:cNvSpPr>
            <p:nvPr/>
          </p:nvSpPr>
          <p:spPr bwMode="auto">
            <a:xfrm>
              <a:off x="2843" y="322"/>
              <a:ext cx="62" cy="259"/>
            </a:xfrm>
            <a:custGeom>
              <a:avLst/>
              <a:gdLst>
                <a:gd name="T0" fmla="*/ 0 w 88"/>
                <a:gd name="T1" fmla="*/ 0 h 530"/>
                <a:gd name="T2" fmla="*/ 7 w 88"/>
                <a:gd name="T3" fmla="*/ 3 h 530"/>
                <a:gd name="T4" fmla="*/ 12 w 88"/>
                <a:gd name="T5" fmla="*/ 12 h 530"/>
                <a:gd name="T6" fmla="*/ 14 w 88"/>
                <a:gd name="T7" fmla="*/ 25 h 530"/>
                <a:gd name="T8" fmla="*/ 15 w 88"/>
                <a:gd name="T9" fmla="*/ 44 h 530"/>
                <a:gd name="T10" fmla="*/ 43 w 88"/>
                <a:gd name="T11" fmla="*/ 488 h 530"/>
                <a:gd name="T12" fmla="*/ 45 w 88"/>
                <a:gd name="T13" fmla="*/ 512 h 530"/>
                <a:gd name="T14" fmla="*/ 47 w 88"/>
                <a:gd name="T15" fmla="*/ 520 h 530"/>
                <a:gd name="T16" fmla="*/ 53 w 88"/>
                <a:gd name="T17" fmla="*/ 527 h 530"/>
                <a:gd name="T18" fmla="*/ 57 w 88"/>
                <a:gd name="T19" fmla="*/ 530 h 530"/>
                <a:gd name="T20" fmla="*/ 63 w 88"/>
                <a:gd name="T21" fmla="*/ 524 h 530"/>
                <a:gd name="T22" fmla="*/ 67 w 88"/>
                <a:gd name="T23" fmla="*/ 512 h 530"/>
                <a:gd name="T24" fmla="*/ 88 w 88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8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20"/>
            <p:cNvSpPr>
              <a:spLocks/>
            </p:cNvSpPr>
            <p:nvPr/>
          </p:nvSpPr>
          <p:spPr bwMode="auto">
            <a:xfrm>
              <a:off x="2904" y="321"/>
              <a:ext cx="22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21"/>
            <p:cNvSpPr>
              <a:spLocks/>
            </p:cNvSpPr>
            <p:nvPr/>
          </p:nvSpPr>
          <p:spPr bwMode="auto">
            <a:xfrm>
              <a:off x="2926" y="322"/>
              <a:ext cx="60" cy="259"/>
            </a:xfrm>
            <a:custGeom>
              <a:avLst/>
              <a:gdLst>
                <a:gd name="T0" fmla="*/ 0 w 84"/>
                <a:gd name="T1" fmla="*/ 0 h 530"/>
                <a:gd name="T2" fmla="*/ 7 w 84"/>
                <a:gd name="T3" fmla="*/ 3 h 530"/>
                <a:gd name="T4" fmla="*/ 12 w 84"/>
                <a:gd name="T5" fmla="*/ 12 h 530"/>
                <a:gd name="T6" fmla="*/ 14 w 84"/>
                <a:gd name="T7" fmla="*/ 25 h 530"/>
                <a:gd name="T8" fmla="*/ 15 w 84"/>
                <a:gd name="T9" fmla="*/ 44 h 530"/>
                <a:gd name="T10" fmla="*/ 42 w 84"/>
                <a:gd name="T11" fmla="*/ 488 h 530"/>
                <a:gd name="T12" fmla="*/ 45 w 84"/>
                <a:gd name="T13" fmla="*/ 512 h 530"/>
                <a:gd name="T14" fmla="*/ 47 w 84"/>
                <a:gd name="T15" fmla="*/ 520 h 530"/>
                <a:gd name="T16" fmla="*/ 52 w 84"/>
                <a:gd name="T17" fmla="*/ 527 h 530"/>
                <a:gd name="T18" fmla="*/ 57 w 84"/>
                <a:gd name="T19" fmla="*/ 530 h 530"/>
                <a:gd name="T20" fmla="*/ 62 w 84"/>
                <a:gd name="T21" fmla="*/ 524 h 530"/>
                <a:gd name="T22" fmla="*/ 66 w 84"/>
                <a:gd name="T23" fmla="*/ 512 h 530"/>
                <a:gd name="T24" fmla="*/ 84 w 84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8" name="Group 22"/>
            <p:cNvGrpSpPr>
              <a:grpSpLocks/>
            </p:cNvGrpSpPr>
            <p:nvPr/>
          </p:nvGrpSpPr>
          <p:grpSpPr bwMode="auto">
            <a:xfrm>
              <a:off x="2987" y="319"/>
              <a:ext cx="84" cy="261"/>
              <a:chOff x="4075" y="1309"/>
              <a:chExt cx="118" cy="713"/>
            </a:xfrm>
          </p:grpSpPr>
          <p:sp>
            <p:nvSpPr>
              <p:cNvPr id="173" name="Freeform 23"/>
              <p:cNvSpPr>
                <a:spLocks/>
              </p:cNvSpPr>
              <p:nvPr/>
            </p:nvSpPr>
            <p:spPr bwMode="auto">
              <a:xfrm>
                <a:off x="4075" y="1309"/>
                <a:ext cx="34" cy="363"/>
              </a:xfrm>
              <a:custGeom>
                <a:avLst/>
                <a:gdLst>
                  <a:gd name="T0" fmla="*/ 0 w 34"/>
                  <a:gd name="T1" fmla="*/ 362 h 363"/>
                  <a:gd name="T2" fmla="*/ 20 w 34"/>
                  <a:gd name="T3" fmla="*/ 54 h 363"/>
                  <a:gd name="T4" fmla="*/ 22 w 34"/>
                  <a:gd name="T5" fmla="*/ 38 h 363"/>
                  <a:gd name="T6" fmla="*/ 23 w 34"/>
                  <a:gd name="T7" fmla="*/ 25 h 363"/>
                  <a:gd name="T8" fmla="*/ 24 w 34"/>
                  <a:gd name="T9" fmla="*/ 15 h 363"/>
                  <a:gd name="T10" fmla="*/ 28 w 34"/>
                  <a:gd name="T11" fmla="*/ 6 h 363"/>
                  <a:gd name="T12" fmla="*/ 33 w 34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4" y="15"/>
                    </a:lnTo>
                    <a:lnTo>
                      <a:pt x="28" y="6"/>
                    </a:lnTo>
                    <a:lnTo>
                      <a:pt x="33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24"/>
              <p:cNvSpPr>
                <a:spLocks/>
              </p:cNvSpPr>
              <p:nvPr/>
            </p:nvSpPr>
            <p:spPr bwMode="auto">
              <a:xfrm>
                <a:off x="4109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9" name="Freeform 25"/>
            <p:cNvSpPr>
              <a:spLocks/>
            </p:cNvSpPr>
            <p:nvPr/>
          </p:nvSpPr>
          <p:spPr bwMode="auto">
            <a:xfrm>
              <a:off x="3071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26"/>
            <p:cNvSpPr>
              <a:spLocks/>
            </p:cNvSpPr>
            <p:nvPr/>
          </p:nvSpPr>
          <p:spPr bwMode="auto">
            <a:xfrm>
              <a:off x="3096" y="320"/>
              <a:ext cx="59" cy="259"/>
            </a:xfrm>
            <a:custGeom>
              <a:avLst/>
              <a:gdLst>
                <a:gd name="T0" fmla="*/ 0 w 83"/>
                <a:gd name="T1" fmla="*/ 0 h 530"/>
                <a:gd name="T2" fmla="*/ 7 w 83"/>
                <a:gd name="T3" fmla="*/ 3 h 530"/>
                <a:gd name="T4" fmla="*/ 12 w 83"/>
                <a:gd name="T5" fmla="*/ 12 h 530"/>
                <a:gd name="T6" fmla="*/ 13 w 83"/>
                <a:gd name="T7" fmla="*/ 25 h 530"/>
                <a:gd name="T8" fmla="*/ 15 w 83"/>
                <a:gd name="T9" fmla="*/ 44 h 530"/>
                <a:gd name="T10" fmla="*/ 42 w 83"/>
                <a:gd name="T11" fmla="*/ 488 h 530"/>
                <a:gd name="T12" fmla="*/ 44 w 83"/>
                <a:gd name="T13" fmla="*/ 512 h 530"/>
                <a:gd name="T14" fmla="*/ 46 w 83"/>
                <a:gd name="T15" fmla="*/ 520 h 530"/>
                <a:gd name="T16" fmla="*/ 52 w 83"/>
                <a:gd name="T17" fmla="*/ 527 h 530"/>
                <a:gd name="T18" fmla="*/ 56 w 83"/>
                <a:gd name="T19" fmla="*/ 530 h 530"/>
                <a:gd name="T20" fmla="*/ 62 w 83"/>
                <a:gd name="T21" fmla="*/ 524 h 530"/>
                <a:gd name="T22" fmla="*/ 65 w 83"/>
                <a:gd name="T23" fmla="*/ 512 h 530"/>
                <a:gd name="T24" fmla="*/ 83 w 83"/>
                <a:gd name="T25" fmla="*/ 27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3" y="27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27"/>
            <p:cNvSpPr>
              <a:spLocks/>
            </p:cNvSpPr>
            <p:nvPr/>
          </p:nvSpPr>
          <p:spPr bwMode="auto">
            <a:xfrm>
              <a:off x="2482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28"/>
            <p:cNvSpPr>
              <a:spLocks/>
            </p:cNvSpPr>
            <p:nvPr/>
          </p:nvSpPr>
          <p:spPr bwMode="auto">
            <a:xfrm>
              <a:off x="250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6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6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29"/>
            <p:cNvSpPr>
              <a:spLocks/>
            </p:cNvSpPr>
            <p:nvPr/>
          </p:nvSpPr>
          <p:spPr bwMode="auto">
            <a:xfrm>
              <a:off x="2566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589" y="322"/>
              <a:ext cx="60" cy="259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5" name="Group 31"/>
            <p:cNvGrpSpPr>
              <a:grpSpLocks/>
            </p:cNvGrpSpPr>
            <p:nvPr/>
          </p:nvGrpSpPr>
          <p:grpSpPr bwMode="auto">
            <a:xfrm>
              <a:off x="2649" y="319"/>
              <a:ext cx="169" cy="261"/>
              <a:chOff x="3600" y="1309"/>
              <a:chExt cx="237" cy="713"/>
            </a:xfrm>
          </p:grpSpPr>
          <p:grpSp>
            <p:nvGrpSpPr>
              <p:cNvPr id="167" name="Group 32"/>
              <p:cNvGrpSpPr>
                <a:grpSpLocks/>
              </p:cNvGrpSpPr>
              <p:nvPr/>
            </p:nvGrpSpPr>
            <p:grpSpPr bwMode="auto">
              <a:xfrm>
                <a:off x="3600" y="1309"/>
                <a:ext cx="118" cy="713"/>
                <a:chOff x="3600" y="1309"/>
                <a:chExt cx="118" cy="713"/>
              </a:xfrm>
            </p:grpSpPr>
            <p:sp>
              <p:nvSpPr>
                <p:cNvPr id="171" name="Freeform 33"/>
                <p:cNvSpPr>
                  <a:spLocks/>
                </p:cNvSpPr>
                <p:nvPr/>
              </p:nvSpPr>
              <p:spPr bwMode="auto">
                <a:xfrm>
                  <a:off x="3600" y="1309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" name="Freeform 34"/>
                <p:cNvSpPr>
                  <a:spLocks/>
                </p:cNvSpPr>
                <p:nvPr/>
              </p:nvSpPr>
              <p:spPr bwMode="auto">
                <a:xfrm>
                  <a:off x="3634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35"/>
              <p:cNvGrpSpPr>
                <a:grpSpLocks/>
              </p:cNvGrpSpPr>
              <p:nvPr/>
            </p:nvGrpSpPr>
            <p:grpSpPr bwMode="auto">
              <a:xfrm>
                <a:off x="3718" y="1309"/>
                <a:ext cx="119" cy="713"/>
                <a:chOff x="3718" y="1309"/>
                <a:chExt cx="119" cy="713"/>
              </a:xfrm>
            </p:grpSpPr>
            <p:sp>
              <p:nvSpPr>
                <p:cNvPr id="169" name="Freeform 36"/>
                <p:cNvSpPr>
                  <a:spLocks/>
                </p:cNvSpPr>
                <p:nvPr/>
              </p:nvSpPr>
              <p:spPr bwMode="auto">
                <a:xfrm>
                  <a:off x="3718" y="1309"/>
                  <a:ext cx="35" cy="363"/>
                </a:xfrm>
                <a:custGeom>
                  <a:avLst/>
                  <a:gdLst>
                    <a:gd name="T0" fmla="*/ 0 w 35"/>
                    <a:gd name="T1" fmla="*/ 362 h 363"/>
                    <a:gd name="T2" fmla="*/ 21 w 35"/>
                    <a:gd name="T3" fmla="*/ 54 h 363"/>
                    <a:gd name="T4" fmla="*/ 22 w 35"/>
                    <a:gd name="T5" fmla="*/ 38 h 363"/>
                    <a:gd name="T6" fmla="*/ 23 w 35"/>
                    <a:gd name="T7" fmla="*/ 25 h 363"/>
                    <a:gd name="T8" fmla="*/ 25 w 35"/>
                    <a:gd name="T9" fmla="*/ 15 h 363"/>
                    <a:gd name="T10" fmla="*/ 29 w 35"/>
                    <a:gd name="T11" fmla="*/ 6 h 363"/>
                    <a:gd name="T12" fmla="*/ 34 w 3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" h="363">
                      <a:moveTo>
                        <a:pt x="0" y="362"/>
                      </a:moveTo>
                      <a:lnTo>
                        <a:pt x="21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5" y="15"/>
                      </a:lnTo>
                      <a:lnTo>
                        <a:pt x="29" y="6"/>
                      </a:lnTo>
                      <a:lnTo>
                        <a:pt x="3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" name="Freeform 37"/>
                <p:cNvSpPr>
                  <a:spLocks/>
                </p:cNvSpPr>
                <p:nvPr/>
              </p:nvSpPr>
              <p:spPr bwMode="auto">
                <a:xfrm>
                  <a:off x="3753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6" name="Freeform 38"/>
            <p:cNvSpPr>
              <a:spLocks/>
            </p:cNvSpPr>
            <p:nvPr/>
          </p:nvSpPr>
          <p:spPr bwMode="auto">
            <a:xfrm>
              <a:off x="2138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2161" y="322"/>
              <a:ext cx="62" cy="259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2222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41"/>
            <p:cNvSpPr>
              <a:spLocks/>
            </p:cNvSpPr>
            <p:nvPr/>
          </p:nvSpPr>
          <p:spPr bwMode="auto">
            <a:xfrm>
              <a:off x="224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0" name="Group 42"/>
            <p:cNvGrpSpPr>
              <a:grpSpLocks/>
            </p:cNvGrpSpPr>
            <p:nvPr/>
          </p:nvGrpSpPr>
          <p:grpSpPr bwMode="auto">
            <a:xfrm>
              <a:off x="2306" y="319"/>
              <a:ext cx="83" cy="261"/>
              <a:chOff x="3117" y="1309"/>
              <a:chExt cx="117" cy="713"/>
            </a:xfrm>
          </p:grpSpPr>
          <p:sp>
            <p:nvSpPr>
              <p:cNvPr id="165" name="Freeform 43"/>
              <p:cNvSpPr>
                <a:spLocks/>
              </p:cNvSpPr>
              <p:nvPr/>
            </p:nvSpPr>
            <p:spPr bwMode="auto">
              <a:xfrm>
                <a:off x="3117" y="1309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44"/>
              <p:cNvSpPr>
                <a:spLocks/>
              </p:cNvSpPr>
              <p:nvPr/>
            </p:nvSpPr>
            <p:spPr bwMode="auto">
              <a:xfrm>
                <a:off x="3150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" name="Freeform 45"/>
            <p:cNvSpPr>
              <a:spLocks/>
            </p:cNvSpPr>
            <p:nvPr/>
          </p:nvSpPr>
          <p:spPr bwMode="auto">
            <a:xfrm>
              <a:off x="2389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46"/>
            <p:cNvSpPr>
              <a:spLocks/>
            </p:cNvSpPr>
            <p:nvPr/>
          </p:nvSpPr>
          <p:spPr bwMode="auto">
            <a:xfrm>
              <a:off x="2414" y="320"/>
              <a:ext cx="65" cy="259"/>
            </a:xfrm>
            <a:custGeom>
              <a:avLst/>
              <a:gdLst>
                <a:gd name="T0" fmla="*/ 0 w 91"/>
                <a:gd name="T1" fmla="*/ 0 h 530"/>
                <a:gd name="T2" fmla="*/ 7 w 91"/>
                <a:gd name="T3" fmla="*/ 3 h 530"/>
                <a:gd name="T4" fmla="*/ 12 w 91"/>
                <a:gd name="T5" fmla="*/ 12 h 530"/>
                <a:gd name="T6" fmla="*/ 13 w 91"/>
                <a:gd name="T7" fmla="*/ 25 h 530"/>
                <a:gd name="T8" fmla="*/ 15 w 91"/>
                <a:gd name="T9" fmla="*/ 44 h 530"/>
                <a:gd name="T10" fmla="*/ 42 w 91"/>
                <a:gd name="T11" fmla="*/ 488 h 530"/>
                <a:gd name="T12" fmla="*/ 44 w 91"/>
                <a:gd name="T13" fmla="*/ 512 h 530"/>
                <a:gd name="T14" fmla="*/ 46 w 91"/>
                <a:gd name="T15" fmla="*/ 520 h 530"/>
                <a:gd name="T16" fmla="*/ 52 w 91"/>
                <a:gd name="T17" fmla="*/ 527 h 530"/>
                <a:gd name="T18" fmla="*/ 56 w 91"/>
                <a:gd name="T19" fmla="*/ 530 h 530"/>
                <a:gd name="T20" fmla="*/ 62 w 91"/>
                <a:gd name="T21" fmla="*/ 524 h 530"/>
                <a:gd name="T22" fmla="*/ 65 w 91"/>
                <a:gd name="T23" fmla="*/ 512 h 530"/>
                <a:gd name="T24" fmla="*/ 91 w 91"/>
                <a:gd name="T25" fmla="*/ 28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1" y="28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" name="Group 158"/>
            <p:cNvGrpSpPr>
              <a:grpSpLocks/>
            </p:cNvGrpSpPr>
            <p:nvPr/>
          </p:nvGrpSpPr>
          <p:grpSpPr bwMode="auto">
            <a:xfrm>
              <a:off x="1114" y="321"/>
              <a:ext cx="338" cy="260"/>
              <a:chOff x="1439" y="1316"/>
              <a:chExt cx="476" cy="711"/>
            </a:xfrm>
          </p:grpSpPr>
          <p:grpSp>
            <p:nvGrpSpPr>
              <p:cNvPr id="154" name="Group 159"/>
              <p:cNvGrpSpPr>
                <a:grpSpLocks/>
              </p:cNvGrpSpPr>
              <p:nvPr/>
            </p:nvGrpSpPr>
            <p:grpSpPr bwMode="auto">
              <a:xfrm>
                <a:off x="1439" y="1316"/>
                <a:ext cx="239" cy="711"/>
                <a:chOff x="1439" y="1316"/>
                <a:chExt cx="239" cy="711"/>
              </a:xfrm>
            </p:grpSpPr>
            <p:sp>
              <p:nvSpPr>
                <p:cNvPr id="161" name="Freeform 160"/>
                <p:cNvSpPr>
                  <a:spLocks/>
                </p:cNvSpPr>
                <p:nvPr/>
              </p:nvSpPr>
              <p:spPr bwMode="auto">
                <a:xfrm>
                  <a:off x="1439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" name="Freeform 161"/>
                <p:cNvSpPr>
                  <a:spLocks/>
                </p:cNvSpPr>
                <p:nvPr/>
              </p:nvSpPr>
              <p:spPr bwMode="auto">
                <a:xfrm>
                  <a:off x="1472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" name="Freeform 162"/>
                <p:cNvSpPr>
                  <a:spLocks/>
                </p:cNvSpPr>
                <p:nvPr/>
              </p:nvSpPr>
              <p:spPr bwMode="auto">
                <a:xfrm>
                  <a:off x="1558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" name="Freeform 163"/>
                <p:cNvSpPr>
                  <a:spLocks/>
                </p:cNvSpPr>
                <p:nvPr/>
              </p:nvSpPr>
              <p:spPr bwMode="auto">
                <a:xfrm>
                  <a:off x="1592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Group 164"/>
              <p:cNvGrpSpPr>
                <a:grpSpLocks/>
              </p:cNvGrpSpPr>
              <p:nvPr/>
            </p:nvGrpSpPr>
            <p:grpSpPr bwMode="auto">
              <a:xfrm>
                <a:off x="1676" y="1316"/>
                <a:ext cx="239" cy="711"/>
                <a:chOff x="1676" y="1316"/>
                <a:chExt cx="239" cy="711"/>
              </a:xfrm>
            </p:grpSpPr>
            <p:sp>
              <p:nvSpPr>
                <p:cNvPr id="157" name="Freeform 165"/>
                <p:cNvSpPr>
                  <a:spLocks/>
                </p:cNvSpPr>
                <p:nvPr/>
              </p:nvSpPr>
              <p:spPr bwMode="auto">
                <a:xfrm>
                  <a:off x="1676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66"/>
                <p:cNvSpPr>
                  <a:spLocks/>
                </p:cNvSpPr>
                <p:nvPr/>
              </p:nvSpPr>
              <p:spPr bwMode="auto">
                <a:xfrm>
                  <a:off x="1709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67"/>
                <p:cNvSpPr>
                  <a:spLocks/>
                </p:cNvSpPr>
                <p:nvPr/>
              </p:nvSpPr>
              <p:spPr bwMode="auto">
                <a:xfrm>
                  <a:off x="1795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68"/>
                <p:cNvSpPr>
                  <a:spLocks/>
                </p:cNvSpPr>
                <p:nvPr/>
              </p:nvSpPr>
              <p:spPr bwMode="auto">
                <a:xfrm>
                  <a:off x="1829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6" name="Line 169"/>
              <p:cNvSpPr>
                <a:spLocks noChangeShapeType="1"/>
              </p:cNvSpPr>
              <p:nvPr/>
            </p:nvSpPr>
            <p:spPr bwMode="auto">
              <a:xfrm flipV="1">
                <a:off x="1674" y="1661"/>
                <a:ext cx="3" cy="5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2767043" y="4038067"/>
            <a:ext cx="3316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最基本的三种调制方法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585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45145" y="1085082"/>
            <a:ext cx="8053711" cy="31650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779527" y="1247003"/>
            <a:ext cx="5654545" cy="1264401"/>
            <a:chOff x="490636" y="1498303"/>
            <a:chExt cx="8839846" cy="1976659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 rot="-5400000">
              <a:off x="4592787" y="806591"/>
              <a:ext cx="395287" cy="4399227"/>
            </a:xfrm>
            <a:prstGeom prst="can">
              <a:avLst>
                <a:gd name="adj" fmla="val 66775"/>
              </a:avLst>
            </a:prstGeom>
            <a:gradFill rotWithShape="1">
              <a:gsLst>
                <a:gs pos="0">
                  <a:srgbClr val="00B050"/>
                </a:gs>
                <a:gs pos="50000">
                  <a:schemeClr val="bg1"/>
                </a:gs>
                <a:gs pos="100000">
                  <a:srgbClr val="00990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693887" y="2214835"/>
              <a:ext cx="166819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693887" y="3005410"/>
              <a:ext cx="2123942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7292727" y="2214835"/>
              <a:ext cx="166991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6990045" y="3005410"/>
              <a:ext cx="2340437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7308206" y="2251348"/>
              <a:ext cx="1620044" cy="633413"/>
            </a:xfrm>
            <a:custGeom>
              <a:avLst/>
              <a:gdLst>
                <a:gd name="T0" fmla="*/ 0 w 1026"/>
                <a:gd name="T1" fmla="*/ 447 h 461"/>
                <a:gd name="T2" fmla="*/ 57 w 1026"/>
                <a:gd name="T3" fmla="*/ 459 h 461"/>
                <a:gd name="T4" fmla="*/ 78 w 1026"/>
                <a:gd name="T5" fmla="*/ 456 h 461"/>
                <a:gd name="T6" fmla="*/ 105 w 1026"/>
                <a:gd name="T7" fmla="*/ 444 h 461"/>
                <a:gd name="T8" fmla="*/ 153 w 1026"/>
                <a:gd name="T9" fmla="*/ 444 h 461"/>
                <a:gd name="T10" fmla="*/ 177 w 1026"/>
                <a:gd name="T11" fmla="*/ 354 h 461"/>
                <a:gd name="T12" fmla="*/ 180 w 1026"/>
                <a:gd name="T13" fmla="*/ 258 h 461"/>
                <a:gd name="T14" fmla="*/ 183 w 1026"/>
                <a:gd name="T15" fmla="*/ 246 h 461"/>
                <a:gd name="T16" fmla="*/ 189 w 1026"/>
                <a:gd name="T17" fmla="*/ 207 h 461"/>
                <a:gd name="T18" fmla="*/ 198 w 1026"/>
                <a:gd name="T19" fmla="*/ 180 h 461"/>
                <a:gd name="T20" fmla="*/ 213 w 1026"/>
                <a:gd name="T21" fmla="*/ 96 h 461"/>
                <a:gd name="T22" fmla="*/ 228 w 1026"/>
                <a:gd name="T23" fmla="*/ 18 h 461"/>
                <a:gd name="T24" fmla="*/ 252 w 1026"/>
                <a:gd name="T25" fmla="*/ 3 h 461"/>
                <a:gd name="T26" fmla="*/ 261 w 1026"/>
                <a:gd name="T27" fmla="*/ 0 h 461"/>
                <a:gd name="T28" fmla="*/ 321 w 1026"/>
                <a:gd name="T29" fmla="*/ 27 h 461"/>
                <a:gd name="T30" fmla="*/ 363 w 1026"/>
                <a:gd name="T31" fmla="*/ 27 h 461"/>
                <a:gd name="T32" fmla="*/ 387 w 1026"/>
                <a:gd name="T33" fmla="*/ 81 h 461"/>
                <a:gd name="T34" fmla="*/ 399 w 1026"/>
                <a:gd name="T35" fmla="*/ 222 h 461"/>
                <a:gd name="T36" fmla="*/ 417 w 1026"/>
                <a:gd name="T37" fmla="*/ 366 h 461"/>
                <a:gd name="T38" fmla="*/ 450 w 1026"/>
                <a:gd name="T39" fmla="*/ 417 h 461"/>
                <a:gd name="T40" fmla="*/ 504 w 1026"/>
                <a:gd name="T41" fmla="*/ 444 h 461"/>
                <a:gd name="T42" fmla="*/ 540 w 1026"/>
                <a:gd name="T43" fmla="*/ 450 h 461"/>
                <a:gd name="T44" fmla="*/ 558 w 1026"/>
                <a:gd name="T45" fmla="*/ 444 h 461"/>
                <a:gd name="T46" fmla="*/ 615 w 1026"/>
                <a:gd name="T47" fmla="*/ 459 h 461"/>
                <a:gd name="T48" fmla="*/ 639 w 1026"/>
                <a:gd name="T49" fmla="*/ 450 h 461"/>
                <a:gd name="T50" fmla="*/ 642 w 1026"/>
                <a:gd name="T51" fmla="*/ 432 h 461"/>
                <a:gd name="T52" fmla="*/ 654 w 1026"/>
                <a:gd name="T53" fmla="*/ 405 h 461"/>
                <a:gd name="T54" fmla="*/ 672 w 1026"/>
                <a:gd name="T55" fmla="*/ 315 h 461"/>
                <a:gd name="T56" fmla="*/ 690 w 1026"/>
                <a:gd name="T57" fmla="*/ 171 h 461"/>
                <a:gd name="T58" fmla="*/ 711 w 1026"/>
                <a:gd name="T59" fmla="*/ 81 h 461"/>
                <a:gd name="T60" fmla="*/ 741 w 1026"/>
                <a:gd name="T61" fmla="*/ 24 h 461"/>
                <a:gd name="T62" fmla="*/ 804 w 1026"/>
                <a:gd name="T63" fmla="*/ 45 h 461"/>
                <a:gd name="T64" fmla="*/ 831 w 1026"/>
                <a:gd name="T65" fmla="*/ 66 h 461"/>
                <a:gd name="T66" fmla="*/ 867 w 1026"/>
                <a:gd name="T67" fmla="*/ 69 h 461"/>
                <a:gd name="T68" fmla="*/ 870 w 1026"/>
                <a:gd name="T69" fmla="*/ 84 h 461"/>
                <a:gd name="T70" fmla="*/ 879 w 1026"/>
                <a:gd name="T71" fmla="*/ 135 h 461"/>
                <a:gd name="T72" fmla="*/ 901 w 1026"/>
                <a:gd name="T73" fmla="*/ 267 h 461"/>
                <a:gd name="T74" fmla="*/ 924 w 1026"/>
                <a:gd name="T75" fmla="*/ 363 h 461"/>
                <a:gd name="T76" fmla="*/ 963 w 1026"/>
                <a:gd name="T77" fmla="*/ 432 h 461"/>
                <a:gd name="T78" fmla="*/ 1026 w 1026"/>
                <a:gd name="T79" fmla="*/ 453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26" h="461">
                  <a:moveTo>
                    <a:pt x="0" y="447"/>
                  </a:moveTo>
                  <a:cubicBezTo>
                    <a:pt x="9" y="449"/>
                    <a:pt x="44" y="457"/>
                    <a:pt x="57" y="459"/>
                  </a:cubicBezTo>
                  <a:cubicBezTo>
                    <a:pt x="64" y="461"/>
                    <a:pt x="71" y="457"/>
                    <a:pt x="78" y="456"/>
                  </a:cubicBezTo>
                  <a:cubicBezTo>
                    <a:pt x="88" y="453"/>
                    <a:pt x="95" y="447"/>
                    <a:pt x="105" y="444"/>
                  </a:cubicBezTo>
                  <a:cubicBezTo>
                    <a:pt x="121" y="445"/>
                    <a:pt x="142" y="455"/>
                    <a:pt x="153" y="444"/>
                  </a:cubicBezTo>
                  <a:cubicBezTo>
                    <a:pt x="163" y="434"/>
                    <a:pt x="174" y="371"/>
                    <a:pt x="177" y="354"/>
                  </a:cubicBezTo>
                  <a:cubicBezTo>
                    <a:pt x="178" y="322"/>
                    <a:pt x="178" y="290"/>
                    <a:pt x="180" y="258"/>
                  </a:cubicBezTo>
                  <a:cubicBezTo>
                    <a:pt x="180" y="254"/>
                    <a:pt x="182" y="250"/>
                    <a:pt x="183" y="246"/>
                  </a:cubicBezTo>
                  <a:cubicBezTo>
                    <a:pt x="187" y="221"/>
                    <a:pt x="184" y="225"/>
                    <a:pt x="189" y="207"/>
                  </a:cubicBezTo>
                  <a:cubicBezTo>
                    <a:pt x="192" y="198"/>
                    <a:pt x="198" y="180"/>
                    <a:pt x="198" y="180"/>
                  </a:cubicBezTo>
                  <a:cubicBezTo>
                    <a:pt x="200" y="148"/>
                    <a:pt x="206" y="126"/>
                    <a:pt x="213" y="96"/>
                  </a:cubicBezTo>
                  <a:cubicBezTo>
                    <a:pt x="215" y="75"/>
                    <a:pt x="214" y="38"/>
                    <a:pt x="228" y="18"/>
                  </a:cubicBezTo>
                  <a:cubicBezTo>
                    <a:pt x="238" y="4"/>
                    <a:pt x="231" y="10"/>
                    <a:pt x="252" y="3"/>
                  </a:cubicBezTo>
                  <a:cubicBezTo>
                    <a:pt x="255" y="2"/>
                    <a:pt x="261" y="0"/>
                    <a:pt x="261" y="0"/>
                  </a:cubicBezTo>
                  <a:cubicBezTo>
                    <a:pt x="284" y="11"/>
                    <a:pt x="295" y="23"/>
                    <a:pt x="321" y="27"/>
                  </a:cubicBezTo>
                  <a:cubicBezTo>
                    <a:pt x="335" y="26"/>
                    <a:pt x="355" y="16"/>
                    <a:pt x="363" y="27"/>
                  </a:cubicBezTo>
                  <a:cubicBezTo>
                    <a:pt x="374" y="42"/>
                    <a:pt x="376" y="65"/>
                    <a:pt x="387" y="81"/>
                  </a:cubicBezTo>
                  <a:cubicBezTo>
                    <a:pt x="389" y="141"/>
                    <a:pt x="399" y="159"/>
                    <a:pt x="399" y="222"/>
                  </a:cubicBezTo>
                  <a:cubicBezTo>
                    <a:pt x="401" y="267"/>
                    <a:pt x="413" y="321"/>
                    <a:pt x="417" y="366"/>
                  </a:cubicBezTo>
                  <a:cubicBezTo>
                    <a:pt x="425" y="397"/>
                    <a:pt x="436" y="404"/>
                    <a:pt x="450" y="417"/>
                  </a:cubicBezTo>
                  <a:cubicBezTo>
                    <a:pt x="462" y="435"/>
                    <a:pt x="483" y="440"/>
                    <a:pt x="504" y="444"/>
                  </a:cubicBezTo>
                  <a:cubicBezTo>
                    <a:pt x="518" y="453"/>
                    <a:pt x="522" y="454"/>
                    <a:pt x="540" y="450"/>
                  </a:cubicBezTo>
                  <a:cubicBezTo>
                    <a:pt x="546" y="448"/>
                    <a:pt x="558" y="444"/>
                    <a:pt x="558" y="444"/>
                  </a:cubicBezTo>
                  <a:cubicBezTo>
                    <a:pt x="570" y="445"/>
                    <a:pt x="602" y="458"/>
                    <a:pt x="615" y="459"/>
                  </a:cubicBezTo>
                  <a:cubicBezTo>
                    <a:pt x="622" y="454"/>
                    <a:pt x="633" y="456"/>
                    <a:pt x="639" y="450"/>
                  </a:cubicBezTo>
                  <a:cubicBezTo>
                    <a:pt x="643" y="445"/>
                    <a:pt x="641" y="438"/>
                    <a:pt x="642" y="432"/>
                  </a:cubicBezTo>
                  <a:cubicBezTo>
                    <a:pt x="644" y="422"/>
                    <a:pt x="651" y="415"/>
                    <a:pt x="654" y="405"/>
                  </a:cubicBezTo>
                  <a:cubicBezTo>
                    <a:pt x="658" y="327"/>
                    <a:pt x="656" y="363"/>
                    <a:pt x="672" y="315"/>
                  </a:cubicBezTo>
                  <a:cubicBezTo>
                    <a:pt x="677" y="266"/>
                    <a:pt x="678" y="219"/>
                    <a:pt x="690" y="171"/>
                  </a:cubicBezTo>
                  <a:cubicBezTo>
                    <a:pt x="693" y="134"/>
                    <a:pt x="700" y="113"/>
                    <a:pt x="711" y="81"/>
                  </a:cubicBezTo>
                  <a:cubicBezTo>
                    <a:pt x="714" y="53"/>
                    <a:pt x="712" y="34"/>
                    <a:pt x="741" y="24"/>
                  </a:cubicBezTo>
                  <a:cubicBezTo>
                    <a:pt x="783" y="28"/>
                    <a:pt x="771" y="37"/>
                    <a:pt x="804" y="45"/>
                  </a:cubicBezTo>
                  <a:cubicBezTo>
                    <a:pt x="815" y="52"/>
                    <a:pt x="843" y="54"/>
                    <a:pt x="831" y="66"/>
                  </a:cubicBezTo>
                  <a:cubicBezTo>
                    <a:pt x="842" y="64"/>
                    <a:pt x="856" y="62"/>
                    <a:pt x="867" y="69"/>
                  </a:cubicBezTo>
                  <a:cubicBezTo>
                    <a:pt x="871" y="72"/>
                    <a:pt x="868" y="79"/>
                    <a:pt x="870" y="84"/>
                  </a:cubicBezTo>
                  <a:cubicBezTo>
                    <a:pt x="873" y="91"/>
                    <a:pt x="875" y="129"/>
                    <a:pt x="879" y="135"/>
                  </a:cubicBezTo>
                  <a:cubicBezTo>
                    <a:pt x="884" y="165"/>
                    <a:pt x="893" y="229"/>
                    <a:pt x="901" y="267"/>
                  </a:cubicBezTo>
                  <a:cubicBezTo>
                    <a:pt x="909" y="305"/>
                    <a:pt x="914" y="335"/>
                    <a:pt x="924" y="363"/>
                  </a:cubicBezTo>
                  <a:cubicBezTo>
                    <a:pt x="934" y="391"/>
                    <a:pt x="946" y="417"/>
                    <a:pt x="963" y="432"/>
                  </a:cubicBezTo>
                  <a:cubicBezTo>
                    <a:pt x="980" y="447"/>
                    <a:pt x="1013" y="449"/>
                    <a:pt x="1026" y="453"/>
                  </a:cubicBezTo>
                </a:path>
              </a:pathLst>
            </a:custGeom>
            <a:noFill/>
            <a:ln w="5715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41325" y="2089438"/>
              <a:ext cx="4137909" cy="721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实际的信道</a:t>
              </a:r>
            </a:p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（带宽受限、有噪声、干扰和失真）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747101" y="3027636"/>
              <a:ext cx="1732149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发送信号波形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7116551" y="3041925"/>
              <a:ext cx="2084388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接收信号波形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490636" y="1498303"/>
              <a:ext cx="2854837" cy="5677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有失真，但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可识别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724322" y="2825609"/>
            <a:ext cx="5709269" cy="1282060"/>
            <a:chOff x="404333" y="3837509"/>
            <a:chExt cx="8925396" cy="2004266"/>
          </a:xfrm>
        </p:grpSpPr>
        <p:grpSp>
          <p:nvGrpSpPr>
            <p:cNvPr id="18" name="Group 24"/>
            <p:cNvGrpSpPr>
              <a:grpSpLocks/>
            </p:cNvGrpSpPr>
            <p:nvPr/>
          </p:nvGrpSpPr>
          <p:grpSpPr bwMode="auto">
            <a:xfrm>
              <a:off x="627584" y="4409850"/>
              <a:ext cx="8702145" cy="1431925"/>
              <a:chOff x="343" y="2904"/>
              <a:chExt cx="5060" cy="902"/>
            </a:xfrm>
          </p:grpSpPr>
          <p:sp>
            <p:nvSpPr>
              <p:cNvPr id="20" name="AutoShape 13"/>
              <p:cNvSpPr>
                <a:spLocks noChangeArrowheads="1"/>
              </p:cNvSpPr>
              <p:nvPr/>
            </p:nvSpPr>
            <p:spPr bwMode="auto">
              <a:xfrm rot="-5400000">
                <a:off x="2600" y="2210"/>
                <a:ext cx="250" cy="2558"/>
              </a:xfrm>
              <a:prstGeom prst="can">
                <a:avLst>
                  <a:gd name="adj" fmla="val 66508"/>
                </a:avLst>
              </a:prstGeom>
              <a:gradFill rotWithShape="1">
                <a:gsLst>
                  <a:gs pos="0">
                    <a:srgbClr val="00B050"/>
                  </a:gs>
                  <a:gs pos="50000">
                    <a:schemeClr val="bg1"/>
                  </a:gs>
                  <a:gs pos="100000">
                    <a:srgbClr val="00990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1" name="Freeform 14"/>
              <p:cNvSpPr>
                <a:spLocks/>
              </p:cNvSpPr>
              <p:nvPr/>
            </p:nvSpPr>
            <p:spPr bwMode="auto">
              <a:xfrm>
                <a:off x="343" y="2991"/>
                <a:ext cx="970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38100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343" y="3489"/>
                <a:ext cx="1235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3" name="Freeform 16"/>
              <p:cNvSpPr>
                <a:spLocks/>
              </p:cNvSpPr>
              <p:nvPr/>
            </p:nvSpPr>
            <p:spPr bwMode="auto">
              <a:xfrm>
                <a:off x="4180" y="2991"/>
                <a:ext cx="971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28575" cap="flat" cmpd="sng">
                <a:solidFill>
                  <a:srgbClr val="CC00CC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4004" y="3489"/>
                <a:ext cx="1399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5" name="Freeform 18"/>
              <p:cNvSpPr>
                <a:spLocks/>
              </p:cNvSpPr>
              <p:nvPr/>
            </p:nvSpPr>
            <p:spPr bwMode="auto">
              <a:xfrm>
                <a:off x="4186" y="3270"/>
                <a:ext cx="934" cy="124"/>
              </a:xfrm>
              <a:custGeom>
                <a:avLst/>
                <a:gdLst>
                  <a:gd name="T0" fmla="*/ 0 w 1017"/>
                  <a:gd name="T1" fmla="*/ 109 h 143"/>
                  <a:gd name="T2" fmla="*/ 57 w 1017"/>
                  <a:gd name="T3" fmla="*/ 130 h 143"/>
                  <a:gd name="T4" fmla="*/ 84 w 1017"/>
                  <a:gd name="T5" fmla="*/ 130 h 143"/>
                  <a:gd name="T6" fmla="*/ 114 w 1017"/>
                  <a:gd name="T7" fmla="*/ 91 h 143"/>
                  <a:gd name="T8" fmla="*/ 162 w 1017"/>
                  <a:gd name="T9" fmla="*/ 34 h 143"/>
                  <a:gd name="T10" fmla="*/ 180 w 1017"/>
                  <a:gd name="T11" fmla="*/ 58 h 143"/>
                  <a:gd name="T12" fmla="*/ 189 w 1017"/>
                  <a:gd name="T13" fmla="*/ 109 h 143"/>
                  <a:gd name="T14" fmla="*/ 201 w 1017"/>
                  <a:gd name="T15" fmla="*/ 76 h 143"/>
                  <a:gd name="T16" fmla="*/ 219 w 1017"/>
                  <a:gd name="T17" fmla="*/ 82 h 143"/>
                  <a:gd name="T18" fmla="*/ 252 w 1017"/>
                  <a:gd name="T19" fmla="*/ 79 h 143"/>
                  <a:gd name="T20" fmla="*/ 327 w 1017"/>
                  <a:gd name="T21" fmla="*/ 100 h 143"/>
                  <a:gd name="T22" fmla="*/ 351 w 1017"/>
                  <a:gd name="T23" fmla="*/ 121 h 143"/>
                  <a:gd name="T24" fmla="*/ 408 w 1017"/>
                  <a:gd name="T25" fmla="*/ 79 h 143"/>
                  <a:gd name="T26" fmla="*/ 465 w 1017"/>
                  <a:gd name="T27" fmla="*/ 103 h 143"/>
                  <a:gd name="T28" fmla="*/ 507 w 1017"/>
                  <a:gd name="T29" fmla="*/ 121 h 143"/>
                  <a:gd name="T30" fmla="*/ 564 w 1017"/>
                  <a:gd name="T31" fmla="*/ 121 h 143"/>
                  <a:gd name="T32" fmla="*/ 615 w 1017"/>
                  <a:gd name="T33" fmla="*/ 88 h 143"/>
                  <a:gd name="T34" fmla="*/ 639 w 1017"/>
                  <a:gd name="T35" fmla="*/ 70 h 143"/>
                  <a:gd name="T36" fmla="*/ 657 w 1017"/>
                  <a:gd name="T37" fmla="*/ 109 h 143"/>
                  <a:gd name="T38" fmla="*/ 672 w 1017"/>
                  <a:gd name="T39" fmla="*/ 49 h 143"/>
                  <a:gd name="T40" fmla="*/ 699 w 1017"/>
                  <a:gd name="T41" fmla="*/ 40 h 143"/>
                  <a:gd name="T42" fmla="*/ 756 w 1017"/>
                  <a:gd name="T43" fmla="*/ 64 h 143"/>
                  <a:gd name="T44" fmla="*/ 801 w 1017"/>
                  <a:gd name="T45" fmla="*/ 67 h 143"/>
                  <a:gd name="T46" fmla="*/ 834 w 1017"/>
                  <a:gd name="T47" fmla="*/ 97 h 143"/>
                  <a:gd name="T48" fmla="*/ 873 w 1017"/>
                  <a:gd name="T49" fmla="*/ 115 h 143"/>
                  <a:gd name="T50" fmla="*/ 891 w 1017"/>
                  <a:gd name="T51" fmla="*/ 85 h 143"/>
                  <a:gd name="T52" fmla="*/ 912 w 1017"/>
                  <a:gd name="T53" fmla="*/ 103 h 143"/>
                  <a:gd name="T54" fmla="*/ 927 w 1017"/>
                  <a:gd name="T55" fmla="*/ 67 h 143"/>
                  <a:gd name="T56" fmla="*/ 972 w 1017"/>
                  <a:gd name="T57" fmla="*/ 112 h 143"/>
                  <a:gd name="T58" fmla="*/ 1017 w 1017"/>
                  <a:gd name="T59" fmla="*/ 121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17" h="143">
                    <a:moveTo>
                      <a:pt x="0" y="109"/>
                    </a:moveTo>
                    <a:cubicBezTo>
                      <a:pt x="9" y="111"/>
                      <a:pt x="44" y="128"/>
                      <a:pt x="57" y="130"/>
                    </a:cubicBezTo>
                    <a:cubicBezTo>
                      <a:pt x="64" y="132"/>
                      <a:pt x="77" y="131"/>
                      <a:pt x="84" y="130"/>
                    </a:cubicBezTo>
                    <a:cubicBezTo>
                      <a:pt x="94" y="127"/>
                      <a:pt x="104" y="94"/>
                      <a:pt x="114" y="91"/>
                    </a:cubicBezTo>
                    <a:cubicBezTo>
                      <a:pt x="130" y="92"/>
                      <a:pt x="151" y="45"/>
                      <a:pt x="162" y="34"/>
                    </a:cubicBezTo>
                    <a:cubicBezTo>
                      <a:pt x="172" y="24"/>
                      <a:pt x="177" y="75"/>
                      <a:pt x="180" y="58"/>
                    </a:cubicBezTo>
                    <a:cubicBezTo>
                      <a:pt x="181" y="26"/>
                      <a:pt x="187" y="141"/>
                      <a:pt x="189" y="109"/>
                    </a:cubicBezTo>
                    <a:cubicBezTo>
                      <a:pt x="189" y="105"/>
                      <a:pt x="200" y="80"/>
                      <a:pt x="201" y="76"/>
                    </a:cubicBezTo>
                    <a:cubicBezTo>
                      <a:pt x="205" y="51"/>
                      <a:pt x="214" y="100"/>
                      <a:pt x="219" y="82"/>
                    </a:cubicBezTo>
                    <a:cubicBezTo>
                      <a:pt x="222" y="73"/>
                      <a:pt x="252" y="79"/>
                      <a:pt x="252" y="79"/>
                    </a:cubicBezTo>
                    <a:cubicBezTo>
                      <a:pt x="254" y="47"/>
                      <a:pt x="320" y="130"/>
                      <a:pt x="327" y="100"/>
                    </a:cubicBezTo>
                    <a:cubicBezTo>
                      <a:pt x="355" y="75"/>
                      <a:pt x="322" y="123"/>
                      <a:pt x="351" y="121"/>
                    </a:cubicBezTo>
                    <a:cubicBezTo>
                      <a:pt x="364" y="92"/>
                      <a:pt x="396" y="88"/>
                      <a:pt x="408" y="79"/>
                    </a:cubicBezTo>
                    <a:cubicBezTo>
                      <a:pt x="425" y="79"/>
                      <a:pt x="448" y="96"/>
                      <a:pt x="465" y="103"/>
                    </a:cubicBezTo>
                    <a:cubicBezTo>
                      <a:pt x="477" y="121"/>
                      <a:pt x="486" y="117"/>
                      <a:pt x="507" y="121"/>
                    </a:cubicBezTo>
                    <a:cubicBezTo>
                      <a:pt x="523" y="128"/>
                      <a:pt x="546" y="114"/>
                      <a:pt x="564" y="121"/>
                    </a:cubicBezTo>
                    <a:cubicBezTo>
                      <a:pt x="576" y="122"/>
                      <a:pt x="602" y="87"/>
                      <a:pt x="615" y="88"/>
                    </a:cubicBezTo>
                    <a:cubicBezTo>
                      <a:pt x="628" y="90"/>
                      <a:pt x="632" y="67"/>
                      <a:pt x="639" y="70"/>
                    </a:cubicBezTo>
                    <a:cubicBezTo>
                      <a:pt x="641" y="60"/>
                      <a:pt x="654" y="119"/>
                      <a:pt x="657" y="109"/>
                    </a:cubicBezTo>
                    <a:cubicBezTo>
                      <a:pt x="661" y="31"/>
                      <a:pt x="656" y="97"/>
                      <a:pt x="672" y="49"/>
                    </a:cubicBezTo>
                    <a:cubicBezTo>
                      <a:pt x="677" y="0"/>
                      <a:pt x="687" y="88"/>
                      <a:pt x="699" y="40"/>
                    </a:cubicBezTo>
                    <a:cubicBezTo>
                      <a:pt x="712" y="40"/>
                      <a:pt x="737" y="85"/>
                      <a:pt x="756" y="64"/>
                    </a:cubicBezTo>
                    <a:cubicBezTo>
                      <a:pt x="798" y="68"/>
                      <a:pt x="768" y="59"/>
                      <a:pt x="801" y="67"/>
                    </a:cubicBezTo>
                    <a:cubicBezTo>
                      <a:pt x="820" y="26"/>
                      <a:pt x="822" y="143"/>
                      <a:pt x="834" y="97"/>
                    </a:cubicBezTo>
                    <a:cubicBezTo>
                      <a:pt x="838" y="100"/>
                      <a:pt x="871" y="110"/>
                      <a:pt x="873" y="115"/>
                    </a:cubicBezTo>
                    <a:cubicBezTo>
                      <a:pt x="876" y="122"/>
                      <a:pt x="887" y="79"/>
                      <a:pt x="891" y="85"/>
                    </a:cubicBezTo>
                    <a:cubicBezTo>
                      <a:pt x="896" y="115"/>
                      <a:pt x="906" y="106"/>
                      <a:pt x="912" y="103"/>
                    </a:cubicBezTo>
                    <a:cubicBezTo>
                      <a:pt x="918" y="100"/>
                      <a:pt x="917" y="65"/>
                      <a:pt x="927" y="67"/>
                    </a:cubicBezTo>
                    <a:cubicBezTo>
                      <a:pt x="937" y="69"/>
                      <a:pt x="957" y="103"/>
                      <a:pt x="972" y="112"/>
                    </a:cubicBezTo>
                    <a:cubicBezTo>
                      <a:pt x="987" y="121"/>
                      <a:pt x="1005" y="112"/>
                      <a:pt x="1017" y="121"/>
                    </a:cubicBezTo>
                  </a:path>
                </a:pathLst>
              </a:custGeom>
              <a:noFill/>
              <a:ln w="57150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374" y="3503"/>
                <a:ext cx="100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发送信号波形</a:t>
                </a:r>
              </a:p>
            </p:txBody>
          </p:sp>
          <p:sp>
            <p:nvSpPr>
              <p:cNvPr id="27" name="Text Box 22"/>
              <p:cNvSpPr txBox="1">
                <a:spLocks noChangeArrowheads="1"/>
              </p:cNvSpPr>
              <p:nvPr/>
            </p:nvSpPr>
            <p:spPr bwMode="auto">
              <a:xfrm>
                <a:off x="1547" y="2904"/>
                <a:ext cx="2406" cy="4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实际的信道</a:t>
                </a:r>
              </a:p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（带宽受限、有噪声、干扰和失真）</a:t>
                </a:r>
              </a:p>
            </p:txBody>
          </p:sp>
          <p:sp>
            <p:nvSpPr>
              <p:cNvPr id="28" name="Text Box 23"/>
              <p:cNvSpPr txBox="1">
                <a:spLocks noChangeArrowheads="1"/>
              </p:cNvSpPr>
              <p:nvPr/>
            </p:nvSpPr>
            <p:spPr bwMode="auto">
              <a:xfrm>
                <a:off x="4143" y="3533"/>
                <a:ext cx="116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接收信号波形</a:t>
                </a: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404333" y="3837509"/>
              <a:ext cx="2950065" cy="5292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失真大，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无法识别 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760617" y="4265038"/>
            <a:ext cx="3379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数字信号通过实际的信道</a:t>
            </a:r>
          </a:p>
        </p:txBody>
      </p:sp>
    </p:spTree>
    <p:extLst>
      <p:ext uri="{BB962C8B-B14F-4D97-AF65-F5344CB8AC3E}">
        <p14:creationId xmlns:p14="http://schemas.microsoft.com/office/powerpoint/2010/main" val="100256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任何实际的信道都</a:t>
            </a:r>
            <a:r>
              <a:rPr lang="zh-CN" altLang="en-US" dirty="0">
                <a:solidFill>
                  <a:srgbClr val="C00000"/>
                </a:solidFill>
              </a:rPr>
              <a:t>不是理想</a:t>
            </a:r>
            <a:r>
              <a:rPr lang="zh-CN" altLang="en-US" dirty="0"/>
              <a:t>的，都</a:t>
            </a:r>
            <a:r>
              <a:rPr lang="zh-CN" altLang="en-US" dirty="0">
                <a:solidFill>
                  <a:srgbClr val="C00000"/>
                </a:solidFill>
              </a:rPr>
              <a:t>不可能</a:t>
            </a:r>
            <a:r>
              <a:rPr lang="zh-CN" altLang="en-US" dirty="0"/>
              <a:t>以任意高的速率进行传送。</a:t>
            </a:r>
          </a:p>
          <a:p>
            <a:r>
              <a:rPr lang="zh-CN" altLang="en-US" dirty="0"/>
              <a:t>码元传输的速率越高，或信号传输的距离越远，或噪声干扰越大，或传输媒体质量越差，在接收端的波形的</a:t>
            </a:r>
            <a:r>
              <a:rPr lang="zh-CN" altLang="en-US" dirty="0">
                <a:solidFill>
                  <a:srgbClr val="C00000"/>
                </a:solidFill>
              </a:rPr>
              <a:t>失真就越严重。</a:t>
            </a:r>
          </a:p>
          <a:p>
            <a:r>
              <a:rPr lang="zh-CN" altLang="en-US" dirty="0"/>
              <a:t>限制码元在信道上的传输速率的</a:t>
            </a:r>
            <a:r>
              <a:rPr lang="zh-CN" altLang="en-US" dirty="0">
                <a:solidFill>
                  <a:srgbClr val="0000FF"/>
                </a:solidFill>
              </a:rPr>
              <a:t>两个因素：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信道能够通过的频率范围。</a:t>
            </a:r>
          </a:p>
          <a:p>
            <a:pPr lvl="1"/>
            <a:r>
              <a:rPr lang="zh-CN" altLang="en-US" dirty="0"/>
              <a:t>信噪比。</a:t>
            </a:r>
          </a:p>
        </p:txBody>
      </p:sp>
    </p:spTree>
    <p:extLst>
      <p:ext uri="{BB962C8B-B14F-4D97-AF65-F5344CB8AC3E}">
        <p14:creationId xmlns:p14="http://schemas.microsoft.com/office/powerpoint/2010/main" val="418563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具体的信道所能通过的频率范围总是有限的。信号中的许多高频分量往往不能通过信道。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码间串扰：</a:t>
            </a:r>
            <a:r>
              <a:rPr lang="zh-CN" altLang="en-US" dirty="0"/>
              <a:t>接收端收到的信号波形</a:t>
            </a:r>
            <a:r>
              <a:rPr lang="zh-CN" altLang="en-US" dirty="0">
                <a:solidFill>
                  <a:srgbClr val="C00000"/>
                </a:solidFill>
              </a:rPr>
              <a:t>失去</a:t>
            </a:r>
            <a:r>
              <a:rPr lang="zh-CN" altLang="en-US" dirty="0"/>
              <a:t>了码元之间的清晰界限。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信道能够通过的频率范围</a:t>
            </a:r>
          </a:p>
        </p:txBody>
      </p:sp>
      <p:sp>
        <p:nvSpPr>
          <p:cNvPr id="6" name="矩形 5"/>
          <p:cNvSpPr/>
          <p:nvPr/>
        </p:nvSpPr>
        <p:spPr>
          <a:xfrm>
            <a:off x="2624632" y="2306569"/>
            <a:ext cx="5668539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码元传输的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 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2W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（码元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秒）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对角圆角矩形 6"/>
          <p:cNvSpPr/>
          <p:nvPr/>
        </p:nvSpPr>
        <p:spPr>
          <a:xfrm>
            <a:off x="911332" y="2946676"/>
            <a:ext cx="738183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矩形 7"/>
          <p:cNvSpPr/>
          <p:nvPr/>
        </p:nvSpPr>
        <p:spPr>
          <a:xfrm>
            <a:off x="1045022" y="3008167"/>
            <a:ext cx="711168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在带宽为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 (Hz) 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的低通信道中，若不考虑噪声影响，则码元传输的最高速率是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2W (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码元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秒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。传输速率超过此上限，就会出现严重的码间串扰的问题，使接收端对码元的判决（即识别）成为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不可能。</a:t>
            </a:r>
          </a:p>
        </p:txBody>
      </p:sp>
      <p:sp>
        <p:nvSpPr>
          <p:cNvPr id="9" name="矩形 8"/>
          <p:cNvSpPr/>
          <p:nvPr/>
        </p:nvSpPr>
        <p:spPr>
          <a:xfrm>
            <a:off x="911332" y="2306569"/>
            <a:ext cx="1723549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奈氏准则：</a:t>
            </a:r>
          </a:p>
        </p:txBody>
      </p:sp>
    </p:spTree>
    <p:extLst>
      <p:ext uri="{BB962C8B-B14F-4D97-AF65-F5344CB8AC3E}">
        <p14:creationId xmlns:p14="http://schemas.microsoft.com/office/powerpoint/2010/main" val="100738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信噪比</a:t>
            </a:r>
            <a:r>
              <a:rPr lang="zh-CN" altLang="en-US" dirty="0"/>
              <a:t>就是信号的平均功率和噪声的平均功率之比。常记为 </a:t>
            </a:r>
            <a:r>
              <a:rPr lang="en-US" altLang="zh-CN" i="1" dirty="0"/>
              <a:t>S/N</a:t>
            </a:r>
            <a:r>
              <a:rPr lang="zh-CN" altLang="en-US" dirty="0"/>
              <a:t>，并用分贝 </a:t>
            </a:r>
            <a:r>
              <a:rPr lang="en-US" altLang="zh-CN" dirty="0"/>
              <a:t>(dB) </a:t>
            </a:r>
            <a:r>
              <a:rPr lang="zh-CN" altLang="en-US" dirty="0"/>
              <a:t>作为度量单位。即：</a:t>
            </a:r>
            <a:endParaRPr lang="en-US" altLang="zh-CN" dirty="0"/>
          </a:p>
          <a:p>
            <a:pPr marL="285750" indent="-285750" eaLnBrk="0" hangingPunct="0">
              <a:buClr>
                <a:srgbClr val="0070C0"/>
              </a:buClr>
            </a:pPr>
            <a:endParaRPr lang="zh-CN" altLang="en-US" dirty="0"/>
          </a:p>
          <a:p>
            <a:pPr marL="285750" indent="-285750" eaLnBrk="0" hangingPunct="0">
              <a:buClr>
                <a:srgbClr val="0070C0"/>
              </a:buClr>
            </a:pPr>
            <a:endParaRPr lang="en-US" altLang="zh-CN" dirty="0"/>
          </a:p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/>
              <a:t>例如：当 </a:t>
            </a:r>
            <a:r>
              <a:rPr lang="en-US" altLang="zh-CN" i="1" dirty="0"/>
              <a:t>S/N </a:t>
            </a:r>
            <a:r>
              <a:rPr lang="en-US" altLang="zh-CN" dirty="0"/>
              <a:t>=10 </a:t>
            </a:r>
            <a:r>
              <a:rPr lang="zh-CN" altLang="en-US" dirty="0"/>
              <a:t>时，信噪比为</a:t>
            </a:r>
            <a:r>
              <a:rPr lang="en-US" altLang="zh-CN" dirty="0"/>
              <a:t>10dB</a:t>
            </a:r>
            <a:r>
              <a:rPr lang="zh-CN" altLang="en-US" dirty="0"/>
              <a:t>，而当 </a:t>
            </a:r>
            <a:r>
              <a:rPr lang="en-US" altLang="zh-CN" i="1" dirty="0"/>
              <a:t>S/N </a:t>
            </a:r>
            <a:r>
              <a:rPr lang="en-US" altLang="zh-CN" dirty="0"/>
              <a:t>=1000 </a:t>
            </a:r>
            <a:r>
              <a:rPr lang="zh-CN" altLang="en-US" dirty="0"/>
              <a:t>时，信噪比为</a:t>
            </a:r>
            <a:r>
              <a:rPr lang="en-US" altLang="zh-CN" dirty="0"/>
              <a:t>30dB</a:t>
            </a:r>
            <a:r>
              <a:rPr lang="zh-CN" altLang="en-US" dirty="0"/>
              <a:t>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信噪比</a:t>
            </a:r>
          </a:p>
        </p:txBody>
      </p:sp>
      <p:sp>
        <p:nvSpPr>
          <p:cNvPr id="4" name="矩形 3"/>
          <p:cNvSpPr/>
          <p:nvPr/>
        </p:nvSpPr>
        <p:spPr>
          <a:xfrm>
            <a:off x="1567543" y="1881988"/>
            <a:ext cx="5625737" cy="46166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pt-BR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信噪比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(dB) = 10 log</a:t>
            </a:r>
            <a:r>
              <a:rPr lang="pt-BR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(S/N ) (dB) 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660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信道的</a:t>
            </a:r>
            <a:r>
              <a:rPr lang="zh-CN" altLang="en-US" dirty="0">
                <a:solidFill>
                  <a:srgbClr val="C00000"/>
                </a:solidFill>
              </a:rPr>
              <a:t>极限</a:t>
            </a:r>
            <a:r>
              <a:rPr lang="zh-CN" altLang="en-US" dirty="0"/>
              <a:t>信息传输速率 </a:t>
            </a:r>
            <a:r>
              <a:rPr lang="en-US" altLang="zh-CN" i="1" dirty="0"/>
              <a:t>C  </a:t>
            </a:r>
            <a:r>
              <a:rPr lang="zh-CN" altLang="en-US" dirty="0"/>
              <a:t>可表达为：</a:t>
            </a:r>
            <a:endParaRPr lang="en-US" altLang="zh-CN" dirty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香农公式</a:t>
            </a:r>
          </a:p>
        </p:txBody>
      </p:sp>
      <p:sp>
        <p:nvSpPr>
          <p:cNvPr id="4" name="矩形 3"/>
          <p:cNvSpPr/>
          <p:nvPr/>
        </p:nvSpPr>
        <p:spPr>
          <a:xfrm>
            <a:off x="973288" y="1578479"/>
            <a:ext cx="4413388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W 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(1+S/N)  (bit/s) </a:t>
            </a:r>
          </a:p>
        </p:txBody>
      </p:sp>
      <p:sp>
        <p:nvSpPr>
          <p:cNvPr id="5" name="矩形 4"/>
          <p:cNvSpPr/>
          <p:nvPr/>
        </p:nvSpPr>
        <p:spPr>
          <a:xfrm>
            <a:off x="5472000" y="1534934"/>
            <a:ext cx="36303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信道的带宽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(Hz)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为信道内所传信号的平均功率；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为信道内部的高斯噪声功率。 </a:t>
            </a:r>
          </a:p>
        </p:txBody>
      </p:sp>
      <p:sp>
        <p:nvSpPr>
          <p:cNvPr id="6" name="对角圆角矩形 5"/>
          <p:cNvSpPr/>
          <p:nvPr/>
        </p:nvSpPr>
        <p:spPr>
          <a:xfrm>
            <a:off x="798126" y="2931650"/>
            <a:ext cx="757080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931817" y="2993141"/>
            <a:ext cx="7254238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信道的带宽或信道中的信噪比越大，则信息的极限传输速率就越高。 </a:t>
            </a: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只要信息传输速率低于信道的极限信息传输速率，就一定可以找到某种办法来实现无差错的传输。</a:t>
            </a:r>
          </a:p>
        </p:txBody>
      </p:sp>
    </p:spTree>
    <p:extLst>
      <p:ext uri="{BB962C8B-B14F-4D97-AF65-F5344CB8AC3E}">
        <p14:creationId xmlns:p14="http://schemas.microsoft.com/office/powerpoint/2010/main" val="238037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C00000"/>
                </a:solidFill>
              </a:rPr>
              <a:t>方法：</a:t>
            </a:r>
            <a:r>
              <a:rPr lang="zh-CN" altLang="en-US" dirty="0"/>
              <a:t>用编码的方法让每一个码元携带更多比特的信息量。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提高信息的传输速率的方法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627017" y="1480440"/>
            <a:ext cx="7889966" cy="2629998"/>
          </a:xfrm>
          <a:prstGeom prst="rect">
            <a:avLst/>
          </a:prstGeom>
          <a:noFill/>
          <a:ln w="127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836024" y="2971384"/>
            <a:ext cx="7479822" cy="418120"/>
            <a:chOff x="836024" y="3119437"/>
            <a:chExt cx="7479822" cy="418120"/>
          </a:xfrm>
        </p:grpSpPr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836024" y="3119437"/>
              <a:ext cx="489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M1 =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5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3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0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6 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7 </a:t>
              </a:r>
              <a:r>
                <a:rPr kumimoji="1" lang="en-US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</a:t>
              </a:r>
              <a:r>
                <a:rPr kumimoji="1" lang="el-GR" altLang="zh-CN" sz="20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2</a:t>
              </a:r>
              <a:endParaRPr kumimoji="1" lang="en-US" altLang="zh-CN" sz="2000" b="1" baseline="-2500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5608325" y="3168225"/>
              <a:ext cx="2707521" cy="369332"/>
              <a:chOff x="5608325" y="3142098"/>
              <a:chExt cx="2707521" cy="369332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6983434" y="3142098"/>
                <a:ext cx="1332412" cy="369332"/>
              </a:xfrm>
              <a:prstGeom prst="rect">
                <a:avLst/>
              </a:prstGeom>
              <a:solidFill>
                <a:srgbClr val="66FF66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bit/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</a:p>
            </p:txBody>
          </p:sp>
          <p:cxnSp>
            <p:nvCxnSpPr>
              <p:cNvPr id="10" name="直接箭头连接符 9"/>
              <p:cNvCxnSpPr/>
              <p:nvPr/>
            </p:nvCxnSpPr>
            <p:spPr>
              <a:xfrm>
                <a:off x="5608325" y="3344182"/>
                <a:ext cx="1297577" cy="0"/>
              </a:xfrm>
              <a:prstGeom prst="straightConnector1">
                <a:avLst/>
              </a:prstGeom>
              <a:ln w="38100">
                <a:solidFill>
                  <a:srgbClr val="CC00CC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635725" y="1525756"/>
            <a:ext cx="7680121" cy="810478"/>
            <a:chOff x="635725" y="1673809"/>
            <a:chExt cx="7680121" cy="810478"/>
          </a:xfrm>
        </p:grpSpPr>
        <p:sp>
          <p:nvSpPr>
            <p:cNvPr id="5" name="矩形 4"/>
            <p:cNvSpPr/>
            <p:nvPr/>
          </p:nvSpPr>
          <p:spPr>
            <a:xfrm>
              <a:off x="635725" y="1673809"/>
              <a:ext cx="5286104" cy="81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例： 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基带信号 </a:t>
              </a:r>
              <a:r>
                <a:rPr lang="en-US" altLang="zh-CN" sz="2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= 101011000110111010…… 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</a:t>
              </a: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6000206" y="2087233"/>
              <a:ext cx="2315640" cy="369332"/>
              <a:chOff x="6000206" y="2087233"/>
              <a:chExt cx="2315640" cy="36933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983434" y="2087233"/>
                <a:ext cx="133241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bit/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</a:p>
            </p:txBody>
          </p:sp>
          <p:cxnSp>
            <p:nvCxnSpPr>
              <p:cNvPr id="11" name="直接箭头连接符 10"/>
              <p:cNvCxnSpPr/>
              <p:nvPr/>
            </p:nvCxnSpPr>
            <p:spPr>
              <a:xfrm>
                <a:off x="6000206" y="2271899"/>
                <a:ext cx="905696" cy="0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矩形 13"/>
          <p:cNvSpPr/>
          <p:nvPr/>
        </p:nvSpPr>
        <p:spPr>
          <a:xfrm>
            <a:off x="836024" y="3588473"/>
            <a:ext cx="7479822" cy="369332"/>
          </a:xfrm>
          <a:prstGeom prst="rect">
            <a:avLst/>
          </a:prstGeom>
          <a:solidFill>
            <a:srgbClr val="00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若以同样的速率发送码元，则同样时间所传送的信息量就提高到了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34887" y="2294256"/>
            <a:ext cx="6348546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将信号中的每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个比特编为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组：</a:t>
            </a:r>
          </a:p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101 011 000 110 111 010 ……</a:t>
            </a:r>
          </a:p>
        </p:txBody>
      </p:sp>
    </p:spTree>
    <p:extLst>
      <p:ext uri="{BB962C8B-B14F-4D97-AF65-F5344CB8AC3E}">
        <p14:creationId xmlns:p14="http://schemas.microsoft.com/office/powerpoint/2010/main" val="41323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奈氏准则：</a:t>
            </a:r>
            <a:r>
              <a:rPr lang="zh-CN" altLang="en-US" dirty="0">
                <a:solidFill>
                  <a:srgbClr val="0000FF"/>
                </a:solidFill>
              </a:rPr>
              <a:t>激励</a:t>
            </a:r>
            <a:r>
              <a:rPr lang="zh-CN" altLang="en-US" dirty="0"/>
              <a:t>工程人员不断探索更加先进的编码技术，使每一个码元携带更多比特的信息量。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香农公式：</a:t>
            </a:r>
            <a:r>
              <a:rPr lang="zh-CN" altLang="en-US" dirty="0">
                <a:solidFill>
                  <a:srgbClr val="0000FF"/>
                </a:solidFill>
              </a:rPr>
              <a:t>告诫</a:t>
            </a:r>
            <a:r>
              <a:rPr lang="zh-CN" altLang="en-US" dirty="0"/>
              <a:t>工程人员，在实际有噪声的信道上，不论采用多么复杂的编码技术，都不可能突破信息传输速率的绝对极限。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注意：</a:t>
            </a:r>
            <a:r>
              <a:rPr lang="zh-CN" altLang="en-US" dirty="0"/>
              <a:t>奈氏准则和香农公式的意义不同</a:t>
            </a:r>
          </a:p>
        </p:txBody>
      </p:sp>
    </p:spTree>
    <p:extLst>
      <p:ext uri="{BB962C8B-B14F-4D97-AF65-F5344CB8AC3E}">
        <p14:creationId xmlns:p14="http://schemas.microsoft.com/office/powerpoint/2010/main" val="309325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9"/>
          <p:cNvSpPr>
            <a:spLocks noChangeArrowheads="1"/>
          </p:cNvSpPr>
          <p:nvPr/>
        </p:nvSpPr>
        <p:spPr bwMode="auto">
          <a:xfrm>
            <a:off x="2629135" y="142479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2" name="Rectangle 10"/>
          <p:cNvSpPr>
            <a:spLocks noChangeArrowheads="1"/>
          </p:cNvSpPr>
          <p:nvPr/>
        </p:nvSpPr>
        <p:spPr bwMode="auto">
          <a:xfrm>
            <a:off x="2629135" y="203122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5" name="Line 16"/>
          <p:cNvSpPr>
            <a:spLocks noChangeShapeType="1"/>
          </p:cNvSpPr>
          <p:nvPr/>
        </p:nvSpPr>
        <p:spPr bwMode="auto">
          <a:xfrm>
            <a:off x="3637198" y="1353359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Rectangle 8"/>
          <p:cNvSpPr>
            <a:spLocks noChangeArrowheads="1"/>
          </p:cNvSpPr>
          <p:nvPr/>
        </p:nvSpPr>
        <p:spPr bwMode="auto">
          <a:xfrm>
            <a:off x="2700573" y="1170797"/>
            <a:ext cx="559869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2.3.1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导引型传输媒体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2.3.2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非导引型传输媒体</a:t>
            </a:r>
          </a:p>
        </p:txBody>
      </p:sp>
      <p:sp>
        <p:nvSpPr>
          <p:cNvPr id="107" name="Rectangle 27"/>
          <p:cNvSpPr>
            <a:spLocks noChangeArrowheads="1"/>
          </p:cNvSpPr>
          <p:nvPr/>
        </p:nvSpPr>
        <p:spPr bwMode="auto">
          <a:xfrm>
            <a:off x="639730" y="142479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08" name="Rectangle 29"/>
          <p:cNvSpPr>
            <a:spLocks noChangeArrowheads="1"/>
          </p:cNvSpPr>
          <p:nvPr/>
        </p:nvSpPr>
        <p:spPr bwMode="auto">
          <a:xfrm>
            <a:off x="648619" y="151972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2.3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物理层下面的传输媒体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358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传输媒体是数据传输系统中在发送器和接收器之间的</a:t>
            </a:r>
            <a:r>
              <a:rPr lang="zh-CN" altLang="en-US" dirty="0">
                <a:solidFill>
                  <a:srgbClr val="C00000"/>
                </a:solidFill>
              </a:rPr>
              <a:t>物理通路。</a:t>
            </a:r>
          </a:p>
          <a:p>
            <a:r>
              <a:rPr lang="zh-CN" altLang="en-US" dirty="0"/>
              <a:t>两大类：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导引型传输媒体：</a:t>
            </a:r>
            <a:r>
              <a:rPr lang="zh-CN" altLang="en-US" dirty="0"/>
              <a:t>电磁波被导引沿着固体媒体（铜线或光纤）传播。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非导引型传输媒体：</a:t>
            </a:r>
            <a:r>
              <a:rPr lang="zh-CN" altLang="en-US" dirty="0"/>
              <a:t>指自由空间。非导引型传输媒体中电磁波的传输常称为</a:t>
            </a:r>
            <a:r>
              <a:rPr lang="zh-CN" altLang="en-US" dirty="0">
                <a:solidFill>
                  <a:srgbClr val="C00000"/>
                </a:solidFill>
              </a:rPr>
              <a:t>无线传输。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84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99881" y="1036010"/>
            <a:ext cx="7501556" cy="40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电信领域使用的电磁波的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频谱：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08590" y="1493557"/>
            <a:ext cx="7441419" cy="2975697"/>
            <a:chOff x="708590" y="1493557"/>
            <a:chExt cx="7441419" cy="2975697"/>
          </a:xfrm>
        </p:grpSpPr>
        <p:sp>
          <p:nvSpPr>
            <p:cNvPr id="5" name="矩形 4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580112" y="1773018"/>
              <a:ext cx="1666036" cy="30429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292081" y="1773018"/>
              <a:ext cx="334414" cy="304295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283968" y="1773018"/>
              <a:ext cx="921671" cy="30429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424821" y="1773018"/>
              <a:ext cx="921671" cy="304295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24992" y="1770964"/>
              <a:ext cx="896585" cy="304295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5615267" y="2079146"/>
              <a:ext cx="2077198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V="1">
              <a:off x="1470698" y="2079146"/>
              <a:ext cx="1035792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1463679" y="1768213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480520" y="2079146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460871" y="1768213"/>
              <a:ext cx="0" cy="4974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3414560" y="1772099"/>
              <a:ext cx="0" cy="3070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2513506" y="1781170"/>
              <a:ext cx="0" cy="313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5292459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7246148" y="1775987"/>
              <a:ext cx="0" cy="299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2670699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3636820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微波</a:t>
              </a: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4346492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5205442" y="1768213"/>
              <a:ext cx="0" cy="3109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4458773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红外线</a:t>
              </a: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469456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可见光</a:t>
              </a:r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531415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紫外线</a:t>
              </a: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5626495" y="1768213"/>
              <a:ext cx="0" cy="314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Text Box 37"/>
            <p:cNvSpPr txBox="1">
              <a:spLocks noChangeArrowheads="1"/>
            </p:cNvSpPr>
            <p:nvPr/>
          </p:nvSpPr>
          <p:spPr bwMode="auto">
            <a:xfrm>
              <a:off x="6030706" y="1783760"/>
              <a:ext cx="59438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X</a:t>
              </a:r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射线</a:t>
              </a:r>
            </a:p>
          </p:txBody>
        </p:sp>
        <p:sp>
          <p:nvSpPr>
            <p:cNvPr id="42" name="Text Box 38"/>
            <p:cNvSpPr txBox="1">
              <a:spLocks noChangeArrowheads="1"/>
            </p:cNvSpPr>
            <p:nvPr/>
          </p:nvSpPr>
          <p:spPr bwMode="auto">
            <a:xfrm>
              <a:off x="7378079" y="1757849"/>
              <a:ext cx="24652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</a:t>
              </a: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7510008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射线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5"/>
            <p:cNvSpPr>
              <a:spLocks noChangeShapeType="1"/>
            </p:cNvSpPr>
            <p:nvPr/>
          </p:nvSpPr>
          <p:spPr bwMode="auto">
            <a:xfrm flipV="1">
              <a:off x="5099220" y="1892586"/>
              <a:ext cx="156748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56"/>
            <p:cNvSpPr>
              <a:spLocks noChangeShapeType="1"/>
            </p:cNvSpPr>
            <p:nvPr/>
          </p:nvSpPr>
          <p:spPr bwMode="auto">
            <a:xfrm flipH="1" flipV="1">
              <a:off x="5469301" y="1892586"/>
              <a:ext cx="72982" cy="3109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5" name="Group 69"/>
            <p:cNvGrpSpPr>
              <a:grpSpLocks/>
            </p:cNvGrpSpPr>
            <p:nvPr/>
          </p:nvGrpSpPr>
          <p:grpSpPr bwMode="auto">
            <a:xfrm>
              <a:off x="708590" y="1519470"/>
              <a:ext cx="673686" cy="275952"/>
              <a:chOff x="6" y="352"/>
              <a:chExt cx="480" cy="213"/>
            </a:xfrm>
          </p:grpSpPr>
          <p:sp>
            <p:nvSpPr>
              <p:cNvPr id="93" name="Text Box 70"/>
              <p:cNvSpPr txBox="1">
                <a:spLocks noChangeArrowheads="1"/>
              </p:cNvSpPr>
              <p:nvPr/>
            </p:nvSpPr>
            <p:spPr bwMode="auto">
              <a:xfrm>
                <a:off x="127" y="353"/>
                <a:ext cx="3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(Hz)</a:t>
                </a:r>
              </a:p>
            </p:txBody>
          </p:sp>
          <p:sp>
            <p:nvSpPr>
              <p:cNvPr id="94" name="Text Box 71"/>
              <p:cNvSpPr txBox="1">
                <a:spLocks noChangeArrowheads="1"/>
              </p:cNvSpPr>
              <p:nvPr/>
            </p:nvSpPr>
            <p:spPr bwMode="auto">
              <a:xfrm>
                <a:off x="6" y="352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f</a:t>
                </a:r>
              </a:p>
            </p:txBody>
          </p:sp>
        </p:grpSp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f  (Hz)</a:t>
              </a:r>
            </a:p>
          </p:txBody>
        </p:sp>
        <p:sp>
          <p:nvSpPr>
            <p:cNvPr id="67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LF</a:t>
              </a:r>
            </a:p>
          </p:txBody>
        </p:sp>
        <p:sp>
          <p:nvSpPr>
            <p:cNvPr id="80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MF</a:t>
              </a:r>
            </a:p>
          </p:txBody>
        </p:sp>
        <p:sp>
          <p:nvSpPr>
            <p:cNvPr id="81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HF</a:t>
              </a:r>
            </a:p>
          </p:txBody>
        </p:sp>
        <p:sp>
          <p:nvSpPr>
            <p:cNvPr id="82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VHF</a:t>
              </a:r>
            </a:p>
          </p:txBody>
        </p:sp>
        <p:sp>
          <p:nvSpPr>
            <p:cNvPr id="83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UHF</a:t>
              </a:r>
            </a:p>
          </p:txBody>
        </p:sp>
        <p:sp>
          <p:nvSpPr>
            <p:cNvPr id="84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SHF</a:t>
              </a:r>
            </a:p>
          </p:txBody>
        </p:sp>
        <p:sp>
          <p:nvSpPr>
            <p:cNvPr id="85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EHF</a:t>
              </a:r>
            </a:p>
          </p:txBody>
        </p:sp>
        <p:sp>
          <p:nvSpPr>
            <p:cNvPr id="86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THF</a:t>
              </a:r>
            </a:p>
          </p:txBody>
        </p:sp>
        <p:sp>
          <p:nvSpPr>
            <p:cNvPr id="87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波段</a:t>
              </a:r>
            </a:p>
          </p:txBody>
        </p:sp>
        <p:sp>
          <p:nvSpPr>
            <p:cNvPr id="88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Text Box 97"/>
            <p:cNvSpPr txBox="1">
              <a:spLocks noChangeArrowheads="1"/>
            </p:cNvSpPr>
            <p:nvPr/>
          </p:nvSpPr>
          <p:spPr bwMode="auto">
            <a:xfrm>
              <a:off x="1314906" y="1493557"/>
              <a:ext cx="6817758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0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18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20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24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2" name="Text Box 29"/>
            <p:cNvSpPr txBox="1">
              <a:spLocks noChangeArrowheads="1"/>
            </p:cNvSpPr>
            <p:nvPr/>
          </p:nvSpPr>
          <p:spPr bwMode="auto">
            <a:xfrm>
              <a:off x="1730140" y="1783760"/>
              <a:ext cx="49244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latin typeface="微软雅黑" pitchFamily="34" charset="-122"/>
                  <a:ea typeface="微软雅黑" pitchFamily="34" charset="-122"/>
                </a:rPr>
                <a:t>低频</a:t>
              </a:r>
            </a:p>
          </p:txBody>
        </p:sp>
        <p:sp>
          <p:nvSpPr>
            <p:cNvPr id="96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地面微波</a:t>
              </a:r>
            </a:p>
          </p:txBody>
        </p:sp>
        <p:sp>
          <p:nvSpPr>
            <p:cNvPr id="99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0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102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</a:p>
          </p:txBody>
        </p:sp>
        <p:sp>
          <p:nvSpPr>
            <p:cNvPr id="105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08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9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调幅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7" name="矩形 116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卫星</a:t>
              </a:r>
            </a:p>
          </p:txBody>
        </p:sp>
        <p:sp>
          <p:nvSpPr>
            <p:cNvPr id="120" name="矩形 119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电视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2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6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318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2.3.1  </a:t>
            </a:r>
            <a:r>
              <a:rPr lang="zh-CN" altLang="en-US" dirty="0"/>
              <a:t>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594937"/>
            <a:ext cx="7310410" cy="2707096"/>
          </a:xfrm>
        </p:spPr>
        <p:txBody>
          <a:bodyPr/>
          <a:lstStyle/>
          <a:p>
            <a:r>
              <a:rPr lang="zh-CN" altLang="en-US" dirty="0"/>
              <a:t>最古老但又最常用的传输媒体。</a:t>
            </a:r>
            <a:endParaRPr lang="en-US" altLang="zh-CN" dirty="0"/>
          </a:p>
          <a:p>
            <a:r>
              <a:rPr lang="zh-CN" altLang="en-US" dirty="0"/>
              <a:t>把两根互相绝缘的铜导线并排放在一起，然后用规则的方法</a:t>
            </a:r>
            <a:r>
              <a:rPr lang="zh-CN" altLang="en-US" dirty="0">
                <a:solidFill>
                  <a:srgbClr val="0000FF"/>
                </a:solidFill>
              </a:rPr>
              <a:t>绞合 </a:t>
            </a:r>
            <a:r>
              <a:rPr lang="en-US" altLang="zh-CN" dirty="0"/>
              <a:t>(twist) </a:t>
            </a:r>
            <a:r>
              <a:rPr lang="zh-CN" altLang="en-US" dirty="0"/>
              <a:t>起来就构成了双绞线。</a:t>
            </a:r>
            <a:endParaRPr lang="en-US" altLang="zh-CN" dirty="0"/>
          </a:p>
          <a:p>
            <a:r>
              <a:rPr lang="zh-CN" altLang="zh-CN" dirty="0">
                <a:solidFill>
                  <a:srgbClr val="0000FF"/>
                </a:solidFill>
              </a:rPr>
              <a:t>绞合度越高</a:t>
            </a:r>
            <a:r>
              <a:rPr lang="zh-CN" altLang="en-US" dirty="0">
                <a:solidFill>
                  <a:srgbClr val="0000FF"/>
                </a:solidFill>
              </a:rPr>
              <a:t>，可用的</a:t>
            </a:r>
            <a:r>
              <a:rPr lang="zh-CN" altLang="zh-CN" dirty="0">
                <a:solidFill>
                  <a:srgbClr val="0000FF"/>
                </a:solidFill>
              </a:rPr>
              <a:t>数据</a:t>
            </a:r>
            <a:r>
              <a:rPr lang="zh-CN" altLang="en-US" dirty="0">
                <a:solidFill>
                  <a:srgbClr val="0000FF"/>
                </a:solidFill>
              </a:rPr>
              <a:t>传输</a:t>
            </a:r>
            <a:r>
              <a:rPr lang="zh-CN" altLang="zh-CN" dirty="0">
                <a:solidFill>
                  <a:srgbClr val="0000FF"/>
                </a:solidFill>
              </a:rPr>
              <a:t>率</a:t>
            </a:r>
            <a:r>
              <a:rPr lang="zh-CN" altLang="en-US" dirty="0">
                <a:solidFill>
                  <a:srgbClr val="0000FF"/>
                </a:solidFill>
              </a:rPr>
              <a:t>越高</a:t>
            </a:r>
            <a:r>
              <a:rPr lang="zh-CN" altLang="zh-CN" dirty="0">
                <a:solidFill>
                  <a:srgbClr val="0000FF"/>
                </a:solidFill>
              </a:rPr>
              <a:t>。</a:t>
            </a:r>
            <a:endParaRPr lang="zh-CN" altLang="en-US" dirty="0">
              <a:solidFill>
                <a:srgbClr val="0000FF"/>
              </a:solidFill>
            </a:endParaRPr>
          </a:p>
          <a:p>
            <a:r>
              <a:rPr lang="en-US" altLang="zh-CN" dirty="0"/>
              <a:t>2 </a:t>
            </a:r>
            <a:r>
              <a:rPr lang="zh-CN" altLang="en-US" dirty="0"/>
              <a:t>大类：</a:t>
            </a:r>
            <a:endParaRPr lang="en-US" altLang="zh-CN" dirty="0"/>
          </a:p>
          <a:p>
            <a:pPr lvl="1"/>
            <a:r>
              <a:rPr lang="zh-CN" altLang="en-US" dirty="0"/>
              <a:t>无屏蔽双绞线 </a:t>
            </a:r>
            <a:r>
              <a:rPr lang="en-US" altLang="zh-CN" dirty="0"/>
              <a:t>UTP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66344" y="1229662"/>
            <a:ext cx="8129016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58990" y="1196451"/>
            <a:ext cx="12634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双绞线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215114" y="2659365"/>
            <a:ext cx="3310578" cy="1390121"/>
            <a:chOff x="2533235" y="4175362"/>
            <a:chExt cx="4052229" cy="1421285"/>
          </a:xfrm>
        </p:grpSpPr>
        <p:pic>
          <p:nvPicPr>
            <p:cNvPr id="9" name="Picture 19" descr="3UTP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" t="5208" r="50562"/>
            <a:stretch>
              <a:fillRect/>
            </a:stretch>
          </p:blipFill>
          <p:spPr bwMode="auto">
            <a:xfrm>
              <a:off x="3446330" y="4175362"/>
              <a:ext cx="2581275" cy="433387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0" descr="3UTP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5" r="3209"/>
            <a:stretch>
              <a:fillRect/>
            </a:stretch>
          </p:blipFill>
          <p:spPr bwMode="auto">
            <a:xfrm>
              <a:off x="3438392" y="4771387"/>
              <a:ext cx="2587625" cy="457200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2533235" y="4207455"/>
              <a:ext cx="928414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3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类线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2560327" y="4824142"/>
              <a:ext cx="928414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5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类线</a:t>
              </a: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2877923" y="5231644"/>
              <a:ext cx="3707541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zh-CN" sz="1400" b="1" dirty="0">
                  <a:latin typeface="微软雅黑" pitchFamily="34" charset="-122"/>
                  <a:ea typeface="微软雅黑" pitchFamily="34" charset="-122"/>
                </a:rPr>
                <a:t>不同的绞合度的双绞线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624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无屏蔽双绞线 </a:t>
            </a:r>
            <a:r>
              <a:rPr lang="en-US" altLang="zh-CN" dirty="0">
                <a:solidFill>
                  <a:srgbClr val="C00000"/>
                </a:solidFill>
              </a:rPr>
              <a:t>UTP </a:t>
            </a:r>
            <a:r>
              <a:rPr lang="en-US" altLang="zh-CN" dirty="0"/>
              <a:t>(Unshielded Twisted Pair) 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无屏蔽层。</a:t>
            </a:r>
            <a:endParaRPr lang="en-US" altLang="zh-CN" dirty="0"/>
          </a:p>
          <a:p>
            <a:pPr lvl="1"/>
            <a:r>
              <a:rPr lang="zh-CN" altLang="en-US" dirty="0"/>
              <a:t>价格较便宜。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屏蔽双绞线 </a:t>
            </a:r>
            <a:r>
              <a:rPr lang="en-US" altLang="zh-CN" dirty="0">
                <a:solidFill>
                  <a:srgbClr val="C00000"/>
                </a:solidFill>
              </a:rPr>
              <a:t>STP </a:t>
            </a:r>
            <a:r>
              <a:rPr lang="en-US" altLang="zh-CN" dirty="0"/>
              <a:t>(Shielded Twisted Pair)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带屏蔽层。</a:t>
            </a:r>
            <a:endParaRPr lang="en-US" altLang="zh-CN" dirty="0"/>
          </a:p>
          <a:p>
            <a:pPr lvl="1"/>
            <a:r>
              <a:rPr lang="zh-CN" altLang="en-US" dirty="0"/>
              <a:t>都必须有接地线。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双绞线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808165" y="1404311"/>
            <a:ext cx="2199152" cy="1137360"/>
            <a:chOff x="6084727" y="1481545"/>
            <a:chExt cx="2199152" cy="1223138"/>
          </a:xfrm>
        </p:grpSpPr>
        <p:pic>
          <p:nvPicPr>
            <p:cNvPr id="7" name="图片 19" descr="UTP.jpg"/>
            <p:cNvPicPr>
              <a:picLocks noChangeAspect="1"/>
            </p:cNvPicPr>
            <p:nvPr/>
          </p:nvPicPr>
          <p:blipFill>
            <a:blip r:embed="rId2" cstate="print"/>
            <a:srcRect l="18561" t="31329" r="43436" b="33200"/>
            <a:stretch>
              <a:fillRect/>
            </a:stretch>
          </p:blipFill>
          <p:spPr bwMode="auto">
            <a:xfrm>
              <a:off x="6638866" y="1619738"/>
              <a:ext cx="1645013" cy="862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6140808" y="1481545"/>
              <a:ext cx="1441420" cy="330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9" name="直接连接符 21"/>
            <p:cNvCxnSpPr>
              <a:cxnSpLocks noChangeShapeType="1"/>
              <a:stCxn id="6" idx="0"/>
            </p:cNvCxnSpPr>
            <p:nvPr/>
          </p:nvCxnSpPr>
          <p:spPr bwMode="auto">
            <a:xfrm flipV="1">
              <a:off x="6611777" y="2196648"/>
              <a:ext cx="205611" cy="20021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10" name="直接连接符 22"/>
            <p:cNvCxnSpPr>
              <a:cxnSpLocks noChangeShapeType="1"/>
            </p:cNvCxnSpPr>
            <p:nvPr/>
          </p:nvCxnSpPr>
          <p:spPr bwMode="auto">
            <a:xfrm>
              <a:off x="7067556" y="1787676"/>
              <a:ext cx="227062" cy="18557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</p:cxn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6084727" y="2396864"/>
              <a:ext cx="1054100" cy="3078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48949" y="3260592"/>
            <a:ext cx="3267482" cy="1490350"/>
            <a:chOff x="4497712" y="3150184"/>
            <a:chExt cx="3267482" cy="1490350"/>
          </a:xfrm>
        </p:grpSpPr>
        <p:pic>
          <p:nvPicPr>
            <p:cNvPr id="25" name="图片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铝箔屏蔽层</a:t>
              </a: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7041919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</a:p>
          </p:txBody>
        </p:sp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30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sm" len="lg"/>
            </a:ln>
          </p:spPr>
        </p:cxnSp>
        <p:cxnSp>
          <p:nvCxnSpPr>
            <p:cNvPr id="31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32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33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</p:spTree>
    <p:extLst>
      <p:ext uri="{BB962C8B-B14F-4D97-AF65-F5344CB8AC3E}">
        <p14:creationId xmlns:p14="http://schemas.microsoft.com/office/powerpoint/2010/main" val="47870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x/UTP</a:t>
            </a:r>
            <a:r>
              <a:rPr lang="zh-CN" altLang="en-US" dirty="0"/>
              <a:t>：对整条双绞线电缆进行屏蔽。</a:t>
            </a:r>
            <a:endParaRPr lang="en-US" altLang="zh-CN" dirty="0"/>
          </a:p>
          <a:p>
            <a:pPr lvl="1"/>
            <a:r>
              <a:rPr lang="en-US" altLang="zh-CN" dirty="0"/>
              <a:t>F/UTP (F=Foiled)</a:t>
            </a:r>
            <a:r>
              <a:rPr lang="zh-CN" altLang="en-US" dirty="0"/>
              <a:t>：表明采用铝箔屏蔽层。</a:t>
            </a:r>
            <a:endParaRPr lang="en-US" altLang="zh-CN" dirty="0"/>
          </a:p>
          <a:p>
            <a:pPr lvl="1"/>
            <a:r>
              <a:rPr lang="en-US" altLang="zh-CN" dirty="0"/>
              <a:t>S/UTP (S=braid Screen)</a:t>
            </a:r>
            <a:r>
              <a:rPr lang="zh-CN" altLang="en-US" dirty="0"/>
              <a:t>：表明采用金属编织层进行屏蔽。</a:t>
            </a:r>
            <a:endParaRPr lang="en-US" altLang="zh-CN" dirty="0"/>
          </a:p>
          <a:p>
            <a:pPr lvl="1"/>
            <a:r>
              <a:rPr lang="en-US" altLang="zh-CN" dirty="0"/>
              <a:t>SF/UTP</a:t>
            </a:r>
            <a:r>
              <a:rPr lang="zh-CN" altLang="en-US" dirty="0"/>
              <a:t>：表明在铝箔屏蔽层外面再加上金属编织层的屏蔽。</a:t>
            </a:r>
            <a:endParaRPr lang="en-US" altLang="zh-CN" dirty="0"/>
          </a:p>
          <a:p>
            <a:pPr lvl="1"/>
            <a:r>
              <a:rPr lang="en-US" altLang="zh-CN" dirty="0"/>
              <a:t>FTP </a:t>
            </a:r>
            <a:r>
              <a:rPr lang="zh-CN" altLang="en-US" dirty="0"/>
              <a:t>或 </a:t>
            </a:r>
            <a:r>
              <a:rPr lang="en-US" altLang="zh-CN" dirty="0"/>
              <a:t>U/FTP</a:t>
            </a:r>
            <a:r>
              <a:rPr lang="zh-CN" altLang="en-US" dirty="0"/>
              <a:t>：把电缆中的每一对双绞线都加上铝箔屏蔽层。</a:t>
            </a:r>
            <a:r>
              <a:rPr lang="en-US" altLang="zh-CN" dirty="0"/>
              <a:t>U</a:t>
            </a:r>
            <a:r>
              <a:rPr lang="zh-CN" altLang="en-US" dirty="0"/>
              <a:t>表明对整条电缆不另增加屏蔽层</a:t>
            </a:r>
            <a:endParaRPr lang="en-US" altLang="zh-CN" dirty="0"/>
          </a:p>
          <a:p>
            <a:pPr lvl="1"/>
            <a:r>
              <a:rPr lang="en-US" altLang="zh-CN" dirty="0"/>
              <a:t>F/FTP</a:t>
            </a:r>
            <a:r>
              <a:rPr lang="zh-CN" altLang="en-US" dirty="0"/>
              <a:t>：在 </a:t>
            </a:r>
            <a:r>
              <a:rPr lang="en-US" altLang="zh-CN" dirty="0"/>
              <a:t>FTP </a:t>
            </a:r>
            <a:r>
              <a:rPr lang="zh-CN" altLang="en-US" dirty="0"/>
              <a:t>基础上对整条电缆再加上铝箔屏蔽层。</a:t>
            </a:r>
            <a:endParaRPr lang="en-US" altLang="zh-CN" dirty="0"/>
          </a:p>
          <a:p>
            <a:pPr lvl="1"/>
            <a:r>
              <a:rPr lang="en-US" altLang="zh-CN" dirty="0"/>
              <a:t>S/FTP</a:t>
            </a:r>
            <a:r>
              <a:rPr lang="zh-CN" altLang="en-US" dirty="0"/>
              <a:t>：在 </a:t>
            </a:r>
            <a:r>
              <a:rPr lang="en-US" altLang="zh-CN" dirty="0"/>
              <a:t>FTP </a:t>
            </a:r>
            <a:r>
              <a:rPr lang="zh-CN" altLang="en-US" dirty="0"/>
              <a:t>基础上对整条电缆再加上金属编织层的屏蔽。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066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屏蔽双绞线 </a:t>
            </a:r>
            <a:r>
              <a:rPr lang="en-US" altLang="zh-CN" dirty="0"/>
              <a:t>STP</a:t>
            </a:r>
            <a:endParaRPr lang="zh-CN" altLang="en-US" dirty="0"/>
          </a:p>
        </p:txBody>
      </p:sp>
      <p:pic>
        <p:nvPicPr>
          <p:cNvPr id="7" name="图片 6" descr="三种UTP.jpg"/>
          <p:cNvPicPr>
            <a:picLocks noChangeAspect="1"/>
          </p:cNvPicPr>
          <p:nvPr/>
        </p:nvPicPr>
        <p:blipFill>
          <a:blip r:embed="rId2" cstate="print"/>
          <a:srcRect l="10626" t="29524" r="11249" b="26338"/>
          <a:stretch>
            <a:fillRect/>
          </a:stretch>
        </p:blipFill>
        <p:spPr>
          <a:xfrm>
            <a:off x="3605876" y="1496499"/>
            <a:ext cx="4824536" cy="1533201"/>
          </a:xfrm>
          <a:prstGeom prst="rect">
            <a:avLst/>
          </a:prstGeom>
        </p:spPr>
      </p:pic>
      <p:sp>
        <p:nvSpPr>
          <p:cNvPr id="8" name="TextBox 47"/>
          <p:cNvSpPr txBox="1"/>
          <p:nvPr/>
        </p:nvSpPr>
        <p:spPr>
          <a:xfrm>
            <a:off x="4005943" y="1163896"/>
            <a:ext cx="4424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F/UTP                U/FTP                  F/FTP  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9" name="TextBox 53"/>
          <p:cNvSpPr txBox="1"/>
          <p:nvPr/>
        </p:nvSpPr>
        <p:spPr>
          <a:xfrm>
            <a:off x="6480491" y="298486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6624507" y="2767961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093661" y="2781306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TextBox 58"/>
          <p:cNvSpPr txBox="1"/>
          <p:nvPr/>
        </p:nvSpPr>
        <p:spPr>
          <a:xfrm>
            <a:off x="4987626" y="273771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</a:p>
        </p:txBody>
      </p:sp>
      <p:sp>
        <p:nvSpPr>
          <p:cNvPr id="13" name="TextBox 55"/>
          <p:cNvSpPr txBox="1"/>
          <p:nvPr/>
        </p:nvSpPr>
        <p:spPr>
          <a:xfrm>
            <a:off x="6562024" y="27657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</a:p>
        </p:txBody>
      </p:sp>
      <p:sp>
        <p:nvSpPr>
          <p:cNvPr id="14" name="TextBox 59"/>
          <p:cNvSpPr txBox="1"/>
          <p:nvPr/>
        </p:nvSpPr>
        <p:spPr>
          <a:xfrm>
            <a:off x="4901901" y="2957926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 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04204" y="1558763"/>
            <a:ext cx="3241355" cy="1490350"/>
            <a:chOff x="4497712" y="3150184"/>
            <a:chExt cx="3241355" cy="1490350"/>
          </a:xfrm>
        </p:grpSpPr>
        <p:pic>
          <p:nvPicPr>
            <p:cNvPr id="16" name="图片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铝箔屏蔽层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7015792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21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sm" len="lg"/>
            </a:ln>
          </p:spPr>
        </p:cxnSp>
        <p:cxnSp>
          <p:nvCxnSpPr>
            <p:cNvPr id="22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23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24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  <p:sp>
        <p:nvSpPr>
          <p:cNvPr id="25" name="TextBox 47"/>
          <p:cNvSpPr txBox="1"/>
          <p:nvPr/>
        </p:nvSpPr>
        <p:spPr>
          <a:xfrm>
            <a:off x="1290770" y="1167146"/>
            <a:ext cx="842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F/UTP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3770" y="3537401"/>
            <a:ext cx="764664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在抗干扰能力上，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U/FTP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F/UTP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好，而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F/FTP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则是最好的。</a:t>
            </a:r>
          </a:p>
        </p:txBody>
      </p:sp>
    </p:spTree>
    <p:extLst>
      <p:ext uri="{BB962C8B-B14F-4D97-AF65-F5344CB8AC3E}">
        <p14:creationId xmlns:p14="http://schemas.microsoft.com/office/powerpoint/2010/main" val="123182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双绞线标准 </a:t>
            </a:r>
            <a:r>
              <a:rPr lang="en-US" altLang="zh-CN" dirty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643842"/>
              </p:ext>
            </p:extLst>
          </p:nvPr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:a16="http://schemas.microsoft.com/office/drawing/2014/main" val="1889052077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909568552"/>
                    </a:ext>
                  </a:extLst>
                </a:gridCol>
                <a:gridCol w="2786743">
                  <a:extLst>
                    <a:ext uri="{9D8B030D-6E8A-4147-A177-3AD203B41FA5}">
                      <a16:colId xmlns:a16="http://schemas.microsoft.com/office/drawing/2014/main" val="2693267567"/>
                    </a:ext>
                  </a:extLst>
                </a:gridCol>
                <a:gridCol w="3378927">
                  <a:extLst>
                    <a:ext uri="{9D8B030D-6E8A-4147-A177-3AD203B41FA5}">
                      <a16:colId xmlns:a16="http://schemas.microsoft.com/office/drawing/2014/main" val="2377595142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333217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CAT-3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95931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3527379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65690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67884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7519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传输速率超过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163200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431731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常用绞合线的类别、带宽和典型应用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675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双绞线标准 </a:t>
            </a:r>
            <a:r>
              <a:rPr lang="en-US" altLang="zh-CN" dirty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267540"/>
              </p:ext>
            </p:extLst>
          </p:nvPr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:a16="http://schemas.microsoft.com/office/drawing/2014/main" val="1889052077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909568552"/>
                    </a:ext>
                  </a:extLst>
                </a:gridCol>
                <a:gridCol w="2786743">
                  <a:extLst>
                    <a:ext uri="{9D8B030D-6E8A-4147-A177-3AD203B41FA5}">
                      <a16:colId xmlns:a16="http://schemas.microsoft.com/office/drawing/2014/main" val="2693267567"/>
                    </a:ext>
                  </a:extLst>
                </a:gridCol>
                <a:gridCol w="3378927">
                  <a:extLst>
                    <a:ext uri="{9D8B030D-6E8A-4147-A177-3AD203B41FA5}">
                      <a16:colId xmlns:a16="http://schemas.microsoft.com/office/drawing/2014/main" val="2377595142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333217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95931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3527379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65690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67884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7519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传输速率超过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163200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CAT-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，距离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431731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常用绞合线的类别、带宽和典型应用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81247" y="2221717"/>
            <a:ext cx="6414130" cy="8617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无论是哪种类别的双绞线，衰减都随频率的升高而增大。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双绞线的最高速率还与数字信号的编码方法有很大的关系。</a:t>
            </a:r>
          </a:p>
        </p:txBody>
      </p:sp>
    </p:spTree>
    <p:extLst>
      <p:ext uri="{BB962C8B-B14F-4D97-AF65-F5344CB8AC3E}">
        <p14:creationId xmlns:p14="http://schemas.microsoft.com/office/powerpoint/2010/main" val="235911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由内导体铜质芯线（单股实心线或多股绞合线）、绝缘层、网状编织的外导体屏蔽层（也可以是单股的）以及保护塑料外层所组成。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具有很好的抗干扰特性，被广泛用于传输较高速率的数据。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同轴电缆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04018" y="1935298"/>
            <a:ext cx="4553426" cy="1077868"/>
            <a:chOff x="2421436" y="2074635"/>
            <a:chExt cx="4553426" cy="1077868"/>
          </a:xfrm>
        </p:grpSpPr>
        <p:pic>
          <p:nvPicPr>
            <p:cNvPr id="5" name="Picture 3" descr="D:\1xxr\1paper\Cable\222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741" r="21053" b="25261"/>
            <a:stretch>
              <a:fillRect/>
            </a:stretch>
          </p:blipFill>
          <p:spPr bwMode="auto">
            <a:xfrm>
              <a:off x="2421436" y="2397517"/>
              <a:ext cx="3768353" cy="754986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213050" y="2627074"/>
              <a:ext cx="7618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内导体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231467" y="2093421"/>
              <a:ext cx="158468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外导体屏蔽层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5883029" y="2074635"/>
              <a:ext cx="88248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绝缘层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15113" y="2100558"/>
              <a:ext cx="151635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绝缘保护套层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5875759" y="2868559"/>
              <a:ext cx="314030" cy="217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24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768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光纤是光纤通信的传输媒体。通过传递光脉冲来进行通信。</a:t>
            </a:r>
            <a:endParaRPr lang="en-US" altLang="zh-CN" dirty="0"/>
          </a:p>
          <a:p>
            <a:r>
              <a:rPr lang="zh-CN" altLang="en-US" dirty="0"/>
              <a:t>其</a:t>
            </a:r>
            <a:r>
              <a:rPr lang="zh-CN" altLang="zh-CN" dirty="0"/>
              <a:t>传输带宽远远大于目前其他各种传输媒体的带宽。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光缆</a:t>
            </a: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466344" y="1864029"/>
            <a:ext cx="4662889" cy="242375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发送端：</a:t>
            </a:r>
            <a:r>
              <a:rPr lang="zh-CN" altLang="en-US" dirty="0"/>
              <a:t>要有</a:t>
            </a:r>
            <a:r>
              <a:rPr lang="zh-CN" altLang="en-US" dirty="0">
                <a:solidFill>
                  <a:srgbClr val="0000FF"/>
                </a:solidFill>
              </a:rPr>
              <a:t>光源，</a:t>
            </a:r>
            <a:r>
              <a:rPr lang="zh-CN" altLang="en-US" dirty="0"/>
              <a:t>在电脉冲的作用下能产生出光脉冲。</a:t>
            </a:r>
          </a:p>
          <a:p>
            <a:pPr lvl="1"/>
            <a:r>
              <a:rPr lang="zh-CN" altLang="en-US" dirty="0"/>
              <a:t>光源：发光二极管，半导体激光器等。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接收端：</a:t>
            </a:r>
            <a:r>
              <a:rPr lang="zh-CN" altLang="en-US" dirty="0"/>
              <a:t>要有</a:t>
            </a:r>
            <a:r>
              <a:rPr lang="zh-CN" altLang="en-US" dirty="0">
                <a:solidFill>
                  <a:srgbClr val="0000FF"/>
                </a:solidFill>
              </a:rPr>
              <a:t>光检测器，</a:t>
            </a:r>
            <a:r>
              <a:rPr lang="zh-CN" altLang="en-US" dirty="0"/>
              <a:t>利用光电二极管做成，在检测到光脉冲时还原出电脉冲。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479781" y="2374100"/>
            <a:ext cx="2921787" cy="1860366"/>
            <a:chOff x="5401403" y="2321848"/>
            <a:chExt cx="2921787" cy="186036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01403" y="2321848"/>
              <a:ext cx="2921787" cy="1577787"/>
              <a:chOff x="4437102" y="2182216"/>
              <a:chExt cx="2921787" cy="1577787"/>
            </a:xfrm>
          </p:grpSpPr>
          <p:grpSp>
            <p:nvGrpSpPr>
              <p:cNvPr id="15" name="Group 105"/>
              <p:cNvGrpSpPr>
                <a:grpSpLocks/>
              </p:cNvGrpSpPr>
              <p:nvPr/>
            </p:nvGrpSpPr>
            <p:grpSpPr bwMode="auto">
              <a:xfrm>
                <a:off x="5201085" y="2190370"/>
                <a:ext cx="617224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33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发送器</a:t>
                  </a:r>
                </a:p>
              </p:txBody>
            </p:sp>
          </p:grpSp>
          <p:grpSp>
            <p:nvGrpSpPr>
              <p:cNvPr id="16" name="Group 109"/>
              <p:cNvGrpSpPr>
                <a:grpSpLocks/>
              </p:cNvGrpSpPr>
              <p:nvPr/>
            </p:nvGrpSpPr>
            <p:grpSpPr bwMode="auto">
              <a:xfrm>
                <a:off x="5927477" y="3191724"/>
                <a:ext cx="615107" cy="447587"/>
                <a:chOff x="3760" y="2931"/>
                <a:chExt cx="581" cy="458"/>
              </a:xfrm>
              <a:solidFill>
                <a:srgbClr val="008000"/>
              </a:solidFill>
            </p:grpSpPr>
            <p:sp>
              <p:nvSpPr>
                <p:cNvPr id="31" name="AutoShape 14"/>
                <p:cNvSpPr>
                  <a:spLocks noChangeArrowheads="1"/>
                </p:cNvSpPr>
                <p:nvPr/>
              </p:nvSpPr>
              <p:spPr bwMode="auto">
                <a:xfrm>
                  <a:off x="3805" y="2931"/>
                  <a:ext cx="535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2" name="Rectangle 25"/>
                <p:cNvSpPr>
                  <a:spLocks noChangeArrowheads="1"/>
                </p:cNvSpPr>
                <p:nvPr/>
              </p:nvSpPr>
              <p:spPr bwMode="auto">
                <a:xfrm>
                  <a:off x="3760" y="3059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接收器</a:t>
                  </a:r>
                </a:p>
              </p:txBody>
            </p:sp>
          </p:grpSp>
          <p:sp>
            <p:nvSpPr>
              <p:cNvPr id="17" name="Freeform 52"/>
              <p:cNvSpPr>
                <a:spLocks/>
              </p:cNvSpPr>
              <p:nvPr/>
            </p:nvSpPr>
            <p:spPr bwMode="auto">
              <a:xfrm>
                <a:off x="4437102" y="2182216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>
                <a:off x="4437102" y="2424506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19" name="Group 105"/>
              <p:cNvGrpSpPr>
                <a:grpSpLocks/>
              </p:cNvGrpSpPr>
              <p:nvPr/>
            </p:nvGrpSpPr>
            <p:grpSpPr bwMode="auto">
              <a:xfrm>
                <a:off x="6308084" y="2190370"/>
                <a:ext cx="852568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29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0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>
                      <a:latin typeface="微软雅黑" pitchFamily="34" charset="-122"/>
                      <a:ea typeface="微软雅黑" pitchFamily="34" charset="-122"/>
                    </a:rPr>
                    <a:t>光源</a:t>
                  </a:r>
                </a:p>
              </p:txBody>
            </p:sp>
          </p:grp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5833610" y="2424506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21" name="Group 105"/>
              <p:cNvGrpSpPr>
                <a:grpSpLocks/>
              </p:cNvGrpSpPr>
              <p:nvPr/>
            </p:nvGrpSpPr>
            <p:grpSpPr bwMode="auto">
              <a:xfrm>
                <a:off x="4565878" y="3198076"/>
                <a:ext cx="857819" cy="561927"/>
                <a:chOff x="1210" y="2931"/>
                <a:chExt cx="583" cy="575"/>
              </a:xfrm>
              <a:solidFill>
                <a:srgbClr val="0070C0"/>
              </a:solidFill>
            </p:grpSpPr>
            <p:sp>
              <p:nvSpPr>
                <p:cNvPr id="27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8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4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>
                      <a:latin typeface="微软雅黑" pitchFamily="34" charset="-122"/>
                      <a:ea typeface="微软雅黑" pitchFamily="34" charset="-122"/>
                    </a:rPr>
                    <a:t>光检测器</a:t>
                  </a:r>
                </a:p>
              </p:txBody>
            </p:sp>
          </p:grp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>
                <a:off x="5445584" y="3421869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6589751" y="3179579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>
                <a:off x="6546206" y="3421869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25" name="肘形连接符 24"/>
              <p:cNvCxnSpPr>
                <a:stCxn id="30" idx="3"/>
                <a:endCxn id="27" idx="2"/>
              </p:cNvCxnSpPr>
              <p:nvPr/>
            </p:nvCxnSpPr>
            <p:spPr>
              <a:xfrm flipH="1">
                <a:off x="4633562" y="2453743"/>
                <a:ext cx="2524165" cy="997374"/>
              </a:xfrm>
              <a:prstGeom prst="bentConnector5">
                <a:avLst>
                  <a:gd name="adj1" fmla="val -9056"/>
                  <a:gd name="adj2" fmla="val 51664"/>
                  <a:gd name="adj3" fmla="val 109056"/>
                </a:avLst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矩形 25"/>
              <p:cNvSpPr/>
              <p:nvPr/>
            </p:nvSpPr>
            <p:spPr>
              <a:xfrm>
                <a:off x="5689753" y="2693320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光缆</a:t>
                </a:r>
              </a:p>
            </p:txBody>
          </p:sp>
        </p:grp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5479617" y="3874437"/>
              <a:ext cx="28243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基本的光纤通信系统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1268" name="Picture 4" descr="Fiber Optic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190" y="1283119"/>
            <a:ext cx="1246362" cy="87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98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79861"/>
            <a:ext cx="8048776" cy="2020388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06825" y="1159693"/>
            <a:ext cx="6827284" cy="1802278"/>
            <a:chOff x="-387650" y="1506188"/>
            <a:chExt cx="10707451" cy="2826571"/>
          </a:xfrm>
        </p:grpSpPr>
        <p:sp>
          <p:nvSpPr>
            <p:cNvPr id="6" name="Arc 84"/>
            <p:cNvSpPr>
              <a:spLocks/>
            </p:cNvSpPr>
            <p:nvPr/>
          </p:nvSpPr>
          <p:spPr bwMode="auto">
            <a:xfrm rot="9720000">
              <a:off x="3682984" y="3278659"/>
              <a:ext cx="104908" cy="793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" name="Group 85"/>
            <p:cNvGrpSpPr>
              <a:grpSpLocks/>
            </p:cNvGrpSpPr>
            <p:nvPr/>
          </p:nvGrpSpPr>
          <p:grpSpPr bwMode="auto">
            <a:xfrm>
              <a:off x="3167047" y="2459508"/>
              <a:ext cx="3190214" cy="488950"/>
              <a:chOff x="292" y="1032"/>
              <a:chExt cx="1732" cy="216"/>
            </a:xfrm>
          </p:grpSpPr>
          <p:grpSp>
            <p:nvGrpSpPr>
              <p:cNvPr id="44" name="Group 86"/>
              <p:cNvGrpSpPr>
                <a:grpSpLocks/>
              </p:cNvGrpSpPr>
              <p:nvPr/>
            </p:nvGrpSpPr>
            <p:grpSpPr bwMode="auto">
              <a:xfrm>
                <a:off x="292" y="1032"/>
                <a:ext cx="1732" cy="216"/>
                <a:chOff x="292" y="1032"/>
                <a:chExt cx="1732" cy="216"/>
              </a:xfrm>
            </p:grpSpPr>
            <p:sp>
              <p:nvSpPr>
                <p:cNvPr id="46" name="Line 87"/>
                <p:cNvSpPr>
                  <a:spLocks noChangeShapeType="1"/>
                </p:cNvSpPr>
                <p:nvPr/>
              </p:nvSpPr>
              <p:spPr bwMode="auto">
                <a:xfrm>
                  <a:off x="292" y="1032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Line 88"/>
                <p:cNvSpPr>
                  <a:spLocks noChangeShapeType="1"/>
                </p:cNvSpPr>
                <p:nvPr/>
              </p:nvSpPr>
              <p:spPr bwMode="auto">
                <a:xfrm>
                  <a:off x="292" y="1248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45" name="Rectangle 89"/>
              <p:cNvSpPr>
                <a:spLocks noChangeArrowheads="1"/>
              </p:cNvSpPr>
              <p:nvPr/>
            </p:nvSpPr>
            <p:spPr bwMode="auto">
              <a:xfrm>
                <a:off x="296" y="1041"/>
                <a:ext cx="1716" cy="198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8" name="Group 90"/>
            <p:cNvGrpSpPr>
              <a:grpSpLocks/>
            </p:cNvGrpSpPr>
            <p:nvPr/>
          </p:nvGrpSpPr>
          <p:grpSpPr bwMode="auto">
            <a:xfrm>
              <a:off x="3153289" y="3881908"/>
              <a:ext cx="3167856" cy="436562"/>
              <a:chOff x="284" y="1656"/>
              <a:chExt cx="1720" cy="192"/>
            </a:xfrm>
          </p:grpSpPr>
          <p:grpSp>
            <p:nvGrpSpPr>
              <p:cNvPr id="40" name="Group 91"/>
              <p:cNvGrpSpPr>
                <a:grpSpLocks/>
              </p:cNvGrpSpPr>
              <p:nvPr/>
            </p:nvGrpSpPr>
            <p:grpSpPr bwMode="auto">
              <a:xfrm>
                <a:off x="284" y="1656"/>
                <a:ext cx="1720" cy="192"/>
                <a:chOff x="284" y="1656"/>
                <a:chExt cx="1720" cy="192"/>
              </a:xfrm>
            </p:grpSpPr>
            <p:sp>
              <p:nvSpPr>
                <p:cNvPr id="42" name="Line 92"/>
                <p:cNvSpPr>
                  <a:spLocks noChangeShapeType="1"/>
                </p:cNvSpPr>
                <p:nvPr/>
              </p:nvSpPr>
              <p:spPr bwMode="auto">
                <a:xfrm>
                  <a:off x="284" y="1656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3" name="Line 93"/>
                <p:cNvSpPr>
                  <a:spLocks noChangeShapeType="1"/>
                </p:cNvSpPr>
                <p:nvPr/>
              </p:nvSpPr>
              <p:spPr bwMode="auto">
                <a:xfrm>
                  <a:off x="284" y="1848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41" name="Rectangle 94"/>
              <p:cNvSpPr>
                <a:spLocks noChangeArrowheads="1"/>
              </p:cNvSpPr>
              <p:nvPr/>
            </p:nvSpPr>
            <p:spPr bwMode="auto">
              <a:xfrm>
                <a:off x="288" y="1664"/>
                <a:ext cx="1704" cy="176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9" name="Line 95"/>
            <p:cNvSpPr>
              <a:spLocks noChangeShapeType="1"/>
            </p:cNvSpPr>
            <p:nvPr/>
          </p:nvSpPr>
          <p:spPr bwMode="auto">
            <a:xfrm>
              <a:off x="3808529" y="193087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97"/>
            <p:cNvSpPr>
              <a:spLocks noChangeShapeType="1"/>
            </p:cNvSpPr>
            <p:nvPr/>
          </p:nvSpPr>
          <p:spPr bwMode="auto">
            <a:xfrm flipV="1">
              <a:off x="3492087" y="2951633"/>
              <a:ext cx="316442" cy="7493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Arc 98"/>
            <p:cNvSpPr>
              <a:spLocks/>
            </p:cNvSpPr>
            <p:nvPr/>
          </p:nvSpPr>
          <p:spPr bwMode="auto">
            <a:xfrm>
              <a:off x="3811970" y="2700809"/>
              <a:ext cx="154781" cy="1238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99"/>
            <p:cNvSpPr>
              <a:spLocks noChangeShapeType="1"/>
            </p:cNvSpPr>
            <p:nvPr/>
          </p:nvSpPr>
          <p:spPr bwMode="auto">
            <a:xfrm>
              <a:off x="5237676" y="194992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100"/>
            <p:cNvSpPr>
              <a:spLocks noChangeShapeType="1"/>
            </p:cNvSpPr>
            <p:nvPr/>
          </p:nvSpPr>
          <p:spPr bwMode="auto">
            <a:xfrm flipV="1">
              <a:off x="4405297" y="2951634"/>
              <a:ext cx="844418" cy="3460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101"/>
            <p:cNvSpPr>
              <a:spLocks noChangeShapeType="1"/>
            </p:cNvSpPr>
            <p:nvPr/>
          </p:nvSpPr>
          <p:spPr bwMode="auto">
            <a:xfrm>
              <a:off x="5244555" y="2951633"/>
              <a:ext cx="966523" cy="3556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Arc 102"/>
            <p:cNvSpPr>
              <a:spLocks/>
            </p:cNvSpPr>
            <p:nvPr/>
          </p:nvSpPr>
          <p:spPr bwMode="auto">
            <a:xfrm rot="9840000">
              <a:off x="4936713" y="3054821"/>
              <a:ext cx="256248" cy="32861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103"/>
            <p:cNvSpPr>
              <a:spLocks/>
            </p:cNvSpPr>
            <p:nvPr/>
          </p:nvSpPr>
          <p:spPr bwMode="auto">
            <a:xfrm>
              <a:off x="3027745" y="2500783"/>
              <a:ext cx="166819" cy="1820862"/>
            </a:xfrm>
            <a:custGeom>
              <a:avLst/>
              <a:gdLst>
                <a:gd name="T0" fmla="*/ 78 w 91"/>
                <a:gd name="T1" fmla="*/ 0 h 799"/>
                <a:gd name="T2" fmla="*/ 78 w 91"/>
                <a:gd name="T3" fmla="*/ 18 h 799"/>
                <a:gd name="T4" fmla="*/ 78 w 91"/>
                <a:gd name="T5" fmla="*/ 36 h 799"/>
                <a:gd name="T6" fmla="*/ 60 w 91"/>
                <a:gd name="T7" fmla="*/ 54 h 799"/>
                <a:gd name="T8" fmla="*/ 60 w 91"/>
                <a:gd name="T9" fmla="*/ 72 h 799"/>
                <a:gd name="T10" fmla="*/ 54 w 91"/>
                <a:gd name="T11" fmla="*/ 90 h 799"/>
                <a:gd name="T12" fmla="*/ 54 w 91"/>
                <a:gd name="T13" fmla="*/ 108 h 799"/>
                <a:gd name="T14" fmla="*/ 72 w 91"/>
                <a:gd name="T15" fmla="*/ 126 h 799"/>
                <a:gd name="T16" fmla="*/ 90 w 91"/>
                <a:gd name="T17" fmla="*/ 144 h 799"/>
                <a:gd name="T18" fmla="*/ 90 w 91"/>
                <a:gd name="T19" fmla="*/ 162 h 799"/>
                <a:gd name="T20" fmla="*/ 90 w 91"/>
                <a:gd name="T21" fmla="*/ 180 h 799"/>
                <a:gd name="T22" fmla="*/ 90 w 91"/>
                <a:gd name="T23" fmla="*/ 198 h 799"/>
                <a:gd name="T24" fmla="*/ 84 w 91"/>
                <a:gd name="T25" fmla="*/ 198 h 799"/>
                <a:gd name="T26" fmla="*/ 66 w 91"/>
                <a:gd name="T27" fmla="*/ 210 h 799"/>
                <a:gd name="T28" fmla="*/ 48 w 91"/>
                <a:gd name="T29" fmla="*/ 228 h 799"/>
                <a:gd name="T30" fmla="*/ 36 w 91"/>
                <a:gd name="T31" fmla="*/ 246 h 799"/>
                <a:gd name="T32" fmla="*/ 18 w 91"/>
                <a:gd name="T33" fmla="*/ 258 h 799"/>
                <a:gd name="T34" fmla="*/ 12 w 91"/>
                <a:gd name="T35" fmla="*/ 276 h 799"/>
                <a:gd name="T36" fmla="*/ 12 w 91"/>
                <a:gd name="T37" fmla="*/ 294 h 799"/>
                <a:gd name="T38" fmla="*/ 12 w 91"/>
                <a:gd name="T39" fmla="*/ 312 h 799"/>
                <a:gd name="T40" fmla="*/ 12 w 91"/>
                <a:gd name="T41" fmla="*/ 330 h 799"/>
                <a:gd name="T42" fmla="*/ 0 w 91"/>
                <a:gd name="T43" fmla="*/ 348 h 799"/>
                <a:gd name="T44" fmla="*/ 0 w 91"/>
                <a:gd name="T45" fmla="*/ 366 h 799"/>
                <a:gd name="T46" fmla="*/ 0 w 91"/>
                <a:gd name="T47" fmla="*/ 384 h 799"/>
                <a:gd name="T48" fmla="*/ 0 w 91"/>
                <a:gd name="T49" fmla="*/ 402 h 799"/>
                <a:gd name="T50" fmla="*/ 0 w 91"/>
                <a:gd name="T51" fmla="*/ 420 h 799"/>
                <a:gd name="T52" fmla="*/ 0 w 91"/>
                <a:gd name="T53" fmla="*/ 438 h 799"/>
                <a:gd name="T54" fmla="*/ 18 w 91"/>
                <a:gd name="T55" fmla="*/ 450 h 799"/>
                <a:gd name="T56" fmla="*/ 36 w 91"/>
                <a:gd name="T57" fmla="*/ 462 h 799"/>
                <a:gd name="T58" fmla="*/ 54 w 91"/>
                <a:gd name="T59" fmla="*/ 474 h 799"/>
                <a:gd name="T60" fmla="*/ 60 w 91"/>
                <a:gd name="T61" fmla="*/ 492 h 799"/>
                <a:gd name="T62" fmla="*/ 78 w 91"/>
                <a:gd name="T63" fmla="*/ 510 h 799"/>
                <a:gd name="T64" fmla="*/ 84 w 91"/>
                <a:gd name="T65" fmla="*/ 528 h 799"/>
                <a:gd name="T66" fmla="*/ 90 w 91"/>
                <a:gd name="T67" fmla="*/ 546 h 799"/>
                <a:gd name="T68" fmla="*/ 90 w 91"/>
                <a:gd name="T69" fmla="*/ 564 h 799"/>
                <a:gd name="T70" fmla="*/ 90 w 91"/>
                <a:gd name="T71" fmla="*/ 582 h 799"/>
                <a:gd name="T72" fmla="*/ 90 w 91"/>
                <a:gd name="T73" fmla="*/ 600 h 799"/>
                <a:gd name="T74" fmla="*/ 72 w 91"/>
                <a:gd name="T75" fmla="*/ 600 h 799"/>
                <a:gd name="T76" fmla="*/ 66 w 91"/>
                <a:gd name="T77" fmla="*/ 618 h 799"/>
                <a:gd name="T78" fmla="*/ 60 w 91"/>
                <a:gd name="T79" fmla="*/ 636 h 799"/>
                <a:gd name="T80" fmla="*/ 54 w 91"/>
                <a:gd name="T81" fmla="*/ 654 h 799"/>
                <a:gd name="T82" fmla="*/ 48 w 91"/>
                <a:gd name="T83" fmla="*/ 672 h 799"/>
                <a:gd name="T84" fmla="*/ 48 w 91"/>
                <a:gd name="T85" fmla="*/ 690 h 799"/>
                <a:gd name="T86" fmla="*/ 48 w 91"/>
                <a:gd name="T87" fmla="*/ 708 h 799"/>
                <a:gd name="T88" fmla="*/ 48 w 91"/>
                <a:gd name="T89" fmla="*/ 726 h 799"/>
                <a:gd name="T90" fmla="*/ 48 w 91"/>
                <a:gd name="T91" fmla="*/ 744 h 799"/>
                <a:gd name="T92" fmla="*/ 54 w 91"/>
                <a:gd name="T93" fmla="*/ 762 h 799"/>
                <a:gd name="T94" fmla="*/ 60 w 91"/>
                <a:gd name="T95" fmla="*/ 780 h 799"/>
                <a:gd name="T96" fmla="*/ 72 w 91"/>
                <a:gd name="T97" fmla="*/ 798 h 799"/>
                <a:gd name="T98" fmla="*/ 72 w 91"/>
                <a:gd name="T99" fmla="*/ 792 h 799"/>
                <a:gd name="T100" fmla="*/ 72 w 91"/>
                <a:gd name="T101" fmla="*/ 786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1" h="799">
                  <a:moveTo>
                    <a:pt x="78" y="0"/>
                  </a:moveTo>
                  <a:lnTo>
                    <a:pt x="78" y="18"/>
                  </a:lnTo>
                  <a:lnTo>
                    <a:pt x="78" y="36"/>
                  </a:lnTo>
                  <a:lnTo>
                    <a:pt x="60" y="54"/>
                  </a:lnTo>
                  <a:lnTo>
                    <a:pt x="60" y="72"/>
                  </a:lnTo>
                  <a:lnTo>
                    <a:pt x="54" y="90"/>
                  </a:lnTo>
                  <a:lnTo>
                    <a:pt x="54" y="108"/>
                  </a:lnTo>
                  <a:lnTo>
                    <a:pt x="72" y="126"/>
                  </a:lnTo>
                  <a:lnTo>
                    <a:pt x="90" y="144"/>
                  </a:lnTo>
                  <a:lnTo>
                    <a:pt x="90" y="162"/>
                  </a:lnTo>
                  <a:lnTo>
                    <a:pt x="90" y="180"/>
                  </a:lnTo>
                  <a:lnTo>
                    <a:pt x="90" y="198"/>
                  </a:lnTo>
                  <a:lnTo>
                    <a:pt x="84" y="198"/>
                  </a:lnTo>
                  <a:lnTo>
                    <a:pt x="66" y="210"/>
                  </a:lnTo>
                  <a:lnTo>
                    <a:pt x="48" y="228"/>
                  </a:lnTo>
                  <a:lnTo>
                    <a:pt x="36" y="246"/>
                  </a:lnTo>
                  <a:lnTo>
                    <a:pt x="18" y="258"/>
                  </a:lnTo>
                  <a:lnTo>
                    <a:pt x="12" y="276"/>
                  </a:lnTo>
                  <a:lnTo>
                    <a:pt x="12" y="294"/>
                  </a:lnTo>
                  <a:lnTo>
                    <a:pt x="12" y="312"/>
                  </a:lnTo>
                  <a:lnTo>
                    <a:pt x="12" y="330"/>
                  </a:lnTo>
                  <a:lnTo>
                    <a:pt x="0" y="348"/>
                  </a:lnTo>
                  <a:lnTo>
                    <a:pt x="0" y="366"/>
                  </a:lnTo>
                  <a:lnTo>
                    <a:pt x="0" y="384"/>
                  </a:lnTo>
                  <a:lnTo>
                    <a:pt x="0" y="402"/>
                  </a:lnTo>
                  <a:lnTo>
                    <a:pt x="0" y="420"/>
                  </a:lnTo>
                  <a:lnTo>
                    <a:pt x="0" y="438"/>
                  </a:lnTo>
                  <a:lnTo>
                    <a:pt x="18" y="450"/>
                  </a:lnTo>
                  <a:lnTo>
                    <a:pt x="36" y="462"/>
                  </a:lnTo>
                  <a:lnTo>
                    <a:pt x="54" y="474"/>
                  </a:lnTo>
                  <a:lnTo>
                    <a:pt x="60" y="492"/>
                  </a:lnTo>
                  <a:lnTo>
                    <a:pt x="78" y="510"/>
                  </a:lnTo>
                  <a:lnTo>
                    <a:pt x="84" y="528"/>
                  </a:lnTo>
                  <a:lnTo>
                    <a:pt x="90" y="546"/>
                  </a:lnTo>
                  <a:lnTo>
                    <a:pt x="90" y="564"/>
                  </a:lnTo>
                  <a:lnTo>
                    <a:pt x="90" y="582"/>
                  </a:lnTo>
                  <a:lnTo>
                    <a:pt x="90" y="600"/>
                  </a:lnTo>
                  <a:lnTo>
                    <a:pt x="72" y="600"/>
                  </a:lnTo>
                  <a:lnTo>
                    <a:pt x="66" y="618"/>
                  </a:lnTo>
                  <a:lnTo>
                    <a:pt x="60" y="636"/>
                  </a:lnTo>
                  <a:lnTo>
                    <a:pt x="54" y="654"/>
                  </a:lnTo>
                  <a:lnTo>
                    <a:pt x="48" y="672"/>
                  </a:lnTo>
                  <a:lnTo>
                    <a:pt x="48" y="690"/>
                  </a:lnTo>
                  <a:lnTo>
                    <a:pt x="48" y="708"/>
                  </a:lnTo>
                  <a:lnTo>
                    <a:pt x="48" y="726"/>
                  </a:lnTo>
                  <a:lnTo>
                    <a:pt x="48" y="744"/>
                  </a:lnTo>
                  <a:lnTo>
                    <a:pt x="54" y="762"/>
                  </a:lnTo>
                  <a:lnTo>
                    <a:pt x="60" y="780"/>
                  </a:lnTo>
                  <a:lnTo>
                    <a:pt x="72" y="798"/>
                  </a:lnTo>
                  <a:lnTo>
                    <a:pt x="72" y="792"/>
                  </a:lnTo>
                  <a:lnTo>
                    <a:pt x="72" y="78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104"/>
            <p:cNvSpPr>
              <a:spLocks noChangeArrowheads="1"/>
            </p:cNvSpPr>
            <p:nvPr/>
          </p:nvSpPr>
          <p:spPr bwMode="auto">
            <a:xfrm>
              <a:off x="4685413" y="1506188"/>
              <a:ext cx="1131320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折射角</a:t>
              </a:r>
            </a:p>
          </p:txBody>
        </p:sp>
        <p:sp>
          <p:nvSpPr>
            <p:cNvPr id="18" name="Rectangle 105"/>
            <p:cNvSpPr>
              <a:spLocks noChangeArrowheads="1"/>
            </p:cNvSpPr>
            <p:nvPr/>
          </p:nvSpPr>
          <p:spPr bwMode="auto">
            <a:xfrm>
              <a:off x="3869973" y="3431396"/>
              <a:ext cx="1188377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入射角</a:t>
              </a:r>
            </a:p>
          </p:txBody>
        </p:sp>
        <p:sp>
          <p:nvSpPr>
            <p:cNvPr id="19" name="Line 106"/>
            <p:cNvSpPr>
              <a:spLocks noChangeShapeType="1"/>
            </p:cNvSpPr>
            <p:nvPr/>
          </p:nvSpPr>
          <p:spPr bwMode="auto">
            <a:xfrm>
              <a:off x="5333984" y="2003896"/>
              <a:ext cx="128985" cy="72072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07"/>
            <p:cNvSpPr>
              <a:spLocks noChangeShapeType="1"/>
            </p:cNvSpPr>
            <p:nvPr/>
          </p:nvSpPr>
          <p:spPr bwMode="auto">
            <a:xfrm flipV="1">
              <a:off x="3896238" y="1959445"/>
              <a:ext cx="1135063" cy="76835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08"/>
            <p:cNvSpPr>
              <a:spLocks noChangeShapeType="1"/>
            </p:cNvSpPr>
            <p:nvPr/>
          </p:nvSpPr>
          <p:spPr bwMode="auto">
            <a:xfrm>
              <a:off x="3728864" y="3356992"/>
              <a:ext cx="323321" cy="2555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09"/>
            <p:cNvSpPr>
              <a:spLocks noChangeShapeType="1"/>
            </p:cNvSpPr>
            <p:nvPr/>
          </p:nvSpPr>
          <p:spPr bwMode="auto">
            <a:xfrm flipV="1">
              <a:off x="4827505" y="3297708"/>
              <a:ext cx="215834" cy="26759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Line 110"/>
            <p:cNvSpPr>
              <a:spLocks noChangeShapeType="1"/>
            </p:cNvSpPr>
            <p:nvPr/>
          </p:nvSpPr>
          <p:spPr bwMode="auto">
            <a:xfrm flipV="1">
              <a:off x="6259231" y="3025868"/>
              <a:ext cx="658679" cy="36391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Line 111"/>
            <p:cNvSpPr>
              <a:spLocks noChangeShapeType="1"/>
            </p:cNvSpPr>
            <p:nvPr/>
          </p:nvSpPr>
          <p:spPr bwMode="auto">
            <a:xfrm flipH="1">
              <a:off x="6104450" y="2192605"/>
              <a:ext cx="813461" cy="51603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Freeform 112"/>
            <p:cNvSpPr>
              <a:spLocks/>
            </p:cNvSpPr>
            <p:nvPr/>
          </p:nvSpPr>
          <p:spPr bwMode="auto">
            <a:xfrm>
              <a:off x="6343503" y="2473796"/>
              <a:ext cx="24077" cy="493713"/>
            </a:xfrm>
            <a:custGeom>
              <a:avLst/>
              <a:gdLst>
                <a:gd name="T0" fmla="*/ 0 w 13"/>
                <a:gd name="T1" fmla="*/ 0 h 217"/>
                <a:gd name="T2" fmla="*/ 6 w 13"/>
                <a:gd name="T3" fmla="*/ 18 h 217"/>
                <a:gd name="T4" fmla="*/ 6 w 13"/>
                <a:gd name="T5" fmla="*/ 36 h 217"/>
                <a:gd name="T6" fmla="*/ 6 w 13"/>
                <a:gd name="T7" fmla="*/ 54 h 217"/>
                <a:gd name="T8" fmla="*/ 6 w 13"/>
                <a:gd name="T9" fmla="*/ 72 h 217"/>
                <a:gd name="T10" fmla="*/ 6 w 13"/>
                <a:gd name="T11" fmla="*/ 90 h 217"/>
                <a:gd name="T12" fmla="*/ 0 w 13"/>
                <a:gd name="T13" fmla="*/ 108 h 217"/>
                <a:gd name="T14" fmla="*/ 0 w 13"/>
                <a:gd name="T15" fmla="*/ 126 h 217"/>
                <a:gd name="T16" fmla="*/ 0 w 13"/>
                <a:gd name="T17" fmla="*/ 144 h 217"/>
                <a:gd name="T18" fmla="*/ 0 w 13"/>
                <a:gd name="T19" fmla="*/ 162 h 217"/>
                <a:gd name="T20" fmla="*/ 0 w 13"/>
                <a:gd name="T21" fmla="*/ 180 h 217"/>
                <a:gd name="T22" fmla="*/ 6 w 13"/>
                <a:gd name="T23" fmla="*/ 198 h 217"/>
                <a:gd name="T24" fmla="*/ 12 w 13"/>
                <a:gd name="T25" fmla="*/ 216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217">
                  <a:moveTo>
                    <a:pt x="0" y="0"/>
                  </a:moveTo>
                  <a:lnTo>
                    <a:pt x="6" y="18"/>
                  </a:lnTo>
                  <a:lnTo>
                    <a:pt x="6" y="36"/>
                  </a:lnTo>
                  <a:lnTo>
                    <a:pt x="6" y="54"/>
                  </a:lnTo>
                  <a:lnTo>
                    <a:pt x="6" y="72"/>
                  </a:lnTo>
                  <a:lnTo>
                    <a:pt x="6" y="90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0" y="144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6" y="198"/>
                  </a:lnTo>
                  <a:lnTo>
                    <a:pt x="12" y="21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Freeform 113"/>
            <p:cNvSpPr>
              <a:spLocks/>
            </p:cNvSpPr>
            <p:nvPr/>
          </p:nvSpPr>
          <p:spPr bwMode="auto">
            <a:xfrm>
              <a:off x="6310826" y="2951633"/>
              <a:ext cx="89429" cy="919162"/>
            </a:xfrm>
            <a:custGeom>
              <a:avLst/>
              <a:gdLst>
                <a:gd name="T0" fmla="*/ 18 w 49"/>
                <a:gd name="T1" fmla="*/ 0 h 403"/>
                <a:gd name="T2" fmla="*/ 12 w 49"/>
                <a:gd name="T3" fmla="*/ 18 h 403"/>
                <a:gd name="T4" fmla="*/ 12 w 49"/>
                <a:gd name="T5" fmla="*/ 36 h 403"/>
                <a:gd name="T6" fmla="*/ 12 w 49"/>
                <a:gd name="T7" fmla="*/ 54 h 403"/>
                <a:gd name="T8" fmla="*/ 12 w 49"/>
                <a:gd name="T9" fmla="*/ 72 h 403"/>
                <a:gd name="T10" fmla="*/ 24 w 49"/>
                <a:gd name="T11" fmla="*/ 90 h 403"/>
                <a:gd name="T12" fmla="*/ 24 w 49"/>
                <a:gd name="T13" fmla="*/ 108 h 403"/>
                <a:gd name="T14" fmla="*/ 30 w 49"/>
                <a:gd name="T15" fmla="*/ 126 h 403"/>
                <a:gd name="T16" fmla="*/ 36 w 49"/>
                <a:gd name="T17" fmla="*/ 144 h 403"/>
                <a:gd name="T18" fmla="*/ 36 w 49"/>
                <a:gd name="T19" fmla="*/ 162 h 403"/>
                <a:gd name="T20" fmla="*/ 48 w 49"/>
                <a:gd name="T21" fmla="*/ 180 h 403"/>
                <a:gd name="T22" fmla="*/ 48 w 49"/>
                <a:gd name="T23" fmla="*/ 198 h 403"/>
                <a:gd name="T24" fmla="*/ 48 w 49"/>
                <a:gd name="T25" fmla="*/ 216 h 403"/>
                <a:gd name="T26" fmla="*/ 48 w 49"/>
                <a:gd name="T27" fmla="*/ 234 h 403"/>
                <a:gd name="T28" fmla="*/ 48 w 49"/>
                <a:gd name="T29" fmla="*/ 252 h 403"/>
                <a:gd name="T30" fmla="*/ 48 w 49"/>
                <a:gd name="T31" fmla="*/ 270 h 403"/>
                <a:gd name="T32" fmla="*/ 42 w 49"/>
                <a:gd name="T33" fmla="*/ 288 h 403"/>
                <a:gd name="T34" fmla="*/ 36 w 49"/>
                <a:gd name="T35" fmla="*/ 306 h 403"/>
                <a:gd name="T36" fmla="*/ 30 w 49"/>
                <a:gd name="T37" fmla="*/ 324 h 403"/>
                <a:gd name="T38" fmla="*/ 18 w 49"/>
                <a:gd name="T39" fmla="*/ 342 h 403"/>
                <a:gd name="T40" fmla="*/ 12 w 49"/>
                <a:gd name="T41" fmla="*/ 366 h 403"/>
                <a:gd name="T42" fmla="*/ 12 w 49"/>
                <a:gd name="T43" fmla="*/ 384 h 403"/>
                <a:gd name="T44" fmla="*/ 0 w 49"/>
                <a:gd name="T45" fmla="*/ 402 h 403"/>
                <a:gd name="T46" fmla="*/ 0 w 49"/>
                <a:gd name="T4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" h="403">
                  <a:moveTo>
                    <a:pt x="18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24" y="90"/>
                  </a:lnTo>
                  <a:lnTo>
                    <a:pt x="24" y="108"/>
                  </a:lnTo>
                  <a:lnTo>
                    <a:pt x="30" y="126"/>
                  </a:lnTo>
                  <a:lnTo>
                    <a:pt x="36" y="144"/>
                  </a:lnTo>
                  <a:lnTo>
                    <a:pt x="36" y="162"/>
                  </a:lnTo>
                  <a:lnTo>
                    <a:pt x="48" y="180"/>
                  </a:lnTo>
                  <a:lnTo>
                    <a:pt x="48" y="198"/>
                  </a:lnTo>
                  <a:lnTo>
                    <a:pt x="48" y="216"/>
                  </a:lnTo>
                  <a:lnTo>
                    <a:pt x="48" y="234"/>
                  </a:lnTo>
                  <a:lnTo>
                    <a:pt x="48" y="252"/>
                  </a:lnTo>
                  <a:lnTo>
                    <a:pt x="48" y="270"/>
                  </a:lnTo>
                  <a:lnTo>
                    <a:pt x="42" y="288"/>
                  </a:lnTo>
                  <a:lnTo>
                    <a:pt x="36" y="306"/>
                  </a:lnTo>
                  <a:lnTo>
                    <a:pt x="30" y="324"/>
                  </a:lnTo>
                  <a:lnTo>
                    <a:pt x="18" y="342"/>
                  </a:lnTo>
                  <a:lnTo>
                    <a:pt x="12" y="366"/>
                  </a:lnTo>
                  <a:lnTo>
                    <a:pt x="12" y="384"/>
                  </a:lnTo>
                  <a:lnTo>
                    <a:pt x="0" y="402"/>
                  </a:lnTo>
                  <a:lnTo>
                    <a:pt x="0" y="40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114"/>
            <p:cNvSpPr>
              <a:spLocks/>
            </p:cNvSpPr>
            <p:nvPr/>
          </p:nvSpPr>
          <p:spPr bwMode="auto">
            <a:xfrm>
              <a:off x="6288469" y="3867621"/>
              <a:ext cx="24077" cy="454025"/>
            </a:xfrm>
            <a:custGeom>
              <a:avLst/>
              <a:gdLst>
                <a:gd name="T0" fmla="*/ 12 w 13"/>
                <a:gd name="T1" fmla="*/ 0 h 199"/>
                <a:gd name="T2" fmla="*/ 12 w 13"/>
                <a:gd name="T3" fmla="*/ 18 h 199"/>
                <a:gd name="T4" fmla="*/ 12 w 13"/>
                <a:gd name="T5" fmla="*/ 36 h 199"/>
                <a:gd name="T6" fmla="*/ 12 w 13"/>
                <a:gd name="T7" fmla="*/ 54 h 199"/>
                <a:gd name="T8" fmla="*/ 12 w 13"/>
                <a:gd name="T9" fmla="*/ 72 h 199"/>
                <a:gd name="T10" fmla="*/ 12 w 13"/>
                <a:gd name="T11" fmla="*/ 90 h 199"/>
                <a:gd name="T12" fmla="*/ 12 w 13"/>
                <a:gd name="T13" fmla="*/ 108 h 199"/>
                <a:gd name="T14" fmla="*/ 12 w 13"/>
                <a:gd name="T15" fmla="*/ 126 h 199"/>
                <a:gd name="T16" fmla="*/ 12 w 13"/>
                <a:gd name="T17" fmla="*/ 144 h 199"/>
                <a:gd name="T18" fmla="*/ 12 w 13"/>
                <a:gd name="T19" fmla="*/ 162 h 199"/>
                <a:gd name="T20" fmla="*/ 6 w 13"/>
                <a:gd name="T21" fmla="*/ 180 h 199"/>
                <a:gd name="T22" fmla="*/ 0 w 13"/>
                <a:gd name="T23" fmla="*/ 19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99">
                  <a:moveTo>
                    <a:pt x="12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12" y="90"/>
                  </a:lnTo>
                  <a:lnTo>
                    <a:pt x="12" y="108"/>
                  </a:lnTo>
                  <a:lnTo>
                    <a:pt x="12" y="126"/>
                  </a:lnTo>
                  <a:lnTo>
                    <a:pt x="12" y="144"/>
                  </a:lnTo>
                  <a:lnTo>
                    <a:pt x="12" y="162"/>
                  </a:lnTo>
                  <a:lnTo>
                    <a:pt x="6" y="180"/>
                  </a:lnTo>
                  <a:lnTo>
                    <a:pt x="0" y="19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Arc 115"/>
            <p:cNvSpPr>
              <a:spLocks/>
            </p:cNvSpPr>
            <p:nvPr/>
          </p:nvSpPr>
          <p:spPr bwMode="auto">
            <a:xfrm rot="540000">
              <a:off x="5230797" y="2689696"/>
              <a:ext cx="383514" cy="3460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 Box 116"/>
            <p:cNvSpPr txBox="1">
              <a:spLocks noChangeArrowheads="1"/>
            </p:cNvSpPr>
            <p:nvPr/>
          </p:nvSpPr>
          <p:spPr bwMode="auto">
            <a:xfrm>
              <a:off x="6766959" y="1873506"/>
              <a:ext cx="3552842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包层（低折射率的媒体）</a:t>
              </a:r>
            </a:p>
          </p:txBody>
        </p:sp>
        <p:sp>
          <p:nvSpPr>
            <p:cNvPr id="30" name="Line 117"/>
            <p:cNvSpPr>
              <a:spLocks noChangeShapeType="1"/>
            </p:cNvSpPr>
            <p:nvPr/>
          </p:nvSpPr>
          <p:spPr bwMode="auto">
            <a:xfrm flipH="1">
              <a:off x="6082090" y="3820992"/>
              <a:ext cx="835821" cy="34830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 Box 118"/>
            <p:cNvSpPr txBox="1">
              <a:spLocks noChangeArrowheads="1"/>
            </p:cNvSpPr>
            <p:nvPr/>
          </p:nvSpPr>
          <p:spPr bwMode="auto">
            <a:xfrm>
              <a:off x="6762632" y="3565304"/>
              <a:ext cx="355284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包层（低折射率的媒体）</a:t>
              </a:r>
            </a:p>
          </p:txBody>
        </p:sp>
        <p:sp>
          <p:nvSpPr>
            <p:cNvPr id="32" name="Text Box 119"/>
            <p:cNvSpPr txBox="1">
              <a:spLocks noChangeArrowheads="1"/>
            </p:cNvSpPr>
            <p:nvPr/>
          </p:nvSpPr>
          <p:spPr bwMode="auto">
            <a:xfrm>
              <a:off x="6762632" y="2748698"/>
              <a:ext cx="3475453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纤芯（高折射率的媒体）            </a:t>
              </a:r>
            </a:p>
          </p:txBody>
        </p:sp>
        <p:sp>
          <p:nvSpPr>
            <p:cNvPr id="33" name="AutoShape 120"/>
            <p:cNvSpPr>
              <a:spLocks noChangeArrowheads="1"/>
            </p:cNvSpPr>
            <p:nvPr/>
          </p:nvSpPr>
          <p:spPr bwMode="auto">
            <a:xfrm rot="5400000">
              <a:off x="541256" y="2682089"/>
              <a:ext cx="1885950" cy="1415389"/>
            </a:xfrm>
            <a:prstGeom prst="can">
              <a:avLst>
                <a:gd name="adj" fmla="val 29815"/>
              </a:avLst>
            </a:prstGeom>
            <a:gradFill rotWithShape="1">
              <a:gsLst>
                <a:gs pos="0">
                  <a:srgbClr val="66FFFF">
                    <a:gamma/>
                    <a:shade val="46275"/>
                    <a:invGamma/>
                  </a:srgbClr>
                </a:gs>
                <a:gs pos="50000">
                  <a:srgbClr val="66FFFF"/>
                </a:gs>
                <a:gs pos="100000">
                  <a:srgbClr val="66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AutoShape 121"/>
            <p:cNvSpPr>
              <a:spLocks noChangeArrowheads="1"/>
            </p:cNvSpPr>
            <p:nvPr/>
          </p:nvSpPr>
          <p:spPr bwMode="auto">
            <a:xfrm rot="5400000">
              <a:off x="1828784" y="3062493"/>
              <a:ext cx="901700" cy="708554"/>
            </a:xfrm>
            <a:prstGeom prst="can">
              <a:avLst>
                <a:gd name="adj" fmla="val 27343"/>
              </a:avLst>
            </a:prstGeom>
            <a:solidFill>
              <a:srgbClr val="FFFFFF"/>
            </a:soli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122"/>
            <p:cNvSpPr txBox="1">
              <a:spLocks noChangeArrowheads="1"/>
            </p:cNvSpPr>
            <p:nvPr/>
          </p:nvSpPr>
          <p:spPr bwMode="auto">
            <a:xfrm>
              <a:off x="-387650" y="2465081"/>
              <a:ext cx="85276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</a:t>
              </a:r>
            </a:p>
          </p:txBody>
        </p:sp>
        <p:sp>
          <p:nvSpPr>
            <p:cNvPr id="36" name="Line 123"/>
            <p:cNvSpPr>
              <a:spLocks noChangeShapeType="1"/>
            </p:cNvSpPr>
            <p:nvPr/>
          </p:nvSpPr>
          <p:spPr bwMode="auto">
            <a:xfrm>
              <a:off x="362941" y="2720651"/>
              <a:ext cx="1209859" cy="11907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24"/>
            <p:cNvSpPr txBox="1">
              <a:spLocks noChangeArrowheads="1"/>
            </p:cNvSpPr>
            <p:nvPr/>
          </p:nvSpPr>
          <p:spPr bwMode="auto">
            <a:xfrm>
              <a:off x="2048516" y="1857846"/>
              <a:ext cx="1002640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</a:t>
              </a:r>
            </a:p>
          </p:txBody>
        </p:sp>
        <p:sp>
          <p:nvSpPr>
            <p:cNvPr id="38" name="Line 125"/>
            <p:cNvSpPr>
              <a:spLocks noChangeShapeType="1"/>
            </p:cNvSpPr>
            <p:nvPr/>
          </p:nvSpPr>
          <p:spPr bwMode="auto">
            <a:xfrm flipH="1">
              <a:off x="2186765" y="2295996"/>
              <a:ext cx="270008" cy="87471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96"/>
            <p:cNvSpPr>
              <a:spLocks noChangeShapeType="1"/>
            </p:cNvSpPr>
            <p:nvPr/>
          </p:nvSpPr>
          <p:spPr bwMode="auto">
            <a:xfrm flipV="1">
              <a:off x="3815409" y="2596034"/>
              <a:ext cx="428228" cy="3651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8" name="对角圆角矩形 47"/>
          <p:cNvSpPr/>
          <p:nvPr/>
        </p:nvSpPr>
        <p:spPr>
          <a:xfrm>
            <a:off x="556963" y="3152502"/>
            <a:ext cx="8048776" cy="1245324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31519" y="3241826"/>
            <a:ext cx="77998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光纤通常由非常透明的石英玻璃拉成细丝，主要由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纤芯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包层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构成双层通信圆柱体。当光线从高折射率的媒体射向低折射率的媒体时，其折射角将大于入射角。如果入射角足够大，就会出现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全反射，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光也就沿着光纤传输下去。</a:t>
            </a:r>
          </a:p>
        </p:txBody>
      </p:sp>
      <p:sp>
        <p:nvSpPr>
          <p:cNvPr id="50" name="矩形 49"/>
          <p:cNvSpPr/>
          <p:nvPr/>
        </p:nvSpPr>
        <p:spPr>
          <a:xfrm>
            <a:off x="659940" y="1193478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光线在光纤中的折射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136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51" name="圆角矩形 50"/>
          <p:cNvSpPr/>
          <p:nvPr/>
        </p:nvSpPr>
        <p:spPr>
          <a:xfrm>
            <a:off x="556963" y="1098584"/>
            <a:ext cx="8048776" cy="198424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6082332" y="1324111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光波在纤芯中的传播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1081518" y="1301854"/>
            <a:ext cx="7086690" cy="1522349"/>
            <a:chOff x="1299015" y="2482915"/>
            <a:chExt cx="7086690" cy="1522349"/>
          </a:xfrm>
        </p:grpSpPr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2884091" y="3170239"/>
              <a:ext cx="5298678" cy="24447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7" name="Rectangle 4"/>
            <p:cNvSpPr>
              <a:spLocks noChangeArrowheads="1"/>
            </p:cNvSpPr>
            <p:nvPr/>
          </p:nvSpPr>
          <p:spPr bwMode="auto">
            <a:xfrm>
              <a:off x="2884091" y="3414713"/>
              <a:ext cx="5298678" cy="3444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/>
          </p:nvSpPr>
          <p:spPr bwMode="auto">
            <a:xfrm>
              <a:off x="2884091" y="3759201"/>
              <a:ext cx="5298678" cy="246063"/>
            </a:xfrm>
            <a:prstGeom prst="rect">
              <a:avLst/>
            </a:prstGeom>
            <a:solidFill>
              <a:srgbClr val="00FFCC"/>
            </a:solidFill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9" name="AutoShape 6"/>
            <p:cNvSpPr>
              <a:spLocks noChangeArrowheads="1"/>
            </p:cNvSpPr>
            <p:nvPr/>
          </p:nvSpPr>
          <p:spPr bwMode="auto">
            <a:xfrm rot="5400000">
              <a:off x="1524133" y="3116528"/>
              <a:ext cx="835025" cy="942446"/>
            </a:xfrm>
            <a:prstGeom prst="can">
              <a:avLst>
                <a:gd name="adj" fmla="val 26046"/>
              </a:avLst>
            </a:prstGeom>
            <a:gradFill rotWithShape="1">
              <a:gsLst>
                <a:gs pos="0">
                  <a:schemeClr val="accent5">
                    <a:lumMod val="50000"/>
                  </a:schemeClr>
                </a:gs>
                <a:gs pos="50000">
                  <a:srgbClr val="00FFCC"/>
                </a:gs>
                <a:gs pos="100000">
                  <a:schemeClr val="accent5">
                    <a:lumMod val="50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0" name="AutoShape 7"/>
            <p:cNvSpPr>
              <a:spLocks noChangeArrowheads="1"/>
            </p:cNvSpPr>
            <p:nvPr/>
          </p:nvSpPr>
          <p:spPr bwMode="auto">
            <a:xfrm rot="5400000">
              <a:off x="2299098" y="3351345"/>
              <a:ext cx="344487" cy="471223"/>
            </a:xfrm>
            <a:prstGeom prst="can">
              <a:avLst>
                <a:gd name="adj" fmla="val 2071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grpSp>
          <p:nvGrpSpPr>
            <p:cNvPr id="61" name="Group 8"/>
            <p:cNvGrpSpPr>
              <a:grpSpLocks/>
            </p:cNvGrpSpPr>
            <p:nvPr/>
          </p:nvGrpSpPr>
          <p:grpSpPr bwMode="auto">
            <a:xfrm>
              <a:off x="2884091" y="3170239"/>
              <a:ext cx="5298678" cy="835025"/>
              <a:chOff x="912" y="912"/>
              <a:chExt cx="4608" cy="816"/>
            </a:xfrm>
          </p:grpSpPr>
          <p:sp>
            <p:nvSpPr>
              <p:cNvPr id="68" name="Line 9"/>
              <p:cNvSpPr>
                <a:spLocks noChangeShapeType="1"/>
              </p:cNvSpPr>
              <p:nvPr/>
            </p:nvSpPr>
            <p:spPr bwMode="auto">
              <a:xfrm>
                <a:off x="912" y="91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69" name="Line 10"/>
              <p:cNvSpPr>
                <a:spLocks noChangeShapeType="1"/>
              </p:cNvSpPr>
              <p:nvPr/>
            </p:nvSpPr>
            <p:spPr bwMode="auto">
              <a:xfrm>
                <a:off x="912" y="115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0" name="Line 11"/>
              <p:cNvSpPr>
                <a:spLocks noChangeShapeType="1"/>
              </p:cNvSpPr>
              <p:nvPr/>
            </p:nvSpPr>
            <p:spPr bwMode="auto">
              <a:xfrm>
                <a:off x="912" y="1488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1" name="Line 12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4608" cy="0"/>
              </a:xfrm>
              <a:prstGeom prst="line">
                <a:avLst/>
              </a:prstGeom>
              <a:noFill/>
              <a:ln w="127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</p:grpSp>
        <p:sp>
          <p:nvSpPr>
            <p:cNvPr id="62" name="Line 13"/>
            <p:cNvSpPr>
              <a:spLocks noChangeShapeType="1"/>
            </p:cNvSpPr>
            <p:nvPr/>
          </p:nvSpPr>
          <p:spPr bwMode="auto">
            <a:xfrm>
              <a:off x="2777465" y="3584576"/>
              <a:ext cx="5608240" cy="317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3" name="Text Box 14"/>
            <p:cNvSpPr txBox="1">
              <a:spLocks noChangeArrowheads="1"/>
            </p:cNvSpPr>
            <p:nvPr/>
          </p:nvSpPr>
          <p:spPr bwMode="auto">
            <a:xfrm>
              <a:off x="2217733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高折射率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64" name="Text Box 15"/>
            <p:cNvSpPr txBox="1">
              <a:spLocks noChangeArrowheads="1"/>
            </p:cNvSpPr>
            <p:nvPr/>
          </p:nvSpPr>
          <p:spPr bwMode="auto">
            <a:xfrm>
              <a:off x="1299015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低折射率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65" name="Line 16"/>
            <p:cNvSpPr>
              <a:spLocks noChangeShapeType="1"/>
            </p:cNvSpPr>
            <p:nvPr/>
          </p:nvSpPr>
          <p:spPr bwMode="auto">
            <a:xfrm flipH="1">
              <a:off x="2529814" y="3006135"/>
              <a:ext cx="139324" cy="40857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1730971" y="3006134"/>
              <a:ext cx="0" cy="16410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</p:grpSp>
      <p:sp>
        <p:nvSpPr>
          <p:cNvPr id="72" name="Freeform 19"/>
          <p:cNvSpPr>
            <a:spLocks/>
          </p:cNvSpPr>
          <p:nvPr/>
        </p:nvSpPr>
        <p:spPr bwMode="auto">
          <a:xfrm>
            <a:off x="2695830" y="2234774"/>
            <a:ext cx="5276321" cy="343365"/>
          </a:xfrm>
          <a:custGeom>
            <a:avLst/>
            <a:gdLst>
              <a:gd name="T0" fmla="*/ 0 w 4302"/>
              <a:gd name="T1" fmla="*/ 108 h 336"/>
              <a:gd name="T2" fmla="*/ 384 w 4302"/>
              <a:gd name="T3" fmla="*/ 0 h 336"/>
              <a:gd name="T4" fmla="*/ 1560 w 4302"/>
              <a:gd name="T5" fmla="*/ 336 h 336"/>
              <a:gd name="T6" fmla="*/ 2742 w 4302"/>
              <a:gd name="T7" fmla="*/ 0 h 336"/>
              <a:gd name="T8" fmla="*/ 3918 w 4302"/>
              <a:gd name="T9" fmla="*/ 330 h 336"/>
              <a:gd name="T10" fmla="*/ 4302 w 4302"/>
              <a:gd name="T11" fmla="*/ 204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02" h="336">
                <a:moveTo>
                  <a:pt x="0" y="108"/>
                </a:moveTo>
                <a:lnTo>
                  <a:pt x="384" y="0"/>
                </a:lnTo>
                <a:lnTo>
                  <a:pt x="1560" y="336"/>
                </a:lnTo>
                <a:lnTo>
                  <a:pt x="2742" y="0"/>
                </a:lnTo>
                <a:lnTo>
                  <a:pt x="3918" y="330"/>
                </a:lnTo>
                <a:lnTo>
                  <a:pt x="4302" y="204"/>
                </a:lnTo>
              </a:path>
            </a:pathLst>
          </a:custGeom>
          <a:noFill/>
          <a:ln w="57150" cmpd="sng">
            <a:solidFill>
              <a:srgbClr val="0000FF"/>
            </a:solidFill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sp>
        <p:nvSpPr>
          <p:cNvPr id="73" name="Text Box 18"/>
          <p:cNvSpPr txBox="1">
            <a:spLocks noChangeArrowheads="1"/>
          </p:cNvSpPr>
          <p:nvPr/>
        </p:nvSpPr>
        <p:spPr bwMode="auto">
          <a:xfrm>
            <a:off x="2018233" y="3153078"/>
            <a:ext cx="4878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光线在纤芯中传输的方式是不断地</a:t>
            </a:r>
            <a:r>
              <a:rPr kumimoji="1"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全反射</a:t>
            </a:r>
          </a:p>
        </p:txBody>
      </p:sp>
    </p:spTree>
    <p:extLst>
      <p:ext uri="{BB962C8B-B14F-4D97-AF65-F5344CB8AC3E}">
        <p14:creationId xmlns:p14="http://schemas.microsoft.com/office/powerpoint/2010/main" val="106562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多模光纤 </a:t>
            </a:r>
          </a:p>
          <a:p>
            <a:pPr lvl="1"/>
            <a:r>
              <a:rPr lang="zh-CN" altLang="en-US" dirty="0"/>
              <a:t>可以存在</a:t>
            </a:r>
            <a:r>
              <a:rPr lang="zh-CN" altLang="en-US" dirty="0">
                <a:solidFill>
                  <a:srgbClr val="0000FF"/>
                </a:solidFill>
              </a:rPr>
              <a:t>多条</a:t>
            </a:r>
            <a:r>
              <a:rPr lang="zh-CN" altLang="en-US" dirty="0"/>
              <a:t>不同角度入射的</a:t>
            </a:r>
            <a:r>
              <a:rPr lang="zh-CN" altLang="en-US" dirty="0">
                <a:solidFill>
                  <a:srgbClr val="0000FF"/>
                </a:solidFill>
              </a:rPr>
              <a:t>光线</a:t>
            </a:r>
            <a:r>
              <a:rPr lang="zh-CN" altLang="en-US" dirty="0"/>
              <a:t>在一条光纤中传输。</a:t>
            </a:r>
            <a:endParaRPr lang="en-US" altLang="zh-CN" dirty="0"/>
          </a:p>
          <a:p>
            <a:pPr lvl="1"/>
            <a:r>
              <a:rPr lang="zh-CN" altLang="en-US" dirty="0"/>
              <a:t>光脉冲在多模光纤中传输时会逐渐展宽，造成失真，只适合于近距离传输。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单模光纤</a:t>
            </a:r>
          </a:p>
          <a:p>
            <a:pPr lvl="1"/>
            <a:r>
              <a:rPr lang="zh-CN" altLang="en-US" dirty="0"/>
              <a:t>其直径减小到只有一个光的波长（几个微米），可使光线一直向前传播，而</a:t>
            </a:r>
            <a:r>
              <a:rPr lang="zh-CN" altLang="en-US" dirty="0">
                <a:solidFill>
                  <a:srgbClr val="0000FF"/>
                </a:solidFill>
              </a:rPr>
              <a:t>不会产生多次反射。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制造成本较高，但衰耗较小。</a:t>
            </a:r>
            <a:endParaRPr lang="en-US" altLang="zh-CN" dirty="0"/>
          </a:p>
          <a:p>
            <a:pPr lvl="1"/>
            <a:r>
              <a:rPr lang="zh-CN" altLang="en-US" dirty="0"/>
              <a:t>光源要使用昂贵的半导体激光器，不能使用较便宜的发光二极管。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</p:spTree>
    <p:extLst>
      <p:ext uri="{BB962C8B-B14F-4D97-AF65-F5344CB8AC3E}">
        <p14:creationId xmlns:p14="http://schemas.microsoft.com/office/powerpoint/2010/main" val="378856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67665"/>
            <a:ext cx="8048776" cy="291214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1"/>
          <p:cNvSpPr>
            <a:spLocks noChangeArrowheads="1"/>
          </p:cNvSpPr>
          <p:nvPr/>
        </p:nvSpPr>
        <p:spPr bwMode="auto">
          <a:xfrm>
            <a:off x="2277820" y="1673073"/>
            <a:ext cx="4648822" cy="5602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31"/>
          <p:cNvSpPr>
            <a:spLocks noChangeArrowheads="1"/>
          </p:cNvSpPr>
          <p:nvPr/>
        </p:nvSpPr>
        <p:spPr bwMode="auto">
          <a:xfrm>
            <a:off x="2264907" y="1566779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32"/>
          <p:cNvSpPr>
            <a:spLocks noChangeArrowheads="1"/>
          </p:cNvSpPr>
          <p:nvPr/>
        </p:nvSpPr>
        <p:spPr bwMode="auto">
          <a:xfrm>
            <a:off x="2275668" y="2137946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2275668" y="1565786"/>
            <a:ext cx="4648822" cy="810561"/>
            <a:chOff x="912" y="912"/>
            <a:chExt cx="4608" cy="816"/>
          </a:xfrm>
        </p:grpSpPr>
        <p:sp>
          <p:nvSpPr>
            <p:cNvPr id="9" name="Line 34"/>
            <p:cNvSpPr>
              <a:spLocks noChangeShapeType="1"/>
            </p:cNvSpPr>
            <p:nvPr/>
          </p:nvSpPr>
          <p:spPr bwMode="auto">
            <a:xfrm>
              <a:off x="912" y="91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35"/>
            <p:cNvSpPr>
              <a:spLocks noChangeShapeType="1"/>
            </p:cNvSpPr>
            <p:nvPr/>
          </p:nvSpPr>
          <p:spPr bwMode="auto">
            <a:xfrm>
              <a:off x="912" y="115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Line 36"/>
            <p:cNvSpPr>
              <a:spLocks noChangeShapeType="1"/>
            </p:cNvSpPr>
            <p:nvPr/>
          </p:nvSpPr>
          <p:spPr bwMode="auto">
            <a:xfrm>
              <a:off x="912" y="148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37"/>
            <p:cNvSpPr>
              <a:spLocks noChangeShapeType="1"/>
            </p:cNvSpPr>
            <p:nvPr/>
          </p:nvSpPr>
          <p:spPr bwMode="auto">
            <a:xfrm>
              <a:off x="912" y="172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3" name="Line 38"/>
          <p:cNvSpPr>
            <a:spLocks noChangeShapeType="1"/>
          </p:cNvSpPr>
          <p:nvPr/>
        </p:nvSpPr>
        <p:spPr bwMode="auto">
          <a:xfrm>
            <a:off x="2183122" y="1968086"/>
            <a:ext cx="4816697" cy="298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1476116" y="1339310"/>
            <a:ext cx="6280213" cy="894005"/>
            <a:chOff x="15" y="1206"/>
            <a:chExt cx="5836" cy="900"/>
          </a:xfrm>
        </p:grpSpPr>
        <p:grpSp>
          <p:nvGrpSpPr>
            <p:cNvPr id="15" name="Group 40"/>
            <p:cNvGrpSpPr>
              <a:grpSpLocks/>
            </p:cNvGrpSpPr>
            <p:nvPr/>
          </p:nvGrpSpPr>
          <p:grpSpPr bwMode="auto">
            <a:xfrm>
              <a:off x="15" y="1232"/>
              <a:ext cx="839" cy="874"/>
              <a:chOff x="15" y="1232"/>
              <a:chExt cx="839" cy="874"/>
            </a:xfrm>
          </p:grpSpPr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177" y="1578"/>
                <a:ext cx="480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Line 42"/>
              <p:cNvSpPr>
                <a:spLocks noChangeShapeType="1"/>
              </p:cNvSpPr>
              <p:nvPr/>
            </p:nvSpPr>
            <p:spPr bwMode="auto">
              <a:xfrm>
                <a:off x="417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Freeform 43"/>
              <p:cNvSpPr>
                <a:spLocks/>
              </p:cNvSpPr>
              <p:nvPr/>
            </p:nvSpPr>
            <p:spPr bwMode="auto">
              <a:xfrm>
                <a:off x="177" y="1580"/>
                <a:ext cx="480" cy="526"/>
              </a:xfrm>
              <a:custGeom>
                <a:avLst/>
                <a:gdLst>
                  <a:gd name="T0" fmla="*/ 0 w 672"/>
                  <a:gd name="T1" fmla="*/ 670 h 670"/>
                  <a:gd name="T2" fmla="*/ 126 w 672"/>
                  <a:gd name="T3" fmla="*/ 637 h 670"/>
                  <a:gd name="T4" fmla="*/ 192 w 672"/>
                  <a:gd name="T5" fmla="*/ 526 h 670"/>
                  <a:gd name="T6" fmla="*/ 240 w 672"/>
                  <a:gd name="T7" fmla="*/ 334 h 670"/>
                  <a:gd name="T8" fmla="*/ 279 w 672"/>
                  <a:gd name="T9" fmla="*/ 139 h 670"/>
                  <a:gd name="T10" fmla="*/ 303 w 672"/>
                  <a:gd name="T11" fmla="*/ 40 h 670"/>
                  <a:gd name="T12" fmla="*/ 339 w 672"/>
                  <a:gd name="T13" fmla="*/ 1 h 670"/>
                  <a:gd name="T14" fmla="*/ 369 w 672"/>
                  <a:gd name="T15" fmla="*/ 34 h 670"/>
                  <a:gd name="T16" fmla="*/ 396 w 672"/>
                  <a:gd name="T17" fmla="*/ 136 h 670"/>
                  <a:gd name="T18" fmla="*/ 432 w 672"/>
                  <a:gd name="T19" fmla="*/ 337 h 670"/>
                  <a:gd name="T20" fmla="*/ 456 w 672"/>
                  <a:gd name="T21" fmla="*/ 457 h 670"/>
                  <a:gd name="T22" fmla="*/ 504 w 672"/>
                  <a:gd name="T23" fmla="*/ 595 h 670"/>
                  <a:gd name="T24" fmla="*/ 573 w 672"/>
                  <a:gd name="T25" fmla="*/ 643 h 670"/>
                  <a:gd name="T26" fmla="*/ 612 w 672"/>
                  <a:gd name="T27" fmla="*/ 655 h 670"/>
                  <a:gd name="T28" fmla="*/ 672 w 672"/>
                  <a:gd name="T29" fmla="*/ 670 h 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2" h="670">
                    <a:moveTo>
                      <a:pt x="0" y="670"/>
                    </a:moveTo>
                    <a:cubicBezTo>
                      <a:pt x="21" y="664"/>
                      <a:pt x="94" y="661"/>
                      <a:pt x="126" y="637"/>
                    </a:cubicBezTo>
                    <a:cubicBezTo>
                      <a:pt x="158" y="613"/>
                      <a:pt x="173" y="576"/>
                      <a:pt x="192" y="526"/>
                    </a:cubicBezTo>
                    <a:cubicBezTo>
                      <a:pt x="211" y="476"/>
                      <a:pt x="226" y="398"/>
                      <a:pt x="240" y="334"/>
                    </a:cubicBezTo>
                    <a:cubicBezTo>
                      <a:pt x="254" y="270"/>
                      <a:pt x="269" y="188"/>
                      <a:pt x="279" y="139"/>
                    </a:cubicBezTo>
                    <a:cubicBezTo>
                      <a:pt x="289" y="90"/>
                      <a:pt x="293" y="63"/>
                      <a:pt x="303" y="40"/>
                    </a:cubicBezTo>
                    <a:cubicBezTo>
                      <a:pt x="313" y="17"/>
                      <a:pt x="328" y="2"/>
                      <a:pt x="339" y="1"/>
                    </a:cubicBezTo>
                    <a:cubicBezTo>
                      <a:pt x="350" y="0"/>
                      <a:pt x="360" y="12"/>
                      <a:pt x="369" y="34"/>
                    </a:cubicBezTo>
                    <a:cubicBezTo>
                      <a:pt x="378" y="56"/>
                      <a:pt x="386" y="86"/>
                      <a:pt x="396" y="136"/>
                    </a:cubicBezTo>
                    <a:cubicBezTo>
                      <a:pt x="406" y="186"/>
                      <a:pt x="422" y="284"/>
                      <a:pt x="432" y="337"/>
                    </a:cubicBezTo>
                    <a:cubicBezTo>
                      <a:pt x="442" y="390"/>
                      <a:pt x="444" y="414"/>
                      <a:pt x="456" y="457"/>
                    </a:cubicBezTo>
                    <a:cubicBezTo>
                      <a:pt x="468" y="500"/>
                      <a:pt x="485" y="564"/>
                      <a:pt x="504" y="595"/>
                    </a:cubicBezTo>
                    <a:cubicBezTo>
                      <a:pt x="523" y="626"/>
                      <a:pt x="555" y="633"/>
                      <a:pt x="573" y="643"/>
                    </a:cubicBezTo>
                    <a:cubicBezTo>
                      <a:pt x="591" y="653"/>
                      <a:pt x="596" y="651"/>
                      <a:pt x="612" y="655"/>
                    </a:cubicBezTo>
                    <a:cubicBezTo>
                      <a:pt x="628" y="659"/>
                      <a:pt x="660" y="667"/>
                      <a:pt x="672" y="670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Text Box 44"/>
              <p:cNvSpPr txBox="1">
                <a:spLocks noChangeArrowheads="1"/>
              </p:cNvSpPr>
              <p:nvPr/>
            </p:nvSpPr>
            <p:spPr bwMode="auto">
              <a:xfrm>
                <a:off x="15" y="1232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输入脉冲</a:t>
                </a:r>
              </a:p>
            </p:txBody>
          </p:sp>
        </p:grpSp>
        <p:grpSp>
          <p:nvGrpSpPr>
            <p:cNvPr id="16" name="Group 45"/>
            <p:cNvGrpSpPr>
              <a:grpSpLocks/>
            </p:cNvGrpSpPr>
            <p:nvPr/>
          </p:nvGrpSpPr>
          <p:grpSpPr bwMode="auto">
            <a:xfrm>
              <a:off x="5012" y="1206"/>
              <a:ext cx="839" cy="900"/>
              <a:chOff x="5012" y="1206"/>
              <a:chExt cx="839" cy="900"/>
            </a:xfrm>
          </p:grpSpPr>
          <p:sp>
            <p:nvSpPr>
              <p:cNvPr id="17" name="Rectangle 46"/>
              <p:cNvSpPr>
                <a:spLocks noChangeArrowheads="1"/>
              </p:cNvSpPr>
              <p:nvPr/>
            </p:nvSpPr>
            <p:spPr bwMode="auto">
              <a:xfrm>
                <a:off x="5110" y="1578"/>
                <a:ext cx="476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47"/>
              <p:cNvSpPr>
                <a:spLocks noChangeShapeType="1"/>
              </p:cNvSpPr>
              <p:nvPr/>
            </p:nvSpPr>
            <p:spPr bwMode="auto">
              <a:xfrm>
                <a:off x="5348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Freeform 48"/>
              <p:cNvSpPr>
                <a:spLocks/>
              </p:cNvSpPr>
              <p:nvPr/>
            </p:nvSpPr>
            <p:spPr bwMode="auto">
              <a:xfrm>
                <a:off x="5108" y="1726"/>
                <a:ext cx="480" cy="222"/>
              </a:xfrm>
              <a:custGeom>
                <a:avLst/>
                <a:gdLst>
                  <a:gd name="T0" fmla="*/ 0 w 678"/>
                  <a:gd name="T1" fmla="*/ 280 h 283"/>
                  <a:gd name="T2" fmla="*/ 87 w 678"/>
                  <a:gd name="T3" fmla="*/ 244 h 283"/>
                  <a:gd name="T4" fmla="*/ 150 w 678"/>
                  <a:gd name="T5" fmla="*/ 193 h 283"/>
                  <a:gd name="T6" fmla="*/ 201 w 678"/>
                  <a:gd name="T7" fmla="*/ 130 h 283"/>
                  <a:gd name="T8" fmla="*/ 258 w 678"/>
                  <a:gd name="T9" fmla="*/ 43 h 283"/>
                  <a:gd name="T10" fmla="*/ 339 w 678"/>
                  <a:gd name="T11" fmla="*/ 1 h 283"/>
                  <a:gd name="T12" fmla="*/ 426 w 678"/>
                  <a:gd name="T13" fmla="*/ 37 h 283"/>
                  <a:gd name="T14" fmla="*/ 492 w 678"/>
                  <a:gd name="T15" fmla="*/ 139 h 283"/>
                  <a:gd name="T16" fmla="*/ 528 w 678"/>
                  <a:gd name="T17" fmla="*/ 190 h 283"/>
                  <a:gd name="T18" fmla="*/ 591 w 678"/>
                  <a:gd name="T19" fmla="*/ 238 h 283"/>
                  <a:gd name="T20" fmla="*/ 678 w 678"/>
                  <a:gd name="T21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8" h="283">
                    <a:moveTo>
                      <a:pt x="0" y="280"/>
                    </a:moveTo>
                    <a:cubicBezTo>
                      <a:pt x="14" y="274"/>
                      <a:pt x="62" y="258"/>
                      <a:pt x="87" y="244"/>
                    </a:cubicBezTo>
                    <a:cubicBezTo>
                      <a:pt x="112" y="230"/>
                      <a:pt x="131" y="212"/>
                      <a:pt x="150" y="193"/>
                    </a:cubicBezTo>
                    <a:cubicBezTo>
                      <a:pt x="169" y="174"/>
                      <a:pt x="183" y="155"/>
                      <a:pt x="201" y="130"/>
                    </a:cubicBezTo>
                    <a:cubicBezTo>
                      <a:pt x="219" y="105"/>
                      <a:pt x="235" y="64"/>
                      <a:pt x="258" y="43"/>
                    </a:cubicBezTo>
                    <a:cubicBezTo>
                      <a:pt x="281" y="22"/>
                      <a:pt x="311" y="2"/>
                      <a:pt x="339" y="1"/>
                    </a:cubicBezTo>
                    <a:cubicBezTo>
                      <a:pt x="367" y="0"/>
                      <a:pt x="401" y="14"/>
                      <a:pt x="426" y="37"/>
                    </a:cubicBezTo>
                    <a:cubicBezTo>
                      <a:pt x="451" y="60"/>
                      <a:pt x="475" y="113"/>
                      <a:pt x="492" y="139"/>
                    </a:cubicBezTo>
                    <a:cubicBezTo>
                      <a:pt x="509" y="165"/>
                      <a:pt x="512" y="174"/>
                      <a:pt x="528" y="190"/>
                    </a:cubicBezTo>
                    <a:cubicBezTo>
                      <a:pt x="544" y="206"/>
                      <a:pt x="566" y="222"/>
                      <a:pt x="591" y="238"/>
                    </a:cubicBezTo>
                    <a:cubicBezTo>
                      <a:pt x="616" y="254"/>
                      <a:pt x="660" y="274"/>
                      <a:pt x="678" y="283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Text Box 49"/>
              <p:cNvSpPr txBox="1">
                <a:spLocks noChangeArrowheads="1"/>
              </p:cNvSpPr>
              <p:nvPr/>
            </p:nvSpPr>
            <p:spPr bwMode="auto">
              <a:xfrm>
                <a:off x="5012" y="1206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输出脉冲</a:t>
                </a: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2264907" y="1799219"/>
            <a:ext cx="4657432" cy="333760"/>
            <a:chOff x="2264907" y="1874555"/>
            <a:chExt cx="4657432" cy="333760"/>
          </a:xfrm>
        </p:grpSpPr>
        <p:sp>
          <p:nvSpPr>
            <p:cNvPr id="26" name="Freeform 30"/>
            <p:cNvSpPr>
              <a:spLocks/>
            </p:cNvSpPr>
            <p:nvPr/>
          </p:nvSpPr>
          <p:spPr bwMode="auto">
            <a:xfrm>
              <a:off x="2338083" y="1874555"/>
              <a:ext cx="4584256" cy="333760"/>
            </a:xfrm>
            <a:custGeom>
              <a:avLst/>
              <a:gdLst>
                <a:gd name="T0" fmla="*/ 0 w 4260"/>
                <a:gd name="T1" fmla="*/ 150 h 336"/>
                <a:gd name="T2" fmla="*/ 666 w 4260"/>
                <a:gd name="T3" fmla="*/ 0 h 336"/>
                <a:gd name="T4" fmla="*/ 2310 w 4260"/>
                <a:gd name="T5" fmla="*/ 336 h 336"/>
                <a:gd name="T6" fmla="*/ 3936 w 4260"/>
                <a:gd name="T7" fmla="*/ 0 h 336"/>
                <a:gd name="T8" fmla="*/ 4260 w 4260"/>
                <a:gd name="T9" fmla="*/ 7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0" h="336">
                  <a:moveTo>
                    <a:pt x="0" y="150"/>
                  </a:moveTo>
                  <a:lnTo>
                    <a:pt x="666" y="0"/>
                  </a:lnTo>
                  <a:lnTo>
                    <a:pt x="2310" y="336"/>
                  </a:lnTo>
                  <a:lnTo>
                    <a:pt x="3936" y="0"/>
                  </a:lnTo>
                  <a:lnTo>
                    <a:pt x="4260" y="72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51"/>
            <p:cNvSpPr>
              <a:spLocks/>
            </p:cNvSpPr>
            <p:nvPr/>
          </p:nvSpPr>
          <p:spPr bwMode="auto">
            <a:xfrm>
              <a:off x="2264907" y="1874556"/>
              <a:ext cx="4644518" cy="327800"/>
            </a:xfrm>
            <a:custGeom>
              <a:avLst/>
              <a:gdLst>
                <a:gd name="T0" fmla="*/ 0 w 4316"/>
                <a:gd name="T1" fmla="*/ 128 h 330"/>
                <a:gd name="T2" fmla="*/ 434 w 4316"/>
                <a:gd name="T3" fmla="*/ 0 h 330"/>
                <a:gd name="T4" fmla="*/ 1586 w 4316"/>
                <a:gd name="T5" fmla="*/ 330 h 330"/>
                <a:gd name="T6" fmla="*/ 2738 w 4316"/>
                <a:gd name="T7" fmla="*/ 0 h 330"/>
                <a:gd name="T8" fmla="*/ 3944 w 4316"/>
                <a:gd name="T9" fmla="*/ 330 h 330"/>
                <a:gd name="T10" fmla="*/ 4316 w 4316"/>
                <a:gd name="T11" fmla="*/ 20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16" h="330">
                  <a:moveTo>
                    <a:pt x="0" y="128"/>
                  </a:moveTo>
                  <a:lnTo>
                    <a:pt x="434" y="0"/>
                  </a:lnTo>
                  <a:lnTo>
                    <a:pt x="1586" y="330"/>
                  </a:lnTo>
                  <a:lnTo>
                    <a:pt x="2738" y="0"/>
                  </a:lnTo>
                  <a:lnTo>
                    <a:pt x="3944" y="330"/>
                  </a:lnTo>
                  <a:lnTo>
                    <a:pt x="4316" y="204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4113645" y="1247000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多模光纤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476115" y="2645551"/>
            <a:ext cx="6280213" cy="921818"/>
            <a:chOff x="1476115" y="2720887"/>
            <a:chExt cx="6280213" cy="921818"/>
          </a:xfrm>
        </p:grpSpPr>
        <p:grpSp>
          <p:nvGrpSpPr>
            <p:cNvPr id="31" name="Group 2"/>
            <p:cNvGrpSpPr>
              <a:grpSpLocks/>
            </p:cNvGrpSpPr>
            <p:nvPr/>
          </p:nvGrpSpPr>
          <p:grpSpPr bwMode="auto">
            <a:xfrm>
              <a:off x="1476115" y="2720887"/>
              <a:ext cx="6280213" cy="921818"/>
              <a:chOff x="15" y="2758"/>
              <a:chExt cx="5836" cy="928"/>
            </a:xfrm>
          </p:grpSpPr>
          <p:grpSp>
            <p:nvGrpSpPr>
              <p:cNvPr id="33" name="Group 3"/>
              <p:cNvGrpSpPr>
                <a:grpSpLocks/>
              </p:cNvGrpSpPr>
              <p:nvPr/>
            </p:nvGrpSpPr>
            <p:grpSpPr bwMode="auto">
              <a:xfrm>
                <a:off x="768" y="3158"/>
                <a:ext cx="4320" cy="528"/>
                <a:chOff x="768" y="3072"/>
                <a:chExt cx="4320" cy="528"/>
              </a:xfrm>
            </p:grpSpPr>
            <p:sp>
              <p:nvSpPr>
                <p:cNvPr id="50" name="Rectangle 4"/>
                <p:cNvSpPr>
                  <a:spLocks noChangeArrowheads="1"/>
                </p:cNvSpPr>
                <p:nvPr/>
              </p:nvSpPr>
              <p:spPr bwMode="auto">
                <a:xfrm>
                  <a:off x="768" y="3168"/>
                  <a:ext cx="4320" cy="3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51" name="Group 5"/>
                <p:cNvGrpSpPr>
                  <a:grpSpLocks/>
                </p:cNvGrpSpPr>
                <p:nvPr/>
              </p:nvGrpSpPr>
              <p:grpSpPr bwMode="auto">
                <a:xfrm>
                  <a:off x="768" y="3072"/>
                  <a:ext cx="4320" cy="528"/>
                  <a:chOff x="768" y="3072"/>
                  <a:chExt cx="4320" cy="528"/>
                </a:xfrm>
              </p:grpSpPr>
              <p:sp>
                <p:nvSpPr>
                  <p:cNvPr id="5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072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410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4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07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26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6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41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7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60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</p:grpSp>
          <p:grpSp>
            <p:nvGrpSpPr>
              <p:cNvPr id="34" name="Group 13"/>
              <p:cNvGrpSpPr>
                <a:grpSpLocks/>
              </p:cNvGrpSpPr>
              <p:nvPr/>
            </p:nvGrpSpPr>
            <p:grpSpPr bwMode="auto">
              <a:xfrm>
                <a:off x="15" y="2758"/>
                <a:ext cx="5836" cy="900"/>
                <a:chOff x="15" y="2848"/>
                <a:chExt cx="5836" cy="900"/>
              </a:xfrm>
            </p:grpSpPr>
            <p:grpSp>
              <p:nvGrpSpPr>
                <p:cNvPr id="36" name="Group 14"/>
                <p:cNvGrpSpPr>
                  <a:grpSpLocks/>
                </p:cNvGrpSpPr>
                <p:nvPr/>
              </p:nvGrpSpPr>
              <p:grpSpPr bwMode="auto">
                <a:xfrm>
                  <a:off x="15" y="2849"/>
                  <a:ext cx="839" cy="899"/>
                  <a:chOff x="15" y="2849"/>
                  <a:chExt cx="839" cy="899"/>
                </a:xfrm>
              </p:grpSpPr>
              <p:grpSp>
                <p:nvGrpSpPr>
                  <p:cNvPr id="44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15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6" name="Group 1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8" name="Rectangle 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49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47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45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" y="2849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输入脉冲</a:t>
                    </a:r>
                  </a:p>
                </p:txBody>
              </p:sp>
            </p:grpSp>
            <p:grpSp>
              <p:nvGrpSpPr>
                <p:cNvPr id="37" name="Group 21"/>
                <p:cNvGrpSpPr>
                  <a:grpSpLocks/>
                </p:cNvGrpSpPr>
                <p:nvPr/>
              </p:nvGrpSpPr>
              <p:grpSpPr bwMode="auto">
                <a:xfrm>
                  <a:off x="5012" y="2848"/>
                  <a:ext cx="839" cy="900"/>
                  <a:chOff x="5012" y="2848"/>
                  <a:chExt cx="839" cy="900"/>
                </a:xfrm>
              </p:grpSpPr>
              <p:sp>
                <p:nvSpPr>
                  <p:cNvPr id="38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12" y="2848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输出脉冲</a:t>
                    </a:r>
                  </a:p>
                </p:txBody>
              </p:sp>
              <p:grpSp>
                <p:nvGrpSpPr>
                  <p:cNvPr id="39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514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0" name="Group 2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2" name="Rectangle 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43" name="Line 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41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</p:grpSp>
          <p:sp>
            <p:nvSpPr>
              <p:cNvPr id="35" name="Text Box 28"/>
              <p:cNvSpPr txBox="1">
                <a:spLocks noChangeArrowheads="1"/>
              </p:cNvSpPr>
              <p:nvPr/>
            </p:nvSpPr>
            <p:spPr bwMode="auto">
              <a:xfrm>
                <a:off x="2461" y="2853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单模光纤</a:t>
                </a:r>
              </a:p>
            </p:txBody>
          </p:sp>
        </p:grp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>
              <a:off x="2193884" y="3377483"/>
              <a:ext cx="4816695" cy="29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8" name="Line 50"/>
          <p:cNvSpPr>
            <a:spLocks noChangeShapeType="1"/>
          </p:cNvSpPr>
          <p:nvPr/>
        </p:nvSpPr>
        <p:spPr bwMode="auto">
          <a:xfrm flipV="1">
            <a:off x="2286430" y="3294543"/>
            <a:ext cx="4712313" cy="6954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61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3771948" cy="3172691"/>
          </a:xfrm>
        </p:spPr>
        <p:txBody>
          <a:bodyPr/>
          <a:lstStyle/>
          <a:p>
            <a:r>
              <a:rPr lang="zh-CN" altLang="en-US" dirty="0"/>
              <a:t>常用的三个波段的中心：</a:t>
            </a:r>
            <a:endParaRPr lang="en-US" altLang="zh-CN" dirty="0"/>
          </a:p>
          <a:p>
            <a:pPr lvl="1"/>
            <a:r>
              <a:rPr lang="en-US" altLang="zh-CN" dirty="0"/>
              <a:t>850 nm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1300 nm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1550 nm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所有这三个波段都具有 </a:t>
            </a:r>
            <a:r>
              <a:rPr lang="en-US" altLang="zh-CN" dirty="0"/>
              <a:t>25000~30000 GHz </a:t>
            </a:r>
            <a:r>
              <a:rPr lang="zh-CN" altLang="en-US" dirty="0"/>
              <a:t>的带宽，通信容量非常大。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光纤通信中使用的光波的波段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343012" y="1195600"/>
            <a:ext cx="4380412" cy="2727357"/>
            <a:chOff x="4343012" y="1195600"/>
            <a:chExt cx="4380412" cy="2727357"/>
          </a:xfrm>
        </p:grpSpPr>
        <p:grpSp>
          <p:nvGrpSpPr>
            <p:cNvPr id="57" name="组合 56"/>
            <p:cNvGrpSpPr/>
            <p:nvPr/>
          </p:nvGrpSpPr>
          <p:grpSpPr>
            <a:xfrm>
              <a:off x="4343012" y="1195600"/>
              <a:ext cx="4380412" cy="2727357"/>
              <a:chOff x="4432662" y="1372593"/>
              <a:chExt cx="4380412" cy="2727357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4432662" y="1372593"/>
                <a:ext cx="4380412" cy="2727357"/>
                <a:chOff x="4146095" y="1471749"/>
                <a:chExt cx="5295819" cy="2740723"/>
              </a:xfrm>
            </p:grpSpPr>
            <p:grpSp>
              <p:nvGrpSpPr>
                <p:cNvPr id="44" name="组合 43"/>
                <p:cNvGrpSpPr/>
                <p:nvPr/>
              </p:nvGrpSpPr>
              <p:grpSpPr>
                <a:xfrm>
                  <a:off x="4715688" y="1471749"/>
                  <a:ext cx="4428312" cy="2468863"/>
                  <a:chOff x="4715688" y="1471749"/>
                  <a:chExt cx="4428312" cy="2468863"/>
                </a:xfrm>
              </p:grpSpPr>
              <p:cxnSp>
                <p:nvCxnSpPr>
                  <p:cNvPr id="7" name="直接连接符 6"/>
                  <p:cNvCxnSpPr/>
                  <p:nvPr/>
                </p:nvCxnSpPr>
                <p:spPr>
                  <a:xfrm>
                    <a:off x="4720046" y="1471749"/>
                    <a:ext cx="0" cy="245581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直接连接符 8"/>
                  <p:cNvCxnSpPr/>
                  <p:nvPr/>
                </p:nvCxnSpPr>
                <p:spPr>
                  <a:xfrm>
                    <a:off x="4720046" y="3927566"/>
                    <a:ext cx="442395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连接符 17"/>
                  <p:cNvCxnSpPr/>
                  <p:nvPr/>
                </p:nvCxnSpPr>
                <p:spPr>
                  <a:xfrm>
                    <a:off x="4715688" y="32700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4715688" y="30480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/>
                  <p:nvPr/>
                </p:nvCxnSpPr>
                <p:spPr>
                  <a:xfrm>
                    <a:off x="4715688" y="23600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/>
                  <p:cNvCxnSpPr/>
                  <p:nvPr/>
                </p:nvCxnSpPr>
                <p:spPr>
                  <a:xfrm>
                    <a:off x="4715688" y="21379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连接符 25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/>
                  <p:cNvCxnSpPr/>
                  <p:nvPr/>
                </p:nvCxnSpPr>
                <p:spPr>
                  <a:xfrm>
                    <a:off x="4715688" y="1911527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/>
                  <p:cNvCxnSpPr/>
                  <p:nvPr/>
                </p:nvCxnSpPr>
                <p:spPr>
                  <a:xfrm>
                    <a:off x="4715688" y="1689460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/>
                  <p:cNvCxnSpPr/>
                  <p:nvPr/>
                </p:nvCxnSpPr>
                <p:spPr>
                  <a:xfrm>
                    <a:off x="509451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/>
                  <p:cNvCxnSpPr/>
                  <p:nvPr/>
                </p:nvCxnSpPr>
                <p:spPr>
                  <a:xfrm>
                    <a:off x="548204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/>
                  <p:cNvCxnSpPr/>
                  <p:nvPr/>
                </p:nvCxnSpPr>
                <p:spPr>
                  <a:xfrm>
                    <a:off x="585651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/>
                  <p:cNvCxnSpPr/>
                  <p:nvPr/>
                </p:nvCxnSpPr>
                <p:spPr>
                  <a:xfrm>
                    <a:off x="624404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/>
                  <p:cNvCxnSpPr/>
                  <p:nvPr/>
                </p:nvCxnSpPr>
                <p:spPr>
                  <a:xfrm>
                    <a:off x="662287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/>
                  <p:cNvCxnSpPr/>
                  <p:nvPr/>
                </p:nvCxnSpPr>
                <p:spPr>
                  <a:xfrm>
                    <a:off x="701040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/>
                  <p:cNvCxnSpPr/>
                  <p:nvPr/>
                </p:nvCxnSpPr>
                <p:spPr>
                  <a:xfrm>
                    <a:off x="738487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/>
                  <p:cNvCxnSpPr/>
                  <p:nvPr/>
                </p:nvCxnSpPr>
                <p:spPr>
                  <a:xfrm>
                    <a:off x="777240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连接符 39"/>
                  <p:cNvCxnSpPr/>
                  <p:nvPr/>
                </p:nvCxnSpPr>
                <p:spPr>
                  <a:xfrm>
                    <a:off x="8181709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/>
                  <p:cNvCxnSpPr/>
                  <p:nvPr/>
                </p:nvCxnSpPr>
                <p:spPr>
                  <a:xfrm>
                    <a:off x="855618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接连接符 41"/>
                  <p:cNvCxnSpPr/>
                  <p:nvPr/>
                </p:nvCxnSpPr>
                <p:spPr>
                  <a:xfrm>
                    <a:off x="894371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文本框 44"/>
                <p:cNvSpPr txBox="1"/>
                <p:nvPr/>
              </p:nvSpPr>
              <p:spPr>
                <a:xfrm>
                  <a:off x="4146095" y="1516996"/>
                  <a:ext cx="592182" cy="2400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2.0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1.2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1.0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/>
                    <a:t>0.2</a:t>
                  </a: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4850674" y="3887723"/>
                  <a:ext cx="4591240" cy="324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1800"/>
                    </a:lnSpc>
                  </a:pPr>
                  <a:r>
                    <a:rPr lang="en-US" altLang="zh-CN" sz="1200" b="1" dirty="0"/>
                    <a:t>0.8    0.9   1.0    1.1    1.2   1.3    1.4   1.5    1.6   1.7    1.8</a:t>
                  </a:r>
                </a:p>
              </p:txBody>
            </p:sp>
          </p:grpSp>
          <p:sp>
            <p:nvSpPr>
              <p:cNvPr id="48" name="矩形 47"/>
              <p:cNvSpPr/>
              <p:nvPr/>
            </p:nvSpPr>
            <p:spPr>
              <a:xfrm>
                <a:off x="5255302" y="1736569"/>
                <a:ext cx="246700" cy="2069999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6530575" y="1736569"/>
                <a:ext cx="563025" cy="2069999"/>
              </a:xfrm>
              <a:prstGeom prst="rect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7270353" y="1736569"/>
                <a:ext cx="661844" cy="2069999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任意多边形 51"/>
            <p:cNvSpPr/>
            <p:nvPr/>
          </p:nvSpPr>
          <p:spPr>
            <a:xfrm>
              <a:off x="4925801" y="1334258"/>
              <a:ext cx="3443155" cy="2157381"/>
            </a:xfrm>
            <a:custGeom>
              <a:avLst/>
              <a:gdLst>
                <a:gd name="connsiteX0" fmla="*/ 0 w 4162697"/>
                <a:gd name="connsiteY0" fmla="*/ 0 h 2156407"/>
                <a:gd name="connsiteX1" fmla="*/ 278675 w 4162697"/>
                <a:gd name="connsiteY1" fmla="*/ 1524000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76252 w 4162697"/>
                <a:gd name="connsiteY5" fmla="*/ 2081349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76252 w 4162697"/>
                <a:gd name="connsiteY5" fmla="*/ 2081349 h 2156407"/>
                <a:gd name="connsiteX6" fmla="*/ 1785258 w 4162697"/>
                <a:gd name="connsiteY6" fmla="*/ 1959429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61928"/>
                <a:gd name="connsiteX1" fmla="*/ 243840 w 4162697"/>
                <a:gd name="connsiteY1" fmla="*/ 1393372 h 2161928"/>
                <a:gd name="connsiteX2" fmla="*/ 714103 w 4162697"/>
                <a:gd name="connsiteY2" fmla="*/ 1358537 h 2161928"/>
                <a:gd name="connsiteX3" fmla="*/ 836024 w 4162697"/>
                <a:gd name="connsiteY3" fmla="*/ 1576251 h 2161928"/>
                <a:gd name="connsiteX4" fmla="*/ 1480457 w 4162697"/>
                <a:gd name="connsiteY4" fmla="*/ 1968137 h 2161928"/>
                <a:gd name="connsiteX5" fmla="*/ 1576252 w 4162697"/>
                <a:gd name="connsiteY5" fmla="*/ 2081349 h 2161928"/>
                <a:gd name="connsiteX6" fmla="*/ 1785258 w 4162697"/>
                <a:gd name="connsiteY6" fmla="*/ 1959429 h 2161928"/>
                <a:gd name="connsiteX7" fmla="*/ 1942011 w 4162697"/>
                <a:gd name="connsiteY7" fmla="*/ 2133600 h 2161928"/>
                <a:gd name="connsiteX8" fmla="*/ 2403566 w 4162697"/>
                <a:gd name="connsiteY8" fmla="*/ 2098765 h 2161928"/>
                <a:gd name="connsiteX9" fmla="*/ 2569029 w 4162697"/>
                <a:gd name="connsiteY9" fmla="*/ 1541417 h 2161928"/>
                <a:gd name="connsiteX10" fmla="*/ 2708366 w 4162697"/>
                <a:gd name="connsiteY10" fmla="*/ 1985554 h 2161928"/>
                <a:gd name="connsiteX11" fmla="*/ 3187337 w 4162697"/>
                <a:gd name="connsiteY11" fmla="*/ 2116183 h 2161928"/>
                <a:gd name="connsiteX12" fmla="*/ 3640183 w 4162697"/>
                <a:gd name="connsiteY12" fmla="*/ 1314994 h 2161928"/>
                <a:gd name="connsiteX13" fmla="*/ 4162697 w 4162697"/>
                <a:gd name="connsiteY13" fmla="*/ 139337 h 2161928"/>
                <a:gd name="connsiteX14" fmla="*/ 4162697 w 4162697"/>
                <a:gd name="connsiteY14" fmla="*/ 139337 h 2161928"/>
                <a:gd name="connsiteX0" fmla="*/ 0 w 4162697"/>
                <a:gd name="connsiteY0" fmla="*/ 0 h 2163001"/>
                <a:gd name="connsiteX1" fmla="*/ 243840 w 4162697"/>
                <a:gd name="connsiteY1" fmla="*/ 1393372 h 2163001"/>
                <a:gd name="connsiteX2" fmla="*/ 714103 w 4162697"/>
                <a:gd name="connsiteY2" fmla="*/ 1358537 h 2163001"/>
                <a:gd name="connsiteX3" fmla="*/ 836024 w 4162697"/>
                <a:gd name="connsiteY3" fmla="*/ 1576251 h 2163001"/>
                <a:gd name="connsiteX4" fmla="*/ 1480457 w 4162697"/>
                <a:gd name="connsiteY4" fmla="*/ 1968137 h 2163001"/>
                <a:gd name="connsiteX5" fmla="*/ 1576252 w 4162697"/>
                <a:gd name="connsiteY5" fmla="*/ 2081349 h 2163001"/>
                <a:gd name="connsiteX6" fmla="*/ 1785258 w 4162697"/>
                <a:gd name="connsiteY6" fmla="*/ 1959429 h 2163001"/>
                <a:gd name="connsiteX7" fmla="*/ 1942011 w 4162697"/>
                <a:gd name="connsiteY7" fmla="*/ 2133600 h 2163001"/>
                <a:gd name="connsiteX8" fmla="*/ 2403566 w 4162697"/>
                <a:gd name="connsiteY8" fmla="*/ 2098765 h 2163001"/>
                <a:gd name="connsiteX9" fmla="*/ 2569029 w 4162697"/>
                <a:gd name="connsiteY9" fmla="*/ 1541417 h 2163001"/>
                <a:gd name="connsiteX10" fmla="*/ 2743200 w 4162697"/>
                <a:gd name="connsiteY10" fmla="*/ 2011680 h 2163001"/>
                <a:gd name="connsiteX11" fmla="*/ 3187337 w 4162697"/>
                <a:gd name="connsiteY11" fmla="*/ 2116183 h 2163001"/>
                <a:gd name="connsiteX12" fmla="*/ 3640183 w 4162697"/>
                <a:gd name="connsiteY12" fmla="*/ 1314994 h 2163001"/>
                <a:gd name="connsiteX13" fmla="*/ 4162697 w 4162697"/>
                <a:gd name="connsiteY13" fmla="*/ 139337 h 2163001"/>
                <a:gd name="connsiteX14" fmla="*/ 4162697 w 4162697"/>
                <a:gd name="connsiteY14" fmla="*/ 139337 h 2163001"/>
                <a:gd name="connsiteX0" fmla="*/ 0 w 4162697"/>
                <a:gd name="connsiteY0" fmla="*/ 0 h 2167955"/>
                <a:gd name="connsiteX1" fmla="*/ 243840 w 4162697"/>
                <a:gd name="connsiteY1" fmla="*/ 1393372 h 2167955"/>
                <a:gd name="connsiteX2" fmla="*/ 714103 w 4162697"/>
                <a:gd name="connsiteY2" fmla="*/ 1358537 h 2167955"/>
                <a:gd name="connsiteX3" fmla="*/ 836024 w 4162697"/>
                <a:gd name="connsiteY3" fmla="*/ 1576251 h 2167955"/>
                <a:gd name="connsiteX4" fmla="*/ 1480457 w 4162697"/>
                <a:gd name="connsiteY4" fmla="*/ 1968137 h 2167955"/>
                <a:gd name="connsiteX5" fmla="*/ 1576252 w 4162697"/>
                <a:gd name="connsiteY5" fmla="*/ 2081349 h 2167955"/>
                <a:gd name="connsiteX6" fmla="*/ 1785258 w 4162697"/>
                <a:gd name="connsiteY6" fmla="*/ 1959429 h 2167955"/>
                <a:gd name="connsiteX7" fmla="*/ 1942011 w 4162697"/>
                <a:gd name="connsiteY7" fmla="*/ 2133600 h 2167955"/>
                <a:gd name="connsiteX8" fmla="*/ 2403566 w 4162697"/>
                <a:gd name="connsiteY8" fmla="*/ 2098765 h 2167955"/>
                <a:gd name="connsiteX9" fmla="*/ 2569029 w 4162697"/>
                <a:gd name="connsiteY9" fmla="*/ 1541417 h 2167955"/>
                <a:gd name="connsiteX10" fmla="*/ 2743200 w 4162697"/>
                <a:gd name="connsiteY10" fmla="*/ 2011680 h 2167955"/>
                <a:gd name="connsiteX11" fmla="*/ 3187337 w 4162697"/>
                <a:gd name="connsiteY11" fmla="*/ 2116183 h 2167955"/>
                <a:gd name="connsiteX12" fmla="*/ 3640183 w 4162697"/>
                <a:gd name="connsiteY12" fmla="*/ 1314994 h 2167955"/>
                <a:gd name="connsiteX13" fmla="*/ 4162697 w 4162697"/>
                <a:gd name="connsiteY13" fmla="*/ 139337 h 2167955"/>
                <a:gd name="connsiteX14" fmla="*/ 4162697 w 4162697"/>
                <a:gd name="connsiteY14" fmla="*/ 139337 h 216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62697" h="2167955">
                  <a:moveTo>
                    <a:pt x="0" y="0"/>
                  </a:moveTo>
                  <a:cubicBezTo>
                    <a:pt x="82006" y="640806"/>
                    <a:pt x="124823" y="1166949"/>
                    <a:pt x="243840" y="1393372"/>
                  </a:cubicBezTo>
                  <a:cubicBezTo>
                    <a:pt x="362857" y="1619795"/>
                    <a:pt x="615406" y="1328057"/>
                    <a:pt x="714103" y="1358537"/>
                  </a:cubicBezTo>
                  <a:cubicBezTo>
                    <a:pt x="812800" y="1389017"/>
                    <a:pt x="708298" y="1474651"/>
                    <a:pt x="836024" y="1576251"/>
                  </a:cubicBezTo>
                  <a:cubicBezTo>
                    <a:pt x="963750" y="1677851"/>
                    <a:pt x="1357086" y="1883954"/>
                    <a:pt x="1480457" y="1968137"/>
                  </a:cubicBezTo>
                  <a:cubicBezTo>
                    <a:pt x="1603828" y="2052320"/>
                    <a:pt x="1525452" y="2082800"/>
                    <a:pt x="1576252" y="2081349"/>
                  </a:cubicBezTo>
                  <a:cubicBezTo>
                    <a:pt x="1627052" y="2079898"/>
                    <a:pt x="1724298" y="1950721"/>
                    <a:pt x="1785258" y="1959429"/>
                  </a:cubicBezTo>
                  <a:cubicBezTo>
                    <a:pt x="1846218" y="1968138"/>
                    <a:pt x="1838960" y="2110377"/>
                    <a:pt x="1942011" y="2133600"/>
                  </a:cubicBezTo>
                  <a:cubicBezTo>
                    <a:pt x="2045062" y="2156823"/>
                    <a:pt x="2299063" y="2197462"/>
                    <a:pt x="2403566" y="2098765"/>
                  </a:cubicBezTo>
                  <a:cubicBezTo>
                    <a:pt x="2508069" y="2000068"/>
                    <a:pt x="2512423" y="1555931"/>
                    <a:pt x="2569029" y="1541417"/>
                  </a:cubicBezTo>
                  <a:cubicBezTo>
                    <a:pt x="2625635" y="1526903"/>
                    <a:pt x="2631441" y="1889760"/>
                    <a:pt x="2743200" y="2011680"/>
                  </a:cubicBezTo>
                  <a:cubicBezTo>
                    <a:pt x="2854959" y="2133600"/>
                    <a:pt x="3037840" y="2232297"/>
                    <a:pt x="3187337" y="2116183"/>
                  </a:cubicBezTo>
                  <a:cubicBezTo>
                    <a:pt x="3336834" y="2000069"/>
                    <a:pt x="3477623" y="1644468"/>
                    <a:pt x="3640183" y="1314994"/>
                  </a:cubicBezTo>
                  <a:cubicBezTo>
                    <a:pt x="3802743" y="985520"/>
                    <a:pt x="4162697" y="139337"/>
                    <a:pt x="4162697" y="139337"/>
                  </a:cubicBezTo>
                  <a:lnTo>
                    <a:pt x="4162697" y="139337"/>
                  </a:lnTo>
                </a:path>
              </a:pathLst>
            </a:custGeom>
            <a:noFill/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5845913" y="3860708"/>
            <a:ext cx="18139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波长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en-US" altLang="zh-CN" sz="1400" b="1" dirty="0" err="1">
                <a:latin typeface="微软雅黑" pitchFamily="34" charset="-122"/>
                <a:ea typeface="微软雅黑" pitchFamily="34" charset="-122"/>
              </a:rPr>
              <a:t>μm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)</a:t>
            </a:r>
            <a:endParaRPr kumimoji="1"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649166" y="1960407"/>
            <a:ext cx="9226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衰减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(dB/km )</a:t>
            </a:r>
            <a:endParaRPr kumimoji="1"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54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3"/>
            <a:ext cx="5272605" cy="3172691"/>
          </a:xfrm>
        </p:spPr>
        <p:txBody>
          <a:bodyPr/>
          <a:lstStyle/>
          <a:p>
            <a:r>
              <a:rPr lang="zh-CN" altLang="en-US" dirty="0"/>
              <a:t>必须将光纤做成很结实的光缆。</a:t>
            </a:r>
            <a:endParaRPr lang="en-US" altLang="zh-CN" dirty="0"/>
          </a:p>
          <a:p>
            <a:pPr lvl="1"/>
            <a:r>
              <a:rPr lang="zh-CN" altLang="en-US" dirty="0"/>
              <a:t>数十至数百根光纤，</a:t>
            </a:r>
            <a:endParaRPr lang="en-US" altLang="zh-CN" dirty="0"/>
          </a:p>
          <a:p>
            <a:pPr lvl="1"/>
            <a:r>
              <a:rPr lang="zh-CN" altLang="en-US" dirty="0"/>
              <a:t>加强芯和填充物，</a:t>
            </a:r>
            <a:endParaRPr lang="en-US" altLang="zh-CN" dirty="0"/>
          </a:p>
          <a:p>
            <a:pPr lvl="1"/>
            <a:r>
              <a:rPr lang="zh-CN" altLang="en-US" dirty="0"/>
              <a:t>必要时还可放入远供电源线，</a:t>
            </a:r>
            <a:endParaRPr lang="en-US" altLang="zh-CN" dirty="0"/>
          </a:p>
          <a:p>
            <a:pPr lvl="1"/>
            <a:r>
              <a:rPr lang="zh-CN" altLang="en-US" dirty="0"/>
              <a:t>最后加上包带层和外护套。</a:t>
            </a:r>
            <a:endParaRPr lang="en-US" altLang="zh-CN" dirty="0"/>
          </a:p>
          <a:p>
            <a:r>
              <a:rPr lang="zh-CN" altLang="en-US" dirty="0"/>
              <a:t>使抗拉强度达到几公斤，完全可以满足工程施工的强度要求。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光缆</a:t>
            </a:r>
          </a:p>
        </p:txBody>
      </p: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5217782" y="1149529"/>
            <a:ext cx="3299624" cy="1914869"/>
            <a:chOff x="1056" y="887"/>
            <a:chExt cx="3455" cy="2085"/>
          </a:xfrm>
        </p:grpSpPr>
        <p:sp>
          <p:nvSpPr>
            <p:cNvPr id="5" name="Oval 2"/>
            <p:cNvSpPr>
              <a:spLocks noChangeArrowheads="1"/>
            </p:cNvSpPr>
            <p:nvPr/>
          </p:nvSpPr>
          <p:spPr bwMode="auto">
            <a:xfrm>
              <a:off x="1056" y="912"/>
              <a:ext cx="1872" cy="1872"/>
            </a:xfrm>
            <a:prstGeom prst="ellipse">
              <a:avLst/>
            </a:prstGeom>
            <a:solidFill>
              <a:srgbClr val="66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Oval 4" descr="深色下对角线"/>
            <p:cNvSpPr>
              <a:spLocks noChangeArrowheads="1"/>
            </p:cNvSpPr>
            <p:nvPr/>
          </p:nvSpPr>
          <p:spPr bwMode="auto">
            <a:xfrm>
              <a:off x="1278" y="1134"/>
              <a:ext cx="1429" cy="1429"/>
            </a:xfrm>
            <a:prstGeom prst="ellipse">
              <a:avLst/>
            </a:prstGeom>
            <a:pattFill prst="dkDn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Oval 3"/>
            <p:cNvSpPr>
              <a:spLocks noChangeArrowheads="1"/>
            </p:cNvSpPr>
            <p:nvPr/>
          </p:nvSpPr>
          <p:spPr bwMode="auto">
            <a:xfrm>
              <a:off x="1704" y="1560"/>
              <a:ext cx="576" cy="57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1320" y="1176"/>
              <a:ext cx="1344" cy="13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1737" y="1593"/>
              <a:ext cx="511" cy="511"/>
              <a:chOff x="3749" y="2352"/>
              <a:chExt cx="523" cy="523"/>
            </a:xfrm>
          </p:grpSpPr>
          <p:sp>
            <p:nvSpPr>
              <p:cNvPr id="42" name="Oval 6"/>
              <p:cNvSpPr>
                <a:spLocks noChangeArrowheads="1"/>
              </p:cNvSpPr>
              <p:nvPr/>
            </p:nvSpPr>
            <p:spPr bwMode="auto">
              <a:xfrm>
                <a:off x="3749" y="2352"/>
                <a:ext cx="523" cy="523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Oval 7" descr="小棋盘"/>
              <p:cNvSpPr>
                <a:spLocks noChangeArrowheads="1"/>
              </p:cNvSpPr>
              <p:nvPr/>
            </p:nvSpPr>
            <p:spPr bwMode="auto">
              <a:xfrm>
                <a:off x="3843" y="2446"/>
                <a:ext cx="336" cy="336"/>
              </a:xfrm>
              <a:prstGeom prst="ellipse">
                <a:avLst/>
              </a:prstGeom>
              <a:pattFill prst="smCheck">
                <a:fgClr>
                  <a:schemeClr val="tx1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Oval 10" descr="10%"/>
            <p:cNvSpPr>
              <a:spLocks noChangeArrowheads="1"/>
            </p:cNvSpPr>
            <p:nvPr/>
          </p:nvSpPr>
          <p:spPr bwMode="auto">
            <a:xfrm>
              <a:off x="1324" y="1644"/>
              <a:ext cx="404" cy="405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1784" y="1181"/>
              <a:ext cx="427" cy="411"/>
              <a:chOff x="3456" y="1104"/>
              <a:chExt cx="336" cy="340"/>
            </a:xfrm>
          </p:grpSpPr>
          <p:sp>
            <p:nvSpPr>
              <p:cNvPr id="40" name="Oval 15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Oval 16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Oval 18" descr="10%"/>
            <p:cNvSpPr>
              <a:spLocks noChangeArrowheads="1"/>
            </p:cNvSpPr>
            <p:nvPr/>
          </p:nvSpPr>
          <p:spPr bwMode="auto">
            <a:xfrm>
              <a:off x="2260" y="1660"/>
              <a:ext cx="400" cy="389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Group 19"/>
            <p:cNvGrpSpPr>
              <a:grpSpLocks/>
            </p:cNvGrpSpPr>
            <p:nvPr/>
          </p:nvGrpSpPr>
          <p:grpSpPr bwMode="auto">
            <a:xfrm>
              <a:off x="1777" y="2114"/>
              <a:ext cx="428" cy="400"/>
              <a:chOff x="3456" y="1104"/>
              <a:chExt cx="336" cy="340"/>
            </a:xfrm>
          </p:grpSpPr>
          <p:sp>
            <p:nvSpPr>
              <p:cNvPr id="38" name="Oval 20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Oval 21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28"/>
            <p:cNvGrpSpPr>
              <a:grpSpLocks/>
            </p:cNvGrpSpPr>
            <p:nvPr/>
          </p:nvGrpSpPr>
          <p:grpSpPr bwMode="auto">
            <a:xfrm>
              <a:off x="2144" y="1996"/>
              <a:ext cx="234" cy="234"/>
              <a:chOff x="2160" y="2016"/>
              <a:chExt cx="258" cy="258"/>
            </a:xfrm>
          </p:grpSpPr>
          <p:sp>
            <p:nvSpPr>
              <p:cNvPr id="36" name="Oval 2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Oval 26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29"/>
            <p:cNvGrpSpPr>
              <a:grpSpLocks/>
            </p:cNvGrpSpPr>
            <p:nvPr/>
          </p:nvGrpSpPr>
          <p:grpSpPr bwMode="auto">
            <a:xfrm>
              <a:off x="1604" y="2000"/>
              <a:ext cx="234" cy="234"/>
              <a:chOff x="2160" y="2016"/>
              <a:chExt cx="258" cy="258"/>
            </a:xfrm>
          </p:grpSpPr>
          <p:sp>
            <p:nvSpPr>
              <p:cNvPr id="34" name="Oval 30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Oval 31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Group 32"/>
            <p:cNvGrpSpPr>
              <a:grpSpLocks/>
            </p:cNvGrpSpPr>
            <p:nvPr/>
          </p:nvGrpSpPr>
          <p:grpSpPr bwMode="auto">
            <a:xfrm>
              <a:off x="1604" y="1464"/>
              <a:ext cx="234" cy="234"/>
              <a:chOff x="2160" y="2016"/>
              <a:chExt cx="258" cy="258"/>
            </a:xfrm>
          </p:grpSpPr>
          <p:sp>
            <p:nvSpPr>
              <p:cNvPr id="32" name="Oval 3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Oval 34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Group 35"/>
            <p:cNvGrpSpPr>
              <a:grpSpLocks/>
            </p:cNvGrpSpPr>
            <p:nvPr/>
          </p:nvGrpSpPr>
          <p:grpSpPr bwMode="auto">
            <a:xfrm>
              <a:off x="2152" y="1472"/>
              <a:ext cx="234" cy="234"/>
              <a:chOff x="2160" y="2016"/>
              <a:chExt cx="258" cy="258"/>
            </a:xfrm>
          </p:grpSpPr>
          <p:sp>
            <p:nvSpPr>
              <p:cNvPr id="30" name="Oval 36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Oval 37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2939" y="2603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包带层</a:t>
              </a:r>
            </a:p>
          </p:txBody>
        </p:sp>
        <p:sp>
          <p:nvSpPr>
            <p:cNvPr id="19" name="Text Box 39"/>
            <p:cNvSpPr txBox="1">
              <a:spLocks noChangeArrowheads="1"/>
            </p:cNvSpPr>
            <p:nvPr/>
          </p:nvSpPr>
          <p:spPr bwMode="auto">
            <a:xfrm>
              <a:off x="3072" y="2260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加强芯</a:t>
              </a:r>
            </a:p>
          </p:txBody>
        </p:sp>
        <p:sp>
          <p:nvSpPr>
            <p:cNvPr id="20" name="Text Box 40"/>
            <p:cNvSpPr txBox="1">
              <a:spLocks noChangeArrowheads="1"/>
            </p:cNvSpPr>
            <p:nvPr/>
          </p:nvSpPr>
          <p:spPr bwMode="auto">
            <a:xfrm>
              <a:off x="2813" y="887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外护套</a:t>
              </a:r>
            </a:p>
          </p:txBody>
        </p:sp>
        <p:sp>
          <p:nvSpPr>
            <p:cNvPr id="21" name="Text Box 41"/>
            <p:cNvSpPr txBox="1">
              <a:spLocks noChangeArrowheads="1"/>
            </p:cNvSpPr>
            <p:nvPr/>
          </p:nvSpPr>
          <p:spPr bwMode="auto">
            <a:xfrm>
              <a:off x="3024" y="1216"/>
              <a:ext cx="126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远供电源线</a:t>
              </a:r>
            </a:p>
          </p:txBody>
        </p:sp>
        <p:sp>
          <p:nvSpPr>
            <p:cNvPr id="22" name="Text Box 42"/>
            <p:cNvSpPr txBox="1">
              <a:spLocks noChangeArrowheads="1"/>
            </p:cNvSpPr>
            <p:nvPr/>
          </p:nvSpPr>
          <p:spPr bwMode="auto">
            <a:xfrm>
              <a:off x="3029" y="1566"/>
              <a:ext cx="1482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光纤及其包层</a:t>
              </a:r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3163" y="1961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填充物</a:t>
              </a:r>
            </a:p>
          </p:txBody>
        </p: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>
              <a:off x="2304" y="2496"/>
              <a:ext cx="67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2016" y="1872"/>
              <a:ext cx="110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>
              <a:off x="2496" y="1872"/>
              <a:ext cx="72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48"/>
            <p:cNvSpPr>
              <a:spLocks noChangeShapeType="1"/>
            </p:cNvSpPr>
            <p:nvPr/>
          </p:nvSpPr>
          <p:spPr bwMode="auto">
            <a:xfrm>
              <a:off x="2256" y="1584"/>
              <a:ext cx="81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49"/>
            <p:cNvSpPr>
              <a:spLocks noChangeShapeType="1"/>
            </p:cNvSpPr>
            <p:nvPr/>
          </p:nvSpPr>
          <p:spPr bwMode="auto">
            <a:xfrm>
              <a:off x="2016" y="1344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50"/>
            <p:cNvSpPr>
              <a:spLocks noChangeShapeType="1"/>
            </p:cNvSpPr>
            <p:nvPr/>
          </p:nvSpPr>
          <p:spPr bwMode="auto">
            <a:xfrm flipV="1">
              <a:off x="2352" y="1008"/>
              <a:ext cx="48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通信容量非常大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传输损耗小，中继距离长，对远距离传输特别经济。</a:t>
            </a:r>
          </a:p>
          <a:p>
            <a:r>
              <a:rPr lang="en-US" altLang="zh-CN" dirty="0"/>
              <a:t>(3) </a:t>
            </a:r>
            <a:r>
              <a:rPr lang="zh-CN" altLang="en-US" dirty="0"/>
              <a:t>抗雷电和电磁干扰性能好。</a:t>
            </a:r>
          </a:p>
          <a:p>
            <a:r>
              <a:rPr lang="en-US" altLang="zh-CN" dirty="0"/>
              <a:t>(4) </a:t>
            </a:r>
            <a:r>
              <a:rPr lang="zh-CN" altLang="en-US" dirty="0"/>
              <a:t>无串音干扰，保密性好，不易被窃听或截取数据。</a:t>
            </a:r>
          </a:p>
          <a:p>
            <a:r>
              <a:rPr lang="en-US" altLang="zh-CN" dirty="0"/>
              <a:t>(5) </a:t>
            </a:r>
            <a:r>
              <a:rPr lang="zh-CN" altLang="en-US" dirty="0"/>
              <a:t>体积小，重量轻。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光纤优点</a:t>
            </a:r>
          </a:p>
        </p:txBody>
      </p:sp>
      <p:sp>
        <p:nvSpPr>
          <p:cNvPr id="4" name="矩形 3"/>
          <p:cNvSpPr/>
          <p:nvPr/>
        </p:nvSpPr>
        <p:spPr>
          <a:xfrm>
            <a:off x="1591901" y="3084608"/>
            <a:ext cx="5444625" cy="8617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现在已经非常广泛地应用在计算机网络、电信网络和有线电视网络的主干网络中。</a:t>
            </a:r>
          </a:p>
        </p:txBody>
      </p:sp>
    </p:spTree>
    <p:extLst>
      <p:ext uri="{BB962C8B-B14F-4D97-AF65-F5344CB8AC3E}">
        <p14:creationId xmlns:p14="http://schemas.microsoft.com/office/powerpoint/2010/main" val="58403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2.3.2  </a:t>
            </a:r>
            <a:r>
              <a:rPr lang="zh-CN" altLang="en-US" dirty="0"/>
              <a:t>非导引型传输媒体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利用无线电波在自由空间的传播可较快地实现多种通信，因此将自由空间称为“非导引型传输媒体”。</a:t>
            </a:r>
            <a:endParaRPr lang="en-US" altLang="zh-CN" dirty="0"/>
          </a:p>
          <a:p>
            <a:r>
              <a:rPr lang="zh-CN" altLang="en-US" dirty="0"/>
              <a:t>无线传输所使用的频段很广：</a:t>
            </a:r>
            <a:r>
              <a:rPr lang="en-US" altLang="zh-CN" dirty="0"/>
              <a:t>	LF ~ THF </a:t>
            </a:r>
            <a:r>
              <a:rPr lang="zh-CN" altLang="en-US" dirty="0"/>
              <a:t>（</a:t>
            </a:r>
            <a:r>
              <a:rPr lang="en-US" altLang="zh-CN" dirty="0"/>
              <a:t>30 kHz ~ 3000 GHz</a:t>
            </a:r>
            <a:r>
              <a:rPr lang="zh-CN" altLang="en-US" dirty="0"/>
              <a:t>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93053" y="2408504"/>
            <a:ext cx="7319264" cy="1991078"/>
            <a:chOff x="723381" y="2478176"/>
            <a:chExt cx="7319264" cy="1991078"/>
          </a:xfrm>
        </p:grpSpPr>
        <p:sp>
          <p:nvSpPr>
            <p:cNvPr id="78" name="矩形 77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51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6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7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8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9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0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1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2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3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4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5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6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167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8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9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0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1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2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3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4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5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6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7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8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9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0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f  (Hz)</a:t>
              </a:r>
            </a:p>
          </p:txBody>
        </p:sp>
        <p:sp>
          <p:nvSpPr>
            <p:cNvPr id="181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2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3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4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5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6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7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8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9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0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1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2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3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LF</a:t>
              </a:r>
            </a:p>
          </p:txBody>
        </p:sp>
        <p:sp>
          <p:nvSpPr>
            <p:cNvPr id="194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MF</a:t>
              </a:r>
            </a:p>
          </p:txBody>
        </p:sp>
        <p:sp>
          <p:nvSpPr>
            <p:cNvPr id="195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HF</a:t>
              </a:r>
            </a:p>
          </p:txBody>
        </p:sp>
        <p:sp>
          <p:nvSpPr>
            <p:cNvPr id="196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VHF</a:t>
              </a:r>
            </a:p>
          </p:txBody>
        </p:sp>
        <p:sp>
          <p:nvSpPr>
            <p:cNvPr id="197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UHF</a:t>
              </a:r>
            </a:p>
          </p:txBody>
        </p:sp>
        <p:sp>
          <p:nvSpPr>
            <p:cNvPr id="198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SHF</a:t>
              </a:r>
            </a:p>
          </p:txBody>
        </p:sp>
        <p:sp>
          <p:nvSpPr>
            <p:cNvPr id="199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EHF</a:t>
              </a:r>
            </a:p>
          </p:txBody>
        </p:sp>
        <p:sp>
          <p:nvSpPr>
            <p:cNvPr id="200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THF</a:t>
              </a:r>
            </a:p>
          </p:txBody>
        </p:sp>
        <p:sp>
          <p:nvSpPr>
            <p:cNvPr id="201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波段</a:t>
              </a:r>
            </a:p>
          </p:txBody>
        </p:sp>
        <p:sp>
          <p:nvSpPr>
            <p:cNvPr id="202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3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4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5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地面微波</a:t>
              </a:r>
            </a:p>
          </p:txBody>
        </p:sp>
        <p:sp>
          <p:nvSpPr>
            <p:cNvPr id="206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7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208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9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</a:p>
          </p:txBody>
        </p:sp>
        <p:sp>
          <p:nvSpPr>
            <p:cNvPr id="210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1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2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3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调幅</a:t>
              </a:r>
              <a:endPara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6" name="矩形 215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卫星</a:t>
              </a:r>
            </a:p>
          </p:txBody>
        </p:sp>
        <p:sp>
          <p:nvSpPr>
            <p:cNvPr id="218" name="矩形 217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电视</a:t>
              </a:r>
            </a:p>
          </p:txBody>
        </p:sp>
        <p:sp>
          <p:nvSpPr>
            <p:cNvPr id="220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1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22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3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72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占有特殊重要的地位。</a:t>
            </a:r>
            <a:endParaRPr lang="en-US" altLang="zh-CN" dirty="0"/>
          </a:p>
          <a:p>
            <a:r>
              <a:rPr lang="zh-CN" altLang="en-US" dirty="0"/>
              <a:t>微波频率范围：</a:t>
            </a:r>
            <a:endParaRPr lang="en-US" altLang="zh-CN" dirty="0"/>
          </a:p>
          <a:p>
            <a:pPr lvl="1"/>
            <a:r>
              <a:rPr lang="en-US" altLang="zh-CN" dirty="0"/>
              <a:t>300 MHz~300 GHz</a:t>
            </a:r>
            <a:r>
              <a:rPr lang="zh-CN" altLang="en-US" dirty="0"/>
              <a:t>（波长</a:t>
            </a:r>
            <a:r>
              <a:rPr lang="en-US" altLang="zh-CN" dirty="0"/>
              <a:t>1 m ~ 1 mm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主要使用：</a:t>
            </a:r>
            <a:r>
              <a:rPr lang="en-US" altLang="zh-CN" dirty="0"/>
              <a:t>2 ~ 40 GHz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在空间主要是</a:t>
            </a:r>
            <a:r>
              <a:rPr lang="zh-CN" altLang="zh-CN" dirty="0">
                <a:solidFill>
                  <a:srgbClr val="C00000"/>
                </a:solidFill>
              </a:rPr>
              <a:t>直线</a:t>
            </a:r>
            <a:r>
              <a:rPr lang="zh-CN" altLang="zh-CN" dirty="0"/>
              <a:t>传播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地球表面：传播距离受到限制，一般只有 </a:t>
            </a:r>
            <a:r>
              <a:rPr lang="en-US" altLang="zh-CN" dirty="0"/>
              <a:t>50 km</a:t>
            </a:r>
            <a:r>
              <a:rPr lang="zh-CN" altLang="en-US" dirty="0"/>
              <a:t>左右。</a:t>
            </a:r>
            <a:endParaRPr lang="en-US" altLang="zh-CN" dirty="0"/>
          </a:p>
          <a:p>
            <a:pPr lvl="1"/>
            <a:r>
              <a:rPr lang="en-US" altLang="zh-CN" dirty="0"/>
              <a:t>100 m </a:t>
            </a:r>
            <a:r>
              <a:rPr lang="zh-CN" altLang="en-US" dirty="0"/>
              <a:t>高的天线塔：传播距离可增大到 </a:t>
            </a:r>
            <a:r>
              <a:rPr lang="en-US" altLang="zh-CN" dirty="0"/>
              <a:t>100 km</a:t>
            </a:r>
            <a:r>
              <a:rPr lang="zh-CN" altLang="en-US" dirty="0"/>
              <a:t>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无线电微波通信</a:t>
            </a:r>
          </a:p>
        </p:txBody>
      </p:sp>
    </p:spTree>
    <p:extLst>
      <p:ext uri="{BB962C8B-B14F-4D97-AF65-F5344CB8AC3E}">
        <p14:creationId xmlns:p14="http://schemas.microsoft.com/office/powerpoint/2010/main" val="272933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基站发出的信号可障碍物的数次反射，从多条路径、按不同时间等到达接收方。多条路径的信号叠加后一般都会产生很大的失真，这就是所谓的以经过多个</a:t>
            </a:r>
            <a:r>
              <a:rPr lang="zh-CN" altLang="en-US" dirty="0">
                <a:solidFill>
                  <a:srgbClr val="C00000"/>
                </a:solidFill>
              </a:rPr>
              <a:t>多径效应。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多径效应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957939" y="2281963"/>
            <a:ext cx="4214951" cy="2182627"/>
            <a:chOff x="984066" y="2360343"/>
            <a:chExt cx="4214951" cy="2182627"/>
          </a:xfrm>
        </p:grpSpPr>
        <p:sp>
          <p:nvSpPr>
            <p:cNvPr id="6" name="矩形 5"/>
            <p:cNvSpPr/>
            <p:nvPr/>
          </p:nvSpPr>
          <p:spPr>
            <a:xfrm>
              <a:off x="2680833" y="3074047"/>
              <a:ext cx="375876" cy="697763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grpSp>
          <p:nvGrpSpPr>
            <p:cNvPr id="7" name="Group 479"/>
            <p:cNvGrpSpPr>
              <a:grpSpLocks/>
            </p:cNvGrpSpPr>
            <p:nvPr/>
          </p:nvGrpSpPr>
          <p:grpSpPr bwMode="auto">
            <a:xfrm>
              <a:off x="4640064" y="3596748"/>
              <a:ext cx="316457" cy="621824"/>
              <a:chOff x="4186" y="1736"/>
              <a:chExt cx="246" cy="461"/>
            </a:xfrm>
          </p:grpSpPr>
          <p:pic>
            <p:nvPicPr>
              <p:cNvPr id="8" name="Picture 426" descr="icon-mobile-phone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flipH="1">
                <a:off x="4258" y="1795"/>
                <a:ext cx="174" cy="4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9" name="Group 478"/>
              <p:cNvGrpSpPr>
                <a:grpSpLocks/>
              </p:cNvGrpSpPr>
              <p:nvPr/>
            </p:nvGrpSpPr>
            <p:grpSpPr bwMode="auto">
              <a:xfrm>
                <a:off x="4186" y="1736"/>
                <a:ext cx="198" cy="79"/>
                <a:chOff x="4513" y="1707"/>
                <a:chExt cx="198" cy="177"/>
              </a:xfrm>
            </p:grpSpPr>
            <p:sp>
              <p:nvSpPr>
                <p:cNvPr id="10" name="AutoShape 451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46" y="1674"/>
                  <a:ext cx="132" cy="198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AutoShape 452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70" y="1756"/>
                  <a:ext cx="83" cy="132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" name="AutoShape 454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91" y="1830"/>
                  <a:ext cx="42" cy="66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3" name="Group 513"/>
            <p:cNvGrpSpPr>
              <a:grpSpLocks/>
            </p:cNvGrpSpPr>
            <p:nvPr/>
          </p:nvGrpSpPr>
          <p:grpSpPr bwMode="auto">
            <a:xfrm>
              <a:off x="1040814" y="2847704"/>
              <a:ext cx="465822" cy="748733"/>
              <a:chOff x="4608" y="700"/>
              <a:chExt cx="306" cy="553"/>
            </a:xfrm>
          </p:grpSpPr>
          <p:grpSp>
            <p:nvGrpSpPr>
              <p:cNvPr id="14" name="Group 505"/>
              <p:cNvGrpSpPr>
                <a:grpSpLocks/>
              </p:cNvGrpSpPr>
              <p:nvPr/>
            </p:nvGrpSpPr>
            <p:grpSpPr bwMode="auto">
              <a:xfrm>
                <a:off x="4694" y="784"/>
                <a:ext cx="134" cy="469"/>
                <a:chOff x="4740" y="784"/>
                <a:chExt cx="88" cy="692"/>
              </a:xfrm>
            </p:grpSpPr>
            <p:sp>
              <p:nvSpPr>
                <p:cNvPr id="22" name="Line 489"/>
                <p:cNvSpPr>
                  <a:spLocks noChangeShapeType="1"/>
                </p:cNvSpPr>
                <p:nvPr/>
              </p:nvSpPr>
              <p:spPr bwMode="auto">
                <a:xfrm>
                  <a:off x="4771" y="1032"/>
                  <a:ext cx="29" cy="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3" name="Group 504"/>
                <p:cNvGrpSpPr>
                  <a:grpSpLocks/>
                </p:cNvGrpSpPr>
                <p:nvPr/>
              </p:nvGrpSpPr>
              <p:grpSpPr bwMode="auto">
                <a:xfrm>
                  <a:off x="4740" y="784"/>
                  <a:ext cx="88" cy="692"/>
                  <a:chOff x="4740" y="784"/>
                  <a:chExt cx="88" cy="692"/>
                </a:xfrm>
              </p:grpSpPr>
              <p:sp>
                <p:nvSpPr>
                  <p:cNvPr id="24" name="Line 49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85" y="793"/>
                    <a:ext cx="1" cy="13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" name="Line 4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40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" name="Line 492"/>
                  <p:cNvSpPr>
                    <a:spLocks noChangeShapeType="1"/>
                  </p:cNvSpPr>
                  <p:nvPr/>
                </p:nvSpPr>
                <p:spPr bwMode="auto">
                  <a:xfrm>
                    <a:off x="4793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" name="Line 493"/>
                  <p:cNvSpPr>
                    <a:spLocks noChangeShapeType="1"/>
                  </p:cNvSpPr>
                  <p:nvPr/>
                </p:nvSpPr>
                <p:spPr bwMode="auto">
                  <a:xfrm>
                    <a:off x="4743" y="1461"/>
                    <a:ext cx="84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" name="Line 494"/>
                  <p:cNvSpPr>
                    <a:spLocks noChangeShapeType="1"/>
                  </p:cNvSpPr>
                  <p:nvPr/>
                </p:nvSpPr>
                <p:spPr bwMode="auto">
                  <a:xfrm>
                    <a:off x="4753" y="1312"/>
                    <a:ext cx="6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" name="Line 495"/>
                  <p:cNvSpPr>
                    <a:spLocks noChangeShapeType="1"/>
                  </p:cNvSpPr>
                  <p:nvPr/>
                </p:nvSpPr>
                <p:spPr bwMode="auto">
                  <a:xfrm>
                    <a:off x="4752" y="1314"/>
                    <a:ext cx="73" cy="151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" name="Line 4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45" y="1313"/>
                    <a:ext cx="73" cy="149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" name="Line 497"/>
                  <p:cNvSpPr>
                    <a:spLocks noChangeShapeType="1"/>
                  </p:cNvSpPr>
                  <p:nvPr/>
                </p:nvSpPr>
                <p:spPr bwMode="auto">
                  <a:xfrm>
                    <a:off x="4762" y="1167"/>
                    <a:ext cx="4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" name="Line 498"/>
                  <p:cNvSpPr>
                    <a:spLocks noChangeShapeType="1"/>
                  </p:cNvSpPr>
                  <p:nvPr/>
                </p:nvSpPr>
                <p:spPr bwMode="auto">
                  <a:xfrm>
                    <a:off x="4761" y="1166"/>
                    <a:ext cx="54" cy="147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" name="Line 4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0" y="1166"/>
                    <a:ext cx="57" cy="145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Line 500"/>
                  <p:cNvSpPr>
                    <a:spLocks noChangeShapeType="1"/>
                  </p:cNvSpPr>
                  <p:nvPr/>
                </p:nvSpPr>
                <p:spPr bwMode="auto">
                  <a:xfrm>
                    <a:off x="4768" y="1032"/>
                    <a:ext cx="41" cy="13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" name="Line 50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9" y="1031"/>
                    <a:ext cx="39" cy="138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" name="Line 50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66" y="930"/>
                    <a:ext cx="27" cy="10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" name="Oval 503"/>
                  <p:cNvSpPr>
                    <a:spLocks noChangeArrowheads="1"/>
                  </p:cNvSpPr>
                  <p:nvPr/>
                </p:nvSpPr>
                <p:spPr bwMode="auto">
                  <a:xfrm>
                    <a:off x="4774" y="784"/>
                    <a:ext cx="22" cy="16"/>
                  </a:xfrm>
                  <a:prstGeom prst="ellipse">
                    <a:avLst/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" name="Group 506"/>
              <p:cNvGrpSpPr>
                <a:grpSpLocks/>
              </p:cNvGrpSpPr>
              <p:nvPr/>
            </p:nvGrpSpPr>
            <p:grpSpPr bwMode="auto">
              <a:xfrm>
                <a:off x="4608" y="700"/>
                <a:ext cx="306" cy="90"/>
                <a:chOff x="748" y="2251"/>
                <a:chExt cx="306" cy="90"/>
              </a:xfrm>
            </p:grpSpPr>
            <p:sp>
              <p:nvSpPr>
                <p:cNvPr id="16" name="AutoShape 507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AutoShape 508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" name="AutoShape 509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AutoShape 510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" name="AutoShape 511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AutoShape 512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9" name="矩形 38"/>
            <p:cNvSpPr/>
            <p:nvPr/>
          </p:nvSpPr>
          <p:spPr>
            <a:xfrm>
              <a:off x="2584667" y="2360343"/>
              <a:ext cx="822102" cy="24318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4228870" y="3003449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2331713" y="4190940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</a:p>
          </p:txBody>
        </p:sp>
        <p:cxnSp>
          <p:nvCxnSpPr>
            <p:cNvPr id="42" name="直接箭头连接符 41"/>
            <p:cNvCxnSpPr>
              <a:endCxn id="39" idx="2"/>
            </p:cNvCxnSpPr>
            <p:nvPr/>
          </p:nvCxnSpPr>
          <p:spPr>
            <a:xfrm flipV="1">
              <a:off x="1457923" y="2603528"/>
              <a:ext cx="1537795" cy="399921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2"/>
              <a:endCxn id="40" idx="1"/>
            </p:cNvCxnSpPr>
            <p:nvPr/>
          </p:nvCxnSpPr>
          <p:spPr>
            <a:xfrm>
              <a:off x="2995718" y="2603528"/>
              <a:ext cx="1233152" cy="518828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6" idx="3"/>
            </p:cNvCxnSpPr>
            <p:nvPr/>
          </p:nvCxnSpPr>
          <p:spPr>
            <a:xfrm>
              <a:off x="3056709" y="3422929"/>
              <a:ext cx="1583354" cy="47757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endCxn id="41" idx="0"/>
            </p:cNvCxnSpPr>
            <p:nvPr/>
          </p:nvCxnSpPr>
          <p:spPr>
            <a:xfrm>
              <a:off x="1453667" y="3188091"/>
              <a:ext cx="1289097" cy="100284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41" idx="0"/>
            </p:cNvCxnSpPr>
            <p:nvPr/>
          </p:nvCxnSpPr>
          <p:spPr>
            <a:xfrm flipV="1">
              <a:off x="2742764" y="3928517"/>
              <a:ext cx="1940844" cy="26242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40" idx="1"/>
              <a:endCxn id="6" idx="3"/>
            </p:cNvCxnSpPr>
            <p:nvPr/>
          </p:nvCxnSpPr>
          <p:spPr>
            <a:xfrm flipH="1">
              <a:off x="3056709" y="3122356"/>
              <a:ext cx="1172161" cy="30057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64"/>
            <p:cNvSpPr txBox="1"/>
            <p:nvPr/>
          </p:nvSpPr>
          <p:spPr>
            <a:xfrm>
              <a:off x="3869132" y="340247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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Box 65"/>
            <p:cNvSpPr txBox="1"/>
            <p:nvPr/>
          </p:nvSpPr>
          <p:spPr>
            <a:xfrm>
              <a:off x="3507119" y="300344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Box 66"/>
            <p:cNvSpPr txBox="1"/>
            <p:nvPr/>
          </p:nvSpPr>
          <p:spPr>
            <a:xfrm>
              <a:off x="1879932" y="3384170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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67"/>
            <p:cNvSpPr txBox="1"/>
            <p:nvPr/>
          </p:nvSpPr>
          <p:spPr>
            <a:xfrm>
              <a:off x="3380642" y="2578292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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Box 68"/>
            <p:cNvSpPr txBox="1"/>
            <p:nvPr/>
          </p:nvSpPr>
          <p:spPr>
            <a:xfrm>
              <a:off x="1808386" y="253474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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Box 69"/>
            <p:cNvSpPr txBox="1"/>
            <p:nvPr/>
          </p:nvSpPr>
          <p:spPr>
            <a:xfrm>
              <a:off x="3437447" y="381892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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49"/>
            <p:cNvSpPr txBox="1"/>
            <p:nvPr/>
          </p:nvSpPr>
          <p:spPr>
            <a:xfrm>
              <a:off x="984066" y="3579681"/>
              <a:ext cx="6411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基站</a:t>
              </a:r>
            </a:p>
          </p:txBody>
        </p:sp>
        <p:sp>
          <p:nvSpPr>
            <p:cNvPr id="55" name="TextBox 51"/>
            <p:cNvSpPr txBox="1"/>
            <p:nvPr/>
          </p:nvSpPr>
          <p:spPr>
            <a:xfrm>
              <a:off x="4557294" y="4204416"/>
              <a:ext cx="6417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手机</a:t>
              </a:r>
            </a:p>
          </p:txBody>
        </p:sp>
        <p:cxnSp>
          <p:nvCxnSpPr>
            <p:cNvPr id="56" name="直接箭头连接符 55"/>
            <p:cNvCxnSpPr>
              <a:endCxn id="6" idx="1"/>
            </p:cNvCxnSpPr>
            <p:nvPr/>
          </p:nvCxnSpPr>
          <p:spPr>
            <a:xfrm>
              <a:off x="1457923" y="3074047"/>
              <a:ext cx="1222910" cy="34888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矩形 88"/>
          <p:cNvSpPr/>
          <p:nvPr/>
        </p:nvSpPr>
        <p:spPr>
          <a:xfrm>
            <a:off x="5412904" y="2670068"/>
            <a:ext cx="287967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信号从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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  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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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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 </a:t>
            </a:r>
          </a:p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两条路径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到达手机。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74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5"/>
            <a:ext cx="4575919" cy="3172691"/>
          </a:xfrm>
        </p:spPr>
        <p:txBody>
          <a:bodyPr/>
          <a:lstStyle/>
          <a:p>
            <a:r>
              <a:rPr lang="zh-CN" altLang="en-US" dirty="0"/>
              <a:t>对于给定的调制方式和数据率，信噪比越大，误码率就越低。</a:t>
            </a:r>
            <a:endParaRPr lang="en-US" altLang="zh-CN" dirty="0"/>
          </a:p>
          <a:p>
            <a:r>
              <a:rPr lang="zh-CN" altLang="en-US" dirty="0"/>
              <a:t>对于同样的信噪比，具有更高数据率的调制技术的误码率也更高。</a:t>
            </a:r>
            <a:endParaRPr lang="en-US" altLang="zh-CN" dirty="0"/>
          </a:p>
          <a:p>
            <a:r>
              <a:rPr lang="zh-CN" altLang="en-US" dirty="0"/>
              <a:t>如果用户在进行通信时不断改变自己的地理位置，就会引起无线信道特性的改变，因而信噪比和误码率都会发生变化。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误码率（即比特错误率）</a:t>
            </a:r>
            <a:r>
              <a:rPr lang="zh-CN" altLang="en-US" dirty="0">
                <a:solidFill>
                  <a:srgbClr val="FFFF00"/>
                </a:solidFill>
              </a:rPr>
              <a:t>不能大于</a:t>
            </a:r>
            <a:r>
              <a:rPr lang="zh-CN" altLang="en-US" dirty="0"/>
              <a:t>可容许的范围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033448" y="1021236"/>
            <a:ext cx="3407630" cy="3273580"/>
            <a:chOff x="5146496" y="1236610"/>
            <a:chExt cx="3407630" cy="3273580"/>
          </a:xfrm>
        </p:grpSpPr>
        <p:pic>
          <p:nvPicPr>
            <p:cNvPr id="4" name="图片 3" descr="SNR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193" y="1236610"/>
              <a:ext cx="2627064" cy="286182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5146496" y="2249685"/>
              <a:ext cx="314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码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率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94886" y="4233191"/>
              <a:ext cx="955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信噪比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(dB)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51756" y="4043505"/>
              <a:ext cx="28023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0          10         20         30        40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8" name="TextBox 9"/>
            <p:cNvSpPr txBox="1"/>
            <p:nvPr/>
          </p:nvSpPr>
          <p:spPr>
            <a:xfrm>
              <a:off x="5356284" y="1242732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1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9" name="TextBox 10"/>
            <p:cNvSpPr txBox="1"/>
            <p:nvPr/>
          </p:nvSpPr>
          <p:spPr>
            <a:xfrm>
              <a:off x="5356284" y="1678962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2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0" name="TextBox 11"/>
            <p:cNvSpPr txBox="1"/>
            <p:nvPr/>
          </p:nvSpPr>
          <p:spPr>
            <a:xfrm>
              <a:off x="5356284" y="2115193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3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1" name="TextBox 12"/>
            <p:cNvSpPr txBox="1"/>
            <p:nvPr/>
          </p:nvSpPr>
          <p:spPr>
            <a:xfrm>
              <a:off x="5356284" y="2551424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4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5356284" y="2987655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5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3" name="TextBox 14"/>
            <p:cNvSpPr txBox="1"/>
            <p:nvPr/>
          </p:nvSpPr>
          <p:spPr>
            <a:xfrm>
              <a:off x="5356284" y="3423885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6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4" name="TextBox 15"/>
            <p:cNvSpPr txBox="1"/>
            <p:nvPr/>
          </p:nvSpPr>
          <p:spPr>
            <a:xfrm>
              <a:off x="5356284" y="3860116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7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5" name="TextBox 16"/>
            <p:cNvSpPr txBox="1"/>
            <p:nvPr/>
          </p:nvSpPr>
          <p:spPr>
            <a:xfrm>
              <a:off x="7390552" y="1351789"/>
              <a:ext cx="953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256QAM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 8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6" name="TextBox 17"/>
            <p:cNvSpPr txBox="1"/>
            <p:nvPr/>
          </p:nvSpPr>
          <p:spPr>
            <a:xfrm>
              <a:off x="6569877" y="1351789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16QAM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7" name="TextBox 18"/>
            <p:cNvSpPr txBox="1"/>
            <p:nvPr/>
          </p:nvSpPr>
          <p:spPr>
            <a:xfrm>
              <a:off x="6085260" y="1788020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BPSK</a:t>
              </a:r>
            </a:p>
            <a:p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 </a:t>
              </a:r>
              <a:r>
                <a:rPr lang="en-US" altLang="zh-CN" sz="12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5190655" y="4245807"/>
            <a:ext cx="29881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理想无线信道的误码率与信噪比、调制方式、数据率的关系</a:t>
            </a:r>
            <a:endParaRPr kumimoji="1" lang="zh-CN" altLang="en-US" sz="16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976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微波接力：</a:t>
            </a:r>
            <a:r>
              <a:rPr lang="zh-CN" altLang="en-US" dirty="0"/>
              <a:t>中继站把前一站送来的信号</a:t>
            </a:r>
            <a:r>
              <a:rPr lang="zh-CN" altLang="en-US" dirty="0">
                <a:solidFill>
                  <a:srgbClr val="0000FF"/>
                </a:solidFill>
              </a:rPr>
              <a:t>放大后再发送</a:t>
            </a:r>
            <a:r>
              <a:rPr lang="zh-CN" altLang="en-US" dirty="0"/>
              <a:t>到下一站。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远距离微波通信：</a:t>
            </a:r>
            <a:r>
              <a:rPr lang="zh-CN" altLang="en-US" dirty="0">
                <a:solidFill>
                  <a:srgbClr val="FFFF00"/>
                </a:solidFill>
              </a:rPr>
              <a:t>微波接力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061483" y="1621737"/>
            <a:ext cx="3538165" cy="2629265"/>
            <a:chOff x="885792" y="2664822"/>
            <a:chExt cx="3538165" cy="2629265"/>
          </a:xfrm>
        </p:grpSpPr>
        <p:sp>
          <p:nvSpPr>
            <p:cNvPr id="7" name="弦形 6"/>
            <p:cNvSpPr/>
            <p:nvPr/>
          </p:nvSpPr>
          <p:spPr>
            <a:xfrm rot="5400000">
              <a:off x="1677465" y="2591139"/>
              <a:ext cx="1942936" cy="3462959"/>
            </a:xfrm>
            <a:prstGeom prst="chord">
              <a:avLst>
                <a:gd name="adj1" fmla="val 5820239"/>
                <a:gd name="adj2" fmla="val 15782700"/>
              </a:avLst>
            </a:prstGeom>
            <a:gradFill flip="none" rotWithShape="1">
              <a:gsLst>
                <a:gs pos="0">
                  <a:srgbClr val="800000">
                    <a:tint val="66000"/>
                    <a:satMod val="160000"/>
                  </a:srgbClr>
                </a:gs>
                <a:gs pos="50000">
                  <a:srgbClr val="800000">
                    <a:tint val="44500"/>
                    <a:satMod val="160000"/>
                  </a:srgbClr>
                </a:gs>
                <a:gs pos="100000">
                  <a:srgbClr val="80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885792" y="2664822"/>
              <a:ext cx="3538165" cy="1229629"/>
              <a:chOff x="885792" y="2664822"/>
              <a:chExt cx="3538165" cy="1229629"/>
            </a:xfrm>
          </p:grpSpPr>
          <p:pic>
            <p:nvPicPr>
              <p:cNvPr id="13" name="Picture 216" descr="天线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42031" y="26648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216" descr="天线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179116">
                <a:off x="3923687" y="3086304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216" descr="天线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450255">
                <a:off x="885792" y="30863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左右箭头 15"/>
              <p:cNvSpPr/>
              <p:nvPr/>
            </p:nvSpPr>
            <p:spPr>
              <a:xfrm rot="20456633">
                <a:off x="1253159" y="302542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左右箭头 16"/>
              <p:cNvSpPr/>
              <p:nvPr/>
            </p:nvSpPr>
            <p:spPr>
              <a:xfrm rot="1138772">
                <a:off x="2859359" y="302610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5723894" y="1454818"/>
            <a:ext cx="1697398" cy="2230851"/>
            <a:chOff x="5887738" y="1735588"/>
            <a:chExt cx="1983662" cy="2665435"/>
          </a:xfrm>
        </p:grpSpPr>
        <p:graphicFrame>
          <p:nvGraphicFramePr>
            <p:cNvPr id="18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0750755"/>
                </p:ext>
              </p:extLst>
            </p:nvPr>
          </p:nvGraphicFramePr>
          <p:xfrm>
            <a:off x="6189213" y="3203537"/>
            <a:ext cx="1265096" cy="1197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1" name="绘图" r:id="rId4" imgW="294485" imgH="2535960" progId="">
                    <p:embed/>
                  </p:oleObj>
                </mc:Choice>
                <mc:Fallback>
                  <p:oleObj name="绘图" r:id="rId4" imgW="294485" imgH="2535960" progId="">
                    <p:embed/>
                    <p:pic>
                      <p:nvPicPr>
                        <p:cNvPr id="0" name="Picture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9213" y="3203537"/>
                          <a:ext cx="1265096" cy="11974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0150946">
              <a:off x="6357744" y="1735588"/>
              <a:ext cx="1072989" cy="816935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2925508">
              <a:off x="7353857" y="3299803"/>
              <a:ext cx="445053" cy="590032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19443868" flipH="1">
              <a:off x="5887738" y="3254126"/>
              <a:ext cx="445053" cy="590032"/>
            </a:xfrm>
            <a:prstGeom prst="rect">
              <a:avLst/>
            </a:prstGeom>
          </p:spPr>
        </p:pic>
        <p:cxnSp>
          <p:nvCxnSpPr>
            <p:cNvPr id="23" name="直接连接符 22"/>
            <p:cNvCxnSpPr/>
            <p:nvPr/>
          </p:nvCxnSpPr>
          <p:spPr>
            <a:xfrm flipH="1">
              <a:off x="6237581" y="2325189"/>
              <a:ext cx="5567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928360" y="2325189"/>
              <a:ext cx="5789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矩形 30"/>
          <p:cNvSpPr/>
          <p:nvPr/>
        </p:nvSpPr>
        <p:spPr>
          <a:xfrm>
            <a:off x="1284427" y="3192526"/>
            <a:ext cx="32108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lvl="1"/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100 m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高的天线塔可使传播距离增大到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100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公里</a:t>
            </a:r>
          </a:p>
        </p:txBody>
      </p:sp>
      <p:sp>
        <p:nvSpPr>
          <p:cNvPr id="32" name="矩形 31"/>
          <p:cNvSpPr/>
          <p:nvPr/>
        </p:nvSpPr>
        <p:spPr>
          <a:xfrm>
            <a:off x="5127435" y="3776585"/>
            <a:ext cx="30789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同步地球卫星通信覆盖区的跨度达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18000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多公里</a:t>
            </a:r>
          </a:p>
        </p:txBody>
      </p:sp>
      <p:sp>
        <p:nvSpPr>
          <p:cNvPr id="33" name="矩形 32"/>
          <p:cNvSpPr/>
          <p:nvPr/>
        </p:nvSpPr>
        <p:spPr>
          <a:xfrm>
            <a:off x="7064393" y="1715564"/>
            <a:ext cx="10236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卫星作为中继器</a:t>
            </a:r>
          </a:p>
        </p:txBody>
      </p:sp>
    </p:spTree>
    <p:extLst>
      <p:ext uri="{BB962C8B-B14F-4D97-AF65-F5344CB8AC3E}">
        <p14:creationId xmlns:p14="http://schemas.microsoft.com/office/powerpoint/2010/main" val="253779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</a:t>
            </a:r>
            <a:r>
              <a:rPr lang="zh-CN" altLang="en-US" dirty="0">
                <a:solidFill>
                  <a:srgbClr val="C00000"/>
                </a:solidFill>
              </a:rPr>
              <a:t>特点：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微波波段频率很高，频段范围很宽，其通信信道的容量很大。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工业干扰和天电干扰对微波通信的危害小，微波传输质量较高。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与相同容量和长度的电缆载波通信比较，微波接力通信建设投资少，见效快，易于实施。</a:t>
            </a:r>
            <a:endParaRPr lang="en-US" altLang="zh-CN" dirty="0"/>
          </a:p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主要缺点：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相邻站之间必须直视（常称为视距 </a:t>
            </a:r>
            <a:r>
              <a:rPr lang="en-US" altLang="zh-CN" dirty="0"/>
              <a:t>LOS (Line Of Sight)</a:t>
            </a:r>
            <a:r>
              <a:rPr lang="zh-CN" altLang="en-US" dirty="0"/>
              <a:t>），不能有障碍物，存在多径效应。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有时会受到恶劣气候的影响。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与电缆通信系统比较，微波通信的隐蔽性和保密性较差。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(4) </a:t>
            </a:r>
            <a:r>
              <a:rPr lang="zh-CN" altLang="en-US" dirty="0"/>
              <a:t>对大量中继站的使用和维护要耗费较多的人力和物力。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远距离微波通信：</a:t>
            </a:r>
            <a:r>
              <a:rPr lang="zh-CN" altLang="en-US" dirty="0">
                <a:solidFill>
                  <a:srgbClr val="FFFF00"/>
                </a:solidFill>
              </a:rPr>
              <a:t>微波接力</a:t>
            </a:r>
          </a:p>
        </p:txBody>
      </p:sp>
    </p:spTree>
    <p:extLst>
      <p:ext uri="{BB962C8B-B14F-4D97-AF65-F5344CB8AC3E}">
        <p14:creationId xmlns:p14="http://schemas.microsoft.com/office/powerpoint/2010/main" val="319001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卫星通信</a:t>
            </a:r>
          </a:p>
        </p:txBody>
      </p:sp>
      <p:sp>
        <p:nvSpPr>
          <p:cNvPr id="48" name="矩形 47"/>
          <p:cNvSpPr/>
          <p:nvPr/>
        </p:nvSpPr>
        <p:spPr>
          <a:xfrm>
            <a:off x="663729" y="971991"/>
            <a:ext cx="4426862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通信容量大，通信距离远，通信比较稳定，通信费用与通信距离无关。</a:t>
            </a:r>
          </a:p>
        </p:txBody>
      </p:sp>
      <p:sp>
        <p:nvSpPr>
          <p:cNvPr id="49" name="矩形 48"/>
          <p:cNvSpPr/>
          <p:nvPr/>
        </p:nvSpPr>
        <p:spPr>
          <a:xfrm>
            <a:off x="663728" y="1808855"/>
            <a:ext cx="4757639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较大：在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250~300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之间。</a:t>
            </a:r>
          </a:p>
        </p:txBody>
      </p:sp>
      <p:sp>
        <p:nvSpPr>
          <p:cNvPr id="50" name="矩形 49"/>
          <p:cNvSpPr/>
          <p:nvPr/>
        </p:nvSpPr>
        <p:spPr>
          <a:xfrm>
            <a:off x="707019" y="2264631"/>
            <a:ext cx="4723432" cy="1140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请注意：“卫星信道的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较大”并不等于“用卫星信道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传送数据的时延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较大”。</a:t>
            </a:r>
          </a:p>
        </p:txBody>
      </p:sp>
      <p:sp>
        <p:nvSpPr>
          <p:cNvPr id="51" name="矩形 50"/>
          <p:cNvSpPr/>
          <p:nvPr/>
        </p:nvSpPr>
        <p:spPr>
          <a:xfrm>
            <a:off x="663728" y="3584981"/>
            <a:ext cx="4572000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保密性相对较差。造价较高。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5505442" y="1168997"/>
            <a:ext cx="3288302" cy="2532146"/>
            <a:chOff x="5500067" y="1113556"/>
            <a:chExt cx="3581787" cy="2744339"/>
          </a:xfrm>
        </p:grpSpPr>
        <p:grpSp>
          <p:nvGrpSpPr>
            <p:cNvPr id="46" name="组合 45"/>
            <p:cNvGrpSpPr/>
            <p:nvPr/>
          </p:nvGrpSpPr>
          <p:grpSpPr>
            <a:xfrm>
              <a:off x="5500067" y="1289262"/>
              <a:ext cx="3581787" cy="2568633"/>
              <a:chOff x="5845150" y="1523458"/>
              <a:chExt cx="3286773" cy="2284898"/>
            </a:xfrm>
          </p:grpSpPr>
          <p:graphicFrame>
            <p:nvGraphicFramePr>
              <p:cNvPr id="5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80706143"/>
                  </p:ext>
                </p:extLst>
              </p:nvPr>
            </p:nvGraphicFramePr>
            <p:xfrm>
              <a:off x="6897189" y="2534385"/>
              <a:ext cx="628758" cy="582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74" name="绘图" r:id="rId3" imgW="294485" imgH="2535960" progId="">
                      <p:embed/>
                    </p:oleObj>
                  </mc:Choice>
                  <mc:Fallback>
                    <p:oleObj name="绘图" r:id="rId3" imgW="294485" imgH="2535960" progId="">
                      <p:embed/>
                      <p:pic>
                        <p:nvPicPr>
                          <p:cNvPr id="0" name="Picture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97189" y="2534385"/>
                            <a:ext cx="628758" cy="58212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20150946">
                <a:off x="6752495" y="1523458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9" name="直接连接符 8"/>
              <p:cNvCxnSpPr>
                <a:endCxn id="5" idx="1"/>
              </p:cNvCxnSpPr>
              <p:nvPr/>
            </p:nvCxnSpPr>
            <p:spPr>
              <a:xfrm flipH="1">
                <a:off x="6897189" y="2003669"/>
                <a:ext cx="265543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>
                <a:endCxn id="5" idx="3"/>
              </p:cNvCxnSpPr>
              <p:nvPr/>
            </p:nvCxnSpPr>
            <p:spPr>
              <a:xfrm>
                <a:off x="7211567" y="2003669"/>
                <a:ext cx="314380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6170623">
                <a:off x="7797191" y="3007415"/>
                <a:ext cx="918145" cy="683738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1909173">
                <a:off x="5845150" y="3007416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20" name="直接连接符 19"/>
              <p:cNvCxnSpPr/>
              <p:nvPr/>
            </p:nvCxnSpPr>
            <p:spPr>
              <a:xfrm flipV="1">
                <a:off x="6419555" y="2597083"/>
                <a:ext cx="580918" cy="65976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425005" y="3116512"/>
                <a:ext cx="918261" cy="17776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H="1" flipV="1">
                <a:off x="7085841" y="3116511"/>
                <a:ext cx="1049784" cy="177766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H="1" flipV="1">
                <a:off x="7392450" y="2612554"/>
                <a:ext cx="743175" cy="64429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7764037" y="1865327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7764037" y="2612554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>
                <a:off x="7882166" y="1865327"/>
                <a:ext cx="0" cy="747227"/>
              </a:xfrm>
              <a:prstGeom prst="straightConnector1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矩形 44"/>
              <p:cNvSpPr/>
              <p:nvPr/>
            </p:nvSpPr>
            <p:spPr>
              <a:xfrm>
                <a:off x="7849796" y="2082587"/>
                <a:ext cx="1282127" cy="296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 </a:t>
                </a:r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千公里</a:t>
                </a:r>
              </a:p>
            </p:txBody>
          </p:sp>
        </p:grpSp>
        <p:sp>
          <p:nvSpPr>
            <p:cNvPr id="52" name="矩形 51"/>
            <p:cNvSpPr/>
            <p:nvPr/>
          </p:nvSpPr>
          <p:spPr>
            <a:xfrm>
              <a:off x="6494866" y="1113556"/>
              <a:ext cx="983388" cy="3488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同步卫星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341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卫星通信</a:t>
            </a:r>
          </a:p>
        </p:txBody>
      </p:sp>
      <p:sp>
        <p:nvSpPr>
          <p:cNvPr id="48" name="矩形 47"/>
          <p:cNvSpPr/>
          <p:nvPr/>
        </p:nvSpPr>
        <p:spPr>
          <a:xfrm>
            <a:off x="1033689" y="3629618"/>
            <a:ext cx="7073992" cy="9936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低轨道卫星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通信系统（卫星高度在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公里以下）已开始使用。目前，大功率、大容量、低轨道宽带卫星已开始在空间部署，并构成了空间高速链路。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33688" y="1100764"/>
            <a:ext cx="3338316" cy="2598526"/>
            <a:chOff x="5221598" y="1330787"/>
            <a:chExt cx="3338316" cy="2598526"/>
          </a:xfrm>
        </p:grpSpPr>
        <p:pic>
          <p:nvPicPr>
            <p:cNvPr id="10246" name="Picture 6" descr="https://www.nextbigcoins.io/wp-content/uploads/2018/04/starlinkspacex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1598" y="1330787"/>
              <a:ext cx="3338316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5308834" y="3221427"/>
              <a:ext cx="316384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SpaceX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2015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月提出了“星链”（</a:t>
              </a: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Starlink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）计划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24328" y="1100764"/>
            <a:ext cx="2391764" cy="2410856"/>
            <a:chOff x="2667917" y="1330786"/>
            <a:chExt cx="2391764" cy="2410856"/>
          </a:xfrm>
        </p:grpSpPr>
        <p:pic>
          <p:nvPicPr>
            <p:cNvPr id="10248" name="Picture 8" descr="See the source imag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19" b="16262"/>
            <a:stretch/>
          </p:blipFill>
          <p:spPr bwMode="auto">
            <a:xfrm>
              <a:off x="2667917" y="1330786"/>
              <a:ext cx="2391764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2745544" y="3290236"/>
              <a:ext cx="2236510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鸿雁卫星星座通信系统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688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56963" y="2177144"/>
            <a:ext cx="8048776" cy="215972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8"/>
          <p:cNvSpPr>
            <a:spLocks noChangeArrowheads="1"/>
          </p:cNvSpPr>
          <p:nvPr/>
        </p:nvSpPr>
        <p:spPr bwMode="auto">
          <a:xfrm>
            <a:off x="556963" y="977770"/>
            <a:ext cx="8048776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无线局域网：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无线信道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的计算机局域网。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无线电频段：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通常必须得到无线电频谱管理机构的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许可证。</a:t>
            </a:r>
            <a:endParaRPr lang="en-US" altLang="zh-CN" sz="2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ISM 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频段：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可以自由使用。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1638076" y="2306162"/>
            <a:ext cx="5822428" cy="1851823"/>
            <a:chOff x="1619788" y="2215097"/>
            <a:chExt cx="5822428" cy="1851823"/>
          </a:xfrm>
        </p:grpSpPr>
        <p:grpSp>
          <p:nvGrpSpPr>
            <p:cNvPr id="8" name="组合 7"/>
            <p:cNvGrpSpPr/>
            <p:nvPr/>
          </p:nvGrpSpPr>
          <p:grpSpPr>
            <a:xfrm>
              <a:off x="1619788" y="2215097"/>
              <a:ext cx="5822428" cy="1851823"/>
              <a:chOff x="507339" y="3213083"/>
              <a:chExt cx="9327781" cy="2966700"/>
            </a:xfrm>
          </p:grpSpPr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507339" y="3213083"/>
                <a:ext cx="905417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26                      83.5                                    125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itchFamily="34" charset="-122"/>
                    <a:ea typeface="微软雅黑" pitchFamily="34" charset="-122"/>
                  </a:rPr>
                  <a:t>频带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" name="Text Box 6"/>
              <p:cNvSpPr txBox="1">
                <a:spLocks noChangeArrowheads="1"/>
              </p:cNvSpPr>
              <p:nvPr/>
            </p:nvSpPr>
            <p:spPr bwMode="auto">
              <a:xfrm>
                <a:off x="507339" y="5445107"/>
                <a:ext cx="932778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itchFamily="34" charset="-122"/>
                    <a:ea typeface="微软雅黑" pitchFamily="34" charset="-122"/>
                  </a:rPr>
                  <a:t>频率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902    928       2.4            2.4835          5.725               5.850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MHz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GHz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1396471" y="4062395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>
                <a:off x="1396471" y="5356207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1792023" y="4062395"/>
                <a:ext cx="693077" cy="1293812"/>
              </a:xfrm>
              <a:prstGeom prst="rect">
                <a:avLst/>
              </a:prstGeom>
              <a:solidFill>
                <a:srgbClr val="99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3769783" y="4062395"/>
                <a:ext cx="1485900" cy="129381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7035669" y="4062395"/>
                <a:ext cx="2079228" cy="1293812"/>
              </a:xfrm>
              <a:prstGeom prst="rect">
                <a:avLst/>
              </a:prstGeom>
              <a:solidFill>
                <a:srgbClr val="FF00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Line 12"/>
              <p:cNvSpPr>
                <a:spLocks noChangeShapeType="1"/>
              </p:cNvSpPr>
              <p:nvPr/>
            </p:nvSpPr>
            <p:spPr bwMode="auto">
              <a:xfrm>
                <a:off x="1792023" y="3933807"/>
                <a:ext cx="6930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>
                <a:off x="3769783" y="3933807"/>
                <a:ext cx="14859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7035669" y="3933807"/>
                <a:ext cx="20792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088814" y="3279209"/>
              <a:ext cx="415498" cy="369332"/>
              <a:chOff x="3088814" y="3270065"/>
              <a:chExt cx="415498" cy="369332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088814" y="2499742"/>
              <a:ext cx="415498" cy="369332"/>
              <a:chOff x="3088814" y="3270065"/>
              <a:chExt cx="415498" cy="36933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4959472" y="3279209"/>
              <a:ext cx="415498" cy="369332"/>
              <a:chOff x="3088814" y="3270065"/>
              <a:chExt cx="415498" cy="36933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959472" y="2499742"/>
              <a:ext cx="415498" cy="369332"/>
              <a:chOff x="3088814" y="3270065"/>
              <a:chExt cx="415498" cy="369332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</p:grpSp>
      <p:sp>
        <p:nvSpPr>
          <p:cNvPr id="19" name="文本占位符 1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 无线局域网使用的 </a:t>
            </a:r>
            <a:r>
              <a:rPr lang="en-US" altLang="zh-CN" dirty="0"/>
              <a:t>ISM </a:t>
            </a:r>
            <a:r>
              <a:rPr lang="zh-CN" altLang="en-US" dirty="0"/>
              <a:t>频段</a:t>
            </a:r>
          </a:p>
        </p:txBody>
      </p:sp>
    </p:spTree>
    <p:extLst>
      <p:ext uri="{BB962C8B-B14F-4D97-AF65-F5344CB8AC3E}">
        <p14:creationId xmlns:p14="http://schemas.microsoft.com/office/powerpoint/2010/main" val="373473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629135" y="258938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629135" y="138822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629135" y="1994646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16783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34221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2.4.1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频分复用、时分复用和统计时分复用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2.4.2 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波分复用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2.4.3 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码分复用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88221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83153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信道复用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318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2.4.1  </a:t>
            </a:r>
            <a:r>
              <a:rPr lang="zh-CN" altLang="en-US" dirty="0"/>
              <a:t>频分复用、时分复用和统计时分复用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复用</a:t>
            </a:r>
            <a:r>
              <a:rPr lang="zh-CN" altLang="en-US" dirty="0"/>
              <a:t> </a:t>
            </a:r>
            <a:r>
              <a:rPr lang="en-US" altLang="zh-CN" dirty="0"/>
              <a:t>(multiplexing) </a:t>
            </a:r>
            <a:r>
              <a:rPr lang="zh-CN" altLang="en-US" dirty="0"/>
              <a:t>：允许用户使用一个共享信道进行通信。</a:t>
            </a:r>
          </a:p>
          <a:p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1359446" y="1515868"/>
            <a:ext cx="6522720" cy="29080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998524" y="1565660"/>
            <a:ext cx="5168206" cy="1317176"/>
            <a:chOff x="1442906" y="2204864"/>
            <a:chExt cx="7099300" cy="1809336"/>
          </a:xfrm>
        </p:grpSpPr>
        <p:sp>
          <p:nvSpPr>
            <p:cNvPr id="7" name="Line 39"/>
            <p:cNvSpPr>
              <a:spLocks noChangeShapeType="1"/>
            </p:cNvSpPr>
            <p:nvPr/>
          </p:nvSpPr>
          <p:spPr bwMode="auto">
            <a:xfrm>
              <a:off x="1840178" y="2546177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40"/>
            <p:cNvSpPr>
              <a:spLocks noChangeShapeType="1"/>
            </p:cNvSpPr>
            <p:nvPr/>
          </p:nvSpPr>
          <p:spPr bwMode="auto">
            <a:xfrm>
              <a:off x="1840178" y="3039889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Line 41"/>
            <p:cNvSpPr>
              <a:spLocks noChangeShapeType="1"/>
            </p:cNvSpPr>
            <p:nvPr/>
          </p:nvSpPr>
          <p:spPr bwMode="auto">
            <a:xfrm>
              <a:off x="1840178" y="3533602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Oval 42"/>
            <p:cNvSpPr>
              <a:spLocks noChangeArrowheads="1"/>
            </p:cNvSpPr>
            <p:nvPr/>
          </p:nvSpPr>
          <p:spPr bwMode="auto">
            <a:xfrm>
              <a:off x="1442906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1" name="Oval 43"/>
            <p:cNvSpPr>
              <a:spLocks noChangeArrowheads="1"/>
            </p:cNvSpPr>
            <p:nvPr/>
          </p:nvSpPr>
          <p:spPr bwMode="auto">
            <a:xfrm>
              <a:off x="8144934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2" name="Oval 44"/>
            <p:cNvSpPr>
              <a:spLocks noChangeArrowheads="1"/>
            </p:cNvSpPr>
            <p:nvPr/>
          </p:nvSpPr>
          <p:spPr bwMode="auto">
            <a:xfrm>
              <a:off x="1442906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3" name="Oval 45"/>
            <p:cNvSpPr>
              <a:spLocks noChangeArrowheads="1"/>
            </p:cNvSpPr>
            <p:nvPr/>
          </p:nvSpPr>
          <p:spPr bwMode="auto">
            <a:xfrm>
              <a:off x="8144934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4" name="Oval 46"/>
            <p:cNvSpPr>
              <a:spLocks noChangeArrowheads="1"/>
            </p:cNvSpPr>
            <p:nvPr/>
          </p:nvSpPr>
          <p:spPr bwMode="auto">
            <a:xfrm>
              <a:off x="1442906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5" name="Oval 47"/>
            <p:cNvSpPr>
              <a:spLocks noChangeArrowheads="1"/>
            </p:cNvSpPr>
            <p:nvPr/>
          </p:nvSpPr>
          <p:spPr bwMode="auto">
            <a:xfrm>
              <a:off x="8144934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6" name="Text Box 60"/>
            <p:cNvSpPr txBox="1">
              <a:spLocks noChangeArrowheads="1"/>
            </p:cNvSpPr>
            <p:nvPr/>
          </p:nvSpPr>
          <p:spPr bwMode="auto">
            <a:xfrm>
              <a:off x="3766221" y="3591424"/>
              <a:ext cx="2389571" cy="422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(a)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使用单独的信道</a:t>
              </a:r>
            </a:p>
          </p:txBody>
        </p:sp>
        <p:sp>
          <p:nvSpPr>
            <p:cNvPr id="17" name="Line 64"/>
            <p:cNvSpPr>
              <a:spLocks noChangeShapeType="1"/>
            </p:cNvSpPr>
            <p:nvPr/>
          </p:nvSpPr>
          <p:spPr bwMode="auto">
            <a:xfrm>
              <a:off x="3676915" y="2431877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65"/>
            <p:cNvSpPr>
              <a:spLocks noChangeShapeType="1"/>
            </p:cNvSpPr>
            <p:nvPr/>
          </p:nvSpPr>
          <p:spPr bwMode="auto">
            <a:xfrm>
              <a:off x="3676915" y="2912889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66"/>
            <p:cNvSpPr>
              <a:spLocks noChangeShapeType="1"/>
            </p:cNvSpPr>
            <p:nvPr/>
          </p:nvSpPr>
          <p:spPr bwMode="auto">
            <a:xfrm>
              <a:off x="3676915" y="3417714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AutoShape 78"/>
            <p:cNvSpPr>
              <a:spLocks noChangeArrowheads="1"/>
            </p:cNvSpPr>
            <p:nvPr/>
          </p:nvSpPr>
          <p:spPr bwMode="auto">
            <a:xfrm>
              <a:off x="4793060" y="319228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Oval 80"/>
            <p:cNvSpPr>
              <a:spLocks noChangeArrowheads="1"/>
            </p:cNvSpPr>
            <p:nvPr/>
          </p:nvSpPr>
          <p:spPr bwMode="auto">
            <a:xfrm>
              <a:off x="1921008" y="2357264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Oval 81"/>
            <p:cNvSpPr>
              <a:spLocks noChangeArrowheads="1"/>
            </p:cNvSpPr>
            <p:nvPr/>
          </p:nvSpPr>
          <p:spPr bwMode="auto">
            <a:xfrm>
              <a:off x="4801658" y="22048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Oval 82"/>
            <p:cNvSpPr>
              <a:spLocks noChangeArrowheads="1"/>
            </p:cNvSpPr>
            <p:nvPr/>
          </p:nvSpPr>
          <p:spPr bwMode="auto">
            <a:xfrm>
              <a:off x="7904163" y="23572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Rectangle 83"/>
            <p:cNvSpPr>
              <a:spLocks noChangeArrowheads="1"/>
            </p:cNvSpPr>
            <p:nvPr/>
          </p:nvSpPr>
          <p:spPr bwMode="auto">
            <a:xfrm>
              <a:off x="7904163" y="2887489"/>
              <a:ext cx="12726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84"/>
            <p:cNvSpPr>
              <a:spLocks noChangeArrowheads="1"/>
            </p:cNvSpPr>
            <p:nvPr/>
          </p:nvSpPr>
          <p:spPr bwMode="auto">
            <a:xfrm>
              <a:off x="1921008" y="288748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Rectangle 85"/>
            <p:cNvSpPr>
              <a:spLocks noChangeArrowheads="1"/>
            </p:cNvSpPr>
            <p:nvPr/>
          </p:nvSpPr>
          <p:spPr bwMode="auto">
            <a:xfrm>
              <a:off x="4817137" y="2736678"/>
              <a:ext cx="128984" cy="122237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AutoShape 86"/>
            <p:cNvSpPr>
              <a:spLocks noChangeArrowheads="1"/>
            </p:cNvSpPr>
            <p:nvPr/>
          </p:nvSpPr>
          <p:spPr bwMode="auto">
            <a:xfrm>
              <a:off x="7905328" y="3309765"/>
              <a:ext cx="178858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AutoShape 87"/>
            <p:cNvSpPr>
              <a:spLocks noChangeArrowheads="1"/>
            </p:cNvSpPr>
            <p:nvPr/>
          </p:nvSpPr>
          <p:spPr bwMode="auto">
            <a:xfrm>
              <a:off x="1895211" y="3324052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998524" y="3093975"/>
            <a:ext cx="5168206" cy="1130668"/>
            <a:chOff x="1442906" y="4221088"/>
            <a:chExt cx="7099300" cy="1553139"/>
          </a:xfrm>
        </p:grpSpPr>
        <p:sp>
          <p:nvSpPr>
            <p:cNvPr id="30" name="Text Box 92"/>
            <p:cNvSpPr txBox="1">
              <a:spLocks noChangeArrowheads="1"/>
            </p:cNvSpPr>
            <p:nvPr/>
          </p:nvSpPr>
          <p:spPr bwMode="auto">
            <a:xfrm>
              <a:off x="451827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+</a:t>
              </a:r>
            </a:p>
          </p:txBody>
        </p:sp>
        <p:sp>
          <p:nvSpPr>
            <p:cNvPr id="31" name="Text Box 93"/>
            <p:cNvSpPr txBox="1">
              <a:spLocks noChangeArrowheads="1"/>
            </p:cNvSpPr>
            <p:nvPr/>
          </p:nvSpPr>
          <p:spPr bwMode="auto">
            <a:xfrm>
              <a:off x="3944925" y="4403926"/>
              <a:ext cx="1948046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               )</a:t>
              </a: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492586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+</a:t>
              </a:r>
            </a:p>
          </p:txBody>
        </p:sp>
        <p:sp>
          <p:nvSpPr>
            <p:cNvPr id="33" name="Line 38"/>
            <p:cNvSpPr>
              <a:spLocks noChangeShapeType="1"/>
            </p:cNvSpPr>
            <p:nvPr/>
          </p:nvSpPr>
          <p:spPr bwMode="auto">
            <a:xfrm>
              <a:off x="1840178" y="4903712"/>
              <a:ext cx="63821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auto">
            <a:xfrm>
              <a:off x="2717271" y="4903712"/>
              <a:ext cx="47087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49"/>
            <p:cNvSpPr>
              <a:spLocks noChangeShapeType="1"/>
            </p:cNvSpPr>
            <p:nvPr/>
          </p:nvSpPr>
          <p:spPr bwMode="auto">
            <a:xfrm>
              <a:off x="7426061" y="4979912"/>
              <a:ext cx="877094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auto">
            <a:xfrm flipH="1">
              <a:off x="7426061" y="4448099"/>
              <a:ext cx="877094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 flipV="1">
              <a:off x="1759347" y="4979912"/>
              <a:ext cx="878813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52"/>
            <p:cNvSpPr>
              <a:spLocks noChangeShapeType="1"/>
            </p:cNvSpPr>
            <p:nvPr/>
          </p:nvSpPr>
          <p:spPr bwMode="auto">
            <a:xfrm>
              <a:off x="1759347" y="4448099"/>
              <a:ext cx="878813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Oval 53"/>
            <p:cNvSpPr>
              <a:spLocks noChangeArrowheads="1"/>
            </p:cNvSpPr>
            <p:nvPr/>
          </p:nvSpPr>
          <p:spPr bwMode="auto">
            <a:xfrm>
              <a:off x="1442906" y="42210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" name="Oval 54"/>
            <p:cNvSpPr>
              <a:spLocks noChangeArrowheads="1"/>
            </p:cNvSpPr>
            <p:nvPr/>
          </p:nvSpPr>
          <p:spPr bwMode="auto">
            <a:xfrm>
              <a:off x="8144934" y="42210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1" name="Oval 55"/>
            <p:cNvSpPr>
              <a:spLocks noChangeArrowheads="1"/>
            </p:cNvSpPr>
            <p:nvPr/>
          </p:nvSpPr>
          <p:spPr bwMode="auto">
            <a:xfrm>
              <a:off x="1442906" y="47036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2" name="Oval 56"/>
            <p:cNvSpPr>
              <a:spLocks noChangeArrowheads="1"/>
            </p:cNvSpPr>
            <p:nvPr/>
          </p:nvSpPr>
          <p:spPr bwMode="auto">
            <a:xfrm>
              <a:off x="8144934" y="47036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3" name="Oval 57"/>
            <p:cNvSpPr>
              <a:spLocks noChangeArrowheads="1"/>
            </p:cNvSpPr>
            <p:nvPr/>
          </p:nvSpPr>
          <p:spPr bwMode="auto">
            <a:xfrm>
              <a:off x="1442906" y="5208513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4" name="Oval 58"/>
            <p:cNvSpPr>
              <a:spLocks noChangeArrowheads="1"/>
            </p:cNvSpPr>
            <p:nvPr/>
          </p:nvSpPr>
          <p:spPr bwMode="auto">
            <a:xfrm>
              <a:off x="8144934" y="5208513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5" name="Text Box 59"/>
            <p:cNvSpPr txBox="1">
              <a:spLocks noChangeArrowheads="1"/>
            </p:cNvSpPr>
            <p:nvPr/>
          </p:nvSpPr>
          <p:spPr bwMode="auto">
            <a:xfrm>
              <a:off x="4328715" y="4929112"/>
              <a:ext cx="1240145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共享信道</a:t>
              </a:r>
            </a:p>
          </p:txBody>
        </p:sp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3916411" y="5351450"/>
              <a:ext cx="2164969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(b)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使用共享信道</a:t>
              </a:r>
            </a:p>
          </p:txBody>
        </p:sp>
        <p:sp>
          <p:nvSpPr>
            <p:cNvPr id="47" name="Oval 62"/>
            <p:cNvSpPr>
              <a:spLocks noChangeArrowheads="1"/>
            </p:cNvSpPr>
            <p:nvPr/>
          </p:nvSpPr>
          <p:spPr bwMode="auto">
            <a:xfrm>
              <a:off x="2431785" y="4702100"/>
              <a:ext cx="717154" cy="37941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复用</a:t>
              </a:r>
            </a:p>
          </p:txBody>
        </p:sp>
        <p:sp>
          <p:nvSpPr>
            <p:cNvPr id="48" name="Oval 63"/>
            <p:cNvSpPr>
              <a:spLocks noChangeArrowheads="1"/>
            </p:cNvSpPr>
            <p:nvPr/>
          </p:nvSpPr>
          <p:spPr bwMode="auto">
            <a:xfrm>
              <a:off x="7047706" y="4716387"/>
              <a:ext cx="717154" cy="3794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分用</a:t>
              </a:r>
            </a:p>
          </p:txBody>
        </p:sp>
        <p:sp>
          <p:nvSpPr>
            <p:cNvPr id="49" name="Line 67"/>
            <p:cNvSpPr>
              <a:spLocks noChangeShapeType="1"/>
            </p:cNvSpPr>
            <p:nvPr/>
          </p:nvSpPr>
          <p:spPr bwMode="auto">
            <a:xfrm>
              <a:off x="3676915" y="4776712"/>
              <a:ext cx="2390510" cy="0"/>
            </a:xfrm>
            <a:prstGeom prst="line">
              <a:avLst/>
            </a:prstGeom>
            <a:noFill/>
            <a:ln w="28575">
              <a:solidFill>
                <a:srgbClr val="99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68"/>
            <p:cNvSpPr>
              <a:spLocks noChangeShapeType="1"/>
            </p:cNvSpPr>
            <p:nvPr/>
          </p:nvSpPr>
          <p:spPr bwMode="auto">
            <a:xfrm>
              <a:off x="1910689" y="48592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69"/>
            <p:cNvSpPr>
              <a:spLocks noChangeShapeType="1"/>
            </p:cNvSpPr>
            <p:nvPr/>
          </p:nvSpPr>
          <p:spPr bwMode="auto">
            <a:xfrm>
              <a:off x="7744222" y="48290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70"/>
            <p:cNvSpPr>
              <a:spLocks noChangeShapeType="1"/>
            </p:cNvSpPr>
            <p:nvPr/>
          </p:nvSpPr>
          <p:spPr bwMode="auto">
            <a:xfrm rot="1484370">
              <a:off x="1979481" y="45544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71"/>
            <p:cNvSpPr>
              <a:spLocks noChangeShapeType="1"/>
            </p:cNvSpPr>
            <p:nvPr/>
          </p:nvSpPr>
          <p:spPr bwMode="auto">
            <a:xfrm rot="1484370">
              <a:off x="7802695" y="51719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72"/>
            <p:cNvSpPr>
              <a:spLocks noChangeShapeType="1"/>
            </p:cNvSpPr>
            <p:nvPr/>
          </p:nvSpPr>
          <p:spPr bwMode="auto">
            <a:xfrm rot="-1648508">
              <a:off x="1922727" y="5138663"/>
              <a:ext cx="398992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73"/>
            <p:cNvSpPr>
              <a:spLocks noChangeShapeType="1"/>
            </p:cNvSpPr>
            <p:nvPr/>
          </p:nvSpPr>
          <p:spPr bwMode="auto">
            <a:xfrm rot="-1648508">
              <a:off x="7659952" y="4563988"/>
              <a:ext cx="398992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Oval 74"/>
            <p:cNvSpPr>
              <a:spLocks noChangeArrowheads="1"/>
            </p:cNvSpPr>
            <p:nvPr/>
          </p:nvSpPr>
          <p:spPr bwMode="auto">
            <a:xfrm>
              <a:off x="2098146" y="4293096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Oval 75"/>
            <p:cNvSpPr>
              <a:spLocks noChangeArrowheads="1"/>
            </p:cNvSpPr>
            <p:nvPr/>
          </p:nvSpPr>
          <p:spPr bwMode="auto">
            <a:xfrm>
              <a:off x="7728744" y="4365104"/>
              <a:ext cx="159941" cy="15081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Rectangle 76"/>
            <p:cNvSpPr>
              <a:spLocks noChangeArrowheads="1"/>
            </p:cNvSpPr>
            <p:nvPr/>
          </p:nvSpPr>
          <p:spPr bwMode="auto">
            <a:xfrm>
              <a:off x="2012157" y="4692574"/>
              <a:ext cx="12898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77"/>
            <p:cNvSpPr>
              <a:spLocks noChangeArrowheads="1"/>
            </p:cNvSpPr>
            <p:nvPr/>
          </p:nvSpPr>
          <p:spPr bwMode="auto">
            <a:xfrm>
              <a:off x="7874927" y="4679874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AutoShape 79"/>
            <p:cNvSpPr>
              <a:spLocks noChangeArrowheads="1"/>
            </p:cNvSpPr>
            <p:nvPr/>
          </p:nvSpPr>
          <p:spPr bwMode="auto">
            <a:xfrm>
              <a:off x="7919641" y="496244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AutoShape 88"/>
            <p:cNvSpPr>
              <a:spLocks noChangeArrowheads="1"/>
            </p:cNvSpPr>
            <p:nvPr/>
          </p:nvSpPr>
          <p:spPr bwMode="auto">
            <a:xfrm>
              <a:off x="1943364" y="4978325"/>
              <a:ext cx="180579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Oval 89"/>
            <p:cNvSpPr>
              <a:spLocks noChangeArrowheads="1"/>
            </p:cNvSpPr>
            <p:nvPr/>
          </p:nvSpPr>
          <p:spPr bwMode="auto">
            <a:xfrm>
              <a:off x="4428845" y="4548112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Rectangle 90"/>
            <p:cNvSpPr>
              <a:spLocks noChangeArrowheads="1"/>
            </p:cNvSpPr>
            <p:nvPr/>
          </p:nvSpPr>
          <p:spPr bwMode="auto">
            <a:xfrm>
              <a:off x="4827836" y="456239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AutoShape 91"/>
            <p:cNvSpPr>
              <a:spLocks noChangeArrowheads="1"/>
            </p:cNvSpPr>
            <p:nvPr/>
          </p:nvSpPr>
          <p:spPr bwMode="auto">
            <a:xfrm>
              <a:off x="5206190" y="453699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660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4114365" cy="3172691"/>
          </a:xfrm>
        </p:spPr>
        <p:txBody>
          <a:bodyPr/>
          <a:lstStyle/>
          <a:p>
            <a:r>
              <a:rPr lang="zh-CN" altLang="en-US" dirty="0"/>
              <a:t>最基本。</a:t>
            </a:r>
            <a:endParaRPr lang="en-US" altLang="zh-CN" dirty="0"/>
          </a:p>
          <a:p>
            <a:r>
              <a:rPr lang="zh-CN" altLang="en-US" dirty="0"/>
              <a:t>将整个带宽分为多份，用户在分配到一定的频带后，在通信过程中</a:t>
            </a:r>
            <a:r>
              <a:rPr lang="zh-CN" altLang="en-US" dirty="0">
                <a:solidFill>
                  <a:srgbClr val="C00000"/>
                </a:solidFill>
              </a:rPr>
              <a:t>自始至终</a:t>
            </a:r>
            <a:r>
              <a:rPr lang="zh-CN" altLang="en-US" dirty="0"/>
              <a:t>都占用这个频带。</a:t>
            </a:r>
          </a:p>
          <a:p>
            <a:r>
              <a:rPr lang="zh-CN" altLang="en-US" dirty="0"/>
              <a:t>所有用户在同样的时间占用</a:t>
            </a:r>
            <a:r>
              <a:rPr lang="zh-CN" altLang="en-US" dirty="0">
                <a:solidFill>
                  <a:srgbClr val="C00000"/>
                </a:solidFill>
              </a:rPr>
              <a:t>不同的</a:t>
            </a:r>
            <a:r>
              <a:rPr lang="zh-CN" altLang="en-US" dirty="0"/>
              <a:t>带宽（即频带）资源。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频分复用 </a:t>
            </a:r>
            <a:r>
              <a:rPr lang="en-US" altLang="zh-CN" dirty="0"/>
              <a:t>FDM (Frequency Division Multiplexing) 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4704915" y="1100542"/>
            <a:ext cx="4004378" cy="2982879"/>
            <a:chOff x="1729417" y="3361217"/>
            <a:chExt cx="7124058" cy="2982879"/>
          </a:xfrm>
        </p:grpSpPr>
        <p:sp>
          <p:nvSpPr>
            <p:cNvPr id="7" name="Text Box 29"/>
            <p:cNvSpPr txBox="1">
              <a:spLocks noChangeArrowheads="1"/>
            </p:cNvSpPr>
            <p:nvPr/>
          </p:nvSpPr>
          <p:spPr bwMode="auto">
            <a:xfrm>
              <a:off x="1729417" y="3361217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频率</a:t>
              </a:r>
            </a:p>
          </p:txBody>
        </p:sp>
        <p:sp>
          <p:nvSpPr>
            <p:cNvPr id="8" name="Text Box 30"/>
            <p:cNvSpPr txBox="1">
              <a:spLocks noChangeArrowheads="1"/>
            </p:cNvSpPr>
            <p:nvPr/>
          </p:nvSpPr>
          <p:spPr bwMode="auto">
            <a:xfrm>
              <a:off x="7886127" y="6057864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时间</a:t>
              </a:r>
            </a:p>
          </p:txBody>
        </p:sp>
        <p:sp>
          <p:nvSpPr>
            <p:cNvPr id="9" name="Rectangle 31"/>
            <p:cNvSpPr>
              <a:spLocks noChangeArrowheads="1"/>
            </p:cNvSpPr>
            <p:nvPr/>
          </p:nvSpPr>
          <p:spPr bwMode="auto">
            <a:xfrm>
              <a:off x="2192736" y="3915303"/>
              <a:ext cx="6005512" cy="387350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Rectangle 32"/>
            <p:cNvSpPr>
              <a:spLocks noChangeArrowheads="1"/>
            </p:cNvSpPr>
            <p:nvPr/>
          </p:nvSpPr>
          <p:spPr bwMode="auto">
            <a:xfrm>
              <a:off x="2192736" y="4302653"/>
              <a:ext cx="6005512" cy="387350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Rectangle 34"/>
            <p:cNvSpPr>
              <a:spLocks noChangeArrowheads="1"/>
            </p:cNvSpPr>
            <p:nvPr/>
          </p:nvSpPr>
          <p:spPr bwMode="auto">
            <a:xfrm>
              <a:off x="2192736" y="5077353"/>
              <a:ext cx="6005512" cy="38735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Rectangle 35"/>
            <p:cNvSpPr>
              <a:spLocks noChangeArrowheads="1"/>
            </p:cNvSpPr>
            <p:nvPr/>
          </p:nvSpPr>
          <p:spPr bwMode="auto">
            <a:xfrm>
              <a:off x="2192736" y="5464703"/>
              <a:ext cx="6005512" cy="38735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36"/>
            <p:cNvSpPr txBox="1">
              <a:spLocks noChangeArrowheads="1"/>
            </p:cNvSpPr>
            <p:nvPr/>
          </p:nvSpPr>
          <p:spPr bwMode="auto">
            <a:xfrm>
              <a:off x="4765546" y="5521853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4" name="Text Box 37"/>
            <p:cNvSpPr txBox="1">
              <a:spLocks noChangeArrowheads="1"/>
            </p:cNvSpPr>
            <p:nvPr/>
          </p:nvSpPr>
          <p:spPr bwMode="auto">
            <a:xfrm>
              <a:off x="4765546" y="5132916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4915163" y="4307733"/>
              <a:ext cx="604202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  <a:endParaRPr kumimoji="1" lang="zh-CN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endParaRPr>
            </a:p>
          </p:txBody>
        </p:sp>
        <p:sp>
          <p:nvSpPr>
            <p:cNvPr id="16" name="Text Box 40"/>
            <p:cNvSpPr txBox="1">
              <a:spLocks noChangeArrowheads="1"/>
            </p:cNvSpPr>
            <p:nvPr/>
          </p:nvSpPr>
          <p:spPr bwMode="auto">
            <a:xfrm>
              <a:off x="4765546" y="3958166"/>
              <a:ext cx="118393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n</a:t>
              </a: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2199896" y="4690002"/>
              <a:ext cx="6005512" cy="387351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4765546" y="4753572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cxnSp>
          <p:nvCxnSpPr>
            <p:cNvPr id="19" name="直接箭头连接符 18"/>
            <p:cNvCxnSpPr>
              <a:stCxn id="20" idx="0"/>
            </p:cNvCxnSpPr>
            <p:nvPr/>
          </p:nvCxnSpPr>
          <p:spPr bwMode="auto">
            <a:xfrm>
              <a:off x="2192735" y="6030580"/>
              <a:ext cx="64326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Line 41"/>
            <p:cNvSpPr>
              <a:spLocks noChangeShapeType="1"/>
            </p:cNvSpPr>
            <p:nvPr/>
          </p:nvSpPr>
          <p:spPr bwMode="auto">
            <a:xfrm rot="-5400000">
              <a:off x="983457" y="4821302"/>
              <a:ext cx="2418555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992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将时间划分为一段段</a:t>
            </a:r>
            <a:r>
              <a:rPr lang="zh-CN" altLang="en-US" dirty="0">
                <a:solidFill>
                  <a:srgbClr val="C00000"/>
                </a:solidFill>
              </a:rPr>
              <a:t>等长的</a:t>
            </a:r>
            <a:r>
              <a:rPr lang="zh-CN" altLang="en-US" dirty="0"/>
              <a:t>时分复用帧（</a:t>
            </a:r>
            <a:r>
              <a:rPr lang="en-US" altLang="zh-CN" dirty="0"/>
              <a:t>TDM</a:t>
            </a:r>
            <a:r>
              <a:rPr lang="zh-CN" altLang="en-US" dirty="0"/>
              <a:t>帧）。</a:t>
            </a:r>
            <a:endParaRPr lang="en-US" altLang="zh-CN" dirty="0"/>
          </a:p>
          <a:p>
            <a:r>
              <a:rPr lang="zh-CN" altLang="en-US" dirty="0"/>
              <a:t>每一个时分复用的用户</a:t>
            </a:r>
            <a:r>
              <a:rPr lang="zh-CN" altLang="en-US" dirty="0">
                <a:solidFill>
                  <a:srgbClr val="0000FF"/>
                </a:solidFill>
              </a:rPr>
              <a:t>在每一个 </a:t>
            </a:r>
            <a:r>
              <a:rPr lang="en-US" altLang="zh-CN" dirty="0">
                <a:solidFill>
                  <a:srgbClr val="0000FF"/>
                </a:solidFill>
              </a:rPr>
              <a:t>TDM </a:t>
            </a:r>
            <a:r>
              <a:rPr lang="zh-CN" altLang="en-US" dirty="0">
                <a:solidFill>
                  <a:srgbClr val="0000FF"/>
                </a:solidFill>
              </a:rPr>
              <a:t>帧中占用固定序号的</a:t>
            </a:r>
            <a:r>
              <a:rPr lang="zh-CN" altLang="en-US" dirty="0">
                <a:solidFill>
                  <a:srgbClr val="C00000"/>
                </a:solidFill>
              </a:rPr>
              <a:t>时隙。</a:t>
            </a:r>
          </a:p>
          <a:p>
            <a:r>
              <a:rPr lang="zh-CN" altLang="en-US" dirty="0"/>
              <a:t>每一个用户所占用的时隙是</a:t>
            </a:r>
            <a:r>
              <a:rPr lang="zh-CN" altLang="en-US" dirty="0">
                <a:solidFill>
                  <a:srgbClr val="C00000"/>
                </a:solidFill>
              </a:rPr>
              <a:t>周期性</a:t>
            </a:r>
            <a:r>
              <a:rPr lang="zh-CN" altLang="en-US" dirty="0"/>
              <a:t>地出现（其周期就是</a:t>
            </a:r>
            <a:r>
              <a:rPr lang="en-US" altLang="zh-CN" dirty="0"/>
              <a:t>TDM</a:t>
            </a:r>
            <a:r>
              <a:rPr lang="zh-CN" altLang="en-US" dirty="0"/>
              <a:t>帧的长度）的。</a:t>
            </a:r>
            <a:endParaRPr lang="en-US" altLang="zh-CN" dirty="0"/>
          </a:p>
          <a:p>
            <a:r>
              <a:rPr lang="en-US" altLang="zh-CN" dirty="0"/>
              <a:t>TDM </a:t>
            </a:r>
            <a:r>
              <a:rPr lang="zh-CN" altLang="en-US" dirty="0"/>
              <a:t>信号也称为</a:t>
            </a:r>
            <a:r>
              <a:rPr lang="zh-CN" altLang="en-US" dirty="0">
                <a:solidFill>
                  <a:srgbClr val="0000FF"/>
                </a:solidFill>
              </a:rPr>
              <a:t>等时</a:t>
            </a:r>
            <a:r>
              <a:rPr lang="zh-CN" altLang="en-US" dirty="0"/>
              <a:t> </a:t>
            </a:r>
            <a:r>
              <a:rPr lang="en-US" altLang="zh-CN" dirty="0"/>
              <a:t>(isochronous) </a:t>
            </a:r>
            <a:r>
              <a:rPr lang="zh-CN" altLang="en-US" dirty="0"/>
              <a:t>信号。</a:t>
            </a:r>
          </a:p>
          <a:p>
            <a:r>
              <a:rPr lang="zh-CN" altLang="en-US" dirty="0"/>
              <a:t>所有用户在不同的时间占用</a:t>
            </a:r>
            <a:r>
              <a:rPr lang="zh-CN" altLang="en-US" dirty="0">
                <a:solidFill>
                  <a:srgbClr val="C00000"/>
                </a:solidFill>
              </a:rPr>
              <a:t>同样的</a:t>
            </a:r>
            <a:r>
              <a:rPr lang="zh-CN" altLang="en-US" dirty="0"/>
              <a:t>频带宽度。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 </a:t>
            </a:r>
            <a:r>
              <a:rPr lang="en-US" altLang="zh-CN" dirty="0"/>
              <a:t>TDM (Time Division Multiplexing)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41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 </a:t>
            </a:r>
            <a:r>
              <a:rPr lang="en-US" altLang="zh-CN" dirty="0"/>
              <a:t>TDM (Time Division Multiplexing)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591799" y="1045896"/>
            <a:ext cx="7794557" cy="32564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V="1">
            <a:off x="1353090" y="4073052"/>
            <a:ext cx="6053803" cy="10153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50934" y="132897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频率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406893" y="390904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时间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63747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92343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20781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778162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3064119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334850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91884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20480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48918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5059533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345490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562987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grpSp>
        <p:nvGrpSpPr>
          <p:cNvPr id="22" name="Group 18"/>
          <p:cNvGrpSpPr>
            <a:grpSpLocks/>
          </p:cNvGrpSpPr>
          <p:nvPr/>
        </p:nvGrpSpPr>
        <p:grpSpPr bwMode="auto">
          <a:xfrm>
            <a:off x="1353091" y="1780078"/>
            <a:ext cx="3706442" cy="1709940"/>
            <a:chOff x="930" y="1661"/>
            <a:chExt cx="2359" cy="1179"/>
          </a:xfrm>
        </p:grpSpPr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930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656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2382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3108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</p:grpSp>
      <p:grpSp>
        <p:nvGrpSpPr>
          <p:cNvPr id="27" name="Group 30"/>
          <p:cNvGrpSpPr>
            <a:grpSpLocks/>
          </p:cNvGrpSpPr>
          <p:nvPr/>
        </p:nvGrpSpPr>
        <p:grpSpPr bwMode="auto">
          <a:xfrm>
            <a:off x="1353090" y="3556734"/>
            <a:ext cx="1139115" cy="416246"/>
            <a:chOff x="930" y="2886"/>
            <a:chExt cx="725" cy="287"/>
          </a:xfrm>
        </p:grpSpPr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1017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29" name="AutoShape 32"/>
            <p:cNvSpPr>
              <a:spLocks/>
            </p:cNvSpPr>
            <p:nvPr/>
          </p:nvSpPr>
          <p:spPr bwMode="auto">
            <a:xfrm rot="16200000" flipV="1">
              <a:off x="124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Group 33"/>
          <p:cNvGrpSpPr>
            <a:grpSpLocks/>
          </p:cNvGrpSpPr>
          <p:nvPr/>
        </p:nvGrpSpPr>
        <p:grpSpPr bwMode="auto">
          <a:xfrm>
            <a:off x="2492206" y="3556734"/>
            <a:ext cx="1139113" cy="416246"/>
            <a:chOff x="1655" y="2886"/>
            <a:chExt cx="725" cy="287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1748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2" name="AutoShape 35"/>
            <p:cNvSpPr>
              <a:spLocks/>
            </p:cNvSpPr>
            <p:nvPr/>
          </p:nvSpPr>
          <p:spPr bwMode="auto">
            <a:xfrm rot="16200000" flipV="1">
              <a:off x="197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3" name="Group 36"/>
          <p:cNvGrpSpPr>
            <a:grpSpLocks/>
          </p:cNvGrpSpPr>
          <p:nvPr/>
        </p:nvGrpSpPr>
        <p:grpSpPr bwMode="auto">
          <a:xfrm>
            <a:off x="3631318" y="3556734"/>
            <a:ext cx="1139115" cy="416246"/>
            <a:chOff x="2380" y="2886"/>
            <a:chExt cx="725" cy="287"/>
          </a:xfrm>
        </p:grpSpPr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2474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5" name="AutoShape 38"/>
            <p:cNvSpPr>
              <a:spLocks/>
            </p:cNvSpPr>
            <p:nvPr/>
          </p:nvSpPr>
          <p:spPr bwMode="auto">
            <a:xfrm rot="16200000" flipV="1">
              <a:off x="269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4770433" y="3556734"/>
            <a:ext cx="1139113" cy="416246"/>
            <a:chOff x="3105" y="2886"/>
            <a:chExt cx="725" cy="287"/>
          </a:xfrm>
        </p:grpSpPr>
        <p:sp>
          <p:nvSpPr>
            <p:cNvPr id="37" name="Text Box 40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8" name="AutoShape 41"/>
            <p:cNvSpPr>
              <a:spLocks/>
            </p:cNvSpPr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Rectangle 42"/>
          <p:cNvSpPr>
            <a:spLocks noChangeArrowheads="1"/>
          </p:cNvSpPr>
          <p:nvPr/>
        </p:nvSpPr>
        <p:spPr bwMode="auto">
          <a:xfrm>
            <a:off x="6282395" y="2404865"/>
            <a:ext cx="3558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rot="16200000">
            <a:off x="-2969" y="2722794"/>
            <a:ext cx="2712119" cy="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" name="Group 44"/>
          <p:cNvGrpSpPr>
            <a:grpSpLocks/>
          </p:cNvGrpSpPr>
          <p:nvPr/>
        </p:nvGrpSpPr>
        <p:grpSpPr bwMode="auto">
          <a:xfrm>
            <a:off x="5914261" y="3556734"/>
            <a:ext cx="1139113" cy="416246"/>
            <a:chOff x="3105" y="2886"/>
            <a:chExt cx="725" cy="287"/>
          </a:xfrm>
        </p:grpSpPr>
        <p:sp>
          <p:nvSpPr>
            <p:cNvPr id="42" name="Text Box 45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43" name="AutoShape 46"/>
            <p:cNvSpPr>
              <a:spLocks/>
            </p:cNvSpPr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4" name="Group 52"/>
          <p:cNvGrpSpPr>
            <a:grpSpLocks/>
          </p:cNvGrpSpPr>
          <p:nvPr/>
        </p:nvGrpSpPr>
        <p:grpSpPr bwMode="auto">
          <a:xfrm>
            <a:off x="2492205" y="1648098"/>
            <a:ext cx="4562741" cy="2171146"/>
            <a:chOff x="1655" y="1570"/>
            <a:chExt cx="2904" cy="1497"/>
          </a:xfrm>
        </p:grpSpPr>
        <p:sp>
          <p:nvSpPr>
            <p:cNvPr id="45" name="Line 47"/>
            <p:cNvSpPr>
              <a:spLocks noChangeShapeType="1"/>
            </p:cNvSpPr>
            <p:nvPr/>
          </p:nvSpPr>
          <p:spPr bwMode="auto">
            <a:xfrm>
              <a:off x="1655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>
              <a:off x="2381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3107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3833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/>
          </p:nvSpPr>
          <p:spPr bwMode="auto">
            <a:xfrm>
              <a:off x="4559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2688916" y="1137019"/>
            <a:ext cx="108234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周期性出现</a:t>
            </a:r>
          </a:p>
        </p:txBody>
      </p:sp>
      <p:sp>
        <p:nvSpPr>
          <p:cNvPr id="52" name="Line 26"/>
          <p:cNvSpPr>
            <a:spLocks noChangeShapeType="1"/>
          </p:cNvSpPr>
          <p:nvPr/>
        </p:nvSpPr>
        <p:spPr bwMode="auto">
          <a:xfrm flipH="1">
            <a:off x="1494497" y="1385588"/>
            <a:ext cx="1711814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H="1">
            <a:off x="2628896" y="1385588"/>
            <a:ext cx="577414" cy="32922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>
            <a:off x="3206311" y="1385588"/>
            <a:ext cx="558559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29"/>
          <p:cNvSpPr>
            <a:spLocks noChangeShapeType="1"/>
          </p:cNvSpPr>
          <p:nvPr/>
        </p:nvSpPr>
        <p:spPr bwMode="auto">
          <a:xfrm>
            <a:off x="3206311" y="1385588"/>
            <a:ext cx="1692960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365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可让 </a:t>
            </a:r>
            <a:r>
              <a:rPr lang="en-US" altLang="zh-CN" dirty="0"/>
              <a:t>N </a:t>
            </a:r>
            <a:r>
              <a:rPr lang="zh-CN" altLang="en-US" dirty="0"/>
              <a:t>个用户</a:t>
            </a:r>
            <a:r>
              <a:rPr lang="zh-CN" altLang="en-US" dirty="0">
                <a:solidFill>
                  <a:srgbClr val="C00000"/>
                </a:solidFill>
              </a:rPr>
              <a:t>各使用</a:t>
            </a:r>
            <a:r>
              <a:rPr lang="zh-CN" altLang="en-US" dirty="0"/>
              <a:t>一个频带，或让更多的用户</a:t>
            </a:r>
            <a:r>
              <a:rPr lang="zh-CN" altLang="en-US" dirty="0">
                <a:solidFill>
                  <a:srgbClr val="C00000"/>
                </a:solidFill>
              </a:rPr>
              <a:t>轮流</a:t>
            </a:r>
            <a:r>
              <a:rPr lang="zh-CN" altLang="en-US" dirty="0"/>
              <a:t>使用这 </a:t>
            </a:r>
            <a:r>
              <a:rPr lang="en-US" altLang="zh-CN" dirty="0"/>
              <a:t>N </a:t>
            </a:r>
            <a:r>
              <a:rPr lang="zh-CN" altLang="en-US" dirty="0"/>
              <a:t>个频带。这种方式称为</a:t>
            </a:r>
            <a:r>
              <a:rPr lang="zh-CN" altLang="en-US" dirty="0">
                <a:solidFill>
                  <a:srgbClr val="C00000"/>
                </a:solidFill>
              </a:rPr>
              <a:t>频分多址接入 </a:t>
            </a:r>
            <a:r>
              <a:rPr lang="en-US" altLang="zh-CN" dirty="0">
                <a:solidFill>
                  <a:srgbClr val="C00000"/>
                </a:solidFill>
              </a:rPr>
              <a:t>FDMA </a:t>
            </a:r>
            <a:r>
              <a:rPr lang="en-US" altLang="zh-CN" dirty="0"/>
              <a:t>(Frequency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频分多址。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可让</a:t>
            </a:r>
            <a:r>
              <a:rPr lang="en-US" altLang="zh-CN" dirty="0"/>
              <a:t> N </a:t>
            </a:r>
            <a:r>
              <a:rPr lang="zh-CN" altLang="en-US" dirty="0"/>
              <a:t>个用户各使用一个时隙，或让更多的用户轮流使用这 </a:t>
            </a:r>
            <a:r>
              <a:rPr lang="en-US" altLang="zh-CN" dirty="0"/>
              <a:t>N </a:t>
            </a:r>
            <a:r>
              <a:rPr lang="zh-CN" altLang="en-US" dirty="0"/>
              <a:t>个时隙。这种方式称为</a:t>
            </a:r>
            <a:r>
              <a:rPr lang="zh-CN" altLang="en-US" dirty="0">
                <a:solidFill>
                  <a:srgbClr val="C00000"/>
                </a:solidFill>
              </a:rPr>
              <a:t>时分多址接入 </a:t>
            </a:r>
            <a:r>
              <a:rPr lang="en-US" altLang="zh-CN" dirty="0">
                <a:solidFill>
                  <a:srgbClr val="C00000"/>
                </a:solidFill>
              </a:rPr>
              <a:t>TDMA </a:t>
            </a:r>
            <a:r>
              <a:rPr lang="en-US" altLang="zh-CN" dirty="0"/>
              <a:t>(Time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时分多址。</a:t>
            </a:r>
            <a:endParaRPr lang="en-US" altLang="zh-CN" dirty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频分多址与时分多址</a:t>
            </a:r>
          </a:p>
        </p:txBody>
      </p:sp>
    </p:spTree>
    <p:extLst>
      <p:ext uri="{BB962C8B-B14F-4D97-AF65-F5344CB8AC3E}">
        <p14:creationId xmlns:p14="http://schemas.microsoft.com/office/powerpoint/2010/main" val="335217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91799" y="1515263"/>
            <a:ext cx="7794557" cy="227293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成对使用。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复用器 </a:t>
            </a:r>
            <a:r>
              <a:rPr lang="en-US" altLang="zh-CN" dirty="0"/>
              <a:t>(multiplexer) </a:t>
            </a:r>
            <a:r>
              <a:rPr lang="zh-CN" altLang="en-US" dirty="0"/>
              <a:t>和分用器 </a:t>
            </a:r>
            <a:r>
              <a:rPr lang="en-US" altLang="zh-CN" dirty="0"/>
              <a:t>(</a:t>
            </a:r>
            <a:r>
              <a:rPr lang="en-US" altLang="zh-CN" dirty="0" err="1"/>
              <a:t>demultiplexer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853242" y="1786303"/>
            <a:ext cx="5149918" cy="1765695"/>
            <a:chOff x="1853242" y="1969211"/>
            <a:chExt cx="5149918" cy="1765695"/>
          </a:xfrm>
        </p:grpSpPr>
        <p:sp>
          <p:nvSpPr>
            <p:cNvPr id="6" name="Line 19"/>
            <p:cNvSpPr>
              <a:spLocks noChangeShapeType="1"/>
            </p:cNvSpPr>
            <p:nvPr/>
          </p:nvSpPr>
          <p:spPr bwMode="auto">
            <a:xfrm>
              <a:off x="2213836" y="2853473"/>
              <a:ext cx="46647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0"/>
            <p:cNvSpPr txBox="1">
              <a:spLocks noChangeArrowheads="1"/>
            </p:cNvSpPr>
            <p:nvPr/>
          </p:nvSpPr>
          <p:spPr bwMode="auto">
            <a:xfrm>
              <a:off x="3863781" y="2512797"/>
              <a:ext cx="10054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共享信道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21"/>
            <p:cNvSpPr>
              <a:spLocks noChangeShapeType="1"/>
            </p:cNvSpPr>
            <p:nvPr/>
          </p:nvSpPr>
          <p:spPr bwMode="auto">
            <a:xfrm>
              <a:off x="3316151" y="2853473"/>
              <a:ext cx="2254445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22"/>
            <p:cNvSpPr>
              <a:spLocks noChangeShapeType="1"/>
            </p:cNvSpPr>
            <p:nvPr/>
          </p:nvSpPr>
          <p:spPr bwMode="auto">
            <a:xfrm>
              <a:off x="6061308" y="2958170"/>
              <a:ext cx="690956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 flipH="1">
              <a:off x="6061308" y="2215389"/>
              <a:ext cx="690956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 flipV="1">
              <a:off x="2213835" y="2958170"/>
              <a:ext cx="576868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>
              <a:off x="2213835" y="2215389"/>
              <a:ext cx="576868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Oval 26"/>
            <p:cNvSpPr>
              <a:spLocks noChangeArrowheads="1"/>
            </p:cNvSpPr>
            <p:nvPr/>
          </p:nvSpPr>
          <p:spPr bwMode="auto">
            <a:xfrm>
              <a:off x="1853242" y="196921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4" name="Oval 27"/>
            <p:cNvSpPr>
              <a:spLocks noChangeArrowheads="1"/>
            </p:cNvSpPr>
            <p:nvPr/>
          </p:nvSpPr>
          <p:spPr bwMode="auto">
            <a:xfrm>
              <a:off x="6581712" y="196921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" name="Oval 28"/>
            <p:cNvSpPr>
              <a:spLocks noChangeArrowheads="1"/>
            </p:cNvSpPr>
            <p:nvPr/>
          </p:nvSpPr>
          <p:spPr bwMode="auto">
            <a:xfrm>
              <a:off x="1853242" y="264125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" name="Oval 29"/>
            <p:cNvSpPr>
              <a:spLocks noChangeArrowheads="1"/>
            </p:cNvSpPr>
            <p:nvPr/>
          </p:nvSpPr>
          <p:spPr bwMode="auto">
            <a:xfrm>
              <a:off x="6581712" y="264125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7" name="Oval 30"/>
            <p:cNvSpPr>
              <a:spLocks noChangeArrowheads="1"/>
            </p:cNvSpPr>
            <p:nvPr/>
          </p:nvSpPr>
          <p:spPr bwMode="auto">
            <a:xfrm>
              <a:off x="1853242" y="3347246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8" name="Oval 31"/>
            <p:cNvSpPr>
              <a:spLocks noChangeArrowheads="1"/>
            </p:cNvSpPr>
            <p:nvPr/>
          </p:nvSpPr>
          <p:spPr bwMode="auto">
            <a:xfrm>
              <a:off x="6581712" y="3347246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2660545" y="2569094"/>
              <a:ext cx="891503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33"/>
            <p:cNvSpPr>
              <a:spLocks noChangeArrowheads="1"/>
            </p:cNvSpPr>
            <p:nvPr/>
          </p:nvSpPr>
          <p:spPr bwMode="auto">
            <a:xfrm>
              <a:off x="5212262" y="2569094"/>
              <a:ext cx="855171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75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时分复用会导致信道利用率不高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39546" y="1041663"/>
            <a:ext cx="8048776" cy="294104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625271" y="1365365"/>
            <a:ext cx="8061238" cy="2289027"/>
            <a:chOff x="518863" y="1990305"/>
            <a:chExt cx="8061238" cy="2289027"/>
          </a:xfrm>
        </p:grpSpPr>
        <p:sp>
          <p:nvSpPr>
            <p:cNvPr id="7" name="Freeform 3"/>
            <p:cNvSpPr>
              <a:spLocks/>
            </p:cNvSpPr>
            <p:nvPr/>
          </p:nvSpPr>
          <p:spPr bwMode="auto">
            <a:xfrm>
              <a:off x="6024015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Freeform 4"/>
            <p:cNvSpPr>
              <a:spLocks/>
            </p:cNvSpPr>
            <p:nvPr/>
          </p:nvSpPr>
          <p:spPr bwMode="auto">
            <a:xfrm>
              <a:off x="6866730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7287393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7919082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5814378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4971663" y="2937359"/>
              <a:ext cx="211025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4762026" y="2937359"/>
              <a:ext cx="209638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2796154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323139" y="2631071"/>
              <a:ext cx="982936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1814606" y="3237237"/>
              <a:ext cx="981547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2796154" y="3844684"/>
              <a:ext cx="491468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949678" y="2005686"/>
              <a:ext cx="31931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949678" y="2613131"/>
              <a:ext cx="3080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949678" y="3220578"/>
              <a:ext cx="30489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949678" y="3828022"/>
              <a:ext cx="32733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4620416" y="3237237"/>
              <a:ext cx="371932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5182689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2901665" y="1992868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1413380" y="2628510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2422695" y="3212888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2872513" y="382418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3480599" y="2005686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3480599" y="2627227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3480599" y="3248771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3480599" y="3870314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2" name="Text Box 33"/>
            <p:cNvSpPr txBox="1">
              <a:spLocks noChangeArrowheads="1"/>
            </p:cNvSpPr>
            <p:nvPr/>
          </p:nvSpPr>
          <p:spPr bwMode="auto">
            <a:xfrm>
              <a:off x="8321697" y="3170678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>
              <a:off x="6655703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1814606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2306075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2796153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1814606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287622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2796153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4762025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5603351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>
              <a:off x="6444678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Line 44"/>
            <p:cNvSpPr>
              <a:spLocks noChangeShapeType="1"/>
            </p:cNvSpPr>
            <p:nvPr/>
          </p:nvSpPr>
          <p:spPr bwMode="auto">
            <a:xfrm>
              <a:off x="7287393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4762026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5603352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6444679" y="3389739"/>
              <a:ext cx="842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48"/>
            <p:cNvSpPr txBox="1">
              <a:spLocks noChangeArrowheads="1"/>
            </p:cNvSpPr>
            <p:nvPr/>
          </p:nvSpPr>
          <p:spPr bwMode="auto">
            <a:xfrm>
              <a:off x="5747700" y="3971555"/>
              <a:ext cx="14253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4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个时分复用帧</a:t>
              </a:r>
            </a:p>
          </p:txBody>
        </p:sp>
        <p:sp>
          <p:nvSpPr>
            <p:cNvPr id="48" name="Text Box 49"/>
            <p:cNvSpPr txBox="1">
              <a:spLocks noChangeArrowheads="1"/>
            </p:cNvSpPr>
            <p:nvPr/>
          </p:nvSpPr>
          <p:spPr bwMode="auto">
            <a:xfrm>
              <a:off x="497166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#1</a:t>
              </a:r>
            </a:p>
          </p:txBody>
        </p: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>
              <a:off x="3631927" y="2370921"/>
              <a:ext cx="919073" cy="56387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3631927" y="2952736"/>
              <a:ext cx="848268" cy="13327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 flipV="1">
              <a:off x="3694402" y="3237237"/>
              <a:ext cx="785793" cy="29603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53"/>
            <p:cNvSpPr>
              <a:spLocks noChangeShapeType="1"/>
            </p:cNvSpPr>
            <p:nvPr/>
          </p:nvSpPr>
          <p:spPr bwMode="auto">
            <a:xfrm flipV="1">
              <a:off x="3708285" y="3389739"/>
              <a:ext cx="842714" cy="68305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 Box 54"/>
            <p:cNvSpPr txBox="1">
              <a:spLocks noChangeArrowheads="1"/>
            </p:cNvSpPr>
            <p:nvPr/>
          </p:nvSpPr>
          <p:spPr bwMode="auto">
            <a:xfrm>
              <a:off x="3694401" y="3592222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④</a:t>
              </a:r>
            </a:p>
          </p:txBody>
        </p:sp>
        <p:sp>
          <p:nvSpPr>
            <p:cNvPr id="54" name="Text Box 55"/>
            <p:cNvSpPr txBox="1">
              <a:spLocks noChangeArrowheads="1"/>
            </p:cNvSpPr>
            <p:nvPr/>
          </p:nvSpPr>
          <p:spPr bwMode="auto">
            <a:xfrm>
              <a:off x="3694401" y="3146594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③</a:t>
              </a:r>
            </a:p>
          </p:txBody>
        </p:sp>
        <p:sp>
          <p:nvSpPr>
            <p:cNvPr id="55" name="Text Box 56"/>
            <p:cNvSpPr txBox="1">
              <a:spLocks noChangeArrowheads="1"/>
            </p:cNvSpPr>
            <p:nvPr/>
          </p:nvSpPr>
          <p:spPr bwMode="auto">
            <a:xfrm>
              <a:off x="3694401" y="2661829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②</a:t>
              </a: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3694401" y="2196631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①</a:t>
              </a:r>
            </a:p>
          </p:txBody>
        </p:sp>
        <p:sp>
          <p:nvSpPr>
            <p:cNvPr id="57" name="Freeform 58"/>
            <p:cNvSpPr>
              <a:spLocks/>
            </p:cNvSpPr>
            <p:nvPr/>
          </p:nvSpPr>
          <p:spPr bwMode="auto">
            <a:xfrm>
              <a:off x="1323139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59"/>
            <p:cNvSpPr>
              <a:spLocks noChangeShapeType="1"/>
            </p:cNvSpPr>
            <p:nvPr/>
          </p:nvSpPr>
          <p:spPr bwMode="auto">
            <a:xfrm>
              <a:off x="3287622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60"/>
            <p:cNvSpPr>
              <a:spLocks noChangeShapeType="1"/>
            </p:cNvSpPr>
            <p:nvPr/>
          </p:nvSpPr>
          <p:spPr bwMode="auto">
            <a:xfrm>
              <a:off x="1323139" y="4057417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Text Box 61"/>
            <p:cNvSpPr txBox="1">
              <a:spLocks noChangeArrowheads="1"/>
            </p:cNvSpPr>
            <p:nvPr/>
          </p:nvSpPr>
          <p:spPr bwMode="auto">
            <a:xfrm>
              <a:off x="1413380" y="1990305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61" name="Text Box 62"/>
            <p:cNvSpPr txBox="1">
              <a:spLocks noChangeArrowheads="1"/>
            </p:cNvSpPr>
            <p:nvPr/>
          </p:nvSpPr>
          <p:spPr bwMode="auto">
            <a:xfrm>
              <a:off x="1928449" y="3202636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62" name="Text Box 63"/>
            <p:cNvSpPr txBox="1">
              <a:spLocks noChangeArrowheads="1"/>
            </p:cNvSpPr>
            <p:nvPr/>
          </p:nvSpPr>
          <p:spPr bwMode="auto">
            <a:xfrm>
              <a:off x="1952050" y="2631073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>
              <a:off x="539232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65"/>
            <p:cNvSpPr>
              <a:spLocks noChangeShapeType="1"/>
            </p:cNvSpPr>
            <p:nvPr/>
          </p:nvSpPr>
          <p:spPr bwMode="auto">
            <a:xfrm>
              <a:off x="5603351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7287393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Line 67"/>
            <p:cNvSpPr>
              <a:spLocks noChangeShapeType="1"/>
            </p:cNvSpPr>
            <p:nvPr/>
          </p:nvSpPr>
          <p:spPr bwMode="auto">
            <a:xfrm>
              <a:off x="8128720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Line 68"/>
            <p:cNvSpPr>
              <a:spLocks noChangeShapeType="1"/>
            </p:cNvSpPr>
            <p:nvPr/>
          </p:nvSpPr>
          <p:spPr bwMode="auto">
            <a:xfrm>
              <a:off x="770805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6444678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Text Box 72"/>
            <p:cNvSpPr txBox="1">
              <a:spLocks noChangeArrowheads="1"/>
            </p:cNvSpPr>
            <p:nvPr/>
          </p:nvSpPr>
          <p:spPr bwMode="auto">
            <a:xfrm>
              <a:off x="3807039" y="3918907"/>
              <a:ext cx="90281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时分复用</a:t>
              </a:r>
            </a:p>
          </p:txBody>
        </p:sp>
        <p:sp>
          <p:nvSpPr>
            <p:cNvPr id="70" name="Text Box 73"/>
            <p:cNvSpPr txBox="1">
              <a:spLocks noChangeArrowheads="1"/>
            </p:cNvSpPr>
            <p:nvPr/>
          </p:nvSpPr>
          <p:spPr bwMode="auto">
            <a:xfrm>
              <a:off x="5814378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#2</a:t>
              </a:r>
            </a:p>
          </p:txBody>
        </p:sp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669735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#3</a:t>
              </a:r>
            </a:p>
          </p:txBody>
        </p:sp>
        <p:sp>
          <p:nvSpPr>
            <p:cNvPr id="72" name="Text Box 75"/>
            <p:cNvSpPr txBox="1">
              <a:spLocks noChangeArrowheads="1"/>
            </p:cNvSpPr>
            <p:nvPr/>
          </p:nvSpPr>
          <p:spPr bwMode="auto">
            <a:xfrm>
              <a:off x="7538680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#4</a:t>
              </a:r>
            </a:p>
          </p:txBody>
        </p:sp>
        <p:sp>
          <p:nvSpPr>
            <p:cNvPr id="73" name="Line 76"/>
            <p:cNvSpPr>
              <a:spLocks noChangeShapeType="1"/>
            </p:cNvSpPr>
            <p:nvPr/>
          </p:nvSpPr>
          <p:spPr bwMode="auto">
            <a:xfrm>
              <a:off x="5252106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77"/>
            <p:cNvSpPr>
              <a:spLocks noChangeShapeType="1"/>
            </p:cNvSpPr>
            <p:nvPr/>
          </p:nvSpPr>
          <p:spPr bwMode="auto">
            <a:xfrm>
              <a:off x="6024015" y="3669113"/>
              <a:ext cx="42066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Line 78"/>
            <p:cNvSpPr>
              <a:spLocks noChangeShapeType="1"/>
            </p:cNvSpPr>
            <p:nvPr/>
          </p:nvSpPr>
          <p:spPr bwMode="auto">
            <a:xfrm flipH="1">
              <a:off x="6515483" y="3669113"/>
              <a:ext cx="351247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Line 79"/>
            <p:cNvSpPr>
              <a:spLocks noChangeShapeType="1"/>
            </p:cNvSpPr>
            <p:nvPr/>
          </p:nvSpPr>
          <p:spPr bwMode="auto">
            <a:xfrm flipV="1">
              <a:off x="6655704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Text Box 80"/>
            <p:cNvSpPr txBox="1">
              <a:spLocks noChangeArrowheads="1"/>
            </p:cNvSpPr>
            <p:nvPr/>
          </p:nvSpPr>
          <p:spPr bwMode="auto">
            <a:xfrm>
              <a:off x="518863" y="1993171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用户</a:t>
              </a:r>
            </a:p>
          </p:txBody>
        </p:sp>
        <p:sp>
          <p:nvSpPr>
            <p:cNvPr id="78" name="Line 81"/>
            <p:cNvSpPr>
              <a:spLocks noChangeShapeType="1"/>
            </p:cNvSpPr>
            <p:nvPr/>
          </p:nvSpPr>
          <p:spPr bwMode="auto">
            <a:xfrm>
              <a:off x="1253723" y="232734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Line 82"/>
            <p:cNvSpPr>
              <a:spLocks noChangeShapeType="1"/>
            </p:cNvSpPr>
            <p:nvPr/>
          </p:nvSpPr>
          <p:spPr bwMode="auto">
            <a:xfrm>
              <a:off x="1253723" y="2934795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Line 83"/>
            <p:cNvSpPr>
              <a:spLocks noChangeShapeType="1"/>
            </p:cNvSpPr>
            <p:nvPr/>
          </p:nvSpPr>
          <p:spPr bwMode="auto">
            <a:xfrm>
              <a:off x="1253723" y="354095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Line 84"/>
            <p:cNvSpPr>
              <a:spLocks noChangeShapeType="1"/>
            </p:cNvSpPr>
            <p:nvPr/>
          </p:nvSpPr>
          <p:spPr bwMode="auto">
            <a:xfrm>
              <a:off x="1253723" y="4148406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82" name="Group 85"/>
            <p:cNvGrpSpPr>
              <a:grpSpLocks/>
            </p:cNvGrpSpPr>
            <p:nvPr/>
          </p:nvGrpSpPr>
          <p:grpSpPr bwMode="auto">
            <a:xfrm>
              <a:off x="4764802" y="2778448"/>
              <a:ext cx="3367338" cy="871442"/>
              <a:chOff x="1655" y="1570"/>
              <a:chExt cx="2919" cy="1497"/>
            </a:xfrm>
          </p:grpSpPr>
          <p:sp>
            <p:nvSpPr>
              <p:cNvPr id="91" name="Line 86"/>
              <p:cNvSpPr>
                <a:spLocks noChangeShapeType="1"/>
              </p:cNvSpPr>
              <p:nvPr/>
            </p:nvSpPr>
            <p:spPr bwMode="auto">
              <a:xfrm>
                <a:off x="1655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Line 87"/>
              <p:cNvSpPr>
                <a:spLocks noChangeShapeType="1"/>
              </p:cNvSpPr>
              <p:nvPr/>
            </p:nvSpPr>
            <p:spPr bwMode="auto">
              <a:xfrm>
                <a:off x="2381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" name="Line 88"/>
              <p:cNvSpPr>
                <a:spLocks noChangeShapeType="1"/>
              </p:cNvSpPr>
              <p:nvPr/>
            </p:nvSpPr>
            <p:spPr bwMode="auto">
              <a:xfrm>
                <a:off x="3107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4" name="Line 89"/>
              <p:cNvSpPr>
                <a:spLocks noChangeShapeType="1"/>
              </p:cNvSpPr>
              <p:nvPr/>
            </p:nvSpPr>
            <p:spPr bwMode="auto">
              <a:xfrm>
                <a:off x="3833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5" name="Line 90"/>
              <p:cNvSpPr>
                <a:spLocks noChangeShapeType="1"/>
              </p:cNvSpPr>
              <p:nvPr/>
            </p:nvSpPr>
            <p:spPr bwMode="auto">
              <a:xfrm>
                <a:off x="4574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83" name="矩形 82"/>
            <p:cNvSpPr/>
            <p:nvPr/>
          </p:nvSpPr>
          <p:spPr>
            <a:xfrm>
              <a:off x="4660026" y="2025454"/>
              <a:ext cx="3468694" cy="6565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zh-CN" sz="14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当用户暂时无数据发送时，分配给该用户的时隙只能处于空闲状态</a:t>
              </a:r>
              <a:r>
                <a:rPr lang="zh-CN" altLang="en-US" sz="14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</a:p>
          </p:txBody>
        </p:sp>
        <p:sp>
          <p:nvSpPr>
            <p:cNvPr id="84" name="Text Box 21"/>
            <p:cNvSpPr txBox="1">
              <a:spLocks noChangeArrowheads="1"/>
            </p:cNvSpPr>
            <p:nvPr/>
          </p:nvSpPr>
          <p:spPr bwMode="auto">
            <a:xfrm>
              <a:off x="7261014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85" name="Text Box 22"/>
            <p:cNvSpPr txBox="1">
              <a:spLocks noChangeArrowheads="1"/>
            </p:cNvSpPr>
            <p:nvPr/>
          </p:nvSpPr>
          <p:spPr bwMode="auto">
            <a:xfrm>
              <a:off x="493695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5785222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87" name="Text Box 28"/>
            <p:cNvSpPr txBox="1">
              <a:spLocks noChangeArrowheads="1"/>
            </p:cNvSpPr>
            <p:nvPr/>
          </p:nvSpPr>
          <p:spPr bwMode="auto">
            <a:xfrm>
              <a:off x="4738425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88" name="Text Box 71"/>
            <p:cNvSpPr txBox="1">
              <a:spLocks noChangeArrowheads="1"/>
            </p:cNvSpPr>
            <p:nvPr/>
          </p:nvSpPr>
          <p:spPr bwMode="auto">
            <a:xfrm>
              <a:off x="788437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89" name="Text Box 27"/>
            <p:cNvSpPr txBox="1">
              <a:spLocks noChangeArrowheads="1"/>
            </p:cNvSpPr>
            <p:nvPr/>
          </p:nvSpPr>
          <p:spPr bwMode="auto">
            <a:xfrm>
              <a:off x="59988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90" name="Text Box 70"/>
            <p:cNvSpPr txBox="1">
              <a:spLocks noChangeArrowheads="1"/>
            </p:cNvSpPr>
            <p:nvPr/>
          </p:nvSpPr>
          <p:spPr bwMode="auto">
            <a:xfrm>
              <a:off x="68296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74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统计时分复用 </a:t>
            </a:r>
            <a:r>
              <a:rPr lang="en-US" altLang="zh-CN" dirty="0"/>
              <a:t>STDM  (Statistic TDM)</a:t>
            </a:r>
            <a:endParaRPr lang="zh-CN" altLang="en-US" dirty="0"/>
          </a:p>
        </p:txBody>
      </p:sp>
      <p:sp>
        <p:nvSpPr>
          <p:cNvPr id="90" name="圆角矩形 89"/>
          <p:cNvSpPr/>
          <p:nvPr/>
        </p:nvSpPr>
        <p:spPr>
          <a:xfrm>
            <a:off x="556963" y="1041663"/>
            <a:ext cx="8048776" cy="298704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Freeform 85"/>
          <p:cNvSpPr>
            <a:spLocks/>
          </p:cNvSpPr>
          <p:nvPr/>
        </p:nvSpPr>
        <p:spPr bwMode="auto">
          <a:xfrm>
            <a:off x="6858997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Freeform 86"/>
          <p:cNvSpPr>
            <a:spLocks/>
          </p:cNvSpPr>
          <p:nvPr/>
        </p:nvSpPr>
        <p:spPr bwMode="auto">
          <a:xfrm>
            <a:off x="7800044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Freeform 87"/>
          <p:cNvSpPr>
            <a:spLocks/>
          </p:cNvSpPr>
          <p:nvPr/>
        </p:nvSpPr>
        <p:spPr bwMode="auto">
          <a:xfrm>
            <a:off x="7485902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Freeform 88"/>
          <p:cNvSpPr>
            <a:spLocks/>
          </p:cNvSpPr>
          <p:nvPr/>
        </p:nvSpPr>
        <p:spPr bwMode="auto">
          <a:xfrm>
            <a:off x="7171760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Freeform 89"/>
          <p:cNvSpPr>
            <a:spLocks/>
          </p:cNvSpPr>
          <p:nvPr/>
        </p:nvSpPr>
        <p:spPr bwMode="auto">
          <a:xfrm>
            <a:off x="6544855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Freeform 90"/>
          <p:cNvSpPr>
            <a:spLocks/>
          </p:cNvSpPr>
          <p:nvPr/>
        </p:nvSpPr>
        <p:spPr bwMode="auto">
          <a:xfrm>
            <a:off x="6230712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Freeform 91"/>
          <p:cNvSpPr>
            <a:spLocks/>
          </p:cNvSpPr>
          <p:nvPr/>
        </p:nvSpPr>
        <p:spPr bwMode="auto">
          <a:xfrm>
            <a:off x="5917948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 Box 92"/>
          <p:cNvSpPr txBox="1">
            <a:spLocks noChangeArrowheads="1"/>
          </p:cNvSpPr>
          <p:nvPr/>
        </p:nvSpPr>
        <p:spPr bwMode="auto">
          <a:xfrm>
            <a:off x="717510" y="1397026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</a:p>
        </p:txBody>
      </p:sp>
      <p:sp>
        <p:nvSpPr>
          <p:cNvPr id="99" name="Freeform 93"/>
          <p:cNvSpPr>
            <a:spLocks/>
          </p:cNvSpPr>
          <p:nvPr/>
        </p:nvSpPr>
        <p:spPr bwMode="auto">
          <a:xfrm>
            <a:off x="3225527" y="1429624"/>
            <a:ext cx="549748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Freeform 94"/>
          <p:cNvSpPr>
            <a:spLocks/>
          </p:cNvSpPr>
          <p:nvPr/>
        </p:nvSpPr>
        <p:spPr bwMode="auto">
          <a:xfrm>
            <a:off x="1579037" y="2075713"/>
            <a:ext cx="1098120" cy="321773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Freeform 95"/>
          <p:cNvSpPr>
            <a:spLocks/>
          </p:cNvSpPr>
          <p:nvPr/>
        </p:nvSpPr>
        <p:spPr bwMode="auto">
          <a:xfrm>
            <a:off x="2127407" y="2720531"/>
            <a:ext cx="109812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Freeform 96"/>
          <p:cNvSpPr>
            <a:spLocks/>
          </p:cNvSpPr>
          <p:nvPr/>
        </p:nvSpPr>
        <p:spPr bwMode="auto">
          <a:xfrm>
            <a:off x="2677157" y="3365348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Text Box 97"/>
          <p:cNvSpPr txBox="1">
            <a:spLocks noChangeArrowheads="1"/>
          </p:cNvSpPr>
          <p:nvPr/>
        </p:nvSpPr>
        <p:spPr bwMode="auto">
          <a:xfrm>
            <a:off x="1185763" y="1400373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4" name="Text Box 98"/>
          <p:cNvSpPr txBox="1">
            <a:spLocks noChangeArrowheads="1"/>
          </p:cNvSpPr>
          <p:nvPr/>
        </p:nvSpPr>
        <p:spPr bwMode="auto">
          <a:xfrm>
            <a:off x="1185763" y="20451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05" name="Text Box 99"/>
          <p:cNvSpPr txBox="1">
            <a:spLocks noChangeArrowheads="1"/>
          </p:cNvSpPr>
          <p:nvPr/>
        </p:nvSpPr>
        <p:spPr bwMode="auto">
          <a:xfrm>
            <a:off x="1185763" y="2691279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06" name="Text Box 100"/>
          <p:cNvSpPr txBox="1">
            <a:spLocks noChangeArrowheads="1"/>
          </p:cNvSpPr>
          <p:nvPr/>
        </p:nvSpPr>
        <p:spPr bwMode="auto">
          <a:xfrm>
            <a:off x="1185763" y="3336096"/>
            <a:ext cx="3273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07" name="Line 101"/>
          <p:cNvSpPr>
            <a:spLocks noChangeShapeType="1"/>
          </p:cNvSpPr>
          <p:nvPr/>
        </p:nvSpPr>
        <p:spPr bwMode="auto">
          <a:xfrm>
            <a:off x="5682343" y="2659567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Text Box 102"/>
          <p:cNvSpPr txBox="1">
            <a:spLocks noChangeArrowheads="1"/>
          </p:cNvSpPr>
          <p:nvPr/>
        </p:nvSpPr>
        <p:spPr bwMode="auto">
          <a:xfrm>
            <a:off x="3344018" y="1416906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9" name="Text Box 105"/>
          <p:cNvSpPr txBox="1">
            <a:spLocks noChangeArrowheads="1"/>
          </p:cNvSpPr>
          <p:nvPr/>
        </p:nvSpPr>
        <p:spPr bwMode="auto">
          <a:xfrm>
            <a:off x="1742997" y="2064267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10" name="Text Box 106"/>
          <p:cNvSpPr txBox="1">
            <a:spLocks noChangeArrowheads="1"/>
          </p:cNvSpPr>
          <p:nvPr/>
        </p:nvSpPr>
        <p:spPr bwMode="auto">
          <a:xfrm>
            <a:off x="2808047" y="2701453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11" name="Text Box 107"/>
          <p:cNvSpPr txBox="1">
            <a:spLocks noChangeArrowheads="1"/>
          </p:cNvSpPr>
          <p:nvPr/>
        </p:nvSpPr>
        <p:spPr bwMode="auto">
          <a:xfrm>
            <a:off x="2810803" y="3365348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12" name="Text Box 111"/>
          <p:cNvSpPr txBox="1">
            <a:spLocks noChangeArrowheads="1"/>
          </p:cNvSpPr>
          <p:nvPr/>
        </p:nvSpPr>
        <p:spPr bwMode="auto">
          <a:xfrm>
            <a:off x="3972795" y="1461421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3" name="Text Box 112"/>
          <p:cNvSpPr txBox="1">
            <a:spLocks noChangeArrowheads="1"/>
          </p:cNvSpPr>
          <p:nvPr/>
        </p:nvSpPr>
        <p:spPr bwMode="auto">
          <a:xfrm>
            <a:off x="3972795" y="2121499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4" name="Text Box 113"/>
          <p:cNvSpPr txBox="1">
            <a:spLocks noChangeArrowheads="1"/>
          </p:cNvSpPr>
          <p:nvPr/>
        </p:nvSpPr>
        <p:spPr bwMode="auto">
          <a:xfrm>
            <a:off x="3972795" y="278285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5" name="Text Box 114"/>
          <p:cNvSpPr txBox="1">
            <a:spLocks noChangeArrowheads="1"/>
          </p:cNvSpPr>
          <p:nvPr/>
        </p:nvSpPr>
        <p:spPr bwMode="auto">
          <a:xfrm>
            <a:off x="3972795" y="344293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6" name="Text Box 115"/>
          <p:cNvSpPr txBox="1">
            <a:spLocks noChangeArrowheads="1"/>
          </p:cNvSpPr>
          <p:nvPr/>
        </p:nvSpPr>
        <p:spPr bwMode="auto">
          <a:xfrm>
            <a:off x="8235452" y="25543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7" name="Line 116"/>
          <p:cNvSpPr>
            <a:spLocks noChangeShapeType="1"/>
          </p:cNvSpPr>
          <p:nvPr/>
        </p:nvSpPr>
        <p:spPr bwMode="auto">
          <a:xfrm>
            <a:off x="2127407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Line 117"/>
          <p:cNvSpPr>
            <a:spLocks noChangeShapeType="1"/>
          </p:cNvSpPr>
          <p:nvPr/>
        </p:nvSpPr>
        <p:spPr bwMode="auto">
          <a:xfrm>
            <a:off x="2677156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Line 118"/>
          <p:cNvSpPr>
            <a:spLocks noChangeShapeType="1"/>
          </p:cNvSpPr>
          <p:nvPr/>
        </p:nvSpPr>
        <p:spPr bwMode="auto">
          <a:xfrm>
            <a:off x="3225526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Line 119"/>
          <p:cNvSpPr>
            <a:spLocks noChangeShapeType="1"/>
          </p:cNvSpPr>
          <p:nvPr/>
        </p:nvSpPr>
        <p:spPr bwMode="auto">
          <a:xfrm>
            <a:off x="2127407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Line 120"/>
          <p:cNvSpPr>
            <a:spLocks noChangeShapeType="1"/>
          </p:cNvSpPr>
          <p:nvPr/>
        </p:nvSpPr>
        <p:spPr bwMode="auto">
          <a:xfrm>
            <a:off x="3775275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Line 121"/>
          <p:cNvSpPr>
            <a:spLocks noChangeShapeType="1"/>
          </p:cNvSpPr>
          <p:nvPr/>
        </p:nvSpPr>
        <p:spPr bwMode="auto">
          <a:xfrm>
            <a:off x="3775275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Line 122"/>
          <p:cNvSpPr>
            <a:spLocks noChangeShapeType="1"/>
          </p:cNvSpPr>
          <p:nvPr/>
        </p:nvSpPr>
        <p:spPr bwMode="auto">
          <a:xfrm>
            <a:off x="5839413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Line 123"/>
          <p:cNvSpPr>
            <a:spLocks noChangeShapeType="1"/>
          </p:cNvSpPr>
          <p:nvPr/>
        </p:nvSpPr>
        <p:spPr bwMode="auto">
          <a:xfrm>
            <a:off x="6466318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5" name="Line 124"/>
          <p:cNvSpPr>
            <a:spLocks noChangeShapeType="1"/>
          </p:cNvSpPr>
          <p:nvPr/>
        </p:nvSpPr>
        <p:spPr bwMode="auto">
          <a:xfrm>
            <a:off x="7093225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Line 125"/>
          <p:cNvSpPr>
            <a:spLocks noChangeShapeType="1"/>
          </p:cNvSpPr>
          <p:nvPr/>
        </p:nvSpPr>
        <p:spPr bwMode="auto">
          <a:xfrm>
            <a:off x="5839413" y="2821089"/>
            <a:ext cx="62690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7" name="Line 126"/>
          <p:cNvSpPr>
            <a:spLocks noChangeShapeType="1"/>
          </p:cNvSpPr>
          <p:nvPr/>
        </p:nvSpPr>
        <p:spPr bwMode="auto">
          <a:xfrm>
            <a:off x="6466318" y="2821089"/>
            <a:ext cx="62690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8" name="Line 127"/>
          <p:cNvSpPr>
            <a:spLocks noChangeShapeType="1"/>
          </p:cNvSpPr>
          <p:nvPr/>
        </p:nvSpPr>
        <p:spPr bwMode="auto">
          <a:xfrm>
            <a:off x="7093225" y="2821089"/>
            <a:ext cx="6282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9" name="Text Box 128"/>
          <p:cNvSpPr txBox="1">
            <a:spLocks noChangeArrowheads="1"/>
          </p:cNvSpPr>
          <p:nvPr/>
        </p:nvSpPr>
        <p:spPr bwMode="auto">
          <a:xfrm>
            <a:off x="6042635" y="3443451"/>
            <a:ext cx="13596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 </a:t>
            </a:r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STDM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帧</a:t>
            </a:r>
          </a:p>
        </p:txBody>
      </p:sp>
      <p:sp>
        <p:nvSpPr>
          <p:cNvPr id="130" name="Text Box 129"/>
          <p:cNvSpPr txBox="1">
            <a:spLocks noChangeArrowheads="1"/>
          </p:cNvSpPr>
          <p:nvPr/>
        </p:nvSpPr>
        <p:spPr bwMode="auto">
          <a:xfrm>
            <a:off x="5934483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#1</a:t>
            </a:r>
          </a:p>
        </p:txBody>
      </p:sp>
      <p:sp>
        <p:nvSpPr>
          <p:cNvPr id="131" name="Line 130"/>
          <p:cNvSpPr>
            <a:spLocks noChangeShapeType="1"/>
          </p:cNvSpPr>
          <p:nvPr/>
        </p:nvSpPr>
        <p:spPr bwMode="auto">
          <a:xfrm>
            <a:off x="4207997" y="1750124"/>
            <a:ext cx="902117" cy="70315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Line 131"/>
          <p:cNvSpPr>
            <a:spLocks noChangeShapeType="1"/>
          </p:cNvSpPr>
          <p:nvPr/>
        </p:nvSpPr>
        <p:spPr bwMode="auto">
          <a:xfrm>
            <a:off x="4269998" y="2384768"/>
            <a:ext cx="866647" cy="17424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3" name="Line 132"/>
          <p:cNvSpPr>
            <a:spLocks noChangeShapeType="1"/>
          </p:cNvSpPr>
          <p:nvPr/>
        </p:nvSpPr>
        <p:spPr bwMode="auto">
          <a:xfrm flipV="1">
            <a:off x="4269998" y="2720530"/>
            <a:ext cx="866647" cy="298879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" name="Line 133"/>
          <p:cNvSpPr>
            <a:spLocks noChangeShapeType="1"/>
          </p:cNvSpPr>
          <p:nvPr/>
        </p:nvSpPr>
        <p:spPr bwMode="auto">
          <a:xfrm flipV="1">
            <a:off x="4207998" y="2829798"/>
            <a:ext cx="928648" cy="82425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Text Box 134"/>
          <p:cNvSpPr txBox="1">
            <a:spLocks noChangeArrowheads="1"/>
          </p:cNvSpPr>
          <p:nvPr/>
        </p:nvSpPr>
        <p:spPr bwMode="auto">
          <a:xfrm>
            <a:off x="4269998" y="313514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④</a:t>
            </a:r>
          </a:p>
        </p:txBody>
      </p:sp>
      <p:sp>
        <p:nvSpPr>
          <p:cNvPr id="136" name="Text Box 135"/>
          <p:cNvSpPr txBox="1">
            <a:spLocks noChangeArrowheads="1"/>
          </p:cNvSpPr>
          <p:nvPr/>
        </p:nvSpPr>
        <p:spPr bwMode="auto">
          <a:xfrm>
            <a:off x="4269998" y="2634019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③</a:t>
            </a:r>
          </a:p>
        </p:txBody>
      </p:sp>
      <p:sp>
        <p:nvSpPr>
          <p:cNvPr id="137" name="Text Box 136"/>
          <p:cNvSpPr txBox="1">
            <a:spLocks noChangeArrowheads="1"/>
          </p:cNvSpPr>
          <p:nvPr/>
        </p:nvSpPr>
        <p:spPr bwMode="auto">
          <a:xfrm>
            <a:off x="4269998" y="2096063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②</a:t>
            </a:r>
          </a:p>
        </p:txBody>
      </p:sp>
      <p:sp>
        <p:nvSpPr>
          <p:cNvPr id="138" name="Text Box 137"/>
          <p:cNvSpPr txBox="1">
            <a:spLocks noChangeArrowheads="1"/>
          </p:cNvSpPr>
          <p:nvPr/>
        </p:nvSpPr>
        <p:spPr bwMode="auto">
          <a:xfrm>
            <a:off x="4269998" y="157715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①</a:t>
            </a:r>
          </a:p>
        </p:txBody>
      </p:sp>
      <p:sp>
        <p:nvSpPr>
          <p:cNvPr id="139" name="Freeform 138"/>
          <p:cNvSpPr>
            <a:spLocks/>
          </p:cNvSpPr>
          <p:nvPr/>
        </p:nvSpPr>
        <p:spPr bwMode="auto">
          <a:xfrm>
            <a:off x="1579037" y="1429624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0" name="Line 139"/>
          <p:cNvSpPr>
            <a:spLocks noChangeShapeType="1"/>
          </p:cNvSpPr>
          <p:nvPr/>
        </p:nvSpPr>
        <p:spPr bwMode="auto">
          <a:xfrm>
            <a:off x="3775275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1" name="Line 140"/>
          <p:cNvSpPr>
            <a:spLocks noChangeShapeType="1"/>
          </p:cNvSpPr>
          <p:nvPr/>
        </p:nvSpPr>
        <p:spPr bwMode="auto">
          <a:xfrm>
            <a:off x="1657572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Text Box 141"/>
          <p:cNvSpPr txBox="1">
            <a:spLocks noChangeArrowheads="1"/>
          </p:cNvSpPr>
          <p:nvPr/>
        </p:nvSpPr>
        <p:spPr bwMode="auto">
          <a:xfrm>
            <a:off x="1716818" y="1404188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43" name="Text Box 142"/>
          <p:cNvSpPr txBox="1">
            <a:spLocks noChangeArrowheads="1"/>
          </p:cNvSpPr>
          <p:nvPr/>
        </p:nvSpPr>
        <p:spPr bwMode="auto">
          <a:xfrm>
            <a:off x="2255544" y="2691279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44" name="Text Box 143"/>
          <p:cNvSpPr txBox="1">
            <a:spLocks noChangeArrowheads="1"/>
          </p:cNvSpPr>
          <p:nvPr/>
        </p:nvSpPr>
        <p:spPr bwMode="auto">
          <a:xfrm>
            <a:off x="2281723" y="2066812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5" name="Line 144"/>
          <p:cNvSpPr>
            <a:spLocks noChangeShapeType="1"/>
          </p:cNvSpPr>
          <p:nvPr/>
        </p:nvSpPr>
        <p:spPr bwMode="auto">
          <a:xfrm>
            <a:off x="6544855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6" name="Line 145"/>
          <p:cNvSpPr>
            <a:spLocks noChangeShapeType="1"/>
          </p:cNvSpPr>
          <p:nvPr/>
        </p:nvSpPr>
        <p:spPr bwMode="auto">
          <a:xfrm>
            <a:off x="6780461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7" name="Line 146"/>
          <p:cNvSpPr>
            <a:spLocks noChangeShapeType="1"/>
          </p:cNvSpPr>
          <p:nvPr/>
        </p:nvSpPr>
        <p:spPr bwMode="auto">
          <a:xfrm>
            <a:off x="7721509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Line 147"/>
          <p:cNvSpPr>
            <a:spLocks noChangeShapeType="1"/>
          </p:cNvSpPr>
          <p:nvPr/>
        </p:nvSpPr>
        <p:spPr bwMode="auto">
          <a:xfrm>
            <a:off x="7721509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9" name="Freeform 150"/>
          <p:cNvSpPr>
            <a:spLocks/>
          </p:cNvSpPr>
          <p:nvPr/>
        </p:nvSpPr>
        <p:spPr bwMode="auto">
          <a:xfrm>
            <a:off x="5839413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0" name="Freeform 151"/>
          <p:cNvSpPr>
            <a:spLocks/>
          </p:cNvSpPr>
          <p:nvPr/>
        </p:nvSpPr>
        <p:spPr bwMode="auto">
          <a:xfrm>
            <a:off x="6152176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1" name="Freeform 152"/>
          <p:cNvSpPr>
            <a:spLocks/>
          </p:cNvSpPr>
          <p:nvPr/>
        </p:nvSpPr>
        <p:spPr bwMode="auto">
          <a:xfrm>
            <a:off x="6466318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Freeform 153"/>
          <p:cNvSpPr>
            <a:spLocks/>
          </p:cNvSpPr>
          <p:nvPr/>
        </p:nvSpPr>
        <p:spPr bwMode="auto">
          <a:xfrm>
            <a:off x="6780460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" name="Freeform 154"/>
          <p:cNvSpPr>
            <a:spLocks/>
          </p:cNvSpPr>
          <p:nvPr/>
        </p:nvSpPr>
        <p:spPr bwMode="auto">
          <a:xfrm>
            <a:off x="7093225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4" name="Freeform 155"/>
          <p:cNvSpPr>
            <a:spLocks/>
          </p:cNvSpPr>
          <p:nvPr/>
        </p:nvSpPr>
        <p:spPr bwMode="auto">
          <a:xfrm>
            <a:off x="7407367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Freeform 156"/>
          <p:cNvSpPr>
            <a:spLocks/>
          </p:cNvSpPr>
          <p:nvPr/>
        </p:nvSpPr>
        <p:spPr bwMode="auto">
          <a:xfrm>
            <a:off x="7721509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6" name="Text Box 157"/>
          <p:cNvSpPr txBox="1">
            <a:spLocks noChangeArrowheads="1"/>
          </p:cNvSpPr>
          <p:nvPr/>
        </p:nvSpPr>
        <p:spPr bwMode="auto">
          <a:xfrm>
            <a:off x="6544855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#2</a:t>
            </a:r>
          </a:p>
        </p:txBody>
      </p:sp>
      <p:sp>
        <p:nvSpPr>
          <p:cNvPr id="157" name="Text Box 158"/>
          <p:cNvSpPr txBox="1">
            <a:spLocks noChangeArrowheads="1"/>
          </p:cNvSpPr>
          <p:nvPr/>
        </p:nvSpPr>
        <p:spPr bwMode="auto">
          <a:xfrm>
            <a:off x="7155226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#3</a:t>
            </a:r>
          </a:p>
        </p:txBody>
      </p:sp>
      <p:sp>
        <p:nvSpPr>
          <p:cNvPr id="159" name="Line 160"/>
          <p:cNvSpPr>
            <a:spLocks noChangeShapeType="1"/>
          </p:cNvSpPr>
          <p:nvPr/>
        </p:nvSpPr>
        <p:spPr bwMode="auto">
          <a:xfrm>
            <a:off x="6152177" y="3062736"/>
            <a:ext cx="549748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0" name="Line 161"/>
          <p:cNvSpPr>
            <a:spLocks noChangeShapeType="1"/>
          </p:cNvSpPr>
          <p:nvPr/>
        </p:nvSpPr>
        <p:spPr bwMode="auto">
          <a:xfrm>
            <a:off x="6780461" y="3062736"/>
            <a:ext cx="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1" name="Line 162"/>
          <p:cNvSpPr>
            <a:spLocks noChangeShapeType="1"/>
          </p:cNvSpPr>
          <p:nvPr/>
        </p:nvSpPr>
        <p:spPr bwMode="auto">
          <a:xfrm flipH="1">
            <a:off x="6937532" y="3062736"/>
            <a:ext cx="39130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2" name="Line 163"/>
          <p:cNvSpPr>
            <a:spLocks noChangeShapeType="1"/>
          </p:cNvSpPr>
          <p:nvPr/>
        </p:nvSpPr>
        <p:spPr bwMode="auto">
          <a:xfrm>
            <a:off x="1500502" y="1752668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" name="Line 164"/>
          <p:cNvSpPr>
            <a:spLocks noChangeShapeType="1"/>
          </p:cNvSpPr>
          <p:nvPr/>
        </p:nvSpPr>
        <p:spPr bwMode="auto">
          <a:xfrm>
            <a:off x="1500502" y="2397486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" name="Line 165"/>
          <p:cNvSpPr>
            <a:spLocks noChangeShapeType="1"/>
          </p:cNvSpPr>
          <p:nvPr/>
        </p:nvSpPr>
        <p:spPr bwMode="auto">
          <a:xfrm>
            <a:off x="1500502" y="3043575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5" name="Line 166"/>
          <p:cNvSpPr>
            <a:spLocks noChangeShapeType="1"/>
          </p:cNvSpPr>
          <p:nvPr/>
        </p:nvSpPr>
        <p:spPr bwMode="auto">
          <a:xfrm>
            <a:off x="1500502" y="3688391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6" name="Line 170"/>
          <p:cNvSpPr>
            <a:spLocks noChangeShapeType="1"/>
          </p:cNvSpPr>
          <p:nvPr/>
        </p:nvSpPr>
        <p:spPr bwMode="auto">
          <a:xfrm>
            <a:off x="5833901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7" name="Line 171"/>
          <p:cNvSpPr>
            <a:spLocks noChangeShapeType="1"/>
          </p:cNvSpPr>
          <p:nvPr/>
        </p:nvSpPr>
        <p:spPr bwMode="auto">
          <a:xfrm>
            <a:off x="646218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8" name="Line 172"/>
          <p:cNvSpPr>
            <a:spLocks noChangeShapeType="1"/>
          </p:cNvSpPr>
          <p:nvPr/>
        </p:nvSpPr>
        <p:spPr bwMode="auto">
          <a:xfrm>
            <a:off x="7090469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9" name="Line 173"/>
          <p:cNvSpPr>
            <a:spLocks noChangeShapeType="1"/>
          </p:cNvSpPr>
          <p:nvPr/>
        </p:nvSpPr>
        <p:spPr bwMode="auto">
          <a:xfrm>
            <a:off x="771737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5342807" y="1102535"/>
            <a:ext cx="2879799" cy="91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STDM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帧</a:t>
            </a:r>
            <a:r>
              <a:rPr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不是固定分配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时隙，而是</a:t>
            </a:r>
            <a:r>
              <a:rPr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按需动态地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分配时隙，因此可以提高线路的利用率。</a:t>
            </a:r>
          </a:p>
        </p:txBody>
      </p:sp>
      <p:sp>
        <p:nvSpPr>
          <p:cNvPr id="172" name="Text Box 103"/>
          <p:cNvSpPr txBox="1">
            <a:spLocks noChangeArrowheads="1"/>
          </p:cNvSpPr>
          <p:nvPr/>
        </p:nvSpPr>
        <p:spPr bwMode="auto">
          <a:xfrm>
            <a:off x="7779377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73" name="Text Box 104"/>
          <p:cNvSpPr txBox="1">
            <a:spLocks noChangeArrowheads="1"/>
          </p:cNvSpPr>
          <p:nvPr/>
        </p:nvSpPr>
        <p:spPr bwMode="auto">
          <a:xfrm>
            <a:off x="6211424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4" name="Text Box 108"/>
          <p:cNvSpPr txBox="1">
            <a:spLocks noChangeArrowheads="1"/>
          </p:cNvSpPr>
          <p:nvPr/>
        </p:nvSpPr>
        <p:spPr bwMode="auto">
          <a:xfrm>
            <a:off x="6506276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5" name="Text Box 109"/>
          <p:cNvSpPr txBox="1">
            <a:spLocks noChangeArrowheads="1"/>
          </p:cNvSpPr>
          <p:nvPr/>
        </p:nvSpPr>
        <p:spPr bwMode="auto">
          <a:xfrm>
            <a:off x="6819040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76" name="Text Box 110"/>
          <p:cNvSpPr txBox="1">
            <a:spLocks noChangeArrowheads="1"/>
          </p:cNvSpPr>
          <p:nvPr/>
        </p:nvSpPr>
        <p:spPr bwMode="auto">
          <a:xfrm>
            <a:off x="5891769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77" name="Text Box 148"/>
          <p:cNvSpPr txBox="1">
            <a:spLocks noChangeArrowheads="1"/>
          </p:cNvSpPr>
          <p:nvPr/>
        </p:nvSpPr>
        <p:spPr bwMode="auto">
          <a:xfrm>
            <a:off x="7142825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78" name="Text Box 149"/>
          <p:cNvSpPr txBox="1">
            <a:spLocks noChangeArrowheads="1"/>
          </p:cNvSpPr>
          <p:nvPr/>
        </p:nvSpPr>
        <p:spPr bwMode="auto">
          <a:xfrm>
            <a:off x="7447323" y="2333330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79" name="等腰三角形 178"/>
          <p:cNvSpPr/>
          <p:nvPr/>
        </p:nvSpPr>
        <p:spPr>
          <a:xfrm rot="5400000">
            <a:off x="4071718" y="2313974"/>
            <a:ext cx="1837509" cy="704668"/>
          </a:xfrm>
          <a:prstGeom prst="triangle">
            <a:avLst>
              <a:gd name="adj" fmla="val 49526"/>
            </a:avLst>
          </a:prstGeom>
          <a:solidFill>
            <a:srgbClr val="FFC00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/>
          <p:cNvSpPr/>
          <p:nvPr/>
        </p:nvSpPr>
        <p:spPr>
          <a:xfrm>
            <a:off x="4620721" y="2490350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集中器</a:t>
            </a:r>
          </a:p>
        </p:txBody>
      </p:sp>
      <p:cxnSp>
        <p:nvCxnSpPr>
          <p:cNvPr id="182" name="直接连接符 181"/>
          <p:cNvCxnSpPr>
            <a:stCxn id="179" idx="0"/>
          </p:cNvCxnSpPr>
          <p:nvPr/>
        </p:nvCxnSpPr>
        <p:spPr>
          <a:xfrm>
            <a:off x="5342807" y="2657599"/>
            <a:ext cx="221988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3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2.4.2 </a:t>
            </a:r>
            <a:r>
              <a:rPr lang="zh-CN" altLang="en-US" dirty="0"/>
              <a:t>波分复用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46643" y="1104901"/>
            <a:ext cx="8052214" cy="32493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 flipH="1">
            <a:off x="5844729" y="2193603"/>
            <a:ext cx="1558440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1550 nm           0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1551 nm           1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1552 nm           2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1553 nm           3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1554 nm           4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1555 nm           5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1556 nm           6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1557 nm           7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704343" y="2197384"/>
            <a:ext cx="1697901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0            1550 nm  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            1551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2            1552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3            1553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4            1554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5            1555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6            1556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7            1557 nm  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23524" y="2641023"/>
            <a:ext cx="915868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2.5 </a:t>
            </a:r>
            <a:r>
              <a:rPr kumimoji="1" lang="en-US" altLang="zh-CN" sz="1400" b="1" dirty="0" err="1">
                <a:solidFill>
                  <a:srgbClr val="000099"/>
                </a:solidFill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/s</a:t>
            </a: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1310 nm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5949812" y="242213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5949812" y="2641520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5949812" y="285991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5949812" y="308029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949812" y="329868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949812" y="351906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5949812" y="373745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5949812" y="3957832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1780544" y="242213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1780544" y="2641520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780544" y="285991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1780544" y="308029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1780544" y="329868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1780544" y="351906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1780544" y="373745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780544" y="3957832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3238912" y="3186509"/>
            <a:ext cx="2605818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5400000">
            <a:off x="3811553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2088113" y="2361580"/>
            <a:ext cx="336605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2088113" y="2579973"/>
            <a:ext cx="336605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2088113" y="2799359"/>
            <a:ext cx="336605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088113" y="3018744"/>
            <a:ext cx="336605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2088113" y="3238129"/>
            <a:ext cx="336605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2088113" y="3457514"/>
            <a:ext cx="336605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2088113" y="3676900"/>
            <a:ext cx="336605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2088113" y="3895292"/>
            <a:ext cx="336605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3801397" y="2532324"/>
            <a:ext cx="86914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itchFamily="2" charset="-122"/>
              </a:rPr>
              <a:t>20 </a:t>
            </a:r>
            <a:r>
              <a:rPr kumimoji="1" lang="en-US" altLang="zh-CN" sz="1400" b="1" dirty="0" err="1"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latin typeface="+mn-lt"/>
                <a:ea typeface="黑体" pitchFamily="2" charset="-122"/>
              </a:rPr>
              <a:t>/s</a:t>
            </a:r>
          </a:p>
        </p:txBody>
      </p:sp>
      <p:sp>
        <p:nvSpPr>
          <p:cNvPr id="37" name="AutoShape 34"/>
          <p:cNvSpPr>
            <a:spLocks noChangeArrowheads="1"/>
          </p:cNvSpPr>
          <p:nvPr/>
        </p:nvSpPr>
        <p:spPr bwMode="auto">
          <a:xfrm rot="16200000">
            <a:off x="2284915" y="3021143"/>
            <a:ext cx="2026088" cy="337682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8" name="AutoShape 35"/>
          <p:cNvSpPr>
            <a:spLocks noChangeArrowheads="1"/>
          </p:cNvSpPr>
          <p:nvPr/>
        </p:nvSpPr>
        <p:spPr bwMode="auto">
          <a:xfrm rot="5400000" flipH="1">
            <a:off x="4768466" y="3021681"/>
            <a:ext cx="2026088" cy="336605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6702604" y="2361580"/>
            <a:ext cx="336606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6702604" y="2579973"/>
            <a:ext cx="336606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>
            <a:off x="6702604" y="2799359"/>
            <a:ext cx="336606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6702604" y="3018744"/>
            <a:ext cx="336606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6702604" y="3238129"/>
            <a:ext cx="336606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6702604" y="3457514"/>
            <a:ext cx="336606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6702604" y="3676900"/>
            <a:ext cx="336606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6702604" y="3895292"/>
            <a:ext cx="336606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7" name="AutoShape 44"/>
          <p:cNvSpPr>
            <a:spLocks noChangeArrowheads="1"/>
          </p:cNvSpPr>
          <p:nvPr/>
        </p:nvSpPr>
        <p:spPr bwMode="auto">
          <a:xfrm rot="5400000">
            <a:off x="4442429" y="3084014"/>
            <a:ext cx="221371" cy="200028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8" name="AutoShape 45"/>
          <p:cNvSpPr>
            <a:spLocks noChangeArrowheads="1"/>
          </p:cNvSpPr>
          <p:nvPr/>
        </p:nvSpPr>
        <p:spPr bwMode="auto">
          <a:xfrm rot="5400000">
            <a:off x="5089339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 flipH="1">
            <a:off x="4205611" y="2791416"/>
            <a:ext cx="87109" cy="38913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0" name="Text Box 47"/>
          <p:cNvSpPr txBox="1">
            <a:spLocks noChangeArrowheads="1"/>
          </p:cNvSpPr>
          <p:nvPr/>
        </p:nvSpPr>
        <p:spPr bwMode="auto">
          <a:xfrm>
            <a:off x="3108224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复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器</a:t>
            </a:r>
          </a:p>
        </p:txBody>
      </p:sp>
      <p:sp>
        <p:nvSpPr>
          <p:cNvPr id="51" name="Text Box 48"/>
          <p:cNvSpPr txBox="1">
            <a:spLocks noChangeArrowheads="1"/>
          </p:cNvSpPr>
          <p:nvPr/>
        </p:nvSpPr>
        <p:spPr bwMode="auto">
          <a:xfrm>
            <a:off x="5584939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分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器</a:t>
            </a:r>
          </a:p>
        </p:txBody>
      </p:sp>
      <p:sp>
        <p:nvSpPr>
          <p:cNvPr id="52" name="Text Box 49"/>
          <p:cNvSpPr txBox="1">
            <a:spLocks noChangeArrowheads="1"/>
          </p:cNvSpPr>
          <p:nvPr/>
        </p:nvSpPr>
        <p:spPr bwMode="auto">
          <a:xfrm>
            <a:off x="4599358" y="2594864"/>
            <a:ext cx="5672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+mn-lt"/>
                <a:ea typeface="黑体" pitchFamily="2" charset="-122"/>
              </a:rPr>
              <a:t>EDFA</a:t>
            </a:r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 flipH="1">
            <a:off x="4572472" y="2851971"/>
            <a:ext cx="296816" cy="2700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3888363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>
            <a:off x="4531607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>
            <a:off x="3888363" y="3403909"/>
            <a:ext cx="64216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7" name="Text Box 55"/>
          <p:cNvSpPr txBox="1">
            <a:spLocks noChangeArrowheads="1"/>
          </p:cNvSpPr>
          <p:nvPr/>
        </p:nvSpPr>
        <p:spPr bwMode="auto">
          <a:xfrm>
            <a:off x="1857511" y="1797876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光调制器</a:t>
            </a:r>
          </a:p>
        </p:txBody>
      </p:sp>
      <p:sp>
        <p:nvSpPr>
          <p:cNvPr id="58" name="Line 56"/>
          <p:cNvSpPr>
            <a:spLocks noChangeShapeType="1"/>
          </p:cNvSpPr>
          <p:nvPr/>
        </p:nvSpPr>
        <p:spPr bwMode="auto">
          <a:xfrm>
            <a:off x="2254949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9" name="Text Box 57"/>
          <p:cNvSpPr txBox="1">
            <a:spLocks noChangeArrowheads="1"/>
          </p:cNvSpPr>
          <p:nvPr/>
        </p:nvSpPr>
        <p:spPr bwMode="auto">
          <a:xfrm>
            <a:off x="6472637" y="1807401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光解调器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6863902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1" name="Text Box 6"/>
          <p:cNvSpPr txBox="1">
            <a:spLocks noChangeArrowheads="1"/>
          </p:cNvSpPr>
          <p:nvPr/>
        </p:nvSpPr>
        <p:spPr bwMode="auto">
          <a:xfrm>
            <a:off x="7569983" y="2641023"/>
            <a:ext cx="834797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2.5 </a:t>
            </a:r>
            <a:r>
              <a:rPr kumimoji="1" lang="en-US" altLang="zh-CN" sz="1400" b="1" dirty="0" err="1">
                <a:solidFill>
                  <a:srgbClr val="000099"/>
                </a:solidFill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/s</a:t>
            </a: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1310 nm</a:t>
            </a:r>
          </a:p>
        </p:txBody>
      </p:sp>
      <p:sp>
        <p:nvSpPr>
          <p:cNvPr id="63" name="矩形 62"/>
          <p:cNvSpPr/>
          <p:nvPr/>
        </p:nvSpPr>
        <p:spPr>
          <a:xfrm>
            <a:off x="975359" y="1117599"/>
            <a:ext cx="7219405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波分复用 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WDM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(Wavelength Division Multiplexing)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：光的频分复用。使用一根光纤来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同时传输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多个光载波信号。</a:t>
            </a:r>
          </a:p>
        </p:txBody>
      </p:sp>
      <p:sp>
        <p:nvSpPr>
          <p:cNvPr id="64" name="Text Box 54"/>
          <p:cNvSpPr txBox="1">
            <a:spLocks noChangeArrowheads="1"/>
          </p:cNvSpPr>
          <p:nvPr/>
        </p:nvSpPr>
        <p:spPr bwMode="auto">
          <a:xfrm>
            <a:off x="3840603" y="3384458"/>
            <a:ext cx="7312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itchFamily="2" charset="-122"/>
              </a:rPr>
              <a:t>120 km</a:t>
            </a:r>
          </a:p>
        </p:txBody>
      </p:sp>
    </p:spTree>
    <p:extLst>
      <p:ext uri="{BB962C8B-B14F-4D97-AF65-F5344CB8AC3E}">
        <p14:creationId xmlns:p14="http://schemas.microsoft.com/office/powerpoint/2010/main" val="216267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2.4.3  </a:t>
            </a:r>
            <a:r>
              <a:rPr lang="zh-CN" altLang="en-US" dirty="0"/>
              <a:t>码分复用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每一个用户可以在</a:t>
            </a:r>
            <a:r>
              <a:rPr lang="zh-CN" altLang="en-US" dirty="0">
                <a:solidFill>
                  <a:srgbClr val="C00000"/>
                </a:solidFill>
              </a:rPr>
              <a:t>同样的时间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C00000"/>
                </a:solidFill>
              </a:rPr>
              <a:t>同样的频带</a:t>
            </a:r>
            <a:r>
              <a:rPr lang="zh-CN" altLang="en-US" dirty="0"/>
              <a:t>进行通信。</a:t>
            </a:r>
            <a:endParaRPr lang="en-US" altLang="zh-CN" dirty="0"/>
          </a:p>
          <a:p>
            <a:r>
              <a:rPr lang="zh-CN" altLang="en-US" dirty="0"/>
              <a:t>各用户使用经过特殊挑选的不同码型，因此不会造成干扰。</a:t>
            </a:r>
          </a:p>
          <a:p>
            <a:r>
              <a:rPr lang="zh-CN" altLang="en-US" dirty="0"/>
              <a:t>当</a:t>
            </a:r>
            <a:r>
              <a:rPr lang="zh-CN" altLang="en-US" dirty="0">
                <a:solidFill>
                  <a:srgbClr val="C00000"/>
                </a:solidFill>
              </a:rPr>
              <a:t>码分复用 </a:t>
            </a:r>
            <a:r>
              <a:rPr lang="en-US" altLang="zh-CN" dirty="0">
                <a:solidFill>
                  <a:srgbClr val="C00000"/>
                </a:solidFill>
              </a:rPr>
              <a:t>CDM </a:t>
            </a:r>
            <a:r>
              <a:rPr lang="en-US" altLang="zh-CN" dirty="0"/>
              <a:t>(Code Division Multiplexing) </a:t>
            </a:r>
            <a:r>
              <a:rPr lang="zh-CN" altLang="en-US" dirty="0"/>
              <a:t>信道为多个不同地址的用户所共享时，就称为</a:t>
            </a:r>
            <a:r>
              <a:rPr lang="zh-CN" altLang="en-US" dirty="0">
                <a:solidFill>
                  <a:srgbClr val="0000FF"/>
                </a:solidFill>
              </a:rPr>
              <a:t>码分多址 </a:t>
            </a:r>
            <a:r>
              <a:rPr lang="en-US" altLang="zh-CN" dirty="0">
                <a:solidFill>
                  <a:srgbClr val="0000FF"/>
                </a:solidFill>
              </a:rPr>
              <a:t>CDMA </a:t>
            </a:r>
            <a:r>
              <a:rPr lang="en-US" altLang="zh-CN" dirty="0"/>
              <a:t>(Code Division Multiple Access)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6845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将每一个比特时间划分为 </a:t>
            </a:r>
            <a:r>
              <a:rPr lang="en-US" altLang="zh-CN" dirty="0"/>
              <a:t>m </a:t>
            </a:r>
            <a:r>
              <a:rPr lang="zh-CN" altLang="en-US" dirty="0"/>
              <a:t>个短的间隔，称为</a:t>
            </a:r>
            <a:r>
              <a:rPr lang="zh-CN" altLang="en-US" dirty="0">
                <a:solidFill>
                  <a:srgbClr val="C00000"/>
                </a:solidFill>
              </a:rPr>
              <a:t>码片</a:t>
            </a:r>
            <a:r>
              <a:rPr lang="zh-CN" altLang="en-US" dirty="0"/>
              <a:t> </a:t>
            </a:r>
            <a:r>
              <a:rPr lang="en-US" altLang="zh-CN" dirty="0"/>
              <a:t>(chip)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为每个站指派一个</a:t>
            </a:r>
            <a:r>
              <a:rPr lang="zh-CN" altLang="en-US" dirty="0">
                <a:solidFill>
                  <a:srgbClr val="C00000"/>
                </a:solidFill>
              </a:rPr>
              <a:t>唯一的</a:t>
            </a:r>
            <a:r>
              <a:rPr lang="zh-CN" altLang="en-US" dirty="0"/>
              <a:t>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发送比特 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发送自己的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发送比特 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发送该码片序列的二进制</a:t>
            </a:r>
            <a:r>
              <a:rPr lang="zh-CN" altLang="en-US" dirty="0">
                <a:solidFill>
                  <a:srgbClr val="C00000"/>
                </a:solidFill>
              </a:rPr>
              <a:t>反码。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工作原理</a:t>
            </a:r>
          </a:p>
        </p:txBody>
      </p:sp>
      <p:sp>
        <p:nvSpPr>
          <p:cNvPr id="6" name="矩形 5"/>
          <p:cNvSpPr/>
          <p:nvPr/>
        </p:nvSpPr>
        <p:spPr>
          <a:xfrm>
            <a:off x="1249591" y="2616014"/>
            <a:ext cx="6002165" cy="14260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bit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码片序列是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11100100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码片序列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(–1 –1 –1 +1 +1 –1 +1 +1) </a:t>
            </a:r>
          </a:p>
        </p:txBody>
      </p:sp>
    </p:spTree>
    <p:extLst>
      <p:ext uri="{BB962C8B-B14F-4D97-AF65-F5344CB8AC3E}">
        <p14:creationId xmlns:p14="http://schemas.microsoft.com/office/powerpoint/2010/main" val="12701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要发送信息的数据率 </a:t>
            </a:r>
            <a:r>
              <a:rPr lang="en-US" altLang="zh-CN" dirty="0"/>
              <a:t>= b bit/s</a:t>
            </a:r>
            <a:r>
              <a:rPr lang="zh-CN" altLang="en-US" dirty="0"/>
              <a:t>，实际发送的数据率 </a:t>
            </a:r>
            <a:r>
              <a:rPr lang="en-US" altLang="zh-CN" dirty="0"/>
              <a:t>= </a:t>
            </a:r>
            <a:r>
              <a:rPr lang="en-US" altLang="zh-CN" dirty="0" err="1"/>
              <a:t>mb</a:t>
            </a:r>
            <a:r>
              <a:rPr lang="en-US" altLang="zh-CN" dirty="0"/>
              <a:t> bit/s</a:t>
            </a:r>
            <a:r>
              <a:rPr lang="zh-CN" altLang="en-US" dirty="0"/>
              <a:t>，同时，所占用频带宽度也提高到原来的 </a:t>
            </a:r>
            <a:r>
              <a:rPr lang="en-US" altLang="zh-CN" dirty="0"/>
              <a:t>m </a:t>
            </a:r>
            <a:r>
              <a:rPr lang="zh-CN" altLang="en-US" dirty="0"/>
              <a:t>倍。</a:t>
            </a:r>
            <a:endParaRPr lang="en-US" altLang="zh-CN" dirty="0"/>
          </a:p>
          <a:p>
            <a:r>
              <a:rPr lang="zh-CN" altLang="en-US" dirty="0"/>
              <a:t>扩频通常有 </a:t>
            </a:r>
            <a:r>
              <a:rPr lang="en-US" altLang="zh-CN" dirty="0"/>
              <a:t>2 </a:t>
            </a:r>
            <a:r>
              <a:rPr lang="zh-CN" altLang="en-US" dirty="0"/>
              <a:t>大类：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直接序列扩频 </a:t>
            </a:r>
            <a:r>
              <a:rPr lang="en-US" altLang="zh-CN" dirty="0">
                <a:solidFill>
                  <a:srgbClr val="0000FF"/>
                </a:solidFill>
              </a:rPr>
              <a:t>DSSS </a:t>
            </a:r>
            <a:r>
              <a:rPr lang="en-US" altLang="zh-CN" dirty="0"/>
              <a:t>(Direct Sequence Spread Spectrum)</a:t>
            </a:r>
            <a:r>
              <a:rPr lang="zh-CN" altLang="en-US" dirty="0"/>
              <a:t> 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跳频扩频 </a:t>
            </a:r>
            <a:r>
              <a:rPr lang="en-US" altLang="zh-CN" dirty="0">
                <a:solidFill>
                  <a:srgbClr val="0000FF"/>
                </a:solidFill>
              </a:rPr>
              <a:t>FHSS </a:t>
            </a:r>
            <a:r>
              <a:rPr lang="en-US" altLang="zh-CN" dirty="0"/>
              <a:t>(Frequency Hopping Spread Spectrum)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码片序列实现了扩频</a:t>
            </a:r>
          </a:p>
        </p:txBody>
      </p:sp>
    </p:spTree>
    <p:extLst>
      <p:ext uri="{BB962C8B-B14F-4D97-AF65-F5344CB8AC3E}">
        <p14:creationId xmlns:p14="http://schemas.microsoft.com/office/powerpoint/2010/main" val="194315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每个站分配的码片序列：各不相同，且必须互相正交 </a:t>
            </a:r>
            <a:r>
              <a:rPr lang="en-US" altLang="zh-CN" dirty="0"/>
              <a:t>(orthogonal)</a:t>
            </a:r>
            <a:r>
              <a:rPr lang="zh-CN" altLang="en-US" dirty="0"/>
              <a:t>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正交：</a:t>
            </a:r>
            <a:r>
              <a:rPr lang="zh-CN" altLang="en-US" dirty="0"/>
              <a:t>向量 </a:t>
            </a:r>
            <a:r>
              <a:rPr lang="en-US" altLang="zh-CN" dirty="0"/>
              <a:t>S </a:t>
            </a:r>
            <a:r>
              <a:rPr lang="zh-CN" altLang="en-US" dirty="0"/>
              <a:t>和 </a:t>
            </a:r>
            <a:r>
              <a:rPr lang="en-US" altLang="zh-CN" dirty="0"/>
              <a:t>T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规格化内积</a:t>
            </a:r>
            <a:r>
              <a:rPr lang="zh-CN" altLang="en-US" dirty="0"/>
              <a:t> </a:t>
            </a:r>
            <a:r>
              <a:rPr lang="en-US" altLang="zh-CN" dirty="0"/>
              <a:t>(inner product) </a:t>
            </a:r>
            <a:r>
              <a:rPr lang="zh-CN" altLang="en-US" dirty="0"/>
              <a:t>等于 </a:t>
            </a:r>
            <a:r>
              <a:rPr lang="en-US" altLang="zh-CN" dirty="0"/>
              <a:t>0</a:t>
            </a:r>
            <a:r>
              <a:rPr lang="zh-CN" altLang="en-US" dirty="0"/>
              <a:t>：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任何一个码片向量和该码片向量自己的规格化内积都是 </a:t>
            </a:r>
            <a:r>
              <a:rPr lang="en-US" altLang="zh-CN" dirty="0"/>
              <a:t>1 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一个码片向量和该码片反码的向量的规格化内积值是 </a:t>
            </a:r>
            <a:r>
              <a:rPr lang="en-US" altLang="zh-CN" dirty="0"/>
              <a:t>–1</a:t>
            </a:r>
            <a:r>
              <a:rPr lang="zh-CN" altLang="en-US" dirty="0"/>
              <a:t>。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的重要特点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42830"/>
              </p:ext>
            </p:extLst>
          </p:nvPr>
        </p:nvGraphicFramePr>
        <p:xfrm>
          <a:off x="1436914" y="1818217"/>
          <a:ext cx="2124375" cy="658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8" name="公式" r:id="rId3" imgW="1282700" imgH="431800" progId="Equation.3">
                  <p:embed/>
                </p:oleObj>
              </mc:Choice>
              <mc:Fallback>
                <p:oleObj name="公式" r:id="rId3" imgW="1282700" imgH="43180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1818217"/>
                        <a:ext cx="2124375" cy="65858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675299"/>
              </p:ext>
            </p:extLst>
          </p:nvPr>
        </p:nvGraphicFramePr>
        <p:xfrm>
          <a:off x="1436914" y="2925054"/>
          <a:ext cx="5163410" cy="703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" name="公式" r:id="rId5" imgW="2781300" imgH="431800" progId="Equation.3">
                  <p:embed/>
                </p:oleObj>
              </mc:Choice>
              <mc:Fallback>
                <p:oleObj name="公式" r:id="rId5" imgW="2781300" imgH="43180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2925054"/>
                        <a:ext cx="5163410" cy="70374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36476"/>
              </p:ext>
            </p:extLst>
          </p:nvPr>
        </p:nvGraphicFramePr>
        <p:xfrm>
          <a:off x="1436914" y="4080339"/>
          <a:ext cx="1398180" cy="426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" name="公式" r:id="rId7" imgW="622080" imgH="215640" progId="Equation.3">
                  <p:embed/>
                </p:oleObj>
              </mc:Choice>
              <mc:Fallback>
                <p:oleObj name="公式" r:id="rId7" imgW="622080" imgH="21564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4080339"/>
                        <a:ext cx="1398180" cy="42636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605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工作原理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56963" y="1041663"/>
            <a:ext cx="8048776" cy="32564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61829" y="1931689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3546976" y="1728776"/>
            <a:ext cx="116635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785039" y="1805238"/>
            <a:ext cx="1582484" cy="27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8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站的码片序列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3548157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4722782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5897407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7072031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Freeform 16"/>
          <p:cNvSpPr>
            <a:spLocks/>
          </p:cNvSpPr>
          <p:nvPr/>
        </p:nvSpPr>
        <p:spPr bwMode="auto">
          <a:xfrm>
            <a:off x="3548157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Freeform 17"/>
          <p:cNvSpPr>
            <a:spLocks/>
          </p:cNvSpPr>
          <p:nvPr/>
        </p:nvSpPr>
        <p:spPr bwMode="auto">
          <a:xfrm>
            <a:off x="472278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Freeform 18"/>
          <p:cNvSpPr>
            <a:spLocks/>
          </p:cNvSpPr>
          <p:nvPr/>
        </p:nvSpPr>
        <p:spPr bwMode="auto">
          <a:xfrm>
            <a:off x="354815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Freeform 19"/>
          <p:cNvSpPr>
            <a:spLocks/>
          </p:cNvSpPr>
          <p:nvPr/>
        </p:nvSpPr>
        <p:spPr bwMode="auto">
          <a:xfrm>
            <a:off x="4722782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Freeform 20"/>
          <p:cNvSpPr>
            <a:spLocks/>
          </p:cNvSpPr>
          <p:nvPr/>
        </p:nvSpPr>
        <p:spPr bwMode="auto">
          <a:xfrm flipV="1">
            <a:off x="589740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66FF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Freeform 21"/>
          <p:cNvSpPr>
            <a:spLocks/>
          </p:cNvSpPr>
          <p:nvPr/>
        </p:nvSpPr>
        <p:spPr bwMode="auto">
          <a:xfrm>
            <a:off x="354815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Freeform 22"/>
          <p:cNvSpPr>
            <a:spLocks/>
          </p:cNvSpPr>
          <p:nvPr/>
        </p:nvSpPr>
        <p:spPr bwMode="auto">
          <a:xfrm>
            <a:off x="4722782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 flipV="1">
            <a:off x="589740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FF99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Freeform 24"/>
          <p:cNvSpPr>
            <a:spLocks/>
          </p:cNvSpPr>
          <p:nvPr/>
        </p:nvSpPr>
        <p:spPr bwMode="auto">
          <a:xfrm>
            <a:off x="3548157" y="3440368"/>
            <a:ext cx="3523874" cy="215981"/>
          </a:xfrm>
          <a:custGeom>
            <a:avLst/>
            <a:gdLst>
              <a:gd name="T0" fmla="*/ 0 w 2827"/>
              <a:gd name="T1" fmla="*/ 96 h 194"/>
              <a:gd name="T2" fmla="*/ 0 w 2827"/>
              <a:gd name="T3" fmla="*/ 0 h 194"/>
              <a:gd name="T4" fmla="*/ 1886 w 2827"/>
              <a:gd name="T5" fmla="*/ 2 h 194"/>
              <a:gd name="T6" fmla="*/ 1886 w 2827"/>
              <a:gd name="T7" fmla="*/ 194 h 194"/>
              <a:gd name="T8" fmla="*/ 2826 w 2827"/>
              <a:gd name="T9" fmla="*/ 192 h 194"/>
              <a:gd name="T10" fmla="*/ 2827 w 2827"/>
              <a:gd name="T11" fmla="*/ 96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7" h="194">
                <a:moveTo>
                  <a:pt x="0" y="96"/>
                </a:moveTo>
                <a:lnTo>
                  <a:pt x="0" y="0"/>
                </a:lnTo>
                <a:lnTo>
                  <a:pt x="1886" y="2"/>
                </a:lnTo>
                <a:lnTo>
                  <a:pt x="1886" y="194"/>
                </a:lnTo>
                <a:lnTo>
                  <a:pt x="2826" y="192"/>
                </a:lnTo>
                <a:lnTo>
                  <a:pt x="2827" y="96"/>
                </a:lnTo>
              </a:path>
            </a:pathLst>
          </a:custGeom>
          <a:solidFill>
            <a:srgbClr val="00FFCC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Freeform 25"/>
          <p:cNvSpPr>
            <a:spLocks/>
          </p:cNvSpPr>
          <p:nvPr/>
        </p:nvSpPr>
        <p:spPr bwMode="auto">
          <a:xfrm>
            <a:off x="3548157" y="1354731"/>
            <a:ext cx="3523874" cy="214891"/>
          </a:xfrm>
          <a:custGeom>
            <a:avLst/>
            <a:gdLst>
              <a:gd name="T0" fmla="*/ 0 w 2304"/>
              <a:gd name="T1" fmla="*/ 96 h 192"/>
              <a:gd name="T2" fmla="*/ 0 w 2304"/>
              <a:gd name="T3" fmla="*/ 0 h 192"/>
              <a:gd name="T4" fmla="*/ 1536 w 2304"/>
              <a:gd name="T5" fmla="*/ 0 h 192"/>
              <a:gd name="T6" fmla="*/ 1536 w 2304"/>
              <a:gd name="T7" fmla="*/ 192 h 192"/>
              <a:gd name="T8" fmla="*/ 2304 w 2304"/>
              <a:gd name="T9" fmla="*/ 192 h 192"/>
              <a:gd name="T10" fmla="*/ 2304 w 2304"/>
              <a:gd name="T11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04" h="192">
                <a:moveTo>
                  <a:pt x="0" y="96"/>
                </a:moveTo>
                <a:lnTo>
                  <a:pt x="0" y="0"/>
                </a:lnTo>
                <a:lnTo>
                  <a:pt x="1536" y="0"/>
                </a:lnTo>
                <a:lnTo>
                  <a:pt x="1536" y="192"/>
                </a:lnTo>
                <a:lnTo>
                  <a:pt x="2304" y="192"/>
                </a:lnTo>
                <a:lnTo>
                  <a:pt x="2304" y="96"/>
                </a:lnTo>
              </a:path>
            </a:pathLst>
          </a:custGeom>
          <a:solidFill>
            <a:srgbClr val="FF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4722782" y="1275103"/>
            <a:ext cx="0" cy="106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3990119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>
            <a:off x="3432349" y="2690979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>
            <a:off x="3432349" y="3547267"/>
            <a:ext cx="39339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Line 30"/>
          <p:cNvSpPr>
            <a:spLocks noChangeShapeType="1"/>
          </p:cNvSpPr>
          <p:nvPr/>
        </p:nvSpPr>
        <p:spPr bwMode="auto">
          <a:xfrm flipV="1">
            <a:off x="3432349" y="3911599"/>
            <a:ext cx="3933929" cy="981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Freeform 31"/>
          <p:cNvSpPr>
            <a:spLocks/>
          </p:cNvSpPr>
          <p:nvPr/>
        </p:nvSpPr>
        <p:spPr bwMode="auto">
          <a:xfrm>
            <a:off x="354815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Freeform 32"/>
          <p:cNvSpPr>
            <a:spLocks/>
          </p:cNvSpPr>
          <p:nvPr/>
        </p:nvSpPr>
        <p:spPr bwMode="auto">
          <a:xfrm>
            <a:off x="4722782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Freeform 33"/>
          <p:cNvSpPr>
            <a:spLocks/>
          </p:cNvSpPr>
          <p:nvPr/>
        </p:nvSpPr>
        <p:spPr bwMode="auto">
          <a:xfrm flipV="1">
            <a:off x="589740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CC00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>
            <a:off x="3432349" y="3118578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447712" y="1462722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5171833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6350004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7367460" y="128492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7367460" y="1774696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7" name="Text Box 40"/>
          <p:cNvSpPr txBox="1">
            <a:spLocks noChangeArrowheads="1"/>
          </p:cNvSpPr>
          <p:nvPr/>
        </p:nvSpPr>
        <p:spPr bwMode="auto">
          <a:xfrm>
            <a:off x="7367460" y="253390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8" name="Text Box 41"/>
          <p:cNvSpPr txBox="1">
            <a:spLocks noChangeArrowheads="1"/>
          </p:cNvSpPr>
          <p:nvPr/>
        </p:nvSpPr>
        <p:spPr bwMode="auto">
          <a:xfrm>
            <a:off x="7367460" y="2951683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7367460" y="33792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0" name="Text Box 43"/>
          <p:cNvSpPr txBox="1">
            <a:spLocks noChangeArrowheads="1"/>
          </p:cNvSpPr>
          <p:nvPr/>
        </p:nvSpPr>
        <p:spPr bwMode="auto">
          <a:xfrm>
            <a:off x="7367460" y="3742524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2" name="Text Box 45"/>
          <p:cNvSpPr txBox="1">
            <a:spLocks noChangeArrowheads="1"/>
          </p:cNvSpPr>
          <p:nvPr/>
        </p:nvSpPr>
        <p:spPr bwMode="auto">
          <a:xfrm>
            <a:off x="3742907" y="1454089"/>
            <a:ext cx="843501" cy="32130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ts val="1800"/>
              </a:lnSpc>
            </a:pPr>
            <a:r>
              <a:rPr kumimoji="1" lang="en-US" altLang="zh-CN" sz="1200" b="1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个码片</a:t>
            </a:r>
          </a:p>
        </p:txBody>
      </p:sp>
      <p:sp>
        <p:nvSpPr>
          <p:cNvPr id="43" name="Freeform 46"/>
          <p:cNvSpPr>
            <a:spLocks/>
          </p:cNvSpPr>
          <p:nvPr/>
        </p:nvSpPr>
        <p:spPr bwMode="auto">
          <a:xfrm>
            <a:off x="354815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Freeform 47"/>
          <p:cNvSpPr>
            <a:spLocks/>
          </p:cNvSpPr>
          <p:nvPr/>
        </p:nvSpPr>
        <p:spPr bwMode="auto">
          <a:xfrm>
            <a:off x="4722782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Freeform 48"/>
          <p:cNvSpPr>
            <a:spLocks/>
          </p:cNvSpPr>
          <p:nvPr/>
        </p:nvSpPr>
        <p:spPr bwMode="auto">
          <a:xfrm flipV="1">
            <a:off x="589740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rgbClr val="FF6699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Line 49"/>
          <p:cNvSpPr>
            <a:spLocks noChangeShapeType="1"/>
          </p:cNvSpPr>
          <p:nvPr/>
        </p:nvSpPr>
        <p:spPr bwMode="auto">
          <a:xfrm flipV="1">
            <a:off x="3432349" y="2313557"/>
            <a:ext cx="3933929" cy="4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 Box 50"/>
          <p:cNvSpPr txBox="1">
            <a:spLocks noChangeArrowheads="1"/>
          </p:cNvSpPr>
          <p:nvPr/>
        </p:nvSpPr>
        <p:spPr bwMode="auto">
          <a:xfrm>
            <a:off x="7367460" y="214339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8" name="Freeform 51"/>
          <p:cNvSpPr>
            <a:spLocks/>
          </p:cNvSpPr>
          <p:nvPr/>
        </p:nvSpPr>
        <p:spPr bwMode="auto">
          <a:xfrm>
            <a:off x="590095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Line 52"/>
          <p:cNvSpPr>
            <a:spLocks noChangeShapeType="1"/>
          </p:cNvSpPr>
          <p:nvPr/>
        </p:nvSpPr>
        <p:spPr bwMode="auto">
          <a:xfrm>
            <a:off x="3447712" y="1943771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1785038" y="2134663"/>
            <a:ext cx="165301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 Box 54"/>
          <p:cNvSpPr txBox="1">
            <a:spLocks noChangeArrowheads="1"/>
          </p:cNvSpPr>
          <p:nvPr/>
        </p:nvSpPr>
        <p:spPr bwMode="auto">
          <a:xfrm>
            <a:off x="1785039" y="2513176"/>
            <a:ext cx="164872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T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55"/>
          <p:cNvSpPr txBox="1">
            <a:spLocks noChangeArrowheads="1"/>
          </p:cNvSpPr>
          <p:nvPr/>
        </p:nvSpPr>
        <p:spPr bwMode="auto">
          <a:xfrm>
            <a:off x="1571149" y="2951683"/>
            <a:ext cx="19035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总的发送信号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 +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Box 56"/>
          <p:cNvSpPr txBox="1">
            <a:spLocks noChangeArrowheads="1"/>
          </p:cNvSpPr>
          <p:nvPr/>
        </p:nvSpPr>
        <p:spPr bwMode="auto">
          <a:xfrm>
            <a:off x="1838216" y="3378192"/>
            <a:ext cx="160813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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 Box 57"/>
          <p:cNvSpPr txBox="1">
            <a:spLocks noChangeArrowheads="1"/>
          </p:cNvSpPr>
          <p:nvPr/>
        </p:nvSpPr>
        <p:spPr bwMode="auto">
          <a:xfrm>
            <a:off x="1838216" y="3743614"/>
            <a:ext cx="15990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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58"/>
          <p:cNvSpPr>
            <a:spLocks noChangeShapeType="1"/>
          </p:cNvSpPr>
          <p:nvPr/>
        </p:nvSpPr>
        <p:spPr bwMode="auto">
          <a:xfrm flipV="1">
            <a:off x="3447713" y="3547267"/>
            <a:ext cx="3889024" cy="109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Text Box 59"/>
          <p:cNvSpPr txBox="1">
            <a:spLocks noChangeArrowheads="1"/>
          </p:cNvSpPr>
          <p:nvPr/>
        </p:nvSpPr>
        <p:spPr bwMode="auto">
          <a:xfrm>
            <a:off x="2111192" y="122165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itchFamily="34" charset="-122"/>
                <a:ea typeface="微软雅黑" pitchFamily="34" charset="-122"/>
              </a:rPr>
              <a:t>数据码元比特</a:t>
            </a:r>
          </a:p>
        </p:txBody>
      </p:sp>
      <p:sp>
        <p:nvSpPr>
          <p:cNvPr id="57" name="Text Box 60"/>
          <p:cNvSpPr txBox="1">
            <a:spLocks noChangeArrowheads="1"/>
          </p:cNvSpPr>
          <p:nvPr/>
        </p:nvSpPr>
        <p:spPr bwMode="auto">
          <a:xfrm>
            <a:off x="1244995" y="1968860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送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端</a:t>
            </a:r>
          </a:p>
        </p:txBody>
      </p:sp>
      <p:sp>
        <p:nvSpPr>
          <p:cNvPr id="58" name="Text Box 61"/>
          <p:cNvSpPr txBox="1">
            <a:spLocks noChangeArrowheads="1"/>
          </p:cNvSpPr>
          <p:nvPr/>
        </p:nvSpPr>
        <p:spPr bwMode="auto">
          <a:xfrm>
            <a:off x="1351349" y="3354194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接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收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端</a:t>
            </a:r>
          </a:p>
        </p:txBody>
      </p:sp>
      <p:sp>
        <p:nvSpPr>
          <p:cNvPr id="59" name="AutoShape 62"/>
          <p:cNvSpPr>
            <a:spLocks/>
          </p:cNvSpPr>
          <p:nvPr/>
        </p:nvSpPr>
        <p:spPr bwMode="auto">
          <a:xfrm>
            <a:off x="1571149" y="1276193"/>
            <a:ext cx="107536" cy="2078001"/>
          </a:xfrm>
          <a:prstGeom prst="leftBracket">
            <a:avLst>
              <a:gd name="adj" fmla="val 174451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AutoShape 63"/>
          <p:cNvSpPr>
            <a:spLocks/>
          </p:cNvSpPr>
          <p:nvPr/>
        </p:nvSpPr>
        <p:spPr bwMode="auto">
          <a:xfrm>
            <a:off x="1731862" y="3453458"/>
            <a:ext cx="57903" cy="544316"/>
          </a:xfrm>
          <a:prstGeom prst="leftBracket">
            <a:avLst>
              <a:gd name="adj" fmla="val 84865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97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2.5  </a:t>
            </a:r>
            <a:r>
              <a:rPr lang="zh-CN" altLang="en-US" dirty="0"/>
              <a:t>数字传输系统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早期，电话网长途干线采用</a:t>
            </a:r>
            <a:r>
              <a:rPr lang="zh-CN" altLang="en-US" dirty="0">
                <a:solidFill>
                  <a:srgbClr val="0000FF"/>
                </a:solidFill>
              </a:rPr>
              <a:t>频分复用 </a:t>
            </a:r>
            <a:r>
              <a:rPr lang="en-US" altLang="zh-CN" dirty="0">
                <a:solidFill>
                  <a:srgbClr val="0000FF"/>
                </a:solidFill>
              </a:rPr>
              <a:t>FDM </a:t>
            </a:r>
            <a:r>
              <a:rPr lang="zh-CN" altLang="en-US" dirty="0"/>
              <a:t>的模拟传输方式。</a:t>
            </a:r>
          </a:p>
          <a:p>
            <a:r>
              <a:rPr lang="zh-CN" altLang="en-US" dirty="0"/>
              <a:t>目前，大都采用</a:t>
            </a:r>
            <a:r>
              <a:rPr lang="zh-CN" altLang="en-US" dirty="0">
                <a:solidFill>
                  <a:srgbClr val="0000FF"/>
                </a:solidFill>
              </a:rPr>
              <a:t>时分复用 </a:t>
            </a:r>
            <a:r>
              <a:rPr lang="en-US" altLang="zh-CN" dirty="0">
                <a:solidFill>
                  <a:srgbClr val="0000FF"/>
                </a:solidFill>
              </a:rPr>
              <a:t>PCM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数字传输方式。</a:t>
            </a:r>
          </a:p>
          <a:p>
            <a:r>
              <a:rPr lang="zh-CN" altLang="en-US" dirty="0"/>
              <a:t>现代电信网业务括话音、视频、图像和各种数据业务。因此需要一种能承载来自其他</a:t>
            </a:r>
            <a:r>
              <a:rPr lang="zh-CN" altLang="en-US" dirty="0">
                <a:solidFill>
                  <a:srgbClr val="C00000"/>
                </a:solidFill>
              </a:rPr>
              <a:t>各种业务网络数据</a:t>
            </a:r>
            <a:r>
              <a:rPr lang="zh-CN" altLang="en-US" dirty="0"/>
              <a:t>的传输网络。</a:t>
            </a:r>
            <a:endParaRPr lang="en-US" altLang="zh-CN" dirty="0"/>
          </a:p>
          <a:p>
            <a:r>
              <a:rPr lang="zh-CN" altLang="en-US" dirty="0"/>
              <a:t>在数字化的同时，</a:t>
            </a:r>
            <a:r>
              <a:rPr lang="zh-CN" altLang="en-US" dirty="0">
                <a:solidFill>
                  <a:srgbClr val="C00000"/>
                </a:solidFill>
              </a:rPr>
              <a:t>光纤</a:t>
            </a:r>
            <a:r>
              <a:rPr lang="zh-CN" altLang="en-US" dirty="0"/>
              <a:t>开始成为长途干线最主要的传输媒体。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20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速率标准不统一。</a:t>
            </a:r>
            <a:r>
              <a:rPr lang="zh-CN" altLang="en-US" dirty="0"/>
              <a:t>两个互不兼容的国际标准：</a:t>
            </a:r>
            <a:endParaRPr lang="en-US" altLang="zh-CN" dirty="0"/>
          </a:p>
          <a:p>
            <a:pPr lvl="1"/>
            <a:r>
              <a:rPr lang="zh-CN" altLang="en-US" dirty="0"/>
              <a:t>北美和日本的 </a:t>
            </a:r>
            <a:r>
              <a:rPr lang="en-US" altLang="zh-CN" dirty="0"/>
              <a:t>T1 </a:t>
            </a:r>
            <a:r>
              <a:rPr lang="zh-CN" altLang="en-US" dirty="0"/>
              <a:t>速率（</a:t>
            </a:r>
            <a:r>
              <a:rPr lang="en-US" altLang="zh-CN" dirty="0"/>
              <a:t>1.544 Mbit/s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欧洲的 </a:t>
            </a:r>
            <a:r>
              <a:rPr lang="en-US" altLang="zh-CN" dirty="0"/>
              <a:t>E1 </a:t>
            </a:r>
            <a:r>
              <a:rPr lang="zh-CN" altLang="en-US" dirty="0"/>
              <a:t>速率（</a:t>
            </a:r>
            <a:r>
              <a:rPr lang="en-US" altLang="zh-CN" dirty="0"/>
              <a:t>2.048 Mbit/s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不是同步传输。</a:t>
            </a:r>
            <a:r>
              <a:rPr lang="zh-CN" altLang="en-US" dirty="0"/>
              <a:t>主要采用准同步方式。</a:t>
            </a:r>
            <a:endParaRPr lang="en-US" altLang="zh-CN" dirty="0"/>
          </a:p>
          <a:p>
            <a:pPr lvl="1"/>
            <a:r>
              <a:rPr lang="zh-CN" altLang="en-US" dirty="0"/>
              <a:t>各支路信号的时钟频率有一定的偏差，给时分复用和分用带来许多麻烦。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早期数字传输系统的缺点</a:t>
            </a:r>
          </a:p>
        </p:txBody>
      </p:sp>
    </p:spTree>
    <p:extLst>
      <p:ext uri="{BB962C8B-B14F-4D97-AF65-F5344CB8AC3E}">
        <p14:creationId xmlns:p14="http://schemas.microsoft.com/office/powerpoint/2010/main" val="350065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各级时钟都来自一个非常精确的主时钟。 </a:t>
            </a:r>
          </a:p>
          <a:p>
            <a:r>
              <a:rPr lang="zh-CN" altLang="en-US" dirty="0"/>
              <a:t>为光纤传输系统定义了</a:t>
            </a:r>
            <a:r>
              <a:rPr lang="zh-CN" altLang="en-US" dirty="0">
                <a:solidFill>
                  <a:srgbClr val="C00000"/>
                </a:solidFill>
              </a:rPr>
              <a:t>同步传输</a:t>
            </a:r>
            <a:r>
              <a:rPr lang="zh-CN" altLang="en-US" dirty="0"/>
              <a:t>的线路速率等级结构：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传输速率以 </a:t>
            </a:r>
            <a:r>
              <a:rPr lang="en-US" altLang="zh-CN" dirty="0">
                <a:solidFill>
                  <a:srgbClr val="C00000"/>
                </a:solidFill>
              </a:rPr>
              <a:t>51.84 Mbit/s </a:t>
            </a:r>
            <a:r>
              <a:rPr lang="zh-CN" altLang="en-US" dirty="0">
                <a:solidFill>
                  <a:srgbClr val="0000FF"/>
                </a:solidFill>
              </a:rPr>
              <a:t>为基础。</a:t>
            </a:r>
            <a:r>
              <a:rPr lang="zh-CN" altLang="en-US" dirty="0"/>
              <a:t>对电信信号称为第 </a:t>
            </a:r>
            <a:r>
              <a:rPr lang="en-US" altLang="zh-CN" dirty="0"/>
              <a:t>1 </a:t>
            </a:r>
            <a:r>
              <a:rPr lang="zh-CN" altLang="en-US" dirty="0"/>
              <a:t>级同步传送信号 </a:t>
            </a:r>
            <a:r>
              <a:rPr lang="en-US" altLang="zh-CN" dirty="0"/>
              <a:t>STS-1 (Synchronous Transport Signal)</a:t>
            </a:r>
            <a:r>
              <a:rPr lang="zh-CN" altLang="en-US" dirty="0"/>
              <a:t>，对光信号则称为第 </a:t>
            </a:r>
            <a:r>
              <a:rPr lang="en-US" altLang="zh-CN" dirty="0"/>
              <a:t>1 </a:t>
            </a:r>
            <a:r>
              <a:rPr lang="zh-CN" altLang="en-US" dirty="0"/>
              <a:t>级光载波 </a:t>
            </a:r>
            <a:r>
              <a:rPr lang="en-US" altLang="zh-CN" dirty="0"/>
              <a:t>OC-1 (Optical Carrier)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现已定义了从 </a:t>
            </a:r>
            <a:r>
              <a:rPr lang="en-US" altLang="zh-CN" dirty="0"/>
              <a:t>51.84 Mbit/s (</a:t>
            </a:r>
            <a:r>
              <a:rPr lang="zh-CN" altLang="en-US" dirty="0"/>
              <a:t>即 </a:t>
            </a:r>
            <a:r>
              <a:rPr lang="en-US" altLang="zh-CN" dirty="0"/>
              <a:t>OC-1) </a:t>
            </a:r>
            <a:r>
              <a:rPr lang="zh-CN" altLang="en-US" dirty="0"/>
              <a:t>到 </a:t>
            </a:r>
            <a:r>
              <a:rPr lang="en-US" altLang="zh-CN" dirty="0"/>
              <a:t>9953.280 Mbit/s (</a:t>
            </a:r>
            <a:r>
              <a:rPr lang="zh-CN" altLang="en-US" dirty="0"/>
              <a:t>即 </a:t>
            </a:r>
            <a:r>
              <a:rPr lang="en-US" altLang="zh-CN" dirty="0"/>
              <a:t>OC-192/STS-192) </a:t>
            </a:r>
            <a:r>
              <a:rPr lang="zh-CN" altLang="en-US" dirty="0"/>
              <a:t>的标准。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同步光纤网 </a:t>
            </a:r>
            <a:r>
              <a:rPr lang="en-US" altLang="zh-CN" dirty="0"/>
              <a:t>SONET (Synchronous Optical Network)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186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ITU-T </a:t>
            </a:r>
            <a:r>
              <a:rPr lang="zh-CN" altLang="en-US" dirty="0"/>
              <a:t>以美国标准 </a:t>
            </a:r>
            <a:r>
              <a:rPr lang="en-US" altLang="zh-CN" dirty="0"/>
              <a:t>SONET </a:t>
            </a:r>
            <a:r>
              <a:rPr lang="zh-CN" altLang="en-US" dirty="0"/>
              <a:t>为基础制订的国际标准。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与 </a:t>
            </a:r>
            <a:r>
              <a:rPr lang="en-US" altLang="zh-CN" dirty="0">
                <a:solidFill>
                  <a:srgbClr val="0000FF"/>
                </a:solidFill>
              </a:rPr>
              <a:t>SONET </a:t>
            </a:r>
            <a:r>
              <a:rPr lang="zh-CN" altLang="en-US" dirty="0">
                <a:solidFill>
                  <a:srgbClr val="0000FF"/>
                </a:solidFill>
              </a:rPr>
              <a:t>的</a:t>
            </a:r>
            <a:r>
              <a:rPr lang="zh-CN" altLang="en-US" dirty="0">
                <a:solidFill>
                  <a:srgbClr val="C00000"/>
                </a:solidFill>
              </a:rPr>
              <a:t>主要不同：</a:t>
            </a:r>
            <a:r>
              <a:rPr lang="en-US" altLang="zh-CN" dirty="0"/>
              <a:t>SDH </a:t>
            </a:r>
            <a:r>
              <a:rPr lang="zh-CN" altLang="en-US" dirty="0"/>
              <a:t>的基本速率为 </a:t>
            </a:r>
            <a:r>
              <a:rPr lang="en-US" altLang="zh-CN" dirty="0"/>
              <a:t>155.52 Mbit/s</a:t>
            </a:r>
            <a:r>
              <a:rPr lang="zh-CN" altLang="en-US" dirty="0"/>
              <a:t>，称为第 </a:t>
            </a:r>
            <a:r>
              <a:rPr lang="en-US" altLang="zh-CN" dirty="0"/>
              <a:t>1 </a:t>
            </a:r>
            <a:r>
              <a:rPr lang="zh-CN" altLang="en-US" dirty="0"/>
              <a:t>级同步传递模块 </a:t>
            </a:r>
            <a:r>
              <a:rPr lang="en-US" altLang="zh-CN" dirty="0"/>
              <a:t>(Synchronous Transfer Module)</a:t>
            </a:r>
            <a:r>
              <a:rPr lang="zh-CN" altLang="en-US" dirty="0"/>
              <a:t>，即 </a:t>
            </a:r>
            <a:r>
              <a:rPr lang="en-US" altLang="zh-CN" dirty="0"/>
              <a:t>STM-1</a:t>
            </a:r>
            <a:r>
              <a:rPr lang="zh-CN" altLang="en-US" dirty="0"/>
              <a:t>，相当于 </a:t>
            </a:r>
            <a:r>
              <a:rPr lang="en-US" altLang="zh-CN" dirty="0"/>
              <a:t>SONET </a:t>
            </a:r>
            <a:r>
              <a:rPr lang="zh-CN" altLang="en-US" dirty="0"/>
              <a:t>体系中的 </a:t>
            </a:r>
            <a:r>
              <a:rPr lang="en-US" altLang="zh-CN" dirty="0"/>
              <a:t>OC-3 </a:t>
            </a:r>
            <a:r>
              <a:rPr lang="zh-CN" altLang="en-US" dirty="0"/>
              <a:t>速率。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同步数字系列 </a:t>
            </a:r>
            <a:r>
              <a:rPr lang="en-US" altLang="zh-CN" dirty="0"/>
              <a:t>SDH (Synchronous Digital Hierarchy)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724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sz="1900" dirty="0"/>
              <a:t>定义了标准光信号，规定了波长为 </a:t>
            </a:r>
            <a:r>
              <a:rPr lang="en-US" altLang="zh-CN" sz="1900" dirty="0"/>
              <a:t>1310 nm </a:t>
            </a:r>
            <a:r>
              <a:rPr lang="zh-CN" altLang="en-US" sz="1900" dirty="0"/>
              <a:t>和 </a:t>
            </a:r>
            <a:r>
              <a:rPr lang="en-US" altLang="zh-CN" sz="1900" dirty="0"/>
              <a:t>1550 nm </a:t>
            </a:r>
            <a:r>
              <a:rPr lang="zh-CN" altLang="en-US" sz="1900" dirty="0"/>
              <a:t>的激光源。</a:t>
            </a:r>
            <a:endParaRPr lang="en-US" altLang="zh-CN" sz="1900" dirty="0"/>
          </a:p>
          <a:p>
            <a:r>
              <a:rPr lang="zh-CN" altLang="en-US" sz="1900" dirty="0"/>
              <a:t>在物理层定义了帧结构。</a:t>
            </a:r>
            <a:endParaRPr lang="en-US" altLang="zh-CN" sz="1900" dirty="0"/>
          </a:p>
          <a:p>
            <a:r>
              <a:rPr lang="zh-CN" altLang="en-US" sz="1900" dirty="0"/>
              <a:t>使北美、日本和欧洲这三个地区三种不同的数字传输体制在 </a:t>
            </a:r>
            <a:r>
              <a:rPr lang="en-US" altLang="zh-CN" sz="1900" dirty="0"/>
              <a:t>STM-1 </a:t>
            </a:r>
            <a:r>
              <a:rPr lang="zh-CN" altLang="en-US" sz="1900" dirty="0"/>
              <a:t>等级上获得了统一。</a:t>
            </a:r>
            <a:endParaRPr lang="en-US" altLang="zh-CN" sz="1900" dirty="0"/>
          </a:p>
          <a:p>
            <a:r>
              <a:rPr lang="zh-CN" altLang="en-US" sz="1900" dirty="0"/>
              <a:t>已成为公认的新一代理想的传输网体制。</a:t>
            </a:r>
          </a:p>
          <a:p>
            <a:r>
              <a:rPr lang="en-US" altLang="zh-CN" sz="1900" dirty="0"/>
              <a:t>SDH </a:t>
            </a:r>
            <a:r>
              <a:rPr lang="zh-CN" altLang="en-US" sz="1900" dirty="0"/>
              <a:t>标准也适合于微波和卫星传输的技术体制。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/ SDH </a:t>
            </a:r>
            <a:r>
              <a:rPr lang="zh-CN" altLang="en-US" dirty="0"/>
              <a:t>标准的意义</a:t>
            </a:r>
          </a:p>
        </p:txBody>
      </p:sp>
    </p:spTree>
    <p:extLst>
      <p:ext uri="{BB962C8B-B14F-4D97-AF65-F5344CB8AC3E}">
        <p14:creationId xmlns:p14="http://schemas.microsoft.com/office/powerpoint/2010/main" val="191055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9"/>
          <p:cNvSpPr>
            <a:spLocks noChangeArrowheads="1"/>
          </p:cNvSpPr>
          <p:nvPr/>
        </p:nvSpPr>
        <p:spPr bwMode="auto">
          <a:xfrm>
            <a:off x="2629135" y="258067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2629135" y="137951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2629135" y="1985937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0" name="Line 16"/>
          <p:cNvSpPr>
            <a:spLocks noChangeShapeType="1"/>
          </p:cNvSpPr>
          <p:nvPr/>
        </p:nvSpPr>
        <p:spPr bwMode="auto">
          <a:xfrm>
            <a:off x="3637198" y="1308074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2700573" y="1125511"/>
            <a:ext cx="5756006" cy="198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2.6.1                                            ADSL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2.6.2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光纤同轴混合网（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HFC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网）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2.6.3                                             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FTTx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</a:p>
        </p:txBody>
      </p:sp>
      <p:sp>
        <p:nvSpPr>
          <p:cNvPr id="62" name="Rectangle 27"/>
          <p:cNvSpPr>
            <a:spLocks noChangeArrowheads="1"/>
          </p:cNvSpPr>
          <p:nvPr/>
        </p:nvSpPr>
        <p:spPr bwMode="auto">
          <a:xfrm>
            <a:off x="639730" y="1379512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63" name="Rectangle 29"/>
          <p:cNvSpPr>
            <a:spLocks noChangeArrowheads="1"/>
          </p:cNvSpPr>
          <p:nvPr/>
        </p:nvSpPr>
        <p:spPr bwMode="auto">
          <a:xfrm>
            <a:off x="648619" y="1474444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en-US" altLang="zh-CN" sz="20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6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宽带接入</a:t>
            </a:r>
            <a:endParaRPr lang="en-US" altLang="zh-CN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993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2.6</a:t>
            </a:r>
            <a:r>
              <a:rPr lang="en-US" altLang="zh-CN" dirty="0"/>
              <a:t>  </a:t>
            </a:r>
            <a:r>
              <a:rPr lang="zh-CN" altLang="en-US" dirty="0"/>
              <a:t>宽带接入技术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宽带：</a:t>
            </a:r>
            <a:r>
              <a:rPr lang="zh-CN" altLang="en-US" dirty="0"/>
              <a:t>标准在不断提高。</a:t>
            </a:r>
            <a:endParaRPr lang="en-US" altLang="zh-CN" dirty="0"/>
          </a:p>
          <a:p>
            <a:r>
              <a:rPr lang="zh-CN" altLang="en-US" dirty="0"/>
              <a:t>美国联邦通信委员会 </a:t>
            </a:r>
            <a:r>
              <a:rPr lang="en-US" altLang="zh-CN" dirty="0"/>
              <a:t>FCC </a:t>
            </a:r>
            <a:r>
              <a:rPr lang="zh-CN" altLang="en-US" dirty="0"/>
              <a:t>定义：</a:t>
            </a:r>
            <a:endParaRPr lang="en-US" altLang="zh-CN" dirty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从宽带接入的媒体来看，划分为 </a:t>
            </a:r>
            <a:r>
              <a:rPr lang="en-US" altLang="zh-CN" dirty="0"/>
              <a:t>2 </a:t>
            </a:r>
            <a:r>
              <a:rPr lang="zh-CN" altLang="en-US" dirty="0"/>
              <a:t>大类：</a:t>
            </a:r>
          </a:p>
          <a:p>
            <a:pPr lvl="1"/>
            <a:r>
              <a:rPr lang="zh-CN" altLang="en-US" dirty="0"/>
              <a:t>有线宽带接入。</a:t>
            </a:r>
          </a:p>
          <a:p>
            <a:pPr lvl="1"/>
            <a:r>
              <a:rPr lang="zh-CN" altLang="en-US" dirty="0"/>
              <a:t>无线宽带接入。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58240" y="1914462"/>
            <a:ext cx="7001691" cy="4770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宽带下行速率达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，宽带上行速率达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382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2.6.1  ADSL </a:t>
            </a:r>
            <a:r>
              <a:rPr lang="zh-CN" altLang="en-US" dirty="0"/>
              <a:t>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非对称数字用户线 </a:t>
            </a:r>
            <a:r>
              <a:rPr lang="en-US" altLang="zh-CN" dirty="0">
                <a:solidFill>
                  <a:srgbClr val="C00000"/>
                </a:solidFill>
              </a:rPr>
              <a:t>ADSL </a:t>
            </a:r>
            <a:r>
              <a:rPr lang="en-US" altLang="zh-CN" dirty="0"/>
              <a:t>(Asymmetric Digital Subscriber Line) </a:t>
            </a:r>
            <a:r>
              <a:rPr lang="zh-CN" altLang="en-US" dirty="0"/>
              <a:t>技术：用数字技术对现有的模拟电话用户线进行改造，使它能够承载宽带业务。</a:t>
            </a:r>
            <a:endParaRPr lang="en-US" altLang="zh-CN" dirty="0"/>
          </a:p>
          <a:p>
            <a:r>
              <a:rPr lang="en-US" altLang="zh-CN" dirty="0"/>
              <a:t>ADSL </a:t>
            </a:r>
            <a:r>
              <a:rPr lang="zh-CN" altLang="en-US" dirty="0"/>
              <a:t>技术把 </a:t>
            </a:r>
            <a:r>
              <a:rPr lang="en-US" altLang="zh-CN" dirty="0"/>
              <a:t>0~4 kHz </a:t>
            </a:r>
            <a:r>
              <a:rPr lang="zh-CN" altLang="en-US" dirty="0"/>
              <a:t>低端频谱留给传统电话使用，而把原来没有被利用的高端频谱留给用户上网使用。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ADSL </a:t>
            </a:r>
            <a:r>
              <a:rPr lang="zh-CN" altLang="en-US" dirty="0">
                <a:solidFill>
                  <a:srgbClr val="C00000"/>
                </a:solidFill>
              </a:rPr>
              <a:t>的 </a:t>
            </a:r>
            <a:r>
              <a:rPr lang="en-US" altLang="zh-CN" dirty="0">
                <a:solidFill>
                  <a:srgbClr val="C00000"/>
                </a:solidFill>
              </a:rPr>
              <a:t>ITU </a:t>
            </a:r>
            <a:r>
              <a:rPr lang="zh-CN" altLang="en-US" dirty="0">
                <a:solidFill>
                  <a:srgbClr val="C00000"/>
                </a:solidFill>
              </a:rPr>
              <a:t>的标准：</a:t>
            </a:r>
            <a:r>
              <a:rPr lang="en-US" altLang="zh-CN" dirty="0"/>
              <a:t>G.992.1</a:t>
            </a:r>
            <a:r>
              <a:rPr lang="zh-CN" altLang="en-US" dirty="0"/>
              <a:t>（或称 </a:t>
            </a:r>
            <a:r>
              <a:rPr lang="en-US" altLang="zh-CN" dirty="0" err="1"/>
              <a:t>G.dmt</a:t>
            </a:r>
            <a:r>
              <a:rPr lang="zh-CN" altLang="en-US" dirty="0"/>
              <a:t>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非对称：</a:t>
            </a:r>
            <a:r>
              <a:rPr lang="zh-CN" altLang="en-US" dirty="0"/>
              <a:t>下行（从 </a:t>
            </a:r>
            <a:r>
              <a:rPr lang="en-US" altLang="zh-CN" dirty="0"/>
              <a:t>ISP </a:t>
            </a:r>
            <a:r>
              <a:rPr lang="zh-CN" altLang="en-US" dirty="0"/>
              <a:t>到用户）带宽</a:t>
            </a:r>
            <a:r>
              <a:rPr lang="zh-CN" altLang="en-US" dirty="0">
                <a:solidFill>
                  <a:srgbClr val="0000FF"/>
                </a:solidFill>
              </a:rPr>
              <a:t>远大于</a:t>
            </a:r>
            <a:r>
              <a:rPr lang="zh-CN" altLang="en-US" dirty="0"/>
              <a:t>上行（从用户到 </a:t>
            </a:r>
            <a:r>
              <a:rPr lang="en-US" altLang="zh-CN" dirty="0"/>
              <a:t>ISP</a:t>
            </a:r>
            <a:r>
              <a:rPr lang="zh-CN" altLang="en-US" dirty="0"/>
              <a:t>）带宽。</a:t>
            </a:r>
          </a:p>
        </p:txBody>
      </p:sp>
    </p:spTree>
    <p:extLst>
      <p:ext uri="{BB962C8B-B14F-4D97-AF65-F5344CB8AC3E}">
        <p14:creationId xmlns:p14="http://schemas.microsoft.com/office/powerpoint/2010/main" val="258794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采用率。</a:t>
            </a:r>
            <a:r>
              <a:rPr lang="zh-CN" altLang="en-US" dirty="0">
                <a:solidFill>
                  <a:srgbClr val="C00000"/>
                </a:solidFill>
              </a:rPr>
              <a:t>离散多音调 </a:t>
            </a:r>
            <a:r>
              <a:rPr lang="en-US" altLang="zh-CN" dirty="0">
                <a:solidFill>
                  <a:srgbClr val="C00000"/>
                </a:solidFill>
              </a:rPr>
              <a:t>DMT</a:t>
            </a:r>
            <a:r>
              <a:rPr lang="zh-CN" altLang="en-US" dirty="0"/>
              <a:t>（</a:t>
            </a:r>
            <a:r>
              <a:rPr lang="en-US" altLang="zh-CN" dirty="0"/>
              <a:t>Discrete Multi-Tone</a:t>
            </a:r>
            <a:r>
              <a:rPr lang="zh-CN" altLang="en-US" dirty="0"/>
              <a:t>）调制技术。</a:t>
            </a:r>
            <a:endParaRPr lang="en-US" altLang="zh-CN" dirty="0"/>
          </a:p>
          <a:p>
            <a:r>
              <a:rPr lang="en-US" altLang="zh-CN" dirty="0"/>
              <a:t>DMT </a:t>
            </a:r>
            <a:r>
              <a:rPr lang="zh-CN" altLang="en-US" dirty="0"/>
              <a:t>调制技术采用</a:t>
            </a:r>
            <a:r>
              <a:rPr lang="zh-CN" altLang="en-US" dirty="0">
                <a:solidFill>
                  <a:srgbClr val="C00000"/>
                </a:solidFill>
              </a:rPr>
              <a:t>频分复用 </a:t>
            </a:r>
            <a:r>
              <a:rPr lang="en-US" altLang="zh-CN" dirty="0">
                <a:solidFill>
                  <a:srgbClr val="C00000"/>
                </a:solidFill>
              </a:rPr>
              <a:t>FDM </a:t>
            </a:r>
            <a:r>
              <a:rPr lang="zh-CN" altLang="en-US" dirty="0"/>
              <a:t>方法。</a:t>
            </a:r>
            <a:endParaRPr lang="en-US" altLang="zh-CN" dirty="0"/>
          </a:p>
          <a:p>
            <a:r>
              <a:rPr lang="zh-CN" altLang="en-US" dirty="0"/>
              <a:t>相当于在一对用户线上使用许多小的调制解调器</a:t>
            </a:r>
            <a:r>
              <a:rPr lang="zh-CN" altLang="en-US" dirty="0">
                <a:solidFill>
                  <a:srgbClr val="C00000"/>
                </a:solidFill>
              </a:rPr>
              <a:t>并行地</a:t>
            </a:r>
            <a:r>
              <a:rPr lang="zh-CN" altLang="en-US" dirty="0"/>
              <a:t>传送数据。</a:t>
            </a:r>
            <a:endParaRPr lang="en-US" altLang="zh-CN" dirty="0"/>
          </a:p>
          <a:p>
            <a:r>
              <a:rPr lang="en-US" altLang="zh-CN" dirty="0"/>
              <a:t>ADSL 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保证固定的数据率。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ADSL </a:t>
            </a:r>
            <a:r>
              <a:rPr lang="zh-CN" altLang="en-US" dirty="0"/>
              <a:t>调制解调器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984068" y="2596932"/>
            <a:ext cx="7193471" cy="1890549"/>
            <a:chOff x="1146944" y="1115568"/>
            <a:chExt cx="7193471" cy="3257272"/>
          </a:xfrm>
        </p:grpSpPr>
        <p:sp>
          <p:nvSpPr>
            <p:cNvPr id="6" name="圆角矩形 5"/>
            <p:cNvSpPr/>
            <p:nvPr/>
          </p:nvSpPr>
          <p:spPr>
            <a:xfrm>
              <a:off x="1146944" y="1115568"/>
              <a:ext cx="7114903" cy="325644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" name="Rectangle 194"/>
            <p:cNvSpPr>
              <a:spLocks noChangeArrowheads="1"/>
            </p:cNvSpPr>
            <p:nvPr/>
          </p:nvSpPr>
          <p:spPr bwMode="auto">
            <a:xfrm>
              <a:off x="3061035" y="2337218"/>
              <a:ext cx="1131058" cy="151549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196"/>
            <p:cNvSpPr>
              <a:spLocks noChangeShapeType="1"/>
            </p:cNvSpPr>
            <p:nvPr/>
          </p:nvSpPr>
          <p:spPr bwMode="auto">
            <a:xfrm>
              <a:off x="3061035" y="1475650"/>
              <a:ext cx="3847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Rectangle 194"/>
            <p:cNvSpPr>
              <a:spLocks noChangeArrowheads="1"/>
            </p:cNvSpPr>
            <p:nvPr/>
          </p:nvSpPr>
          <p:spPr bwMode="auto">
            <a:xfrm>
              <a:off x="4192093" y="2335573"/>
              <a:ext cx="2777746" cy="1515497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Text Box 80"/>
            <p:cNvSpPr txBox="1">
              <a:spLocks noChangeArrowheads="1"/>
            </p:cNvSpPr>
            <p:nvPr/>
          </p:nvSpPr>
          <p:spPr bwMode="auto">
            <a:xfrm>
              <a:off x="3421640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11" name="Text Box 83"/>
            <p:cNvSpPr txBox="1">
              <a:spLocks noChangeArrowheads="1"/>
            </p:cNvSpPr>
            <p:nvPr/>
          </p:nvSpPr>
          <p:spPr bwMode="auto">
            <a:xfrm>
              <a:off x="1288881" y="1457362"/>
              <a:ext cx="61282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频谱</a:t>
              </a:r>
            </a:p>
          </p:txBody>
        </p:sp>
        <p:sp>
          <p:nvSpPr>
            <p:cNvPr id="12" name="Line 84"/>
            <p:cNvSpPr>
              <a:spLocks noChangeShapeType="1"/>
            </p:cNvSpPr>
            <p:nvPr/>
          </p:nvSpPr>
          <p:spPr bwMode="auto">
            <a:xfrm rot="16200000">
              <a:off x="651472" y="2822633"/>
              <a:ext cx="212454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85"/>
            <p:cNvSpPr txBox="1">
              <a:spLocks noChangeArrowheads="1"/>
            </p:cNvSpPr>
            <p:nvPr/>
          </p:nvSpPr>
          <p:spPr bwMode="auto">
            <a:xfrm>
              <a:off x="7260817" y="3356408"/>
              <a:ext cx="1079598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频率</a:t>
              </a:r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(kHz)</a:t>
              </a:r>
            </a:p>
          </p:txBody>
        </p:sp>
        <p:sp>
          <p:nvSpPr>
            <p:cNvPr id="14" name="Text Box 86"/>
            <p:cNvSpPr txBox="1">
              <a:spLocks noChangeArrowheads="1"/>
            </p:cNvSpPr>
            <p:nvPr/>
          </p:nvSpPr>
          <p:spPr bwMode="auto">
            <a:xfrm>
              <a:off x="4090016" y="1232038"/>
              <a:ext cx="1415772" cy="477248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的数字业务</a:t>
              </a:r>
            </a:p>
          </p:txBody>
        </p:sp>
        <p:sp>
          <p:nvSpPr>
            <p:cNvPr id="15" name="Freeform 87"/>
            <p:cNvSpPr>
              <a:spLocks/>
            </p:cNvSpPr>
            <p:nvPr/>
          </p:nvSpPr>
          <p:spPr bwMode="auto">
            <a:xfrm>
              <a:off x="1713745" y="2307079"/>
              <a:ext cx="291082" cy="1556456"/>
            </a:xfrm>
            <a:custGeom>
              <a:avLst/>
              <a:gdLst>
                <a:gd name="T0" fmla="*/ 0 w 208"/>
                <a:gd name="T1" fmla="*/ 0 h 1248"/>
                <a:gd name="T2" fmla="*/ 112 w 208"/>
                <a:gd name="T3" fmla="*/ 144 h 1248"/>
                <a:gd name="T4" fmla="*/ 192 w 208"/>
                <a:gd name="T5" fmla="*/ 680 h 1248"/>
                <a:gd name="T6" fmla="*/ 208 w 208"/>
                <a:gd name="T7" fmla="*/ 124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1248">
                  <a:moveTo>
                    <a:pt x="0" y="0"/>
                  </a:moveTo>
                  <a:cubicBezTo>
                    <a:pt x="19" y="24"/>
                    <a:pt x="80" y="31"/>
                    <a:pt x="112" y="144"/>
                  </a:cubicBezTo>
                  <a:cubicBezTo>
                    <a:pt x="144" y="257"/>
                    <a:pt x="176" y="496"/>
                    <a:pt x="192" y="680"/>
                  </a:cubicBezTo>
                  <a:cubicBezTo>
                    <a:pt x="208" y="864"/>
                    <a:pt x="205" y="1130"/>
                    <a:pt x="208" y="124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Text Box 89"/>
            <p:cNvSpPr txBox="1">
              <a:spLocks noChangeArrowheads="1"/>
            </p:cNvSpPr>
            <p:nvPr/>
          </p:nvSpPr>
          <p:spPr bwMode="auto">
            <a:xfrm>
              <a:off x="318188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上行信道</a:t>
              </a:r>
            </a:p>
          </p:txBody>
        </p:sp>
        <p:sp>
          <p:nvSpPr>
            <p:cNvPr id="17" name="Text Box 90"/>
            <p:cNvSpPr txBox="1">
              <a:spLocks noChangeArrowheads="1"/>
            </p:cNvSpPr>
            <p:nvPr/>
          </p:nvSpPr>
          <p:spPr bwMode="auto">
            <a:xfrm>
              <a:off x="1803393" y="1911559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传统电话</a:t>
              </a:r>
            </a:p>
          </p:txBody>
        </p:sp>
        <p:sp>
          <p:nvSpPr>
            <p:cNvPr id="18" name="Line 91"/>
            <p:cNvSpPr>
              <a:spLocks noChangeShapeType="1"/>
            </p:cNvSpPr>
            <p:nvPr/>
          </p:nvSpPr>
          <p:spPr bwMode="auto">
            <a:xfrm flipH="1">
              <a:off x="1924988" y="2349819"/>
              <a:ext cx="307714" cy="354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92"/>
            <p:cNvSpPr>
              <a:spLocks noChangeShapeType="1"/>
            </p:cNvSpPr>
            <p:nvPr/>
          </p:nvSpPr>
          <p:spPr bwMode="auto">
            <a:xfrm flipV="1">
              <a:off x="1713744" y="3868878"/>
              <a:ext cx="604496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Text Box 93"/>
            <p:cNvSpPr txBox="1">
              <a:spLocks noChangeArrowheads="1"/>
            </p:cNvSpPr>
            <p:nvPr/>
          </p:nvSpPr>
          <p:spPr bwMode="auto">
            <a:xfrm>
              <a:off x="14758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21" name="Text Box 94"/>
            <p:cNvSpPr txBox="1">
              <a:spLocks noChangeArrowheads="1"/>
            </p:cNvSpPr>
            <p:nvPr/>
          </p:nvSpPr>
          <p:spPr bwMode="auto">
            <a:xfrm>
              <a:off x="18567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22" name="AutoShape 110"/>
            <p:cNvSpPr>
              <a:spLocks/>
            </p:cNvSpPr>
            <p:nvPr/>
          </p:nvSpPr>
          <p:spPr bwMode="auto">
            <a:xfrm rot="5400000" flipV="1">
              <a:off x="3468043" y="1651766"/>
              <a:ext cx="242194" cy="1056209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13"/>
            <p:cNvSpPr>
              <a:spLocks/>
            </p:cNvSpPr>
            <p:nvPr/>
          </p:nvSpPr>
          <p:spPr bwMode="auto">
            <a:xfrm rot="5400000" flipV="1">
              <a:off x="5468186" y="859194"/>
              <a:ext cx="242194" cy="2641353"/>
            </a:xfrm>
            <a:prstGeom prst="leftBrace">
              <a:avLst>
                <a:gd name="adj1" fmla="val 97304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114"/>
            <p:cNvSpPr txBox="1">
              <a:spLocks noChangeArrowheads="1"/>
            </p:cNvSpPr>
            <p:nvPr/>
          </p:nvSpPr>
          <p:spPr bwMode="auto">
            <a:xfrm>
              <a:off x="517597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下行信道</a:t>
              </a:r>
            </a:p>
          </p:txBody>
        </p:sp>
        <p:sp>
          <p:nvSpPr>
            <p:cNvPr id="25" name="Text Box 143"/>
            <p:cNvSpPr txBox="1">
              <a:spLocks noChangeArrowheads="1"/>
            </p:cNvSpPr>
            <p:nvPr/>
          </p:nvSpPr>
          <p:spPr bwMode="auto">
            <a:xfrm>
              <a:off x="5351933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26" name="Freeform 168"/>
            <p:cNvSpPr>
              <a:spLocks/>
            </p:cNvSpPr>
            <p:nvPr/>
          </p:nvSpPr>
          <p:spPr bwMode="auto">
            <a:xfrm>
              <a:off x="6756934" y="2333792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169"/>
            <p:cNvSpPr>
              <a:spLocks/>
            </p:cNvSpPr>
            <p:nvPr/>
          </p:nvSpPr>
          <p:spPr bwMode="auto">
            <a:xfrm>
              <a:off x="6607235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Freeform 170"/>
            <p:cNvSpPr>
              <a:spLocks/>
            </p:cNvSpPr>
            <p:nvPr/>
          </p:nvSpPr>
          <p:spPr bwMode="auto">
            <a:xfrm>
              <a:off x="6457536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Freeform 171"/>
            <p:cNvSpPr>
              <a:spLocks/>
            </p:cNvSpPr>
            <p:nvPr/>
          </p:nvSpPr>
          <p:spPr bwMode="auto">
            <a:xfrm>
              <a:off x="630783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Freeform 172"/>
            <p:cNvSpPr>
              <a:spLocks/>
            </p:cNvSpPr>
            <p:nvPr/>
          </p:nvSpPr>
          <p:spPr bwMode="auto">
            <a:xfrm>
              <a:off x="6158139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Freeform 173"/>
            <p:cNvSpPr>
              <a:spLocks/>
            </p:cNvSpPr>
            <p:nvPr/>
          </p:nvSpPr>
          <p:spPr bwMode="auto">
            <a:xfrm>
              <a:off x="6008440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Freeform 174"/>
            <p:cNvSpPr>
              <a:spLocks/>
            </p:cNvSpPr>
            <p:nvPr/>
          </p:nvSpPr>
          <p:spPr bwMode="auto">
            <a:xfrm>
              <a:off x="5858741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Freeform 175"/>
            <p:cNvSpPr>
              <a:spLocks/>
            </p:cNvSpPr>
            <p:nvPr/>
          </p:nvSpPr>
          <p:spPr bwMode="auto">
            <a:xfrm>
              <a:off x="5709042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Freeform 176"/>
            <p:cNvSpPr>
              <a:spLocks/>
            </p:cNvSpPr>
            <p:nvPr/>
          </p:nvSpPr>
          <p:spPr bwMode="auto">
            <a:xfrm>
              <a:off x="5173453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Freeform 177"/>
            <p:cNvSpPr>
              <a:spLocks/>
            </p:cNvSpPr>
            <p:nvPr/>
          </p:nvSpPr>
          <p:spPr bwMode="auto">
            <a:xfrm>
              <a:off x="5027081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Freeform 178"/>
            <p:cNvSpPr>
              <a:spLocks/>
            </p:cNvSpPr>
            <p:nvPr/>
          </p:nvSpPr>
          <p:spPr bwMode="auto">
            <a:xfrm>
              <a:off x="488070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Freeform 179"/>
            <p:cNvSpPr>
              <a:spLocks/>
            </p:cNvSpPr>
            <p:nvPr/>
          </p:nvSpPr>
          <p:spPr bwMode="auto">
            <a:xfrm>
              <a:off x="4734336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Freeform 180"/>
            <p:cNvSpPr>
              <a:spLocks/>
            </p:cNvSpPr>
            <p:nvPr/>
          </p:nvSpPr>
          <p:spPr bwMode="auto">
            <a:xfrm>
              <a:off x="4587964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181"/>
            <p:cNvSpPr>
              <a:spLocks/>
            </p:cNvSpPr>
            <p:nvPr/>
          </p:nvSpPr>
          <p:spPr bwMode="auto">
            <a:xfrm>
              <a:off x="4441592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182"/>
            <p:cNvSpPr>
              <a:spLocks/>
            </p:cNvSpPr>
            <p:nvPr/>
          </p:nvSpPr>
          <p:spPr bwMode="auto">
            <a:xfrm>
              <a:off x="4295219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Freeform 184"/>
            <p:cNvSpPr>
              <a:spLocks/>
            </p:cNvSpPr>
            <p:nvPr/>
          </p:nvSpPr>
          <p:spPr bwMode="auto">
            <a:xfrm>
              <a:off x="4002475" y="234981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Freeform 185"/>
            <p:cNvSpPr>
              <a:spLocks/>
            </p:cNvSpPr>
            <p:nvPr/>
          </p:nvSpPr>
          <p:spPr bwMode="auto">
            <a:xfrm>
              <a:off x="3856103" y="235159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Freeform 186"/>
            <p:cNvSpPr>
              <a:spLocks/>
            </p:cNvSpPr>
            <p:nvPr/>
          </p:nvSpPr>
          <p:spPr bwMode="auto">
            <a:xfrm>
              <a:off x="3709730" y="2353381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Freeform 188"/>
            <p:cNvSpPr>
              <a:spLocks/>
            </p:cNvSpPr>
            <p:nvPr/>
          </p:nvSpPr>
          <p:spPr bwMode="auto">
            <a:xfrm>
              <a:off x="3353779" y="235694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Freeform 189"/>
            <p:cNvSpPr>
              <a:spLocks/>
            </p:cNvSpPr>
            <p:nvPr/>
          </p:nvSpPr>
          <p:spPr bwMode="auto">
            <a:xfrm>
              <a:off x="3207407" y="235872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Freeform 190"/>
            <p:cNvSpPr>
              <a:spLocks/>
            </p:cNvSpPr>
            <p:nvPr/>
          </p:nvSpPr>
          <p:spPr bwMode="auto">
            <a:xfrm>
              <a:off x="3061035" y="236050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192"/>
            <p:cNvSpPr txBox="1">
              <a:spLocks noChangeArrowheads="1"/>
            </p:cNvSpPr>
            <p:nvPr/>
          </p:nvSpPr>
          <p:spPr bwMode="auto">
            <a:xfrm>
              <a:off x="2766628" y="3895592"/>
              <a:ext cx="49084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~40</a:t>
              </a:r>
            </a:p>
          </p:txBody>
        </p:sp>
        <p:sp>
          <p:nvSpPr>
            <p:cNvPr id="48" name="Text Box 193"/>
            <p:cNvSpPr txBox="1">
              <a:spLocks noChangeArrowheads="1"/>
            </p:cNvSpPr>
            <p:nvPr/>
          </p:nvSpPr>
          <p:spPr bwMode="auto">
            <a:xfrm>
              <a:off x="3891033" y="3895592"/>
              <a:ext cx="585417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~138</a:t>
              </a:r>
            </a:p>
          </p:txBody>
        </p:sp>
        <p:sp>
          <p:nvSpPr>
            <p:cNvPr id="49" name="Text Box 195"/>
            <p:cNvSpPr txBox="1">
              <a:spLocks noChangeArrowheads="1"/>
            </p:cNvSpPr>
            <p:nvPr/>
          </p:nvSpPr>
          <p:spPr bwMode="auto">
            <a:xfrm>
              <a:off x="6518559" y="3895592"/>
              <a:ext cx="67999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~1100</a:t>
              </a:r>
            </a:p>
          </p:txBody>
        </p:sp>
      </p:grpSp>
      <p:sp>
        <p:nvSpPr>
          <p:cNvPr id="51" name="矩形 50"/>
          <p:cNvSpPr/>
          <p:nvPr/>
        </p:nvSpPr>
        <p:spPr>
          <a:xfrm>
            <a:off x="3373252" y="4478291"/>
            <a:ext cx="218361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DMT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技术的频谱分布</a:t>
            </a:r>
          </a:p>
        </p:txBody>
      </p:sp>
    </p:spTree>
    <p:extLst>
      <p:ext uri="{BB962C8B-B14F-4D97-AF65-F5344CB8AC3E}">
        <p14:creationId xmlns:p14="http://schemas.microsoft.com/office/powerpoint/2010/main" val="370143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ADSL </a:t>
            </a:r>
            <a:r>
              <a:rPr lang="zh-CN" altLang="en-US" dirty="0"/>
              <a:t>的组成</a:t>
            </a:r>
          </a:p>
        </p:txBody>
      </p:sp>
      <p:sp>
        <p:nvSpPr>
          <p:cNvPr id="4" name="矩形 3"/>
          <p:cNvSpPr/>
          <p:nvPr/>
        </p:nvSpPr>
        <p:spPr>
          <a:xfrm>
            <a:off x="429306" y="977967"/>
            <a:ext cx="8273143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大组成部分：</a:t>
            </a:r>
            <a:endParaRPr lang="en-US" altLang="zh-CN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数字用户线接入复用器 </a:t>
            </a:r>
            <a:r>
              <a:rPr lang="en-US" altLang="zh-CN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DSLAM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DSL Access Multiplexer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用户线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用户家中的一些设施。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539931" y="1634555"/>
            <a:ext cx="6270485" cy="2754561"/>
            <a:chOff x="998495" y="978139"/>
            <a:chExt cx="7385859" cy="3550633"/>
          </a:xfrm>
        </p:grpSpPr>
        <p:sp>
          <p:nvSpPr>
            <p:cNvPr id="6" name="圆角矩形 5"/>
            <p:cNvSpPr/>
            <p:nvPr/>
          </p:nvSpPr>
          <p:spPr>
            <a:xfrm>
              <a:off x="998495" y="978139"/>
              <a:ext cx="7344459" cy="355063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AutoShape 3"/>
            <p:cNvSpPr>
              <a:spLocks noChangeArrowheads="1"/>
            </p:cNvSpPr>
            <p:nvPr/>
          </p:nvSpPr>
          <p:spPr bwMode="auto">
            <a:xfrm>
              <a:off x="3197286" y="1645103"/>
              <a:ext cx="1454608" cy="1811386"/>
            </a:xfrm>
            <a:prstGeom prst="roundRect">
              <a:avLst>
                <a:gd name="adj" fmla="val 16667"/>
              </a:avLst>
            </a:prstGeom>
            <a:solidFill>
              <a:srgbClr val="00FFCC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 rot="16200000">
              <a:off x="3274718" y="2268639"/>
              <a:ext cx="0" cy="460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4229" y="1687014"/>
              <a:ext cx="946882" cy="1325636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280044" y="3515993"/>
              <a:ext cx="7104310" cy="1011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DSLAM (DSL Access Multiplexer)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：数字用户线接入复用器。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 (Access Termination Unit)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：接入端接单元（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调制解调器）。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ATU-C (C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代表端局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Central Office)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ATU-R (R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代表远端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Remote)</a:t>
              </a:r>
            </a:p>
          </p:txBody>
        </p:sp>
        <p:sp>
          <p:nvSpPr>
            <p:cNvPr id="12" name="Freeform 4"/>
            <p:cNvSpPr>
              <a:spLocks/>
            </p:cNvSpPr>
            <p:nvPr/>
          </p:nvSpPr>
          <p:spPr bwMode="auto">
            <a:xfrm>
              <a:off x="1997888" y="1526818"/>
              <a:ext cx="298664" cy="574704"/>
            </a:xfrm>
            <a:custGeom>
              <a:avLst/>
              <a:gdLst>
                <a:gd name="T0" fmla="*/ 280 w 280"/>
                <a:gd name="T1" fmla="*/ 600 h 600"/>
                <a:gd name="T2" fmla="*/ 144 w 280"/>
                <a:gd name="T3" fmla="*/ 200 h 600"/>
                <a:gd name="T4" fmla="*/ 112 w 280"/>
                <a:gd name="T5" fmla="*/ 280 h 600"/>
                <a:gd name="T6" fmla="*/ 0 w 280"/>
                <a:gd name="T7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00">
                  <a:moveTo>
                    <a:pt x="280" y="600"/>
                  </a:moveTo>
                  <a:lnTo>
                    <a:pt x="144" y="200"/>
                  </a:lnTo>
                  <a:lnTo>
                    <a:pt x="112" y="28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 rot="20610381">
              <a:off x="4846580" y="2344539"/>
              <a:ext cx="390476" cy="892419"/>
            </a:xfrm>
            <a:custGeom>
              <a:avLst/>
              <a:gdLst>
                <a:gd name="T0" fmla="*/ 0 w 366"/>
                <a:gd name="T1" fmla="*/ 0 h 702"/>
                <a:gd name="T2" fmla="*/ 138 w 366"/>
                <a:gd name="T3" fmla="*/ 343 h 702"/>
                <a:gd name="T4" fmla="*/ 168 w 366"/>
                <a:gd name="T5" fmla="*/ 252 h 702"/>
                <a:gd name="T6" fmla="*/ 366 w 366"/>
                <a:gd name="T7" fmla="*/ 702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6" h="702">
                  <a:moveTo>
                    <a:pt x="0" y="0"/>
                  </a:moveTo>
                  <a:lnTo>
                    <a:pt x="138" y="343"/>
                  </a:lnTo>
                  <a:lnTo>
                    <a:pt x="168" y="252"/>
                  </a:lnTo>
                  <a:lnTo>
                    <a:pt x="366" y="702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AutoShape 8"/>
            <p:cNvSpPr>
              <a:spLocks noChangeArrowheads="1"/>
            </p:cNvSpPr>
            <p:nvPr/>
          </p:nvSpPr>
          <p:spPr bwMode="auto">
            <a:xfrm>
              <a:off x="3907445" y="2477279"/>
              <a:ext cx="662594" cy="36656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3838426" y="2546723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sp>
          <p:nvSpPr>
            <p:cNvPr id="16" name="AutoShape 10"/>
            <p:cNvSpPr>
              <a:spLocks noChangeArrowheads="1"/>
            </p:cNvSpPr>
            <p:nvPr/>
          </p:nvSpPr>
          <p:spPr bwMode="auto">
            <a:xfrm>
              <a:off x="3907445" y="2153598"/>
              <a:ext cx="662594" cy="367587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3838426" y="2211810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pic>
          <p:nvPicPr>
            <p:cNvPr id="18" name="Picture 1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8549" y="1400045"/>
              <a:ext cx="1991098" cy="15806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6006947" y="2376193"/>
              <a:ext cx="0" cy="3655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>
              <a:off x="6224862" y="2186272"/>
              <a:ext cx="662593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6128632" y="2242449"/>
              <a:ext cx="76542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ATU-R</a:t>
              </a: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4519155" y="2344538"/>
              <a:ext cx="1710132" cy="62286"/>
            </a:xfrm>
            <a:custGeom>
              <a:avLst/>
              <a:gdLst>
                <a:gd name="T0" fmla="*/ 1608 w 1608"/>
                <a:gd name="T1" fmla="*/ 48 h 48"/>
                <a:gd name="T2" fmla="*/ 790 w 1608"/>
                <a:gd name="T3" fmla="*/ 48 h 48"/>
                <a:gd name="T4" fmla="*/ 844 w 1608"/>
                <a:gd name="T5" fmla="*/ 1 h 48"/>
                <a:gd name="T6" fmla="*/ 0 w 1608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8" h="48">
                  <a:moveTo>
                    <a:pt x="1608" y="48"/>
                  </a:moveTo>
                  <a:lnTo>
                    <a:pt x="790" y="48"/>
                  </a:lnTo>
                  <a:lnTo>
                    <a:pt x="844" y="1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9"/>
            <p:cNvSpPr>
              <a:spLocks noChangeArrowheads="1"/>
            </p:cNvSpPr>
            <p:nvPr/>
          </p:nvSpPr>
          <p:spPr bwMode="auto">
            <a:xfrm>
              <a:off x="5954958" y="2302675"/>
              <a:ext cx="152651" cy="182772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AutoShape 20"/>
            <p:cNvSpPr>
              <a:spLocks noChangeArrowheads="1"/>
            </p:cNvSpPr>
            <p:nvPr/>
          </p:nvSpPr>
          <p:spPr bwMode="auto">
            <a:xfrm>
              <a:off x="4678442" y="2254684"/>
              <a:ext cx="153757" cy="181751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AutoShape 21"/>
            <p:cNvSpPr>
              <a:spLocks noChangeArrowheads="1"/>
            </p:cNvSpPr>
            <p:nvPr/>
          </p:nvSpPr>
          <p:spPr bwMode="auto">
            <a:xfrm>
              <a:off x="3907445" y="1839107"/>
              <a:ext cx="662594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3838426" y="1891212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6848739" y="2376193"/>
              <a:ext cx="203535" cy="198088"/>
            </a:xfrm>
            <a:custGeom>
              <a:avLst/>
              <a:gdLst>
                <a:gd name="T0" fmla="*/ 0 w 192"/>
                <a:gd name="T1" fmla="*/ 6 h 156"/>
                <a:gd name="T2" fmla="*/ 192 w 192"/>
                <a:gd name="T3" fmla="*/ 0 h 156"/>
                <a:gd name="T4" fmla="*/ 192 w 192"/>
                <a:gd name="T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56">
                  <a:moveTo>
                    <a:pt x="0" y="6"/>
                  </a:moveTo>
                  <a:lnTo>
                    <a:pt x="192" y="0"/>
                  </a:lnTo>
                  <a:lnTo>
                    <a:pt x="192" y="15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5020247" y="2381137"/>
              <a:ext cx="646332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用户线</a:t>
              </a: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993932" y="1467449"/>
              <a:ext cx="756604" cy="523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电话</a:t>
              </a:r>
            </a:p>
            <a:p>
              <a:pPr algn="l">
                <a:lnSpc>
                  <a:spcPct val="85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分离器</a:t>
              </a: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 flipH="1">
              <a:off x="4832199" y="1948246"/>
              <a:ext cx="303090" cy="3166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 rot="16200000" flipH="1">
              <a:off x="5587610" y="1948600"/>
              <a:ext cx="354310" cy="380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1585453" y="1268123"/>
              <a:ext cx="711099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ISP</a:t>
              </a: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6160720" y="2933615"/>
              <a:ext cx="1081738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居民家庭</a:t>
              </a: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3171845" y="1246766"/>
              <a:ext cx="4134846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4437020" y="1076719"/>
              <a:ext cx="1909799" cy="357052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基于 </a:t>
              </a:r>
              <a:r>
                <a:rPr kumimoji="1" lang="en-US" altLang="zh-CN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kumimoji="1"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的接入网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3244095" y="1332330"/>
              <a:ext cx="132594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端局或远端站</a:t>
              </a:r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3198393" y="3261464"/>
              <a:ext cx="1444652" cy="102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3431483" y="3120281"/>
              <a:ext cx="993468" cy="321347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DSLAM</a:t>
              </a: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863172" y="3108302"/>
              <a:ext cx="1107998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至本地电话局</a:t>
              </a:r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4533534" y="2650861"/>
              <a:ext cx="207959" cy="1021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4533534" y="2009626"/>
              <a:ext cx="207959" cy="0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4" name="Group 1356"/>
            <p:cNvGrpSpPr>
              <a:grpSpLocks/>
            </p:cNvGrpSpPr>
            <p:nvPr/>
          </p:nvGrpSpPr>
          <p:grpSpPr bwMode="auto">
            <a:xfrm>
              <a:off x="1633297" y="1998012"/>
              <a:ext cx="1457371" cy="1002695"/>
              <a:chOff x="2949" y="196"/>
              <a:chExt cx="941" cy="598"/>
            </a:xfrm>
            <a:solidFill>
              <a:srgbClr val="99FFCC"/>
            </a:solidFill>
          </p:grpSpPr>
          <p:sp>
            <p:nvSpPr>
              <p:cNvPr id="45" name="Oval 1357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Oval 1358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Oval 1359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Oval 1360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Oval 1361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Oval 1362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Oval 1363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Oval 1364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 1365"/>
              <p:cNvSpPr>
                <a:spLocks/>
              </p:cNvSpPr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66"/>
              <p:cNvSpPr>
                <a:spLocks/>
              </p:cNvSpPr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67"/>
              <p:cNvSpPr>
                <a:spLocks/>
              </p:cNvSpPr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1721016" y="2338594"/>
              <a:ext cx="1204465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区域宽带网</a:t>
              </a:r>
            </a:p>
          </p:txBody>
        </p:sp>
        <p:pic>
          <p:nvPicPr>
            <p:cNvPr id="57" name="Picture 246" descr="jisuanji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2060" y="2537201"/>
              <a:ext cx="400399" cy="400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5649" y="2667869"/>
              <a:ext cx="374831" cy="329850"/>
            </a:xfrm>
            <a:prstGeom prst="rect">
              <a:avLst/>
            </a:prstGeom>
          </p:spPr>
        </p:pic>
      </p:grpSp>
      <p:sp>
        <p:nvSpPr>
          <p:cNvPr id="60" name="矩形 59"/>
          <p:cNvSpPr/>
          <p:nvPr/>
        </p:nvSpPr>
        <p:spPr>
          <a:xfrm>
            <a:off x="6920698" y="1947462"/>
            <a:ext cx="1835198" cy="150297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最大好处：可以利用现有电话网中的用户线（铜线），而不需要重新布线。</a:t>
            </a:r>
          </a:p>
        </p:txBody>
      </p:sp>
    </p:spTree>
    <p:extLst>
      <p:ext uri="{BB962C8B-B14F-4D97-AF65-F5344CB8AC3E}">
        <p14:creationId xmlns:p14="http://schemas.microsoft.com/office/powerpoint/2010/main" val="157503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包括 </a:t>
            </a:r>
            <a:r>
              <a:rPr lang="en-US" altLang="zh-CN" dirty="0"/>
              <a:t>ADSL2</a:t>
            </a:r>
            <a:r>
              <a:rPr lang="zh-CN" altLang="en-US" dirty="0"/>
              <a:t>（</a:t>
            </a:r>
            <a:r>
              <a:rPr lang="en-US" altLang="zh-CN" dirty="0"/>
              <a:t>G.992.3 </a:t>
            </a:r>
            <a:r>
              <a:rPr lang="zh-CN" altLang="en-US" dirty="0"/>
              <a:t>和 </a:t>
            </a:r>
            <a:r>
              <a:rPr lang="en-US" altLang="zh-CN" dirty="0"/>
              <a:t>G.992.4</a:t>
            </a:r>
            <a:r>
              <a:rPr lang="zh-CN" altLang="en-US" dirty="0"/>
              <a:t>）和 </a:t>
            </a:r>
            <a:r>
              <a:rPr lang="en-US" altLang="zh-CN" dirty="0"/>
              <a:t>ADSL2+</a:t>
            </a:r>
            <a:r>
              <a:rPr lang="zh-CN" altLang="en-US" dirty="0"/>
              <a:t>（</a:t>
            </a:r>
            <a:r>
              <a:rPr lang="en-US" altLang="zh-CN" dirty="0"/>
              <a:t>G.992.5</a:t>
            </a:r>
            <a:r>
              <a:rPr lang="zh-CN" altLang="en-US" dirty="0"/>
              <a:t>）。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主要改进：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en-US" altLang="zh-CN" dirty="0"/>
              <a:t>(1) </a:t>
            </a:r>
            <a:r>
              <a:rPr lang="zh-CN" altLang="en-US" dirty="0"/>
              <a:t>通过提高调制效率得到了更高的数据率。</a:t>
            </a:r>
            <a:endParaRPr lang="en-US" altLang="zh-CN" dirty="0"/>
          </a:p>
          <a:p>
            <a:pPr lvl="1"/>
            <a:r>
              <a:rPr lang="en-US" altLang="zh-CN" dirty="0"/>
              <a:t>(2) </a:t>
            </a:r>
            <a:r>
              <a:rPr lang="zh-CN" altLang="en-US" dirty="0"/>
              <a:t>采用了无缝速率自适应技术 </a:t>
            </a:r>
            <a:r>
              <a:rPr lang="en-US" altLang="zh-CN" dirty="0"/>
              <a:t>SRA (Seamless Rate Adaptation)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(3) </a:t>
            </a:r>
            <a:r>
              <a:rPr lang="zh-CN" altLang="en-US" dirty="0"/>
              <a:t>改善了线路质量评测和故障定位功能。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第二代 </a:t>
            </a:r>
            <a:r>
              <a:rPr lang="en-US" altLang="zh-CN" dirty="0"/>
              <a:t>ADSL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31877" y="2988813"/>
            <a:ext cx="6568030" cy="8617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并不适合于企业，因为企业往往需要使用上行信道发送大量数据给许多用户。</a:t>
            </a:r>
          </a:p>
        </p:txBody>
      </p:sp>
    </p:spTree>
    <p:extLst>
      <p:ext uri="{BB962C8B-B14F-4D97-AF65-F5344CB8AC3E}">
        <p14:creationId xmlns:p14="http://schemas.microsoft.com/office/powerpoint/2010/main" val="23032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SDSL (Symmetric DSL)</a:t>
            </a:r>
            <a:r>
              <a:rPr lang="zh-CN" altLang="en-US" dirty="0"/>
              <a:t>：对称数字用户线</a:t>
            </a:r>
          </a:p>
          <a:p>
            <a:r>
              <a:rPr lang="en-US" altLang="zh-CN" dirty="0"/>
              <a:t>HDSL (High speed DSL)</a:t>
            </a:r>
            <a:r>
              <a:rPr lang="zh-CN" altLang="en-US" dirty="0"/>
              <a:t>：高速数字用户线</a:t>
            </a:r>
          </a:p>
          <a:p>
            <a:r>
              <a:rPr lang="en-US" altLang="zh-CN" dirty="0"/>
              <a:t>VDSL (Very high speed DSL)</a:t>
            </a:r>
            <a:r>
              <a:rPr lang="zh-CN" altLang="en-US" dirty="0"/>
              <a:t>：甚高速数字用户线</a:t>
            </a:r>
            <a:endParaRPr lang="en-US" altLang="zh-CN" dirty="0"/>
          </a:p>
          <a:p>
            <a:r>
              <a:rPr lang="en-US" altLang="zh-CN" dirty="0"/>
              <a:t>Giga DSL</a:t>
            </a:r>
            <a:r>
              <a:rPr lang="zh-CN" altLang="en-US" dirty="0"/>
              <a:t>：超高速数字用户线</a:t>
            </a:r>
            <a:endParaRPr lang="en-US" altLang="zh-CN" dirty="0"/>
          </a:p>
          <a:p>
            <a:pPr lvl="1"/>
            <a:r>
              <a:rPr lang="zh-CN" altLang="en-US" dirty="0"/>
              <a:t>华为公司于 </a:t>
            </a:r>
            <a:r>
              <a:rPr lang="en-US" altLang="zh-CN" dirty="0"/>
              <a:t>2012 </a:t>
            </a:r>
            <a:r>
              <a:rPr lang="zh-CN" altLang="en-US" dirty="0"/>
              <a:t>年首先研制成功样机。</a:t>
            </a:r>
            <a:endParaRPr lang="en-US" altLang="zh-CN" dirty="0"/>
          </a:p>
          <a:p>
            <a:pPr lvl="1"/>
            <a:r>
              <a:rPr lang="zh-CN" altLang="en-US" dirty="0"/>
              <a:t>使用时分双工 </a:t>
            </a:r>
            <a:r>
              <a:rPr lang="en-US" altLang="zh-CN" dirty="0"/>
              <a:t>TDD (Time Division Duplex)</a:t>
            </a:r>
            <a:r>
              <a:rPr lang="zh-CN" altLang="en-US" dirty="0"/>
              <a:t>和 </a:t>
            </a:r>
            <a:r>
              <a:rPr lang="en-US" altLang="zh-CN" dirty="0"/>
              <a:t>OFDM </a:t>
            </a:r>
            <a:r>
              <a:rPr lang="zh-CN" altLang="en-US" dirty="0"/>
              <a:t>技术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xDSL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47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2.6.2  </a:t>
            </a:r>
            <a:r>
              <a:rPr lang="zh-CN" altLang="en-US" dirty="0"/>
              <a:t>光纤同轴混合网（</a:t>
            </a:r>
            <a:r>
              <a:rPr lang="en-US" altLang="zh-CN" dirty="0"/>
              <a:t>HFC </a:t>
            </a:r>
            <a:r>
              <a:rPr lang="zh-CN" altLang="en-US" dirty="0"/>
              <a:t>网）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CN" dirty="0"/>
              <a:t>HFC (Hybrid Fiber Coax) </a:t>
            </a:r>
            <a:r>
              <a:rPr lang="zh-CN" altLang="en-US" dirty="0"/>
              <a:t>网基于有线电视网 </a:t>
            </a:r>
            <a:r>
              <a:rPr lang="en-US" altLang="zh-CN" dirty="0"/>
              <a:t>CATV </a:t>
            </a:r>
            <a:r>
              <a:rPr lang="zh-CN" altLang="en-US" dirty="0"/>
              <a:t>网。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改造：</a:t>
            </a:r>
            <a:r>
              <a:rPr lang="zh-CN" altLang="en-US" dirty="0"/>
              <a:t>把原有线电视网中的同轴电缆主干部分改换为光纤</a:t>
            </a:r>
          </a:p>
          <a:p>
            <a:endParaRPr lang="zh-CN" altLang="en-US" dirty="0"/>
          </a:p>
        </p:txBody>
      </p:sp>
      <p:grpSp>
        <p:nvGrpSpPr>
          <p:cNvPr id="111" name="组合 110"/>
          <p:cNvGrpSpPr/>
          <p:nvPr/>
        </p:nvGrpSpPr>
        <p:grpSpPr>
          <a:xfrm>
            <a:off x="1311837" y="2002971"/>
            <a:ext cx="6073031" cy="2238103"/>
            <a:chOff x="523151" y="1057072"/>
            <a:chExt cx="8266442" cy="3434749"/>
          </a:xfrm>
        </p:grpSpPr>
        <p:sp>
          <p:nvSpPr>
            <p:cNvPr id="6" name="圆角矩形 5"/>
            <p:cNvSpPr/>
            <p:nvPr/>
          </p:nvSpPr>
          <p:spPr>
            <a:xfrm>
              <a:off x="894917" y="1057072"/>
              <a:ext cx="7894676" cy="3434749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Freeform 173"/>
            <p:cNvSpPr>
              <a:spLocks/>
            </p:cNvSpPr>
            <p:nvPr/>
          </p:nvSpPr>
          <p:spPr bwMode="auto">
            <a:xfrm>
              <a:off x="5186220" y="313482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>
              <a:off x="5656167" y="313482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Freeform 237"/>
            <p:cNvSpPr>
              <a:spLocks/>
            </p:cNvSpPr>
            <p:nvPr/>
          </p:nvSpPr>
          <p:spPr bwMode="auto">
            <a:xfrm>
              <a:off x="5186220" y="164484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Freeform 238"/>
            <p:cNvSpPr>
              <a:spLocks/>
            </p:cNvSpPr>
            <p:nvPr/>
          </p:nvSpPr>
          <p:spPr bwMode="auto">
            <a:xfrm>
              <a:off x="6126117" y="1644841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Freeform 239"/>
            <p:cNvSpPr>
              <a:spLocks/>
            </p:cNvSpPr>
            <p:nvPr/>
          </p:nvSpPr>
          <p:spPr bwMode="auto">
            <a:xfrm>
              <a:off x="5656167" y="164484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174"/>
            <p:cNvSpPr>
              <a:spLocks/>
            </p:cNvSpPr>
            <p:nvPr/>
          </p:nvSpPr>
          <p:spPr bwMode="auto">
            <a:xfrm>
              <a:off x="6619367" y="2424263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244"/>
            <p:cNvSpPr>
              <a:spLocks/>
            </p:cNvSpPr>
            <p:nvPr/>
          </p:nvSpPr>
          <p:spPr bwMode="auto">
            <a:xfrm>
              <a:off x="5186220" y="2425829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Freeform 245"/>
            <p:cNvSpPr>
              <a:spLocks/>
            </p:cNvSpPr>
            <p:nvPr/>
          </p:nvSpPr>
          <p:spPr bwMode="auto">
            <a:xfrm>
              <a:off x="6126117" y="2425829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Freeform 246"/>
            <p:cNvSpPr>
              <a:spLocks/>
            </p:cNvSpPr>
            <p:nvPr/>
          </p:nvSpPr>
          <p:spPr bwMode="auto">
            <a:xfrm>
              <a:off x="5656167" y="2425829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249"/>
            <p:cNvSpPr>
              <a:spLocks/>
            </p:cNvSpPr>
            <p:nvPr/>
          </p:nvSpPr>
          <p:spPr bwMode="auto">
            <a:xfrm>
              <a:off x="7089316" y="2424263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55"/>
            <p:cNvSpPr>
              <a:spLocks noChangeShapeType="1"/>
            </p:cNvSpPr>
            <p:nvPr/>
          </p:nvSpPr>
          <p:spPr bwMode="auto">
            <a:xfrm>
              <a:off x="3425532" y="2779542"/>
              <a:ext cx="1232482" cy="63856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156"/>
            <p:cNvSpPr>
              <a:spLocks noChangeShapeType="1"/>
            </p:cNvSpPr>
            <p:nvPr/>
          </p:nvSpPr>
          <p:spPr bwMode="auto">
            <a:xfrm>
              <a:off x="3483790" y="2709112"/>
              <a:ext cx="1174224" cy="0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157"/>
            <p:cNvSpPr>
              <a:spLocks noChangeShapeType="1"/>
            </p:cNvSpPr>
            <p:nvPr/>
          </p:nvSpPr>
          <p:spPr bwMode="auto">
            <a:xfrm flipV="1">
              <a:off x="3483790" y="1928125"/>
              <a:ext cx="1174224" cy="70899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58"/>
            <p:cNvSpPr>
              <a:spLocks noChangeShapeType="1"/>
            </p:cNvSpPr>
            <p:nvPr/>
          </p:nvSpPr>
          <p:spPr bwMode="auto">
            <a:xfrm flipH="1" flipV="1">
              <a:off x="2367824" y="2779542"/>
              <a:ext cx="528206" cy="63856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59"/>
            <p:cNvSpPr>
              <a:spLocks noChangeShapeType="1"/>
            </p:cNvSpPr>
            <p:nvPr/>
          </p:nvSpPr>
          <p:spPr bwMode="auto">
            <a:xfrm flipV="1">
              <a:off x="2485636" y="1928124"/>
              <a:ext cx="528206" cy="56813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60"/>
            <p:cNvSpPr>
              <a:spLocks noChangeShapeType="1"/>
            </p:cNvSpPr>
            <p:nvPr/>
          </p:nvSpPr>
          <p:spPr bwMode="auto">
            <a:xfrm flipV="1">
              <a:off x="2485636" y="2709112"/>
              <a:ext cx="880343" cy="0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61"/>
            <p:cNvSpPr>
              <a:spLocks noChangeArrowheads="1"/>
            </p:cNvSpPr>
            <p:nvPr/>
          </p:nvSpPr>
          <p:spPr bwMode="auto">
            <a:xfrm>
              <a:off x="4599755" y="2566687"/>
              <a:ext cx="218791" cy="236331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AutoShape 162"/>
            <p:cNvSpPr>
              <a:spLocks noChangeArrowheads="1"/>
            </p:cNvSpPr>
            <p:nvPr/>
          </p:nvSpPr>
          <p:spPr bwMode="auto">
            <a:xfrm>
              <a:off x="4599755" y="3277247"/>
              <a:ext cx="218791" cy="247287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 Box 163"/>
            <p:cNvSpPr txBox="1">
              <a:spLocks noChangeArrowheads="1"/>
            </p:cNvSpPr>
            <p:nvPr/>
          </p:nvSpPr>
          <p:spPr bwMode="auto">
            <a:xfrm>
              <a:off x="6971505" y="1194216"/>
              <a:ext cx="12842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26" name="AutoShape 164"/>
            <p:cNvSpPr>
              <a:spLocks noChangeArrowheads="1"/>
            </p:cNvSpPr>
            <p:nvPr/>
          </p:nvSpPr>
          <p:spPr bwMode="auto">
            <a:xfrm>
              <a:off x="4599755" y="1785699"/>
              <a:ext cx="218791" cy="237896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165"/>
            <p:cNvSpPr>
              <a:spLocks noChangeShapeType="1"/>
            </p:cNvSpPr>
            <p:nvPr/>
          </p:nvSpPr>
          <p:spPr bwMode="auto">
            <a:xfrm>
              <a:off x="4834083" y="3418105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8" name="Picture 16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29" name="Picture 16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1557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0" name="Line 168"/>
            <p:cNvSpPr>
              <a:spLocks noChangeShapeType="1"/>
            </p:cNvSpPr>
            <p:nvPr/>
          </p:nvSpPr>
          <p:spPr bwMode="auto">
            <a:xfrm flipH="1">
              <a:off x="7066012" y="1572846"/>
              <a:ext cx="234327" cy="355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169"/>
            <p:cNvSpPr>
              <a:spLocks noChangeShapeType="1"/>
            </p:cNvSpPr>
            <p:nvPr/>
          </p:nvSpPr>
          <p:spPr bwMode="auto">
            <a:xfrm>
              <a:off x="2485636" y="1713705"/>
              <a:ext cx="234327" cy="497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170"/>
            <p:cNvSpPr txBox="1">
              <a:spLocks noChangeArrowheads="1"/>
            </p:cNvSpPr>
            <p:nvPr/>
          </p:nvSpPr>
          <p:spPr bwMode="auto">
            <a:xfrm>
              <a:off x="3402857" y="1598493"/>
              <a:ext cx="783285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33" name="Line 171"/>
            <p:cNvSpPr>
              <a:spLocks noChangeShapeType="1"/>
            </p:cNvSpPr>
            <p:nvPr/>
          </p:nvSpPr>
          <p:spPr bwMode="auto">
            <a:xfrm>
              <a:off x="4305876" y="1572845"/>
              <a:ext cx="352137" cy="2128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Text Box 172"/>
            <p:cNvSpPr txBox="1">
              <a:spLocks noChangeArrowheads="1"/>
            </p:cNvSpPr>
            <p:nvPr/>
          </p:nvSpPr>
          <p:spPr bwMode="auto">
            <a:xfrm>
              <a:off x="3627013" y="1183262"/>
              <a:ext cx="1348856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光纤结点</a:t>
              </a:r>
            </a:p>
          </p:txBody>
        </p:sp>
        <p:pic>
          <p:nvPicPr>
            <p:cNvPr id="35" name="Picture 17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6" name="AutoShape 178"/>
            <p:cNvSpPr>
              <a:spLocks noChangeArrowheads="1"/>
            </p:cNvSpPr>
            <p:nvPr/>
          </p:nvSpPr>
          <p:spPr bwMode="auto">
            <a:xfrm>
              <a:off x="2024751" y="2411742"/>
              <a:ext cx="547625" cy="475792"/>
            </a:xfrm>
            <a:prstGeom prst="cube">
              <a:avLst>
                <a:gd name="adj" fmla="val 25000"/>
              </a:avLst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79"/>
            <p:cNvSpPr txBox="1">
              <a:spLocks noChangeArrowheads="1"/>
            </p:cNvSpPr>
            <p:nvPr/>
          </p:nvSpPr>
          <p:spPr bwMode="auto">
            <a:xfrm>
              <a:off x="1917780" y="2499984"/>
              <a:ext cx="804837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grpSp>
          <p:nvGrpSpPr>
            <p:cNvPr id="38" name="Group 180"/>
            <p:cNvGrpSpPr>
              <a:grpSpLocks noChangeAspect="1"/>
            </p:cNvGrpSpPr>
            <p:nvPr/>
          </p:nvGrpSpPr>
          <p:grpSpPr bwMode="auto">
            <a:xfrm>
              <a:off x="2067481" y="1815902"/>
              <a:ext cx="427362" cy="668876"/>
              <a:chOff x="2248" y="723"/>
              <a:chExt cx="224" cy="290"/>
            </a:xfrm>
            <a:solidFill>
              <a:srgbClr val="00FFCC"/>
            </a:solidFill>
          </p:grpSpPr>
          <p:grpSp>
            <p:nvGrpSpPr>
              <p:cNvPr id="39" name="Group 182"/>
              <p:cNvGrpSpPr>
                <a:grpSpLocks/>
              </p:cNvGrpSpPr>
              <p:nvPr/>
            </p:nvGrpSpPr>
            <p:grpSpPr bwMode="auto">
              <a:xfrm>
                <a:off x="2248" y="734"/>
                <a:ext cx="224" cy="279"/>
                <a:chOff x="2248" y="734"/>
                <a:chExt cx="224" cy="279"/>
              </a:xfrm>
              <a:grpFill/>
            </p:grpSpPr>
            <p:grpSp>
              <p:nvGrpSpPr>
                <p:cNvPr id="55" name="Group 183"/>
                <p:cNvGrpSpPr>
                  <a:grpSpLocks/>
                </p:cNvGrpSpPr>
                <p:nvPr/>
              </p:nvGrpSpPr>
              <p:grpSpPr bwMode="auto">
                <a:xfrm>
                  <a:off x="2328" y="898"/>
                  <a:ext cx="9" cy="37"/>
                  <a:chOff x="2328" y="898"/>
                  <a:chExt cx="9" cy="37"/>
                </a:xfrm>
                <a:grpFill/>
              </p:grpSpPr>
              <p:sp>
                <p:nvSpPr>
                  <p:cNvPr id="89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2328" y="898"/>
                    <a:ext cx="9" cy="37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90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2332" y="898"/>
                    <a:ext cx="1" cy="33"/>
                  </a:xfrm>
                  <a:prstGeom prst="lin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6" name="Rectangle 186"/>
                <p:cNvSpPr>
                  <a:spLocks noChangeArrowheads="1"/>
                </p:cNvSpPr>
                <p:nvPr/>
              </p:nvSpPr>
              <p:spPr bwMode="auto">
                <a:xfrm>
                  <a:off x="2295" y="876"/>
                  <a:ext cx="25" cy="5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" name="Freeform 187"/>
                <p:cNvSpPr>
                  <a:spLocks/>
                </p:cNvSpPr>
                <p:nvPr/>
              </p:nvSpPr>
              <p:spPr bwMode="auto">
                <a:xfrm>
                  <a:off x="2385" y="888"/>
                  <a:ext cx="16" cy="12"/>
                </a:xfrm>
                <a:custGeom>
                  <a:avLst/>
                  <a:gdLst>
                    <a:gd name="T0" fmla="*/ 0 w 112"/>
                    <a:gd name="T1" fmla="*/ 0 h 84"/>
                    <a:gd name="T2" fmla="*/ 0 w 112"/>
                    <a:gd name="T3" fmla="*/ 84 h 84"/>
                    <a:gd name="T4" fmla="*/ 112 w 112"/>
                    <a:gd name="T5" fmla="*/ 84 h 84"/>
                    <a:gd name="T6" fmla="*/ 112 w 112"/>
                    <a:gd name="T7" fmla="*/ 17 h 84"/>
                    <a:gd name="T8" fmla="*/ 0 w 112"/>
                    <a:gd name="T9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84">
                      <a:moveTo>
                        <a:pt x="0" y="0"/>
                      </a:moveTo>
                      <a:lnTo>
                        <a:pt x="0" y="84"/>
                      </a:lnTo>
                      <a:lnTo>
                        <a:pt x="112" y="84"/>
                      </a:lnTo>
                      <a:lnTo>
                        <a:pt x="112" y="17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" name="Freeform 188"/>
                <p:cNvSpPr>
                  <a:spLocks/>
                </p:cNvSpPr>
                <p:nvPr/>
              </p:nvSpPr>
              <p:spPr bwMode="auto">
                <a:xfrm>
                  <a:off x="2352" y="866"/>
                  <a:ext cx="11" cy="11"/>
                </a:xfrm>
                <a:custGeom>
                  <a:avLst/>
                  <a:gdLst>
                    <a:gd name="T0" fmla="*/ 42 w 77"/>
                    <a:gd name="T1" fmla="*/ 0 h 76"/>
                    <a:gd name="T2" fmla="*/ 0 w 77"/>
                    <a:gd name="T3" fmla="*/ 76 h 76"/>
                    <a:gd name="T4" fmla="*/ 56 w 77"/>
                    <a:gd name="T5" fmla="*/ 70 h 76"/>
                    <a:gd name="T6" fmla="*/ 77 w 77"/>
                    <a:gd name="T7" fmla="*/ 19 h 76"/>
                    <a:gd name="T8" fmla="*/ 42 w 77"/>
                    <a:gd name="T9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7" h="76">
                      <a:moveTo>
                        <a:pt x="42" y="0"/>
                      </a:moveTo>
                      <a:lnTo>
                        <a:pt x="0" y="76"/>
                      </a:lnTo>
                      <a:lnTo>
                        <a:pt x="56" y="70"/>
                      </a:lnTo>
                      <a:lnTo>
                        <a:pt x="77" y="19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" name="Freeform 189"/>
                <p:cNvSpPr>
                  <a:spLocks/>
                </p:cNvSpPr>
                <p:nvPr/>
              </p:nvSpPr>
              <p:spPr bwMode="auto">
                <a:xfrm>
                  <a:off x="2333" y="938"/>
                  <a:ext cx="51" cy="4"/>
                </a:xfrm>
                <a:custGeom>
                  <a:avLst/>
                  <a:gdLst>
                    <a:gd name="T0" fmla="*/ 0 w 356"/>
                    <a:gd name="T1" fmla="*/ 0 h 26"/>
                    <a:gd name="T2" fmla="*/ 356 w 356"/>
                    <a:gd name="T3" fmla="*/ 0 h 26"/>
                    <a:gd name="T4" fmla="*/ 356 w 356"/>
                    <a:gd name="T5" fmla="*/ 26 h 26"/>
                    <a:gd name="T6" fmla="*/ 5 w 356"/>
                    <a:gd name="T7" fmla="*/ 26 h 26"/>
                    <a:gd name="T8" fmla="*/ 0 w 356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6" h="26">
                      <a:moveTo>
                        <a:pt x="0" y="0"/>
                      </a:moveTo>
                      <a:lnTo>
                        <a:pt x="356" y="0"/>
                      </a:lnTo>
                      <a:lnTo>
                        <a:pt x="356" y="26"/>
                      </a:lnTo>
                      <a:lnTo>
                        <a:pt x="5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0" name="Freeform 190"/>
                <p:cNvSpPr>
                  <a:spLocks/>
                </p:cNvSpPr>
                <p:nvPr/>
              </p:nvSpPr>
              <p:spPr bwMode="auto">
                <a:xfrm>
                  <a:off x="2294" y="795"/>
                  <a:ext cx="22" cy="24"/>
                </a:xfrm>
                <a:custGeom>
                  <a:avLst/>
                  <a:gdLst>
                    <a:gd name="T0" fmla="*/ 140 w 149"/>
                    <a:gd name="T1" fmla="*/ 0 h 163"/>
                    <a:gd name="T2" fmla="*/ 2 w 149"/>
                    <a:gd name="T3" fmla="*/ 117 h 163"/>
                    <a:gd name="T4" fmla="*/ 0 w 149"/>
                    <a:gd name="T5" fmla="*/ 163 h 163"/>
                    <a:gd name="T6" fmla="*/ 149 w 149"/>
                    <a:gd name="T7" fmla="*/ 54 h 163"/>
                    <a:gd name="T8" fmla="*/ 140 w 149"/>
                    <a:gd name="T9" fmla="*/ 0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9" h="163">
                      <a:moveTo>
                        <a:pt x="140" y="0"/>
                      </a:moveTo>
                      <a:lnTo>
                        <a:pt x="2" y="117"/>
                      </a:lnTo>
                      <a:lnTo>
                        <a:pt x="0" y="163"/>
                      </a:lnTo>
                      <a:lnTo>
                        <a:pt x="149" y="54"/>
                      </a:lnTo>
                      <a:lnTo>
                        <a:pt x="14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1" name="Freeform 191"/>
                <p:cNvSpPr>
                  <a:spLocks/>
                </p:cNvSpPr>
                <p:nvPr/>
              </p:nvSpPr>
              <p:spPr bwMode="auto">
                <a:xfrm>
                  <a:off x="2289" y="734"/>
                  <a:ext cx="32" cy="199"/>
                </a:xfrm>
                <a:custGeom>
                  <a:avLst/>
                  <a:gdLst>
                    <a:gd name="T0" fmla="*/ 225 w 225"/>
                    <a:gd name="T1" fmla="*/ 0 h 1395"/>
                    <a:gd name="T2" fmla="*/ 0 w 225"/>
                    <a:gd name="T3" fmla="*/ 82 h 1395"/>
                    <a:gd name="T4" fmla="*/ 0 w 225"/>
                    <a:gd name="T5" fmla="*/ 1395 h 1395"/>
                    <a:gd name="T6" fmla="*/ 42 w 225"/>
                    <a:gd name="T7" fmla="*/ 1395 h 1395"/>
                    <a:gd name="T8" fmla="*/ 42 w 225"/>
                    <a:gd name="T9" fmla="*/ 202 h 1395"/>
                    <a:gd name="T10" fmla="*/ 225 w 225"/>
                    <a:gd name="T11" fmla="*/ 133 h 1395"/>
                    <a:gd name="T12" fmla="*/ 225 w 225"/>
                    <a:gd name="T13" fmla="*/ 0 h 13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5" h="1395">
                      <a:moveTo>
                        <a:pt x="225" y="0"/>
                      </a:moveTo>
                      <a:lnTo>
                        <a:pt x="0" y="82"/>
                      </a:lnTo>
                      <a:lnTo>
                        <a:pt x="0" y="1395"/>
                      </a:lnTo>
                      <a:lnTo>
                        <a:pt x="42" y="1395"/>
                      </a:lnTo>
                      <a:lnTo>
                        <a:pt x="42" y="202"/>
                      </a:lnTo>
                      <a:lnTo>
                        <a:pt x="225" y="133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2" name="Freeform 192"/>
                <p:cNvSpPr>
                  <a:spLocks/>
                </p:cNvSpPr>
                <p:nvPr/>
              </p:nvSpPr>
              <p:spPr bwMode="auto">
                <a:xfrm>
                  <a:off x="2288" y="933"/>
                  <a:ext cx="184" cy="44"/>
                </a:xfrm>
                <a:custGeom>
                  <a:avLst/>
                  <a:gdLst>
                    <a:gd name="T0" fmla="*/ 0 w 1290"/>
                    <a:gd name="T1" fmla="*/ 304 h 304"/>
                    <a:gd name="T2" fmla="*/ 0 w 1290"/>
                    <a:gd name="T3" fmla="*/ 0 h 304"/>
                    <a:gd name="T4" fmla="*/ 281 w 1290"/>
                    <a:gd name="T5" fmla="*/ 0 h 304"/>
                    <a:gd name="T6" fmla="*/ 337 w 1290"/>
                    <a:gd name="T7" fmla="*/ 51 h 304"/>
                    <a:gd name="T8" fmla="*/ 505 w 1290"/>
                    <a:gd name="T9" fmla="*/ 51 h 304"/>
                    <a:gd name="T10" fmla="*/ 561 w 1290"/>
                    <a:gd name="T11" fmla="*/ 102 h 304"/>
                    <a:gd name="T12" fmla="*/ 1122 w 1290"/>
                    <a:gd name="T13" fmla="*/ 102 h 304"/>
                    <a:gd name="T14" fmla="*/ 1122 w 1290"/>
                    <a:gd name="T15" fmla="*/ 203 h 304"/>
                    <a:gd name="T16" fmla="*/ 1290 w 1290"/>
                    <a:gd name="T17" fmla="*/ 203 h 304"/>
                    <a:gd name="T18" fmla="*/ 1290 w 1290"/>
                    <a:gd name="T19" fmla="*/ 304 h 304"/>
                    <a:gd name="T20" fmla="*/ 0 w 1290"/>
                    <a:gd name="T21" fmla="*/ 304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90" h="304">
                      <a:moveTo>
                        <a:pt x="0" y="304"/>
                      </a:moveTo>
                      <a:lnTo>
                        <a:pt x="0" y="0"/>
                      </a:lnTo>
                      <a:lnTo>
                        <a:pt x="281" y="0"/>
                      </a:lnTo>
                      <a:lnTo>
                        <a:pt x="337" y="51"/>
                      </a:lnTo>
                      <a:lnTo>
                        <a:pt x="505" y="51"/>
                      </a:lnTo>
                      <a:lnTo>
                        <a:pt x="561" y="102"/>
                      </a:lnTo>
                      <a:lnTo>
                        <a:pt x="1122" y="102"/>
                      </a:lnTo>
                      <a:lnTo>
                        <a:pt x="1122" y="203"/>
                      </a:lnTo>
                      <a:lnTo>
                        <a:pt x="1290" y="203"/>
                      </a:lnTo>
                      <a:lnTo>
                        <a:pt x="1290" y="304"/>
                      </a:lnTo>
                      <a:lnTo>
                        <a:pt x="0" y="304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3" name="Rectangle 193"/>
                <p:cNvSpPr>
                  <a:spLocks noChangeArrowheads="1"/>
                </p:cNvSpPr>
                <p:nvPr/>
              </p:nvSpPr>
              <p:spPr bwMode="auto">
                <a:xfrm>
                  <a:off x="2288" y="962"/>
                  <a:ext cx="136" cy="15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4" name="Line 194"/>
                <p:cNvSpPr>
                  <a:spLocks noChangeShapeType="1"/>
                </p:cNvSpPr>
                <p:nvPr/>
              </p:nvSpPr>
              <p:spPr bwMode="auto">
                <a:xfrm>
                  <a:off x="2282" y="873"/>
                  <a:ext cx="1" cy="25"/>
                </a:xfrm>
                <a:prstGeom prst="lin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5" name="Freeform 195"/>
                <p:cNvSpPr>
                  <a:spLocks/>
                </p:cNvSpPr>
                <p:nvPr/>
              </p:nvSpPr>
              <p:spPr bwMode="auto">
                <a:xfrm>
                  <a:off x="2277" y="898"/>
                  <a:ext cx="12" cy="13"/>
                </a:xfrm>
                <a:custGeom>
                  <a:avLst/>
                  <a:gdLst>
                    <a:gd name="T0" fmla="*/ 0 w 84"/>
                    <a:gd name="T1" fmla="*/ 89 h 89"/>
                    <a:gd name="T2" fmla="*/ 0 w 84"/>
                    <a:gd name="T3" fmla="*/ 0 h 89"/>
                    <a:gd name="T4" fmla="*/ 84 w 84"/>
                    <a:gd name="T5" fmla="*/ 0 h 89"/>
                    <a:gd name="T6" fmla="*/ 84 w 84"/>
                    <a:gd name="T7" fmla="*/ 32 h 89"/>
                    <a:gd name="T8" fmla="*/ 28 w 84"/>
                    <a:gd name="T9" fmla="*/ 32 h 89"/>
                    <a:gd name="T10" fmla="*/ 28 w 84"/>
                    <a:gd name="T11" fmla="*/ 89 h 89"/>
                    <a:gd name="T12" fmla="*/ 0 w 84"/>
                    <a:gd name="T13" fmla="*/ 89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9">
                      <a:moveTo>
                        <a:pt x="0" y="89"/>
                      </a:moveTo>
                      <a:lnTo>
                        <a:pt x="0" y="0"/>
                      </a:lnTo>
                      <a:lnTo>
                        <a:pt x="84" y="0"/>
                      </a:lnTo>
                      <a:lnTo>
                        <a:pt x="84" y="32"/>
                      </a:lnTo>
                      <a:lnTo>
                        <a:pt x="28" y="32"/>
                      </a:lnTo>
                      <a:lnTo>
                        <a:pt x="28" y="89"/>
                      </a:lnTo>
                      <a:lnTo>
                        <a:pt x="0" y="89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6" name="Freeform 196"/>
                <p:cNvSpPr>
                  <a:spLocks/>
                </p:cNvSpPr>
                <p:nvPr/>
              </p:nvSpPr>
              <p:spPr bwMode="auto">
                <a:xfrm>
                  <a:off x="2344" y="889"/>
                  <a:ext cx="41" cy="53"/>
                </a:xfrm>
                <a:custGeom>
                  <a:avLst/>
                  <a:gdLst>
                    <a:gd name="T0" fmla="*/ 0 w 287"/>
                    <a:gd name="T1" fmla="*/ 0 h 367"/>
                    <a:gd name="T2" fmla="*/ 287 w 287"/>
                    <a:gd name="T3" fmla="*/ 367 h 367"/>
                    <a:gd name="T4" fmla="*/ 245 w 287"/>
                    <a:gd name="T5" fmla="*/ 360 h 367"/>
                    <a:gd name="T6" fmla="*/ 0 w 287"/>
                    <a:gd name="T7" fmla="*/ 51 h 367"/>
                    <a:gd name="T8" fmla="*/ 0 w 287"/>
                    <a:gd name="T9" fmla="*/ 0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7" h="367">
                      <a:moveTo>
                        <a:pt x="0" y="0"/>
                      </a:moveTo>
                      <a:lnTo>
                        <a:pt x="287" y="367"/>
                      </a:lnTo>
                      <a:lnTo>
                        <a:pt x="245" y="360"/>
                      </a:lnTo>
                      <a:lnTo>
                        <a:pt x="0" y="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7" name="Freeform 197"/>
                <p:cNvSpPr>
                  <a:spLocks/>
                </p:cNvSpPr>
                <p:nvPr/>
              </p:nvSpPr>
              <p:spPr bwMode="auto">
                <a:xfrm>
                  <a:off x="2256" y="919"/>
                  <a:ext cx="32" cy="58"/>
                </a:xfrm>
                <a:custGeom>
                  <a:avLst/>
                  <a:gdLst>
                    <a:gd name="T0" fmla="*/ 168 w 224"/>
                    <a:gd name="T1" fmla="*/ 0 h 405"/>
                    <a:gd name="T2" fmla="*/ 0 w 224"/>
                    <a:gd name="T3" fmla="*/ 152 h 405"/>
                    <a:gd name="T4" fmla="*/ 0 w 224"/>
                    <a:gd name="T5" fmla="*/ 405 h 405"/>
                    <a:gd name="T6" fmla="*/ 224 w 224"/>
                    <a:gd name="T7" fmla="*/ 405 h 405"/>
                    <a:gd name="T8" fmla="*/ 224 w 224"/>
                    <a:gd name="T9" fmla="*/ 101 h 405"/>
                    <a:gd name="T10" fmla="*/ 168 w 224"/>
                    <a:gd name="T11" fmla="*/ 0 h 4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4" h="405">
                      <a:moveTo>
                        <a:pt x="168" y="0"/>
                      </a:moveTo>
                      <a:lnTo>
                        <a:pt x="0" y="152"/>
                      </a:lnTo>
                      <a:lnTo>
                        <a:pt x="0" y="405"/>
                      </a:lnTo>
                      <a:lnTo>
                        <a:pt x="224" y="405"/>
                      </a:lnTo>
                      <a:lnTo>
                        <a:pt x="224" y="101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8" name="Rectangle 198"/>
                <p:cNvSpPr>
                  <a:spLocks noChangeArrowheads="1"/>
                </p:cNvSpPr>
                <p:nvPr/>
              </p:nvSpPr>
              <p:spPr bwMode="auto">
                <a:xfrm>
                  <a:off x="2248" y="1004"/>
                  <a:ext cx="224" cy="9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9" name="Rectangle 199"/>
                <p:cNvSpPr>
                  <a:spLocks noChangeArrowheads="1"/>
                </p:cNvSpPr>
                <p:nvPr/>
              </p:nvSpPr>
              <p:spPr bwMode="auto">
                <a:xfrm>
                  <a:off x="2248" y="991"/>
                  <a:ext cx="224" cy="13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0" name="Rectangle 200"/>
                <p:cNvSpPr>
                  <a:spLocks noChangeArrowheads="1"/>
                </p:cNvSpPr>
                <p:nvPr/>
              </p:nvSpPr>
              <p:spPr bwMode="auto">
                <a:xfrm>
                  <a:off x="2248" y="977"/>
                  <a:ext cx="224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1" name="Rectangle 201"/>
                <p:cNvSpPr>
                  <a:spLocks noChangeArrowheads="1"/>
                </p:cNvSpPr>
                <p:nvPr/>
              </p:nvSpPr>
              <p:spPr bwMode="auto">
                <a:xfrm>
                  <a:off x="2442" y="966"/>
                  <a:ext cx="24" cy="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" name="Oval 202"/>
                <p:cNvSpPr>
                  <a:spLocks noChangeArrowheads="1"/>
                </p:cNvSpPr>
                <p:nvPr/>
              </p:nvSpPr>
              <p:spPr bwMode="auto">
                <a:xfrm>
                  <a:off x="2271" y="911"/>
                  <a:ext cx="18" cy="16"/>
                </a:xfrm>
                <a:prstGeom prst="ellips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3" name="Rectangle 203"/>
                <p:cNvSpPr>
                  <a:spLocks noChangeArrowheads="1"/>
                </p:cNvSpPr>
                <p:nvPr/>
              </p:nvSpPr>
              <p:spPr bwMode="auto">
                <a:xfrm>
                  <a:off x="2328" y="883"/>
                  <a:ext cx="16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4" name="Freeform 204"/>
                <p:cNvSpPr>
                  <a:spLocks/>
                </p:cNvSpPr>
                <p:nvPr/>
              </p:nvSpPr>
              <p:spPr bwMode="auto">
                <a:xfrm>
                  <a:off x="2320" y="876"/>
                  <a:ext cx="64" cy="57"/>
                </a:xfrm>
                <a:custGeom>
                  <a:avLst/>
                  <a:gdLst>
                    <a:gd name="T0" fmla="*/ 56 w 448"/>
                    <a:gd name="T1" fmla="*/ 403 h 403"/>
                    <a:gd name="T2" fmla="*/ 56 w 448"/>
                    <a:gd name="T3" fmla="*/ 50 h 403"/>
                    <a:gd name="T4" fmla="*/ 448 w 448"/>
                    <a:gd name="T5" fmla="*/ 50 h 403"/>
                    <a:gd name="T6" fmla="*/ 448 w 448"/>
                    <a:gd name="T7" fmla="*/ 0 h 403"/>
                    <a:gd name="T8" fmla="*/ 0 w 448"/>
                    <a:gd name="T9" fmla="*/ 0 h 403"/>
                    <a:gd name="T10" fmla="*/ 0 w 448"/>
                    <a:gd name="T11" fmla="*/ 403 h 403"/>
                    <a:gd name="T12" fmla="*/ 56 w 448"/>
                    <a:gd name="T13" fmla="*/ 403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403">
                      <a:moveTo>
                        <a:pt x="56" y="403"/>
                      </a:moveTo>
                      <a:lnTo>
                        <a:pt x="56" y="50"/>
                      </a:lnTo>
                      <a:lnTo>
                        <a:pt x="448" y="50"/>
                      </a:lnTo>
                      <a:lnTo>
                        <a:pt x="448" y="0"/>
                      </a:lnTo>
                      <a:lnTo>
                        <a:pt x="0" y="0"/>
                      </a:lnTo>
                      <a:lnTo>
                        <a:pt x="0" y="403"/>
                      </a:lnTo>
                      <a:lnTo>
                        <a:pt x="56" y="40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75" name="Group 205"/>
                <p:cNvGrpSpPr>
                  <a:grpSpLocks/>
                </p:cNvGrpSpPr>
                <p:nvPr/>
              </p:nvGrpSpPr>
              <p:grpSpPr bwMode="auto">
                <a:xfrm>
                  <a:off x="2267" y="821"/>
                  <a:ext cx="73" cy="59"/>
                  <a:chOff x="2267" y="821"/>
                  <a:chExt cx="73" cy="59"/>
                </a:xfrm>
                <a:grpFill/>
              </p:grpSpPr>
              <p:sp>
                <p:nvSpPr>
                  <p:cNvPr id="87" name="Oval 206"/>
                  <p:cNvSpPr>
                    <a:spLocks noChangeArrowheads="1"/>
                  </p:cNvSpPr>
                  <p:nvPr/>
                </p:nvSpPr>
                <p:spPr bwMode="auto">
                  <a:xfrm>
                    <a:off x="2273" y="821"/>
                    <a:ext cx="67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88" name="Oval 207"/>
                  <p:cNvSpPr>
                    <a:spLocks noChangeArrowheads="1"/>
                  </p:cNvSpPr>
                  <p:nvPr/>
                </p:nvSpPr>
                <p:spPr bwMode="auto">
                  <a:xfrm>
                    <a:off x="2267" y="821"/>
                    <a:ext cx="66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76" name="Group 208"/>
                <p:cNvGrpSpPr>
                  <a:grpSpLocks/>
                </p:cNvGrpSpPr>
                <p:nvPr/>
              </p:nvGrpSpPr>
              <p:grpSpPr bwMode="auto">
                <a:xfrm>
                  <a:off x="2296" y="933"/>
                  <a:ext cx="24" cy="58"/>
                  <a:chOff x="2296" y="933"/>
                  <a:chExt cx="24" cy="58"/>
                </a:xfrm>
                <a:grpFill/>
              </p:grpSpPr>
              <p:sp>
                <p:nvSpPr>
                  <p:cNvPr id="78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2296" y="933"/>
                    <a:ext cx="24" cy="58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grpSp>
                <p:nvGrpSpPr>
                  <p:cNvPr id="79" name="Group 210"/>
                  <p:cNvGrpSpPr>
                    <a:grpSpLocks/>
                  </p:cNvGrpSpPr>
                  <p:nvPr/>
                </p:nvGrpSpPr>
                <p:grpSpPr bwMode="auto">
                  <a:xfrm>
                    <a:off x="2296" y="941"/>
                    <a:ext cx="24" cy="44"/>
                    <a:chOff x="2296" y="941"/>
                    <a:chExt cx="24" cy="44"/>
                  </a:xfrm>
                  <a:grpFill/>
                </p:grpSpPr>
                <p:sp>
                  <p:nvSpPr>
                    <p:cNvPr id="80" name="Line 2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8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1" name="Line 2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0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2" name="Line 2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62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3" name="Line 2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55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4" name="Line 2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1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5" name="Line 2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7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6" name="Line 2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84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  <p:sp>
              <p:nvSpPr>
                <p:cNvPr id="77" name="Rectangle 218"/>
                <p:cNvSpPr>
                  <a:spLocks noChangeArrowheads="1"/>
                </p:cNvSpPr>
                <p:nvPr/>
              </p:nvSpPr>
              <p:spPr bwMode="auto">
                <a:xfrm>
                  <a:off x="2448" y="948"/>
                  <a:ext cx="8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0" name="Group 219"/>
              <p:cNvGrpSpPr>
                <a:grpSpLocks/>
              </p:cNvGrpSpPr>
              <p:nvPr/>
            </p:nvGrpSpPr>
            <p:grpSpPr bwMode="auto">
              <a:xfrm>
                <a:off x="2382" y="788"/>
                <a:ext cx="40" cy="40"/>
                <a:chOff x="2382" y="788"/>
                <a:chExt cx="40" cy="40"/>
              </a:xfrm>
              <a:grpFill/>
            </p:grpSpPr>
            <p:sp>
              <p:nvSpPr>
                <p:cNvPr id="53" name="Freeform 220"/>
                <p:cNvSpPr>
                  <a:spLocks/>
                </p:cNvSpPr>
                <p:nvPr/>
              </p:nvSpPr>
              <p:spPr bwMode="auto">
                <a:xfrm>
                  <a:off x="2404" y="800"/>
                  <a:ext cx="18" cy="28"/>
                </a:xfrm>
                <a:custGeom>
                  <a:avLst/>
                  <a:gdLst>
                    <a:gd name="T0" fmla="*/ 106 w 127"/>
                    <a:gd name="T1" fmla="*/ 0 h 195"/>
                    <a:gd name="T2" fmla="*/ 0 w 127"/>
                    <a:gd name="T3" fmla="*/ 164 h 195"/>
                    <a:gd name="T4" fmla="*/ 21 w 127"/>
                    <a:gd name="T5" fmla="*/ 195 h 195"/>
                    <a:gd name="T6" fmla="*/ 127 w 127"/>
                    <a:gd name="T7" fmla="*/ 6 h 195"/>
                    <a:gd name="T8" fmla="*/ 106 w 127"/>
                    <a:gd name="T9" fmla="*/ 0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7" h="195">
                      <a:moveTo>
                        <a:pt x="106" y="0"/>
                      </a:moveTo>
                      <a:lnTo>
                        <a:pt x="0" y="164"/>
                      </a:lnTo>
                      <a:lnTo>
                        <a:pt x="21" y="195"/>
                      </a:lnTo>
                      <a:lnTo>
                        <a:pt x="127" y="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4" name="Freeform 221"/>
                <p:cNvSpPr>
                  <a:spLocks/>
                </p:cNvSpPr>
                <p:nvPr/>
              </p:nvSpPr>
              <p:spPr bwMode="auto">
                <a:xfrm>
                  <a:off x="2382" y="788"/>
                  <a:ext cx="35" cy="8"/>
                </a:xfrm>
                <a:custGeom>
                  <a:avLst/>
                  <a:gdLst>
                    <a:gd name="T0" fmla="*/ 238 w 246"/>
                    <a:gd name="T1" fmla="*/ 0 h 57"/>
                    <a:gd name="T2" fmla="*/ 0 w 246"/>
                    <a:gd name="T3" fmla="*/ 31 h 57"/>
                    <a:gd name="T4" fmla="*/ 35 w 246"/>
                    <a:gd name="T5" fmla="*/ 57 h 57"/>
                    <a:gd name="T6" fmla="*/ 246 w 246"/>
                    <a:gd name="T7" fmla="*/ 19 h 57"/>
                    <a:gd name="T8" fmla="*/ 238 w 246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6" h="57">
                      <a:moveTo>
                        <a:pt x="238" y="0"/>
                      </a:moveTo>
                      <a:lnTo>
                        <a:pt x="0" y="31"/>
                      </a:lnTo>
                      <a:lnTo>
                        <a:pt x="35" y="57"/>
                      </a:lnTo>
                      <a:lnTo>
                        <a:pt x="246" y="19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1" name="Group 222"/>
              <p:cNvGrpSpPr>
                <a:grpSpLocks/>
              </p:cNvGrpSpPr>
              <p:nvPr/>
            </p:nvGrpSpPr>
            <p:grpSpPr bwMode="auto">
              <a:xfrm>
                <a:off x="2302" y="723"/>
                <a:ext cx="132" cy="186"/>
                <a:chOff x="2302" y="723"/>
                <a:chExt cx="132" cy="186"/>
              </a:xfrm>
              <a:grpFill/>
            </p:grpSpPr>
            <p:sp>
              <p:nvSpPr>
                <p:cNvPr id="51" name="Freeform 223"/>
                <p:cNvSpPr>
                  <a:spLocks/>
                </p:cNvSpPr>
                <p:nvPr/>
              </p:nvSpPr>
              <p:spPr bwMode="auto">
                <a:xfrm>
                  <a:off x="2302" y="724"/>
                  <a:ext cx="132" cy="185"/>
                </a:xfrm>
                <a:custGeom>
                  <a:avLst/>
                  <a:gdLst>
                    <a:gd name="T0" fmla="*/ 30 w 920"/>
                    <a:gd name="T1" fmla="*/ 47 h 1300"/>
                    <a:gd name="T2" fmla="*/ 16 w 920"/>
                    <a:gd name="T3" fmla="*/ 85 h 1300"/>
                    <a:gd name="T4" fmla="*/ 4 w 920"/>
                    <a:gd name="T5" fmla="*/ 132 h 1300"/>
                    <a:gd name="T6" fmla="*/ 0 w 920"/>
                    <a:gd name="T7" fmla="*/ 183 h 1300"/>
                    <a:gd name="T8" fmla="*/ 0 w 920"/>
                    <a:gd name="T9" fmla="*/ 233 h 1300"/>
                    <a:gd name="T10" fmla="*/ 12 w 920"/>
                    <a:gd name="T11" fmla="*/ 299 h 1300"/>
                    <a:gd name="T12" fmla="*/ 23 w 920"/>
                    <a:gd name="T13" fmla="*/ 381 h 1300"/>
                    <a:gd name="T14" fmla="*/ 44 w 920"/>
                    <a:gd name="T15" fmla="*/ 473 h 1300"/>
                    <a:gd name="T16" fmla="*/ 79 w 920"/>
                    <a:gd name="T17" fmla="*/ 578 h 1300"/>
                    <a:gd name="T18" fmla="*/ 131 w 920"/>
                    <a:gd name="T19" fmla="*/ 679 h 1300"/>
                    <a:gd name="T20" fmla="*/ 215 w 920"/>
                    <a:gd name="T21" fmla="*/ 799 h 1300"/>
                    <a:gd name="T22" fmla="*/ 299 w 920"/>
                    <a:gd name="T23" fmla="*/ 912 h 1300"/>
                    <a:gd name="T24" fmla="*/ 369 w 920"/>
                    <a:gd name="T25" fmla="*/ 988 h 1300"/>
                    <a:gd name="T26" fmla="*/ 467 w 920"/>
                    <a:gd name="T27" fmla="*/ 1079 h 1300"/>
                    <a:gd name="T28" fmla="*/ 569 w 920"/>
                    <a:gd name="T29" fmla="*/ 1155 h 1300"/>
                    <a:gd name="T30" fmla="*/ 660 w 920"/>
                    <a:gd name="T31" fmla="*/ 1215 h 1300"/>
                    <a:gd name="T32" fmla="*/ 726 w 920"/>
                    <a:gd name="T33" fmla="*/ 1253 h 1300"/>
                    <a:gd name="T34" fmla="*/ 793 w 920"/>
                    <a:gd name="T35" fmla="*/ 1281 h 1300"/>
                    <a:gd name="T36" fmla="*/ 846 w 920"/>
                    <a:gd name="T37" fmla="*/ 1300 h 1300"/>
                    <a:gd name="T38" fmla="*/ 888 w 920"/>
                    <a:gd name="T39" fmla="*/ 1300 h 1300"/>
                    <a:gd name="T40" fmla="*/ 920 w 920"/>
                    <a:gd name="T41" fmla="*/ 1284 h 1300"/>
                    <a:gd name="T42" fmla="*/ 61 w 920"/>
                    <a:gd name="T43" fmla="*/ 0 h 1300"/>
                    <a:gd name="T44" fmla="*/ 30 w 920"/>
                    <a:gd name="T45" fmla="*/ 47 h 1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920" h="1300">
                      <a:moveTo>
                        <a:pt x="30" y="47"/>
                      </a:moveTo>
                      <a:lnTo>
                        <a:pt x="16" y="85"/>
                      </a:lnTo>
                      <a:lnTo>
                        <a:pt x="4" y="132"/>
                      </a:lnTo>
                      <a:lnTo>
                        <a:pt x="0" y="183"/>
                      </a:lnTo>
                      <a:lnTo>
                        <a:pt x="0" y="233"/>
                      </a:lnTo>
                      <a:lnTo>
                        <a:pt x="12" y="299"/>
                      </a:lnTo>
                      <a:lnTo>
                        <a:pt x="23" y="381"/>
                      </a:lnTo>
                      <a:lnTo>
                        <a:pt x="44" y="473"/>
                      </a:lnTo>
                      <a:lnTo>
                        <a:pt x="79" y="578"/>
                      </a:lnTo>
                      <a:lnTo>
                        <a:pt x="131" y="679"/>
                      </a:lnTo>
                      <a:lnTo>
                        <a:pt x="215" y="799"/>
                      </a:lnTo>
                      <a:lnTo>
                        <a:pt x="299" y="912"/>
                      </a:lnTo>
                      <a:lnTo>
                        <a:pt x="369" y="988"/>
                      </a:lnTo>
                      <a:lnTo>
                        <a:pt x="467" y="1079"/>
                      </a:lnTo>
                      <a:lnTo>
                        <a:pt x="569" y="1155"/>
                      </a:lnTo>
                      <a:lnTo>
                        <a:pt x="660" y="1215"/>
                      </a:lnTo>
                      <a:lnTo>
                        <a:pt x="726" y="1253"/>
                      </a:lnTo>
                      <a:lnTo>
                        <a:pt x="793" y="1281"/>
                      </a:lnTo>
                      <a:lnTo>
                        <a:pt x="846" y="1300"/>
                      </a:lnTo>
                      <a:lnTo>
                        <a:pt x="888" y="1300"/>
                      </a:lnTo>
                      <a:lnTo>
                        <a:pt x="920" y="1284"/>
                      </a:lnTo>
                      <a:lnTo>
                        <a:pt x="61" y="0"/>
                      </a:lnTo>
                      <a:lnTo>
                        <a:pt x="30" y="4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2" name="Freeform 224"/>
                <p:cNvSpPr>
                  <a:spLocks/>
                </p:cNvSpPr>
                <p:nvPr/>
              </p:nvSpPr>
              <p:spPr bwMode="auto">
                <a:xfrm>
                  <a:off x="2310" y="723"/>
                  <a:ext cx="124" cy="184"/>
                </a:xfrm>
                <a:custGeom>
                  <a:avLst/>
                  <a:gdLst>
                    <a:gd name="T0" fmla="*/ 7 w 866"/>
                    <a:gd name="T1" fmla="*/ 0 h 1288"/>
                    <a:gd name="T2" fmla="*/ 0 w 866"/>
                    <a:gd name="T3" fmla="*/ 26 h 1288"/>
                    <a:gd name="T4" fmla="*/ 0 w 866"/>
                    <a:gd name="T5" fmla="*/ 82 h 1288"/>
                    <a:gd name="T6" fmla="*/ 4 w 866"/>
                    <a:gd name="T7" fmla="*/ 149 h 1288"/>
                    <a:gd name="T8" fmla="*/ 11 w 866"/>
                    <a:gd name="T9" fmla="*/ 202 h 1288"/>
                    <a:gd name="T10" fmla="*/ 21 w 866"/>
                    <a:gd name="T11" fmla="*/ 272 h 1288"/>
                    <a:gd name="T12" fmla="*/ 35 w 866"/>
                    <a:gd name="T13" fmla="*/ 354 h 1288"/>
                    <a:gd name="T14" fmla="*/ 56 w 866"/>
                    <a:gd name="T15" fmla="*/ 439 h 1288"/>
                    <a:gd name="T16" fmla="*/ 98 w 866"/>
                    <a:gd name="T17" fmla="*/ 547 h 1288"/>
                    <a:gd name="T18" fmla="*/ 161 w 866"/>
                    <a:gd name="T19" fmla="*/ 670 h 1288"/>
                    <a:gd name="T20" fmla="*/ 231 w 866"/>
                    <a:gd name="T21" fmla="*/ 771 h 1288"/>
                    <a:gd name="T22" fmla="*/ 315 w 866"/>
                    <a:gd name="T23" fmla="*/ 878 h 1288"/>
                    <a:gd name="T24" fmla="*/ 392 w 866"/>
                    <a:gd name="T25" fmla="*/ 960 h 1288"/>
                    <a:gd name="T26" fmla="*/ 452 w 866"/>
                    <a:gd name="T27" fmla="*/ 1016 h 1288"/>
                    <a:gd name="T28" fmla="*/ 508 w 866"/>
                    <a:gd name="T29" fmla="*/ 1068 h 1288"/>
                    <a:gd name="T30" fmla="*/ 567 w 866"/>
                    <a:gd name="T31" fmla="*/ 1118 h 1288"/>
                    <a:gd name="T32" fmla="*/ 634 w 866"/>
                    <a:gd name="T33" fmla="*/ 1168 h 1288"/>
                    <a:gd name="T34" fmla="*/ 679 w 866"/>
                    <a:gd name="T35" fmla="*/ 1200 h 1288"/>
                    <a:gd name="T36" fmla="*/ 728 w 866"/>
                    <a:gd name="T37" fmla="*/ 1228 h 1288"/>
                    <a:gd name="T38" fmla="*/ 782 w 866"/>
                    <a:gd name="T39" fmla="*/ 1256 h 1288"/>
                    <a:gd name="T40" fmla="*/ 827 w 866"/>
                    <a:gd name="T41" fmla="*/ 1282 h 1288"/>
                    <a:gd name="T42" fmla="*/ 855 w 866"/>
                    <a:gd name="T43" fmla="*/ 1288 h 1288"/>
                    <a:gd name="T44" fmla="*/ 866 w 866"/>
                    <a:gd name="T45" fmla="*/ 1270 h 1288"/>
                    <a:gd name="T46" fmla="*/ 863 w 866"/>
                    <a:gd name="T47" fmla="*/ 1243 h 1288"/>
                    <a:gd name="T48" fmla="*/ 856 w 866"/>
                    <a:gd name="T49" fmla="*/ 1213 h 1288"/>
                    <a:gd name="T50" fmla="*/ 845 w 866"/>
                    <a:gd name="T51" fmla="*/ 1159 h 1288"/>
                    <a:gd name="T52" fmla="*/ 831 w 866"/>
                    <a:gd name="T53" fmla="*/ 1089 h 1288"/>
                    <a:gd name="T54" fmla="*/ 813 w 866"/>
                    <a:gd name="T55" fmla="*/ 1023 h 1288"/>
                    <a:gd name="T56" fmla="*/ 792 w 866"/>
                    <a:gd name="T57" fmla="*/ 947 h 1288"/>
                    <a:gd name="T58" fmla="*/ 764 w 866"/>
                    <a:gd name="T59" fmla="*/ 866 h 1288"/>
                    <a:gd name="T60" fmla="*/ 733 w 866"/>
                    <a:gd name="T61" fmla="*/ 802 h 1288"/>
                    <a:gd name="T62" fmla="*/ 707 w 866"/>
                    <a:gd name="T63" fmla="*/ 746 h 1288"/>
                    <a:gd name="T64" fmla="*/ 666 w 866"/>
                    <a:gd name="T65" fmla="*/ 672 h 1288"/>
                    <a:gd name="T66" fmla="*/ 627 w 866"/>
                    <a:gd name="T67" fmla="*/ 607 h 1288"/>
                    <a:gd name="T68" fmla="*/ 579 w 866"/>
                    <a:gd name="T69" fmla="*/ 537 h 1288"/>
                    <a:gd name="T70" fmla="*/ 504 w 866"/>
                    <a:gd name="T71" fmla="*/ 448 h 1288"/>
                    <a:gd name="T72" fmla="*/ 452 w 866"/>
                    <a:gd name="T73" fmla="*/ 385 h 1288"/>
                    <a:gd name="T74" fmla="*/ 376 w 866"/>
                    <a:gd name="T75" fmla="*/ 299 h 1288"/>
                    <a:gd name="T76" fmla="*/ 305 w 866"/>
                    <a:gd name="T77" fmla="*/ 237 h 1288"/>
                    <a:gd name="T78" fmla="*/ 235 w 866"/>
                    <a:gd name="T79" fmla="*/ 173 h 1288"/>
                    <a:gd name="T80" fmla="*/ 182 w 866"/>
                    <a:gd name="T81" fmla="*/ 127 h 1288"/>
                    <a:gd name="T82" fmla="*/ 126 w 866"/>
                    <a:gd name="T83" fmla="*/ 78 h 1288"/>
                    <a:gd name="T84" fmla="*/ 84 w 866"/>
                    <a:gd name="T85" fmla="*/ 45 h 1288"/>
                    <a:gd name="T86" fmla="*/ 42 w 866"/>
                    <a:gd name="T87" fmla="*/ 13 h 1288"/>
                    <a:gd name="T88" fmla="*/ 7 w 866"/>
                    <a:gd name="T89" fmla="*/ 0 h 1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66" h="1288">
                      <a:moveTo>
                        <a:pt x="7" y="0"/>
                      </a:moveTo>
                      <a:lnTo>
                        <a:pt x="0" y="26"/>
                      </a:lnTo>
                      <a:lnTo>
                        <a:pt x="0" y="82"/>
                      </a:lnTo>
                      <a:lnTo>
                        <a:pt x="4" y="149"/>
                      </a:lnTo>
                      <a:lnTo>
                        <a:pt x="11" y="202"/>
                      </a:lnTo>
                      <a:lnTo>
                        <a:pt x="21" y="272"/>
                      </a:lnTo>
                      <a:lnTo>
                        <a:pt x="35" y="354"/>
                      </a:lnTo>
                      <a:lnTo>
                        <a:pt x="56" y="439"/>
                      </a:lnTo>
                      <a:lnTo>
                        <a:pt x="98" y="547"/>
                      </a:lnTo>
                      <a:lnTo>
                        <a:pt x="161" y="670"/>
                      </a:lnTo>
                      <a:lnTo>
                        <a:pt x="231" y="771"/>
                      </a:lnTo>
                      <a:lnTo>
                        <a:pt x="315" y="878"/>
                      </a:lnTo>
                      <a:lnTo>
                        <a:pt x="392" y="960"/>
                      </a:lnTo>
                      <a:lnTo>
                        <a:pt x="452" y="1016"/>
                      </a:lnTo>
                      <a:lnTo>
                        <a:pt x="508" y="1068"/>
                      </a:lnTo>
                      <a:lnTo>
                        <a:pt x="567" y="1118"/>
                      </a:lnTo>
                      <a:lnTo>
                        <a:pt x="634" y="1168"/>
                      </a:lnTo>
                      <a:lnTo>
                        <a:pt x="679" y="1200"/>
                      </a:lnTo>
                      <a:lnTo>
                        <a:pt x="728" y="1228"/>
                      </a:lnTo>
                      <a:lnTo>
                        <a:pt x="782" y="1256"/>
                      </a:lnTo>
                      <a:lnTo>
                        <a:pt x="827" y="1282"/>
                      </a:lnTo>
                      <a:lnTo>
                        <a:pt x="855" y="1288"/>
                      </a:lnTo>
                      <a:lnTo>
                        <a:pt x="866" y="1270"/>
                      </a:lnTo>
                      <a:lnTo>
                        <a:pt x="863" y="1243"/>
                      </a:lnTo>
                      <a:lnTo>
                        <a:pt x="856" y="1213"/>
                      </a:lnTo>
                      <a:lnTo>
                        <a:pt x="845" y="1159"/>
                      </a:lnTo>
                      <a:lnTo>
                        <a:pt x="831" y="1089"/>
                      </a:lnTo>
                      <a:lnTo>
                        <a:pt x="813" y="1023"/>
                      </a:lnTo>
                      <a:lnTo>
                        <a:pt x="792" y="947"/>
                      </a:lnTo>
                      <a:lnTo>
                        <a:pt x="764" y="866"/>
                      </a:lnTo>
                      <a:lnTo>
                        <a:pt x="733" y="802"/>
                      </a:lnTo>
                      <a:lnTo>
                        <a:pt x="707" y="746"/>
                      </a:lnTo>
                      <a:lnTo>
                        <a:pt x="666" y="672"/>
                      </a:lnTo>
                      <a:lnTo>
                        <a:pt x="627" y="607"/>
                      </a:lnTo>
                      <a:lnTo>
                        <a:pt x="579" y="537"/>
                      </a:lnTo>
                      <a:lnTo>
                        <a:pt x="504" y="448"/>
                      </a:lnTo>
                      <a:lnTo>
                        <a:pt x="452" y="385"/>
                      </a:lnTo>
                      <a:lnTo>
                        <a:pt x="376" y="299"/>
                      </a:lnTo>
                      <a:lnTo>
                        <a:pt x="305" y="237"/>
                      </a:lnTo>
                      <a:lnTo>
                        <a:pt x="235" y="173"/>
                      </a:lnTo>
                      <a:lnTo>
                        <a:pt x="182" y="127"/>
                      </a:lnTo>
                      <a:lnTo>
                        <a:pt x="126" y="78"/>
                      </a:lnTo>
                      <a:lnTo>
                        <a:pt x="84" y="45"/>
                      </a:lnTo>
                      <a:lnTo>
                        <a:pt x="42" y="1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2" name="Group 225"/>
              <p:cNvGrpSpPr>
                <a:grpSpLocks/>
              </p:cNvGrpSpPr>
              <p:nvPr/>
            </p:nvGrpSpPr>
            <p:grpSpPr bwMode="auto">
              <a:xfrm>
                <a:off x="2315" y="770"/>
                <a:ext cx="126" cy="121"/>
                <a:chOff x="2315" y="770"/>
                <a:chExt cx="126" cy="121"/>
              </a:xfrm>
              <a:grpFill/>
            </p:grpSpPr>
            <p:sp>
              <p:nvSpPr>
                <p:cNvPr id="49" name="Freeform 226"/>
                <p:cNvSpPr>
                  <a:spLocks/>
                </p:cNvSpPr>
                <p:nvPr/>
              </p:nvSpPr>
              <p:spPr bwMode="auto">
                <a:xfrm>
                  <a:off x="2315" y="770"/>
                  <a:ext cx="121" cy="8"/>
                </a:xfrm>
                <a:custGeom>
                  <a:avLst/>
                  <a:gdLst>
                    <a:gd name="T0" fmla="*/ 0 w 851"/>
                    <a:gd name="T1" fmla="*/ 0 h 57"/>
                    <a:gd name="T2" fmla="*/ 851 w 851"/>
                    <a:gd name="T3" fmla="*/ 32 h 57"/>
                    <a:gd name="T4" fmla="*/ 844 w 851"/>
                    <a:gd name="T5" fmla="*/ 57 h 57"/>
                    <a:gd name="T6" fmla="*/ 3 w 851"/>
                    <a:gd name="T7" fmla="*/ 26 h 57"/>
                    <a:gd name="T8" fmla="*/ 0 w 851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1" h="57">
                      <a:moveTo>
                        <a:pt x="0" y="0"/>
                      </a:moveTo>
                      <a:lnTo>
                        <a:pt x="851" y="32"/>
                      </a:lnTo>
                      <a:lnTo>
                        <a:pt x="844" y="57"/>
                      </a:lnTo>
                      <a:lnTo>
                        <a:pt x="3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0" name="Freeform 227"/>
                <p:cNvSpPr>
                  <a:spLocks/>
                </p:cNvSpPr>
                <p:nvPr/>
              </p:nvSpPr>
              <p:spPr bwMode="auto">
                <a:xfrm>
                  <a:off x="2398" y="794"/>
                  <a:ext cx="43" cy="97"/>
                </a:xfrm>
                <a:custGeom>
                  <a:avLst/>
                  <a:gdLst>
                    <a:gd name="T0" fmla="*/ 267 w 302"/>
                    <a:gd name="T1" fmla="*/ 13 h 673"/>
                    <a:gd name="T2" fmla="*/ 0 w 302"/>
                    <a:gd name="T3" fmla="*/ 657 h 673"/>
                    <a:gd name="T4" fmla="*/ 25 w 302"/>
                    <a:gd name="T5" fmla="*/ 673 h 673"/>
                    <a:gd name="T6" fmla="*/ 302 w 302"/>
                    <a:gd name="T7" fmla="*/ 0 h 673"/>
                    <a:gd name="T8" fmla="*/ 267 w 302"/>
                    <a:gd name="T9" fmla="*/ 13 h 6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673">
                      <a:moveTo>
                        <a:pt x="267" y="13"/>
                      </a:moveTo>
                      <a:lnTo>
                        <a:pt x="0" y="657"/>
                      </a:lnTo>
                      <a:lnTo>
                        <a:pt x="25" y="673"/>
                      </a:lnTo>
                      <a:lnTo>
                        <a:pt x="302" y="0"/>
                      </a:lnTo>
                      <a:lnTo>
                        <a:pt x="267" y="1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3" name="Group 228"/>
              <p:cNvGrpSpPr>
                <a:grpSpLocks/>
              </p:cNvGrpSpPr>
              <p:nvPr/>
            </p:nvGrpSpPr>
            <p:grpSpPr bwMode="auto">
              <a:xfrm>
                <a:off x="2413" y="772"/>
                <a:ext cx="51" cy="30"/>
                <a:chOff x="2413" y="772"/>
                <a:chExt cx="51" cy="30"/>
              </a:xfrm>
              <a:grpFill/>
            </p:grpSpPr>
            <p:sp>
              <p:nvSpPr>
                <p:cNvPr id="44" name="Freeform 229"/>
                <p:cNvSpPr>
                  <a:spLocks/>
                </p:cNvSpPr>
                <p:nvPr/>
              </p:nvSpPr>
              <p:spPr bwMode="auto">
                <a:xfrm>
                  <a:off x="2413" y="776"/>
                  <a:ext cx="36" cy="26"/>
                </a:xfrm>
                <a:custGeom>
                  <a:avLst/>
                  <a:gdLst>
                    <a:gd name="T0" fmla="*/ 187 w 250"/>
                    <a:gd name="T1" fmla="*/ 0 h 184"/>
                    <a:gd name="T2" fmla="*/ 11 w 250"/>
                    <a:gd name="T3" fmla="*/ 57 h 184"/>
                    <a:gd name="T4" fmla="*/ 4 w 250"/>
                    <a:gd name="T5" fmla="*/ 67 h 184"/>
                    <a:gd name="T6" fmla="*/ 0 w 250"/>
                    <a:gd name="T7" fmla="*/ 86 h 184"/>
                    <a:gd name="T8" fmla="*/ 2 w 250"/>
                    <a:gd name="T9" fmla="*/ 112 h 184"/>
                    <a:gd name="T10" fmla="*/ 5 w 250"/>
                    <a:gd name="T11" fmla="*/ 128 h 184"/>
                    <a:gd name="T12" fmla="*/ 15 w 250"/>
                    <a:gd name="T13" fmla="*/ 151 h 184"/>
                    <a:gd name="T14" fmla="*/ 33 w 250"/>
                    <a:gd name="T15" fmla="*/ 169 h 184"/>
                    <a:gd name="T16" fmla="*/ 57 w 250"/>
                    <a:gd name="T17" fmla="*/ 181 h 184"/>
                    <a:gd name="T18" fmla="*/ 71 w 250"/>
                    <a:gd name="T19" fmla="*/ 184 h 184"/>
                    <a:gd name="T20" fmla="*/ 85 w 250"/>
                    <a:gd name="T21" fmla="*/ 184 h 184"/>
                    <a:gd name="T22" fmla="*/ 250 w 250"/>
                    <a:gd name="T23" fmla="*/ 114 h 184"/>
                    <a:gd name="T24" fmla="*/ 218 w 250"/>
                    <a:gd name="T25" fmla="*/ 92 h 184"/>
                    <a:gd name="T26" fmla="*/ 201 w 250"/>
                    <a:gd name="T27" fmla="*/ 70 h 184"/>
                    <a:gd name="T28" fmla="*/ 187 w 250"/>
                    <a:gd name="T29" fmla="*/ 0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50" h="184">
                      <a:moveTo>
                        <a:pt x="187" y="0"/>
                      </a:moveTo>
                      <a:lnTo>
                        <a:pt x="11" y="57"/>
                      </a:lnTo>
                      <a:lnTo>
                        <a:pt x="4" y="67"/>
                      </a:lnTo>
                      <a:lnTo>
                        <a:pt x="0" y="86"/>
                      </a:lnTo>
                      <a:lnTo>
                        <a:pt x="2" y="112"/>
                      </a:lnTo>
                      <a:lnTo>
                        <a:pt x="5" y="128"/>
                      </a:lnTo>
                      <a:lnTo>
                        <a:pt x="15" y="151"/>
                      </a:lnTo>
                      <a:lnTo>
                        <a:pt x="33" y="169"/>
                      </a:lnTo>
                      <a:lnTo>
                        <a:pt x="57" y="181"/>
                      </a:lnTo>
                      <a:lnTo>
                        <a:pt x="71" y="184"/>
                      </a:lnTo>
                      <a:lnTo>
                        <a:pt x="85" y="184"/>
                      </a:lnTo>
                      <a:lnTo>
                        <a:pt x="250" y="114"/>
                      </a:lnTo>
                      <a:lnTo>
                        <a:pt x="218" y="92"/>
                      </a:lnTo>
                      <a:lnTo>
                        <a:pt x="201" y="70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5" name="Freeform 230"/>
                <p:cNvSpPr>
                  <a:spLocks/>
                </p:cNvSpPr>
                <p:nvPr/>
              </p:nvSpPr>
              <p:spPr bwMode="auto">
                <a:xfrm>
                  <a:off x="2434" y="772"/>
                  <a:ext cx="20" cy="25"/>
                </a:xfrm>
                <a:custGeom>
                  <a:avLst/>
                  <a:gdLst>
                    <a:gd name="T0" fmla="*/ 81 w 139"/>
                    <a:gd name="T1" fmla="*/ 25 h 173"/>
                    <a:gd name="T2" fmla="*/ 74 w 139"/>
                    <a:gd name="T3" fmla="*/ 15 h 173"/>
                    <a:gd name="T4" fmla="*/ 60 w 139"/>
                    <a:gd name="T5" fmla="*/ 5 h 173"/>
                    <a:gd name="T6" fmla="*/ 36 w 139"/>
                    <a:gd name="T7" fmla="*/ 0 h 173"/>
                    <a:gd name="T8" fmla="*/ 22 w 139"/>
                    <a:gd name="T9" fmla="*/ 2 h 173"/>
                    <a:gd name="T10" fmla="*/ 13 w 139"/>
                    <a:gd name="T11" fmla="*/ 12 h 173"/>
                    <a:gd name="T12" fmla="*/ 4 w 139"/>
                    <a:gd name="T13" fmla="*/ 25 h 173"/>
                    <a:gd name="T14" fmla="*/ 0 w 139"/>
                    <a:gd name="T15" fmla="*/ 46 h 173"/>
                    <a:gd name="T16" fmla="*/ 1 w 139"/>
                    <a:gd name="T17" fmla="*/ 58 h 173"/>
                    <a:gd name="T18" fmla="*/ 3 w 139"/>
                    <a:gd name="T19" fmla="*/ 74 h 173"/>
                    <a:gd name="T20" fmla="*/ 9 w 139"/>
                    <a:gd name="T21" fmla="*/ 97 h 173"/>
                    <a:gd name="T22" fmla="*/ 20 w 139"/>
                    <a:gd name="T23" fmla="*/ 116 h 173"/>
                    <a:gd name="T24" fmla="*/ 31 w 139"/>
                    <a:gd name="T25" fmla="*/ 133 h 173"/>
                    <a:gd name="T26" fmla="*/ 44 w 139"/>
                    <a:gd name="T27" fmla="*/ 147 h 173"/>
                    <a:gd name="T28" fmla="*/ 58 w 139"/>
                    <a:gd name="T29" fmla="*/ 160 h 173"/>
                    <a:gd name="T30" fmla="*/ 76 w 139"/>
                    <a:gd name="T31" fmla="*/ 167 h 173"/>
                    <a:gd name="T32" fmla="*/ 97 w 139"/>
                    <a:gd name="T33" fmla="*/ 173 h 173"/>
                    <a:gd name="T34" fmla="*/ 114 w 139"/>
                    <a:gd name="T35" fmla="*/ 173 h 173"/>
                    <a:gd name="T36" fmla="*/ 130 w 139"/>
                    <a:gd name="T37" fmla="*/ 164 h 173"/>
                    <a:gd name="T38" fmla="*/ 137 w 139"/>
                    <a:gd name="T39" fmla="*/ 151 h 173"/>
                    <a:gd name="T40" fmla="*/ 139 w 139"/>
                    <a:gd name="T41" fmla="*/ 132 h 173"/>
                    <a:gd name="T42" fmla="*/ 134 w 139"/>
                    <a:gd name="T43" fmla="*/ 111 h 173"/>
                    <a:gd name="T44" fmla="*/ 123 w 139"/>
                    <a:gd name="T45" fmla="*/ 82 h 173"/>
                    <a:gd name="T46" fmla="*/ 99 w 139"/>
                    <a:gd name="T47" fmla="*/ 46 h 173"/>
                    <a:gd name="T48" fmla="*/ 81 w 139"/>
                    <a:gd name="T49" fmla="*/ 25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39" h="173">
                      <a:moveTo>
                        <a:pt x="81" y="25"/>
                      </a:moveTo>
                      <a:lnTo>
                        <a:pt x="74" y="15"/>
                      </a:lnTo>
                      <a:lnTo>
                        <a:pt x="60" y="5"/>
                      </a:lnTo>
                      <a:lnTo>
                        <a:pt x="36" y="0"/>
                      </a:lnTo>
                      <a:lnTo>
                        <a:pt x="22" y="2"/>
                      </a:lnTo>
                      <a:lnTo>
                        <a:pt x="13" y="12"/>
                      </a:lnTo>
                      <a:lnTo>
                        <a:pt x="4" y="25"/>
                      </a:lnTo>
                      <a:lnTo>
                        <a:pt x="0" y="46"/>
                      </a:lnTo>
                      <a:lnTo>
                        <a:pt x="1" y="58"/>
                      </a:lnTo>
                      <a:lnTo>
                        <a:pt x="3" y="74"/>
                      </a:lnTo>
                      <a:lnTo>
                        <a:pt x="9" y="97"/>
                      </a:lnTo>
                      <a:lnTo>
                        <a:pt x="20" y="116"/>
                      </a:lnTo>
                      <a:lnTo>
                        <a:pt x="31" y="133"/>
                      </a:lnTo>
                      <a:lnTo>
                        <a:pt x="44" y="147"/>
                      </a:lnTo>
                      <a:lnTo>
                        <a:pt x="58" y="160"/>
                      </a:lnTo>
                      <a:lnTo>
                        <a:pt x="76" y="167"/>
                      </a:lnTo>
                      <a:lnTo>
                        <a:pt x="97" y="173"/>
                      </a:lnTo>
                      <a:lnTo>
                        <a:pt x="114" y="173"/>
                      </a:lnTo>
                      <a:lnTo>
                        <a:pt x="130" y="164"/>
                      </a:lnTo>
                      <a:lnTo>
                        <a:pt x="137" y="151"/>
                      </a:lnTo>
                      <a:lnTo>
                        <a:pt x="139" y="132"/>
                      </a:lnTo>
                      <a:lnTo>
                        <a:pt x="134" y="111"/>
                      </a:lnTo>
                      <a:lnTo>
                        <a:pt x="123" y="82"/>
                      </a:lnTo>
                      <a:lnTo>
                        <a:pt x="99" y="46"/>
                      </a:lnTo>
                      <a:lnTo>
                        <a:pt x="81" y="25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6" name="Freeform 231"/>
                <p:cNvSpPr>
                  <a:spLocks/>
                </p:cNvSpPr>
                <p:nvPr/>
              </p:nvSpPr>
              <p:spPr bwMode="auto">
                <a:xfrm>
                  <a:off x="2439" y="774"/>
                  <a:ext cx="25" cy="17"/>
                </a:xfrm>
                <a:custGeom>
                  <a:avLst/>
                  <a:gdLst>
                    <a:gd name="T0" fmla="*/ 13 w 171"/>
                    <a:gd name="T1" fmla="*/ 27 h 123"/>
                    <a:gd name="T2" fmla="*/ 120 w 171"/>
                    <a:gd name="T3" fmla="*/ 3 h 123"/>
                    <a:gd name="T4" fmla="*/ 146 w 171"/>
                    <a:gd name="T5" fmla="*/ 0 h 123"/>
                    <a:gd name="T6" fmla="*/ 164 w 171"/>
                    <a:gd name="T7" fmla="*/ 3 h 123"/>
                    <a:gd name="T8" fmla="*/ 169 w 171"/>
                    <a:gd name="T9" fmla="*/ 9 h 123"/>
                    <a:gd name="T10" fmla="*/ 171 w 171"/>
                    <a:gd name="T11" fmla="*/ 22 h 123"/>
                    <a:gd name="T12" fmla="*/ 164 w 171"/>
                    <a:gd name="T13" fmla="*/ 41 h 123"/>
                    <a:gd name="T14" fmla="*/ 64 w 171"/>
                    <a:gd name="T15" fmla="*/ 123 h 123"/>
                    <a:gd name="T16" fmla="*/ 50 w 171"/>
                    <a:gd name="T17" fmla="*/ 122 h 123"/>
                    <a:gd name="T18" fmla="*/ 34 w 171"/>
                    <a:gd name="T19" fmla="*/ 116 h 123"/>
                    <a:gd name="T20" fmla="*/ 22 w 171"/>
                    <a:gd name="T21" fmla="*/ 106 h 123"/>
                    <a:gd name="T22" fmla="*/ 8 w 171"/>
                    <a:gd name="T23" fmla="*/ 90 h 123"/>
                    <a:gd name="T24" fmla="*/ 1 w 171"/>
                    <a:gd name="T25" fmla="*/ 74 h 123"/>
                    <a:gd name="T26" fmla="*/ 0 w 171"/>
                    <a:gd name="T27" fmla="*/ 56 h 123"/>
                    <a:gd name="T28" fmla="*/ 5 w 171"/>
                    <a:gd name="T29" fmla="*/ 40 h 123"/>
                    <a:gd name="T30" fmla="*/ 13 w 171"/>
                    <a:gd name="T31" fmla="*/ 27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71" h="123">
                      <a:moveTo>
                        <a:pt x="13" y="27"/>
                      </a:moveTo>
                      <a:lnTo>
                        <a:pt x="120" y="3"/>
                      </a:lnTo>
                      <a:lnTo>
                        <a:pt x="146" y="0"/>
                      </a:lnTo>
                      <a:lnTo>
                        <a:pt x="164" y="3"/>
                      </a:lnTo>
                      <a:lnTo>
                        <a:pt x="169" y="9"/>
                      </a:lnTo>
                      <a:lnTo>
                        <a:pt x="171" y="22"/>
                      </a:lnTo>
                      <a:lnTo>
                        <a:pt x="164" y="41"/>
                      </a:lnTo>
                      <a:lnTo>
                        <a:pt x="64" y="123"/>
                      </a:lnTo>
                      <a:lnTo>
                        <a:pt x="50" y="122"/>
                      </a:lnTo>
                      <a:lnTo>
                        <a:pt x="34" y="116"/>
                      </a:lnTo>
                      <a:lnTo>
                        <a:pt x="22" y="106"/>
                      </a:lnTo>
                      <a:lnTo>
                        <a:pt x="8" y="90"/>
                      </a:lnTo>
                      <a:lnTo>
                        <a:pt x="1" y="74"/>
                      </a:lnTo>
                      <a:lnTo>
                        <a:pt x="0" y="56"/>
                      </a:lnTo>
                      <a:lnTo>
                        <a:pt x="5" y="40"/>
                      </a:lnTo>
                      <a:lnTo>
                        <a:pt x="13" y="2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Freeform 232"/>
                <p:cNvSpPr>
                  <a:spLocks/>
                </p:cNvSpPr>
                <p:nvPr/>
              </p:nvSpPr>
              <p:spPr bwMode="auto">
                <a:xfrm>
                  <a:off x="2421" y="782"/>
                  <a:ext cx="10" cy="18"/>
                </a:xfrm>
                <a:custGeom>
                  <a:avLst/>
                  <a:gdLst>
                    <a:gd name="T0" fmla="*/ 4 w 73"/>
                    <a:gd name="T1" fmla="*/ 0 h 124"/>
                    <a:gd name="T2" fmla="*/ 0 w 73"/>
                    <a:gd name="T3" fmla="*/ 20 h 124"/>
                    <a:gd name="T4" fmla="*/ 0 w 73"/>
                    <a:gd name="T5" fmla="*/ 37 h 124"/>
                    <a:gd name="T6" fmla="*/ 5 w 73"/>
                    <a:gd name="T7" fmla="*/ 60 h 124"/>
                    <a:gd name="T8" fmla="*/ 11 w 73"/>
                    <a:gd name="T9" fmla="*/ 78 h 124"/>
                    <a:gd name="T10" fmla="*/ 26 w 73"/>
                    <a:gd name="T11" fmla="*/ 96 h 124"/>
                    <a:gd name="T12" fmla="*/ 40 w 73"/>
                    <a:gd name="T13" fmla="*/ 108 h 124"/>
                    <a:gd name="T14" fmla="*/ 51 w 73"/>
                    <a:gd name="T15" fmla="*/ 114 h 124"/>
                    <a:gd name="T16" fmla="*/ 61 w 73"/>
                    <a:gd name="T17" fmla="*/ 118 h 124"/>
                    <a:gd name="T18" fmla="*/ 73 w 73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3" h="124">
                      <a:moveTo>
                        <a:pt x="4" y="0"/>
                      </a:moveTo>
                      <a:lnTo>
                        <a:pt x="0" y="20"/>
                      </a:lnTo>
                      <a:lnTo>
                        <a:pt x="0" y="37"/>
                      </a:lnTo>
                      <a:lnTo>
                        <a:pt x="5" y="60"/>
                      </a:lnTo>
                      <a:lnTo>
                        <a:pt x="11" y="78"/>
                      </a:lnTo>
                      <a:lnTo>
                        <a:pt x="26" y="96"/>
                      </a:lnTo>
                      <a:lnTo>
                        <a:pt x="40" y="108"/>
                      </a:lnTo>
                      <a:lnTo>
                        <a:pt x="51" y="114"/>
                      </a:lnTo>
                      <a:lnTo>
                        <a:pt x="61" y="118"/>
                      </a:lnTo>
                      <a:lnTo>
                        <a:pt x="73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8" name="Freeform 233"/>
                <p:cNvSpPr>
                  <a:spLocks/>
                </p:cNvSpPr>
                <p:nvPr/>
              </p:nvSpPr>
              <p:spPr bwMode="auto">
                <a:xfrm>
                  <a:off x="2427" y="780"/>
                  <a:ext cx="11" cy="18"/>
                </a:xfrm>
                <a:custGeom>
                  <a:avLst/>
                  <a:gdLst>
                    <a:gd name="T0" fmla="*/ 5 w 74"/>
                    <a:gd name="T1" fmla="*/ 0 h 124"/>
                    <a:gd name="T2" fmla="*/ 0 w 74"/>
                    <a:gd name="T3" fmla="*/ 20 h 124"/>
                    <a:gd name="T4" fmla="*/ 0 w 74"/>
                    <a:gd name="T5" fmla="*/ 38 h 124"/>
                    <a:gd name="T6" fmla="*/ 6 w 74"/>
                    <a:gd name="T7" fmla="*/ 60 h 124"/>
                    <a:gd name="T8" fmla="*/ 12 w 74"/>
                    <a:gd name="T9" fmla="*/ 79 h 124"/>
                    <a:gd name="T10" fmla="*/ 27 w 74"/>
                    <a:gd name="T11" fmla="*/ 95 h 124"/>
                    <a:gd name="T12" fmla="*/ 41 w 74"/>
                    <a:gd name="T13" fmla="*/ 108 h 124"/>
                    <a:gd name="T14" fmla="*/ 51 w 74"/>
                    <a:gd name="T15" fmla="*/ 114 h 124"/>
                    <a:gd name="T16" fmla="*/ 62 w 74"/>
                    <a:gd name="T17" fmla="*/ 119 h 124"/>
                    <a:gd name="T18" fmla="*/ 74 w 74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4" h="124">
                      <a:moveTo>
                        <a:pt x="5" y="0"/>
                      </a:move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6" y="60"/>
                      </a:lnTo>
                      <a:lnTo>
                        <a:pt x="12" y="79"/>
                      </a:lnTo>
                      <a:lnTo>
                        <a:pt x="27" y="95"/>
                      </a:lnTo>
                      <a:lnTo>
                        <a:pt x="41" y="108"/>
                      </a:lnTo>
                      <a:lnTo>
                        <a:pt x="51" y="114"/>
                      </a:lnTo>
                      <a:lnTo>
                        <a:pt x="62" y="119"/>
                      </a:lnTo>
                      <a:lnTo>
                        <a:pt x="74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91" name="Line 234"/>
            <p:cNvSpPr>
              <a:spLocks noChangeShapeType="1"/>
            </p:cNvSpPr>
            <p:nvPr/>
          </p:nvSpPr>
          <p:spPr bwMode="auto">
            <a:xfrm>
              <a:off x="4834083" y="1928124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2" name="Picture 23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3" name="Picture 23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4" name="Picture 24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5" name="Line 241"/>
            <p:cNvSpPr>
              <a:spLocks noChangeShapeType="1"/>
            </p:cNvSpPr>
            <p:nvPr/>
          </p:nvSpPr>
          <p:spPr bwMode="auto">
            <a:xfrm>
              <a:off x="4834083" y="2709112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6" name="Picture 24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7" name="Picture 24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8" name="Picture 24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9" name="Picture 248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1505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0" name="AutoShape 250"/>
            <p:cNvSpPr>
              <a:spLocks noChangeArrowheads="1"/>
            </p:cNvSpPr>
            <p:nvPr/>
          </p:nvSpPr>
          <p:spPr bwMode="auto">
            <a:xfrm>
              <a:off x="3248169" y="2496257"/>
              <a:ext cx="335308" cy="383451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1" name="AutoShape 251"/>
            <p:cNvSpPr>
              <a:spLocks noChangeArrowheads="1"/>
            </p:cNvSpPr>
            <p:nvPr/>
          </p:nvSpPr>
          <p:spPr bwMode="auto">
            <a:xfrm>
              <a:off x="2837773" y="3205252"/>
              <a:ext cx="335307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2" name="AutoShape 252"/>
            <p:cNvSpPr>
              <a:spLocks noChangeArrowheads="1"/>
            </p:cNvSpPr>
            <p:nvPr/>
          </p:nvSpPr>
          <p:spPr bwMode="auto">
            <a:xfrm>
              <a:off x="2896031" y="1643276"/>
              <a:ext cx="335308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253"/>
            <p:cNvSpPr txBox="1">
              <a:spLocks noChangeArrowheads="1"/>
            </p:cNvSpPr>
            <p:nvPr/>
          </p:nvSpPr>
          <p:spPr bwMode="auto">
            <a:xfrm>
              <a:off x="1639006" y="1228634"/>
              <a:ext cx="13978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高带宽光纤</a:t>
              </a:r>
            </a:p>
          </p:txBody>
        </p:sp>
        <p:sp>
          <p:nvSpPr>
            <p:cNvPr id="104" name="Line 254"/>
            <p:cNvSpPr>
              <a:spLocks noChangeShapeType="1"/>
            </p:cNvSpPr>
            <p:nvPr/>
          </p:nvSpPr>
          <p:spPr bwMode="auto">
            <a:xfrm>
              <a:off x="3835927" y="1928124"/>
              <a:ext cx="264104" cy="33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" name="Line 255"/>
            <p:cNvSpPr>
              <a:spLocks noChangeShapeType="1"/>
            </p:cNvSpPr>
            <p:nvPr/>
          </p:nvSpPr>
          <p:spPr bwMode="auto">
            <a:xfrm>
              <a:off x="2322513" y="3993381"/>
              <a:ext cx="2335501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Line 256"/>
            <p:cNvSpPr>
              <a:spLocks noChangeShapeType="1"/>
            </p:cNvSpPr>
            <p:nvPr/>
          </p:nvSpPr>
          <p:spPr bwMode="auto">
            <a:xfrm>
              <a:off x="4658013" y="3993381"/>
              <a:ext cx="31122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7" name="Text Box 257"/>
            <p:cNvSpPr txBox="1">
              <a:spLocks noChangeArrowheads="1"/>
            </p:cNvSpPr>
            <p:nvPr/>
          </p:nvSpPr>
          <p:spPr bwMode="auto">
            <a:xfrm>
              <a:off x="5719605" y="3936601"/>
              <a:ext cx="1251900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108" name="Text Box 258"/>
            <p:cNvSpPr txBox="1">
              <a:spLocks noChangeArrowheads="1"/>
            </p:cNvSpPr>
            <p:nvPr/>
          </p:nvSpPr>
          <p:spPr bwMode="auto">
            <a:xfrm>
              <a:off x="3154067" y="3946909"/>
              <a:ext cx="724383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109" name="Line 259"/>
            <p:cNvSpPr>
              <a:spLocks noChangeShapeType="1"/>
            </p:cNvSpPr>
            <p:nvPr/>
          </p:nvSpPr>
          <p:spPr bwMode="auto">
            <a:xfrm>
              <a:off x="4658013" y="3850959"/>
              <a:ext cx="0" cy="2848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523151" y="1431986"/>
              <a:ext cx="586511" cy="2561396"/>
            </a:xfrm>
            <a:prstGeom prst="rect">
              <a:avLst/>
            </a:prstGeom>
          </p:spPr>
          <p:txBody>
            <a:bodyPr vert="eaVert" wrap="square">
              <a:spAutoFit/>
            </a:bodyPr>
            <a:lstStyle/>
            <a:p>
              <a:pPr algn="ctr"/>
              <a:endParaRPr lang="zh-CN" altLang="en-US" sz="16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>
          <a:xfrm>
            <a:off x="3562221" y="4268894"/>
            <a:ext cx="1649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HFC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网的结构</a:t>
            </a:r>
          </a:p>
        </p:txBody>
      </p:sp>
    </p:spTree>
    <p:extLst>
      <p:ext uri="{BB962C8B-B14F-4D97-AF65-F5344CB8AC3E}">
        <p14:creationId xmlns:p14="http://schemas.microsoft.com/office/powerpoint/2010/main" val="66493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HFC </a:t>
            </a:r>
            <a:r>
              <a:rPr lang="zh-CN" altLang="en-US" dirty="0"/>
              <a:t>网具有双向传输功能，扩展了传输频带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56963" y="1041663"/>
            <a:ext cx="8048776" cy="225552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2321954" y="1564432"/>
            <a:ext cx="445472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852066" y="1192296"/>
            <a:ext cx="1107997" cy="36874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b="1" dirty="0">
                <a:solidFill>
                  <a:srgbClr val="CC00CC"/>
                </a:solidFill>
              </a:rPr>
              <a:t>下行信道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1218318" y="1775070"/>
            <a:ext cx="727624" cy="997544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1291193" y="1961860"/>
            <a:ext cx="690297" cy="535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上行</a:t>
            </a:r>
          </a:p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信道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1074010" y="2791515"/>
            <a:ext cx="62055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5          65    87                                                                                 1000</a:t>
            </a:r>
          </a:p>
        </p:txBody>
      </p:sp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2310473" y="1775070"/>
            <a:ext cx="4411674" cy="997544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2696821" y="2135405"/>
            <a:ext cx="36727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调频广播、模拟和数字电视、数据业务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7377145" y="2792066"/>
            <a:ext cx="1109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频率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(MHz)</a:t>
            </a:r>
          </a:p>
        </p:txBody>
      </p:sp>
      <p:sp>
        <p:nvSpPr>
          <p:cNvPr id="15" name="Line 24"/>
          <p:cNvSpPr>
            <a:spLocks noChangeShapeType="1"/>
          </p:cNvSpPr>
          <p:nvPr/>
        </p:nvSpPr>
        <p:spPr bwMode="auto">
          <a:xfrm>
            <a:off x="855223" y="2772613"/>
            <a:ext cx="6729453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26080" y="3344500"/>
            <a:ext cx="3056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我国的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HFC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网的频带划分</a:t>
            </a:r>
          </a:p>
        </p:txBody>
      </p:sp>
    </p:spTree>
    <p:extLst>
      <p:ext uri="{BB962C8B-B14F-4D97-AF65-F5344CB8AC3E}">
        <p14:creationId xmlns:p14="http://schemas.microsoft.com/office/powerpoint/2010/main" val="90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机顶盒</a:t>
            </a:r>
            <a:r>
              <a:rPr lang="zh-CN" altLang="en-US" dirty="0"/>
              <a:t>（</a:t>
            </a:r>
            <a:r>
              <a:rPr lang="en-US" altLang="zh-CN" dirty="0"/>
              <a:t>set-top box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连接在同轴电缆和用户的电视机之间。</a:t>
            </a:r>
            <a:endParaRPr lang="en-US" altLang="zh-CN" dirty="0"/>
          </a:p>
          <a:p>
            <a:pPr lvl="1"/>
            <a:r>
              <a:rPr lang="zh-CN" altLang="en-US" dirty="0"/>
              <a:t>使现有的模拟电视机能够接收数字电视信号。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电缆调制解调器</a:t>
            </a:r>
            <a:r>
              <a:rPr lang="zh-CN" altLang="en-US" dirty="0"/>
              <a:t>（</a:t>
            </a:r>
            <a:r>
              <a:rPr lang="en-US" altLang="zh-CN" dirty="0"/>
              <a:t>cable modem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将用户计算机接入互联网。</a:t>
            </a:r>
            <a:endParaRPr lang="en-US" altLang="zh-CN" dirty="0"/>
          </a:p>
          <a:p>
            <a:pPr lvl="1"/>
            <a:r>
              <a:rPr lang="zh-CN" altLang="en-US" dirty="0"/>
              <a:t>在上行信道中传送交互数字电视所需的一些信息。</a:t>
            </a:r>
            <a:endParaRPr lang="en-US" altLang="zh-CN" dirty="0"/>
          </a:p>
          <a:p>
            <a:pPr lvl="1"/>
            <a:r>
              <a:rPr lang="zh-CN" altLang="en-US" dirty="0"/>
              <a:t>不需要成对使用，而只需安装在用户端。</a:t>
            </a:r>
            <a:endParaRPr lang="en-US" altLang="zh-CN" dirty="0"/>
          </a:p>
          <a:p>
            <a:pPr lvl="1"/>
            <a:r>
              <a:rPr lang="zh-CN" altLang="en-US" dirty="0"/>
              <a:t>复杂，必须解决共享信道中可能出现的冲突问题。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机顶盒与电缆调制解调器（</a:t>
            </a:r>
            <a:r>
              <a:rPr lang="en-US" altLang="zh-CN" dirty="0"/>
              <a:t>set-top box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650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2.6.3  </a:t>
            </a:r>
            <a:r>
              <a:rPr lang="en-US" altLang="zh-CN" dirty="0" err="1"/>
              <a:t>FTTx</a:t>
            </a:r>
            <a:r>
              <a:rPr lang="en-US" altLang="zh-CN" dirty="0"/>
              <a:t> </a:t>
            </a:r>
            <a:r>
              <a:rPr lang="zh-CN" altLang="en-US" dirty="0"/>
              <a:t>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代表多种宽带光纤接入方式。</a:t>
            </a:r>
          </a:p>
          <a:p>
            <a:r>
              <a:rPr lang="en-US" altLang="zh-CN" dirty="0" err="1">
                <a:solidFill>
                  <a:srgbClr val="C00000"/>
                </a:solidFill>
              </a:rPr>
              <a:t>FTTx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表示 </a:t>
            </a:r>
            <a:r>
              <a:rPr lang="en-US" altLang="zh-CN" dirty="0"/>
              <a:t>Fiber To The…</a:t>
            </a:r>
            <a:r>
              <a:rPr lang="zh-CN" altLang="en-US" dirty="0"/>
              <a:t>（光纤到</a:t>
            </a:r>
            <a:r>
              <a:rPr lang="en-US" altLang="zh-CN" dirty="0"/>
              <a:t>…</a:t>
            </a:r>
            <a:r>
              <a:rPr lang="zh-CN" altLang="en-US" dirty="0"/>
              <a:t>），例如：</a:t>
            </a:r>
          </a:p>
          <a:p>
            <a:pPr lvl="1"/>
            <a:r>
              <a:rPr lang="zh-CN" altLang="en-US" dirty="0"/>
              <a:t>光纤到户 </a:t>
            </a:r>
            <a:r>
              <a:rPr lang="en-US" altLang="zh-CN" dirty="0"/>
              <a:t>FTTH (Fiber To The Home)</a:t>
            </a:r>
            <a:r>
              <a:rPr lang="zh-CN" altLang="en-US" dirty="0"/>
              <a:t>：在光纤进入用户的家门后，才把光信号转换为电信号。</a:t>
            </a:r>
            <a:endParaRPr lang="en-US" altLang="zh-CN" dirty="0"/>
          </a:p>
          <a:p>
            <a:pPr lvl="1"/>
            <a:r>
              <a:rPr lang="zh-CN" altLang="en-US" dirty="0"/>
              <a:t>光纤到大楼 </a:t>
            </a:r>
            <a:r>
              <a:rPr lang="en-US" altLang="zh-CN" dirty="0"/>
              <a:t>FTTB (Fiber To The Building)</a:t>
            </a:r>
            <a:endParaRPr lang="zh-CN" altLang="en-US" dirty="0"/>
          </a:p>
          <a:p>
            <a:pPr lvl="1"/>
            <a:r>
              <a:rPr lang="zh-CN" altLang="en-US" dirty="0"/>
              <a:t>光纤到路边 </a:t>
            </a:r>
            <a:r>
              <a:rPr lang="en-US" altLang="zh-CN" dirty="0"/>
              <a:t>FTTC (Fiber To The Curb)</a:t>
            </a:r>
          </a:p>
          <a:p>
            <a:pPr lvl="1"/>
            <a:r>
              <a:rPr lang="zh-CN" altLang="en-US" dirty="0"/>
              <a:t>光纤到小区 </a:t>
            </a:r>
            <a:r>
              <a:rPr lang="en-US" altLang="zh-CN" dirty="0"/>
              <a:t>FTTZ (Fiber To The Zone)</a:t>
            </a:r>
          </a:p>
          <a:p>
            <a:pPr lvl="1"/>
            <a:r>
              <a:rPr lang="zh-CN" altLang="en-US" dirty="0"/>
              <a:t>光纤到办公室 </a:t>
            </a:r>
            <a:r>
              <a:rPr lang="en-US" altLang="zh-CN" dirty="0"/>
              <a:t>FTTO (Fiber To The Office)</a:t>
            </a:r>
          </a:p>
          <a:p>
            <a:pPr lvl="1"/>
            <a:r>
              <a:rPr lang="zh-CN" altLang="en-US" dirty="0"/>
              <a:t>光纤到桌面 </a:t>
            </a:r>
            <a:r>
              <a:rPr lang="en-US" altLang="zh-CN" dirty="0"/>
              <a:t>FTTD (Fiber To The Desk) </a:t>
            </a:r>
            <a:r>
              <a:rPr lang="zh-CN" altLang="en-US" dirty="0"/>
              <a:t>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742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  <p:grpSp>
        <p:nvGrpSpPr>
          <p:cNvPr id="86" name="组合 85"/>
          <p:cNvGrpSpPr/>
          <p:nvPr/>
        </p:nvGrpSpPr>
        <p:grpSpPr>
          <a:xfrm>
            <a:off x="635340" y="1040586"/>
            <a:ext cx="7489757" cy="2743201"/>
            <a:chOff x="556963" y="1013704"/>
            <a:chExt cx="8048776" cy="3483136"/>
          </a:xfrm>
        </p:grpSpPr>
        <p:sp>
          <p:nvSpPr>
            <p:cNvPr id="5" name="圆角矩形 4"/>
            <p:cNvSpPr/>
            <p:nvPr/>
          </p:nvSpPr>
          <p:spPr>
            <a:xfrm>
              <a:off x="556963" y="1013704"/>
              <a:ext cx="8048776" cy="3483136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6069199" y="1415525"/>
              <a:ext cx="1330308" cy="1019946"/>
              <a:chOff x="3781" y="1238"/>
              <a:chExt cx="1095" cy="1103"/>
            </a:xfrm>
          </p:grpSpPr>
          <p:sp>
            <p:nvSpPr>
              <p:cNvPr id="7" name="Line 5"/>
              <p:cNvSpPr>
                <a:spLocks noChangeShapeType="1"/>
              </p:cNvSpPr>
              <p:nvPr/>
            </p:nvSpPr>
            <p:spPr bwMode="auto">
              <a:xfrm>
                <a:off x="3781" y="1752"/>
                <a:ext cx="109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619699" y="1518204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4265796" y="1765062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1:N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477178" y="1890821"/>
              <a:ext cx="15464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1452511" y="1612548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光纤干线</a:t>
              </a: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3041795" y="1890821"/>
              <a:ext cx="1224001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 flipV="1">
              <a:off x="4674514" y="1373375"/>
              <a:ext cx="1376257" cy="43329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4674514" y="1974045"/>
              <a:ext cx="1376257" cy="46142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4674514" y="1890821"/>
              <a:ext cx="139468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 rot="5400000">
              <a:off x="6129431" y="2031546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4058749" y="1504332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光分路器</a:t>
              </a: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5791633" y="1013704"/>
              <a:ext cx="1064182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光网络单元</a:t>
              </a: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273265" y="1616838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5079486" y="162887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6855815" y="2184666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 rot="1462546">
              <a:off x="5049125" y="191098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 rot="20338690">
              <a:off x="5030407" y="1332725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6861826" y="1639091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6855815" y="1165644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3805253" y="175188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 rot="20348732">
              <a:off x="5583373" y="138757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>
              <a:off x="7128294" y="2352247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7128294" y="180667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 rot="1377025">
              <a:off x="5579050" y="220529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5629453" y="1764851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7131299" y="1329527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AutoShape 68"/>
            <p:cNvSpPr>
              <a:spLocks noChangeArrowheads="1"/>
            </p:cNvSpPr>
            <p:nvPr/>
          </p:nvSpPr>
          <p:spPr bwMode="auto">
            <a:xfrm>
              <a:off x="2078270" y="1193509"/>
              <a:ext cx="1522443" cy="246132"/>
            </a:xfrm>
            <a:prstGeom prst="wedgeRoundRectCallout">
              <a:avLst>
                <a:gd name="adj1" fmla="val 45684"/>
                <a:gd name="adj2" fmla="val 158215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Text Box 69"/>
            <p:cNvSpPr txBox="1">
              <a:spLocks noChangeArrowheads="1"/>
            </p:cNvSpPr>
            <p:nvPr/>
          </p:nvSpPr>
          <p:spPr bwMode="auto">
            <a:xfrm>
              <a:off x="2047623" y="1157118"/>
              <a:ext cx="1753237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发往特定 </a:t>
              </a:r>
              <a:r>
                <a:rPr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的数据</a:t>
              </a:r>
            </a:p>
          </p:txBody>
        </p:sp>
        <p:sp>
          <p:nvSpPr>
            <p:cNvPr id="37" name="Text Box 72"/>
            <p:cNvSpPr txBox="1">
              <a:spLocks noChangeArrowheads="1"/>
            </p:cNvSpPr>
            <p:nvPr/>
          </p:nvSpPr>
          <p:spPr bwMode="auto">
            <a:xfrm>
              <a:off x="4149088" y="1152119"/>
              <a:ext cx="549245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下行</a:t>
              </a:r>
            </a:p>
          </p:txBody>
        </p:sp>
        <p:sp>
          <p:nvSpPr>
            <p:cNvPr id="38" name="Line 74"/>
            <p:cNvSpPr>
              <a:spLocks noChangeShapeType="1"/>
            </p:cNvSpPr>
            <p:nvPr/>
          </p:nvSpPr>
          <p:spPr bwMode="auto">
            <a:xfrm>
              <a:off x="4220717" y="1471007"/>
              <a:ext cx="45379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471643" y="4024238"/>
              <a:ext cx="4293545" cy="349089"/>
              <a:chOff x="1169459" y="5805264"/>
              <a:chExt cx="7371027" cy="599306"/>
            </a:xfrm>
          </p:grpSpPr>
          <p:sp>
            <p:nvSpPr>
              <p:cNvPr id="40" name="Text Box 76"/>
              <p:cNvSpPr txBox="1">
                <a:spLocks noChangeArrowheads="1"/>
              </p:cNvSpPr>
              <p:nvPr/>
            </p:nvSpPr>
            <p:spPr bwMode="auto">
              <a:xfrm>
                <a:off x="1631722" y="5916327"/>
                <a:ext cx="845411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itchFamily="34" charset="-122"/>
                    <a:ea typeface="微软雅黑" pitchFamily="34" charset="-122"/>
                  </a:rPr>
                  <a:t>局端</a:t>
                </a:r>
              </a:p>
            </p:txBody>
          </p:sp>
          <p:sp>
            <p:nvSpPr>
              <p:cNvPr id="41" name="AutoShape 77"/>
              <p:cNvSpPr>
                <a:spLocks/>
              </p:cNvSpPr>
              <p:nvPr/>
            </p:nvSpPr>
            <p:spPr bwMode="auto">
              <a:xfrm rot="-5400000">
                <a:off x="1975909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AutoShape 78"/>
              <p:cNvSpPr>
                <a:spLocks/>
              </p:cNvSpPr>
              <p:nvPr/>
            </p:nvSpPr>
            <p:spPr bwMode="auto">
              <a:xfrm rot="-5400000">
                <a:off x="4743187" y="4025280"/>
                <a:ext cx="144462" cy="3704431"/>
              </a:xfrm>
              <a:prstGeom prst="leftBrace">
                <a:avLst>
                  <a:gd name="adj1" fmla="val 197253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3" name="AutoShape 79"/>
              <p:cNvSpPr>
                <a:spLocks/>
              </p:cNvSpPr>
              <p:nvPr/>
            </p:nvSpPr>
            <p:spPr bwMode="auto">
              <a:xfrm rot="-5400000">
                <a:off x="7592748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4" name="Text Box 80"/>
              <p:cNvSpPr txBox="1">
                <a:spLocks noChangeArrowheads="1"/>
              </p:cNvSpPr>
              <p:nvPr/>
            </p:nvSpPr>
            <p:spPr bwMode="auto">
              <a:xfrm>
                <a:off x="7092061" y="5916327"/>
                <a:ext cx="1109602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>
                    <a:latin typeface="微软雅黑" pitchFamily="34" charset="-122"/>
                    <a:ea typeface="微软雅黑" pitchFamily="34" charset="-122"/>
                  </a:rPr>
                  <a:t>用户端</a:t>
                </a:r>
              </a:p>
            </p:txBody>
          </p:sp>
          <p:sp>
            <p:nvSpPr>
              <p:cNvPr id="45" name="Text Box 81"/>
              <p:cNvSpPr txBox="1">
                <a:spLocks noChangeArrowheads="1"/>
              </p:cNvSpPr>
              <p:nvPr/>
            </p:nvSpPr>
            <p:spPr bwMode="auto">
              <a:xfrm>
                <a:off x="3970639" y="5929026"/>
                <a:ext cx="2306717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itchFamily="34" charset="-122"/>
                    <a:ea typeface="微软雅黑" pitchFamily="34" charset="-122"/>
                  </a:rPr>
                  <a:t>光配线网 </a:t>
                </a:r>
                <a:r>
                  <a:rPr lang="en-US" altLang="zh-CN" sz="1200" b="1" dirty="0">
                    <a:latin typeface="微软雅黑" pitchFamily="34" charset="-122"/>
                    <a:ea typeface="微软雅黑" pitchFamily="34" charset="-122"/>
                  </a:rPr>
                  <a:t>(ODN)</a:t>
                </a:r>
              </a:p>
            </p:txBody>
          </p:sp>
        </p:grpSp>
        <p:grpSp>
          <p:nvGrpSpPr>
            <p:cNvPr id="46" name="Group 37"/>
            <p:cNvGrpSpPr>
              <a:grpSpLocks/>
            </p:cNvGrpSpPr>
            <p:nvPr/>
          </p:nvGrpSpPr>
          <p:grpSpPr bwMode="auto">
            <a:xfrm>
              <a:off x="6160512" y="2848148"/>
              <a:ext cx="1238995" cy="1019946"/>
              <a:chOff x="3844" y="1238"/>
              <a:chExt cx="1032" cy="1103"/>
            </a:xfrm>
          </p:grpSpPr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>
                <a:off x="3844" y="1752"/>
                <a:ext cx="1032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Line 39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9" name="Line 40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0" name="Text Box 41"/>
            <p:cNvSpPr txBox="1">
              <a:spLocks noChangeArrowheads="1"/>
            </p:cNvSpPr>
            <p:nvPr/>
          </p:nvSpPr>
          <p:spPr bwMode="auto">
            <a:xfrm>
              <a:off x="2637881" y="2950826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sp>
          <p:nvSpPr>
            <p:cNvPr id="51" name="Rectangle 42"/>
            <p:cNvSpPr>
              <a:spLocks noChangeArrowheads="1"/>
            </p:cNvSpPr>
            <p:nvPr/>
          </p:nvSpPr>
          <p:spPr bwMode="auto">
            <a:xfrm>
              <a:off x="4283978" y="3197685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1:N</a:t>
              </a:r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>
              <a:off x="1477178" y="3323444"/>
              <a:ext cx="156461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 Box 47"/>
            <p:cNvSpPr txBox="1">
              <a:spLocks noChangeArrowheads="1"/>
            </p:cNvSpPr>
            <p:nvPr/>
          </p:nvSpPr>
          <p:spPr bwMode="auto">
            <a:xfrm>
              <a:off x="1477177" y="3038687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光纤干线</a:t>
              </a:r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>
              <a:off x="3041795" y="3323444"/>
              <a:ext cx="124218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49"/>
            <p:cNvSpPr>
              <a:spLocks noChangeShapeType="1"/>
            </p:cNvSpPr>
            <p:nvPr/>
          </p:nvSpPr>
          <p:spPr bwMode="auto">
            <a:xfrm flipV="1">
              <a:off x="4692696" y="2799902"/>
              <a:ext cx="1358075" cy="439395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>
              <a:off x="4692696" y="3406668"/>
              <a:ext cx="1358075" cy="461426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>
              <a:off x="4692696" y="3323444"/>
              <a:ext cx="1358075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Text Box 52"/>
            <p:cNvSpPr txBox="1">
              <a:spLocks noChangeArrowheads="1"/>
            </p:cNvSpPr>
            <p:nvPr/>
          </p:nvSpPr>
          <p:spPr bwMode="auto">
            <a:xfrm rot="5400000">
              <a:off x="6147613" y="3483624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</a:p>
          </p:txBody>
        </p:sp>
        <p:sp>
          <p:nvSpPr>
            <p:cNvPr id="59" name="Text Box 54"/>
            <p:cNvSpPr txBox="1">
              <a:spLocks noChangeArrowheads="1"/>
            </p:cNvSpPr>
            <p:nvPr/>
          </p:nvSpPr>
          <p:spPr bwMode="auto">
            <a:xfrm>
              <a:off x="3503873" y="3053432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●</a:t>
              </a:r>
            </a:p>
          </p:txBody>
        </p:sp>
        <p:sp>
          <p:nvSpPr>
            <p:cNvPr id="60" name="Text Box 55"/>
            <p:cNvSpPr txBox="1">
              <a:spLocks noChangeArrowheads="1"/>
            </p:cNvSpPr>
            <p:nvPr/>
          </p:nvSpPr>
          <p:spPr bwMode="auto">
            <a:xfrm>
              <a:off x="5395351" y="3075920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61" name="Text Box 56"/>
            <p:cNvSpPr txBox="1">
              <a:spLocks noChangeArrowheads="1"/>
            </p:cNvSpPr>
            <p:nvPr/>
          </p:nvSpPr>
          <p:spPr bwMode="auto">
            <a:xfrm>
              <a:off x="7087370" y="3617288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2" name="Text Box 57"/>
            <p:cNvSpPr txBox="1">
              <a:spLocks noChangeArrowheads="1"/>
            </p:cNvSpPr>
            <p:nvPr/>
          </p:nvSpPr>
          <p:spPr bwMode="auto">
            <a:xfrm rot="1462546">
              <a:off x="5419658" y="3441907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3" name="Text Box 58"/>
            <p:cNvSpPr txBox="1">
              <a:spLocks noChangeArrowheads="1"/>
            </p:cNvSpPr>
            <p:nvPr/>
          </p:nvSpPr>
          <p:spPr bwMode="auto">
            <a:xfrm rot="20338690">
              <a:off x="5395614" y="2700235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7093381" y="3071714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7087370" y="2598267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 flipH="1">
              <a:off x="3323555" y="3188474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 rot="9548732">
              <a:off x="5237915" y="2954808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 flipH="1">
              <a:off x="6906052" y="378487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 flipH="1">
              <a:off x="6906052" y="3239296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 rot="1366384" flipH="1">
              <a:off x="5213346" y="351251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H="1">
              <a:off x="5238917" y="3218384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 flipH="1">
              <a:off x="6909057" y="2762150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AutoShape 70"/>
            <p:cNvSpPr>
              <a:spLocks noChangeArrowheads="1"/>
            </p:cNvSpPr>
            <p:nvPr/>
          </p:nvSpPr>
          <p:spPr bwMode="auto">
            <a:xfrm>
              <a:off x="2203110" y="2610388"/>
              <a:ext cx="1528082" cy="252544"/>
            </a:xfrm>
            <a:prstGeom prst="wedgeRoundRectCallout">
              <a:avLst>
                <a:gd name="adj1" fmla="val 49806"/>
                <a:gd name="adj2" fmla="val 149652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Text Box 71"/>
            <p:cNvSpPr txBox="1">
              <a:spLocks noChangeArrowheads="1"/>
            </p:cNvSpPr>
            <p:nvPr/>
          </p:nvSpPr>
          <p:spPr bwMode="auto">
            <a:xfrm>
              <a:off x="2179158" y="2579098"/>
              <a:ext cx="1723788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特定 </a:t>
              </a:r>
              <a:r>
                <a:rPr lang="en-US" altLang="zh-CN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发来的数据</a:t>
              </a:r>
            </a:p>
          </p:txBody>
        </p:sp>
        <p:sp>
          <p:nvSpPr>
            <p:cNvPr id="75" name="Text Box 73"/>
            <p:cNvSpPr txBox="1">
              <a:spLocks noChangeArrowheads="1"/>
            </p:cNvSpPr>
            <p:nvPr/>
          </p:nvSpPr>
          <p:spPr bwMode="auto">
            <a:xfrm>
              <a:off x="4216658" y="2735964"/>
              <a:ext cx="530588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上行</a:t>
              </a:r>
            </a:p>
          </p:txBody>
        </p:sp>
        <p:sp>
          <p:nvSpPr>
            <p:cNvPr id="76" name="Line 75"/>
            <p:cNvSpPr>
              <a:spLocks noChangeShapeType="1"/>
            </p:cNvSpPr>
            <p:nvPr/>
          </p:nvSpPr>
          <p:spPr bwMode="auto">
            <a:xfrm flipH="1">
              <a:off x="4238899" y="3079323"/>
              <a:ext cx="453798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2519673" y="3495164"/>
              <a:ext cx="1370852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050" b="1" dirty="0">
                  <a:latin typeface="微软雅黑" pitchFamily="34" charset="-122"/>
                  <a:ea typeface="微软雅黑" pitchFamily="34" charset="-122"/>
                </a:rPr>
                <a:t>OLT</a:t>
              </a:r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zh-CN" sz="1050" b="1" dirty="0">
                  <a:latin typeface="微软雅黑" pitchFamily="34" charset="-122"/>
                  <a:ea typeface="微软雅黑" pitchFamily="34" charset="-122"/>
                </a:rPr>
                <a:t>光线路终端</a:t>
              </a:r>
              <a:endParaRPr lang="zh-CN" altLang="en-US" sz="105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2679636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OLT</a:t>
              </a:r>
            </a:p>
          </p:txBody>
        </p:sp>
        <p:sp>
          <p:nvSpPr>
            <p:cNvPr id="79" name="Rectangle 13"/>
            <p:cNvSpPr>
              <a:spLocks noChangeArrowheads="1"/>
            </p:cNvSpPr>
            <p:nvPr/>
          </p:nvSpPr>
          <p:spPr bwMode="auto">
            <a:xfrm>
              <a:off x="2661454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OLT</a:t>
              </a:r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6050771" y="2309711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6050771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2" name="Rectangle 22"/>
            <p:cNvSpPr>
              <a:spLocks noChangeArrowheads="1"/>
            </p:cNvSpPr>
            <p:nvPr/>
          </p:nvSpPr>
          <p:spPr bwMode="auto">
            <a:xfrm>
              <a:off x="6050771" y="128976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6068953" y="3742334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6068953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5" name="Rectangle 53"/>
            <p:cNvSpPr>
              <a:spLocks noChangeArrowheads="1"/>
            </p:cNvSpPr>
            <p:nvPr/>
          </p:nvSpPr>
          <p:spPr bwMode="auto">
            <a:xfrm>
              <a:off x="6068953" y="2722388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</p:grpSp>
      <p:sp>
        <p:nvSpPr>
          <p:cNvPr id="87" name="矩形 86"/>
          <p:cNvSpPr/>
          <p:nvPr/>
        </p:nvSpPr>
        <p:spPr>
          <a:xfrm>
            <a:off x="728946" y="3826774"/>
            <a:ext cx="7611292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光配线网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(Optical Distribution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：位于光纤干线和广大用户之间。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无源的光配线网常称为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无源光网络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(Passive Optical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7817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采用波分复用 </a:t>
            </a:r>
            <a:r>
              <a:rPr lang="en-US" altLang="zh-CN" dirty="0"/>
              <a:t>WDM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上行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下行</a:t>
            </a:r>
            <a:r>
              <a:rPr lang="zh-CN" altLang="en-US" dirty="0"/>
              <a:t>分别使用</a:t>
            </a:r>
            <a:r>
              <a:rPr lang="zh-CN" altLang="en-US" dirty="0">
                <a:solidFill>
                  <a:srgbClr val="C00000"/>
                </a:solidFill>
              </a:rPr>
              <a:t>不同的波长。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2 </a:t>
            </a:r>
            <a:r>
              <a:rPr lang="zh-CN" altLang="en-US" dirty="0"/>
              <a:t>种最流行的</a:t>
            </a:r>
            <a:r>
              <a:rPr lang="zh-CN" altLang="en-US" dirty="0">
                <a:solidFill>
                  <a:srgbClr val="C00000"/>
                </a:solidFill>
              </a:rPr>
              <a:t>无源光网络 </a:t>
            </a:r>
            <a:r>
              <a:rPr lang="en-US" altLang="zh-CN" dirty="0">
                <a:solidFill>
                  <a:srgbClr val="C00000"/>
                </a:solidFill>
              </a:rPr>
              <a:t>PON (Passive Optical Network)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以太网无源光网络 </a:t>
            </a:r>
            <a:r>
              <a:rPr lang="en-US" altLang="zh-CN" dirty="0">
                <a:solidFill>
                  <a:srgbClr val="0000FF"/>
                </a:solidFill>
              </a:rPr>
              <a:t>EPON </a:t>
            </a:r>
            <a:r>
              <a:rPr lang="en-US" altLang="zh-CN" dirty="0"/>
              <a:t>(Ethernet PON)</a:t>
            </a:r>
          </a:p>
          <a:p>
            <a:pPr lvl="2"/>
            <a:r>
              <a:rPr lang="zh-CN" altLang="en-US" dirty="0"/>
              <a:t>在链路层使用以太网协议，利用 </a:t>
            </a:r>
            <a:r>
              <a:rPr lang="en-US" altLang="zh-CN" dirty="0"/>
              <a:t>PON </a:t>
            </a:r>
            <a:r>
              <a:rPr lang="zh-CN" altLang="en-US" dirty="0"/>
              <a:t>的拓扑结构实现以太网的接入。</a:t>
            </a:r>
            <a:endParaRPr lang="en-US" altLang="zh-CN" dirty="0"/>
          </a:p>
          <a:p>
            <a:pPr lvl="2"/>
            <a:r>
              <a:rPr lang="zh-CN" altLang="en-US" dirty="0"/>
              <a:t>与现有以太网的兼容性好，并且成本低，扩展性强，管理方便。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吉比特无源光网络 </a:t>
            </a:r>
            <a:r>
              <a:rPr lang="en-US" altLang="zh-CN" dirty="0">
                <a:solidFill>
                  <a:srgbClr val="0000FF"/>
                </a:solidFill>
              </a:rPr>
              <a:t>GPON </a:t>
            </a:r>
            <a:r>
              <a:rPr lang="en-US" altLang="zh-CN" dirty="0"/>
              <a:t>(Gigabit PON)</a:t>
            </a:r>
          </a:p>
          <a:p>
            <a:pPr lvl="2"/>
            <a:r>
              <a:rPr lang="zh-CN" altLang="en-US" dirty="0"/>
              <a:t>采用通用封装方法 </a:t>
            </a:r>
            <a:r>
              <a:rPr lang="en-US" altLang="zh-CN" dirty="0"/>
              <a:t>GEM (Generic Encapsulation Method)</a:t>
            </a:r>
            <a:r>
              <a:rPr lang="zh-CN" altLang="en-US" dirty="0"/>
              <a:t>，可承载多业务，且对各种业务类型都能够提供服务质量保证，总体性能比</a:t>
            </a:r>
            <a:r>
              <a:rPr lang="en-US" altLang="zh-CN" dirty="0"/>
              <a:t>EPON</a:t>
            </a:r>
            <a:r>
              <a:rPr lang="zh-CN" altLang="en-US" dirty="0"/>
              <a:t>好。</a:t>
            </a:r>
            <a:endParaRPr lang="en-US" altLang="zh-CN" dirty="0"/>
          </a:p>
          <a:p>
            <a:pPr lvl="2"/>
            <a:r>
              <a:rPr lang="zh-CN" altLang="en-US" dirty="0"/>
              <a:t>成本稍高。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191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3505</TotalTime>
  <Words>6355</Words>
  <Application>Microsoft Office PowerPoint</Application>
  <PresentationFormat>全屏显示(16:9)</PresentationFormat>
  <Paragraphs>1304</Paragraphs>
  <Slides>83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83</vt:i4>
      </vt:variant>
    </vt:vector>
  </HeadingPairs>
  <TitlesOfParts>
    <vt:vector size="95" baseType="lpstr">
      <vt:lpstr>Calibri</vt:lpstr>
      <vt:lpstr>黑体</vt:lpstr>
      <vt:lpstr>Wingdings</vt:lpstr>
      <vt:lpstr>宋体</vt:lpstr>
      <vt:lpstr>Arial Rounded MT Bold</vt:lpstr>
      <vt:lpstr>Arial</vt:lpstr>
      <vt:lpstr>微软雅黑</vt:lpstr>
      <vt:lpstr>Times New Roman</vt:lpstr>
      <vt:lpstr>1_Office 主题​​</vt:lpstr>
      <vt:lpstr>Office 主题​​</vt:lpstr>
      <vt:lpstr>绘图</vt:lpstr>
      <vt:lpstr>公式</vt:lpstr>
      <vt:lpstr>高级计算机网络 第二讲 2 —— 物理层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Canhui Wang</cp:lastModifiedBy>
  <cp:revision>561</cp:revision>
  <dcterms:created xsi:type="dcterms:W3CDTF">2018-07-18T08:51:30Z</dcterms:created>
  <dcterms:modified xsi:type="dcterms:W3CDTF">2025-09-25T08:43:47Z</dcterms:modified>
</cp:coreProperties>
</file>