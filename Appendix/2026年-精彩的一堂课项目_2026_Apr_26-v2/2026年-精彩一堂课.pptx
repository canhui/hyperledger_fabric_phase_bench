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330" r:id="rId2"/>
    <p:sldId id="454" r:id="rId3"/>
    <p:sldId id="1065" r:id="rId4"/>
    <p:sldId id="1085" r:id="rId5"/>
    <p:sldId id="1066" r:id="rId6"/>
    <p:sldId id="1087" r:id="rId7"/>
    <p:sldId id="1088" r:id="rId8"/>
    <p:sldId id="1089" r:id="rId9"/>
    <p:sldId id="1090" r:id="rId10"/>
    <p:sldId id="1091" r:id="rId11"/>
    <p:sldId id="1092" r:id="rId12"/>
    <p:sldId id="1094" r:id="rId13"/>
    <p:sldId id="1095" r:id="rId14"/>
    <p:sldId id="1097" r:id="rId15"/>
    <p:sldId id="1099" r:id="rId16"/>
    <p:sldId id="1100" r:id="rId17"/>
    <p:sldId id="1101" r:id="rId18"/>
    <p:sldId id="1102" r:id="rId19"/>
    <p:sldId id="1103" r:id="rId20"/>
    <p:sldId id="1105" r:id="rId21"/>
    <p:sldId id="1107" r:id="rId22"/>
    <p:sldId id="1106" r:id="rId23"/>
    <p:sldId id="1110" r:id="rId24"/>
    <p:sldId id="1111" r:id="rId25"/>
    <p:sldId id="1112" r:id="rId26"/>
    <p:sldId id="1108" r:id="rId27"/>
    <p:sldId id="1109" r:id="rId28"/>
    <p:sldId id="1116" r:id="rId29"/>
    <p:sldId id="1117" r:id="rId30"/>
    <p:sldId id="1118" r:id="rId31"/>
    <p:sldId id="1119" r:id="rId32"/>
    <p:sldId id="1120" r:id="rId33"/>
    <p:sldId id="1121" r:id="rId34"/>
    <p:sldId id="1122" r:id="rId35"/>
    <p:sldId id="1123" r:id="rId36"/>
    <p:sldId id="1124" r:id="rId37"/>
    <p:sldId id="1125" r:id="rId38"/>
    <p:sldId id="1126" r:id="rId39"/>
    <p:sldId id="1127" r:id="rId40"/>
    <p:sldId id="1128" r:id="rId41"/>
    <p:sldId id="1129" r:id="rId42"/>
    <p:sldId id="1131" r:id="rId43"/>
    <p:sldId id="1133" r:id="rId44"/>
    <p:sldId id="1134" r:id="rId45"/>
    <p:sldId id="1135" r:id="rId46"/>
    <p:sldId id="1136" r:id="rId47"/>
    <p:sldId id="1137" r:id="rId48"/>
    <p:sldId id="1083" r:id="rId49"/>
  </p:sldIdLst>
  <p:sldSz cx="9144000" cy="5143500" type="screen16x9"/>
  <p:notesSz cx="6858000" cy="91440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varScale="1">
        <p:scale>
          <a:sx n="120" d="100"/>
          <a:sy n="120" d="100"/>
        </p:scale>
        <p:origin x="1434" y="48"/>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59817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47</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2026/4/26</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8.png"/><Relationship Id="rId5" Type="http://schemas.openxmlformats.org/officeDocument/2006/relationships/image" Target="../media/image11.emf"/><Relationship Id="rId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0755"/>
            <a:ext cx="5280758" cy="95410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现代密码学</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第十一章第一节</a:t>
            </a:r>
            <a:endPar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区块链的基本原理及应用</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2026</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4</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28</a:t>
            </a:r>
            <a:r>
              <a:rPr lang="zh-CN" altLang="en-US" sz="1600" b="1" dirty="0">
                <a:solidFill>
                  <a:schemeClr val="accent1"/>
                </a:solidFill>
                <a:latin typeface="楷体" panose="02010609060101010101" pitchFamily="49" charset="-122"/>
                <a:ea typeface="楷体" panose="02010609060101010101" pitchFamily="49" charset="-122"/>
              </a:rPr>
              <a:t>日</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E60B9881-53B3-4B0D-8D9A-99038AAC2A22}"/>
              </a:ext>
            </a:extLst>
          </p:cNvPr>
          <p:cNvSpPr txBox="1"/>
          <p:nvPr/>
        </p:nvSpPr>
        <p:spPr>
          <a:xfrm>
            <a:off x="6045200" y="123707"/>
            <a:ext cx="3098800" cy="319255"/>
          </a:xfrm>
          <a:prstGeom prst="rect">
            <a:avLst/>
          </a:prstGeom>
          <a:noFill/>
        </p:spPr>
        <p:txBody>
          <a:bodyPr wrap="square">
            <a:spAutoFit/>
          </a:bodyPr>
          <a:lstStyle/>
          <a:p>
            <a:pPr algn="ctr">
              <a:lnSpc>
                <a:spcPct val="160000"/>
              </a:lnSpc>
            </a:pPr>
            <a:r>
              <a:rPr lang="zh-CN" altLang="en-US" sz="1100" b="1" dirty="0">
                <a:solidFill>
                  <a:srgbClr val="FF0000"/>
                </a:solidFill>
                <a:latin typeface="楷体" panose="02010609060101010101" pitchFamily="49" charset="-122"/>
                <a:ea typeface="楷体" panose="02010609060101010101" pitchFamily="49" charset="-122"/>
              </a:rPr>
              <a:t>华侨大学第十四届青年教师“精彩一堂课”</a:t>
            </a:r>
            <a:endParaRPr lang="en-US" altLang="zh-CN" sz="11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94055" y="1716405"/>
            <a:ext cx="7710805" cy="1836400"/>
          </a:xfrm>
          <a:prstGeom prst="rect">
            <a:avLst/>
          </a:prstGeom>
        </p:spPr>
        <p:txBody>
          <a:bodyPr wrap="square">
            <a:spAutoFit/>
          </a:bodyPr>
          <a:lstStyle/>
          <a:p>
            <a:pPr marL="342900" indent="-342900" algn="just" defTabSz="266700">
              <a:buFont typeface="+mj-lt"/>
              <a:buAutoNum type="arabicPeriod"/>
            </a:pPr>
            <a:r>
              <a:rPr lang="zh-CN" altLang="en-US" dirty="0">
                <a:latin typeface="楷体" panose="02010609060101010101" pitchFamily="49" charset="-122"/>
                <a:ea typeface="楷体" panose="02010609060101010101" pitchFamily="49" charset="-122"/>
                <a:cs typeface="楷体" panose="02010609060101010101" pitchFamily="49" charset="-122"/>
              </a:rPr>
              <a:t>现代密码学（第五版），杨波</a:t>
            </a:r>
            <a:r>
              <a:rPr lang="zh-CN" altLang="en-US" sz="1800" dirty="0">
                <a:latin typeface="楷体" panose="02010609060101010101" pitchFamily="49" charset="-122"/>
                <a:ea typeface="楷体" panose="02010609060101010101" pitchFamily="49" charset="-122"/>
                <a:cs typeface="楷体" panose="02010609060101010101" pitchFamily="49" charset="-122"/>
              </a:rPr>
              <a:t>，清华大学出版社，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p>
          <a:p>
            <a:pPr marL="342900" indent="-342900" algn="just" defTabSz="266700">
              <a:spcBef>
                <a:spcPts val="1400"/>
              </a:spcBef>
              <a:buFont typeface="+mj-lt"/>
              <a:buAutoNum type="arabicPeriod"/>
            </a:pPr>
            <a:r>
              <a:rPr lang="zh-CN" altLang="en-US" dirty="0">
                <a:latin typeface="楷体" panose="02010609060101010101" pitchFamily="49" charset="-122"/>
                <a:ea typeface="楷体" panose="02010609060101010101" pitchFamily="49" charset="-122"/>
                <a:cs typeface="楷体" panose="02010609060101010101" pitchFamily="49" charset="-122"/>
              </a:rPr>
              <a:t>密码编码学与网络安全：原理与实践（第八版），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William Stallings</a:t>
            </a:r>
            <a:r>
              <a:rPr lang="zh-CN" altLang="en-US" dirty="0">
                <a:latin typeface="楷体" panose="02010609060101010101" pitchFamily="49" charset="-122"/>
                <a:ea typeface="楷体" panose="02010609060101010101" pitchFamily="49" charset="-122"/>
                <a:cs typeface="楷体" panose="02010609060101010101" pitchFamily="49" charset="-122"/>
              </a:rPr>
              <a:t>，电子工业出版社，</a:t>
            </a:r>
            <a:r>
              <a:rPr lang="en-US" altLang="zh-CN" dirty="0">
                <a:latin typeface="楷体" panose="02010609060101010101" pitchFamily="49" charset="-122"/>
                <a:ea typeface="楷体" panose="02010609060101010101" pitchFamily="49" charset="-122"/>
                <a:cs typeface="楷体" panose="02010609060101010101" pitchFamily="49" charset="-122"/>
              </a:rPr>
              <a:t>2021.</a:t>
            </a:r>
          </a:p>
          <a:p>
            <a:pPr marL="342900" indent="-342900" algn="just" defTabSz="266700">
              <a:spcBef>
                <a:spcPts val="1400"/>
              </a:spcBef>
              <a:buFont typeface="+mj-lt"/>
              <a:buAutoNum type="arabicPeriod"/>
            </a:pPr>
            <a:r>
              <a:rPr lang="zh-CN" altLang="en-US" sz="1800" dirty="0">
                <a:latin typeface="楷体" panose="02010609060101010101" pitchFamily="49" charset="-122"/>
                <a:ea typeface="楷体" panose="02010609060101010101" pitchFamily="49" charset="-122"/>
                <a:cs typeface="楷体" panose="02010609060101010101" pitchFamily="49" charset="-122"/>
              </a:rPr>
              <a:t>公钥密码学的数学基础，王小云，科学出版社，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a:p>
            <a:pPr marL="342900" indent="-342900" algn="just" defTabSz="266700">
              <a:buFont typeface="+mj-lt"/>
              <a:buAutoNum type="arabicPeriod"/>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5"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7" name="TextBox 11"/>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185" y="4471003"/>
            <a:ext cx="4026078"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6"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提交一份课程论文</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计算机技术前沿技术报告</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该课程总共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1200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https://pan.hqu.edu.cn/collection/6adeaef1e724df311959db2d8cfb34f8</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26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4185104" cy="523220"/>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采用阶段划分的区块链系统性能分析与优化</a:t>
            </a:r>
          </a:p>
          <a:p>
            <a:endParaRPr lang="zh-CN" altLang="en-US" sz="1400" dirty="0">
              <a:solidFill>
                <a:srgbClr val="FFC5C5"/>
              </a:solidFill>
              <a:latin typeface="楷体" panose="02010609060101010101" charset="-122"/>
              <a:ea typeface="楷体" panose="02010609060101010101" charset="-122"/>
            </a:endParaRP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95B8E7EC-AA8E-4056-9D1A-FB621C24A3E4}"/>
              </a:ext>
            </a:extLst>
          </p:cNvPr>
          <p:cNvPicPr>
            <a:picLocks noChangeAspect="1"/>
          </p:cNvPicPr>
          <p:nvPr/>
        </p:nvPicPr>
        <p:blipFill>
          <a:blip r:embed="rId3"/>
          <a:stretch>
            <a:fillRect/>
          </a:stretch>
        </p:blipFill>
        <p:spPr>
          <a:xfrm>
            <a:off x="1432120" y="3005564"/>
            <a:ext cx="5667414" cy="1329985"/>
          </a:xfrm>
          <a:prstGeom prst="rect">
            <a:avLst/>
          </a:prstGeom>
        </p:spPr>
      </p:pic>
      <p:pic>
        <p:nvPicPr>
          <p:cNvPr id="5" name="图片 4">
            <a:extLst>
              <a:ext uri="{FF2B5EF4-FFF2-40B4-BE49-F238E27FC236}">
                <a16:creationId xmlns:a16="http://schemas.microsoft.com/office/drawing/2014/main" id="{F88ADA1F-BD6B-4B1F-8390-FAB0967EB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0791" y="2848323"/>
            <a:ext cx="1581439" cy="1857357"/>
          </a:xfrm>
          <a:prstGeom prst="rect">
            <a:avLst/>
          </a:prstGeom>
        </p:spPr>
      </p:pic>
      <p:sp>
        <p:nvSpPr>
          <p:cNvPr id="6" name="矩形 5">
            <a:extLst>
              <a:ext uri="{FF2B5EF4-FFF2-40B4-BE49-F238E27FC236}">
                <a16:creationId xmlns:a16="http://schemas.microsoft.com/office/drawing/2014/main" id="{E54E97D3-2CF2-45B8-8BC4-990BEB5B1944}"/>
              </a:ext>
            </a:extLst>
          </p:cNvPr>
          <p:cNvSpPr/>
          <p:nvPr/>
        </p:nvSpPr>
        <p:spPr>
          <a:xfrm>
            <a:off x="1432120" y="3510040"/>
            <a:ext cx="5667415" cy="250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xmlns="">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xmlns="">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100"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1197</TotalTime>
  <Words>5932</Words>
  <Application>Microsoft Office PowerPoint</Application>
  <PresentationFormat>全屏显示(16:9)</PresentationFormat>
  <Paragraphs>839</Paragraphs>
  <Slides>48</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1"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496</cp:revision>
  <dcterms:created xsi:type="dcterms:W3CDTF">2020-01-28T04:26:00Z</dcterms:created>
  <dcterms:modified xsi:type="dcterms:W3CDTF">2026-04-26T03:51:16Z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