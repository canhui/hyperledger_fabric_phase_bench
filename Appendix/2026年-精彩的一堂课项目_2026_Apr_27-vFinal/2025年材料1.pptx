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30" r:id="rId2"/>
    <p:sldId id="454" r:id="rId3"/>
    <p:sldId id="1065" r:id="rId4"/>
    <p:sldId id="1066" r:id="rId5"/>
    <p:sldId id="1067" r:id="rId6"/>
    <p:sldId id="1068" r:id="rId7"/>
    <p:sldId id="1070" r:id="rId8"/>
    <p:sldId id="1071" r:id="rId9"/>
    <p:sldId id="1072" r:id="rId10"/>
    <p:sldId id="1073" r:id="rId11"/>
    <p:sldId id="1074" r:id="rId12"/>
    <p:sldId id="1075" r:id="rId13"/>
    <p:sldId id="1076" r:id="rId14"/>
    <p:sldId id="1063" r:id="rId15"/>
    <p:sldId id="1062" r:id="rId16"/>
    <p:sldId id="399" r:id="rId17"/>
    <p:sldId id="458" r:id="rId18"/>
    <p:sldId id="455" r:id="rId19"/>
    <p:sldId id="428" r:id="rId20"/>
    <p:sldId id="456" r:id="rId21"/>
    <p:sldId id="431" r:id="rId22"/>
    <p:sldId id="423" r:id="rId23"/>
    <p:sldId id="400" r:id="rId24"/>
    <p:sldId id="476" r:id="rId25"/>
    <p:sldId id="457" r:id="rId26"/>
    <p:sldId id="401" r:id="rId27"/>
    <p:sldId id="490" r:id="rId28"/>
    <p:sldId id="491" r:id="rId29"/>
    <p:sldId id="489" r:id="rId30"/>
    <p:sldId id="500" r:id="rId31"/>
    <p:sldId id="348" r:id="rId32"/>
  </p:sldIdLst>
  <p:sldSz cx="9144000" cy="5143500" type="screen16x9"/>
  <p:notesSz cx="6858000" cy="91440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5C5"/>
    <a:srgbClr val="FF3F3F"/>
    <a:srgbClr val="194A96"/>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95" autoAdjust="0"/>
    <p:restoredTop sz="94660"/>
  </p:normalViewPr>
  <p:slideViewPr>
    <p:cSldViewPr snapToGrid="0" showGuides="1">
      <p:cViewPr varScale="1">
        <p:scale>
          <a:sx n="150" d="100"/>
          <a:sy n="150" d="100"/>
        </p:scale>
        <p:origin x="642" y="108"/>
      </p:cViewPr>
      <p:guideLst>
        <p:guide orient="horz" pos="1609"/>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2025/5/30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111293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BB0BF97-9FE3-4597-AC51-C65A1915AF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3" name="Footer Placeholder 4">
            <a:extLst>
              <a:ext uri="{FF2B5EF4-FFF2-40B4-BE49-F238E27FC236}">
                <a16:creationId xmlns:a16="http://schemas.microsoft.com/office/drawing/2014/main" id="{C4B32133-725C-4CDB-A599-08805ED905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a:extLst>
              <a:ext uri="{FF2B5EF4-FFF2-40B4-BE49-F238E27FC236}">
                <a16:creationId xmlns:a16="http://schemas.microsoft.com/office/drawing/2014/main" id="{F9CAA301-A97F-4465-91EF-7EE0FB5582E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a:extLst>
              <a:ext uri="{FF2B5EF4-FFF2-40B4-BE49-F238E27FC236}">
                <a16:creationId xmlns:a16="http://schemas.microsoft.com/office/drawing/2014/main" id="{F0E70BA5-C075-47B0-9E96-8C4BB2756F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5" name="Footer Placeholder 4">
            <a:extLst>
              <a:ext uri="{FF2B5EF4-FFF2-40B4-BE49-F238E27FC236}">
                <a16:creationId xmlns:a16="http://schemas.microsoft.com/office/drawing/2014/main" id="{144D5350-E2F1-45CA-A1E0-A048D2918F6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a:extLst>
              <a:ext uri="{FF2B5EF4-FFF2-40B4-BE49-F238E27FC236}">
                <a16:creationId xmlns:a16="http://schemas.microsoft.com/office/drawing/2014/main" id="{63D69EA7-A868-4421-B310-BA26FC6AAD4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a:extLst>
              <a:ext uri="{FF2B5EF4-FFF2-40B4-BE49-F238E27FC236}">
                <a16:creationId xmlns:a16="http://schemas.microsoft.com/office/drawing/2014/main" id="{1B7F4C54-B500-43BB-A3D7-59B9660D6E7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6" name="Footer Placeholder 4">
            <a:extLst>
              <a:ext uri="{FF2B5EF4-FFF2-40B4-BE49-F238E27FC236}">
                <a16:creationId xmlns:a16="http://schemas.microsoft.com/office/drawing/2014/main" id="{36655510-19BF-488F-8224-6CDB006484D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a:extLst>
              <a:ext uri="{FF2B5EF4-FFF2-40B4-BE49-F238E27FC236}">
                <a16:creationId xmlns:a16="http://schemas.microsoft.com/office/drawing/2014/main" id="{21A52DB9-B461-4E23-8803-0D3241BECA6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6087F590-C63B-442B-BCF6-23EC57133B3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8" name="Footer Placeholder 4">
            <a:extLst>
              <a:ext uri="{FF2B5EF4-FFF2-40B4-BE49-F238E27FC236}">
                <a16:creationId xmlns:a16="http://schemas.microsoft.com/office/drawing/2014/main" id="{F7F3970F-CB22-4181-804F-ADC5D1984A3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a:extLst>
              <a:ext uri="{FF2B5EF4-FFF2-40B4-BE49-F238E27FC236}">
                <a16:creationId xmlns:a16="http://schemas.microsoft.com/office/drawing/2014/main" id="{B97E6335-7C8D-4A10-815B-3B8EA944AB5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defTabSz="685800" fontAlgn="base">
              <a:spcBef>
                <a:spcPct val="0"/>
              </a:spcBef>
              <a:spcAft>
                <a:spcPct val="0"/>
              </a:spcAft>
              <a:defRPr/>
            </a:pPr>
            <a:fld id="{8ADE3CA4-4C87-4312-9645-B64C857233C5}" type="datetime1">
              <a:rPr lang="zh-CN" altLang="en-US" sz="750" smtClean="0">
                <a:solidFill>
                  <a:schemeClr val="tx1"/>
                </a:solidFill>
                <a:latin typeface="Arial" panose="020B0604020202020204" pitchFamily="34" charset="0"/>
                <a:ea typeface="宋体" panose="02010600030101010101" pitchFamily="2" charset="-122"/>
              </a:rPr>
              <a:pPr defTabSz="685800" fontAlgn="base">
                <a:spcBef>
                  <a:spcPct val="0"/>
                </a:spcBef>
                <a:spcAft>
                  <a:spcPct val="0"/>
                </a:spcAft>
                <a:defRPr/>
              </a:pPr>
              <a:t>2025/5/30</a:t>
            </a:fld>
            <a:endParaRPr lang="en-US" altLang="zh-CN" sz="750">
              <a:solidFill>
                <a:schemeClr val="tx1"/>
              </a:solidFill>
              <a:latin typeface="Arial" panose="020B0604020202020204" pitchFamily="34" charset="0"/>
              <a:ea typeface="宋体" panose="02010600030101010101" pitchFamily="2" charset="-122"/>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smtClean="0">
                <a:latin typeface="Arial" panose="020B0604020202020204" pitchFamily="34" charset="0"/>
              </a:rPr>
              <a:t>‹#›</a:t>
            </a:fld>
            <a:endParaRPr lang="en-US" altLang="zh-CN" sz="750" dirty="0">
              <a:latin typeface="Arial" panose="020B0604020202020204" pitchFamily="34" charset="0"/>
            </a:endParaRPr>
          </a:p>
        </p:txBody>
      </p:sp>
    </p:spTree>
    <p:extLst>
      <p:ext uri="{BB962C8B-B14F-4D97-AF65-F5344CB8AC3E}">
        <p14:creationId xmlns:p14="http://schemas.microsoft.com/office/powerpoint/2010/main" val="1546812911"/>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9.png"/><Relationship Id="rId5" Type="http://schemas.openxmlformats.org/officeDocument/2006/relationships/image" Target="../media/image7.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slideLayout" Target="../slideLayouts/slideLayout1.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27.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31.xml"/><Relationship Id="rId7" Type="http://schemas.openxmlformats.org/officeDocument/2006/relationships/notesSlide" Target="../notesSlides/notesSlide3.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Layout" Target="../slideLayouts/slideLayout1.xml"/><Relationship Id="rId5" Type="http://schemas.openxmlformats.org/officeDocument/2006/relationships/tags" Target="../tags/tag33.xml"/><Relationship Id="rId10" Type="http://schemas.openxmlformats.org/officeDocument/2006/relationships/image" Target="../media/image32.svg"/><Relationship Id="rId4" Type="http://schemas.openxmlformats.org/officeDocument/2006/relationships/tags" Target="../tags/tag32.xml"/><Relationship Id="rId9" Type="http://schemas.openxmlformats.org/officeDocument/2006/relationships/image" Target="../media/image31.png"/></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36.xml"/><Relationship Id="rId7"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s>
</file>

<file path=ppt/slides/_rels/slide29.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18" Type="http://schemas.openxmlformats.org/officeDocument/2006/relationships/slideLayout" Target="../slideLayouts/slideLayout1.xml"/><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tags" Target="../tags/tag51.xml"/><Relationship Id="rId17" Type="http://schemas.openxmlformats.org/officeDocument/2006/relationships/tags" Target="../tags/tag56.xml"/><Relationship Id="rId2" Type="http://schemas.openxmlformats.org/officeDocument/2006/relationships/tags" Target="../tags/tag41.xml"/><Relationship Id="rId16" Type="http://schemas.openxmlformats.org/officeDocument/2006/relationships/tags" Target="../tags/tag55.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5" Type="http://schemas.openxmlformats.org/officeDocument/2006/relationships/tags" Target="../tags/tag44.xml"/><Relationship Id="rId15" Type="http://schemas.openxmlformats.org/officeDocument/2006/relationships/tags" Target="../tags/tag54.xml"/><Relationship Id="rId10" Type="http://schemas.openxmlformats.org/officeDocument/2006/relationships/tags" Target="../tags/tag49.xml"/><Relationship Id="rId19" Type="http://schemas.openxmlformats.org/officeDocument/2006/relationships/image" Target="../media/image27.png"/><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tags" Target="../tags/tag5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1.xml"/><Relationship Id="rId1" Type="http://schemas.openxmlformats.org/officeDocument/2006/relationships/tags" Target="../tags/tag5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1047939"/>
            <a:ext cx="5280758" cy="95410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altLang="zh-CN"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信息安全导论</a:t>
            </a:r>
            <a:r>
              <a:rPr lang="en-US" altLang="zh-CN"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第十</a:t>
            </a:r>
            <a:r>
              <a:rPr lang="zh-CN" altLang="en-US" sz="2800" b="1" kern="100" noProof="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章第四节</a:t>
            </a:r>
            <a:endParaRPr lang="en-US" altLang="zh-CN"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           椭圆曲线密码体制</a:t>
            </a:r>
            <a:endPar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1944162" y="890996"/>
            <a:ext cx="1591854" cy="1591854"/>
            <a:chOff x="3893848" y="1276412"/>
            <a:chExt cx="1356304" cy="1356304"/>
          </a:xfrm>
        </p:grpSpPr>
        <p:sp>
          <p:nvSpPr>
            <p:cNvPr id="3" name="椭圆 2"/>
            <p:cNvSpPr/>
            <p:nvPr/>
          </p:nvSpPr>
          <p:spPr>
            <a:xfrm>
              <a:off x="3893848" y="1276412"/>
              <a:ext cx="1356304" cy="1356304"/>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31" name="Freeform 5"/>
            <p:cNvSpPr>
              <a:spLocks noEditPoints="1"/>
            </p:cNvSpPr>
            <p:nvPr/>
          </p:nvSpPr>
          <p:spPr bwMode="auto">
            <a:xfrm>
              <a:off x="4008813" y="1508646"/>
              <a:ext cx="1126374" cy="827336"/>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grpSp>
      <p:sp>
        <p:nvSpPr>
          <p:cNvPr id="60" name="TextBox 6"/>
          <p:cNvSpPr txBox="1"/>
          <p:nvPr/>
        </p:nvSpPr>
        <p:spPr>
          <a:xfrm>
            <a:off x="4176431" y="2571750"/>
            <a:ext cx="3430597" cy="1210307"/>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主讲人：王灿辉</a:t>
            </a:r>
            <a:endParaRPr lang="en-US" altLang="zh-CN" sz="1600" b="1" dirty="0">
              <a:solidFill>
                <a:schemeClr val="accent1"/>
              </a:solidFill>
              <a:latin typeface="楷体" panose="02010609060101010101" pitchFamily="49" charset="-122"/>
              <a:ea typeface="楷体" panose="02010609060101010101" pitchFamily="49" charset="-122"/>
            </a:endParaRP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邮箱：</a:t>
            </a:r>
            <a:r>
              <a:rPr lang="en-US" altLang="zh-CN" sz="16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chwang@hqu.edu.cn</a:t>
            </a: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日期：</a:t>
            </a:r>
            <a:r>
              <a:rPr lang="en-US" altLang="zh-CN" sz="1600" b="1" dirty="0">
                <a:solidFill>
                  <a:schemeClr val="accent1"/>
                </a:solidFill>
                <a:latin typeface="楷体" panose="02010609060101010101" pitchFamily="49" charset="-122"/>
                <a:ea typeface="楷体" panose="02010609060101010101" pitchFamily="49" charset="-122"/>
              </a:rPr>
              <a:t>2025</a:t>
            </a:r>
            <a:r>
              <a:rPr lang="zh-CN" altLang="en-US" sz="1600" b="1" dirty="0">
                <a:solidFill>
                  <a:schemeClr val="accent1"/>
                </a:solidFill>
                <a:latin typeface="楷体" panose="02010609060101010101" pitchFamily="49" charset="-122"/>
                <a:ea typeface="楷体" panose="02010609060101010101" pitchFamily="49" charset="-122"/>
              </a:rPr>
              <a:t>年</a:t>
            </a:r>
            <a:r>
              <a:rPr lang="en-US" altLang="zh-CN" sz="1600" b="1" dirty="0">
                <a:solidFill>
                  <a:schemeClr val="accent1"/>
                </a:solidFill>
                <a:latin typeface="楷体" panose="02010609060101010101" pitchFamily="49" charset="-122"/>
                <a:ea typeface="楷体" panose="02010609060101010101" pitchFamily="49" charset="-122"/>
              </a:rPr>
              <a:t>5</a:t>
            </a:r>
            <a:r>
              <a:rPr lang="zh-CN" altLang="en-US" sz="1600" b="1" dirty="0">
                <a:solidFill>
                  <a:schemeClr val="accent1"/>
                </a:solidFill>
                <a:latin typeface="楷体" panose="02010609060101010101" pitchFamily="49" charset="-122"/>
                <a:ea typeface="楷体" panose="02010609060101010101" pitchFamily="49" charset="-122"/>
              </a:rPr>
              <a:t>月</a:t>
            </a:r>
            <a:r>
              <a:rPr lang="en-US" altLang="zh-CN" sz="1600" b="1" dirty="0">
                <a:solidFill>
                  <a:schemeClr val="accent1"/>
                </a:solidFill>
                <a:latin typeface="楷体" panose="02010609060101010101" pitchFamily="49" charset="-122"/>
                <a:ea typeface="楷体" panose="02010609060101010101" pitchFamily="49" charset="-122"/>
              </a:rPr>
              <a:t>21</a:t>
            </a:r>
            <a:r>
              <a:rPr lang="zh-CN" altLang="en-US" sz="1600" b="1" dirty="0">
                <a:solidFill>
                  <a:schemeClr val="accent1"/>
                </a:solidFill>
                <a:latin typeface="楷体" panose="02010609060101010101" pitchFamily="49" charset="-122"/>
                <a:ea typeface="楷体" panose="02010609060101010101" pitchFamily="49" charset="-122"/>
              </a:rPr>
              <a:t>号</a:t>
            </a:r>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E693F8E7-65D9-41BF-A316-FE75B538812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56B7A2EA-C42D-48D2-A5E7-45C0B7A809FD}"/>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94055" y="1716405"/>
            <a:ext cx="7710805" cy="1379865"/>
          </a:xfrm>
          <a:prstGeom prst="rect">
            <a:avLst/>
          </a:prstGeom>
        </p:spPr>
        <p:txBody>
          <a:bodyPr wrap="square">
            <a:spAutoFit/>
          </a:bodyPr>
          <a:lstStyle/>
          <a:p>
            <a:pPr marL="342900" indent="-342900" algn="just" defTabSz="266700">
              <a:buFont typeface="+mj-lt"/>
              <a:buAutoNum type="arabicPeriod"/>
            </a:pPr>
            <a:r>
              <a:rPr lang="zh-CN" altLang="en-US" dirty="0">
                <a:latin typeface="楷体" panose="02010609060101010101" charset="-122"/>
                <a:ea typeface="楷体" panose="02010609060101010101" charset="-122"/>
                <a:cs typeface="楷体" panose="02010609060101010101" charset="-122"/>
              </a:rPr>
              <a:t>密码编码学与网络安全：原理与实践（第八版），</a:t>
            </a:r>
            <a:r>
              <a:rPr lang="en-US" altLang="zh-CN" dirty="0">
                <a:latin typeface="Times New Roman" panose="02020603050405020304" pitchFamily="18" charset="0"/>
                <a:ea typeface="楷体" panose="02010609060101010101" charset="-122"/>
                <a:cs typeface="Times New Roman" panose="02020603050405020304" pitchFamily="18" charset="0"/>
              </a:rPr>
              <a:t>William Stallings</a:t>
            </a:r>
            <a:r>
              <a:rPr lang="zh-CN" altLang="en-US" dirty="0">
                <a:latin typeface="楷体" panose="02010609060101010101" charset="-122"/>
                <a:ea typeface="楷体" panose="02010609060101010101" charset="-122"/>
                <a:cs typeface="楷体" panose="02010609060101010101" charset="-122"/>
              </a:rPr>
              <a:t>，电子工业出版社，</a:t>
            </a:r>
            <a:r>
              <a:rPr lang="en-US" altLang="zh-CN" dirty="0">
                <a:latin typeface="楷体" panose="02010609060101010101" charset="-122"/>
                <a:ea typeface="楷体" panose="02010609060101010101" charset="-122"/>
                <a:cs typeface="楷体" panose="02010609060101010101" charset="-122"/>
              </a:rPr>
              <a:t>2021.4.</a:t>
            </a:r>
          </a:p>
          <a:p>
            <a:pPr marL="342900" indent="-342900" algn="just" defTabSz="266700">
              <a:spcBef>
                <a:spcPts val="1400"/>
              </a:spcBef>
              <a:buFont typeface="+mj-lt"/>
              <a:buAutoNum type="arabicPeriod"/>
            </a:pPr>
            <a:r>
              <a:rPr lang="zh-CN" altLang="en-US" sz="1800" dirty="0">
                <a:latin typeface="楷体" panose="02010609060101010101" charset="-122"/>
                <a:ea typeface="楷体" panose="02010609060101010101" charset="-122"/>
                <a:cs typeface="楷体" panose="02010609060101010101" charset="-122"/>
              </a:rPr>
              <a:t>公钥密码学的数学基础，王小云，科学出版社，</a:t>
            </a:r>
            <a:r>
              <a:rPr lang="en-US" altLang="zh-CN" sz="1800" dirty="0">
                <a:latin typeface="楷体" panose="02010609060101010101" charset="-122"/>
                <a:ea typeface="楷体" panose="02010609060101010101" charset="-122"/>
                <a:cs typeface="楷体" panose="02010609060101010101" charset="-122"/>
              </a:rPr>
              <a:t>2022</a:t>
            </a:r>
            <a:r>
              <a:rPr lang="en-US" altLang="zh-CN" dirty="0">
                <a:latin typeface="楷体" panose="02010609060101010101" charset="-122"/>
                <a:ea typeface="楷体" panose="02010609060101010101" charset="-122"/>
                <a:cs typeface="楷体" panose="02010609060101010101" charset="-122"/>
              </a:rPr>
              <a:t>.</a:t>
            </a:r>
            <a:endParaRPr lang="zh-CN" altLang="en-US" sz="1800" dirty="0">
              <a:latin typeface="楷体" panose="02010609060101010101" charset="-122"/>
              <a:ea typeface="楷体" panose="02010609060101010101" charset="-122"/>
              <a:cs typeface="楷体" panose="02010609060101010101" charset="-122"/>
            </a:endParaRPr>
          </a:p>
          <a:p>
            <a:pPr marL="342900" indent="-342900" algn="just" defTabSz="266700">
              <a:buFont typeface="+mj-lt"/>
              <a:buAutoNum type="arabicPeriod"/>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课程教材</a:t>
            </a:r>
          </a:p>
        </p:txBody>
      </p:sp>
      <p:sp>
        <p:nvSpPr>
          <p:cNvPr id="14" name="TextBox 7">
            <a:extLst>
              <a:ext uri="{FF2B5EF4-FFF2-40B4-BE49-F238E27FC236}">
                <a16:creationId xmlns:a16="http://schemas.microsoft.com/office/drawing/2014/main" id="{D38FE41E-AC1D-4824-9614-F33621996DE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课程概况</a:t>
            </a:r>
          </a:p>
        </p:txBody>
      </p:sp>
      <p:sp>
        <p:nvSpPr>
          <p:cNvPr id="15" name="TextBox 9">
            <a:extLst>
              <a:ext uri="{FF2B5EF4-FFF2-40B4-BE49-F238E27FC236}">
                <a16:creationId xmlns:a16="http://schemas.microsoft.com/office/drawing/2014/main" id="{8CBA6B20-8342-4BB2-8269-26F9377ACF4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6" name="TextBox 10">
            <a:extLst>
              <a:ext uri="{FF2B5EF4-FFF2-40B4-BE49-F238E27FC236}">
                <a16:creationId xmlns:a16="http://schemas.microsoft.com/office/drawing/2014/main" id="{62CEA586-B2A8-450D-8494-7C0E6B353602}"/>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17" name="TextBox 11">
            <a:extLst>
              <a:ext uri="{FF2B5EF4-FFF2-40B4-BE49-F238E27FC236}">
                <a16:creationId xmlns:a16="http://schemas.microsoft.com/office/drawing/2014/main" id="{CA80DEAD-4182-4FB5-A1D0-DA2337E4D57B}"/>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 name="矩形 3">
            <a:extLst>
              <a:ext uri="{FF2B5EF4-FFF2-40B4-BE49-F238E27FC236}">
                <a16:creationId xmlns:a16="http://schemas.microsoft.com/office/drawing/2014/main" id="{C5248083-EC84-4B97-A52A-5795F75C618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A16096E-8D5F-4966-BC92-9F8AFAE38E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sp>
        <p:nvSpPr>
          <p:cNvPr id="26" name="灯片编号占位符 7">
            <a:extLst>
              <a:ext uri="{FF2B5EF4-FFF2-40B4-BE49-F238E27FC236}">
                <a16:creationId xmlns:a16="http://schemas.microsoft.com/office/drawing/2014/main" id="{C826D1B0-F9B4-4234-8078-3123476BCF8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charset="-122"/>
                <a:ea typeface="楷体" panose="02010609060101010101" charset="-122"/>
                <a:cs typeface="楷体" panose="02010609060101010101" charset="-122"/>
              </a:rPr>
              <a:t>公钥密码</a:t>
            </a:r>
            <a:r>
              <a:rPr lang="zh-CN" altLang="en-US" dirty="0">
                <a:latin typeface="楷体" panose="02010609060101010101" charset="-122"/>
                <a:ea typeface="楷体" panose="02010609060101010101" charset="-122"/>
                <a:cs typeface="楷体" panose="02010609060101010101" charset="-122"/>
              </a:rPr>
              <a:t>方案是安全的，仅当公钥的真实性能够得到保证。</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a:t>
            </a:r>
          </a:p>
        </p:txBody>
      </p:sp>
      <p:sp>
        <p:nvSpPr>
          <p:cNvPr id="20" name="文本框 19">
            <a:extLst>
              <a:ext uri="{FF2B5EF4-FFF2-40B4-BE49-F238E27FC236}">
                <a16:creationId xmlns:a16="http://schemas.microsoft.com/office/drawing/2014/main" id="{3B8876A8-641C-4028-9A46-36EFF3320198}"/>
              </a:ext>
            </a:extLst>
          </p:cNvPr>
          <p:cNvSpPr txBox="1"/>
          <p:nvPr/>
        </p:nvSpPr>
        <p:spPr>
          <a:xfrm>
            <a:off x="748347" y="2349927"/>
            <a:ext cx="7710805" cy="92333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dirty="0">
                <a:latin typeface="楷体" panose="02010609060101010101" charset="-122"/>
                <a:ea typeface="楷体" panose="02010609060101010101" charset="-122"/>
                <a:cs typeface="楷体" panose="02010609060101010101" charset="-122"/>
              </a:rPr>
              <a:t>一个简单的</a:t>
            </a:r>
            <a:r>
              <a:rPr lang="zh-CN" altLang="en-US" sz="1800" b="1" dirty="0">
                <a:solidFill>
                  <a:schemeClr val="accent1"/>
                </a:solidFill>
                <a:latin typeface="楷体" panose="02010609060101010101" charset="-122"/>
                <a:ea typeface="楷体" panose="02010609060101010101" charset="-122"/>
                <a:cs typeface="楷体" panose="02010609060101010101" charset="-122"/>
              </a:rPr>
              <a:t>公钥算法</a:t>
            </a:r>
            <a:r>
              <a:rPr lang="zh-CN" altLang="en-US" sz="1800" dirty="0">
                <a:latin typeface="楷体" panose="02010609060101010101" charset="-122"/>
                <a:ea typeface="楷体" panose="02010609060101010101" charset="-122"/>
                <a:cs typeface="楷体" panose="02010609060101010101" charset="-122"/>
              </a:rPr>
              <a:t>是</a:t>
            </a:r>
            <a:r>
              <a:rPr lang="en-US" altLang="zh-CN" sz="1800" dirty="0">
                <a:latin typeface="Times New Roman" panose="02020603050405020304" pitchFamily="18" charset="0"/>
                <a:ea typeface="楷体" panose="02010609060101010101" charset="-122"/>
                <a:cs typeface="Times New Roman" panose="02020603050405020304" pitchFamily="18" charset="0"/>
              </a:rPr>
              <a:t>Diffie-Hellman</a:t>
            </a:r>
            <a:r>
              <a:rPr lang="zh-CN" altLang="en-US" sz="1800" dirty="0">
                <a:latin typeface="楷体" panose="02010609060101010101" charset="-122"/>
                <a:ea typeface="楷体" panose="02010609060101010101" charset="-122"/>
                <a:cs typeface="楷体" panose="02010609060101010101" charset="-122"/>
              </a:rPr>
              <a:t>密钥交换协议。这个协议使得通信双方利用</a:t>
            </a:r>
            <a:r>
              <a:rPr lang="zh-CN" altLang="en-US" sz="1800" b="1" dirty="0">
                <a:solidFill>
                  <a:schemeClr val="accent1"/>
                </a:solidFill>
                <a:latin typeface="楷体" panose="02010609060101010101" charset="-122"/>
                <a:ea typeface="楷体" panose="02010609060101010101" charset="-122"/>
                <a:cs typeface="楷体" panose="02010609060101010101" charset="-122"/>
              </a:rPr>
              <a:t>离散对数问题</a:t>
            </a:r>
            <a:r>
              <a:rPr lang="zh-CN" altLang="en-US" sz="1800" dirty="0">
                <a:latin typeface="楷体" panose="02010609060101010101" charset="-122"/>
                <a:ea typeface="楷体" panose="02010609060101010101" charset="-122"/>
                <a:cs typeface="楷体" panose="02010609060101010101" charset="-122"/>
              </a:rPr>
              <a:t>的公钥算法协商私密密钥。</a:t>
            </a:r>
            <a:r>
              <a:rPr lang="zh-CN" altLang="en-US" dirty="0">
                <a:latin typeface="楷体" panose="02010609060101010101" charset="-122"/>
                <a:ea typeface="楷体" panose="02010609060101010101" charset="-122"/>
                <a:cs typeface="楷体" panose="02010609060101010101" charset="-122"/>
              </a:rPr>
              <a:t>该</a:t>
            </a:r>
            <a:r>
              <a:rPr lang="zh-CN" altLang="en-US" sz="1800" dirty="0">
                <a:latin typeface="楷体" panose="02010609060101010101" charset="-122"/>
                <a:ea typeface="楷体" panose="02010609060101010101" charset="-122"/>
                <a:cs typeface="楷体" panose="02010609060101010101" charset="-122"/>
              </a:rPr>
              <a:t>协议是安全的，仅当通信双方的真实性能够得到保证。</a:t>
            </a:r>
          </a:p>
        </p:txBody>
      </p:sp>
      <p:sp>
        <p:nvSpPr>
          <p:cNvPr id="25" name="矩形: 圆角 24">
            <a:extLst>
              <a:ext uri="{FF2B5EF4-FFF2-40B4-BE49-F238E27FC236}">
                <a16:creationId xmlns:a16="http://schemas.microsoft.com/office/drawing/2014/main" id="{B27F9515-0F49-481C-B2B9-984ADB483D3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782FFB7F-333A-46B4-91AE-3C80FB2BBF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TextBox 7">
            <a:extLst>
              <a:ext uri="{FF2B5EF4-FFF2-40B4-BE49-F238E27FC236}">
                <a16:creationId xmlns:a16="http://schemas.microsoft.com/office/drawing/2014/main" id="{6EF39A99-79D9-4012-95C9-126829C0945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课程概况</a:t>
            </a:r>
          </a:p>
        </p:txBody>
      </p:sp>
      <p:sp>
        <p:nvSpPr>
          <p:cNvPr id="29" name="TextBox 9">
            <a:extLst>
              <a:ext uri="{FF2B5EF4-FFF2-40B4-BE49-F238E27FC236}">
                <a16:creationId xmlns:a16="http://schemas.microsoft.com/office/drawing/2014/main" id="{DB390145-9C0E-4457-90E7-5602C2BA8DD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30" name="TextBox 10">
            <a:extLst>
              <a:ext uri="{FF2B5EF4-FFF2-40B4-BE49-F238E27FC236}">
                <a16:creationId xmlns:a16="http://schemas.microsoft.com/office/drawing/2014/main" id="{C9F3CBE9-0427-4DB1-BA4F-4CA9877A8DA2}"/>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1" name="TextBox 11">
            <a:extLst>
              <a:ext uri="{FF2B5EF4-FFF2-40B4-BE49-F238E27FC236}">
                <a16:creationId xmlns:a16="http://schemas.microsoft.com/office/drawing/2014/main" id="{FC951872-D023-4B78-8140-CA1C39F669C6}"/>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2" name="矩形 31">
            <a:extLst>
              <a:ext uri="{FF2B5EF4-FFF2-40B4-BE49-F238E27FC236}">
                <a16:creationId xmlns:a16="http://schemas.microsoft.com/office/drawing/2014/main" id="{63B79503-8789-486D-992F-FA41F0436A18}"/>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6EBA0541-8F28-47B4-AA9D-D79145D29CCB}"/>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sp>
        <p:nvSpPr>
          <p:cNvPr id="34" name="灯片编号占位符 7">
            <a:extLst>
              <a:ext uri="{FF2B5EF4-FFF2-40B4-BE49-F238E27FC236}">
                <a16:creationId xmlns:a16="http://schemas.microsoft.com/office/drawing/2014/main" id="{080C8AB5-8E13-4704-8BAF-50024EC0CFDE}"/>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82230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07776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椭圆曲线密码编码学</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Elliptic Curve Cryptography</a:t>
                </a:r>
                <a:r>
                  <a:rPr lang="zh-CN" altLang="en-US" dirty="0">
                    <a:latin typeface="楷体" panose="02010609060101010101" charset="-122"/>
                    <a:ea typeface="楷体" panose="02010609060101010101" charset="-122"/>
                    <a:cs typeface="楷体" panose="02010609060101010101" charset="-122"/>
                  </a:rPr>
                  <a:t>，缩写：</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en-US" altLang="zh-CN"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使用椭圆曲线密码系统</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，可以达到如</a:t>
                </a:r>
                <a:r>
                  <a:rPr lang="en-US" altLang="zh-CN" dirty="0">
                    <a:latin typeface="Times New Roman" panose="02020603050405020304" pitchFamily="18" charset="0"/>
                    <a:ea typeface="楷体" panose="02010609060101010101" charset="-122"/>
                    <a:cs typeface="Times New Roman" panose="02020603050405020304" pitchFamily="18" charset="0"/>
                  </a:rPr>
                  <a:t>Rivest-Shamir-Adleman(RSA)</a:t>
                </a:r>
                <a:r>
                  <a:rPr lang="en-US" altLang="zh-CN" dirty="0">
                    <a:latin typeface="楷体" panose="02010609060101010101" charset="-122"/>
                    <a:ea typeface="楷体" panose="02010609060101010101" charset="-122"/>
                    <a:cs typeface="楷体" panose="02010609060101010101" charset="-122"/>
                  </a:rPr>
                  <a:t>,</a:t>
                </a:r>
                <a:r>
                  <a:rPr lang="en-US" altLang="zh-CN" sz="1800" dirty="0">
                    <a:latin typeface="Times New Roman" panose="02020603050405020304" pitchFamily="18" charset="0"/>
                    <a:ea typeface="楷体" panose="02010609060101010101" charset="-122"/>
                    <a:cs typeface="Times New Roman" panose="02020603050405020304" pitchFamily="18" charset="0"/>
                  </a:rPr>
                  <a:t> Diffie-Hellman</a:t>
                </a:r>
                <a:r>
                  <a:rPr lang="zh-CN" altLang="en-US" b="1" dirty="0">
                    <a:solidFill>
                      <a:schemeClr val="accent1"/>
                    </a:solidFill>
                    <a:latin typeface="楷体" panose="02010609060101010101" charset="-122"/>
                    <a:ea typeface="楷体" panose="02010609060101010101" charset="-122"/>
                    <a:cs typeface="楷体" panose="02010609060101010101" charset="-122"/>
                  </a:rPr>
                  <a:t>同样的安全但位数要小得多</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椭圆曲线并非椭圆，它指的是由魏尔斯特拉斯</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Weierstrass</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方程所确定的平面曲线：</a:t>
                </a:r>
                <a14:m>
                  <m:oMath xmlns:m="http://schemas.openxmlformats.org/officeDocument/2006/math">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𝑎𝑥𝑦</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𝑏𝑦</m:t>
                    </m:r>
                    <m:r>
                      <a:rPr lang="en-US" altLang="zh-CN"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𝑐</m:t>
                        </m:r>
                        <m:r>
                          <a:rPr lang="en-US" altLang="zh-CN" i="1">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𝑑𝑥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𝑒</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一般形式：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𝑦</m:t>
                        </m:r>
                      </m:e>
                      <m:sup>
                        <m:r>
                          <a:rPr lang="en-US" altLang="zh-CN" b="0" i="1" smtClean="0">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𝑥</m:t>
                        </m:r>
                      </m:e>
                      <m:sup>
                        <m:r>
                          <a:rPr lang="en-US" altLang="zh-CN" b="0" i="1" smtClean="0">
                            <a:solidFill>
                              <a:schemeClr val="accent1"/>
                            </a:solidFill>
                            <a:latin typeface="Cambria Math" panose="02040503050406030204" pitchFamily="18" charset="0"/>
                            <a:ea typeface="楷体" panose="02010609060101010101" charset="-122"/>
                          </a:rPr>
                          <m:t>3</m:t>
                        </m:r>
                      </m:sup>
                    </m:sSup>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𝑎𝑥</m:t>
                    </m:r>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𝑏</m:t>
                    </m:r>
                  </m:oMath>
                </a14:m>
                <a:endParaRPr lang="en-US" altLang="zh-CN" dirty="0">
                  <a:solidFill>
                    <a:schemeClr val="accent1"/>
                  </a:solidFill>
                  <a:latin typeface="楷体" panose="02010609060101010101" charset="-122"/>
                  <a:ea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满足上述方程的数对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𝑥</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𝑦</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称为椭圆曲线</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上的点。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同时定义无穷点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point at infinity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或零点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zero point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的</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sym typeface="Wingdings 2" panose="05020102010507070707" pitchFamily="18" charset="2"/>
                      </a:rPr>
                      <m:t>O</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077766"/>
              </a:xfrm>
              <a:prstGeom prst="rect">
                <a:avLst/>
              </a:prstGeom>
              <a:blipFill>
                <a:blip r:embed="rId2"/>
                <a:stretch>
                  <a:fillRect l="-474" t="-1386" r="-71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spTree>
    <p:extLst>
      <p:ext uri="{BB962C8B-B14F-4D97-AF65-F5344CB8AC3E}">
        <p14:creationId xmlns:p14="http://schemas.microsoft.com/office/powerpoint/2010/main" val="2256397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50865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具有不同根的条件一般形式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−4</m:t>
                    </m:r>
                    <m:r>
                      <a:rPr lang="en-US" altLang="zh-CN" b="0" i="1" smtClean="0">
                        <a:latin typeface="Cambria Math" panose="02040503050406030204" pitchFamily="18" charset="0"/>
                        <a:ea typeface="楷体" panose="02010609060101010101" charset="-122"/>
                        <a:cs typeface="楷体" panose="02010609060101010101" charset="-122"/>
                      </a:rPr>
                      <m:t>𝑥</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508653"/>
              </a:xfrm>
              <a:prstGeom prst="rect">
                <a:avLst/>
              </a:prstGeom>
              <a:blipFill>
                <a:blip r:embed="rId2"/>
                <a:stretch>
                  <a:fillRect l="-474" t="-868"/>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pic>
        <p:nvPicPr>
          <p:cNvPr id="16" name="Picture 4">
            <a:extLst>
              <a:ext uri="{FF2B5EF4-FFF2-40B4-BE49-F238E27FC236}">
                <a16:creationId xmlns:a16="http://schemas.microsoft.com/office/drawing/2014/main" id="{271B9484-7A22-4F3B-A39C-B473E0BAC97D}"/>
              </a:ext>
            </a:extLst>
          </p:cNvPr>
          <p:cNvPicPr>
            <a:picLocks noChangeAspect="1"/>
          </p:cNvPicPr>
          <p:nvPr/>
        </p:nvPicPr>
        <p:blipFill>
          <a:blip r:embed="rId3"/>
          <a:stretch>
            <a:fillRect/>
          </a:stretch>
        </p:blipFill>
        <p:spPr>
          <a:xfrm>
            <a:off x="956211" y="1726779"/>
            <a:ext cx="1756410" cy="533887"/>
          </a:xfrm>
          <a:prstGeom prst="rect">
            <a:avLst/>
          </a:prstGeom>
          <a:noFill/>
          <a:ln w="9525">
            <a:noFill/>
          </a:ln>
        </p:spPr>
      </p:pic>
      <p:pic>
        <p:nvPicPr>
          <p:cNvPr id="17" name="Picture 5">
            <a:extLst>
              <a:ext uri="{FF2B5EF4-FFF2-40B4-BE49-F238E27FC236}">
                <a16:creationId xmlns:a16="http://schemas.microsoft.com/office/drawing/2014/main" id="{6D729FCF-740D-4D5E-BD9C-B6A15817DCDF}"/>
              </a:ext>
            </a:extLst>
          </p:cNvPr>
          <p:cNvPicPr>
            <a:picLocks noChangeAspect="1"/>
          </p:cNvPicPr>
          <p:nvPr/>
        </p:nvPicPr>
        <p:blipFill>
          <a:blip r:embed="rId4"/>
          <a:stretch>
            <a:fillRect/>
          </a:stretch>
        </p:blipFill>
        <p:spPr>
          <a:xfrm>
            <a:off x="888473" y="2819627"/>
            <a:ext cx="1787360" cy="533887"/>
          </a:xfrm>
          <a:prstGeom prst="rect">
            <a:avLst/>
          </a:prstGeom>
          <a:noFill/>
          <a:ln w="9525">
            <a:noFill/>
          </a:ln>
        </p:spPr>
      </p:pic>
      <p:pic>
        <p:nvPicPr>
          <p:cNvPr id="19" name="Picture 7">
            <a:extLst>
              <a:ext uri="{FF2B5EF4-FFF2-40B4-BE49-F238E27FC236}">
                <a16:creationId xmlns:a16="http://schemas.microsoft.com/office/drawing/2014/main" id="{886E4CAE-9549-4771-9527-4B469517F242}"/>
              </a:ext>
            </a:extLst>
          </p:cNvPr>
          <p:cNvPicPr>
            <a:picLocks noChangeAspect="1"/>
          </p:cNvPicPr>
          <p:nvPr/>
        </p:nvPicPr>
        <p:blipFill>
          <a:blip r:embed="rId5"/>
          <a:stretch>
            <a:fillRect/>
          </a:stretch>
        </p:blipFill>
        <p:spPr>
          <a:xfrm>
            <a:off x="3949337" y="1144175"/>
            <a:ext cx="3385448" cy="3010463"/>
          </a:xfrm>
          <a:prstGeom prst="rect">
            <a:avLst/>
          </a:prstGeom>
          <a:noFill/>
          <a:ln w="9525">
            <a:noFill/>
          </a:ln>
        </p:spPr>
      </p:pic>
    </p:spTree>
    <p:extLst>
      <p:ext uri="{BB962C8B-B14F-4D97-AF65-F5344CB8AC3E}">
        <p14:creationId xmlns:p14="http://schemas.microsoft.com/office/powerpoint/2010/main" val="2179229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逆元：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d>
                      <m:dPr>
                        <m:ctrlPr>
                          <a:rPr lang="en-US" altLang="zh-CN" b="0" i="1" smtClean="0">
                            <a:latin typeface="Cambria Math" panose="02040503050406030204" pitchFamily="18" charset="0"/>
                            <a:ea typeface="楷体" panose="02010609060101010101" charset="-122"/>
                            <a:cs typeface="楷体" panose="02010609060101010101" charset="-122"/>
                          </a:rPr>
                        </m:ctrlPr>
                      </m:dPr>
                      <m:e>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e>
                    </m:d>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关于  轴对称点。</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p>
                      <m:sSupPr>
                        <m:ctrlPr>
                          <a:rPr lang="en-US" altLang="zh-CN" b="0"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𝑃</m:t>
                        </m:r>
                      </m:e>
                      <m:sup>
                        <m:r>
                          <a:rPr lang="en-US" altLang="zh-CN" b="0" i="1" smtClean="0">
                            <a:latin typeface="Cambria Math" panose="02040503050406030204" pitchFamily="18" charset="0"/>
                            <a:ea typeface="楷体" panose="02010609060101010101" charset="-122"/>
                            <a:cs typeface="楷体" panose="02010609060101010101" charset="-122"/>
                          </a:rPr>
                          <m:t>′</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单位元：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200876"/>
              </a:xfrm>
              <a:prstGeom prst="rect">
                <a:avLst/>
              </a:prstGeom>
              <a:blipFill>
                <a:blip r:embed="rId3"/>
                <a:stretch>
                  <a:fillRect l="-474" t="-95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单位元和逆元</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graphicFrame>
        <p:nvGraphicFramePr>
          <p:cNvPr id="4" name="对象 3">
            <a:extLst>
              <a:ext uri="{FF2B5EF4-FFF2-40B4-BE49-F238E27FC236}">
                <a16:creationId xmlns:a16="http://schemas.microsoft.com/office/drawing/2014/main" id="{C522B63E-BEEA-4979-8EBD-5E247510EDC8}"/>
              </a:ext>
            </a:extLst>
          </p:cNvPr>
          <p:cNvGraphicFramePr>
            <a:graphicFrameLocks noChangeAspect="1"/>
          </p:cNvGraphicFramePr>
          <p:nvPr>
            <p:extLst>
              <p:ext uri="{D42A27DB-BD31-4B8C-83A1-F6EECF244321}">
                <p14:modId xmlns:p14="http://schemas.microsoft.com/office/powerpoint/2010/main" val="2307741667"/>
              </p:ext>
            </p:extLst>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2159" name="Equation" r:id="rId4" imgW="107648" imgH="118790" progId="Equation.DSMT4">
                  <p:embed/>
                </p:oleObj>
              </mc:Choice>
              <mc:Fallback>
                <p:oleObj name="Equation" r:id="rId4" imgW="107648" imgH="118790" progId="Equation.DSMT4">
                  <p:embed/>
                  <p:pic>
                    <p:nvPicPr>
                      <p:cNvPr id="0" name=""/>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a:extLst>
              <a:ext uri="{FF2B5EF4-FFF2-40B4-BE49-F238E27FC236}">
                <a16:creationId xmlns:a16="http://schemas.microsoft.com/office/drawing/2014/main" id="{A9CC6141-38C7-4DA4-BE0F-13333B1C226C}"/>
              </a:ext>
            </a:extLst>
          </p:cNvPr>
          <p:cNvPicPr>
            <a:picLocks noChangeAspect="1"/>
          </p:cNvPicPr>
          <p:nvPr/>
        </p:nvPicPr>
        <p:blipFill>
          <a:blip r:embed="rId6"/>
          <a:stretch>
            <a:fillRect/>
          </a:stretch>
        </p:blipFill>
        <p:spPr>
          <a:xfrm>
            <a:off x="3838175" y="881905"/>
            <a:ext cx="3375425" cy="3277180"/>
          </a:xfrm>
          <a:prstGeom prst="rect">
            <a:avLst/>
          </a:prstGeom>
          <a:noFill/>
          <a:ln w="9525">
            <a:noFill/>
          </a:ln>
        </p:spPr>
      </p:pic>
    </p:spTree>
    <p:extLst>
      <p:ext uri="{BB962C8B-B14F-4D97-AF65-F5344CB8AC3E}">
        <p14:creationId xmlns:p14="http://schemas.microsoft.com/office/powerpoint/2010/main" val="3032212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4" y="1354656"/>
                <a:ext cx="8142661"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。具体地，加法规则如下：</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zh-CN" altLang="en-US" i="1">
                        <a:latin typeface="Cambria Math" panose="02040503050406030204" pitchFamily="18" charset="0"/>
                        <a:ea typeface="楷体" panose="02010609060101010101" charset="-122"/>
                        <a:cs typeface="楷体" panose="02010609060101010101" charset="-122"/>
                      </a:rPr>
                      <m:t>是</m:t>
                    </m:r>
                  </m:oMath>
                </a14:m>
                <a:r>
                  <a:rPr lang="zh-CN" altLang="en-US" dirty="0">
                    <a:latin typeface="楷体" panose="02010609060101010101" charset="-122"/>
                    <a:ea typeface="楷体" panose="02010609060101010101" charset="-122"/>
                    <a:cs typeface="楷体" panose="02010609060101010101" charset="-122"/>
                  </a:rPr>
                  <a:t>加法的单位元</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additive identity</a:t>
                </a:r>
                <a:r>
                  <a:rPr lang="en-US" altLang="zh-CN" dirty="0">
                    <a:latin typeface="楷体" panose="02010609060101010101" charset="-122"/>
                    <a:ea typeface="楷体" panose="02010609060101010101" charset="-122"/>
                    <a:cs typeface="楷体" panose="02010609060101010101" charset="-122"/>
                  </a:rPr>
                  <a:t>),</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b="0" i="0"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，对于椭圆曲线上的任一点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一条垂直线与曲线相交于</a:t>
                </a:r>
                <a14:m>
                  <m:oMath xmlns:m="http://schemas.openxmlformats.org/officeDocument/2006/math">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，也相交于无穷点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en-US" altLang="zh-CN" dirty="0">
                    <a:latin typeface="楷体" panose="02010609060101010101" charset="-122"/>
                    <a:ea typeface="楷体" panose="02010609060101010101" charset="-122"/>
                    <a:cs typeface="楷体" panose="02010609060101010101" charset="-122"/>
                  </a:rPr>
                  <a:t>=</a:t>
                </a:r>
                <a:r>
                  <a:rPr lang="en-US" altLang="zh-CN" dirty="0">
                    <a:ea typeface="楷体" panose="02010609060101010101" charset="-122"/>
                    <a:cs typeface="楷体" panose="02010609060101010101" charset="-122"/>
                  </a:rPr>
                  <a:t> </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𝑥</m:t>
                    </m:r>
                  </m:oMath>
                </a14:m>
                <a:r>
                  <a:rPr lang="zh-CN" altLang="en-US" dirty="0">
                    <a:latin typeface="楷体" panose="02010609060101010101" charset="-122"/>
                    <a:ea typeface="楷体" panose="02010609060101010101" charset="-122"/>
                    <a:cs typeface="楷体" panose="02010609060101010101" charset="-122"/>
                  </a:rPr>
                  <a:t>坐标的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，这种交点是</a:t>
                </a:r>
                <a:r>
                  <a:rPr lang="zh-CN" altLang="en-US" b="1" dirty="0">
                    <a:solidFill>
                      <a:schemeClr val="accent1"/>
                    </a:solidFill>
                    <a:latin typeface="楷体" panose="02010609060101010101" charset="-122"/>
                    <a:ea typeface="楷体" panose="02010609060101010101" charset="-122"/>
                    <a:cs typeface="楷体" panose="02010609060101010101" charset="-122"/>
                  </a:rPr>
                  <a:t>唯一的</a:t>
                </a:r>
                <a:r>
                  <a:rPr lang="zh-CN" altLang="en-US" dirty="0">
                    <a:latin typeface="楷体" panose="02010609060101010101" charset="-122"/>
                    <a:ea typeface="楷体" panose="02010609060101010101" charset="-122"/>
                    <a:cs typeface="楷体" panose="02010609060101010101"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，则</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一条椭圆曲线上的一点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被一个正整数</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相乘的乘法被定义为</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个</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的相加。</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4" y="1354656"/>
                <a:ext cx="8142661" cy="3754874"/>
              </a:xfrm>
              <a:prstGeom prst="rect">
                <a:avLst/>
              </a:prstGeom>
              <a:blipFill>
                <a:blip r:embed="rId2"/>
                <a:stretch>
                  <a:fillRect l="-449" t="-1136" r="-3443"/>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spTree>
    <p:extLst>
      <p:ext uri="{BB962C8B-B14F-4D97-AF65-F5344CB8AC3E}">
        <p14:creationId xmlns:p14="http://schemas.microsoft.com/office/powerpoint/2010/main" val="116056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04698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椭圆曲线上的点集及其上的加法操作构成一个</a:t>
                </a:r>
                <a:r>
                  <a:rPr lang="zh-CN" altLang="en-US" b="1" dirty="0">
                    <a:solidFill>
                      <a:schemeClr val="accent1"/>
                    </a:solidFill>
                    <a:latin typeface="楷体" panose="02010609060101010101" charset="-122"/>
                    <a:ea typeface="楷体" panose="02010609060101010101" charset="-122"/>
                    <a:cs typeface="楷体" panose="02010609060101010101" charset="-122"/>
                  </a:rPr>
                  <a:t>群</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点集：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椭圆曲线上的所有点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无穷点</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操作：</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Times New Roman" panose="02020603050405020304" pitchFamily="18" charset="0"/>
                    <a:ea typeface="楷体" panose="02010609060101010101" charset="-122"/>
                    <a:cs typeface="Times New Roman" panose="02020603050405020304" pitchFamily="18" charset="0"/>
                  </a:rPr>
                  <a:t>点加法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（或</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dirty="0" smtClean="0">
                        <a:latin typeface="Cambria Math" panose="02040503050406030204" pitchFamily="18" charset="0"/>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046988"/>
              </a:xfrm>
              <a:prstGeom prst="rect">
                <a:avLst/>
              </a:prstGeom>
              <a:blipFill>
                <a:blip r:embed="rId3"/>
                <a:stretch>
                  <a:fillRect l="-482" t="-1000"/>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pic>
        <p:nvPicPr>
          <p:cNvPr id="17" name="Picture 4">
            <a:extLst>
              <a:ext uri="{FF2B5EF4-FFF2-40B4-BE49-F238E27FC236}">
                <a16:creationId xmlns:a16="http://schemas.microsoft.com/office/drawing/2014/main" id="{0D1F1BF1-8A99-4609-8AC5-B474F00366C0}"/>
              </a:ext>
            </a:extLst>
          </p:cNvPr>
          <p:cNvPicPr>
            <a:picLocks noChangeAspect="1"/>
          </p:cNvPicPr>
          <p:nvPr/>
        </p:nvPicPr>
        <p:blipFill>
          <a:blip r:embed="rId4"/>
          <a:stretch>
            <a:fillRect/>
          </a:stretch>
        </p:blipFill>
        <p:spPr>
          <a:xfrm>
            <a:off x="4040974" y="1756831"/>
            <a:ext cx="3260464" cy="2818325"/>
          </a:xfrm>
          <a:prstGeom prst="rect">
            <a:avLst/>
          </a:prstGeom>
          <a:noFill/>
          <a:ln w="9525">
            <a:noFill/>
          </a:ln>
        </p:spPr>
      </p:pic>
    </p:spTree>
    <p:extLst>
      <p:ext uri="{BB962C8B-B14F-4D97-AF65-F5344CB8AC3E}">
        <p14:creationId xmlns:p14="http://schemas.microsoft.com/office/powerpoint/2010/main" val="3739803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二倍</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过点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的切线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a:blip r:embed="rId2"/>
                <a:stretch>
                  <a:fillRect l="-482" t="-183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pic>
        <p:nvPicPr>
          <p:cNvPr id="14" name="Picture 4">
            <a:extLst>
              <a:ext uri="{FF2B5EF4-FFF2-40B4-BE49-F238E27FC236}">
                <a16:creationId xmlns:a16="http://schemas.microsoft.com/office/drawing/2014/main" id="{8D395FCD-D4AD-4423-96B4-7EA12592FEDB}"/>
              </a:ext>
            </a:extLst>
          </p:cNvPr>
          <p:cNvPicPr>
            <a:picLocks noChangeAspect="1"/>
          </p:cNvPicPr>
          <p:nvPr/>
        </p:nvPicPr>
        <p:blipFill>
          <a:blip r:embed="rId3"/>
          <a:stretch>
            <a:fillRect/>
          </a:stretch>
        </p:blipFill>
        <p:spPr>
          <a:xfrm>
            <a:off x="4111309" y="1770380"/>
            <a:ext cx="3230925" cy="2830417"/>
          </a:xfrm>
          <a:prstGeom prst="rect">
            <a:avLst/>
          </a:prstGeom>
          <a:noFill/>
          <a:ln w="9525">
            <a:noFill/>
          </a:ln>
        </p:spPr>
      </p:pic>
    </p:spTree>
    <p:extLst>
      <p:ext uri="{BB962C8B-B14F-4D97-AF65-F5344CB8AC3E}">
        <p14:creationId xmlns:p14="http://schemas.microsoft.com/office/powerpoint/2010/main" val="2742715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或写为：</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pic>
        <p:nvPicPr>
          <p:cNvPr id="15" name="Picture 3">
            <a:extLst>
              <a:ext uri="{FF2B5EF4-FFF2-40B4-BE49-F238E27FC236}">
                <a16:creationId xmlns:a16="http://schemas.microsoft.com/office/drawing/2014/main" id="{4DB124DA-00BA-45F7-AAB4-351AFBD84E4A}"/>
              </a:ext>
            </a:extLst>
          </p:cNvPr>
          <p:cNvPicPr>
            <a:picLocks noChangeAspect="1"/>
          </p:cNvPicPr>
          <p:nvPr/>
        </p:nvPicPr>
        <p:blipFill>
          <a:blip r:embed="rId3"/>
          <a:srcRect/>
          <a:stretch>
            <a:fillRect/>
          </a:stretch>
        </p:blipFill>
        <p:spPr>
          <a:xfrm>
            <a:off x="805507" y="2083406"/>
            <a:ext cx="2096443" cy="559977"/>
          </a:xfrm>
          <a:prstGeom prst="rect">
            <a:avLst/>
          </a:prstGeom>
          <a:ln/>
        </p:spPr>
      </p:pic>
      <p:pic>
        <p:nvPicPr>
          <p:cNvPr id="16" name="Picture 4">
            <a:extLst>
              <a:ext uri="{FF2B5EF4-FFF2-40B4-BE49-F238E27FC236}">
                <a16:creationId xmlns:a16="http://schemas.microsoft.com/office/drawing/2014/main" id="{AFA1E42B-A9BF-4240-AB10-351E2464D0E8}"/>
              </a:ext>
            </a:extLst>
          </p:cNvPr>
          <p:cNvPicPr>
            <a:picLocks noChangeAspect="1"/>
          </p:cNvPicPr>
          <p:nvPr/>
        </p:nvPicPr>
        <p:blipFill>
          <a:blip r:embed="rId4"/>
          <a:stretch>
            <a:fillRect/>
          </a:stretch>
        </p:blipFill>
        <p:spPr>
          <a:xfrm>
            <a:off x="4161324" y="1754486"/>
            <a:ext cx="3191975" cy="2824176"/>
          </a:xfrm>
          <a:prstGeom prst="rect">
            <a:avLst/>
          </a:prstGeom>
          <a:noFill/>
          <a:ln w="9525">
            <a:noFill/>
          </a:ln>
        </p:spPr>
      </p:pic>
    </p:spTree>
    <p:extLst>
      <p:ext uri="{BB962C8B-B14F-4D97-AF65-F5344CB8AC3E}">
        <p14:creationId xmlns:p14="http://schemas.microsoft.com/office/powerpoint/2010/main" val="4090007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pic>
        <p:nvPicPr>
          <p:cNvPr id="14" name="Picture 6">
            <a:extLst>
              <a:ext uri="{FF2B5EF4-FFF2-40B4-BE49-F238E27FC236}">
                <a16:creationId xmlns:a16="http://schemas.microsoft.com/office/drawing/2014/main" id="{93096249-EE38-44EA-9B53-FD07636B42BC}"/>
              </a:ext>
            </a:extLst>
          </p:cNvPr>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a:extLst>
              <a:ext uri="{FF2B5EF4-FFF2-40B4-BE49-F238E27FC236}">
                <a16:creationId xmlns:a16="http://schemas.microsoft.com/office/drawing/2014/main" id="{AFD8FBD2-D6B0-4262-A5AD-EB7C6669E851}"/>
              </a:ext>
            </a:extLst>
          </p:cNvPr>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a:extLst>
              <a:ext uri="{FF2B5EF4-FFF2-40B4-BE49-F238E27FC236}">
                <a16:creationId xmlns:a16="http://schemas.microsoft.com/office/drawing/2014/main" id="{04ECFDC1-51FB-4B2C-90F3-60A08AF3A1D3}"/>
              </a:ext>
            </a:extLst>
          </p:cNvPr>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a:extLst>
              <a:ext uri="{FF2B5EF4-FFF2-40B4-BE49-F238E27FC236}">
                <a16:creationId xmlns:a16="http://schemas.microsoft.com/office/drawing/2014/main" id="{CB04AE10-D08C-4937-B21C-8D451C67206B}"/>
              </a:ext>
            </a:extLst>
          </p:cNvPr>
          <p:cNvPicPr>
            <a:picLocks noChangeAspect="1"/>
          </p:cNvPicPr>
          <p:nvPr/>
        </p:nvPicPr>
        <p:blipFill>
          <a:blip r:embed="rId6"/>
          <a:stretch>
            <a:fillRect/>
          </a:stretch>
        </p:blipFill>
        <p:spPr>
          <a:xfrm>
            <a:off x="1226748" y="3714303"/>
            <a:ext cx="1311263" cy="822754"/>
          </a:xfrm>
          <a:prstGeom prst="rect">
            <a:avLst/>
          </a:prstGeom>
          <a:noFill/>
          <a:ln w="9525">
            <a:noFill/>
          </a:ln>
        </p:spPr>
      </p:pic>
    </p:spTree>
    <p:extLst>
      <p:ext uri="{BB962C8B-B14F-4D97-AF65-F5344CB8AC3E}">
        <p14:creationId xmlns:p14="http://schemas.microsoft.com/office/powerpoint/2010/main" val="2844705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pic>
        <p:nvPicPr>
          <p:cNvPr id="17" name="Picture 4">
            <a:extLst>
              <a:ext uri="{FF2B5EF4-FFF2-40B4-BE49-F238E27FC236}">
                <a16:creationId xmlns:a16="http://schemas.microsoft.com/office/drawing/2014/main" id="{19D22A4D-A5D2-4FA4-AB47-88EDDCC99EA5}"/>
              </a:ext>
            </a:extLst>
          </p:cNvPr>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a:extLst>
              <a:ext uri="{FF2B5EF4-FFF2-40B4-BE49-F238E27FC236}">
                <a16:creationId xmlns:a16="http://schemas.microsoft.com/office/drawing/2014/main" id="{7683779F-0E25-4EB9-926E-3E40C8D76436}"/>
              </a:ext>
            </a:extLst>
          </p:cNvPr>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a:extLst>
              <a:ext uri="{FF2B5EF4-FFF2-40B4-BE49-F238E27FC236}">
                <a16:creationId xmlns:a16="http://schemas.microsoft.com/office/drawing/2014/main" id="{B3F4549C-DA9F-4D63-A500-ECF569D1BF26}"/>
              </a:ext>
            </a:extLst>
          </p:cNvPr>
          <p:cNvPicPr>
            <a:picLocks noChangeAspect="1"/>
          </p:cNvPicPr>
          <p:nvPr/>
        </p:nvPicPr>
        <p:blipFill>
          <a:blip r:embed="rId5"/>
          <a:stretch>
            <a:fillRect/>
          </a:stretch>
        </p:blipFill>
        <p:spPr>
          <a:xfrm>
            <a:off x="1207254" y="3652462"/>
            <a:ext cx="1375615" cy="879600"/>
          </a:xfrm>
          <a:prstGeom prst="rect">
            <a:avLst/>
          </a:prstGeom>
          <a:noFill/>
          <a:ln w="9525">
            <a:noFill/>
          </a:ln>
        </p:spPr>
      </p:pic>
    </p:spTree>
    <p:extLst>
      <p:ext uri="{BB962C8B-B14F-4D97-AF65-F5344CB8AC3E}">
        <p14:creationId xmlns:p14="http://schemas.microsoft.com/office/powerpoint/2010/main" val="676217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569404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将椭圆曲线定义于有限域：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r>
                      <a:rPr lang="en-US" altLang="zh-CN" b="0" i="1" smtClean="0">
                        <a:latin typeface="Cambria Math" panose="02040503050406030204" pitchFamily="18" charset="0"/>
                        <a:ea typeface="楷体" panose="02010609060101010101" charset="-122"/>
                        <a:cs typeface="楷体" panose="02010609060101010101" charset="-122"/>
                      </a:rPr>
                      <m:t> (</m:t>
                    </m:r>
                    <m:r>
                      <m:rPr>
                        <m:sty m:val="p"/>
                      </m:rPr>
                      <a:rPr lang="en-US" altLang="zh-CN" b="0" i="0" smtClean="0">
                        <a:latin typeface="Cambria Math" panose="02040503050406030204" pitchFamily="18" charset="0"/>
                        <a:ea typeface="楷体" panose="02010609060101010101" charset="-122"/>
                        <a:cs typeface="楷体" panose="02010609060101010101" charset="-122"/>
                      </a:rPr>
                      <m:t>mod</m:t>
                    </m:r>
                    <m:r>
                      <a:rPr lang="en-US" altLang="zh-CN" b="0" i="1" smtClean="0">
                        <a:latin typeface="Cambria Math" panose="02040503050406030204" pitchFamily="18" charset="0"/>
                        <a:ea typeface="楷体" panose="02010609060101010101" charset="-122"/>
                        <a:cs typeface="楷体" panose="02010609060101010101" charset="-122"/>
                      </a:rPr>
                      <m:t> </m:t>
                    </m:r>
                    <m:r>
                      <a:rPr lang="en-US" altLang="zh-CN" b="0" i="1" smtClean="0">
                        <a:latin typeface="Cambria Math" panose="02040503050406030204" pitchFamily="18" charset="0"/>
                        <a:ea typeface="楷体" panose="02010609060101010101" charset="-122"/>
                        <a:cs typeface="楷体" panose="02010609060101010101" charset="-122"/>
                      </a:rPr>
                      <m:t>𝑝</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0" dirty="0">
                    <a:ea typeface="楷体" panose="02010609060101010101" charset="-122"/>
                    <a:cs typeface="楷体" panose="02010609060101010101" charset="-122"/>
                  </a:rPr>
                  <a:t>其中，</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是一个素数，</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加的阿贝尔群</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Abel Group</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a:t>
                </a:r>
                <a14:m>
                  <m:oMath xmlns:m="http://schemas.openxmlformats.org/officeDocument/2006/math">
                    <m:d>
                      <m:dPr>
                        <m:begChr m:val="{"/>
                        <m:endChr m:val="}"/>
                        <m:ctrlPr>
                          <a:rPr lang="en-US" altLang="zh-CN" i="1">
                            <a:latin typeface="Cambria Math" panose="02040503050406030204" pitchFamily="18" charset="0"/>
                            <a:ea typeface="楷体" panose="02010609060101010101" charset="-122"/>
                          </a:rPr>
                        </m:ctrlPr>
                      </m:dPr>
                      <m:e>
                        <m:r>
                          <a:rPr lang="en-US" altLang="zh-CN" i="1">
                            <a:latin typeface="Cambria Math" panose="02040503050406030204" pitchFamily="18" charset="0"/>
                            <a:ea typeface="楷体" panose="02010609060101010101" charset="-122"/>
                          </a:rPr>
                          <m:t>1,…, </m:t>
                        </m:r>
                        <m:r>
                          <a:rPr lang="en-US" altLang="zh-CN" i="1">
                            <a:latin typeface="Cambria Math" panose="02040503050406030204" pitchFamily="18" charset="0"/>
                            <a:ea typeface="楷体" panose="02010609060101010101" charset="-122"/>
                          </a:rPr>
                          <m:t>𝑝</m:t>
                        </m:r>
                        <m:r>
                          <a:rPr lang="en-US" altLang="zh-CN" i="1">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乘的阿贝尔群。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椭圆曲线密码系统采用变量和系数有限的曲线来实现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5694045" cy="2769989"/>
              </a:xfrm>
              <a:prstGeom prst="rect">
                <a:avLst/>
              </a:prstGeom>
              <a:blipFill>
                <a:blip r:embed="rId2"/>
                <a:stretch>
                  <a:fillRect l="-642" t="-1099" r="-96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a:extLst>
              <a:ext uri="{FF2B5EF4-FFF2-40B4-BE49-F238E27FC236}">
                <a16:creationId xmlns:a16="http://schemas.microsoft.com/office/drawing/2014/main" id="{5317F93E-FCC1-4AB5-B736-27556D465113}"/>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charset="-122"/>
                <a:ea typeface="楷体" panose="02010609060101010101" charset="-122"/>
              </a:rPr>
              <a:t>椭圆曲线密码体制</a:t>
            </a:r>
          </a:p>
        </p:txBody>
      </p:sp>
    </p:spTree>
    <p:extLst>
      <p:ext uri="{BB962C8B-B14F-4D97-AF65-F5344CB8AC3E}">
        <p14:creationId xmlns:p14="http://schemas.microsoft.com/office/powerpoint/2010/main" val="2495164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2460" y="2763520"/>
            <a:ext cx="7348855" cy="706755"/>
          </a:xfrm>
          <a:prstGeom prst="rect">
            <a:avLst/>
          </a:prstGeom>
          <a:noFill/>
        </p:spPr>
        <p:txBody>
          <a:bodyPr wrap="square" rtlCol="0" anchor="t">
            <a:spAutoFit/>
          </a:bodyPr>
          <a:lstStyle/>
          <a:p>
            <a:pPr indent="0" algn="just" defTabSz="266700" fontAlgn="auto">
              <a:lnSpc>
                <a:spcPts val="2400"/>
              </a:lnSpc>
              <a:spcBef>
                <a:spcPct val="0"/>
              </a:spcBef>
              <a:spcAft>
                <a:spcPct val="0"/>
              </a:spcAft>
            </a:pPr>
            <a:r>
              <a:rPr lang="en-US" altLang="zh-CN" sz="2000" dirty="0">
                <a:latin typeface="楷体" panose="02010609060101010101" charset="-122"/>
                <a:ea typeface="楷体" panose="02010609060101010101" charset="-122"/>
                <a:cs typeface="楷体" panose="02010609060101010101" charset="-122"/>
                <a:sym typeface="+mn-ea"/>
              </a:rPr>
              <a:t>   </a:t>
            </a:r>
            <a:r>
              <a:rPr lang="zh-CN" altLang="en-US" dirty="0">
                <a:latin typeface="楷体" panose="02010609060101010101" charset="-122"/>
                <a:ea typeface="楷体" panose="02010609060101010101" charset="-122"/>
                <a:cs typeface="楷体" panose="02010609060101010101" charset="-122"/>
                <a:sym typeface="+mn-ea"/>
              </a:rPr>
              <a:t>안서현（2017）指出韩国的中国游客数量逐年上升，但与韩国国内酒店等有关的专门用途汉语教材仍存在很大的不足。</a:t>
            </a:r>
          </a:p>
        </p:txBody>
      </p:sp>
      <p:sp>
        <p:nvSpPr>
          <p:cNvPr id="8" name="文本框 7"/>
          <p:cNvSpPr txBox="1"/>
          <p:nvPr/>
        </p:nvSpPr>
        <p:spPr>
          <a:xfrm>
            <a:off x="516255" y="1741805"/>
            <a:ext cx="7710805" cy="829945"/>
          </a:xfrm>
          <a:prstGeom prst="rect">
            <a:avLst/>
          </a:prstGeom>
        </p:spPr>
        <p:txBody>
          <a:bodyPr wrap="square">
            <a:spAutoFit/>
          </a:bodyPr>
          <a:lstStyle/>
          <a:p>
            <a:pPr marL="0" indent="304800" algn="just" defTabSz="266700"/>
            <a:r>
              <a:rPr lang="en-US" altLang="zh-CN" sz="1800" dirty="0">
                <a:latin typeface="楷体" panose="02010609060101010101" charset="-122"/>
                <a:ea typeface="楷体" panose="02010609060101010101" charset="-122"/>
                <a:cs typeface="楷体" panose="02010609060101010101" charset="-122"/>
              </a:rPr>
              <a:t>  1.1</a:t>
            </a:r>
            <a:r>
              <a:rPr lang="zh-CN" altLang="en-US" sz="1800" dirty="0">
                <a:latin typeface="楷体" panose="02010609060101010101" charset="-122"/>
                <a:ea typeface="楷体" panose="02010609060101010101" charset="-122"/>
                <a:cs typeface="楷体" panose="02010609060101010101" charset="-122"/>
              </a:rPr>
              <a:t>经统计韩国购书官网KYOBO发现，共有</a:t>
            </a:r>
            <a:r>
              <a:rPr lang="zh-CN" altLang="en-US" sz="2400" b="1" dirty="0">
                <a:solidFill>
                  <a:schemeClr val="accent5"/>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mn-ea"/>
              </a:rPr>
              <a:t>12</a:t>
            </a:r>
            <a:r>
              <a:rPr lang="zh-CN" altLang="en-US" dirty="0">
                <a:latin typeface="楷体" panose="02010609060101010101" charset="-122"/>
                <a:ea typeface="楷体" panose="02010609060101010101" charset="-122"/>
                <a:cs typeface="楷体" panose="02010609060101010101" charset="-122"/>
                <a:sym typeface="+mn-ea"/>
              </a:rPr>
              <a:t>本与酒店相关的汉语教材，</a:t>
            </a:r>
            <a:r>
              <a:rPr lang="zh-CN" altLang="en-US" sz="2400" b="1" dirty="0">
                <a:solidFill>
                  <a:schemeClr val="accent5"/>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rPr>
              <a:t>89</a:t>
            </a:r>
            <a:r>
              <a:rPr lang="zh-CN" altLang="en-US" sz="1800" dirty="0">
                <a:latin typeface="楷体" panose="02010609060101010101" charset="-122"/>
                <a:ea typeface="楷体" panose="02010609060101010101" charset="-122"/>
                <a:cs typeface="楷体" panose="02010609060101010101" charset="-122"/>
              </a:rPr>
              <a:t>本与旅游相关的汉语教材。</a:t>
            </a:r>
          </a:p>
        </p:txBody>
      </p:sp>
      <p:sp>
        <p:nvSpPr>
          <p:cNvPr id="9" name="文本框 8"/>
          <p:cNvSpPr txBox="1"/>
          <p:nvPr/>
        </p:nvSpPr>
        <p:spPr>
          <a:xfrm>
            <a:off x="127000" y="1042035"/>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本章内容</a:t>
            </a:r>
          </a:p>
        </p:txBody>
      </p:sp>
      <p:sp>
        <p:nvSpPr>
          <p:cNvPr id="12" name="矩形 4">
            <a:extLst>
              <a:ext uri="{FF2B5EF4-FFF2-40B4-BE49-F238E27FC236}">
                <a16:creationId xmlns:a16="http://schemas.microsoft.com/office/drawing/2014/main" id="{0ACCE026-CAB3-4C89-B26D-884944BFFEF7}"/>
              </a:ext>
            </a:extLst>
          </p:cNvPr>
          <p:cNvSpPr/>
          <p:nvPr/>
        </p:nvSpPr>
        <p:spPr>
          <a:xfrm>
            <a:off x="0" y="1"/>
            <a:ext cx="9144000" cy="45719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3" name="矩形 12">
            <a:extLst>
              <a:ext uri="{FF2B5EF4-FFF2-40B4-BE49-F238E27FC236}">
                <a16:creationId xmlns:a16="http://schemas.microsoft.com/office/drawing/2014/main" id="{8E434199-4B76-4937-96E5-C5D079298FF0}"/>
              </a:ext>
            </a:extLst>
          </p:cNvPr>
          <p:cNvSpPr/>
          <p:nvPr/>
        </p:nvSpPr>
        <p:spPr>
          <a:xfrm>
            <a:off x="1800303" y="0"/>
            <a:ext cx="1666001" cy="457199"/>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4" name="TextBox 7">
            <a:extLst>
              <a:ext uri="{FF2B5EF4-FFF2-40B4-BE49-F238E27FC236}">
                <a16:creationId xmlns:a16="http://schemas.microsoft.com/office/drawing/2014/main" id="{D38FE41E-AC1D-4824-9614-F33621996DE0}"/>
              </a:ext>
            </a:extLst>
          </p:cNvPr>
          <p:cNvSpPr txBox="1"/>
          <p:nvPr/>
        </p:nvSpPr>
        <p:spPr>
          <a:xfrm>
            <a:off x="1965249" y="508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课程概况</a:t>
            </a:r>
          </a:p>
        </p:txBody>
      </p:sp>
      <p:sp>
        <p:nvSpPr>
          <p:cNvPr id="15" name="TextBox 9">
            <a:extLst>
              <a:ext uri="{FF2B5EF4-FFF2-40B4-BE49-F238E27FC236}">
                <a16:creationId xmlns:a16="http://schemas.microsoft.com/office/drawing/2014/main" id="{8CBA6B20-8342-4BB2-8269-26F9377ACF46}"/>
              </a:ext>
            </a:extLst>
          </p:cNvPr>
          <p:cNvSpPr txBox="1"/>
          <p:nvPr/>
        </p:nvSpPr>
        <p:spPr>
          <a:xfrm>
            <a:off x="3667049" y="635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16" name="TextBox 10">
            <a:extLst>
              <a:ext uri="{FF2B5EF4-FFF2-40B4-BE49-F238E27FC236}">
                <a16:creationId xmlns:a16="http://schemas.microsoft.com/office/drawing/2014/main" id="{62CEA586-B2A8-450D-8494-7C0E6B353602}"/>
              </a:ext>
            </a:extLst>
          </p:cNvPr>
          <p:cNvSpPr txBox="1"/>
          <p:nvPr/>
        </p:nvSpPr>
        <p:spPr>
          <a:xfrm>
            <a:off x="5368849" y="6985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17" name="TextBox 11">
            <a:extLst>
              <a:ext uri="{FF2B5EF4-FFF2-40B4-BE49-F238E27FC236}">
                <a16:creationId xmlns:a16="http://schemas.microsoft.com/office/drawing/2014/main" id="{CA80DEAD-4182-4FB5-A1D0-DA2337E4D57B}"/>
              </a:ext>
            </a:extLst>
          </p:cNvPr>
          <p:cNvSpPr txBox="1"/>
          <p:nvPr/>
        </p:nvSpPr>
        <p:spPr>
          <a:xfrm>
            <a:off x="7070651" y="6985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18" name="图片 17" descr="logo_画板 1">
            <a:extLst>
              <a:ext uri="{FF2B5EF4-FFF2-40B4-BE49-F238E27FC236}">
                <a16:creationId xmlns:a16="http://schemas.microsoft.com/office/drawing/2014/main" id="{3BA63E12-E0DE-4B41-A047-FAB522BF71BB}"/>
              </a:ext>
            </a:extLst>
          </p:cNvPr>
          <p:cNvPicPr>
            <a:picLocks noChangeAspect="1"/>
          </p:cNvPicPr>
          <p:nvPr/>
        </p:nvPicPr>
        <p:blipFill>
          <a:blip r:embed="rId2"/>
          <a:stretch>
            <a:fillRect/>
          </a:stretch>
        </p:blipFill>
        <p:spPr>
          <a:xfrm>
            <a:off x="265431" y="-57150"/>
            <a:ext cx="1160967" cy="653757"/>
          </a:xfrm>
          <a:prstGeom prst="rect">
            <a:avLst/>
          </a:prstGeom>
        </p:spPr>
      </p:pic>
      <p:sp>
        <p:nvSpPr>
          <p:cNvPr id="5" name="日期占位符 4">
            <a:extLst>
              <a:ext uri="{FF2B5EF4-FFF2-40B4-BE49-F238E27FC236}">
                <a16:creationId xmlns:a16="http://schemas.microsoft.com/office/drawing/2014/main" id="{47A0E14D-AB13-4FC0-8716-E59E3903768E}"/>
              </a:ext>
            </a:extLst>
          </p:cNvPr>
          <p:cNvSpPr>
            <a:spLocks noGrp="1"/>
          </p:cNvSpPr>
          <p:nvPr>
            <p:ph type="dt" sz="half" idx="2"/>
          </p:nvPr>
        </p:nvSpPr>
        <p:spPr/>
        <p:txBody>
          <a:bodyPr/>
          <a:lstStyle/>
          <a:p>
            <a:fld id="{B23FAA91-2FFE-45D5-809E-70A7C7C3A426}"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6" name="页脚占位符 5">
            <a:extLst>
              <a:ext uri="{FF2B5EF4-FFF2-40B4-BE49-F238E27FC236}">
                <a16:creationId xmlns:a16="http://schemas.microsoft.com/office/drawing/2014/main" id="{24945ACB-408F-4C66-B133-125BADFF90BE}"/>
              </a:ext>
            </a:extLst>
          </p:cNvPr>
          <p:cNvSpPr>
            <a:spLocks noGrp="1"/>
          </p:cNvSpPr>
          <p:nvPr>
            <p:ph type="ftr" sz="quarter" idx="3"/>
          </p:nvPr>
        </p:nvSpPr>
        <p:spPr/>
        <p:txBody>
          <a:bodyPr/>
          <a:lstStyle/>
          <a:p>
            <a:r>
              <a:rPr lang="zh-CN" altLang="en-US" dirty="0"/>
              <a:t>椭圆曲线密码体制</a:t>
            </a:r>
          </a:p>
        </p:txBody>
      </p:sp>
      <p:sp>
        <p:nvSpPr>
          <p:cNvPr id="10" name="灯片编号占位符 9">
            <a:extLst>
              <a:ext uri="{FF2B5EF4-FFF2-40B4-BE49-F238E27FC236}">
                <a16:creationId xmlns:a16="http://schemas.microsoft.com/office/drawing/2014/main" id="{51BEAA56-85C7-4CDC-BD39-74CF826E8102}"/>
              </a:ext>
            </a:extLst>
          </p:cNvPr>
          <p:cNvSpPr>
            <a:spLocks noGrp="1"/>
          </p:cNvSpPr>
          <p:nvPr>
            <p:ph type="sldNum" sz="quarter" idx="4"/>
          </p:nvPr>
        </p:nvSpPr>
        <p:spPr/>
        <p:txBody>
          <a:bodyPr/>
          <a:lstStyle/>
          <a:p>
            <a:fld id="{9A0DB2DC-4C9A-4742-B13C-FB6460FD3503}" type="slidenum">
              <a:rPr lang="en-US" altLang="zh-CN" smtClean="0"/>
              <a:pPr/>
              <a:t>14</a:t>
            </a:fld>
            <a:endParaRPr lang="zh-CN" altLang="en-US" dirty="0"/>
          </a:p>
        </p:txBody>
      </p:sp>
      <p:sp>
        <p:nvSpPr>
          <p:cNvPr id="19" name="文本框 18">
            <a:extLst>
              <a:ext uri="{FF2B5EF4-FFF2-40B4-BE49-F238E27FC236}">
                <a16:creationId xmlns:a16="http://schemas.microsoft.com/office/drawing/2014/main" id="{BD1B5A30-975A-40AA-A19A-FE8EB36F8767}"/>
              </a:ext>
            </a:extLst>
          </p:cNvPr>
          <p:cNvSpPr txBox="1"/>
          <p:nvPr/>
        </p:nvSpPr>
        <p:spPr>
          <a:xfrm>
            <a:off x="698985" y="4101465"/>
            <a:ext cx="8324215" cy="261610"/>
          </a:xfrm>
          <a:prstGeom prst="rect">
            <a:avLst/>
          </a:prstGeom>
          <a:noFill/>
        </p:spPr>
        <p:txBody>
          <a:bodyPr wrap="square" rtlCol="0" anchor="t">
            <a:spAutoFit/>
          </a:bodyPr>
          <a:lstStyle/>
          <a:p>
            <a:pPr indent="0" algn="just" defTabSz="266700" fontAlgn="auto">
              <a:spcBef>
                <a:spcPct val="0"/>
              </a:spcBef>
              <a:spcAft>
                <a:spcPct val="0"/>
              </a:spcAft>
            </a:pPr>
            <a:r>
              <a:rPr lang="en-US" altLang="zh-CN" sz="1100" dirty="0">
                <a:latin typeface="楷体" panose="02010609060101010101" charset="-122"/>
                <a:ea typeface="楷体" panose="02010609060101010101" charset="-122"/>
                <a:cs typeface="楷体" panose="02010609060101010101" charset="-122"/>
                <a:sym typeface="+mn-ea"/>
              </a:rPr>
              <a:t>[1] </a:t>
            </a:r>
            <a:r>
              <a:rPr lang="zh-CN" altLang="en-US" sz="1050" dirty="0">
                <a:latin typeface="楷体" panose="02010609060101010101" charset="-122"/>
                <a:ea typeface="楷体" panose="02010609060101010101" charset="-122"/>
                <a:cs typeface="楷体" panose="02010609060101010101" charset="-122"/>
                <a:sym typeface="+mn-ea"/>
              </a:rPr>
              <a:t>안서현（2017）指出韩国的中国游客数量逐年上升，但与韩国国内酒店等有关的专门用途汉语教材仍存在很大的不足。</a:t>
            </a:r>
          </a:p>
        </p:txBody>
      </p:sp>
    </p:spTree>
    <p:extLst>
      <p:ext uri="{BB962C8B-B14F-4D97-AF65-F5344CB8AC3E}">
        <p14:creationId xmlns:p14="http://schemas.microsoft.com/office/powerpoint/2010/main" val="2686505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878473" y="1435844"/>
            <a:ext cx="5915025" cy="2802440"/>
          </a:xfrm>
        </p:spPr>
        <p:txBody>
          <a:bodyPr>
            <a:normAutofit/>
          </a:bodyPr>
          <a:lstStyle/>
          <a:p>
            <a:pPr marL="0" indent="0">
              <a:lnSpc>
                <a:spcPct val="130000"/>
              </a:lnSpc>
              <a:buNone/>
            </a:pPr>
            <a:r>
              <a:rPr kumimoji="1" lang="en-US" altLang="zh-CN" sz="1950" dirty="0">
                <a:solidFill>
                  <a:srgbClr val="C00000"/>
                </a:solidFill>
              </a:rPr>
              <a:t>1.1 </a:t>
            </a:r>
            <a:r>
              <a:rPr kumimoji="1" lang="zh-CN" altLang="en-US" sz="1950" dirty="0">
                <a:solidFill>
                  <a:srgbClr val="C00000"/>
                </a:solidFill>
              </a:rPr>
              <a:t>什么是区块链技术</a:t>
            </a:r>
            <a:endParaRPr kumimoji="1" lang="en-US" altLang="zh-CN" sz="1950" dirty="0"/>
          </a:p>
          <a:p>
            <a:pPr marL="0" indent="0">
              <a:lnSpc>
                <a:spcPct val="130000"/>
              </a:lnSpc>
              <a:buNone/>
            </a:pPr>
            <a:r>
              <a:rPr kumimoji="1" lang="en-US" altLang="zh-CN" sz="1950" dirty="0"/>
              <a:t>1.2 </a:t>
            </a:r>
            <a:r>
              <a:rPr kumimoji="1" lang="zh-CN" altLang="en-US" sz="1950" dirty="0"/>
              <a:t>区块链技术的现状</a:t>
            </a:r>
            <a:endParaRPr kumimoji="1" lang="en-US" altLang="zh-CN" sz="1950" dirty="0"/>
          </a:p>
          <a:p>
            <a:pPr marL="0" indent="0">
              <a:lnSpc>
                <a:spcPct val="130000"/>
              </a:lnSpc>
              <a:buNone/>
            </a:pPr>
            <a:r>
              <a:rPr kumimoji="1" lang="en-US" altLang="zh-CN" sz="1950" dirty="0"/>
              <a:t>1.3 </a:t>
            </a:r>
            <a:r>
              <a:rPr kumimoji="1" lang="zh-CN" altLang="en-US" sz="1950" dirty="0"/>
              <a:t>课程的内容</a:t>
            </a:r>
            <a:endParaRPr kumimoji="1" lang="en-US" altLang="zh-CN" sz="1950" dirty="0"/>
          </a:p>
        </p:txBody>
      </p:sp>
      <p:sp>
        <p:nvSpPr>
          <p:cNvPr id="7" name="矩形标注 6">
            <a:extLst>
              <a:ext uri="{FF2B5EF4-FFF2-40B4-BE49-F238E27FC236}">
                <a16:creationId xmlns:a16="http://schemas.microsoft.com/office/drawing/2014/main" id="{E4BFCB96-0FA1-7740-8F94-683CEFB67F89}"/>
              </a:ext>
            </a:extLst>
          </p:cNvPr>
          <p:cNvSpPr/>
          <p:nvPr/>
        </p:nvSpPr>
        <p:spPr>
          <a:xfrm>
            <a:off x="5436096" y="1707654"/>
            <a:ext cx="2214246" cy="1566174"/>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30398" indent="-246460">
              <a:lnSpc>
                <a:spcPct val="130000"/>
              </a:lnSpc>
              <a:spcBef>
                <a:spcPts val="338"/>
              </a:spcBef>
              <a:buFont typeface="+mj-lt"/>
              <a:buAutoNum type="arabicPeriod"/>
            </a:pPr>
            <a:r>
              <a:rPr kumimoji="1" lang="zh-CN" altLang="en-US" sz="1350" dirty="0">
                <a:solidFill>
                  <a:schemeClr val="tx1"/>
                </a:solidFill>
              </a:rPr>
              <a:t>比特币与区块链的诞生</a:t>
            </a:r>
          </a:p>
          <a:p>
            <a:pPr marL="330398" indent="-246460">
              <a:lnSpc>
                <a:spcPct val="130000"/>
              </a:lnSpc>
              <a:spcBef>
                <a:spcPts val="338"/>
              </a:spcBef>
              <a:buFont typeface="+mj-lt"/>
              <a:buAutoNum type="arabicPeriod"/>
            </a:pPr>
            <a:r>
              <a:rPr kumimoji="1" lang="zh-CN" altLang="en-US" sz="1350" dirty="0">
                <a:solidFill>
                  <a:schemeClr val="tx1"/>
                </a:solidFill>
              </a:rPr>
              <a:t>比特币与区块链</a:t>
            </a:r>
          </a:p>
          <a:p>
            <a:pPr marL="330398" indent="-246460">
              <a:lnSpc>
                <a:spcPct val="130000"/>
              </a:lnSpc>
              <a:spcBef>
                <a:spcPts val="338"/>
              </a:spcBef>
              <a:buFont typeface="+mj-lt"/>
              <a:buAutoNum type="arabicPeriod"/>
            </a:pPr>
            <a:r>
              <a:rPr kumimoji="1" lang="zh-CN" altLang="en-US" sz="1350" dirty="0">
                <a:solidFill>
                  <a:schemeClr val="tx1"/>
                </a:solidFill>
              </a:rPr>
              <a:t>区块链的特点</a:t>
            </a:r>
            <a:endParaRPr kumimoji="1" lang="en-US" altLang="zh-CN" sz="1350" dirty="0">
              <a:solidFill>
                <a:schemeClr val="tx1"/>
              </a:solidFill>
            </a:endParaRPr>
          </a:p>
          <a:p>
            <a:pPr marL="330398" indent="-246460">
              <a:lnSpc>
                <a:spcPct val="130000"/>
              </a:lnSpc>
              <a:spcBef>
                <a:spcPts val="338"/>
              </a:spcBef>
              <a:buFont typeface="+mj-lt"/>
              <a:buAutoNum type="arabicPeriod"/>
            </a:pPr>
            <a:r>
              <a:rPr kumimoji="1" lang="zh-CN" altLang="en-US" sz="1350" dirty="0">
                <a:solidFill>
                  <a:schemeClr val="tx1"/>
                </a:solidFill>
              </a:rPr>
              <a:t>智能合约与世界计算机</a:t>
            </a:r>
            <a:endParaRPr kumimoji="1" lang="en-US" altLang="zh-CN" sz="1350" dirty="0">
              <a:solidFill>
                <a:schemeClr val="tx1"/>
              </a:solidFill>
            </a:endParaRPr>
          </a:p>
          <a:p>
            <a:pPr marL="330398" indent="-246460">
              <a:lnSpc>
                <a:spcPct val="130000"/>
              </a:lnSpc>
              <a:spcBef>
                <a:spcPts val="338"/>
              </a:spcBef>
              <a:buFont typeface="+mj-lt"/>
              <a:buAutoNum type="arabicPeriod"/>
            </a:pPr>
            <a:r>
              <a:rPr kumimoji="1" lang="zh-CN" altLang="en-US" sz="1350" dirty="0">
                <a:solidFill>
                  <a:schemeClr val="tx1"/>
                </a:solidFill>
              </a:rPr>
              <a:t>区块链的分类</a:t>
            </a:r>
            <a:endParaRPr kumimoji="1" lang="en-US" altLang="zh-CN" sz="1350" dirty="0">
              <a:solidFill>
                <a:schemeClr val="tx1"/>
              </a:solidFill>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a:xfrm>
            <a:off x="7933459" y="4767263"/>
            <a:ext cx="2057400" cy="273844"/>
          </a:xfrm>
          <a:prstGeom prst="rect">
            <a:avLst/>
          </a:prstGeom>
        </p:spPr>
        <p:txBody>
          <a:bodyPr vert="horz" lIns="68580" tIns="34290" rIns="68580" bIns="34290" rtlCol="0" anchor="ctr"/>
          <a:lstStyle>
            <a:defPPr>
              <a:defRPr lang="zh-CN"/>
            </a:defPPr>
            <a:lvl1pPr marL="0" algn="r" defTabSz="685800" rtl="0" eaLnBrk="1" latinLnBrk="0" hangingPunct="1">
              <a:defRPr sz="9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8D4D1E41-7A09-AB4A-A4E1-09765ADA2698}" type="slidenum">
              <a:rPr kumimoji="1" lang="zh-CN" altLang="en-US" smtClean="0"/>
              <a:pPr/>
              <a:t>15</a:t>
            </a:fld>
            <a:endParaRPr kumimoji="1" lang="zh-CN" altLang="en-US" dirty="0"/>
          </a:p>
        </p:txBody>
      </p:sp>
    </p:spTree>
    <p:extLst>
      <p:ext uri="{BB962C8B-B14F-4D97-AF65-F5344CB8AC3E}">
        <p14:creationId xmlns:p14="http://schemas.microsoft.com/office/powerpoint/2010/main" val="315277549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1"/>
            <a:ext cx="9144000" cy="45719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77" name="矩形 76"/>
          <p:cNvSpPr/>
          <p:nvPr/>
        </p:nvSpPr>
        <p:spPr>
          <a:xfrm>
            <a:off x="1800303" y="0"/>
            <a:ext cx="1666001" cy="457199"/>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80" name="TextBox 7"/>
          <p:cNvSpPr txBox="1"/>
          <p:nvPr/>
        </p:nvSpPr>
        <p:spPr>
          <a:xfrm>
            <a:off x="1965249" y="508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研究背景</a:t>
            </a:r>
          </a:p>
        </p:txBody>
      </p:sp>
      <p:sp>
        <p:nvSpPr>
          <p:cNvPr id="2" name="TextBox 9"/>
          <p:cNvSpPr txBox="1"/>
          <p:nvPr/>
        </p:nvSpPr>
        <p:spPr>
          <a:xfrm>
            <a:off x="3667049" y="635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86" name="TextBox 10"/>
          <p:cNvSpPr txBox="1"/>
          <p:nvPr/>
        </p:nvSpPr>
        <p:spPr>
          <a:xfrm>
            <a:off x="5368849" y="6985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4" name="TextBox 11"/>
          <p:cNvSpPr txBox="1"/>
          <p:nvPr/>
        </p:nvSpPr>
        <p:spPr>
          <a:xfrm>
            <a:off x="7070651" y="6985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3" name="图片 2" descr="logo_画板 1"/>
          <p:cNvPicPr>
            <a:picLocks noChangeAspect="1"/>
          </p:cNvPicPr>
          <p:nvPr/>
        </p:nvPicPr>
        <p:blipFill>
          <a:blip r:embed="rId2"/>
          <a:stretch>
            <a:fillRect/>
          </a:stretch>
        </p:blipFill>
        <p:spPr>
          <a:xfrm>
            <a:off x="265431" y="-57150"/>
            <a:ext cx="1160967" cy="653757"/>
          </a:xfrm>
          <a:prstGeom prst="rect">
            <a:avLst/>
          </a:prstGeom>
        </p:spPr>
      </p:pic>
      <p:sp>
        <p:nvSpPr>
          <p:cNvPr id="5" name="文本框 4"/>
          <p:cNvSpPr txBox="1"/>
          <p:nvPr/>
        </p:nvSpPr>
        <p:spPr>
          <a:xfrm>
            <a:off x="311785" y="1141095"/>
            <a:ext cx="8605520" cy="3233420"/>
          </a:xfrm>
          <a:prstGeom prst="rect">
            <a:avLst/>
          </a:prstGeom>
        </p:spPr>
        <p:txBody>
          <a:bodyPr wrap="square">
            <a:spAutoFit/>
          </a:bodyPr>
          <a:lstStyle/>
          <a:p>
            <a:pPr marL="0" indent="304800" algn="l" defTabSz="266700">
              <a:lnSpc>
                <a:spcPts val="2000"/>
              </a:lnSpc>
              <a:spcBef>
                <a:spcPct val="0"/>
              </a:spcBef>
              <a:spcAft>
                <a:spcPct val="0"/>
              </a:spcAft>
            </a:pPr>
            <a:endParaRPr lang="zh-CN" altLang="en-US" sz="1600" dirty="0">
              <a:latin typeface="宋体" panose="02010600030101010101" pitchFamily="2" charset="-122"/>
              <a:ea typeface="宋体" panose="02010600030101010101" pitchFamily="2" charset="-122"/>
            </a:endParaRPr>
          </a:p>
          <a:p>
            <a:pPr indent="304800" algn="l" defTabSz="266700" fontAlgn="auto">
              <a:lnSpc>
                <a:spcPts val="2500"/>
              </a:lnSpc>
              <a:spcBef>
                <a:spcPct val="0"/>
              </a:spcBef>
              <a:spcAft>
                <a:spcPct val="0"/>
              </a:spcAft>
            </a:pPr>
            <a:r>
              <a:rPr lang="zh-CN" altLang="en-US" dirty="0">
                <a:latin typeface="楷体" panose="02010609060101010101" charset="-122"/>
                <a:ea typeface="楷体" panose="02010609060101010101" charset="-122"/>
                <a:cs typeface="楷体" panose="02010609060101010101" charset="-122"/>
              </a:rPr>
              <a:t>“国别化对外汉语教材就是针对不同国别编写的汉语教材”（</a:t>
            </a:r>
            <a:r>
              <a:rPr lang="zh-CN" altLang="en-US" dirty="0">
                <a:latin typeface="楷体" panose="02010609060101010101" charset="-122"/>
                <a:ea typeface="楷体" panose="02010609060101010101" charset="-122"/>
                <a:cs typeface="楷体" panose="02010609060101010101" charset="-122"/>
                <a:sym typeface="+mn-ea"/>
              </a:rPr>
              <a:t>李禄兴、王瑞，2008）。</a:t>
            </a:r>
            <a:endParaRPr lang="zh-CN" altLang="en-US" dirty="0">
              <a:latin typeface="楷体" panose="02010609060101010101" charset="-122"/>
              <a:ea typeface="楷体" panose="02010609060101010101" charset="-122"/>
              <a:cs typeface="楷体" panose="02010609060101010101" charset="-122"/>
            </a:endParaRPr>
          </a:p>
          <a:p>
            <a:pPr indent="304800" algn="l" defTabSz="266700" fontAlgn="auto">
              <a:lnSpc>
                <a:spcPts val="2500"/>
              </a:lnSpc>
              <a:spcBef>
                <a:spcPct val="0"/>
              </a:spcBef>
              <a:spcAft>
                <a:spcPct val="0"/>
              </a:spcAft>
            </a:pPr>
            <a:endParaRPr lang="zh-CN" altLang="en-US" sz="2000" dirty="0">
              <a:latin typeface="楷体" panose="02010609060101010101" charset="-122"/>
              <a:ea typeface="楷体" panose="02010609060101010101" charset="-122"/>
              <a:cs typeface="楷体" panose="02010609060101010101" charset="-122"/>
            </a:endParaRPr>
          </a:p>
          <a:p>
            <a:pPr indent="304800" algn="l" defTabSz="266700" fontAlgn="auto">
              <a:lnSpc>
                <a:spcPts val="2500"/>
              </a:lnSpc>
              <a:spcBef>
                <a:spcPct val="0"/>
              </a:spcBef>
              <a:spcAft>
                <a:spcPct val="0"/>
              </a:spcAft>
            </a:pPr>
            <a:r>
              <a:rPr lang="en-US" altLang="zh-CN" sz="2000" dirty="0">
                <a:latin typeface="楷体" panose="02010609060101010101" charset="-122"/>
                <a:ea typeface="楷体" panose="02010609060101010101" charset="-122"/>
                <a:cs typeface="楷体" panose="02010609060101010101" charset="-122"/>
              </a:rPr>
              <a:t> </a:t>
            </a:r>
            <a:r>
              <a:rPr lang="en-US" altLang="zh-CN" dirty="0">
                <a:latin typeface="楷体" panose="02010609060101010101" charset="-122"/>
                <a:ea typeface="楷体" panose="02010609060101010101" charset="-122"/>
                <a:cs typeface="楷体" panose="02010609060101010101" charset="-122"/>
              </a:rPr>
              <a:t>“</a:t>
            </a:r>
            <a:r>
              <a:rPr dirty="0" err="1">
                <a:latin typeface="楷体" panose="02010609060101010101" charset="-122"/>
                <a:ea typeface="楷体" panose="02010609060101010101" charset="-122"/>
                <a:cs typeface="楷体" panose="02010609060101010101" charset="-122"/>
              </a:rPr>
              <a:t>国别型教材，是指专为某国汉语学习者编写的教材。而“国别化”教材本质上是“国别型”教材</a:t>
            </a:r>
            <a:r>
              <a:rPr dirty="0">
                <a:latin typeface="楷体" panose="02010609060101010101" charset="-122"/>
                <a:ea typeface="楷体" panose="02010609060101010101" charset="-122"/>
                <a:cs typeface="楷体" panose="02010609060101010101" charset="-122"/>
              </a:rPr>
              <a:t>。</a:t>
            </a:r>
            <a:r>
              <a:rPr lang="zh-CN" dirty="0">
                <a:latin typeface="楷体" panose="02010609060101010101" charset="-122"/>
                <a:ea typeface="楷体" panose="02010609060101010101" charset="-122"/>
                <a:cs typeface="楷体" panose="02010609060101010101" charset="-122"/>
              </a:rPr>
              <a:t>（</a:t>
            </a:r>
            <a:r>
              <a:rPr dirty="0" err="1">
                <a:latin typeface="楷体" panose="02010609060101010101" charset="-122"/>
                <a:ea typeface="楷体" panose="02010609060101010101" charset="-122"/>
                <a:cs typeface="楷体" panose="02010609060101010101" charset="-122"/>
                <a:sym typeface="+mn-ea"/>
              </a:rPr>
              <a:t>李泉</a:t>
            </a:r>
            <a:r>
              <a:rPr lang="zh-CN" dirty="0">
                <a:latin typeface="楷体" panose="02010609060101010101" charset="-122"/>
                <a:ea typeface="楷体" panose="02010609060101010101" charset="-122"/>
                <a:cs typeface="楷体" panose="02010609060101010101" charset="-122"/>
                <a:sym typeface="+mn-ea"/>
              </a:rPr>
              <a:t>，</a:t>
            </a:r>
            <a:r>
              <a:rPr dirty="0">
                <a:latin typeface="楷体" panose="02010609060101010101" charset="-122"/>
                <a:ea typeface="楷体" panose="02010609060101010101" charset="-122"/>
                <a:cs typeface="楷体" panose="02010609060101010101" charset="-122"/>
                <a:sym typeface="+mn-ea"/>
              </a:rPr>
              <a:t>2015）</a:t>
            </a:r>
          </a:p>
          <a:p>
            <a:pPr indent="304800" algn="l" defTabSz="266700" fontAlgn="auto">
              <a:lnSpc>
                <a:spcPts val="2500"/>
              </a:lnSpc>
              <a:spcBef>
                <a:spcPct val="0"/>
              </a:spcBef>
              <a:spcAft>
                <a:spcPct val="0"/>
              </a:spcAft>
            </a:pPr>
            <a:r>
              <a:rPr lang="en-US" sz="2000" dirty="0">
                <a:latin typeface="楷体" panose="02010609060101010101" charset="-122"/>
                <a:ea typeface="楷体" panose="02010609060101010101" charset="-122"/>
                <a:cs typeface="楷体" panose="02010609060101010101" charset="-122"/>
              </a:rPr>
              <a:t> </a:t>
            </a:r>
          </a:p>
          <a:p>
            <a:pPr indent="304800" algn="l" defTabSz="266700" fontAlgn="auto">
              <a:lnSpc>
                <a:spcPts val="2500"/>
              </a:lnSpc>
              <a:spcBef>
                <a:spcPct val="0"/>
              </a:spcBef>
              <a:spcAft>
                <a:spcPct val="0"/>
              </a:spcAft>
            </a:pPr>
            <a:r>
              <a:rPr lang="en-US" dirty="0">
                <a:latin typeface="楷体" panose="02010609060101010101" charset="-122"/>
                <a:ea typeface="楷体" panose="02010609060101010101" charset="-122"/>
                <a:cs typeface="楷体" panose="02010609060101010101" charset="-122"/>
              </a:rPr>
              <a:t> </a:t>
            </a:r>
            <a:r>
              <a:rPr dirty="0">
                <a:latin typeface="楷体" panose="02010609060101010101" charset="-122"/>
                <a:ea typeface="楷体" panose="02010609060101010101" charset="-122"/>
                <a:cs typeface="楷体" panose="02010609060101010101" charset="-122"/>
              </a:rPr>
              <a:t>近15年内，国别化汉语教材研究取得了前所未有的进展和实绩，从编写理论到编写实践已形成系统、全面、立体化的研究视角，对编写理据、编写原则、编写理念、编写策略等均有较深刻的认识。</a:t>
            </a:r>
            <a:r>
              <a:rPr lang="zh-CN" dirty="0">
                <a:latin typeface="楷体" panose="02010609060101010101" charset="-122"/>
                <a:ea typeface="楷体" panose="02010609060101010101" charset="-122"/>
                <a:cs typeface="楷体" panose="02010609060101010101" charset="-122"/>
              </a:rPr>
              <a:t>（</a:t>
            </a:r>
            <a:r>
              <a:rPr dirty="0" err="1">
                <a:latin typeface="楷体" panose="02010609060101010101" charset="-122"/>
                <a:ea typeface="楷体" panose="02010609060101010101" charset="-122"/>
                <a:cs typeface="楷体" panose="02010609060101010101" charset="-122"/>
                <a:sym typeface="+mn-ea"/>
              </a:rPr>
              <a:t>栗亚芬</a:t>
            </a:r>
            <a:r>
              <a:rPr lang="zh-CN" dirty="0">
                <a:latin typeface="楷体" panose="02010609060101010101" charset="-122"/>
                <a:ea typeface="楷体" panose="02010609060101010101" charset="-122"/>
                <a:cs typeface="楷体" panose="02010609060101010101" charset="-122"/>
                <a:sym typeface="+mn-ea"/>
              </a:rPr>
              <a:t>，</a:t>
            </a:r>
            <a:r>
              <a:rPr dirty="0">
                <a:latin typeface="楷体" panose="02010609060101010101" charset="-122"/>
                <a:ea typeface="楷体" panose="02010609060101010101" charset="-122"/>
                <a:cs typeface="楷体" panose="02010609060101010101" charset="-122"/>
                <a:sym typeface="+mn-ea"/>
              </a:rPr>
              <a:t>2023）</a:t>
            </a:r>
          </a:p>
        </p:txBody>
      </p:sp>
      <p:sp>
        <p:nvSpPr>
          <p:cNvPr id="6" name="日期占位符 5">
            <a:extLst>
              <a:ext uri="{FF2B5EF4-FFF2-40B4-BE49-F238E27FC236}">
                <a16:creationId xmlns:a16="http://schemas.microsoft.com/office/drawing/2014/main" id="{628BC291-71D2-4526-83EC-8B8C808D101C}"/>
              </a:ext>
            </a:extLst>
          </p:cNvPr>
          <p:cNvSpPr>
            <a:spLocks noGrp="1"/>
          </p:cNvSpPr>
          <p:nvPr>
            <p:ph type="dt" sz="half" idx="2"/>
          </p:nvPr>
        </p:nvSpPr>
        <p:spPr/>
        <p:txBody>
          <a:bodyPr/>
          <a:lstStyle/>
          <a:p>
            <a:fld id="{58CEB593-2F4D-47D0-BDFD-134C5882AE06}"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7" name="页脚占位符 6">
            <a:extLst>
              <a:ext uri="{FF2B5EF4-FFF2-40B4-BE49-F238E27FC236}">
                <a16:creationId xmlns:a16="http://schemas.microsoft.com/office/drawing/2014/main" id="{0A8151D7-94E8-4BE0-86C7-C6ED76299693}"/>
              </a:ext>
            </a:extLst>
          </p:cNvPr>
          <p:cNvSpPr>
            <a:spLocks noGrp="1"/>
          </p:cNvSpPr>
          <p:nvPr>
            <p:ph type="ftr" sz="quarter" idx="3"/>
          </p:nvPr>
        </p:nvSpPr>
        <p:spPr/>
        <p:txBody>
          <a:bodyPr/>
          <a:lstStyle/>
          <a:p>
            <a:r>
              <a:rPr lang="zh-CN" altLang="en-US"/>
              <a:t>椭圆曲线密码体制</a:t>
            </a:r>
          </a:p>
        </p:txBody>
      </p:sp>
      <p:sp>
        <p:nvSpPr>
          <p:cNvPr id="8" name="灯片编号占位符 7">
            <a:extLst>
              <a:ext uri="{FF2B5EF4-FFF2-40B4-BE49-F238E27FC236}">
                <a16:creationId xmlns:a16="http://schemas.microsoft.com/office/drawing/2014/main" id="{6E7BB617-F598-47E0-9FAE-15DBDE6E06AE}"/>
              </a:ext>
            </a:extLst>
          </p:cNvPr>
          <p:cNvSpPr>
            <a:spLocks noGrp="1"/>
          </p:cNvSpPr>
          <p:nvPr>
            <p:ph type="sldNum" sz="quarter" idx="4"/>
          </p:nvPr>
        </p:nvSpPr>
        <p:spPr/>
        <p:txBody>
          <a:bodyPr/>
          <a:lstStyle/>
          <a:p>
            <a:fld id="{9A0DB2DC-4C9A-4742-B13C-FB6460FD3503}" type="slidenum">
              <a:rPr lang="en-US" altLang="zh-CN" smtClean="0"/>
              <a:pPr/>
              <a:t>16</a:t>
            </a:fld>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32410" y="1596390"/>
            <a:ext cx="8605520" cy="1950720"/>
          </a:xfrm>
          <a:prstGeom prst="rect">
            <a:avLst/>
          </a:prstGeom>
        </p:spPr>
        <p:txBody>
          <a:bodyPr wrap="square">
            <a:spAutoFit/>
          </a:bodyPr>
          <a:lstStyle/>
          <a:p>
            <a:pPr marL="0" indent="304800" algn="l" defTabSz="266700">
              <a:lnSpc>
                <a:spcPts val="2000"/>
              </a:lnSpc>
              <a:spcBef>
                <a:spcPct val="0"/>
              </a:spcBef>
              <a:spcAft>
                <a:spcPct val="0"/>
              </a:spcAft>
            </a:pPr>
            <a:r>
              <a:rPr lang="en-US" dirty="0">
                <a:latin typeface="楷体" panose="02010609060101010101" charset="-122"/>
                <a:ea typeface="楷体" panose="02010609060101010101" charset="-122"/>
                <a:cs typeface="楷体" panose="02010609060101010101" charset="-122"/>
                <a:sym typeface="+mn-ea"/>
              </a:rPr>
              <a:t>1.国内出版的各类旅游教材以</a:t>
            </a:r>
            <a:r>
              <a:rPr lang="zh-CN" altLang="en-US" sz="2400" b="1" dirty="0">
                <a:solidFill>
                  <a:schemeClr val="accent5"/>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mn-ea"/>
              </a:rPr>
              <a:t>初中级</a:t>
            </a:r>
            <a:r>
              <a:rPr lang="en-US" dirty="0" err="1">
                <a:latin typeface="楷体" panose="02010609060101010101" charset="-122"/>
                <a:ea typeface="楷体" panose="02010609060101010101" charset="-122"/>
                <a:cs typeface="楷体" panose="02010609060101010101" charset="-122"/>
                <a:sym typeface="+mn-ea"/>
              </a:rPr>
              <a:t>为主，以</a:t>
            </a:r>
            <a:r>
              <a:rPr lang="zh-CN" altLang="en-US" sz="2400" b="1" dirty="0">
                <a:solidFill>
                  <a:schemeClr val="accent5"/>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mn-ea"/>
              </a:rPr>
              <a:t>国内</a:t>
            </a:r>
            <a:r>
              <a:rPr lang="en-US" dirty="0" err="1">
                <a:latin typeface="楷体" panose="02010609060101010101" charset="-122"/>
                <a:ea typeface="楷体" panose="02010609060101010101" charset="-122"/>
                <a:cs typeface="楷体" panose="02010609060101010101" charset="-122"/>
                <a:sym typeface="+mn-ea"/>
              </a:rPr>
              <a:t>为主要旅游目的地</a:t>
            </a:r>
            <a:r>
              <a:rPr lang="en-US" dirty="0">
                <a:latin typeface="楷体" panose="02010609060101010101" charset="-122"/>
                <a:ea typeface="楷体" panose="02010609060101010101" charset="-122"/>
                <a:cs typeface="楷体" panose="02010609060101010101" charset="-122"/>
                <a:sym typeface="+mn-ea"/>
              </a:rPr>
              <a:t>。</a:t>
            </a:r>
          </a:p>
          <a:p>
            <a:pPr marL="0" indent="304800" algn="l" defTabSz="266700">
              <a:lnSpc>
                <a:spcPts val="2000"/>
              </a:lnSpc>
              <a:spcBef>
                <a:spcPct val="0"/>
              </a:spcBef>
              <a:spcAft>
                <a:spcPct val="0"/>
              </a:spcAft>
            </a:pPr>
            <a:endParaRPr lang="en-US" dirty="0">
              <a:latin typeface="楷体" panose="02010609060101010101" charset="-122"/>
              <a:ea typeface="楷体" panose="02010609060101010101" charset="-122"/>
              <a:cs typeface="楷体" panose="02010609060101010101" charset="-122"/>
              <a:sym typeface="+mn-ea"/>
            </a:endParaRPr>
          </a:p>
          <a:p>
            <a:pPr marL="0" indent="304800" algn="l" defTabSz="266700">
              <a:lnSpc>
                <a:spcPts val="2000"/>
              </a:lnSpc>
              <a:spcBef>
                <a:spcPct val="0"/>
              </a:spcBef>
              <a:spcAft>
                <a:spcPct val="0"/>
              </a:spcAft>
            </a:pPr>
            <a:r>
              <a:rPr lang="en-US" dirty="0">
                <a:latin typeface="楷体" panose="02010609060101010101" charset="-122"/>
                <a:ea typeface="楷体" panose="02010609060101010101" charset="-122"/>
                <a:cs typeface="楷体" panose="02010609060101010101" charset="-122"/>
                <a:sym typeface="+mn-ea"/>
              </a:rPr>
              <a:t>2.国内出版的酒店汉语教材</a:t>
            </a:r>
            <a:r>
              <a:rPr lang="zh-CN" altLang="en-US" sz="2400" b="1" dirty="0">
                <a:solidFill>
                  <a:schemeClr val="accent5"/>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mn-ea"/>
              </a:rPr>
              <a:t>较少</a:t>
            </a:r>
            <a:r>
              <a:rPr lang="en-US" dirty="0">
                <a:latin typeface="楷体" panose="02010609060101010101" charset="-122"/>
                <a:ea typeface="楷体" panose="02010609060101010101" charset="-122"/>
                <a:cs typeface="楷体" panose="02010609060101010101" charset="-122"/>
                <a:sym typeface="+mn-ea"/>
              </a:rPr>
              <a:t>，</a:t>
            </a:r>
            <a:r>
              <a:rPr lang="en-US" dirty="0" err="1">
                <a:latin typeface="楷体" panose="02010609060101010101" charset="-122"/>
                <a:ea typeface="楷体" panose="02010609060101010101" charset="-122"/>
                <a:cs typeface="楷体" panose="02010609060101010101" charset="-122"/>
                <a:sym typeface="+mn-ea"/>
              </a:rPr>
              <a:t>而韩国、泰国编写并出版了不少本土化、国别化的酒店汉语教材</a:t>
            </a:r>
            <a:r>
              <a:rPr lang="en-US" dirty="0">
                <a:latin typeface="楷体" panose="02010609060101010101" charset="-122"/>
                <a:ea typeface="楷体" panose="02010609060101010101" charset="-122"/>
                <a:cs typeface="楷体" panose="02010609060101010101" charset="-122"/>
                <a:sym typeface="+mn-ea"/>
              </a:rPr>
              <a:t>。</a:t>
            </a:r>
          </a:p>
          <a:p>
            <a:pPr marL="0" indent="304800" algn="l" defTabSz="266700">
              <a:lnSpc>
                <a:spcPts val="2000"/>
              </a:lnSpc>
              <a:spcBef>
                <a:spcPct val="0"/>
              </a:spcBef>
              <a:spcAft>
                <a:spcPct val="0"/>
              </a:spcAft>
            </a:pPr>
            <a:endParaRPr lang="en-US" dirty="0">
              <a:latin typeface="楷体" panose="02010609060101010101" charset="-122"/>
              <a:ea typeface="楷体" panose="02010609060101010101" charset="-122"/>
              <a:cs typeface="楷体" panose="02010609060101010101" charset="-122"/>
              <a:sym typeface="+mn-ea"/>
            </a:endParaRPr>
          </a:p>
          <a:p>
            <a:pPr marL="0" indent="304800" algn="l" defTabSz="266700">
              <a:lnSpc>
                <a:spcPts val="2000"/>
              </a:lnSpc>
              <a:spcBef>
                <a:spcPct val="0"/>
              </a:spcBef>
              <a:spcAft>
                <a:spcPct val="0"/>
              </a:spcAft>
            </a:pPr>
            <a:r>
              <a:rPr lang="en-US" dirty="0">
                <a:latin typeface="楷体" panose="02010609060101010101" charset="-122"/>
                <a:ea typeface="楷体" panose="02010609060101010101" charset="-122"/>
                <a:cs typeface="楷体" panose="02010609060101010101" charset="-122"/>
                <a:sym typeface="+mn-ea"/>
              </a:rPr>
              <a:t>3.当前学界对</a:t>
            </a:r>
            <a:r>
              <a:rPr lang="zh-CN" altLang="en-US" sz="2400" b="1" dirty="0">
                <a:solidFill>
                  <a:schemeClr val="accent5"/>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mn-ea"/>
              </a:rPr>
              <a:t>国别化</a:t>
            </a:r>
            <a:r>
              <a:rPr lang="en-US" dirty="0" err="1">
                <a:latin typeface="楷体" panose="02010609060101010101" charset="-122"/>
                <a:ea typeface="楷体" panose="02010609060101010101" charset="-122"/>
                <a:cs typeface="楷体" panose="02010609060101010101" charset="-122"/>
                <a:sym typeface="+mn-ea"/>
              </a:rPr>
              <a:t>的酒店旅游汉语的相关研究较少</a:t>
            </a:r>
            <a:r>
              <a:rPr lang="en-US" dirty="0">
                <a:latin typeface="楷体" panose="02010609060101010101" charset="-122"/>
                <a:ea typeface="楷体" panose="02010609060101010101" charset="-122"/>
                <a:cs typeface="楷体" panose="02010609060101010101" charset="-122"/>
                <a:sym typeface="+mn-ea"/>
              </a:rPr>
              <a:t>。</a:t>
            </a:r>
            <a:endParaRPr lang="en-US" b="0" dirty="0">
              <a:latin typeface="楷体" panose="02010609060101010101" charset="-122"/>
              <a:ea typeface="楷体" panose="02010609060101010101" charset="-122"/>
              <a:cs typeface="楷体" panose="02010609060101010101" charset="-122"/>
            </a:endParaRPr>
          </a:p>
          <a:p>
            <a:pPr indent="304800" algn="l" defTabSz="266700" fontAlgn="auto">
              <a:lnSpc>
                <a:spcPts val="2500"/>
              </a:lnSpc>
              <a:spcBef>
                <a:spcPct val="0"/>
              </a:spcBef>
              <a:spcAft>
                <a:spcPct val="0"/>
              </a:spcAft>
            </a:pPr>
            <a:endParaRPr lang="en-US" dirty="0">
              <a:latin typeface="楷体" panose="02010609060101010101" charset="-122"/>
              <a:ea typeface="楷体" panose="02010609060101010101" charset="-122"/>
              <a:cs typeface="楷体" panose="02010609060101010101" charset="-122"/>
              <a:sym typeface="+mn-ea"/>
            </a:endParaRPr>
          </a:p>
        </p:txBody>
      </p:sp>
      <p:sp>
        <p:nvSpPr>
          <p:cNvPr id="9" name="文本框 8"/>
          <p:cNvSpPr txBox="1"/>
          <p:nvPr/>
        </p:nvSpPr>
        <p:spPr>
          <a:xfrm>
            <a:off x="127000" y="909320"/>
            <a:ext cx="4927600" cy="398780"/>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rPr>
              <a:t>研究综述</a:t>
            </a:r>
          </a:p>
        </p:txBody>
      </p:sp>
      <p:sp>
        <p:nvSpPr>
          <p:cNvPr id="17" name="矩形 4">
            <a:extLst>
              <a:ext uri="{FF2B5EF4-FFF2-40B4-BE49-F238E27FC236}">
                <a16:creationId xmlns:a16="http://schemas.microsoft.com/office/drawing/2014/main" id="{34155650-AD74-4E12-9706-3F84F80F248A}"/>
              </a:ext>
            </a:extLst>
          </p:cNvPr>
          <p:cNvSpPr/>
          <p:nvPr/>
        </p:nvSpPr>
        <p:spPr>
          <a:xfrm>
            <a:off x="0" y="1"/>
            <a:ext cx="9144000" cy="45719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8" name="矩形 17">
            <a:extLst>
              <a:ext uri="{FF2B5EF4-FFF2-40B4-BE49-F238E27FC236}">
                <a16:creationId xmlns:a16="http://schemas.microsoft.com/office/drawing/2014/main" id="{6309E7AC-A7FF-4F95-92D1-9DCF8F90554C}"/>
              </a:ext>
            </a:extLst>
          </p:cNvPr>
          <p:cNvSpPr/>
          <p:nvPr/>
        </p:nvSpPr>
        <p:spPr>
          <a:xfrm>
            <a:off x="1800303" y="0"/>
            <a:ext cx="1666001" cy="457199"/>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9" name="TextBox 7">
            <a:extLst>
              <a:ext uri="{FF2B5EF4-FFF2-40B4-BE49-F238E27FC236}">
                <a16:creationId xmlns:a16="http://schemas.microsoft.com/office/drawing/2014/main" id="{AA8D110E-F5F3-4F9D-8D5F-F2732AFAC0F7}"/>
              </a:ext>
            </a:extLst>
          </p:cNvPr>
          <p:cNvSpPr txBox="1"/>
          <p:nvPr/>
        </p:nvSpPr>
        <p:spPr>
          <a:xfrm>
            <a:off x="1965249" y="508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研究背景</a:t>
            </a:r>
          </a:p>
        </p:txBody>
      </p:sp>
      <p:sp>
        <p:nvSpPr>
          <p:cNvPr id="20" name="TextBox 9">
            <a:extLst>
              <a:ext uri="{FF2B5EF4-FFF2-40B4-BE49-F238E27FC236}">
                <a16:creationId xmlns:a16="http://schemas.microsoft.com/office/drawing/2014/main" id="{B0F69C8D-94DA-4DC9-A00C-AE2679229239}"/>
              </a:ext>
            </a:extLst>
          </p:cNvPr>
          <p:cNvSpPr txBox="1"/>
          <p:nvPr/>
        </p:nvSpPr>
        <p:spPr>
          <a:xfrm>
            <a:off x="3667049" y="635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21" name="TextBox 10">
            <a:extLst>
              <a:ext uri="{FF2B5EF4-FFF2-40B4-BE49-F238E27FC236}">
                <a16:creationId xmlns:a16="http://schemas.microsoft.com/office/drawing/2014/main" id="{B67F8BFB-6664-4D97-A8EA-445720359609}"/>
              </a:ext>
            </a:extLst>
          </p:cNvPr>
          <p:cNvSpPr txBox="1"/>
          <p:nvPr/>
        </p:nvSpPr>
        <p:spPr>
          <a:xfrm>
            <a:off x="5368849" y="6985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2" name="TextBox 11">
            <a:extLst>
              <a:ext uri="{FF2B5EF4-FFF2-40B4-BE49-F238E27FC236}">
                <a16:creationId xmlns:a16="http://schemas.microsoft.com/office/drawing/2014/main" id="{30336E7E-491E-4591-B244-13474E521C0C}"/>
              </a:ext>
            </a:extLst>
          </p:cNvPr>
          <p:cNvSpPr txBox="1"/>
          <p:nvPr/>
        </p:nvSpPr>
        <p:spPr>
          <a:xfrm>
            <a:off x="7070651" y="6985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23" name="图片 22" descr="logo_画板 1">
            <a:extLst>
              <a:ext uri="{FF2B5EF4-FFF2-40B4-BE49-F238E27FC236}">
                <a16:creationId xmlns:a16="http://schemas.microsoft.com/office/drawing/2014/main" id="{3968D848-C430-41E0-8097-8A0702E5F8C6}"/>
              </a:ext>
            </a:extLst>
          </p:cNvPr>
          <p:cNvPicPr>
            <a:picLocks noChangeAspect="1"/>
          </p:cNvPicPr>
          <p:nvPr/>
        </p:nvPicPr>
        <p:blipFill>
          <a:blip r:embed="rId2"/>
          <a:stretch>
            <a:fillRect/>
          </a:stretch>
        </p:blipFill>
        <p:spPr>
          <a:xfrm>
            <a:off x="265431" y="-57150"/>
            <a:ext cx="1160967" cy="653757"/>
          </a:xfrm>
          <a:prstGeom prst="rect">
            <a:avLst/>
          </a:prstGeom>
        </p:spPr>
      </p:pic>
      <p:sp>
        <p:nvSpPr>
          <p:cNvPr id="6" name="日期占位符 5">
            <a:extLst>
              <a:ext uri="{FF2B5EF4-FFF2-40B4-BE49-F238E27FC236}">
                <a16:creationId xmlns:a16="http://schemas.microsoft.com/office/drawing/2014/main" id="{AAC62162-D192-405C-814B-C76B772E6E72}"/>
              </a:ext>
            </a:extLst>
          </p:cNvPr>
          <p:cNvSpPr>
            <a:spLocks noGrp="1"/>
          </p:cNvSpPr>
          <p:nvPr>
            <p:ph type="dt" sz="half" idx="2"/>
          </p:nvPr>
        </p:nvSpPr>
        <p:spPr/>
        <p:txBody>
          <a:bodyPr/>
          <a:lstStyle/>
          <a:p>
            <a:fld id="{A858A496-6C8D-4FC9-8FAB-3B7EF415BABD}"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7" name="页脚占位符 6">
            <a:extLst>
              <a:ext uri="{FF2B5EF4-FFF2-40B4-BE49-F238E27FC236}">
                <a16:creationId xmlns:a16="http://schemas.microsoft.com/office/drawing/2014/main" id="{673375F2-975A-4594-8BDE-65F5429DBE1B}"/>
              </a:ext>
            </a:extLst>
          </p:cNvPr>
          <p:cNvSpPr>
            <a:spLocks noGrp="1"/>
          </p:cNvSpPr>
          <p:nvPr>
            <p:ph type="ftr" sz="quarter" idx="3"/>
          </p:nvPr>
        </p:nvSpPr>
        <p:spPr/>
        <p:txBody>
          <a:bodyPr/>
          <a:lstStyle/>
          <a:p>
            <a:r>
              <a:rPr lang="zh-CN" altLang="en-US"/>
              <a:t>椭圆曲线密码体制</a:t>
            </a:r>
          </a:p>
        </p:txBody>
      </p:sp>
      <p:sp>
        <p:nvSpPr>
          <p:cNvPr id="8" name="灯片编号占位符 7">
            <a:extLst>
              <a:ext uri="{FF2B5EF4-FFF2-40B4-BE49-F238E27FC236}">
                <a16:creationId xmlns:a16="http://schemas.microsoft.com/office/drawing/2014/main" id="{A0C9F298-4667-44DB-9229-658C3D881D82}"/>
              </a:ext>
            </a:extLst>
          </p:cNvPr>
          <p:cNvSpPr>
            <a:spLocks noGrp="1"/>
          </p:cNvSpPr>
          <p:nvPr>
            <p:ph type="sldNum" sz="quarter" idx="4"/>
          </p:nvPr>
        </p:nvSpPr>
        <p:spPr/>
        <p:txBody>
          <a:bodyPr/>
          <a:lstStyle/>
          <a:p>
            <a:fld id="{9A0DB2DC-4C9A-4742-B13C-FB6460FD3503}" type="slidenum">
              <a:rPr lang="en-US" altLang="zh-CN" smtClean="0"/>
              <a:pPr/>
              <a:t>17</a:t>
            </a:fld>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495165" y="998220"/>
            <a:ext cx="4478020" cy="3404870"/>
          </a:xfrm>
          <a:prstGeom prst="rect">
            <a:avLst/>
          </a:prstGeom>
        </p:spPr>
      </p:pic>
      <p:sp>
        <p:nvSpPr>
          <p:cNvPr id="7" name="文本框 6"/>
          <p:cNvSpPr txBox="1"/>
          <p:nvPr/>
        </p:nvSpPr>
        <p:spPr>
          <a:xfrm>
            <a:off x="203835" y="1573530"/>
            <a:ext cx="3990340" cy="1630045"/>
          </a:xfrm>
          <a:prstGeom prst="rect">
            <a:avLst/>
          </a:prstGeom>
          <a:noFill/>
        </p:spPr>
        <p:txBody>
          <a:bodyPr wrap="square" rtlCol="0" anchor="t">
            <a:spAutoFit/>
          </a:bodyPr>
          <a:lstStyle/>
          <a:p>
            <a:pPr indent="0" algn="just" defTabSz="266700" fontAlgn="auto">
              <a:lnSpc>
                <a:spcPts val="2400"/>
              </a:lnSpc>
              <a:spcBef>
                <a:spcPct val="0"/>
              </a:spcBef>
              <a:spcAft>
                <a:spcPct val="0"/>
              </a:spcAft>
            </a:pPr>
            <a:r>
              <a:rPr lang="zh-CN" altLang="en-US">
                <a:latin typeface="楷体" panose="02010609060101010101" charset="-122"/>
                <a:ea typeface="楷体" panose="02010609060101010101" charset="-122"/>
                <a:cs typeface="楷体" panose="02010609060101010101" charset="-122"/>
                <a:sym typeface="+mn-ea"/>
              </a:rPr>
              <a:t>罗秋明（2019）调查了泰国各地高校中文专业酒店汉语自编教材现状的调查，发现存在“教材编写人员缺乏行业背景；教材使用环境不明；教材内容的职业化倾向不强”等问题。</a:t>
            </a:r>
          </a:p>
        </p:txBody>
      </p:sp>
      <p:sp>
        <p:nvSpPr>
          <p:cNvPr id="8" name="文本框 7"/>
          <p:cNvSpPr txBox="1"/>
          <p:nvPr/>
        </p:nvSpPr>
        <p:spPr>
          <a:xfrm>
            <a:off x="5126990" y="4403090"/>
            <a:ext cx="4566285" cy="306705"/>
          </a:xfrm>
          <a:prstGeom prst="rect">
            <a:avLst/>
          </a:prstGeom>
          <a:noFill/>
        </p:spPr>
        <p:txBody>
          <a:bodyPr wrap="square" rtlCol="0">
            <a:spAutoFit/>
          </a:bodyPr>
          <a:lstStyle/>
          <a:p>
            <a:r>
              <a:rPr lang="zh-CN" altLang="en-US" sz="1400">
                <a:latin typeface="楷体" panose="02010609060101010101" charset="-122"/>
                <a:ea typeface="楷体" panose="02010609060101010101" charset="-122"/>
              </a:rPr>
              <a:t>泰国酒店旅游类汉语已出版教材情况表</a:t>
            </a:r>
          </a:p>
        </p:txBody>
      </p:sp>
      <p:sp>
        <p:nvSpPr>
          <p:cNvPr id="9" name="文本框 8"/>
          <p:cNvSpPr txBox="1"/>
          <p:nvPr/>
        </p:nvSpPr>
        <p:spPr>
          <a:xfrm>
            <a:off x="127000" y="1042035"/>
            <a:ext cx="4927600" cy="398780"/>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rPr>
              <a:t>泰国酒店旅游汉语教材的编写情况</a:t>
            </a:r>
          </a:p>
        </p:txBody>
      </p:sp>
      <p:sp>
        <p:nvSpPr>
          <p:cNvPr id="13" name="矩形 4">
            <a:extLst>
              <a:ext uri="{FF2B5EF4-FFF2-40B4-BE49-F238E27FC236}">
                <a16:creationId xmlns:a16="http://schemas.microsoft.com/office/drawing/2014/main" id="{2174B6C2-B525-45A7-9318-36756CB0407D}"/>
              </a:ext>
            </a:extLst>
          </p:cNvPr>
          <p:cNvSpPr/>
          <p:nvPr/>
        </p:nvSpPr>
        <p:spPr>
          <a:xfrm>
            <a:off x="0" y="1"/>
            <a:ext cx="9144000" cy="45719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4" name="矩形 13">
            <a:extLst>
              <a:ext uri="{FF2B5EF4-FFF2-40B4-BE49-F238E27FC236}">
                <a16:creationId xmlns:a16="http://schemas.microsoft.com/office/drawing/2014/main" id="{CC54F056-77DC-4E75-9176-726DC9C7F82B}"/>
              </a:ext>
            </a:extLst>
          </p:cNvPr>
          <p:cNvSpPr/>
          <p:nvPr/>
        </p:nvSpPr>
        <p:spPr>
          <a:xfrm>
            <a:off x="1800303" y="0"/>
            <a:ext cx="1666001" cy="457199"/>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5" name="TextBox 7">
            <a:extLst>
              <a:ext uri="{FF2B5EF4-FFF2-40B4-BE49-F238E27FC236}">
                <a16:creationId xmlns:a16="http://schemas.microsoft.com/office/drawing/2014/main" id="{2773E2F6-2262-4F2D-BA5C-23247860A5BB}"/>
              </a:ext>
            </a:extLst>
          </p:cNvPr>
          <p:cNvSpPr txBox="1"/>
          <p:nvPr/>
        </p:nvSpPr>
        <p:spPr>
          <a:xfrm>
            <a:off x="1965249" y="508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研究背景</a:t>
            </a:r>
          </a:p>
        </p:txBody>
      </p:sp>
      <p:sp>
        <p:nvSpPr>
          <p:cNvPr id="16" name="TextBox 9">
            <a:extLst>
              <a:ext uri="{FF2B5EF4-FFF2-40B4-BE49-F238E27FC236}">
                <a16:creationId xmlns:a16="http://schemas.microsoft.com/office/drawing/2014/main" id="{0BD36E5B-6D1F-46F7-A543-A63D95CDFECA}"/>
              </a:ext>
            </a:extLst>
          </p:cNvPr>
          <p:cNvSpPr txBox="1"/>
          <p:nvPr/>
        </p:nvSpPr>
        <p:spPr>
          <a:xfrm>
            <a:off x="3667049" y="635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17" name="TextBox 10">
            <a:extLst>
              <a:ext uri="{FF2B5EF4-FFF2-40B4-BE49-F238E27FC236}">
                <a16:creationId xmlns:a16="http://schemas.microsoft.com/office/drawing/2014/main" id="{40F4D5C8-E5CB-40D0-8D24-2BE3C5AF3CF0}"/>
              </a:ext>
            </a:extLst>
          </p:cNvPr>
          <p:cNvSpPr txBox="1"/>
          <p:nvPr/>
        </p:nvSpPr>
        <p:spPr>
          <a:xfrm>
            <a:off x="5368849" y="6985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18" name="TextBox 11">
            <a:extLst>
              <a:ext uri="{FF2B5EF4-FFF2-40B4-BE49-F238E27FC236}">
                <a16:creationId xmlns:a16="http://schemas.microsoft.com/office/drawing/2014/main" id="{BEF86074-F9B6-47C2-ACD5-3E10CE09045E}"/>
              </a:ext>
            </a:extLst>
          </p:cNvPr>
          <p:cNvSpPr txBox="1"/>
          <p:nvPr/>
        </p:nvSpPr>
        <p:spPr>
          <a:xfrm>
            <a:off x="7070651" y="6985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19" name="图片 18" descr="logo_画板 1">
            <a:extLst>
              <a:ext uri="{FF2B5EF4-FFF2-40B4-BE49-F238E27FC236}">
                <a16:creationId xmlns:a16="http://schemas.microsoft.com/office/drawing/2014/main" id="{5AA5382C-08D4-47BA-BC21-BF7DEE09D527}"/>
              </a:ext>
            </a:extLst>
          </p:cNvPr>
          <p:cNvPicPr>
            <a:picLocks noChangeAspect="1"/>
          </p:cNvPicPr>
          <p:nvPr/>
        </p:nvPicPr>
        <p:blipFill>
          <a:blip r:embed="rId3"/>
          <a:stretch>
            <a:fillRect/>
          </a:stretch>
        </p:blipFill>
        <p:spPr>
          <a:xfrm>
            <a:off x="265431" y="-57150"/>
            <a:ext cx="1160967" cy="653757"/>
          </a:xfrm>
          <a:prstGeom prst="rect">
            <a:avLst/>
          </a:prstGeom>
        </p:spPr>
      </p:pic>
      <p:sp>
        <p:nvSpPr>
          <p:cNvPr id="5" name="日期占位符 4">
            <a:extLst>
              <a:ext uri="{FF2B5EF4-FFF2-40B4-BE49-F238E27FC236}">
                <a16:creationId xmlns:a16="http://schemas.microsoft.com/office/drawing/2014/main" id="{21E7767F-84B5-48D9-B2F2-B558AD17B7EC}"/>
              </a:ext>
            </a:extLst>
          </p:cNvPr>
          <p:cNvSpPr>
            <a:spLocks noGrp="1"/>
          </p:cNvSpPr>
          <p:nvPr>
            <p:ph type="dt" sz="half" idx="2"/>
          </p:nvPr>
        </p:nvSpPr>
        <p:spPr/>
        <p:txBody>
          <a:bodyPr/>
          <a:lstStyle/>
          <a:p>
            <a:fld id="{99ED2B94-8A7D-4DE6-B54B-A3B059EBF432}"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10" name="页脚占位符 9">
            <a:extLst>
              <a:ext uri="{FF2B5EF4-FFF2-40B4-BE49-F238E27FC236}">
                <a16:creationId xmlns:a16="http://schemas.microsoft.com/office/drawing/2014/main" id="{FE1EF9C6-36AC-4952-A3DE-FC30015D55A0}"/>
              </a:ext>
            </a:extLst>
          </p:cNvPr>
          <p:cNvSpPr>
            <a:spLocks noGrp="1"/>
          </p:cNvSpPr>
          <p:nvPr>
            <p:ph type="ftr" sz="quarter" idx="3"/>
          </p:nvPr>
        </p:nvSpPr>
        <p:spPr/>
        <p:txBody>
          <a:bodyPr/>
          <a:lstStyle/>
          <a:p>
            <a:r>
              <a:rPr lang="zh-CN" altLang="en-US"/>
              <a:t>椭圆曲线密码体制</a:t>
            </a:r>
          </a:p>
        </p:txBody>
      </p:sp>
      <p:sp>
        <p:nvSpPr>
          <p:cNvPr id="11" name="灯片编号占位符 10">
            <a:extLst>
              <a:ext uri="{FF2B5EF4-FFF2-40B4-BE49-F238E27FC236}">
                <a16:creationId xmlns:a16="http://schemas.microsoft.com/office/drawing/2014/main" id="{6AEB2AF0-D05A-414F-909E-A60114F65CA9}"/>
              </a:ext>
            </a:extLst>
          </p:cNvPr>
          <p:cNvSpPr>
            <a:spLocks noGrp="1"/>
          </p:cNvSpPr>
          <p:nvPr>
            <p:ph type="sldNum" sz="quarter" idx="4"/>
          </p:nvPr>
        </p:nvSpPr>
        <p:spPr/>
        <p:txBody>
          <a:bodyPr/>
          <a:lstStyle/>
          <a:p>
            <a:fld id="{9A0DB2DC-4C9A-4742-B13C-FB6460FD3503}" type="slidenum">
              <a:rPr lang="en-US" altLang="zh-CN" smtClean="0"/>
              <a:pPr/>
              <a:t>18</a:t>
            </a:fld>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31850" y="1342390"/>
            <a:ext cx="7881620" cy="398780"/>
          </a:xfrm>
          <a:prstGeom prst="rect">
            <a:avLst/>
          </a:prstGeom>
        </p:spPr>
        <p:txBody>
          <a:bodyPr wrap="square">
            <a:spAutoFit/>
          </a:bodyPr>
          <a:lstStyle/>
          <a:p>
            <a:pPr indent="0" algn="just" defTabSz="266700" fontAlgn="auto">
              <a:lnSpc>
                <a:spcPts val="2400"/>
              </a:lnSpc>
              <a:spcBef>
                <a:spcPct val="0"/>
              </a:spcBef>
              <a:spcAft>
                <a:spcPct val="0"/>
              </a:spcAft>
            </a:pPr>
            <a:r>
              <a:rPr lang="en-US" altLang="zh-CN" sz="2000">
                <a:latin typeface="楷体" panose="02010609060101010101" charset="-122"/>
                <a:ea typeface="楷体" panose="02010609060101010101" charset="-122"/>
                <a:cs typeface="楷体" panose="02010609060101010101" charset="-122"/>
              </a:rPr>
              <a:t>    </a:t>
            </a:r>
            <a:endParaRPr lang="zh-CN" altLang="en-US">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863600" y="2571750"/>
            <a:ext cx="7708900" cy="398780"/>
          </a:xfrm>
          <a:prstGeom prst="rect">
            <a:avLst/>
          </a:prstGeom>
        </p:spPr>
        <p:txBody>
          <a:bodyPr wrap="square">
            <a:spAutoFit/>
          </a:bodyPr>
          <a:lstStyle/>
          <a:p>
            <a:pPr indent="0" algn="just" defTabSz="266700" fontAlgn="auto">
              <a:lnSpc>
                <a:spcPts val="2400"/>
              </a:lnSpc>
              <a:spcBef>
                <a:spcPct val="0"/>
              </a:spcBef>
              <a:spcAft>
                <a:spcPct val="0"/>
              </a:spcAft>
            </a:pPr>
            <a:r>
              <a:rPr lang="en-US" altLang="zh-CN" sz="2000">
                <a:latin typeface="楷体" panose="02010609060101010101" charset="-122"/>
                <a:ea typeface="楷体" panose="02010609060101010101" charset="-122"/>
                <a:cs typeface="楷体" panose="02010609060101010101" charset="-122"/>
              </a:rPr>
              <a:t>   </a:t>
            </a:r>
            <a:endParaRPr lang="zh-CN" altLang="en-US">
              <a:latin typeface="楷体" panose="02010609060101010101" charset="-122"/>
              <a:ea typeface="楷体" panose="02010609060101010101" charset="-122"/>
              <a:cs typeface="楷体" panose="02010609060101010101" charset="-122"/>
            </a:endParaRPr>
          </a:p>
        </p:txBody>
      </p:sp>
      <p:sp>
        <p:nvSpPr>
          <p:cNvPr id="8" name="文本框 7"/>
          <p:cNvSpPr txBox="1"/>
          <p:nvPr/>
        </p:nvSpPr>
        <p:spPr>
          <a:xfrm>
            <a:off x="704215" y="1598295"/>
            <a:ext cx="7938135" cy="1372235"/>
          </a:xfrm>
          <a:prstGeom prst="rect">
            <a:avLst/>
          </a:prstGeom>
        </p:spPr>
        <p:txBody>
          <a:bodyPr wrap="square" anchor="t" anchorCtr="0">
            <a:noAutofit/>
          </a:bodyPr>
          <a:lstStyle/>
          <a:p>
            <a:pPr indent="304800" algn="l" defTabSz="266700" fontAlgn="auto">
              <a:lnSpc>
                <a:spcPts val="2400"/>
              </a:lnSpc>
            </a:pPr>
            <a:r>
              <a:rPr lang="zh-CN" altLang="en-US">
                <a:latin typeface="楷体" panose="02010609060101010101" charset="-122"/>
                <a:ea typeface="楷体" panose="02010609060101010101" charset="-122"/>
                <a:cs typeface="楷体" panose="02010609060101010101" charset="-122"/>
              </a:rPr>
              <a:t>据于泓珊，张新生（2022）统计，英国高等教育阶段的本土中文教材中，通用型教材有43种，专门用途教材有11种。2022年才出版了英国</a:t>
            </a:r>
            <a:r>
              <a:rPr lang="zh-CN" altLang="en-US" sz="2400" b="1">
                <a:solidFill>
                  <a:schemeClr val="accent5"/>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rPr>
              <a:t>第一部</a:t>
            </a:r>
            <a:r>
              <a:rPr lang="zh-CN" altLang="en-US">
                <a:latin typeface="楷体" panose="02010609060101010101" charset="-122"/>
                <a:ea typeface="楷体" panose="02010609060101010101" charset="-122"/>
                <a:cs typeface="楷体" panose="02010609060101010101" charset="-122"/>
              </a:rPr>
              <a:t>酒店旅游类本土汉语教材。</a:t>
            </a:r>
          </a:p>
        </p:txBody>
      </p:sp>
      <p:graphicFrame>
        <p:nvGraphicFramePr>
          <p:cNvPr id="6" name="表格 5"/>
          <p:cNvGraphicFramePr/>
          <p:nvPr>
            <p:custDataLst>
              <p:tags r:id="rId1"/>
            </p:custDataLst>
          </p:nvPr>
        </p:nvGraphicFramePr>
        <p:xfrm>
          <a:off x="831850" y="3395345"/>
          <a:ext cx="7594600" cy="1085215"/>
        </p:xfrm>
        <a:graphic>
          <a:graphicData uri="http://schemas.openxmlformats.org/drawingml/2006/table">
            <a:tbl>
              <a:tblPr/>
              <a:tblGrid>
                <a:gridCol w="502285">
                  <a:extLst>
                    <a:ext uri="{9D8B030D-6E8A-4147-A177-3AD203B41FA5}">
                      <a16:colId xmlns:a16="http://schemas.microsoft.com/office/drawing/2014/main" val="20000"/>
                    </a:ext>
                  </a:extLst>
                </a:gridCol>
                <a:gridCol w="2936875">
                  <a:extLst>
                    <a:ext uri="{9D8B030D-6E8A-4147-A177-3AD203B41FA5}">
                      <a16:colId xmlns:a16="http://schemas.microsoft.com/office/drawing/2014/main" val="20001"/>
                    </a:ext>
                  </a:extLst>
                </a:gridCol>
                <a:gridCol w="2223770">
                  <a:extLst>
                    <a:ext uri="{9D8B030D-6E8A-4147-A177-3AD203B41FA5}">
                      <a16:colId xmlns:a16="http://schemas.microsoft.com/office/drawing/2014/main" val="20002"/>
                    </a:ext>
                  </a:extLst>
                </a:gridCol>
                <a:gridCol w="989965">
                  <a:extLst>
                    <a:ext uri="{9D8B030D-6E8A-4147-A177-3AD203B41FA5}">
                      <a16:colId xmlns:a16="http://schemas.microsoft.com/office/drawing/2014/main" val="20003"/>
                    </a:ext>
                  </a:extLst>
                </a:gridCol>
                <a:gridCol w="941705">
                  <a:extLst>
                    <a:ext uri="{9D8B030D-6E8A-4147-A177-3AD203B41FA5}">
                      <a16:colId xmlns:a16="http://schemas.microsoft.com/office/drawing/2014/main" val="20004"/>
                    </a:ext>
                  </a:extLst>
                </a:gridCol>
              </a:tblGrid>
              <a:tr h="323215">
                <a:tc>
                  <a:txBody>
                    <a:bodyPr/>
                    <a:lstStyle/>
                    <a:p>
                      <a:pPr marL="0" indent="0" algn="ctr">
                        <a:lnSpc>
                          <a:spcPts val="2000"/>
                        </a:lnSpc>
                        <a:spcBef>
                          <a:spcPct val="0"/>
                        </a:spcBef>
                        <a:spcAft>
                          <a:spcPct val="0"/>
                        </a:spcAft>
                      </a:pPr>
                      <a:r>
                        <a:rPr lang="zh-CN" sz="1400" b="1">
                          <a:solidFill>
                            <a:schemeClr val="tx1"/>
                          </a:solidFill>
                          <a:latin typeface="楷体" panose="02010609060101010101" charset="-122"/>
                          <a:ea typeface="楷体" panose="02010609060101010101" charset="-122"/>
                        </a:rPr>
                        <a:t>国别</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2000"/>
                        </a:lnSpc>
                        <a:spcBef>
                          <a:spcPct val="0"/>
                        </a:spcBef>
                        <a:spcAft>
                          <a:spcPct val="0"/>
                        </a:spcAft>
                      </a:pPr>
                      <a:r>
                        <a:rPr lang="zh-CN" sz="1400" b="1">
                          <a:solidFill>
                            <a:schemeClr val="tx1"/>
                          </a:solidFill>
                          <a:latin typeface="楷体" panose="02010609060101010101" charset="-122"/>
                          <a:ea typeface="楷体" panose="02010609060101010101" charset="-122"/>
                        </a:rPr>
                        <a:t>教材名称</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2000"/>
                        </a:lnSpc>
                        <a:spcBef>
                          <a:spcPct val="0"/>
                        </a:spcBef>
                        <a:spcAft>
                          <a:spcPct val="0"/>
                        </a:spcAft>
                      </a:pPr>
                      <a:r>
                        <a:rPr lang="zh-CN" sz="1400" b="1">
                          <a:solidFill>
                            <a:schemeClr val="tx1"/>
                          </a:solidFill>
                          <a:latin typeface="楷体" panose="02010609060101010101" charset="-122"/>
                          <a:ea typeface="楷体" panose="02010609060101010101" charset="-122"/>
                        </a:rPr>
                        <a:t>主编</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2000"/>
                        </a:lnSpc>
                        <a:spcBef>
                          <a:spcPct val="0"/>
                        </a:spcBef>
                        <a:spcAft>
                          <a:spcPct val="0"/>
                        </a:spcAft>
                      </a:pPr>
                      <a:r>
                        <a:rPr lang="zh-CN" sz="1400" b="1">
                          <a:solidFill>
                            <a:schemeClr val="tx1"/>
                          </a:solidFill>
                          <a:latin typeface="楷体" panose="02010609060101010101" charset="-122"/>
                          <a:ea typeface="楷体" panose="02010609060101010101" charset="-122"/>
                        </a:rPr>
                        <a:t>出版时间</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2000"/>
                        </a:lnSpc>
                        <a:spcBef>
                          <a:spcPct val="0"/>
                        </a:spcBef>
                        <a:spcAft>
                          <a:spcPct val="0"/>
                        </a:spcAft>
                      </a:pPr>
                      <a:r>
                        <a:rPr lang="zh-CN" sz="1400" b="1">
                          <a:solidFill>
                            <a:schemeClr val="tx1"/>
                          </a:solidFill>
                          <a:latin typeface="楷体" panose="02010609060101010101" charset="-122"/>
                          <a:ea typeface="楷体" panose="02010609060101010101" charset="-122"/>
                        </a:rPr>
                        <a:t>出版社</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762000">
                <a:tc>
                  <a:txBody>
                    <a:bodyPr/>
                    <a:lstStyle/>
                    <a:p>
                      <a:pPr marL="0" indent="0" algn="ctr">
                        <a:lnSpc>
                          <a:spcPts val="2000"/>
                        </a:lnSpc>
                        <a:spcBef>
                          <a:spcPct val="0"/>
                        </a:spcBef>
                        <a:spcAft>
                          <a:spcPct val="0"/>
                        </a:spcAft>
                      </a:pPr>
                      <a:r>
                        <a:rPr lang="zh-CN" sz="1400">
                          <a:latin typeface="楷体" panose="02010609060101010101" charset="-122"/>
                          <a:ea typeface="楷体" panose="02010609060101010101" charset="-122"/>
                        </a:rPr>
                        <a:t>英国</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000"/>
                        </a:lnSpc>
                        <a:spcBef>
                          <a:spcPct val="0"/>
                        </a:spcBef>
                        <a:spcAft>
                          <a:spcPct val="0"/>
                        </a:spcAft>
                      </a:pPr>
                      <a:r>
                        <a:rPr lang="zh-CN" sz="1400">
                          <a:latin typeface="楷体" panose="02010609060101010101" charset="-122"/>
                          <a:ea typeface="楷体" panose="02010609060101010101" charset="-122"/>
                          <a:cs typeface="楷体" panose="02010609060101010101" charset="-122"/>
                        </a:rPr>
                        <a:t>《</a:t>
                      </a:r>
                      <a:r>
                        <a:rPr lang="en-US" altLang="zh-CN" sz="1400">
                          <a:latin typeface="楷体" panose="02010609060101010101" charset="-122"/>
                          <a:ea typeface="楷体" panose="02010609060101010101" charset="-122"/>
                          <a:cs typeface="楷体" panose="02010609060101010101" charset="-122"/>
                        </a:rPr>
                        <a:t>China Ready!Chinese for Hospitality and Tourism》</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000"/>
                        </a:lnSpc>
                        <a:spcBef>
                          <a:spcPct val="0"/>
                        </a:spcBef>
                        <a:spcAft>
                          <a:spcPct val="0"/>
                        </a:spcAft>
                      </a:pPr>
                      <a:r>
                        <a:rPr lang="en-US" altLang="zh-CN" sz="1400">
                          <a:latin typeface="楷体" panose="02010609060101010101" charset="-122"/>
                          <a:ea typeface="楷体" panose="02010609060101010101" charset="-122"/>
                          <a:cs typeface="楷体" panose="02010609060101010101" charset="-122"/>
                        </a:rPr>
                        <a:t>Catherine Hua Xiang</a:t>
                      </a:r>
                      <a:r>
                        <a:rPr lang="zh-CN" altLang="en-US" sz="1400">
                          <a:latin typeface="楷体" panose="02010609060101010101" charset="-122"/>
                          <a:ea typeface="楷体" panose="02010609060101010101" charset="-122"/>
                          <a:cs typeface="楷体" panose="02010609060101010101" charset="-122"/>
                        </a:rPr>
                        <a:t>（项骅） 和</a:t>
                      </a:r>
                      <a:r>
                        <a:rPr lang="en-US" altLang="zh-CN" sz="1400">
                          <a:latin typeface="楷体" panose="02010609060101010101" charset="-122"/>
                          <a:ea typeface="楷体" panose="02010609060101010101" charset="-122"/>
                          <a:cs typeface="楷体" panose="02010609060101010101" charset="-122"/>
                        </a:rPr>
                        <a:t>Xuan Lorna Wang</a:t>
                      </a:r>
                      <a:r>
                        <a:rPr lang="zh-CN" altLang="en-US" sz="1400">
                          <a:latin typeface="楷体" panose="02010609060101010101" charset="-122"/>
                          <a:ea typeface="楷体" panose="02010609060101010101" charset="-122"/>
                          <a:cs typeface="楷体" panose="02010609060101010101" charset="-122"/>
                        </a:rPr>
                        <a:t>（王暄）</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000"/>
                        </a:lnSpc>
                        <a:spcBef>
                          <a:spcPct val="0"/>
                        </a:spcBef>
                        <a:spcAft>
                          <a:spcPct val="0"/>
                        </a:spcAft>
                      </a:pPr>
                      <a:r>
                        <a:rPr lang="en-US" altLang="zh-CN" sz="1400">
                          <a:latin typeface="楷体" panose="02010609060101010101" charset="-122"/>
                          <a:ea typeface="楷体" panose="02010609060101010101" charset="-122"/>
                          <a:cs typeface="楷体" panose="02010609060101010101" charset="-122"/>
                        </a:rPr>
                        <a:t>2022</a:t>
                      </a:r>
                      <a:r>
                        <a:rPr lang="zh-CN" altLang="en-US" sz="1400">
                          <a:latin typeface="楷体" panose="02010609060101010101" charset="-122"/>
                          <a:ea typeface="楷体" panose="02010609060101010101" charset="-122"/>
                          <a:cs typeface="楷体" panose="02010609060101010101" charset="-122"/>
                        </a:rPr>
                        <a:t>年</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000"/>
                        </a:lnSpc>
                        <a:spcBef>
                          <a:spcPct val="0"/>
                        </a:spcBef>
                        <a:spcAft>
                          <a:spcPct val="0"/>
                        </a:spcAft>
                      </a:pPr>
                      <a:r>
                        <a:rPr lang="en-US" altLang="zh-CN" sz="1400">
                          <a:latin typeface="楷体" panose="02010609060101010101" charset="-122"/>
                          <a:ea typeface="楷体" panose="02010609060101010101" charset="-122"/>
                        </a:rPr>
                        <a:t>Routledge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9" name="文本框 8"/>
          <p:cNvSpPr txBox="1"/>
          <p:nvPr/>
        </p:nvSpPr>
        <p:spPr>
          <a:xfrm>
            <a:off x="2744470" y="2868613"/>
            <a:ext cx="5080000" cy="368300"/>
          </a:xfrm>
          <a:prstGeom prst="rect">
            <a:avLst/>
          </a:prstGeom>
        </p:spPr>
        <p:txBody>
          <a:bodyPr>
            <a:spAutoFit/>
          </a:bodyPr>
          <a:lstStyle/>
          <a:p>
            <a:pPr marL="0" indent="0" algn="just" defTabSz="266700">
              <a:spcBef>
                <a:spcPct val="0"/>
              </a:spcBef>
              <a:spcAft>
                <a:spcPct val="0"/>
              </a:spcAft>
            </a:pPr>
            <a:r>
              <a:rPr lang="zh-CN" altLang="en-US">
                <a:latin typeface="楷体" panose="02010609060101010101" charset="-122"/>
                <a:ea typeface="楷体" panose="02010609060101010101" charset="-122"/>
              </a:rPr>
              <a:t>英国酒店旅游类汉语已出版教材情况表</a:t>
            </a:r>
          </a:p>
        </p:txBody>
      </p:sp>
      <p:sp>
        <p:nvSpPr>
          <p:cNvPr id="10" name="文本框 9"/>
          <p:cNvSpPr txBox="1"/>
          <p:nvPr/>
        </p:nvSpPr>
        <p:spPr>
          <a:xfrm>
            <a:off x="127000" y="1042035"/>
            <a:ext cx="4927600" cy="398780"/>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rPr>
              <a:t>英国酒店旅游汉语教材的编写情况</a:t>
            </a:r>
          </a:p>
        </p:txBody>
      </p:sp>
      <p:sp>
        <p:nvSpPr>
          <p:cNvPr id="15" name="矩形 4">
            <a:extLst>
              <a:ext uri="{FF2B5EF4-FFF2-40B4-BE49-F238E27FC236}">
                <a16:creationId xmlns:a16="http://schemas.microsoft.com/office/drawing/2014/main" id="{E33440C7-F37B-464E-A6B3-622071BECEFB}"/>
              </a:ext>
            </a:extLst>
          </p:cNvPr>
          <p:cNvSpPr/>
          <p:nvPr/>
        </p:nvSpPr>
        <p:spPr>
          <a:xfrm>
            <a:off x="0" y="1"/>
            <a:ext cx="9144000" cy="45719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6" name="矩形 15">
            <a:extLst>
              <a:ext uri="{FF2B5EF4-FFF2-40B4-BE49-F238E27FC236}">
                <a16:creationId xmlns:a16="http://schemas.microsoft.com/office/drawing/2014/main" id="{329745B6-384C-4FB9-97E9-40EED5A0CF83}"/>
              </a:ext>
            </a:extLst>
          </p:cNvPr>
          <p:cNvSpPr/>
          <p:nvPr/>
        </p:nvSpPr>
        <p:spPr>
          <a:xfrm>
            <a:off x="1800303" y="0"/>
            <a:ext cx="1666001" cy="457199"/>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7" name="TextBox 7">
            <a:extLst>
              <a:ext uri="{FF2B5EF4-FFF2-40B4-BE49-F238E27FC236}">
                <a16:creationId xmlns:a16="http://schemas.microsoft.com/office/drawing/2014/main" id="{2F6C845A-4D40-4925-B054-D09CFBE09CD0}"/>
              </a:ext>
            </a:extLst>
          </p:cNvPr>
          <p:cNvSpPr txBox="1"/>
          <p:nvPr/>
        </p:nvSpPr>
        <p:spPr>
          <a:xfrm>
            <a:off x="1965249" y="508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研究背景</a:t>
            </a:r>
          </a:p>
        </p:txBody>
      </p:sp>
      <p:sp>
        <p:nvSpPr>
          <p:cNvPr id="18" name="TextBox 9">
            <a:extLst>
              <a:ext uri="{FF2B5EF4-FFF2-40B4-BE49-F238E27FC236}">
                <a16:creationId xmlns:a16="http://schemas.microsoft.com/office/drawing/2014/main" id="{BDCB3ED2-8C6C-4F67-946B-4CC0DB6D8BFE}"/>
              </a:ext>
            </a:extLst>
          </p:cNvPr>
          <p:cNvSpPr txBox="1"/>
          <p:nvPr/>
        </p:nvSpPr>
        <p:spPr>
          <a:xfrm>
            <a:off x="3667049" y="635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19" name="TextBox 10">
            <a:extLst>
              <a:ext uri="{FF2B5EF4-FFF2-40B4-BE49-F238E27FC236}">
                <a16:creationId xmlns:a16="http://schemas.microsoft.com/office/drawing/2014/main" id="{FA18C6AC-D66B-4F31-B518-611996F55B0C}"/>
              </a:ext>
            </a:extLst>
          </p:cNvPr>
          <p:cNvSpPr txBox="1"/>
          <p:nvPr/>
        </p:nvSpPr>
        <p:spPr>
          <a:xfrm>
            <a:off x="5368849" y="6985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0" name="TextBox 11">
            <a:extLst>
              <a:ext uri="{FF2B5EF4-FFF2-40B4-BE49-F238E27FC236}">
                <a16:creationId xmlns:a16="http://schemas.microsoft.com/office/drawing/2014/main" id="{E5867175-DE96-4B97-BD4A-AE46B52C22C7}"/>
              </a:ext>
            </a:extLst>
          </p:cNvPr>
          <p:cNvSpPr txBox="1"/>
          <p:nvPr/>
        </p:nvSpPr>
        <p:spPr>
          <a:xfrm>
            <a:off x="7070651" y="6985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21" name="图片 20" descr="logo_画板 1">
            <a:extLst>
              <a:ext uri="{FF2B5EF4-FFF2-40B4-BE49-F238E27FC236}">
                <a16:creationId xmlns:a16="http://schemas.microsoft.com/office/drawing/2014/main" id="{FAA2480D-3934-4CB1-90EB-025770C7AF44}"/>
              </a:ext>
            </a:extLst>
          </p:cNvPr>
          <p:cNvPicPr>
            <a:picLocks noChangeAspect="1"/>
          </p:cNvPicPr>
          <p:nvPr/>
        </p:nvPicPr>
        <p:blipFill>
          <a:blip r:embed="rId3"/>
          <a:stretch>
            <a:fillRect/>
          </a:stretch>
        </p:blipFill>
        <p:spPr>
          <a:xfrm>
            <a:off x="265431" y="-57150"/>
            <a:ext cx="1160967" cy="653757"/>
          </a:xfrm>
          <a:prstGeom prst="rect">
            <a:avLst/>
          </a:prstGeom>
        </p:spPr>
      </p:pic>
      <p:sp>
        <p:nvSpPr>
          <p:cNvPr id="11" name="日期占位符 10">
            <a:extLst>
              <a:ext uri="{FF2B5EF4-FFF2-40B4-BE49-F238E27FC236}">
                <a16:creationId xmlns:a16="http://schemas.microsoft.com/office/drawing/2014/main" id="{4A1BE791-F2E6-4E16-BA5F-1058BD44D102}"/>
              </a:ext>
            </a:extLst>
          </p:cNvPr>
          <p:cNvSpPr>
            <a:spLocks noGrp="1"/>
          </p:cNvSpPr>
          <p:nvPr>
            <p:ph type="dt" sz="half" idx="2"/>
          </p:nvPr>
        </p:nvSpPr>
        <p:spPr/>
        <p:txBody>
          <a:bodyPr/>
          <a:lstStyle/>
          <a:p>
            <a:fld id="{955E9090-FA65-4F97-B89D-0846520823B2}"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12" name="页脚占位符 11">
            <a:extLst>
              <a:ext uri="{FF2B5EF4-FFF2-40B4-BE49-F238E27FC236}">
                <a16:creationId xmlns:a16="http://schemas.microsoft.com/office/drawing/2014/main" id="{3E99B546-9A46-487A-8D3B-66065DE1930B}"/>
              </a:ext>
            </a:extLst>
          </p:cNvPr>
          <p:cNvSpPr>
            <a:spLocks noGrp="1"/>
          </p:cNvSpPr>
          <p:nvPr>
            <p:ph type="ftr" sz="quarter" idx="3"/>
          </p:nvPr>
        </p:nvSpPr>
        <p:spPr/>
        <p:txBody>
          <a:bodyPr/>
          <a:lstStyle/>
          <a:p>
            <a:r>
              <a:rPr lang="zh-CN" altLang="en-US"/>
              <a:t>椭圆曲线密码体制</a:t>
            </a:r>
          </a:p>
        </p:txBody>
      </p:sp>
      <p:sp>
        <p:nvSpPr>
          <p:cNvPr id="13" name="灯片编号占位符 12">
            <a:extLst>
              <a:ext uri="{FF2B5EF4-FFF2-40B4-BE49-F238E27FC236}">
                <a16:creationId xmlns:a16="http://schemas.microsoft.com/office/drawing/2014/main" id="{8E1A830F-1A43-4050-9B3D-AA610D8B0799}"/>
              </a:ext>
            </a:extLst>
          </p:cNvPr>
          <p:cNvSpPr>
            <a:spLocks noGrp="1"/>
          </p:cNvSpPr>
          <p:nvPr>
            <p:ph type="sldNum" sz="quarter" idx="4"/>
          </p:nvPr>
        </p:nvSpPr>
        <p:spPr/>
        <p:txBody>
          <a:bodyPr/>
          <a:lstStyle/>
          <a:p>
            <a:fld id="{9A0DB2DC-4C9A-4742-B13C-FB6460FD3503}" type="slidenum">
              <a:rPr lang="en-US" altLang="zh-CN" smtClean="0"/>
              <a:pPr/>
              <a:t>19</a:t>
            </a:fld>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p:nvPr>
            <p:custDataLst>
              <p:tags r:id="rId1"/>
            </p:custDataLst>
          </p:nvPr>
        </p:nvGraphicFramePr>
        <p:xfrm>
          <a:off x="1228090" y="1845310"/>
          <a:ext cx="7023735" cy="3078480"/>
        </p:xfrm>
        <a:graphic>
          <a:graphicData uri="http://schemas.openxmlformats.org/drawingml/2006/table">
            <a:tbl>
              <a:tblPr/>
              <a:tblGrid>
                <a:gridCol w="558800">
                  <a:extLst>
                    <a:ext uri="{9D8B030D-6E8A-4147-A177-3AD203B41FA5}">
                      <a16:colId xmlns:a16="http://schemas.microsoft.com/office/drawing/2014/main" val="20000"/>
                    </a:ext>
                  </a:extLst>
                </a:gridCol>
                <a:gridCol w="2172335">
                  <a:extLst>
                    <a:ext uri="{9D8B030D-6E8A-4147-A177-3AD203B41FA5}">
                      <a16:colId xmlns:a16="http://schemas.microsoft.com/office/drawing/2014/main" val="20001"/>
                    </a:ext>
                  </a:extLst>
                </a:gridCol>
                <a:gridCol w="1706245">
                  <a:extLst>
                    <a:ext uri="{9D8B030D-6E8A-4147-A177-3AD203B41FA5}">
                      <a16:colId xmlns:a16="http://schemas.microsoft.com/office/drawing/2014/main" val="20002"/>
                    </a:ext>
                  </a:extLst>
                </a:gridCol>
                <a:gridCol w="934085">
                  <a:extLst>
                    <a:ext uri="{9D8B030D-6E8A-4147-A177-3AD203B41FA5}">
                      <a16:colId xmlns:a16="http://schemas.microsoft.com/office/drawing/2014/main" val="20003"/>
                    </a:ext>
                  </a:extLst>
                </a:gridCol>
                <a:gridCol w="1652270">
                  <a:extLst>
                    <a:ext uri="{9D8B030D-6E8A-4147-A177-3AD203B41FA5}">
                      <a16:colId xmlns:a16="http://schemas.microsoft.com/office/drawing/2014/main" val="20004"/>
                    </a:ext>
                  </a:extLst>
                </a:gridCol>
              </a:tblGrid>
              <a:tr h="340360">
                <a:tc>
                  <a:txBody>
                    <a:bodyPr/>
                    <a:lstStyle/>
                    <a:p>
                      <a:pPr marL="0" indent="0" algn="ctr">
                        <a:lnSpc>
                          <a:spcPts val="1300"/>
                        </a:lnSpc>
                        <a:spcBef>
                          <a:spcPct val="0"/>
                        </a:spcBef>
                        <a:spcAft>
                          <a:spcPct val="0"/>
                        </a:spcAft>
                      </a:pPr>
                      <a:r>
                        <a:rPr lang="zh-CN" sz="1400" b="1">
                          <a:latin typeface="楷体" panose="02010609060101010101" charset="-122"/>
                          <a:ea typeface="楷体" panose="02010609060101010101" charset="-122"/>
                        </a:rPr>
                        <a:t>国别</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1300"/>
                        </a:lnSpc>
                        <a:spcBef>
                          <a:spcPct val="0"/>
                        </a:spcBef>
                        <a:spcAft>
                          <a:spcPct val="0"/>
                        </a:spcAft>
                      </a:pPr>
                      <a:r>
                        <a:rPr lang="zh-CN" sz="1400" b="1">
                          <a:latin typeface="楷体" panose="02010609060101010101" charset="-122"/>
                          <a:ea typeface="楷体" panose="02010609060101010101" charset="-122"/>
                        </a:rPr>
                        <a:t>教材名称</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1300"/>
                        </a:lnSpc>
                        <a:spcBef>
                          <a:spcPct val="0"/>
                        </a:spcBef>
                        <a:spcAft>
                          <a:spcPct val="0"/>
                        </a:spcAft>
                      </a:pPr>
                      <a:r>
                        <a:rPr lang="zh-CN" sz="1400" b="1">
                          <a:latin typeface="楷体" panose="02010609060101010101" charset="-122"/>
                          <a:ea typeface="楷体" panose="02010609060101010101" charset="-122"/>
                        </a:rPr>
                        <a:t>主编</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1300"/>
                        </a:lnSpc>
                        <a:spcBef>
                          <a:spcPct val="0"/>
                        </a:spcBef>
                        <a:spcAft>
                          <a:spcPct val="0"/>
                        </a:spcAft>
                      </a:pPr>
                      <a:r>
                        <a:rPr lang="zh-CN" sz="1400" b="1">
                          <a:latin typeface="楷体" panose="02010609060101010101" charset="-122"/>
                          <a:ea typeface="楷体" panose="02010609060101010101" charset="-122"/>
                        </a:rPr>
                        <a:t>出版</a:t>
                      </a:r>
                    </a:p>
                    <a:p>
                      <a:pPr marL="0" indent="0" algn="ctr">
                        <a:lnSpc>
                          <a:spcPts val="1300"/>
                        </a:lnSpc>
                        <a:spcBef>
                          <a:spcPct val="0"/>
                        </a:spcBef>
                        <a:spcAft>
                          <a:spcPct val="0"/>
                        </a:spcAft>
                      </a:pPr>
                      <a:r>
                        <a:rPr lang="zh-CN" sz="1400" b="1">
                          <a:latin typeface="楷体" panose="02010609060101010101" charset="-122"/>
                          <a:ea typeface="楷体" panose="02010609060101010101" charset="-122"/>
                        </a:rPr>
                        <a:t>时间</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tc>
                  <a:txBody>
                    <a:bodyPr/>
                    <a:lstStyle/>
                    <a:p>
                      <a:pPr marL="0" indent="0" algn="ctr">
                        <a:lnSpc>
                          <a:spcPts val="1300"/>
                        </a:lnSpc>
                        <a:spcBef>
                          <a:spcPct val="0"/>
                        </a:spcBef>
                        <a:spcAft>
                          <a:spcPct val="0"/>
                        </a:spcAft>
                      </a:pPr>
                      <a:r>
                        <a:rPr lang="zh-CN" sz="1400" b="1">
                          <a:latin typeface="楷体" panose="02010609060101010101" charset="-122"/>
                          <a:ea typeface="楷体" panose="02010609060101010101" charset="-122"/>
                        </a:rPr>
                        <a:t>出版社</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339725">
                <a:tc rowSpan="3">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韩国</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《酒店服务汉语》</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元钟民、张玲嘉、徐俊</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rPr>
                        <a:t>2017</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rPr>
                        <a:t>HUINE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510540">
                <a:tc vMerge="1">
                  <a:txBody>
                    <a:bodyPr/>
                    <a:lstStyle/>
                    <a:p>
                      <a:endParaRPr lang="zh-CN"/>
                    </a:p>
                  </a:txBody>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《包子妹的旅游中文大师》</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lnSpc>
                          <a:spcPts val="1300"/>
                        </a:lnSpc>
                        <a:spcBef>
                          <a:spcPct val="0"/>
                        </a:spcBef>
                        <a:spcAft>
                          <a:spcPct val="0"/>
                        </a:spcAft>
                      </a:pPr>
                      <a:r>
                        <a:rPr lang="zh-CN" sz="1200">
                          <a:solidFill>
                            <a:srgbClr val="000000"/>
                          </a:solidFill>
                          <a:latin typeface="楷体" panose="02010609060101010101" charset="-122"/>
                          <a:ea typeface="楷体" panose="02010609060101010101" charset="-122"/>
                          <a:cs typeface="楷体" panose="02010609060101010101" charset="-122"/>
                        </a:rPr>
                        <a:t>配正贤，宋韩结</a:t>
                      </a:r>
                    </a:p>
                    <a:p>
                      <a:pPr marL="0" indent="0" algn="ctr">
                        <a:lnSpc>
                          <a:spcPts val="1300"/>
                        </a:lnSpc>
                        <a:spcBef>
                          <a:spcPct val="0"/>
                        </a:spcBef>
                        <a:spcAft>
                          <a:spcPct val="0"/>
                        </a:spcAft>
                      </a:pPr>
                      <a:r>
                        <a:rPr lang="en-US" altLang="zh-CN" sz="1200">
                          <a:latin typeface="楷体" panose="02010609060101010101" charset="-122"/>
                          <a:ea typeface="楷体" panose="02010609060101010101" charset="-122"/>
                          <a:cs typeface="楷体" panose="02010609060101010101" charset="-122"/>
                        </a:rPr>
                        <a:t> </a:t>
                      </a:r>
                      <a:endParaRPr lang="en-US" altLang="zh-CN" sz="1200">
                        <a:solidFill>
                          <a:srgbClr val="000000"/>
                        </a:solidFill>
                        <a:latin typeface="楷体" panose="02010609060101010101" charset="-122"/>
                        <a:ea typeface="楷体" panose="02010609060101010101" charset="-122"/>
                        <a:cs typeface="楷体" panose="02010609060101010101"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rPr>
                        <a:t>2019</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브레인스토어</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244475">
                <a:tc vMerge="1">
                  <a:txBody>
                    <a:bodyPr/>
                    <a:lstStyle/>
                    <a:p>
                      <a:endParaRPr lang="zh-CN"/>
                    </a:p>
                  </a:txBody>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《普通话：旅行篇》</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李惠恩</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rPr>
                        <a:t>2020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시사중국어사</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297180">
                <a:tc rowSpan="2">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泰国</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《酒店与旅游实用汉语》</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张能志（泰）</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rPr>
                        <a:t>2015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cs typeface="楷体" panose="02010609060101010101" charset="-122"/>
                        </a:rPr>
                        <a:t>泰国</a:t>
                      </a:r>
                      <a:r>
                        <a:rPr lang="en-US" altLang="zh-CN" sz="1200">
                          <a:latin typeface="楷体" panose="02010609060101010101" charset="-122"/>
                          <a:ea typeface="楷体" panose="02010609060101010101" charset="-122"/>
                          <a:cs typeface="楷体" panose="02010609060101010101" charset="-122"/>
                        </a:rPr>
                        <a:t>MIS</a:t>
                      </a:r>
                      <a:r>
                        <a:rPr lang="zh-CN" altLang="en-US" sz="1200">
                          <a:latin typeface="楷体" panose="02010609060101010101" charset="-122"/>
                          <a:ea typeface="楷体" panose="02010609060101010101" charset="-122"/>
                          <a:cs typeface="楷体" panose="02010609060101010101" charset="-122"/>
                        </a:rPr>
                        <a:t>出版社</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369570">
                <a:tc vMerge="1">
                  <a:txBody>
                    <a:bodyPr/>
                    <a:lstStyle/>
                    <a:p>
                      <a:endParaRPr lang="zh-CN"/>
                    </a:p>
                  </a:txBody>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《汉语速成旅游与酒店篇》</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曼德琳</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cs typeface="楷体" panose="02010609060101010101" charset="-122"/>
                        </a:rPr>
                        <a:t>2013</a:t>
                      </a:r>
                      <a:r>
                        <a:rPr lang="zh-CN" altLang="en-US" sz="1200">
                          <a:latin typeface="楷体" panose="02010609060101010101" charset="-122"/>
                          <a:ea typeface="楷体" panose="02010609060101010101" charset="-122"/>
                          <a:cs typeface="楷体" panose="02010609060101010101" charset="-122"/>
                        </a:rPr>
                        <a:t>（</a:t>
                      </a:r>
                      <a:r>
                        <a:rPr lang="en-US" altLang="zh-CN" sz="1200">
                          <a:latin typeface="楷体" panose="02010609060101010101" charset="-122"/>
                          <a:ea typeface="楷体" panose="02010609060101010101" charset="-122"/>
                          <a:cs typeface="楷体" panose="02010609060101010101" charset="-122"/>
                        </a:rPr>
                        <a:t>1</a:t>
                      </a:r>
                      <a:r>
                        <a:rPr lang="zh-CN" altLang="en-US" sz="1200">
                          <a:latin typeface="楷体" panose="02010609060101010101" charset="-122"/>
                          <a:ea typeface="楷体" panose="02010609060101010101" charset="-122"/>
                          <a:cs typeface="楷体" panose="02010609060101010101" charset="-122"/>
                        </a:rPr>
                        <a:t>）</a:t>
                      </a:r>
                    </a:p>
                    <a:p>
                      <a:pPr marL="0" indent="0" algn="ctr">
                        <a:lnSpc>
                          <a:spcPts val="1300"/>
                        </a:lnSpc>
                        <a:spcBef>
                          <a:spcPct val="0"/>
                        </a:spcBef>
                        <a:spcAft>
                          <a:spcPct val="0"/>
                        </a:spcAft>
                      </a:pPr>
                      <a:r>
                        <a:rPr lang="en-US" altLang="zh-CN" sz="1200">
                          <a:latin typeface="楷体" panose="02010609060101010101" charset="-122"/>
                          <a:ea typeface="楷体" panose="02010609060101010101" charset="-122"/>
                          <a:cs typeface="楷体" panose="02010609060101010101" charset="-122"/>
                        </a:rPr>
                        <a:t>2016</a:t>
                      </a:r>
                      <a:r>
                        <a:rPr lang="zh-CN" altLang="en-US" sz="1200">
                          <a:latin typeface="楷体" panose="02010609060101010101" charset="-122"/>
                          <a:ea typeface="楷体" panose="02010609060101010101" charset="-122"/>
                          <a:cs typeface="楷体" panose="02010609060101010101" charset="-122"/>
                        </a:rPr>
                        <a:t>（</a:t>
                      </a:r>
                      <a:r>
                        <a:rPr lang="en-US" altLang="zh-CN" sz="1200">
                          <a:latin typeface="楷体" panose="02010609060101010101" charset="-122"/>
                          <a:ea typeface="楷体" panose="02010609060101010101" charset="-122"/>
                          <a:cs typeface="楷体" panose="02010609060101010101" charset="-122"/>
                        </a:rPr>
                        <a:t>2</a:t>
                      </a:r>
                      <a:r>
                        <a:rPr lang="zh-CN" altLang="en-US" sz="1200">
                          <a:latin typeface="楷体" panose="02010609060101010101" charset="-122"/>
                          <a:ea typeface="楷体" panose="02010609060101010101" charset="-122"/>
                          <a:cs typeface="楷体" panose="02010609060101010101" charset="-122"/>
                        </a:rPr>
                        <a:t>）</a:t>
                      </a:r>
                    </a:p>
                    <a:p>
                      <a:pPr marL="0" indent="0" algn="ctr">
                        <a:lnSpc>
                          <a:spcPts val="1300"/>
                        </a:lnSpc>
                        <a:spcBef>
                          <a:spcPct val="0"/>
                        </a:spcBef>
                        <a:spcAft>
                          <a:spcPct val="0"/>
                        </a:spcAft>
                      </a:pPr>
                      <a:r>
                        <a:rPr lang="en-US" altLang="zh-CN" sz="1200">
                          <a:latin typeface="楷体" panose="02010609060101010101" charset="-122"/>
                          <a:ea typeface="楷体" panose="02010609060101010101" charset="-122"/>
                          <a:cs typeface="楷体" panose="02010609060101010101" charset="-122"/>
                        </a:rPr>
                        <a:t>2021</a:t>
                      </a:r>
                      <a:r>
                        <a:rPr lang="zh-CN" altLang="en-US" sz="1200">
                          <a:latin typeface="楷体" panose="02010609060101010101" charset="-122"/>
                          <a:ea typeface="楷体" panose="02010609060101010101" charset="-122"/>
                          <a:cs typeface="楷体" panose="02010609060101010101" charset="-122"/>
                        </a:rPr>
                        <a:t>（</a:t>
                      </a:r>
                      <a:r>
                        <a:rPr lang="en-US" altLang="zh-CN" sz="1200">
                          <a:latin typeface="楷体" panose="02010609060101010101" charset="-122"/>
                          <a:ea typeface="楷体" panose="02010609060101010101" charset="-122"/>
                          <a:cs typeface="楷体" panose="02010609060101010101" charset="-122"/>
                        </a:rPr>
                        <a:t>3</a:t>
                      </a:r>
                      <a:r>
                        <a:rPr lang="zh-CN" altLang="en-US" sz="1200">
                          <a:latin typeface="楷体" panose="02010609060101010101" charset="-122"/>
                          <a:ea typeface="楷体" panose="02010609060101010101" charset="-122"/>
                          <a:cs typeface="楷体" panose="02010609060101010101"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泰国曼德琳出版社</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850900">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rPr>
                        <a:t>英国</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zh-CN" sz="1200">
                          <a:latin typeface="楷体" panose="02010609060101010101" charset="-122"/>
                          <a:ea typeface="楷体" panose="02010609060101010101" charset="-122"/>
                          <a:cs typeface="楷体" panose="02010609060101010101" charset="-122"/>
                        </a:rPr>
                        <a:t>《</a:t>
                      </a:r>
                      <a:r>
                        <a:rPr lang="en-US" altLang="zh-CN" sz="1200">
                          <a:latin typeface="楷体" panose="02010609060101010101" charset="-122"/>
                          <a:ea typeface="楷体" panose="02010609060101010101" charset="-122"/>
                          <a:cs typeface="楷体" panose="02010609060101010101" charset="-122"/>
                        </a:rPr>
                        <a:t>China Ready!</a:t>
                      </a:r>
                    </a:p>
                    <a:p>
                      <a:pPr marL="0" indent="0" algn="ctr">
                        <a:lnSpc>
                          <a:spcPts val="1300"/>
                        </a:lnSpc>
                        <a:spcBef>
                          <a:spcPct val="0"/>
                        </a:spcBef>
                        <a:spcAft>
                          <a:spcPct val="0"/>
                        </a:spcAft>
                      </a:pPr>
                      <a:r>
                        <a:rPr lang="en-US" altLang="zh-CN" sz="1200">
                          <a:latin typeface="楷体" panose="02010609060101010101" charset="-122"/>
                          <a:ea typeface="楷体" panose="02010609060101010101" charset="-122"/>
                          <a:cs typeface="楷体" panose="02010609060101010101" charset="-122"/>
                        </a:rPr>
                        <a:t>Chinese for Hospitality and Tourism》</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cs typeface="楷体" panose="02010609060101010101" charset="-122"/>
                        </a:rPr>
                        <a:t>Catherine Hua Xiang</a:t>
                      </a:r>
                      <a:endParaRPr lang="zh-CN" altLang="en-US" sz="1200">
                        <a:latin typeface="楷体" panose="02010609060101010101" charset="-122"/>
                        <a:ea typeface="楷体" panose="02010609060101010101" charset="-122"/>
                        <a:cs typeface="楷体" panose="02010609060101010101" charset="-122"/>
                      </a:endParaRPr>
                    </a:p>
                    <a:p>
                      <a:pPr marL="0" indent="0" algn="ctr">
                        <a:lnSpc>
                          <a:spcPts val="1300"/>
                        </a:lnSpc>
                        <a:spcBef>
                          <a:spcPct val="0"/>
                        </a:spcBef>
                        <a:spcAft>
                          <a:spcPct val="0"/>
                        </a:spcAft>
                      </a:pPr>
                      <a:r>
                        <a:rPr lang="en-US" altLang="zh-CN" sz="1200">
                          <a:latin typeface="楷体" panose="02010609060101010101" charset="-122"/>
                          <a:ea typeface="楷体" panose="02010609060101010101" charset="-122"/>
                          <a:cs typeface="楷体" panose="02010609060101010101" charset="-122"/>
                        </a:rPr>
                        <a:t>Xuan Lorna Wang</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rPr>
                        <a:t>2022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1300"/>
                        </a:lnSpc>
                        <a:spcBef>
                          <a:spcPct val="0"/>
                        </a:spcBef>
                        <a:spcAft>
                          <a:spcPct val="0"/>
                        </a:spcAft>
                      </a:pPr>
                      <a:r>
                        <a:rPr lang="en-US" altLang="zh-CN" sz="1200">
                          <a:latin typeface="楷体" panose="02010609060101010101" charset="-122"/>
                          <a:ea typeface="楷体" panose="02010609060101010101" charset="-122"/>
                        </a:rPr>
                        <a:t>Routledge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7" name="文本框 6"/>
          <p:cNvSpPr txBox="1"/>
          <p:nvPr/>
        </p:nvSpPr>
        <p:spPr>
          <a:xfrm>
            <a:off x="2322830" y="1372552"/>
            <a:ext cx="5080000" cy="347345"/>
          </a:xfrm>
          <a:prstGeom prst="rect">
            <a:avLst/>
          </a:prstGeom>
        </p:spPr>
        <p:txBody>
          <a:bodyPr>
            <a:spAutoFit/>
          </a:bodyPr>
          <a:lstStyle/>
          <a:p>
            <a:pPr marL="0" indent="0" algn="ctr" defTabSz="266700">
              <a:lnSpc>
                <a:spcPts val="2000"/>
              </a:lnSpc>
            </a:pPr>
            <a:r>
              <a:rPr lang="zh-CN" altLang="en-US">
                <a:solidFill>
                  <a:schemeClr val="tx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六本国别化酒店旅游汉语教材信息表</a:t>
            </a:r>
          </a:p>
        </p:txBody>
      </p:sp>
      <p:sp>
        <p:nvSpPr>
          <p:cNvPr id="8" name="文本框 7"/>
          <p:cNvSpPr txBox="1"/>
          <p:nvPr/>
        </p:nvSpPr>
        <p:spPr>
          <a:xfrm>
            <a:off x="127000" y="973455"/>
            <a:ext cx="2487295" cy="398780"/>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rPr>
              <a:t>研究对象</a:t>
            </a:r>
          </a:p>
        </p:txBody>
      </p:sp>
      <p:sp>
        <p:nvSpPr>
          <p:cNvPr id="12" name="矩形 4">
            <a:extLst>
              <a:ext uri="{FF2B5EF4-FFF2-40B4-BE49-F238E27FC236}">
                <a16:creationId xmlns:a16="http://schemas.microsoft.com/office/drawing/2014/main" id="{895FD827-5BD6-407A-8698-BDF879DD0E78}"/>
              </a:ext>
            </a:extLst>
          </p:cNvPr>
          <p:cNvSpPr/>
          <p:nvPr/>
        </p:nvSpPr>
        <p:spPr>
          <a:xfrm>
            <a:off x="0" y="1"/>
            <a:ext cx="9144000" cy="45719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3" name="矩形 12">
            <a:extLst>
              <a:ext uri="{FF2B5EF4-FFF2-40B4-BE49-F238E27FC236}">
                <a16:creationId xmlns:a16="http://schemas.microsoft.com/office/drawing/2014/main" id="{53091121-963E-4618-81E1-1A94011AACE7}"/>
              </a:ext>
            </a:extLst>
          </p:cNvPr>
          <p:cNvSpPr/>
          <p:nvPr/>
        </p:nvSpPr>
        <p:spPr>
          <a:xfrm>
            <a:off x="1800303" y="0"/>
            <a:ext cx="1666001" cy="457199"/>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4" name="TextBox 7">
            <a:extLst>
              <a:ext uri="{FF2B5EF4-FFF2-40B4-BE49-F238E27FC236}">
                <a16:creationId xmlns:a16="http://schemas.microsoft.com/office/drawing/2014/main" id="{010B2350-E63A-4836-845C-F7DFE38D7507}"/>
              </a:ext>
            </a:extLst>
          </p:cNvPr>
          <p:cNvSpPr txBox="1"/>
          <p:nvPr/>
        </p:nvSpPr>
        <p:spPr>
          <a:xfrm>
            <a:off x="1965249" y="508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研究背景</a:t>
            </a:r>
          </a:p>
        </p:txBody>
      </p:sp>
      <p:sp>
        <p:nvSpPr>
          <p:cNvPr id="15" name="TextBox 9">
            <a:extLst>
              <a:ext uri="{FF2B5EF4-FFF2-40B4-BE49-F238E27FC236}">
                <a16:creationId xmlns:a16="http://schemas.microsoft.com/office/drawing/2014/main" id="{C211B2FF-0810-45AF-9B3F-A62984DAC803}"/>
              </a:ext>
            </a:extLst>
          </p:cNvPr>
          <p:cNvSpPr txBox="1"/>
          <p:nvPr/>
        </p:nvSpPr>
        <p:spPr>
          <a:xfrm>
            <a:off x="3667049" y="635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16" name="TextBox 10">
            <a:extLst>
              <a:ext uri="{FF2B5EF4-FFF2-40B4-BE49-F238E27FC236}">
                <a16:creationId xmlns:a16="http://schemas.microsoft.com/office/drawing/2014/main" id="{60DE6163-86B9-4539-8A66-183AE6EBF482}"/>
              </a:ext>
            </a:extLst>
          </p:cNvPr>
          <p:cNvSpPr txBox="1"/>
          <p:nvPr/>
        </p:nvSpPr>
        <p:spPr>
          <a:xfrm>
            <a:off x="5368849" y="6985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17" name="TextBox 11">
            <a:extLst>
              <a:ext uri="{FF2B5EF4-FFF2-40B4-BE49-F238E27FC236}">
                <a16:creationId xmlns:a16="http://schemas.microsoft.com/office/drawing/2014/main" id="{A45D0F16-9887-4803-8C46-08997D246FF4}"/>
              </a:ext>
            </a:extLst>
          </p:cNvPr>
          <p:cNvSpPr txBox="1"/>
          <p:nvPr/>
        </p:nvSpPr>
        <p:spPr>
          <a:xfrm>
            <a:off x="7070651" y="6985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18" name="图片 17" descr="logo_画板 1">
            <a:extLst>
              <a:ext uri="{FF2B5EF4-FFF2-40B4-BE49-F238E27FC236}">
                <a16:creationId xmlns:a16="http://schemas.microsoft.com/office/drawing/2014/main" id="{58706CDF-79E8-486B-AFE0-A35C99192036}"/>
              </a:ext>
            </a:extLst>
          </p:cNvPr>
          <p:cNvPicPr>
            <a:picLocks noChangeAspect="1"/>
          </p:cNvPicPr>
          <p:nvPr/>
        </p:nvPicPr>
        <p:blipFill>
          <a:blip r:embed="rId3"/>
          <a:stretch>
            <a:fillRect/>
          </a:stretch>
        </p:blipFill>
        <p:spPr>
          <a:xfrm>
            <a:off x="265431" y="-57150"/>
            <a:ext cx="1160967" cy="653757"/>
          </a:xfrm>
          <a:prstGeom prst="rect">
            <a:avLst/>
          </a:prstGeom>
        </p:spPr>
      </p:pic>
      <p:sp>
        <p:nvSpPr>
          <p:cNvPr id="5" name="日期占位符 4">
            <a:extLst>
              <a:ext uri="{FF2B5EF4-FFF2-40B4-BE49-F238E27FC236}">
                <a16:creationId xmlns:a16="http://schemas.microsoft.com/office/drawing/2014/main" id="{6BF01355-11A1-454B-AC18-05AEA87F4DE8}"/>
              </a:ext>
            </a:extLst>
          </p:cNvPr>
          <p:cNvSpPr>
            <a:spLocks noGrp="1"/>
          </p:cNvSpPr>
          <p:nvPr>
            <p:ph type="dt" sz="half" idx="2"/>
          </p:nvPr>
        </p:nvSpPr>
        <p:spPr/>
        <p:txBody>
          <a:bodyPr/>
          <a:lstStyle/>
          <a:p>
            <a:fld id="{D0B31632-81AC-4339-99FE-7A5AAAA2B439}"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9" name="页脚占位符 8">
            <a:extLst>
              <a:ext uri="{FF2B5EF4-FFF2-40B4-BE49-F238E27FC236}">
                <a16:creationId xmlns:a16="http://schemas.microsoft.com/office/drawing/2014/main" id="{9E4515B4-64F6-4C57-8421-4E617EDC9354}"/>
              </a:ext>
            </a:extLst>
          </p:cNvPr>
          <p:cNvSpPr>
            <a:spLocks noGrp="1"/>
          </p:cNvSpPr>
          <p:nvPr>
            <p:ph type="ftr" sz="quarter" idx="3"/>
          </p:nvPr>
        </p:nvSpPr>
        <p:spPr/>
        <p:txBody>
          <a:bodyPr/>
          <a:lstStyle/>
          <a:p>
            <a:r>
              <a:rPr lang="zh-CN" altLang="en-US"/>
              <a:t>椭圆曲线密码体制</a:t>
            </a:r>
          </a:p>
        </p:txBody>
      </p:sp>
      <p:sp>
        <p:nvSpPr>
          <p:cNvPr id="10" name="灯片编号占位符 9">
            <a:extLst>
              <a:ext uri="{FF2B5EF4-FFF2-40B4-BE49-F238E27FC236}">
                <a16:creationId xmlns:a16="http://schemas.microsoft.com/office/drawing/2014/main" id="{24D152DC-B158-48B8-8778-137059B1D5CD}"/>
              </a:ext>
            </a:extLst>
          </p:cNvPr>
          <p:cNvSpPr>
            <a:spLocks noGrp="1"/>
          </p:cNvSpPr>
          <p:nvPr>
            <p:ph type="sldNum" sz="quarter" idx="4"/>
          </p:nvPr>
        </p:nvSpPr>
        <p:spPr/>
        <p:txBody>
          <a:bodyPr/>
          <a:lstStyle/>
          <a:p>
            <a:fld id="{9A0DB2DC-4C9A-4742-B13C-FB6460FD3503}" type="slidenum">
              <a:rPr lang="en-US" altLang="zh-CN" smtClean="0"/>
              <a:pPr/>
              <a:t>20</a:t>
            </a:fld>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27000" y="973455"/>
            <a:ext cx="2487295" cy="398780"/>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rPr>
              <a:t>研究对象的特点</a:t>
            </a:r>
          </a:p>
        </p:txBody>
      </p:sp>
      <p:sp>
        <p:nvSpPr>
          <p:cNvPr id="15" name="圆角矩形 14"/>
          <p:cNvSpPr/>
          <p:nvPr>
            <p:custDataLst>
              <p:tags r:id="rId1"/>
            </p:custDataLst>
          </p:nvPr>
        </p:nvSpPr>
        <p:spPr>
          <a:xfrm>
            <a:off x="1476927" y="2080549"/>
            <a:ext cx="1687339" cy="498054"/>
          </a:xfrm>
          <a:prstGeom prst="roundRect">
            <a:avLst>
              <a:gd name="adj" fmla="val 50000"/>
            </a:avLst>
          </a:prstGeom>
          <a:solidFill>
            <a:schemeClr val="tx2">
              <a:lumMod val="75000"/>
              <a:lumOff val="25000"/>
              <a:alpha val="36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64409" tIns="117302" rIns="263775" bIns="117939" numCol="1" spcCol="0" rtlCol="0" fromWordArt="0" anchor="ctr" anchorCtr="0" forceAA="0" compatLnSpc="1">
            <a:noAutofit/>
          </a:bodyPr>
          <a:lstStyle/>
          <a:p>
            <a:pPr lvl="0" algn="ctr">
              <a:spcBef>
                <a:spcPts val="0"/>
              </a:spcBef>
              <a:spcAft>
                <a:spcPts val="0"/>
              </a:spcAft>
              <a:buClrTx/>
              <a:buSzTx/>
              <a:buFontTx/>
            </a:pPr>
            <a:endParaRPr lang="zh-CN" altLang="zh-CN" sz="1600" b="1" spc="100" dirty="0">
              <a:solidFill>
                <a:schemeClr val="bg2"/>
              </a:solidFill>
              <a:effectLst/>
              <a:latin typeface="+mn-ea"/>
              <a:cs typeface="微软雅黑" panose="020B0503020204020204" charset="-122"/>
              <a:sym typeface="+mn-ea"/>
            </a:endParaRPr>
          </a:p>
        </p:txBody>
      </p:sp>
      <p:sp>
        <p:nvSpPr>
          <p:cNvPr id="16" name="圆角矩形 15"/>
          <p:cNvSpPr/>
          <p:nvPr>
            <p:custDataLst>
              <p:tags r:id="rId2"/>
            </p:custDataLst>
          </p:nvPr>
        </p:nvSpPr>
        <p:spPr>
          <a:xfrm>
            <a:off x="1488097" y="2874939"/>
            <a:ext cx="1687339" cy="498054"/>
          </a:xfrm>
          <a:prstGeom prst="roundRect">
            <a:avLst>
              <a:gd name="adj" fmla="val 50000"/>
            </a:avLst>
          </a:prstGeom>
          <a:solidFill>
            <a:schemeClr val="tx2">
              <a:lumMod val="75000"/>
              <a:lumOff val="25000"/>
              <a:alpha val="36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64409" tIns="117302" rIns="263775" bIns="117939" numCol="1" spcCol="0" rtlCol="0" fromWordArt="0" anchor="ctr" anchorCtr="0" forceAA="0" compatLnSpc="1">
            <a:noAutofit/>
          </a:bodyPr>
          <a:lstStyle/>
          <a:p>
            <a:pPr lvl="0" algn="ctr">
              <a:spcBef>
                <a:spcPts val="0"/>
              </a:spcBef>
              <a:spcAft>
                <a:spcPts val="0"/>
              </a:spcAft>
              <a:buClrTx/>
              <a:buSzTx/>
              <a:buFontTx/>
            </a:pPr>
            <a:endParaRPr lang="zh-CN" altLang="zh-CN" sz="1600" b="1" spc="100" dirty="0">
              <a:solidFill>
                <a:schemeClr val="bg2"/>
              </a:solidFill>
              <a:effectLst/>
              <a:latin typeface="+mn-ea"/>
              <a:cs typeface="微软雅黑" panose="020B0503020204020204" charset="-122"/>
              <a:sym typeface="+mn-ea"/>
            </a:endParaRPr>
          </a:p>
        </p:txBody>
      </p:sp>
      <p:sp>
        <p:nvSpPr>
          <p:cNvPr id="17" name="圆角矩形 16"/>
          <p:cNvSpPr/>
          <p:nvPr>
            <p:custDataLst>
              <p:tags r:id="rId3"/>
            </p:custDataLst>
          </p:nvPr>
        </p:nvSpPr>
        <p:spPr>
          <a:xfrm>
            <a:off x="1476927" y="3669329"/>
            <a:ext cx="1687339" cy="498054"/>
          </a:xfrm>
          <a:prstGeom prst="roundRect">
            <a:avLst>
              <a:gd name="adj" fmla="val 50000"/>
            </a:avLst>
          </a:prstGeom>
          <a:solidFill>
            <a:schemeClr val="tx2">
              <a:lumMod val="75000"/>
              <a:lumOff val="25000"/>
              <a:alpha val="36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64409" tIns="117302" rIns="263775" bIns="117939" numCol="1" spcCol="0" rtlCol="0" fromWordArt="0" anchor="ctr" anchorCtr="0" forceAA="0" compatLnSpc="1">
            <a:noAutofit/>
          </a:bodyPr>
          <a:lstStyle/>
          <a:p>
            <a:pPr lvl="0" algn="ctr">
              <a:spcBef>
                <a:spcPts val="0"/>
              </a:spcBef>
              <a:spcAft>
                <a:spcPts val="0"/>
              </a:spcAft>
              <a:buClrTx/>
              <a:buSzTx/>
              <a:buFontTx/>
            </a:pPr>
            <a:endParaRPr lang="zh-CN" altLang="zh-CN" sz="1600" b="1" spc="100" dirty="0">
              <a:solidFill>
                <a:schemeClr val="bg2"/>
              </a:solidFill>
              <a:effectLst/>
              <a:latin typeface="+mn-ea"/>
              <a:cs typeface="微软雅黑" panose="020B0503020204020204" charset="-122"/>
              <a:sym typeface="+mn-ea"/>
            </a:endParaRPr>
          </a:p>
        </p:txBody>
      </p:sp>
      <p:sp>
        <p:nvSpPr>
          <p:cNvPr id="18" name="圆角矩形 17"/>
          <p:cNvSpPr/>
          <p:nvPr>
            <p:custDataLst>
              <p:tags r:id="rId4"/>
            </p:custDataLst>
          </p:nvPr>
        </p:nvSpPr>
        <p:spPr>
          <a:xfrm>
            <a:off x="1476927" y="4463719"/>
            <a:ext cx="1687339" cy="498054"/>
          </a:xfrm>
          <a:prstGeom prst="roundRect">
            <a:avLst>
              <a:gd name="adj" fmla="val 50000"/>
            </a:avLst>
          </a:prstGeom>
          <a:solidFill>
            <a:schemeClr val="tx2">
              <a:lumMod val="75000"/>
              <a:lumOff val="25000"/>
              <a:alpha val="36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64409" tIns="117302" rIns="263775" bIns="117939" numCol="1" spcCol="0" rtlCol="0" fromWordArt="0" anchor="ctr" anchorCtr="0" forceAA="0" compatLnSpc="1">
            <a:noAutofit/>
          </a:bodyPr>
          <a:lstStyle/>
          <a:p>
            <a:pPr lvl="0" algn="ctr">
              <a:spcBef>
                <a:spcPts val="0"/>
              </a:spcBef>
              <a:spcAft>
                <a:spcPts val="0"/>
              </a:spcAft>
              <a:buClrTx/>
              <a:buSzTx/>
              <a:buFontTx/>
            </a:pPr>
            <a:endParaRPr lang="zh-CN" altLang="zh-CN" sz="1600" b="1" spc="100" dirty="0">
              <a:solidFill>
                <a:schemeClr val="bg2"/>
              </a:solidFill>
              <a:effectLst/>
              <a:latin typeface="+mn-ea"/>
              <a:cs typeface="微软雅黑" panose="020B0503020204020204" charset="-122"/>
              <a:sym typeface="+mn-ea"/>
            </a:endParaRPr>
          </a:p>
        </p:txBody>
      </p:sp>
      <p:sp>
        <p:nvSpPr>
          <p:cNvPr id="76" name="右箭头 75"/>
          <p:cNvSpPr/>
          <p:nvPr>
            <p:custDataLst>
              <p:tags r:id="rId5"/>
            </p:custDataLst>
          </p:nvPr>
        </p:nvSpPr>
        <p:spPr>
          <a:xfrm>
            <a:off x="1920875" y="1760220"/>
            <a:ext cx="504190" cy="382905"/>
          </a:xfrm>
          <a:prstGeom prst="rightArrow">
            <a:avLst/>
          </a:prstGeom>
          <a:gradFill>
            <a:gsLst>
              <a:gs pos="3000">
                <a:schemeClr val="accent1">
                  <a:lumMod val="60000"/>
                  <a:lumOff val="40000"/>
                  <a:alpha val="0"/>
                </a:schemeClr>
              </a:gs>
              <a:gs pos="50000">
                <a:schemeClr val="accent1">
                  <a:lumMod val="60000"/>
                  <a:lumOff val="40000"/>
                  <a:alpha val="80000"/>
                </a:schemeClr>
              </a:gs>
              <a:gs pos="100000">
                <a:schemeClr val="accent1">
                  <a:alpha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a:solidFill>
                <a:schemeClr val="lt1"/>
              </a:solidFill>
              <a:cs typeface="微软雅黑" panose="020B0503020204020204" charset="-122"/>
              <a:sym typeface="+mn-ea"/>
            </a:endParaRPr>
          </a:p>
        </p:txBody>
      </p:sp>
      <p:sp>
        <p:nvSpPr>
          <p:cNvPr id="28" name="1"/>
          <p:cNvSpPr txBox="1">
            <a:spLocks noChangeArrowheads="1"/>
          </p:cNvSpPr>
          <p:nvPr>
            <p:custDataLst>
              <p:tags r:id="rId6"/>
            </p:custDataLst>
          </p:nvPr>
        </p:nvSpPr>
        <p:spPr bwMode="auto">
          <a:xfrm>
            <a:off x="2591435" y="1649730"/>
            <a:ext cx="5820410" cy="61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marL="0" marR="0" lvl="0" indent="0" algn="l" defTabSz="1216025" rtl="0" eaLnBrk="1" fontAlgn="auto" latinLnBrk="0" hangingPunct="1">
              <a:lnSpc>
                <a:spcPct val="150000"/>
              </a:lnSpc>
              <a:spcBef>
                <a:spcPts val="0"/>
              </a:spcBef>
              <a:spcAft>
                <a:spcPts val="0"/>
              </a:spcAft>
              <a:buClrTx/>
              <a:buSzTx/>
              <a:buFontTx/>
              <a:buNone/>
            </a:pPr>
            <a:r>
              <a:rPr lang="zh-CN" altLang="en-US" sz="2000" b="1">
                <a:latin typeface="楷体" panose="02010609060101010101" charset="-122"/>
                <a:ea typeface="楷体" panose="02010609060101010101" charset="-122"/>
                <a:sym typeface="+mn-ea"/>
              </a:rPr>
              <a:t>所选教材是由国外编写或出版的</a:t>
            </a:r>
            <a:r>
              <a:rPr lang="zh-CN" altLang="en-US" sz="2400" b="1">
                <a:solidFill>
                  <a:schemeClr val="accent1"/>
                </a:solidFill>
                <a:latin typeface="楷体" panose="02010609060101010101" charset="-122"/>
                <a:ea typeface="楷体" panose="02010609060101010101" charset="-122"/>
                <a:sym typeface="+mn-ea"/>
              </a:rPr>
              <a:t>本土化教材</a:t>
            </a:r>
            <a:r>
              <a:rPr lang="zh-CN" altLang="en-US" sz="2000" b="1">
                <a:latin typeface="楷体" panose="02010609060101010101" charset="-122"/>
                <a:ea typeface="楷体" panose="02010609060101010101" charset="-122"/>
                <a:sym typeface="+mn-ea"/>
              </a:rPr>
              <a:t>。</a:t>
            </a:r>
            <a:endParaRPr lang="zh-CN" altLang="en-US" sz="2000" b="1" noProof="0" dirty="0">
              <a:ln>
                <a:noFill/>
              </a:ln>
              <a:solidFill>
                <a:schemeClr val="tx1">
                  <a:lumMod val="85000"/>
                  <a:lumOff val="15000"/>
                </a:schemeClr>
              </a:solidFill>
              <a:effectLst/>
              <a:uLnTx/>
              <a:uFillTx/>
              <a:latin typeface="楷体" panose="02010609060101010101" charset="-122"/>
              <a:ea typeface="楷体" panose="02010609060101010101" charset="-122"/>
              <a:cs typeface="+mn-ea"/>
              <a:sym typeface="+mn-ea"/>
            </a:endParaRPr>
          </a:p>
        </p:txBody>
      </p:sp>
      <p:sp>
        <p:nvSpPr>
          <p:cNvPr id="30" name="右箭头 29"/>
          <p:cNvSpPr/>
          <p:nvPr>
            <p:custDataLst>
              <p:tags r:id="rId7"/>
            </p:custDataLst>
          </p:nvPr>
        </p:nvSpPr>
        <p:spPr>
          <a:xfrm>
            <a:off x="1920875" y="2554605"/>
            <a:ext cx="504190" cy="382905"/>
          </a:xfrm>
          <a:prstGeom prst="rightArrow">
            <a:avLst/>
          </a:prstGeom>
          <a:gradFill>
            <a:gsLst>
              <a:gs pos="3000">
                <a:schemeClr val="accent2">
                  <a:lumMod val="60000"/>
                  <a:lumOff val="40000"/>
                  <a:alpha val="0"/>
                </a:schemeClr>
              </a:gs>
              <a:gs pos="50000">
                <a:schemeClr val="accent2">
                  <a:lumMod val="60000"/>
                  <a:lumOff val="40000"/>
                  <a:alpha val="80000"/>
                </a:schemeClr>
              </a:gs>
              <a:gs pos="100000">
                <a:schemeClr val="accent2">
                  <a:alpha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a:solidFill>
                <a:schemeClr val="lt1"/>
              </a:solidFill>
              <a:cs typeface="微软雅黑" panose="020B0503020204020204" charset="-122"/>
              <a:sym typeface="+mn-ea"/>
            </a:endParaRPr>
          </a:p>
        </p:txBody>
      </p:sp>
      <p:sp>
        <p:nvSpPr>
          <p:cNvPr id="32" name="1"/>
          <p:cNvSpPr txBox="1">
            <a:spLocks noChangeArrowheads="1"/>
          </p:cNvSpPr>
          <p:nvPr>
            <p:custDataLst>
              <p:tags r:id="rId8"/>
            </p:custDataLst>
          </p:nvPr>
        </p:nvSpPr>
        <p:spPr bwMode="auto">
          <a:xfrm>
            <a:off x="2590800" y="2444115"/>
            <a:ext cx="3230245" cy="61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marL="0" marR="0" lvl="0" indent="0" algn="l" defTabSz="1216025" rtl="0" eaLnBrk="1" fontAlgn="auto" latinLnBrk="0" hangingPunct="1">
              <a:lnSpc>
                <a:spcPct val="150000"/>
              </a:lnSpc>
              <a:spcBef>
                <a:spcPts val="0"/>
              </a:spcBef>
              <a:spcAft>
                <a:spcPts val="0"/>
              </a:spcAft>
              <a:buClrTx/>
              <a:buSzTx/>
              <a:buFontTx/>
              <a:buNone/>
            </a:pPr>
            <a:r>
              <a:rPr lang="zh-CN" altLang="en-US" sz="2000" b="1">
                <a:latin typeface="楷体" panose="02010609060101010101" charset="-122"/>
                <a:ea typeface="楷体" panose="02010609060101010101" charset="-122"/>
                <a:sym typeface="+mn-ea"/>
              </a:rPr>
              <a:t>教材为</a:t>
            </a:r>
            <a:r>
              <a:rPr lang="zh-CN" altLang="en-US" sz="2400" b="1">
                <a:solidFill>
                  <a:schemeClr val="accent1"/>
                </a:solidFill>
                <a:latin typeface="楷体" panose="02010609060101010101" charset="-122"/>
                <a:ea typeface="楷体" panose="02010609060101010101" charset="-122"/>
                <a:sym typeface="+mn-ea"/>
              </a:rPr>
              <a:t>近年出版</a:t>
            </a:r>
            <a:r>
              <a:rPr lang="zh-CN" altLang="en-US" sz="2000" b="1">
                <a:latin typeface="楷体" panose="02010609060101010101" charset="-122"/>
                <a:ea typeface="楷体" panose="02010609060101010101" charset="-122"/>
                <a:sym typeface="+mn-ea"/>
              </a:rPr>
              <a:t>。</a:t>
            </a:r>
            <a:endParaRPr lang="zh-CN" altLang="en-US" sz="2000" b="1" noProof="0" dirty="0">
              <a:ln>
                <a:noFill/>
              </a:ln>
              <a:solidFill>
                <a:schemeClr val="tx1">
                  <a:lumMod val="85000"/>
                  <a:lumOff val="15000"/>
                </a:schemeClr>
              </a:solidFill>
              <a:effectLst/>
              <a:uLnTx/>
              <a:uFillTx/>
              <a:latin typeface="楷体" panose="02010609060101010101" charset="-122"/>
              <a:ea typeface="楷体" panose="02010609060101010101" charset="-122"/>
              <a:cs typeface="+mn-ea"/>
              <a:sym typeface="+mn-ea"/>
            </a:endParaRPr>
          </a:p>
        </p:txBody>
      </p:sp>
      <p:sp>
        <p:nvSpPr>
          <p:cNvPr id="91" name="右箭头 90"/>
          <p:cNvSpPr/>
          <p:nvPr>
            <p:custDataLst>
              <p:tags r:id="rId9"/>
            </p:custDataLst>
          </p:nvPr>
        </p:nvSpPr>
        <p:spPr>
          <a:xfrm>
            <a:off x="1920875" y="3348990"/>
            <a:ext cx="504190" cy="382905"/>
          </a:xfrm>
          <a:prstGeom prst="rightArrow">
            <a:avLst/>
          </a:prstGeom>
          <a:gradFill>
            <a:gsLst>
              <a:gs pos="3000">
                <a:schemeClr val="accent1">
                  <a:lumMod val="60000"/>
                  <a:lumOff val="40000"/>
                  <a:alpha val="0"/>
                </a:schemeClr>
              </a:gs>
              <a:gs pos="50000">
                <a:schemeClr val="accent1">
                  <a:lumMod val="60000"/>
                  <a:lumOff val="40000"/>
                  <a:alpha val="80000"/>
                </a:schemeClr>
              </a:gs>
              <a:gs pos="100000">
                <a:schemeClr val="accent1">
                  <a:alpha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a:solidFill>
                <a:schemeClr val="lt1"/>
              </a:solidFill>
              <a:cs typeface="微软雅黑" panose="020B0503020204020204" charset="-122"/>
              <a:sym typeface="+mn-ea"/>
            </a:endParaRPr>
          </a:p>
        </p:txBody>
      </p:sp>
      <p:sp>
        <p:nvSpPr>
          <p:cNvPr id="92" name="1"/>
          <p:cNvSpPr txBox="1">
            <a:spLocks noChangeArrowheads="1"/>
          </p:cNvSpPr>
          <p:nvPr>
            <p:custDataLst>
              <p:tags r:id="rId10"/>
            </p:custDataLst>
          </p:nvPr>
        </p:nvSpPr>
        <p:spPr bwMode="auto">
          <a:xfrm>
            <a:off x="2590800" y="3238500"/>
            <a:ext cx="4429125" cy="61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marL="0" marR="0" lvl="0" indent="0" algn="l" defTabSz="1216025" rtl="0" eaLnBrk="1" fontAlgn="auto" latinLnBrk="0" hangingPunct="1">
              <a:lnSpc>
                <a:spcPct val="150000"/>
              </a:lnSpc>
              <a:spcBef>
                <a:spcPts val="0"/>
              </a:spcBef>
              <a:spcAft>
                <a:spcPts val="0"/>
              </a:spcAft>
              <a:buClrTx/>
              <a:buSzTx/>
              <a:buFontTx/>
              <a:buNone/>
            </a:pPr>
            <a:r>
              <a:rPr lang="zh-CN" altLang="en-US" sz="2000" b="1">
                <a:latin typeface="楷体" panose="02010609060101010101" charset="-122"/>
                <a:ea typeface="楷体" panose="02010609060101010101" charset="-122"/>
                <a:sym typeface="+mn-ea"/>
              </a:rPr>
              <a:t>教材的</a:t>
            </a:r>
            <a:r>
              <a:rPr lang="zh-CN" altLang="en-US" sz="2400" b="1">
                <a:solidFill>
                  <a:schemeClr val="accent1"/>
                </a:solidFill>
                <a:latin typeface="楷体" panose="02010609060101010101" charset="-122"/>
                <a:ea typeface="楷体" panose="02010609060101010101" charset="-122"/>
                <a:sym typeface="+mn-ea"/>
              </a:rPr>
              <a:t>销量较好</a:t>
            </a:r>
            <a:r>
              <a:rPr lang="zh-CN" altLang="en-US" sz="2000" b="1">
                <a:latin typeface="楷体" panose="02010609060101010101" charset="-122"/>
                <a:ea typeface="楷体" panose="02010609060101010101" charset="-122"/>
                <a:sym typeface="+mn-ea"/>
              </a:rPr>
              <a:t>。</a:t>
            </a:r>
            <a:endParaRPr lang="zh-CN" altLang="en-US" sz="2000" b="1">
              <a:latin typeface="楷体" panose="02010609060101010101" charset="-122"/>
              <a:ea typeface="楷体" panose="02010609060101010101" charset="-122"/>
            </a:endParaRPr>
          </a:p>
          <a:p>
            <a:pPr marL="0" marR="0" lvl="0" indent="0" algn="l" defTabSz="1216025" rtl="0" eaLnBrk="1" fontAlgn="auto" latinLnBrk="0" hangingPunct="1">
              <a:lnSpc>
                <a:spcPct val="150000"/>
              </a:lnSpc>
              <a:spcBef>
                <a:spcPts val="0"/>
              </a:spcBef>
              <a:spcAft>
                <a:spcPts val="0"/>
              </a:spcAft>
              <a:buClrTx/>
              <a:buSzTx/>
              <a:buFontTx/>
              <a:buNone/>
            </a:pPr>
            <a:endParaRPr lang="zh-CN" altLang="en-US" sz="2000" b="1" noProof="0" dirty="0">
              <a:ln>
                <a:noFill/>
              </a:ln>
              <a:solidFill>
                <a:schemeClr val="tx1">
                  <a:lumMod val="85000"/>
                  <a:lumOff val="15000"/>
                </a:schemeClr>
              </a:solidFill>
              <a:effectLst/>
              <a:uLnTx/>
              <a:uFillTx/>
              <a:latin typeface="楷体" panose="02010609060101010101" charset="-122"/>
              <a:ea typeface="楷体" panose="02010609060101010101" charset="-122"/>
              <a:cs typeface="+mn-ea"/>
              <a:sym typeface="+mn-lt"/>
            </a:endParaRPr>
          </a:p>
        </p:txBody>
      </p:sp>
      <p:sp>
        <p:nvSpPr>
          <p:cNvPr id="33" name="右箭头 32"/>
          <p:cNvSpPr/>
          <p:nvPr>
            <p:custDataLst>
              <p:tags r:id="rId11"/>
            </p:custDataLst>
          </p:nvPr>
        </p:nvSpPr>
        <p:spPr>
          <a:xfrm>
            <a:off x="1920875" y="4144645"/>
            <a:ext cx="504190" cy="382905"/>
          </a:xfrm>
          <a:prstGeom prst="rightArrow">
            <a:avLst/>
          </a:prstGeom>
          <a:gradFill>
            <a:gsLst>
              <a:gs pos="3000">
                <a:schemeClr val="accent2">
                  <a:lumMod val="60000"/>
                  <a:lumOff val="40000"/>
                  <a:alpha val="0"/>
                </a:schemeClr>
              </a:gs>
              <a:gs pos="50000">
                <a:schemeClr val="accent2">
                  <a:lumMod val="60000"/>
                  <a:lumOff val="40000"/>
                  <a:alpha val="80000"/>
                </a:schemeClr>
              </a:gs>
              <a:gs pos="100000">
                <a:schemeClr val="accent2">
                  <a:alpha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a:solidFill>
                <a:schemeClr val="lt1"/>
              </a:solidFill>
              <a:cs typeface="微软雅黑" panose="020B0503020204020204" charset="-122"/>
              <a:sym typeface="+mn-ea"/>
            </a:endParaRPr>
          </a:p>
        </p:txBody>
      </p:sp>
      <p:sp>
        <p:nvSpPr>
          <p:cNvPr id="34" name="1"/>
          <p:cNvSpPr txBox="1">
            <a:spLocks noChangeArrowheads="1"/>
          </p:cNvSpPr>
          <p:nvPr>
            <p:custDataLst>
              <p:tags r:id="rId12"/>
            </p:custDataLst>
          </p:nvPr>
        </p:nvSpPr>
        <p:spPr bwMode="auto">
          <a:xfrm>
            <a:off x="2310765" y="4102100"/>
            <a:ext cx="5619750" cy="61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indent="304800" algn="just" defTabSz="266700" fontAlgn="auto">
              <a:lnSpc>
                <a:spcPts val="2500"/>
              </a:lnSpc>
              <a:spcBef>
                <a:spcPct val="0"/>
              </a:spcBef>
              <a:spcAft>
                <a:spcPct val="0"/>
              </a:spcAft>
            </a:pPr>
            <a:r>
              <a:rPr lang="zh-CN" altLang="en-US" sz="2000" b="1">
                <a:latin typeface="楷体" panose="02010609060101010101" charset="-122"/>
                <a:ea typeface="楷体" panose="02010609060101010101" charset="-122"/>
                <a:sym typeface="+mn-ea"/>
              </a:rPr>
              <a:t>选取的</a:t>
            </a:r>
            <a:r>
              <a:rPr lang="zh-CN" altLang="en-US" sz="2400" b="1">
                <a:solidFill>
                  <a:schemeClr val="accent1"/>
                </a:solidFill>
                <a:latin typeface="楷体" panose="02010609060101010101" charset="-122"/>
                <a:ea typeface="楷体" panose="02010609060101010101" charset="-122"/>
                <a:sym typeface="+mn-ea"/>
              </a:rPr>
              <a:t>国别</a:t>
            </a:r>
            <a:r>
              <a:rPr lang="zh-CN" altLang="en-US" sz="2000" b="1">
                <a:latin typeface="楷体" panose="02010609060101010101" charset="-122"/>
                <a:ea typeface="楷体" panose="02010609060101010101" charset="-122"/>
                <a:sym typeface="+mn-ea"/>
              </a:rPr>
              <a:t>涵盖汉字文化圈以及非汉字文化圈。</a:t>
            </a:r>
            <a:endParaRPr lang="zh-CN" altLang="en-US" sz="2000" b="1" noProof="0" dirty="0">
              <a:ln>
                <a:noFill/>
              </a:ln>
              <a:solidFill>
                <a:schemeClr val="tx1">
                  <a:lumMod val="85000"/>
                  <a:lumOff val="15000"/>
                </a:schemeClr>
              </a:solidFill>
              <a:effectLst/>
              <a:uLnTx/>
              <a:uFillTx/>
              <a:latin typeface="楷体" panose="02010609060101010101" charset="-122"/>
              <a:ea typeface="楷体" panose="02010609060101010101" charset="-122"/>
              <a:cs typeface="+mn-ea"/>
              <a:sym typeface="+mn-ea"/>
            </a:endParaRPr>
          </a:p>
        </p:txBody>
      </p:sp>
      <p:sp>
        <p:nvSpPr>
          <p:cNvPr id="22" name="矩形 4">
            <a:extLst>
              <a:ext uri="{FF2B5EF4-FFF2-40B4-BE49-F238E27FC236}">
                <a16:creationId xmlns:a16="http://schemas.microsoft.com/office/drawing/2014/main" id="{0FA27943-7E99-440E-867B-0DA87CA071FD}"/>
              </a:ext>
            </a:extLst>
          </p:cNvPr>
          <p:cNvSpPr/>
          <p:nvPr/>
        </p:nvSpPr>
        <p:spPr>
          <a:xfrm>
            <a:off x="0" y="1"/>
            <a:ext cx="9144000" cy="45719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3" name="矩形 22">
            <a:extLst>
              <a:ext uri="{FF2B5EF4-FFF2-40B4-BE49-F238E27FC236}">
                <a16:creationId xmlns:a16="http://schemas.microsoft.com/office/drawing/2014/main" id="{63345575-DC94-452D-987D-83CB6C49F55A}"/>
              </a:ext>
            </a:extLst>
          </p:cNvPr>
          <p:cNvSpPr/>
          <p:nvPr/>
        </p:nvSpPr>
        <p:spPr>
          <a:xfrm>
            <a:off x="3529674" y="0"/>
            <a:ext cx="1666001" cy="457199"/>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4" name="TextBox 7">
            <a:extLst>
              <a:ext uri="{FF2B5EF4-FFF2-40B4-BE49-F238E27FC236}">
                <a16:creationId xmlns:a16="http://schemas.microsoft.com/office/drawing/2014/main" id="{A82CBECD-2EAD-4382-9C1C-FD7B8D0EC7E9}"/>
              </a:ext>
            </a:extLst>
          </p:cNvPr>
          <p:cNvSpPr txBox="1"/>
          <p:nvPr/>
        </p:nvSpPr>
        <p:spPr>
          <a:xfrm>
            <a:off x="1965249" y="508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25" name="TextBox 9">
            <a:extLst>
              <a:ext uri="{FF2B5EF4-FFF2-40B4-BE49-F238E27FC236}">
                <a16:creationId xmlns:a16="http://schemas.microsoft.com/office/drawing/2014/main" id="{3D4BC98F-7B0C-453D-91A2-4448279D4D79}"/>
              </a:ext>
            </a:extLst>
          </p:cNvPr>
          <p:cNvSpPr txBox="1"/>
          <p:nvPr/>
        </p:nvSpPr>
        <p:spPr>
          <a:xfrm>
            <a:off x="3667049" y="635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26" name="TextBox 10">
            <a:extLst>
              <a:ext uri="{FF2B5EF4-FFF2-40B4-BE49-F238E27FC236}">
                <a16:creationId xmlns:a16="http://schemas.microsoft.com/office/drawing/2014/main" id="{2EA5D82B-0981-417A-B7D6-A9E5D7AC5C42}"/>
              </a:ext>
            </a:extLst>
          </p:cNvPr>
          <p:cNvSpPr txBox="1"/>
          <p:nvPr/>
        </p:nvSpPr>
        <p:spPr>
          <a:xfrm>
            <a:off x="5368849" y="6985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7" name="TextBox 11">
            <a:extLst>
              <a:ext uri="{FF2B5EF4-FFF2-40B4-BE49-F238E27FC236}">
                <a16:creationId xmlns:a16="http://schemas.microsoft.com/office/drawing/2014/main" id="{5ED423C3-63D9-4C7F-BA01-FB401442E7F8}"/>
              </a:ext>
            </a:extLst>
          </p:cNvPr>
          <p:cNvSpPr txBox="1"/>
          <p:nvPr/>
        </p:nvSpPr>
        <p:spPr>
          <a:xfrm>
            <a:off x="7070651" y="6985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29" name="图片 28" descr="logo_画板 1">
            <a:extLst>
              <a:ext uri="{FF2B5EF4-FFF2-40B4-BE49-F238E27FC236}">
                <a16:creationId xmlns:a16="http://schemas.microsoft.com/office/drawing/2014/main" id="{E1F9D3CD-6777-455A-8526-58BA58D9C041}"/>
              </a:ext>
            </a:extLst>
          </p:cNvPr>
          <p:cNvPicPr>
            <a:picLocks noChangeAspect="1"/>
          </p:cNvPicPr>
          <p:nvPr/>
        </p:nvPicPr>
        <p:blipFill>
          <a:blip r:embed="rId14"/>
          <a:stretch>
            <a:fillRect/>
          </a:stretch>
        </p:blipFill>
        <p:spPr>
          <a:xfrm>
            <a:off x="265431" y="-57150"/>
            <a:ext cx="1160967" cy="653757"/>
          </a:xfrm>
          <a:prstGeom prst="rect">
            <a:avLst/>
          </a:prstGeom>
        </p:spPr>
      </p:pic>
      <p:sp>
        <p:nvSpPr>
          <p:cNvPr id="5" name="日期占位符 4">
            <a:extLst>
              <a:ext uri="{FF2B5EF4-FFF2-40B4-BE49-F238E27FC236}">
                <a16:creationId xmlns:a16="http://schemas.microsoft.com/office/drawing/2014/main" id="{2A3560F0-806A-4EEC-AFF4-EC68FA68A57E}"/>
              </a:ext>
            </a:extLst>
          </p:cNvPr>
          <p:cNvSpPr>
            <a:spLocks noGrp="1"/>
          </p:cNvSpPr>
          <p:nvPr>
            <p:ph type="dt" sz="half" idx="2"/>
          </p:nvPr>
        </p:nvSpPr>
        <p:spPr/>
        <p:txBody>
          <a:bodyPr/>
          <a:lstStyle/>
          <a:p>
            <a:fld id="{0E5FF922-DD51-4260-B753-130B0BAEBBC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6" name="页脚占位符 5">
            <a:extLst>
              <a:ext uri="{FF2B5EF4-FFF2-40B4-BE49-F238E27FC236}">
                <a16:creationId xmlns:a16="http://schemas.microsoft.com/office/drawing/2014/main" id="{43775CA1-34D8-4DFD-B81C-5E362D94CE57}"/>
              </a:ext>
            </a:extLst>
          </p:cNvPr>
          <p:cNvSpPr>
            <a:spLocks noGrp="1"/>
          </p:cNvSpPr>
          <p:nvPr>
            <p:ph type="ftr" sz="quarter" idx="3"/>
          </p:nvPr>
        </p:nvSpPr>
        <p:spPr/>
        <p:txBody>
          <a:bodyPr/>
          <a:lstStyle/>
          <a:p>
            <a:r>
              <a:rPr lang="zh-CN" altLang="en-US"/>
              <a:t>椭圆曲线密码体制</a:t>
            </a:r>
          </a:p>
        </p:txBody>
      </p:sp>
      <p:sp>
        <p:nvSpPr>
          <p:cNvPr id="7" name="灯片编号占位符 6">
            <a:extLst>
              <a:ext uri="{FF2B5EF4-FFF2-40B4-BE49-F238E27FC236}">
                <a16:creationId xmlns:a16="http://schemas.microsoft.com/office/drawing/2014/main" id="{19E3D485-37A6-4FDE-88EA-252A2CC3DDE4}"/>
              </a:ext>
            </a:extLst>
          </p:cNvPr>
          <p:cNvSpPr>
            <a:spLocks noGrp="1"/>
          </p:cNvSpPr>
          <p:nvPr>
            <p:ph type="sldNum" sz="quarter" idx="4"/>
          </p:nvPr>
        </p:nvSpPr>
        <p:spPr/>
        <p:txBody>
          <a:bodyPr/>
          <a:lstStyle/>
          <a:p>
            <a:fld id="{9A0DB2DC-4C9A-4742-B13C-FB6460FD3503}" type="slidenum">
              <a:rPr lang="en-US" altLang="zh-CN" smtClean="0"/>
              <a:pPr/>
              <a:t>21</a:t>
            </a:fld>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07670" y="1598295"/>
            <a:ext cx="8369300" cy="3119755"/>
          </a:xfrm>
          <a:prstGeom prst="rect">
            <a:avLst/>
          </a:prstGeom>
          <a:solidFill>
            <a:schemeClr val="accent5">
              <a:lumMod val="40000"/>
              <a:lumOff val="60000"/>
            </a:schemeClr>
          </a:solidFill>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63" name="矩形 162"/>
          <p:cNvSpPr/>
          <p:nvPr/>
        </p:nvSpPr>
        <p:spPr>
          <a:xfrm>
            <a:off x="3857703" y="0"/>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167" name="TextBox 9"/>
          <p:cNvSpPr txBox="1"/>
          <p:nvPr/>
        </p:nvSpPr>
        <p:spPr>
          <a:xfrm>
            <a:off x="4009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研究问题</a:t>
            </a:r>
          </a:p>
        </p:txBody>
      </p:sp>
      <p:sp>
        <p:nvSpPr>
          <p:cNvPr id="168" name="TextBox 10"/>
          <p:cNvSpPr txBox="1"/>
          <p:nvPr/>
        </p:nvSpPr>
        <p:spPr>
          <a:xfrm>
            <a:off x="5711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169" name="TextBox 11"/>
          <p:cNvSpPr txBox="1"/>
          <p:nvPr/>
        </p:nvSpPr>
        <p:spPr>
          <a:xfrm>
            <a:off x="74135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2" name="图片 1" descr="logo_画板 1"/>
          <p:cNvPicPr>
            <a:picLocks noChangeAspect="1"/>
          </p:cNvPicPr>
          <p:nvPr/>
        </p:nvPicPr>
        <p:blipFill>
          <a:blip r:embed="rId2"/>
          <a:stretch>
            <a:fillRect/>
          </a:stretch>
        </p:blipFill>
        <p:spPr>
          <a:xfrm>
            <a:off x="74930" y="0"/>
            <a:ext cx="1614805" cy="909320"/>
          </a:xfrm>
          <a:prstGeom prst="rect">
            <a:avLst/>
          </a:prstGeom>
        </p:spPr>
      </p:pic>
      <p:sp>
        <p:nvSpPr>
          <p:cNvPr id="3" name="文本框 2"/>
          <p:cNvSpPr txBox="1"/>
          <p:nvPr/>
        </p:nvSpPr>
        <p:spPr>
          <a:xfrm>
            <a:off x="674370" y="1839595"/>
            <a:ext cx="7749540" cy="2553335"/>
          </a:xfrm>
          <a:prstGeom prst="rect">
            <a:avLst/>
          </a:prstGeom>
        </p:spPr>
        <p:txBody>
          <a:bodyPr wrap="square">
            <a:spAutoFit/>
          </a:bodyPr>
          <a:lstStyle/>
          <a:p>
            <a:pPr indent="304800" algn="just" defTabSz="266700" fontAlgn="auto">
              <a:lnSpc>
                <a:spcPts val="2400"/>
              </a:lnSpc>
              <a:spcBef>
                <a:spcPct val="0"/>
              </a:spcBef>
              <a:spcAft>
                <a:spcPct val="0"/>
              </a:spcAft>
            </a:pPr>
            <a:r>
              <a:rPr lang="en-US" altLang="zh-CN" sz="2000">
                <a:solidFill>
                  <a:schemeClr val="tx1"/>
                </a:solidFill>
                <a:latin typeface="楷体" panose="02010609060101010101" charset="-122"/>
                <a:ea typeface="楷体" panose="02010609060101010101" charset="-122"/>
                <a:cs typeface="楷体" panose="02010609060101010101" charset="-122"/>
              </a:rPr>
              <a:t>1.31</a:t>
            </a:r>
            <a:r>
              <a:rPr lang="zh-CN" altLang="en-US" sz="2000">
                <a:solidFill>
                  <a:schemeClr val="tx1"/>
                </a:solidFill>
                <a:latin typeface="楷体" panose="02010609060101010101" charset="-122"/>
                <a:ea typeface="楷体" panose="02010609060101010101" charset="-122"/>
                <a:cs typeface="楷体" panose="02010609060101010101" charset="-122"/>
              </a:rPr>
              <a:t>名教师对六本国别化酒店旅游汉语教材的整体评价如何？</a:t>
            </a:r>
          </a:p>
          <a:p>
            <a:pPr indent="304800" algn="just" defTabSz="266700" fontAlgn="auto">
              <a:lnSpc>
                <a:spcPts val="2400"/>
              </a:lnSpc>
              <a:spcBef>
                <a:spcPct val="0"/>
              </a:spcBef>
              <a:spcAft>
                <a:spcPct val="0"/>
              </a:spcAft>
            </a:pPr>
            <a:endParaRPr lang="en-US" altLang="zh-CN" sz="2000">
              <a:solidFill>
                <a:schemeClr val="tx1"/>
              </a:solidFill>
              <a:latin typeface="楷体" panose="02010609060101010101" charset="-122"/>
              <a:ea typeface="楷体" panose="02010609060101010101" charset="-122"/>
              <a:cs typeface="楷体" panose="02010609060101010101" charset="-122"/>
            </a:endParaRPr>
          </a:p>
          <a:p>
            <a:pPr indent="304800" algn="just" defTabSz="266700" fontAlgn="auto">
              <a:lnSpc>
                <a:spcPts val="2400"/>
              </a:lnSpc>
              <a:spcBef>
                <a:spcPct val="0"/>
              </a:spcBef>
              <a:spcAft>
                <a:spcPct val="0"/>
              </a:spcAft>
            </a:pPr>
            <a:r>
              <a:rPr lang="en-US" altLang="zh-CN" sz="2000">
                <a:solidFill>
                  <a:schemeClr val="tx1"/>
                </a:solidFill>
                <a:latin typeface="楷体" panose="02010609060101010101" charset="-122"/>
                <a:ea typeface="楷体" panose="02010609060101010101" charset="-122"/>
                <a:cs typeface="楷体" panose="02010609060101010101" charset="-122"/>
              </a:rPr>
              <a:t>2.</a:t>
            </a:r>
            <a:r>
              <a:rPr lang="zh-CN" altLang="en-US" sz="2000">
                <a:solidFill>
                  <a:schemeClr val="tx1"/>
                </a:solidFill>
                <a:latin typeface="楷体" panose="02010609060101010101" charset="-122"/>
                <a:ea typeface="楷体" panose="02010609060101010101" charset="-122"/>
                <a:cs typeface="楷体" panose="02010609060101010101" charset="-122"/>
              </a:rPr>
              <a:t>有对外汉语教材编写经验、教学经验的教师和无教材编写经验但有教学经验的教师对六本国别酒店旅游汉语教材的认识和态度是否存在差异？有何差异？</a:t>
            </a:r>
          </a:p>
          <a:p>
            <a:pPr indent="304800" algn="just" defTabSz="266700" fontAlgn="auto">
              <a:lnSpc>
                <a:spcPts val="2400"/>
              </a:lnSpc>
              <a:spcBef>
                <a:spcPct val="0"/>
              </a:spcBef>
              <a:spcAft>
                <a:spcPct val="0"/>
              </a:spcAft>
            </a:pPr>
            <a:endParaRPr lang="en-US" altLang="zh-CN" sz="2000">
              <a:solidFill>
                <a:schemeClr val="tx1"/>
              </a:solidFill>
              <a:latin typeface="楷体" panose="02010609060101010101" charset="-122"/>
              <a:ea typeface="楷体" panose="02010609060101010101" charset="-122"/>
              <a:cs typeface="楷体" panose="02010609060101010101" charset="-122"/>
            </a:endParaRPr>
          </a:p>
          <a:p>
            <a:pPr indent="304800" algn="just" defTabSz="266700" fontAlgn="auto">
              <a:lnSpc>
                <a:spcPts val="2400"/>
              </a:lnSpc>
              <a:spcBef>
                <a:spcPct val="0"/>
              </a:spcBef>
              <a:spcAft>
                <a:spcPct val="0"/>
              </a:spcAft>
            </a:pPr>
            <a:r>
              <a:rPr lang="en-US" altLang="zh-CN" sz="2000">
                <a:solidFill>
                  <a:schemeClr val="tx1"/>
                </a:solidFill>
                <a:latin typeface="楷体" panose="02010609060101010101" charset="-122"/>
                <a:ea typeface="楷体" panose="02010609060101010101" charset="-122"/>
                <a:cs typeface="楷体" panose="02010609060101010101" charset="-122"/>
              </a:rPr>
              <a:t>3.</a:t>
            </a:r>
            <a:r>
              <a:rPr lang="zh-CN" altLang="en-US" sz="2000">
                <a:solidFill>
                  <a:schemeClr val="tx1"/>
                </a:solidFill>
                <a:latin typeface="楷体" panose="02010609060101010101" charset="-122"/>
                <a:ea typeface="楷体" panose="02010609060101010101" charset="-122"/>
                <a:cs typeface="楷体" panose="02010609060101010101" charset="-122"/>
              </a:rPr>
              <a:t>若存在差异，具体体现在哪些教材评价维度和评价指标上？对教材编写有何启示？</a:t>
            </a:r>
          </a:p>
        </p:txBody>
      </p:sp>
      <p:sp>
        <p:nvSpPr>
          <p:cNvPr id="8" name="文本框 7"/>
          <p:cNvSpPr txBox="1"/>
          <p:nvPr/>
        </p:nvSpPr>
        <p:spPr>
          <a:xfrm>
            <a:off x="127000" y="973455"/>
            <a:ext cx="2487295" cy="398780"/>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rPr>
              <a:t>研究问题</a:t>
            </a:r>
          </a:p>
        </p:txBody>
      </p:sp>
      <p:sp>
        <p:nvSpPr>
          <p:cNvPr id="5" name="日期占位符 4">
            <a:extLst>
              <a:ext uri="{FF2B5EF4-FFF2-40B4-BE49-F238E27FC236}">
                <a16:creationId xmlns:a16="http://schemas.microsoft.com/office/drawing/2014/main" id="{108F4673-7E6C-4A5E-ABBC-DD242B414B48}"/>
              </a:ext>
            </a:extLst>
          </p:cNvPr>
          <p:cNvSpPr>
            <a:spLocks noGrp="1"/>
          </p:cNvSpPr>
          <p:nvPr>
            <p:ph type="dt" sz="half" idx="2"/>
          </p:nvPr>
        </p:nvSpPr>
        <p:spPr/>
        <p:txBody>
          <a:bodyPr/>
          <a:lstStyle/>
          <a:p>
            <a:fld id="{2A62EB3F-88AF-42CA-9322-E70027A8EF0F}"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6" name="页脚占位符 5">
            <a:extLst>
              <a:ext uri="{FF2B5EF4-FFF2-40B4-BE49-F238E27FC236}">
                <a16:creationId xmlns:a16="http://schemas.microsoft.com/office/drawing/2014/main" id="{A61F6436-81BB-45AF-8CB6-4F518A2B3911}"/>
              </a:ext>
            </a:extLst>
          </p:cNvPr>
          <p:cNvSpPr>
            <a:spLocks noGrp="1"/>
          </p:cNvSpPr>
          <p:nvPr>
            <p:ph type="ftr" sz="quarter" idx="3"/>
          </p:nvPr>
        </p:nvSpPr>
        <p:spPr/>
        <p:txBody>
          <a:bodyPr/>
          <a:lstStyle/>
          <a:p>
            <a:r>
              <a:rPr lang="zh-CN" altLang="en-US"/>
              <a:t>椭圆曲线密码体制</a:t>
            </a:r>
          </a:p>
        </p:txBody>
      </p:sp>
      <p:sp>
        <p:nvSpPr>
          <p:cNvPr id="7" name="灯片编号占位符 6">
            <a:extLst>
              <a:ext uri="{FF2B5EF4-FFF2-40B4-BE49-F238E27FC236}">
                <a16:creationId xmlns:a16="http://schemas.microsoft.com/office/drawing/2014/main" id="{FE1A0064-B5D6-4023-8F85-5FBE661ED980}"/>
              </a:ext>
            </a:extLst>
          </p:cNvPr>
          <p:cNvSpPr>
            <a:spLocks noGrp="1"/>
          </p:cNvSpPr>
          <p:nvPr>
            <p:ph type="sldNum" sz="quarter" idx="4"/>
          </p:nvPr>
        </p:nvSpPr>
        <p:spPr/>
        <p:txBody>
          <a:bodyPr/>
          <a:lstStyle/>
          <a:p>
            <a:fld id="{9A0DB2DC-4C9A-4742-B13C-FB6460FD3503}" type="slidenum">
              <a:rPr lang="en-US" altLang="zh-CN" smtClean="0"/>
              <a:pPr/>
              <a:t>22</a:t>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53" name="矩形 152"/>
          <p:cNvSpPr/>
          <p:nvPr/>
        </p:nvSpPr>
        <p:spPr>
          <a:xfrm>
            <a:off x="545117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57" name="TextBox 9"/>
          <p:cNvSpPr txBox="1"/>
          <p:nvPr/>
        </p:nvSpPr>
        <p:spPr>
          <a:xfrm>
            <a:off x="39019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158" name="TextBox 10"/>
          <p:cNvSpPr txBox="1"/>
          <p:nvPr/>
        </p:nvSpPr>
        <p:spPr>
          <a:xfrm>
            <a:off x="560379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研究设计</a:t>
            </a:r>
          </a:p>
        </p:txBody>
      </p:sp>
      <p:sp>
        <p:nvSpPr>
          <p:cNvPr id="159" name="TextBox 11"/>
          <p:cNvSpPr txBox="1"/>
          <p:nvPr/>
        </p:nvSpPr>
        <p:spPr>
          <a:xfrm>
            <a:off x="730560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26" name="图片 25" descr="logo_画板 1"/>
          <p:cNvPicPr>
            <a:picLocks noChangeAspect="1"/>
          </p:cNvPicPr>
          <p:nvPr/>
        </p:nvPicPr>
        <p:blipFill>
          <a:blip r:embed="rId2"/>
          <a:stretch>
            <a:fillRect/>
          </a:stretch>
        </p:blipFill>
        <p:spPr>
          <a:xfrm>
            <a:off x="74930" y="0"/>
            <a:ext cx="1614805" cy="909320"/>
          </a:xfrm>
          <a:prstGeom prst="rect">
            <a:avLst/>
          </a:prstGeom>
        </p:spPr>
      </p:pic>
      <p:sp>
        <p:nvSpPr>
          <p:cNvPr id="2" name="文本框 1"/>
          <p:cNvSpPr txBox="1"/>
          <p:nvPr/>
        </p:nvSpPr>
        <p:spPr>
          <a:xfrm>
            <a:off x="511175" y="1249680"/>
            <a:ext cx="8121650" cy="1014730"/>
          </a:xfrm>
          <a:prstGeom prst="rect">
            <a:avLst/>
          </a:prstGeom>
        </p:spPr>
        <p:txBody>
          <a:bodyPr wrap="square">
            <a:spAutoFit/>
          </a:bodyPr>
          <a:lstStyle/>
          <a:p>
            <a:pPr marL="0" indent="0" algn="just" defTabSz="266700">
              <a:spcBef>
                <a:spcPct val="0"/>
              </a:spcBef>
              <a:spcAft>
                <a:spcPct val="0"/>
              </a:spcAft>
            </a:pPr>
            <a:r>
              <a:rPr lang="en-US" altLang="zh-CN" sz="1800">
                <a:latin typeface="楷体" panose="02010609060101010101" charset="-122"/>
                <a:ea typeface="楷体" panose="02010609060101010101" charset="-122"/>
                <a:cs typeface="楷体" panose="02010609060101010101" charset="-122"/>
              </a:rPr>
              <a:t>    </a:t>
            </a:r>
            <a:r>
              <a:rPr lang="zh-CN" altLang="en-US" sz="2000">
                <a:latin typeface="楷体" panose="02010609060101010101" charset="-122"/>
                <a:ea typeface="楷体" panose="02010609060101010101" charset="-122"/>
                <a:cs typeface="楷体" panose="02010609060101010101" charset="-122"/>
              </a:rPr>
              <a:t>本调查有效问卷31份。其中</a:t>
            </a:r>
            <a:r>
              <a:rPr lang="en-US" altLang="zh-CN" sz="2000">
                <a:latin typeface="楷体" panose="02010609060101010101" charset="-122"/>
                <a:ea typeface="楷体" panose="02010609060101010101" charset="-122"/>
                <a:cs typeface="楷体" panose="02010609060101010101" charset="-122"/>
              </a:rPr>
              <a:t>5</a:t>
            </a:r>
            <a:r>
              <a:rPr lang="zh-CN" altLang="en-US" sz="2000">
                <a:latin typeface="楷体" panose="02010609060101010101" charset="-122"/>
                <a:ea typeface="楷体" panose="02010609060101010101" charset="-122"/>
                <a:cs typeface="楷体" panose="02010609060101010101" charset="-122"/>
              </a:rPr>
              <a:t>位调查对象来自中国人民大学，对外汉语教材编写经验丰富、教学时长超20年，其他调查对象现在或曾经任教于亚洲、欧洲、美洲、非洲的16个国家。</a:t>
            </a:r>
          </a:p>
        </p:txBody>
      </p:sp>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3" name="文本框 2"/>
          <p:cNvSpPr txBox="1"/>
          <p:nvPr/>
        </p:nvSpPr>
        <p:spPr>
          <a:xfrm>
            <a:off x="2114550" y="2794952"/>
            <a:ext cx="5080000" cy="347345"/>
          </a:xfrm>
          <a:prstGeom prst="rect">
            <a:avLst/>
          </a:prstGeom>
        </p:spPr>
        <p:txBody>
          <a:bodyPr>
            <a:spAutoFit/>
          </a:bodyPr>
          <a:lstStyle/>
          <a:p>
            <a:pPr marL="0" indent="0" algn="ctr" defTabSz="266700">
              <a:lnSpc>
                <a:spcPts val="2000"/>
              </a:lnSpc>
              <a:spcBef>
                <a:spcPct val="0"/>
              </a:spcBef>
              <a:spcAft>
                <a:spcPct val="0"/>
              </a:spcAft>
            </a:pPr>
            <a:r>
              <a:rPr lang="zh-CN" altLang="en-US">
                <a:solidFill>
                  <a:srgbClr val="000000"/>
                </a:solidFill>
                <a:latin typeface="楷体" panose="02010609060101010101" charset="-122"/>
                <a:ea typeface="楷体" panose="02010609060101010101" charset="-122"/>
              </a:rPr>
              <a:t>调查问卷信度分析</a:t>
            </a:r>
          </a:p>
        </p:txBody>
      </p:sp>
      <p:graphicFrame>
        <p:nvGraphicFramePr>
          <p:cNvPr id="4" name="表格 3"/>
          <p:cNvGraphicFramePr/>
          <p:nvPr/>
        </p:nvGraphicFramePr>
        <p:xfrm>
          <a:off x="877570" y="3327718"/>
          <a:ext cx="7856220" cy="685800"/>
        </p:xfrm>
        <a:graphic>
          <a:graphicData uri="http://schemas.openxmlformats.org/drawingml/2006/table">
            <a:tbl>
              <a:tblPr/>
              <a:tblGrid>
                <a:gridCol w="2571750">
                  <a:extLst>
                    <a:ext uri="{9D8B030D-6E8A-4147-A177-3AD203B41FA5}">
                      <a16:colId xmlns:a16="http://schemas.microsoft.com/office/drawing/2014/main" val="20000"/>
                    </a:ext>
                  </a:extLst>
                </a:gridCol>
                <a:gridCol w="3622040">
                  <a:extLst>
                    <a:ext uri="{9D8B030D-6E8A-4147-A177-3AD203B41FA5}">
                      <a16:colId xmlns:a16="http://schemas.microsoft.com/office/drawing/2014/main" val="20001"/>
                    </a:ext>
                  </a:extLst>
                </a:gridCol>
                <a:gridCol w="669290">
                  <a:extLst>
                    <a:ext uri="{9D8B030D-6E8A-4147-A177-3AD203B41FA5}">
                      <a16:colId xmlns:a16="http://schemas.microsoft.com/office/drawing/2014/main" val="20002"/>
                    </a:ext>
                  </a:extLst>
                </a:gridCol>
                <a:gridCol w="993140">
                  <a:extLst>
                    <a:ext uri="{9D8B030D-6E8A-4147-A177-3AD203B41FA5}">
                      <a16:colId xmlns:a16="http://schemas.microsoft.com/office/drawing/2014/main" val="20003"/>
                    </a:ext>
                  </a:extLst>
                </a:gridCol>
              </a:tblGrid>
              <a:tr h="342900">
                <a:tc>
                  <a:txBody>
                    <a:bodyPr/>
                    <a:lstStyle/>
                    <a:p>
                      <a:pPr marL="0" indent="0" algn="ctr">
                        <a:lnSpc>
                          <a:spcPts val="2000"/>
                        </a:lnSpc>
                        <a:spcBef>
                          <a:spcPct val="0"/>
                        </a:spcBef>
                        <a:spcAft>
                          <a:spcPct val="0"/>
                        </a:spcAft>
                      </a:pPr>
                      <a:r>
                        <a:rPr lang="en-US" altLang="zh-CN" sz="1600" dirty="0">
                          <a:solidFill>
                            <a:srgbClr val="000000"/>
                          </a:solidFill>
                          <a:latin typeface="楷体" panose="02010609060101010101" charset="-122"/>
                          <a:ea typeface="楷体" panose="02010609060101010101" charset="-122"/>
                        </a:rPr>
                        <a:t>Cronbach's α</a:t>
                      </a:r>
                      <a:r>
                        <a:rPr lang="zh-CN" altLang="en-US" sz="1600" dirty="0">
                          <a:solidFill>
                            <a:srgbClr val="000000"/>
                          </a:solidFill>
                          <a:latin typeface="楷体" panose="02010609060101010101" charset="-122"/>
                          <a:ea typeface="楷体" panose="02010609060101010101" charset="-122"/>
                        </a:rPr>
                        <a:t>系数</a:t>
                      </a:r>
                    </a:p>
                  </a:txBody>
                  <a:tcPr marL="0" marR="0" marT="0" marB="0"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sz="1600">
                          <a:solidFill>
                            <a:srgbClr val="000000"/>
                          </a:solidFill>
                          <a:latin typeface="楷体" panose="02010609060101010101" charset="-122"/>
                          <a:ea typeface="楷体" panose="02010609060101010101" charset="-122"/>
                        </a:rPr>
                        <a:t>标准化</a:t>
                      </a:r>
                      <a:r>
                        <a:rPr lang="en-US" altLang="zh-CN" sz="1600">
                          <a:solidFill>
                            <a:srgbClr val="000000"/>
                          </a:solidFill>
                          <a:latin typeface="楷体" panose="02010609060101010101" charset="-122"/>
                          <a:ea typeface="楷体" panose="02010609060101010101" charset="-122"/>
                        </a:rPr>
                        <a:t>Cronbach's α</a:t>
                      </a:r>
                      <a:r>
                        <a:rPr lang="zh-CN" altLang="en-US" sz="1600">
                          <a:solidFill>
                            <a:srgbClr val="000000"/>
                          </a:solidFill>
                          <a:latin typeface="楷体" panose="02010609060101010101" charset="-122"/>
                          <a:ea typeface="楷体" panose="02010609060101010101" charset="-122"/>
                        </a:rPr>
                        <a:t>系数</a:t>
                      </a:r>
                    </a:p>
                  </a:txBody>
                  <a:tcPr marL="0" marR="0" marT="0" marB="0"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sz="1600">
                          <a:solidFill>
                            <a:srgbClr val="000000"/>
                          </a:solidFill>
                          <a:latin typeface="楷体" panose="02010609060101010101" charset="-122"/>
                          <a:ea typeface="楷体" panose="02010609060101010101" charset="-122"/>
                        </a:rPr>
                        <a:t>项数</a:t>
                      </a:r>
                    </a:p>
                  </a:txBody>
                  <a:tcPr marL="0" marR="0" marT="0" marB="0"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sz="1600">
                          <a:solidFill>
                            <a:srgbClr val="000000"/>
                          </a:solidFill>
                          <a:latin typeface="楷体" panose="02010609060101010101" charset="-122"/>
                          <a:ea typeface="楷体" panose="02010609060101010101" charset="-122"/>
                        </a:rPr>
                        <a:t>样本数</a:t>
                      </a:r>
                    </a:p>
                  </a:txBody>
                  <a:tcPr marL="0" marR="0" marT="0" marB="0" anchor="ctr">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00"/>
                  </a:ext>
                </a:extLst>
              </a:tr>
              <a:tr h="342900">
                <a:tc>
                  <a:txBody>
                    <a:bodyPr/>
                    <a:lstStyle/>
                    <a:p>
                      <a:pPr marL="0" indent="0" algn="ctr">
                        <a:lnSpc>
                          <a:spcPts val="2000"/>
                        </a:lnSpc>
                        <a:spcBef>
                          <a:spcPct val="0"/>
                        </a:spcBef>
                        <a:spcAft>
                          <a:spcPct val="0"/>
                        </a:spcAft>
                      </a:pPr>
                      <a:r>
                        <a:rPr lang="en-US" altLang="zh-CN" sz="1600">
                          <a:solidFill>
                            <a:srgbClr val="000000"/>
                          </a:solidFill>
                          <a:latin typeface="楷体" panose="02010609060101010101" charset="-122"/>
                          <a:ea typeface="楷体" panose="02010609060101010101" charset="-122"/>
                        </a:rPr>
                        <a:t>0.769</a:t>
                      </a:r>
                    </a:p>
                  </a:txBody>
                  <a:tcPr marL="0" marR="0" marT="0" marB="0" anchor="ctr">
                    <a:lnL>
                      <a:noFill/>
                    </a:lnL>
                    <a:lnR>
                      <a:noFill/>
                    </a:lnR>
                    <a:lnT w="63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600" dirty="0">
                          <a:solidFill>
                            <a:srgbClr val="000000"/>
                          </a:solidFill>
                          <a:latin typeface="楷体" panose="02010609060101010101" charset="-122"/>
                          <a:ea typeface="楷体" panose="02010609060101010101" charset="-122"/>
                        </a:rPr>
                        <a:t>0.979</a:t>
                      </a:r>
                    </a:p>
                  </a:txBody>
                  <a:tcPr marL="0" marR="0" marT="0" marB="0" anchor="ctr">
                    <a:lnL>
                      <a:noFill/>
                    </a:lnL>
                    <a:lnR>
                      <a:noFill/>
                    </a:lnR>
                    <a:lnT w="63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600">
                          <a:solidFill>
                            <a:srgbClr val="000000"/>
                          </a:solidFill>
                          <a:latin typeface="楷体" panose="02010609060101010101" charset="-122"/>
                          <a:ea typeface="楷体" panose="02010609060101010101" charset="-122"/>
                        </a:rPr>
                        <a:t>207</a:t>
                      </a:r>
                    </a:p>
                  </a:txBody>
                  <a:tcPr marL="0" marR="0" marT="0" marB="0" anchor="ctr">
                    <a:lnL>
                      <a:noFill/>
                    </a:lnL>
                    <a:lnR>
                      <a:noFill/>
                    </a:lnR>
                    <a:lnT w="63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600" dirty="0">
                          <a:solidFill>
                            <a:srgbClr val="000000"/>
                          </a:solidFill>
                          <a:latin typeface="楷体" panose="02010609060101010101" charset="-122"/>
                          <a:ea typeface="楷体" panose="02010609060101010101" charset="-122"/>
                        </a:rPr>
                        <a:t>31</a:t>
                      </a:r>
                    </a:p>
                  </a:txBody>
                  <a:tcPr marL="0" marR="0" marT="0" marB="0" anchor="ctr">
                    <a:lnL>
                      <a:noFill/>
                    </a:lnL>
                    <a:lnR>
                      <a:noFill/>
                    </a:lnR>
                    <a:lnT w="63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5" name="日期占位符 4">
            <a:extLst>
              <a:ext uri="{FF2B5EF4-FFF2-40B4-BE49-F238E27FC236}">
                <a16:creationId xmlns:a16="http://schemas.microsoft.com/office/drawing/2014/main" id="{C41E3D7C-3F93-4403-92FC-6503C56AE8CE}"/>
              </a:ext>
            </a:extLst>
          </p:cNvPr>
          <p:cNvSpPr>
            <a:spLocks noGrp="1"/>
          </p:cNvSpPr>
          <p:nvPr>
            <p:ph type="dt" sz="half" idx="2"/>
          </p:nvPr>
        </p:nvSpPr>
        <p:spPr/>
        <p:txBody>
          <a:bodyPr/>
          <a:lstStyle/>
          <a:p>
            <a:fld id="{D0D347FB-AEB1-4CD5-9953-905D10D7EEF1}"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6" name="页脚占位符 5">
            <a:extLst>
              <a:ext uri="{FF2B5EF4-FFF2-40B4-BE49-F238E27FC236}">
                <a16:creationId xmlns:a16="http://schemas.microsoft.com/office/drawing/2014/main" id="{FE843300-2CFA-40DE-AE15-BCEB8EF471D7}"/>
              </a:ext>
            </a:extLst>
          </p:cNvPr>
          <p:cNvSpPr>
            <a:spLocks noGrp="1"/>
          </p:cNvSpPr>
          <p:nvPr>
            <p:ph type="ftr" sz="quarter" idx="3"/>
          </p:nvPr>
        </p:nvSpPr>
        <p:spPr/>
        <p:txBody>
          <a:bodyPr/>
          <a:lstStyle/>
          <a:p>
            <a:r>
              <a:rPr lang="zh-CN" altLang="en-US"/>
              <a:t>椭圆曲线密码体制</a:t>
            </a:r>
          </a:p>
        </p:txBody>
      </p:sp>
      <p:sp>
        <p:nvSpPr>
          <p:cNvPr id="7" name="灯片编号占位符 6">
            <a:extLst>
              <a:ext uri="{FF2B5EF4-FFF2-40B4-BE49-F238E27FC236}">
                <a16:creationId xmlns:a16="http://schemas.microsoft.com/office/drawing/2014/main" id="{C494BCE9-BB16-4A3B-B1A0-C1E29A467F52}"/>
              </a:ext>
            </a:extLst>
          </p:cNvPr>
          <p:cNvSpPr>
            <a:spLocks noGrp="1"/>
          </p:cNvSpPr>
          <p:nvPr>
            <p:ph type="sldNum" sz="quarter" idx="4"/>
          </p:nvPr>
        </p:nvSpPr>
        <p:spPr/>
        <p:txBody>
          <a:bodyPr/>
          <a:lstStyle/>
          <a:p>
            <a:fld id="{9A0DB2DC-4C9A-4742-B13C-FB6460FD3503}" type="slidenum">
              <a:rPr lang="en-US" altLang="zh-CN" smtClean="0"/>
              <a:pPr/>
              <a:t>23</a:t>
            </a:fld>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53" name="矩形 152"/>
          <p:cNvSpPr/>
          <p:nvPr/>
        </p:nvSpPr>
        <p:spPr>
          <a:xfrm>
            <a:off x="545117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57" name="TextBox 9"/>
          <p:cNvSpPr txBox="1"/>
          <p:nvPr/>
        </p:nvSpPr>
        <p:spPr>
          <a:xfrm>
            <a:off x="39019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158" name="TextBox 10"/>
          <p:cNvSpPr txBox="1"/>
          <p:nvPr/>
        </p:nvSpPr>
        <p:spPr>
          <a:xfrm>
            <a:off x="560379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研究设计</a:t>
            </a:r>
          </a:p>
        </p:txBody>
      </p:sp>
      <p:sp>
        <p:nvSpPr>
          <p:cNvPr id="159" name="TextBox 11"/>
          <p:cNvSpPr txBox="1"/>
          <p:nvPr/>
        </p:nvSpPr>
        <p:spPr>
          <a:xfrm>
            <a:off x="730560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26" name="图片 25" descr="logo_画板 1"/>
          <p:cNvPicPr>
            <a:picLocks noChangeAspect="1"/>
          </p:cNvPicPr>
          <p:nvPr/>
        </p:nvPicPr>
        <p:blipFill>
          <a:blip r:embed="rId13"/>
          <a:stretch>
            <a:fillRect/>
          </a:stretch>
        </p:blipFill>
        <p:spPr>
          <a:xfrm>
            <a:off x="74930" y="0"/>
            <a:ext cx="1614805" cy="909320"/>
          </a:xfrm>
          <a:prstGeom prst="rect">
            <a:avLst/>
          </a:prstGeom>
        </p:spPr>
      </p:pic>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475" name="正文"/>
          <p:cNvSpPr txBox="1"/>
          <p:nvPr>
            <p:custDataLst>
              <p:tags r:id="rId1"/>
            </p:custDataLst>
          </p:nvPr>
        </p:nvSpPr>
        <p:spPr>
          <a:xfrm>
            <a:off x="214129" y="4495651"/>
            <a:ext cx="1758512" cy="1380359"/>
          </a:xfrm>
          <a:prstGeom prst="rect">
            <a:avLst/>
          </a:prstGeom>
          <a:noFill/>
        </p:spPr>
        <p:txBody>
          <a:bodyPr wrap="square" lIns="0" tIns="0" rIns="0" bIns="0" rtlCol="0" anchor="t" anchorCtr="0">
            <a:noAutofit/>
          </a:bodyPr>
          <a:lstStyle/>
          <a:p>
            <a:pPr lvl="0" algn="l">
              <a:lnSpc>
                <a:spcPct val="130000"/>
              </a:lnSpc>
              <a:buClrTx/>
              <a:buSzTx/>
              <a:buFontTx/>
            </a:pPr>
            <a:r>
              <a:rPr lang="zh-CN" altLang="en-US" sz="2400" b="1">
                <a:latin typeface="楷体" panose="02010609060101010101" charset="-122"/>
                <a:ea typeface="楷体" panose="02010609060101010101" charset="-122"/>
                <a:sym typeface="+mn-ea"/>
              </a:rPr>
              <a:t>活动类型</a:t>
            </a:r>
          </a:p>
        </p:txBody>
      </p:sp>
      <p:sp>
        <p:nvSpPr>
          <p:cNvPr id="477" name="平行四边形 476"/>
          <p:cNvSpPr/>
          <p:nvPr>
            <p:custDataLst>
              <p:tags r:id="rId2"/>
            </p:custDataLst>
          </p:nvPr>
        </p:nvSpPr>
        <p:spPr>
          <a:xfrm flipH="1">
            <a:off x="3549860" y="2893651"/>
            <a:ext cx="1576177" cy="950201"/>
          </a:xfrm>
          <a:prstGeom prst="parallelogram">
            <a:avLst>
              <a:gd name="adj" fmla="val 81259"/>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40">
              <a:solidFill>
                <a:schemeClr val="tx1">
                  <a:lumMod val="65000"/>
                  <a:lumOff val="35000"/>
                </a:schemeClr>
              </a:solidFill>
            </a:endParaRPr>
          </a:p>
        </p:txBody>
      </p:sp>
      <p:sp>
        <p:nvSpPr>
          <p:cNvPr id="478" name="任意多边形 477"/>
          <p:cNvSpPr/>
          <p:nvPr>
            <p:custDataLst>
              <p:tags r:id="rId3"/>
            </p:custDataLst>
          </p:nvPr>
        </p:nvSpPr>
        <p:spPr>
          <a:xfrm>
            <a:off x="6418460" y="1661878"/>
            <a:ext cx="2401181" cy="1926082"/>
          </a:xfrm>
          <a:custGeom>
            <a:avLst/>
            <a:gdLst>
              <a:gd name="adj" fmla="val 64618"/>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3740" h="3000">
                <a:moveTo>
                  <a:pt x="3027" y="0"/>
                </a:moveTo>
                <a:lnTo>
                  <a:pt x="3740" y="1091"/>
                </a:lnTo>
                <a:lnTo>
                  <a:pt x="3259" y="1091"/>
                </a:lnTo>
                <a:lnTo>
                  <a:pt x="2026" y="3000"/>
                </a:lnTo>
                <a:lnTo>
                  <a:pt x="0" y="3000"/>
                </a:lnTo>
                <a:lnTo>
                  <a:pt x="1247" y="1069"/>
                </a:lnTo>
                <a:lnTo>
                  <a:pt x="909" y="1062"/>
                </a:lnTo>
                <a:lnTo>
                  <a:pt x="3027" y="0"/>
                </a:lnTo>
                <a:close/>
              </a:path>
            </a:pathLst>
          </a:custGeom>
          <a:gradFill>
            <a:gsLst>
              <a:gs pos="39000">
                <a:schemeClr val="accent1">
                  <a:alpha val="100000"/>
                </a:schemeClr>
              </a:gs>
              <a:gs pos="100000">
                <a:schemeClr val="accent1">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642475" tIns="826039" rIns="849935" bIns="312819" numCol="1" spcCol="0" rtlCol="0" fromWordArt="0" anchor="ctr" anchorCtr="0" forceAA="0" compatLnSpc="1">
            <a:noAutofit/>
          </a:bodyPr>
          <a:lstStyle/>
          <a:p>
            <a:pPr algn="ctr"/>
            <a:r>
              <a:rPr lang="en-US" altLang="zh-CN" sz="2735" b="1" dirty="0">
                <a:solidFill>
                  <a:srgbClr val="FFFFFF"/>
                </a:solidFill>
                <a:latin typeface="Arial" panose="020B0604020202020204" pitchFamily="34" charset="0"/>
                <a:ea typeface="微软雅黑" panose="020B0503020204020204" charset="-122"/>
              </a:rPr>
              <a:t>03</a:t>
            </a:r>
          </a:p>
        </p:txBody>
      </p:sp>
      <p:sp>
        <p:nvSpPr>
          <p:cNvPr id="479" name="平行四边形 478"/>
          <p:cNvSpPr/>
          <p:nvPr>
            <p:custDataLst>
              <p:tags r:id="rId4"/>
            </p:custDataLst>
          </p:nvPr>
        </p:nvSpPr>
        <p:spPr>
          <a:xfrm flipH="1">
            <a:off x="1458778" y="3186414"/>
            <a:ext cx="1576177" cy="950201"/>
          </a:xfrm>
          <a:prstGeom prst="parallelogram">
            <a:avLst>
              <a:gd name="adj" fmla="val 80061"/>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40">
              <a:solidFill>
                <a:schemeClr val="tx1">
                  <a:lumMod val="65000"/>
                  <a:lumOff val="35000"/>
                </a:schemeClr>
              </a:solidFill>
            </a:endParaRPr>
          </a:p>
        </p:txBody>
      </p:sp>
      <p:sp>
        <p:nvSpPr>
          <p:cNvPr id="480" name="平行四边形 479"/>
          <p:cNvSpPr/>
          <p:nvPr>
            <p:custDataLst>
              <p:tags r:id="rId5"/>
            </p:custDataLst>
          </p:nvPr>
        </p:nvSpPr>
        <p:spPr>
          <a:xfrm>
            <a:off x="153536" y="3186414"/>
            <a:ext cx="2103281" cy="1242322"/>
          </a:xfrm>
          <a:prstGeom prst="parallelogram">
            <a:avLst>
              <a:gd name="adj" fmla="val 64618"/>
            </a:avLst>
          </a:prstGeom>
          <a:gradFill>
            <a:gsLst>
              <a:gs pos="39000">
                <a:schemeClr val="accent1">
                  <a:alpha val="100000"/>
                </a:schemeClr>
              </a:gs>
              <a:gs pos="100000">
                <a:schemeClr val="accent1">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sz="2735" b="1">
                <a:solidFill>
                  <a:srgbClr val="FFFFFF"/>
                </a:solidFill>
                <a:latin typeface="Arial" panose="020B0604020202020204" pitchFamily="34" charset="0"/>
                <a:ea typeface="微软雅黑" panose="020B0503020204020204" charset="-122"/>
                <a:sym typeface="+mn-ea"/>
              </a:rPr>
              <a:t>01</a:t>
            </a:r>
          </a:p>
        </p:txBody>
      </p:sp>
      <p:sp>
        <p:nvSpPr>
          <p:cNvPr id="481" name="平行四边形 480"/>
          <p:cNvSpPr/>
          <p:nvPr>
            <p:custDataLst>
              <p:tags r:id="rId6"/>
            </p:custDataLst>
          </p:nvPr>
        </p:nvSpPr>
        <p:spPr>
          <a:xfrm>
            <a:off x="2241409" y="2895577"/>
            <a:ext cx="2103281" cy="1242322"/>
          </a:xfrm>
          <a:prstGeom prst="parallelogram">
            <a:avLst>
              <a:gd name="adj" fmla="val 64618"/>
            </a:avLst>
          </a:prstGeom>
          <a:gradFill>
            <a:gsLst>
              <a:gs pos="39000">
                <a:schemeClr val="accent2">
                  <a:alpha val="100000"/>
                </a:schemeClr>
              </a:gs>
              <a:gs pos="100000">
                <a:schemeClr val="accent2">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2735" b="1">
                <a:solidFill>
                  <a:srgbClr val="FFFFFF"/>
                </a:solidFill>
                <a:latin typeface="Arial" panose="020B0604020202020204" pitchFamily="34" charset="0"/>
                <a:ea typeface="微软雅黑" panose="020B0503020204020204" charset="-122"/>
                <a:sym typeface="+mn-ea"/>
              </a:rPr>
              <a:t>02</a:t>
            </a:r>
          </a:p>
        </p:txBody>
      </p:sp>
      <p:sp>
        <p:nvSpPr>
          <p:cNvPr id="483" name="正文"/>
          <p:cNvSpPr txBox="1"/>
          <p:nvPr>
            <p:custDataLst>
              <p:tags r:id="rId7"/>
            </p:custDataLst>
          </p:nvPr>
        </p:nvSpPr>
        <p:spPr>
          <a:xfrm>
            <a:off x="2256508" y="4268808"/>
            <a:ext cx="1757870" cy="1537014"/>
          </a:xfrm>
          <a:prstGeom prst="rect">
            <a:avLst/>
          </a:prstGeom>
          <a:noFill/>
        </p:spPr>
        <p:txBody>
          <a:bodyPr wrap="square" lIns="0" tIns="0" rIns="0" bIns="0" rtlCol="0" anchor="t" anchorCtr="0">
            <a:noAutofit/>
          </a:bodyPr>
          <a:lstStyle/>
          <a:p>
            <a:pPr lvl="0" algn="l">
              <a:lnSpc>
                <a:spcPct val="130000"/>
              </a:lnSpc>
              <a:buClrTx/>
              <a:buSzTx/>
              <a:buFontTx/>
            </a:pPr>
            <a:r>
              <a:rPr lang="zh-CN" altLang="en-US" sz="2400" b="1">
                <a:latin typeface="楷体" panose="02010609060101010101" charset="-122"/>
                <a:ea typeface="楷体" panose="02010609060101010101" charset="-122"/>
                <a:sym typeface="+mn-ea"/>
              </a:rPr>
              <a:t>语言技能</a:t>
            </a:r>
          </a:p>
        </p:txBody>
      </p:sp>
      <p:sp>
        <p:nvSpPr>
          <p:cNvPr id="486" name="正文"/>
          <p:cNvSpPr txBox="1"/>
          <p:nvPr>
            <p:custDataLst>
              <p:tags r:id="rId8"/>
            </p:custDataLst>
          </p:nvPr>
        </p:nvSpPr>
        <p:spPr>
          <a:xfrm>
            <a:off x="4426583" y="4001478"/>
            <a:ext cx="1757228" cy="1380359"/>
          </a:xfrm>
          <a:prstGeom prst="rect">
            <a:avLst/>
          </a:prstGeom>
          <a:noFill/>
        </p:spPr>
        <p:txBody>
          <a:bodyPr wrap="square" lIns="0" tIns="0" rIns="0" bIns="0" rtlCol="0" anchor="t" anchorCtr="0">
            <a:noAutofit/>
          </a:bodyPr>
          <a:lstStyle/>
          <a:p>
            <a:pPr lvl="0" algn="l">
              <a:lnSpc>
                <a:spcPct val="130000"/>
              </a:lnSpc>
              <a:buClrTx/>
              <a:buSzTx/>
              <a:buFontTx/>
            </a:pPr>
            <a:r>
              <a:rPr lang="zh-CN" altLang="en-US" sz="2400" b="1">
                <a:latin typeface="楷体" panose="02010609060101010101" charset="-122"/>
                <a:ea typeface="楷体" panose="02010609060101010101" charset="-122"/>
                <a:sym typeface="+mn-ea"/>
              </a:rPr>
              <a:t>教材语言</a:t>
            </a:r>
          </a:p>
        </p:txBody>
      </p:sp>
      <p:sp>
        <p:nvSpPr>
          <p:cNvPr id="527" name="平行四边形 526"/>
          <p:cNvSpPr/>
          <p:nvPr>
            <p:custDataLst>
              <p:tags r:id="rId9"/>
            </p:custDataLst>
          </p:nvPr>
        </p:nvSpPr>
        <p:spPr>
          <a:xfrm flipH="1">
            <a:off x="5604085" y="2637746"/>
            <a:ext cx="1576177" cy="950201"/>
          </a:xfrm>
          <a:prstGeom prst="parallelogram">
            <a:avLst>
              <a:gd name="adj" fmla="val 81259"/>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40">
              <a:solidFill>
                <a:schemeClr val="tx1">
                  <a:lumMod val="65000"/>
                  <a:lumOff val="35000"/>
                </a:schemeClr>
              </a:solidFill>
            </a:endParaRPr>
          </a:p>
        </p:txBody>
      </p:sp>
      <p:sp>
        <p:nvSpPr>
          <p:cNvPr id="526" name="平行四边形 525"/>
          <p:cNvSpPr/>
          <p:nvPr>
            <p:custDataLst>
              <p:tags r:id="rId10"/>
            </p:custDataLst>
          </p:nvPr>
        </p:nvSpPr>
        <p:spPr>
          <a:xfrm>
            <a:off x="4262614" y="2601572"/>
            <a:ext cx="2103281" cy="1242322"/>
          </a:xfrm>
          <a:prstGeom prst="parallelogram">
            <a:avLst>
              <a:gd name="adj" fmla="val 64618"/>
            </a:avLst>
          </a:prstGeom>
          <a:gradFill>
            <a:gsLst>
              <a:gs pos="39000">
                <a:schemeClr val="accent2">
                  <a:alpha val="100000"/>
                </a:schemeClr>
              </a:gs>
              <a:gs pos="100000">
                <a:schemeClr val="accent2">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sz="2735" b="1">
                <a:solidFill>
                  <a:srgbClr val="FFFFFF"/>
                </a:solidFill>
                <a:latin typeface="Arial" panose="020B0604020202020204" pitchFamily="34" charset="0"/>
                <a:ea typeface="微软雅黑" panose="020B0503020204020204" charset="-122"/>
                <a:sym typeface="+mn-ea"/>
              </a:rPr>
              <a:t>02</a:t>
            </a:r>
          </a:p>
        </p:txBody>
      </p:sp>
      <p:sp>
        <p:nvSpPr>
          <p:cNvPr id="528" name="正文"/>
          <p:cNvSpPr txBox="1"/>
          <p:nvPr>
            <p:custDataLst>
              <p:tags r:id="rId11"/>
            </p:custDataLst>
          </p:nvPr>
        </p:nvSpPr>
        <p:spPr>
          <a:xfrm>
            <a:off x="6595743" y="3646513"/>
            <a:ext cx="1757228" cy="1380359"/>
          </a:xfrm>
          <a:prstGeom prst="rect">
            <a:avLst/>
          </a:prstGeom>
          <a:noFill/>
        </p:spPr>
        <p:txBody>
          <a:bodyPr wrap="square" lIns="0" tIns="0" rIns="0" bIns="0" rtlCol="0" anchor="t" anchorCtr="0">
            <a:noAutofit/>
          </a:bodyPr>
          <a:lstStyle/>
          <a:p>
            <a:pPr lvl="0" algn="l">
              <a:lnSpc>
                <a:spcPct val="130000"/>
              </a:lnSpc>
              <a:buClrTx/>
              <a:buSzTx/>
              <a:buFontTx/>
            </a:pPr>
            <a:r>
              <a:rPr lang="zh-CN" altLang="en-US" sz="2400" b="1">
                <a:latin typeface="楷体" panose="02010609060101010101" charset="-122"/>
                <a:ea typeface="楷体" panose="02010609060101010101" charset="-122"/>
                <a:sym typeface="+mn-ea"/>
              </a:rPr>
              <a:t>教材话题</a:t>
            </a:r>
          </a:p>
        </p:txBody>
      </p:sp>
      <p:sp>
        <p:nvSpPr>
          <p:cNvPr id="529" name="文本框 528"/>
          <p:cNvSpPr txBox="1"/>
          <p:nvPr/>
        </p:nvSpPr>
        <p:spPr>
          <a:xfrm>
            <a:off x="127000" y="1042035"/>
            <a:ext cx="4927600" cy="398780"/>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rPr>
              <a:t>问卷设计</a:t>
            </a:r>
          </a:p>
        </p:txBody>
      </p:sp>
      <p:sp>
        <p:nvSpPr>
          <p:cNvPr id="530" name="文本框 529"/>
          <p:cNvSpPr txBox="1"/>
          <p:nvPr/>
        </p:nvSpPr>
        <p:spPr>
          <a:xfrm>
            <a:off x="1127760" y="1573530"/>
            <a:ext cx="6052185" cy="398780"/>
          </a:xfrm>
          <a:prstGeom prst="rect">
            <a:avLst/>
          </a:prstGeom>
        </p:spPr>
        <p:txBody>
          <a:bodyPr wrap="square">
            <a:spAutoFit/>
          </a:bodyPr>
          <a:lstStyle/>
          <a:p>
            <a:pPr marL="0" indent="0" algn="just" defTabSz="266700">
              <a:spcBef>
                <a:spcPct val="0"/>
              </a:spcBef>
              <a:spcAft>
                <a:spcPct val="0"/>
              </a:spcAft>
            </a:pPr>
            <a:r>
              <a:rPr lang="zh-CN" altLang="en-US" sz="2000">
                <a:latin typeface="楷体" panose="02010609060101010101" charset="-122"/>
                <a:ea typeface="楷体" panose="02010609060101010101" charset="-122"/>
                <a:cs typeface="楷体" panose="02010609060101010101" charset="-122"/>
              </a:rPr>
              <a:t>参考了</a:t>
            </a:r>
            <a:r>
              <a:rPr lang="en-US" altLang="zh-CN" sz="2000">
                <a:latin typeface="楷体" panose="02010609060101010101" charset="-122"/>
                <a:ea typeface="楷体" panose="02010609060101010101" charset="-122"/>
                <a:cs typeface="楷体" panose="02010609060101010101" charset="-122"/>
              </a:rPr>
              <a:t>David R.A.Litz</a:t>
            </a:r>
            <a:r>
              <a:rPr lang="zh-CN" altLang="en-US" sz="2000">
                <a:latin typeface="楷体" panose="02010609060101010101" charset="-122"/>
                <a:ea typeface="楷体" panose="02010609060101010101" charset="-122"/>
                <a:cs typeface="楷体" panose="02010609060101010101" charset="-122"/>
              </a:rPr>
              <a:t>（</a:t>
            </a:r>
            <a:r>
              <a:rPr lang="en-US" altLang="zh-CN" sz="2000">
                <a:latin typeface="楷体" panose="02010609060101010101" charset="-122"/>
                <a:ea typeface="楷体" panose="02010609060101010101" charset="-122"/>
                <a:cs typeface="楷体" panose="02010609060101010101" charset="-122"/>
              </a:rPr>
              <a:t>2005</a:t>
            </a:r>
            <a:r>
              <a:rPr lang="zh-CN" altLang="en-US" sz="2000">
                <a:latin typeface="楷体" panose="02010609060101010101" charset="-122"/>
                <a:ea typeface="楷体" panose="02010609060101010101" charset="-122"/>
                <a:cs typeface="楷体" panose="02010609060101010101" charset="-122"/>
              </a:rPr>
              <a:t>）的量表。</a:t>
            </a:r>
          </a:p>
        </p:txBody>
      </p:sp>
      <p:sp>
        <p:nvSpPr>
          <p:cNvPr id="2" name="日期占位符 1">
            <a:extLst>
              <a:ext uri="{FF2B5EF4-FFF2-40B4-BE49-F238E27FC236}">
                <a16:creationId xmlns:a16="http://schemas.microsoft.com/office/drawing/2014/main" id="{27AAA8B6-78F0-4AFF-9B91-98048D32766B}"/>
              </a:ext>
            </a:extLst>
          </p:cNvPr>
          <p:cNvSpPr>
            <a:spLocks noGrp="1"/>
          </p:cNvSpPr>
          <p:nvPr>
            <p:ph type="dt" sz="half" idx="2"/>
          </p:nvPr>
        </p:nvSpPr>
        <p:spPr/>
        <p:txBody>
          <a:bodyPr/>
          <a:lstStyle/>
          <a:p>
            <a:fld id="{4C696C5C-ADEA-4E5D-82B5-6705553DAAE1}"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3" name="页脚占位符 2">
            <a:extLst>
              <a:ext uri="{FF2B5EF4-FFF2-40B4-BE49-F238E27FC236}">
                <a16:creationId xmlns:a16="http://schemas.microsoft.com/office/drawing/2014/main" id="{81343764-EF23-4964-B4C6-9BDD5ECA9F50}"/>
              </a:ext>
            </a:extLst>
          </p:cNvPr>
          <p:cNvSpPr>
            <a:spLocks noGrp="1"/>
          </p:cNvSpPr>
          <p:nvPr>
            <p:ph type="ftr" sz="quarter" idx="3"/>
          </p:nvPr>
        </p:nvSpPr>
        <p:spPr/>
        <p:txBody>
          <a:bodyPr/>
          <a:lstStyle/>
          <a:p>
            <a:r>
              <a:rPr lang="zh-CN" altLang="en-US"/>
              <a:t>椭圆曲线密码体制</a:t>
            </a:r>
          </a:p>
        </p:txBody>
      </p:sp>
      <p:sp>
        <p:nvSpPr>
          <p:cNvPr id="4" name="灯片编号占位符 3">
            <a:extLst>
              <a:ext uri="{FF2B5EF4-FFF2-40B4-BE49-F238E27FC236}">
                <a16:creationId xmlns:a16="http://schemas.microsoft.com/office/drawing/2014/main" id="{0C2855E9-AE0F-4649-AEAE-5E9FFA2C6B75}"/>
              </a:ext>
            </a:extLst>
          </p:cNvPr>
          <p:cNvSpPr>
            <a:spLocks noGrp="1"/>
          </p:cNvSpPr>
          <p:nvPr>
            <p:ph type="sldNum" sz="quarter" idx="4"/>
          </p:nvPr>
        </p:nvSpPr>
        <p:spPr/>
        <p:txBody>
          <a:bodyPr/>
          <a:lstStyle/>
          <a:p>
            <a:fld id="{9A0DB2DC-4C9A-4742-B13C-FB6460FD3503}" type="slidenum">
              <a:rPr lang="en-US" altLang="zh-CN" smtClean="0"/>
              <a:pPr/>
              <a:t>24</a:t>
            </a:fld>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53" name="矩形 152"/>
          <p:cNvSpPr/>
          <p:nvPr/>
        </p:nvSpPr>
        <p:spPr>
          <a:xfrm>
            <a:off x="545117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57" name="TextBox 9"/>
          <p:cNvSpPr txBox="1"/>
          <p:nvPr/>
        </p:nvSpPr>
        <p:spPr>
          <a:xfrm>
            <a:off x="39019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158" name="TextBox 10"/>
          <p:cNvSpPr txBox="1"/>
          <p:nvPr/>
        </p:nvSpPr>
        <p:spPr>
          <a:xfrm>
            <a:off x="560379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研究设计</a:t>
            </a:r>
          </a:p>
        </p:txBody>
      </p:sp>
      <p:sp>
        <p:nvSpPr>
          <p:cNvPr id="159" name="TextBox 11"/>
          <p:cNvSpPr txBox="1"/>
          <p:nvPr/>
        </p:nvSpPr>
        <p:spPr>
          <a:xfrm>
            <a:off x="730560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研究结论</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pic>
        <p:nvPicPr>
          <p:cNvPr id="26" name="图片 25" descr="logo_画板 1"/>
          <p:cNvPicPr>
            <a:picLocks noChangeAspect="1"/>
          </p:cNvPicPr>
          <p:nvPr/>
        </p:nvPicPr>
        <p:blipFill>
          <a:blip r:embed="rId3"/>
          <a:stretch>
            <a:fillRect/>
          </a:stretch>
        </p:blipFill>
        <p:spPr>
          <a:xfrm>
            <a:off x="74930" y="0"/>
            <a:ext cx="1614805" cy="909320"/>
          </a:xfrm>
          <a:prstGeom prst="rect">
            <a:avLst/>
          </a:prstGeom>
        </p:spPr>
      </p:pic>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pic>
        <p:nvPicPr>
          <p:cNvPr id="2" name="图片 1"/>
          <p:cNvPicPr>
            <a:picLocks noChangeAspect="1"/>
          </p:cNvPicPr>
          <p:nvPr/>
        </p:nvPicPr>
        <p:blipFill>
          <a:blip r:embed="rId4"/>
          <a:stretch>
            <a:fillRect/>
          </a:stretch>
        </p:blipFill>
        <p:spPr>
          <a:xfrm>
            <a:off x="112395" y="951230"/>
            <a:ext cx="4295775" cy="3354705"/>
          </a:xfrm>
          <a:prstGeom prst="rect">
            <a:avLst/>
          </a:prstGeom>
        </p:spPr>
      </p:pic>
      <p:pic>
        <p:nvPicPr>
          <p:cNvPr id="5" name="图片 4"/>
          <p:cNvPicPr>
            <a:picLocks noChangeAspect="1"/>
          </p:cNvPicPr>
          <p:nvPr/>
        </p:nvPicPr>
        <p:blipFill>
          <a:blip r:embed="rId5"/>
          <a:stretch>
            <a:fillRect/>
          </a:stretch>
        </p:blipFill>
        <p:spPr>
          <a:xfrm>
            <a:off x="4308475" y="1089025"/>
            <a:ext cx="4082415" cy="3954145"/>
          </a:xfrm>
          <a:prstGeom prst="rect">
            <a:avLst/>
          </a:prstGeom>
        </p:spPr>
      </p:pic>
      <p:sp>
        <p:nvSpPr>
          <p:cNvPr id="3" name="日期占位符 2">
            <a:extLst>
              <a:ext uri="{FF2B5EF4-FFF2-40B4-BE49-F238E27FC236}">
                <a16:creationId xmlns:a16="http://schemas.microsoft.com/office/drawing/2014/main" id="{61059ECA-9338-412D-8208-C84925101D07}"/>
              </a:ext>
            </a:extLst>
          </p:cNvPr>
          <p:cNvSpPr>
            <a:spLocks noGrp="1"/>
          </p:cNvSpPr>
          <p:nvPr>
            <p:ph type="dt" sz="half" idx="2"/>
          </p:nvPr>
        </p:nvSpPr>
        <p:spPr/>
        <p:txBody>
          <a:bodyPr/>
          <a:lstStyle/>
          <a:p>
            <a:fld id="{1DFEFD47-FACD-40E8-A5AF-460D2B36B030}"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4" name="页脚占位符 3">
            <a:extLst>
              <a:ext uri="{FF2B5EF4-FFF2-40B4-BE49-F238E27FC236}">
                <a16:creationId xmlns:a16="http://schemas.microsoft.com/office/drawing/2014/main" id="{B509859B-4B14-4E69-9EF7-64626CEA706A}"/>
              </a:ext>
            </a:extLst>
          </p:cNvPr>
          <p:cNvSpPr>
            <a:spLocks noGrp="1"/>
          </p:cNvSpPr>
          <p:nvPr>
            <p:ph type="ftr" sz="quarter" idx="3"/>
          </p:nvPr>
        </p:nvSpPr>
        <p:spPr/>
        <p:txBody>
          <a:bodyPr/>
          <a:lstStyle/>
          <a:p>
            <a:r>
              <a:rPr lang="zh-CN" altLang="en-US"/>
              <a:t>椭圆曲线密码体制</a:t>
            </a:r>
          </a:p>
        </p:txBody>
      </p:sp>
      <p:sp>
        <p:nvSpPr>
          <p:cNvPr id="6" name="灯片编号占位符 5">
            <a:extLst>
              <a:ext uri="{FF2B5EF4-FFF2-40B4-BE49-F238E27FC236}">
                <a16:creationId xmlns:a16="http://schemas.microsoft.com/office/drawing/2014/main" id="{A953591C-0A85-4234-BDBE-4FEBE1637F6A}"/>
              </a:ext>
            </a:extLst>
          </p:cNvPr>
          <p:cNvSpPr>
            <a:spLocks noGrp="1"/>
          </p:cNvSpPr>
          <p:nvPr>
            <p:ph type="sldNum" sz="quarter" idx="4"/>
          </p:nvPr>
        </p:nvSpPr>
        <p:spPr/>
        <p:txBody>
          <a:bodyPr/>
          <a:lstStyle/>
          <a:p>
            <a:fld id="{9A0DB2DC-4C9A-4742-B13C-FB6460FD3503}" type="slidenum">
              <a:rPr lang="en-US" altLang="zh-CN" smtClean="0"/>
              <a:pPr/>
              <a:t>25</a:t>
            </a:fld>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29" name="矩形 228"/>
          <p:cNvSpPr/>
          <p:nvPr/>
        </p:nvSpPr>
        <p:spPr>
          <a:xfrm>
            <a:off x="747682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33" name="TextBox 9"/>
          <p:cNvSpPr txBox="1"/>
          <p:nvPr/>
        </p:nvSpPr>
        <p:spPr>
          <a:xfrm>
            <a:off x="41940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234" name="TextBox 10"/>
          <p:cNvSpPr txBox="1"/>
          <p:nvPr/>
        </p:nvSpPr>
        <p:spPr>
          <a:xfrm>
            <a:off x="589589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35" name="TextBox 11"/>
          <p:cNvSpPr txBox="1"/>
          <p:nvPr/>
        </p:nvSpPr>
        <p:spPr>
          <a:xfrm>
            <a:off x="759770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研究结论</a:t>
            </a:r>
          </a:p>
        </p:txBody>
      </p:sp>
      <p:pic>
        <p:nvPicPr>
          <p:cNvPr id="26" name="图片 25" descr="logo_画板 1"/>
          <p:cNvPicPr>
            <a:picLocks noChangeAspect="1"/>
          </p:cNvPicPr>
          <p:nvPr/>
        </p:nvPicPr>
        <p:blipFill>
          <a:blip r:embed="rId4"/>
          <a:stretch>
            <a:fillRect/>
          </a:stretch>
        </p:blipFill>
        <p:spPr>
          <a:xfrm>
            <a:off x="74930" y="0"/>
            <a:ext cx="1614805" cy="909320"/>
          </a:xfrm>
          <a:prstGeom prst="rect">
            <a:avLst/>
          </a:prstGeom>
        </p:spPr>
      </p:pic>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36" name="标题"/>
          <p:cNvSpPr txBox="1"/>
          <p:nvPr>
            <p:custDataLst>
              <p:tags r:id="rId1"/>
            </p:custDataLst>
          </p:nvPr>
        </p:nvSpPr>
        <p:spPr>
          <a:xfrm>
            <a:off x="2037566" y="4345067"/>
            <a:ext cx="4987392" cy="362495"/>
          </a:xfrm>
          <a:prstGeom prst="rect">
            <a:avLst/>
          </a:prstGeom>
          <a:noFill/>
          <a:effectLst/>
        </p:spPr>
        <p:txBody>
          <a:bodyPr wrap="square" lIns="0" tIns="0" rIns="0" bIns="0" rtlCol="0" anchor="ctr">
            <a:noAutofit/>
          </a:bodyPr>
          <a:lstStyle/>
          <a:p>
            <a:pPr algn="ctr"/>
            <a:r>
              <a:rPr lang="zh-CN" altLang="en-US" sz="2800" b="1">
                <a:solidFill>
                  <a:schemeClr val="bg1"/>
                </a:solidFill>
                <a:latin typeface="楷体" panose="02010609060101010101" charset="-122"/>
                <a:ea typeface="楷体" panose="02010609060101010101" charset="-122"/>
                <a:sym typeface="+mn-ea"/>
              </a:rPr>
              <a:t>教材中存在的共性问题</a:t>
            </a:r>
            <a:endParaRPr lang="zh-CN" altLang="en-US" sz="2800" b="1" spc="300" dirty="0">
              <a:solidFill>
                <a:schemeClr val="bg1"/>
              </a:solidFill>
              <a:effectLst/>
              <a:latin typeface="楷体" panose="02010609060101010101" charset="-122"/>
              <a:ea typeface="楷体" panose="02010609060101010101" charset="-122"/>
              <a:sym typeface="+mn-ea"/>
            </a:endParaRPr>
          </a:p>
        </p:txBody>
      </p:sp>
      <p:sp>
        <p:nvSpPr>
          <p:cNvPr id="68" name="文本框 67"/>
          <p:cNvSpPr txBox="1"/>
          <p:nvPr/>
        </p:nvSpPr>
        <p:spPr>
          <a:xfrm>
            <a:off x="668655" y="1369695"/>
            <a:ext cx="363220" cy="583565"/>
          </a:xfrm>
          <a:prstGeom prst="rect">
            <a:avLst/>
          </a:prstGeom>
          <a:noFill/>
        </p:spPr>
        <p:txBody>
          <a:bodyPr wrap="square" rtlCol="0">
            <a:spAutoFit/>
          </a:bodyPr>
          <a:lstStyle/>
          <a:p>
            <a:r>
              <a:rPr lang="en-US" altLang="zh-CN" sz="3200" b="1">
                <a:solidFill>
                  <a:schemeClr val="bg1"/>
                </a:solidFill>
                <a:latin typeface="+mj-ea"/>
                <a:ea typeface="+mj-ea"/>
              </a:rPr>
              <a:t>1</a:t>
            </a:r>
          </a:p>
        </p:txBody>
      </p:sp>
      <p:sp>
        <p:nvSpPr>
          <p:cNvPr id="529" name="文本框 528"/>
          <p:cNvSpPr txBox="1"/>
          <p:nvPr/>
        </p:nvSpPr>
        <p:spPr>
          <a:xfrm>
            <a:off x="127000" y="1042035"/>
            <a:ext cx="8486140" cy="706755"/>
          </a:xfrm>
          <a:prstGeom prst="rect">
            <a:avLst/>
          </a:prstGeom>
          <a:noFill/>
        </p:spPr>
        <p:txBody>
          <a:bodyPr wrap="square" rtlCol="0">
            <a:spAutoFit/>
          </a:bodyPr>
          <a:lstStyle/>
          <a:p>
            <a:r>
              <a:rPr lang="zh-CN" altLang="en-US" sz="2000" b="1">
                <a:solidFill>
                  <a:schemeClr val="accent1"/>
                </a:solidFill>
                <a:effectLst>
                  <a:outerShdw blurRad="38100" dist="25400" dir="5400000" algn="ctr" rotWithShape="0">
                    <a:srgbClr val="6E747A">
                      <a:alpha val="43000"/>
                    </a:srgbClr>
                  </a:outerShdw>
                </a:effectLst>
                <a:latin typeface="+mj-ea"/>
                <a:ea typeface="+mj-ea"/>
                <a:sym typeface="+mn-ea"/>
              </a:rPr>
              <a:t>研究问题</a:t>
            </a:r>
            <a:r>
              <a:rPr lang="en-US" altLang="zh-CN" sz="2000" b="1">
                <a:solidFill>
                  <a:schemeClr val="accent1"/>
                </a:solidFill>
                <a:effectLst>
                  <a:outerShdw blurRad="38100" dist="25400" dir="5400000" algn="ctr" rotWithShape="0">
                    <a:srgbClr val="6E747A">
                      <a:alpha val="43000"/>
                    </a:srgbClr>
                  </a:outerShdw>
                </a:effectLst>
                <a:latin typeface="+mj-ea"/>
                <a:ea typeface="+mj-ea"/>
                <a:sym typeface="+mn-ea"/>
              </a:rPr>
              <a:t>1</a:t>
            </a:r>
            <a:r>
              <a:rPr lang="zh-CN" altLang="en-US" sz="2000" b="1">
                <a:solidFill>
                  <a:schemeClr val="accent1"/>
                </a:solidFill>
                <a:effectLst>
                  <a:outerShdw blurRad="38100" dist="25400" dir="5400000" algn="ctr" rotWithShape="0">
                    <a:srgbClr val="6E747A">
                      <a:alpha val="43000"/>
                    </a:srgbClr>
                  </a:outerShdw>
                </a:effectLst>
                <a:latin typeface="+mj-ea"/>
                <a:ea typeface="+mj-ea"/>
                <a:sym typeface="+mn-ea"/>
              </a:rPr>
              <a:t>：</a:t>
            </a:r>
            <a:r>
              <a:rPr lang="en-US" altLang="zh-CN" sz="2000">
                <a:latin typeface="楷体" panose="02010609060101010101" charset="-122"/>
                <a:ea typeface="楷体" panose="02010609060101010101" charset="-122"/>
                <a:cs typeface="楷体" panose="02010609060101010101" charset="-122"/>
                <a:sym typeface="+mn-ea"/>
              </a:rPr>
              <a:t>31</a:t>
            </a:r>
            <a:r>
              <a:rPr lang="zh-CN" altLang="en-US" sz="2000">
                <a:latin typeface="楷体" panose="02010609060101010101" charset="-122"/>
                <a:ea typeface="楷体" panose="02010609060101010101" charset="-122"/>
                <a:cs typeface="楷体" panose="02010609060101010101" charset="-122"/>
                <a:sym typeface="+mn-ea"/>
              </a:rPr>
              <a:t>名教师对六本国别化酒店旅游汉语教材的整体评价如何？</a:t>
            </a:r>
            <a:endParaRPr lang="zh-CN" altLang="en-US" sz="2000">
              <a:latin typeface="楷体" panose="02010609060101010101" charset="-122"/>
              <a:ea typeface="楷体" panose="02010609060101010101" charset="-122"/>
              <a:cs typeface="楷体" panose="02010609060101010101" charset="-122"/>
            </a:endParaRPr>
          </a:p>
          <a:p>
            <a:endParaRPr lang="zh-CN" altLang="en-US" sz="2000" b="1">
              <a:solidFill>
                <a:schemeClr val="accent1"/>
              </a:solidFill>
              <a:effectLst>
                <a:outerShdw blurRad="38100" dist="25400" dir="5400000" algn="ctr" rotWithShape="0">
                  <a:srgbClr val="6E747A">
                    <a:alpha val="43000"/>
                  </a:srgbClr>
                </a:outerShdw>
              </a:effectLst>
              <a:latin typeface="+mj-ea"/>
              <a:ea typeface="+mj-ea"/>
            </a:endParaRPr>
          </a:p>
        </p:txBody>
      </p:sp>
      <p:sp>
        <p:nvSpPr>
          <p:cNvPr id="88" name="文本框 87"/>
          <p:cNvSpPr txBox="1"/>
          <p:nvPr/>
        </p:nvSpPr>
        <p:spPr>
          <a:xfrm>
            <a:off x="2260600" y="1689735"/>
            <a:ext cx="5080000" cy="347345"/>
          </a:xfrm>
          <a:prstGeom prst="rect">
            <a:avLst/>
          </a:prstGeom>
        </p:spPr>
        <p:txBody>
          <a:bodyPr>
            <a:spAutoFit/>
          </a:bodyPr>
          <a:lstStyle/>
          <a:p>
            <a:pPr marL="0" indent="0" algn="ctr" defTabSz="266700">
              <a:lnSpc>
                <a:spcPts val="2000"/>
              </a:lnSpc>
            </a:pPr>
            <a:r>
              <a:rPr lang="zh-CN" altLang="en-US" b="1">
                <a:solidFill>
                  <a:srgbClr val="000000"/>
                </a:solidFill>
                <a:latin typeface="楷体" panose="02010609060101010101" charset="-122"/>
                <a:ea typeface="楷体" panose="02010609060101010101" charset="-122"/>
              </a:rPr>
              <a:t>教材总分排名表</a:t>
            </a:r>
          </a:p>
        </p:txBody>
      </p:sp>
      <p:graphicFrame>
        <p:nvGraphicFramePr>
          <p:cNvPr id="89" name="表格 88"/>
          <p:cNvGraphicFramePr/>
          <p:nvPr>
            <p:custDataLst>
              <p:tags r:id="rId2"/>
            </p:custDataLst>
          </p:nvPr>
        </p:nvGraphicFramePr>
        <p:xfrm>
          <a:off x="1873885" y="2181225"/>
          <a:ext cx="6127115" cy="2526030"/>
        </p:xfrm>
        <a:graphic>
          <a:graphicData uri="http://schemas.openxmlformats.org/drawingml/2006/table">
            <a:tbl>
              <a:tblPr/>
              <a:tblGrid>
                <a:gridCol w="658495">
                  <a:extLst>
                    <a:ext uri="{9D8B030D-6E8A-4147-A177-3AD203B41FA5}">
                      <a16:colId xmlns:a16="http://schemas.microsoft.com/office/drawing/2014/main" val="20000"/>
                    </a:ext>
                  </a:extLst>
                </a:gridCol>
                <a:gridCol w="3307080">
                  <a:extLst>
                    <a:ext uri="{9D8B030D-6E8A-4147-A177-3AD203B41FA5}">
                      <a16:colId xmlns:a16="http://schemas.microsoft.com/office/drawing/2014/main" val="20001"/>
                    </a:ext>
                  </a:extLst>
                </a:gridCol>
                <a:gridCol w="1436370">
                  <a:extLst>
                    <a:ext uri="{9D8B030D-6E8A-4147-A177-3AD203B41FA5}">
                      <a16:colId xmlns:a16="http://schemas.microsoft.com/office/drawing/2014/main" val="20002"/>
                    </a:ext>
                  </a:extLst>
                </a:gridCol>
                <a:gridCol w="725170">
                  <a:extLst>
                    <a:ext uri="{9D8B030D-6E8A-4147-A177-3AD203B41FA5}">
                      <a16:colId xmlns:a16="http://schemas.microsoft.com/office/drawing/2014/main" val="20003"/>
                    </a:ext>
                  </a:extLst>
                </a:gridCol>
              </a:tblGrid>
              <a:tr h="353060">
                <a:tc>
                  <a:txBody>
                    <a:bodyPr/>
                    <a:lstStyle/>
                    <a:p>
                      <a:pPr marL="0" indent="0" algn="ctr" fontAlgn="b">
                        <a:lnSpc>
                          <a:spcPts val="1300"/>
                        </a:lnSpc>
                        <a:spcBef>
                          <a:spcPct val="0"/>
                        </a:spcBef>
                        <a:spcAft>
                          <a:spcPct val="0"/>
                        </a:spcAft>
                      </a:pPr>
                      <a:r>
                        <a:rPr lang="zh-CN" sz="1600" b="1">
                          <a:solidFill>
                            <a:srgbClr val="000000"/>
                          </a:solidFill>
                          <a:latin typeface="楷体" panose="02010609060101010101" charset="-122"/>
                          <a:ea typeface="楷体" panose="02010609060101010101" charset="-122"/>
                        </a:rPr>
                        <a:t>国别</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marL="0" indent="0" algn="ctr" fontAlgn="b">
                        <a:lnSpc>
                          <a:spcPts val="1300"/>
                        </a:lnSpc>
                        <a:spcBef>
                          <a:spcPct val="0"/>
                        </a:spcBef>
                        <a:spcAft>
                          <a:spcPct val="0"/>
                        </a:spcAft>
                      </a:pPr>
                      <a:r>
                        <a:rPr lang="zh-CN" sz="1600" b="1" dirty="0">
                          <a:solidFill>
                            <a:srgbClr val="000000"/>
                          </a:solidFill>
                          <a:latin typeface="楷体" panose="02010609060101010101" charset="-122"/>
                          <a:ea typeface="楷体" panose="02010609060101010101" charset="-122"/>
                        </a:rPr>
                        <a:t>教材名称</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marL="0" indent="0" algn="ctr" fontAlgn="b">
                        <a:lnSpc>
                          <a:spcPts val="1300"/>
                        </a:lnSpc>
                        <a:spcBef>
                          <a:spcPct val="0"/>
                        </a:spcBef>
                        <a:spcAft>
                          <a:spcPct val="0"/>
                        </a:spcAft>
                      </a:pPr>
                      <a:r>
                        <a:rPr lang="zh-CN" sz="1600" b="1">
                          <a:solidFill>
                            <a:srgbClr val="000000"/>
                          </a:solidFill>
                          <a:latin typeface="楷体" panose="02010609060101010101" charset="-122"/>
                          <a:ea typeface="楷体" panose="02010609060101010101" charset="-122"/>
                        </a:rPr>
                        <a:t>教材评分</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marL="0" indent="0" algn="ctr" fontAlgn="b">
                        <a:lnSpc>
                          <a:spcPts val="1300"/>
                        </a:lnSpc>
                        <a:spcBef>
                          <a:spcPct val="0"/>
                        </a:spcBef>
                        <a:spcAft>
                          <a:spcPct val="0"/>
                        </a:spcAft>
                      </a:pPr>
                      <a:r>
                        <a:rPr lang="zh-CN" sz="1600" b="1">
                          <a:solidFill>
                            <a:srgbClr val="000000"/>
                          </a:solidFill>
                          <a:latin typeface="楷体" panose="02010609060101010101" charset="-122"/>
                          <a:ea typeface="楷体" panose="02010609060101010101" charset="-122"/>
                        </a:rPr>
                        <a:t>排名</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338455">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韩国</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《普通话：旅行篇》</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3958</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1</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462915">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英国</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cs typeface="楷体" panose="02010609060101010101" charset="-122"/>
                        </a:rPr>
                        <a:t>《</a:t>
                      </a:r>
                      <a:r>
                        <a:rPr lang="en-US" altLang="zh-CN" sz="1600" b="0">
                          <a:solidFill>
                            <a:srgbClr val="000000"/>
                          </a:solidFill>
                          <a:latin typeface="楷体" panose="02010609060101010101" charset="-122"/>
                          <a:ea typeface="楷体" panose="02010609060101010101" charset="-122"/>
                          <a:cs typeface="楷体" panose="02010609060101010101" charset="-122"/>
                        </a:rPr>
                        <a:t>China Ready!Chinese for Hospitality and Tourism》</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3709</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2</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345440">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韩国</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《酒店服务汉语》</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3620</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3</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332740">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韩国</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《包子妹的旅游中文大师》</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3618</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4</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395605">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泰国</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《酒店与旅游实用汉语》</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3574</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5</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297815">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泰国</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zh-CN" sz="1600" b="0">
                          <a:solidFill>
                            <a:srgbClr val="000000"/>
                          </a:solidFill>
                          <a:latin typeface="楷体" panose="02010609060101010101" charset="-122"/>
                          <a:ea typeface="楷体" panose="02010609060101010101" charset="-122"/>
                        </a:rPr>
                        <a:t>《汉语速成旅游与酒店篇》</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a:solidFill>
                            <a:srgbClr val="000000"/>
                          </a:solidFill>
                          <a:latin typeface="楷体" panose="02010609060101010101" charset="-122"/>
                          <a:ea typeface="楷体" panose="02010609060101010101" charset="-122"/>
                        </a:rPr>
                        <a:t>3484</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lgn="ctr" fontAlgn="b">
                        <a:lnSpc>
                          <a:spcPts val="1300"/>
                        </a:lnSpc>
                        <a:spcBef>
                          <a:spcPct val="0"/>
                        </a:spcBef>
                        <a:spcAft>
                          <a:spcPct val="0"/>
                        </a:spcAft>
                      </a:pPr>
                      <a:r>
                        <a:rPr lang="en-US" altLang="zh-CN" sz="1600" b="0" dirty="0">
                          <a:solidFill>
                            <a:srgbClr val="000000"/>
                          </a:solidFill>
                          <a:latin typeface="楷体" panose="02010609060101010101" charset="-122"/>
                          <a:ea typeface="楷体" panose="02010609060101010101" charset="-122"/>
                        </a:rPr>
                        <a:t>6</a:t>
                      </a:r>
                    </a:p>
                  </a:txBody>
                  <a:tcPr marL="68580" marR="68580"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2" name="日期占位符 1">
            <a:extLst>
              <a:ext uri="{FF2B5EF4-FFF2-40B4-BE49-F238E27FC236}">
                <a16:creationId xmlns:a16="http://schemas.microsoft.com/office/drawing/2014/main" id="{FBA034A0-154B-4747-A227-5CA4508E5EDD}"/>
              </a:ext>
            </a:extLst>
          </p:cNvPr>
          <p:cNvSpPr>
            <a:spLocks noGrp="1"/>
          </p:cNvSpPr>
          <p:nvPr>
            <p:ph type="dt" sz="half" idx="2"/>
          </p:nvPr>
        </p:nvSpPr>
        <p:spPr/>
        <p:txBody>
          <a:bodyPr/>
          <a:lstStyle/>
          <a:p>
            <a:fld id="{05E1C30F-5A18-4C83-B9EA-FED0A69A8659}"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3" name="页脚占位符 2">
            <a:extLst>
              <a:ext uri="{FF2B5EF4-FFF2-40B4-BE49-F238E27FC236}">
                <a16:creationId xmlns:a16="http://schemas.microsoft.com/office/drawing/2014/main" id="{A0EDDF3B-CC1C-46CB-8151-CD3BCBDA884F}"/>
              </a:ext>
            </a:extLst>
          </p:cNvPr>
          <p:cNvSpPr>
            <a:spLocks noGrp="1"/>
          </p:cNvSpPr>
          <p:nvPr>
            <p:ph type="ftr" sz="quarter" idx="3"/>
          </p:nvPr>
        </p:nvSpPr>
        <p:spPr/>
        <p:txBody>
          <a:bodyPr/>
          <a:lstStyle/>
          <a:p>
            <a:r>
              <a:rPr lang="zh-CN" altLang="en-US"/>
              <a:t>椭圆曲线密码体制</a:t>
            </a:r>
          </a:p>
        </p:txBody>
      </p:sp>
      <p:sp>
        <p:nvSpPr>
          <p:cNvPr id="4" name="灯片编号占位符 3">
            <a:extLst>
              <a:ext uri="{FF2B5EF4-FFF2-40B4-BE49-F238E27FC236}">
                <a16:creationId xmlns:a16="http://schemas.microsoft.com/office/drawing/2014/main" id="{A5B58758-D0C1-43A7-B573-3B955819D6B3}"/>
              </a:ext>
            </a:extLst>
          </p:cNvPr>
          <p:cNvSpPr>
            <a:spLocks noGrp="1"/>
          </p:cNvSpPr>
          <p:nvPr>
            <p:ph type="sldNum" sz="quarter" idx="4"/>
          </p:nvPr>
        </p:nvSpPr>
        <p:spPr/>
        <p:txBody>
          <a:bodyPr/>
          <a:lstStyle/>
          <a:p>
            <a:fld id="{9A0DB2DC-4C9A-4742-B13C-FB6460FD3503}" type="slidenum">
              <a:rPr lang="en-US" altLang="zh-CN" smtClean="0"/>
              <a:pPr/>
              <a:t>26</a:t>
            </a:fld>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29" name="矩形 228"/>
          <p:cNvSpPr/>
          <p:nvPr/>
        </p:nvSpPr>
        <p:spPr>
          <a:xfrm>
            <a:off x="747682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33" name="TextBox 9"/>
          <p:cNvSpPr txBox="1"/>
          <p:nvPr/>
        </p:nvSpPr>
        <p:spPr>
          <a:xfrm>
            <a:off x="41940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234" name="TextBox 10"/>
          <p:cNvSpPr txBox="1"/>
          <p:nvPr/>
        </p:nvSpPr>
        <p:spPr>
          <a:xfrm>
            <a:off x="589589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35" name="TextBox 11"/>
          <p:cNvSpPr txBox="1"/>
          <p:nvPr/>
        </p:nvSpPr>
        <p:spPr>
          <a:xfrm>
            <a:off x="759770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研究结论</a:t>
            </a:r>
          </a:p>
        </p:txBody>
      </p:sp>
      <p:pic>
        <p:nvPicPr>
          <p:cNvPr id="26" name="图片 25" descr="logo_画板 1"/>
          <p:cNvPicPr>
            <a:picLocks noChangeAspect="1"/>
          </p:cNvPicPr>
          <p:nvPr/>
        </p:nvPicPr>
        <p:blipFill>
          <a:blip r:embed="rId8"/>
          <a:stretch>
            <a:fillRect/>
          </a:stretch>
        </p:blipFill>
        <p:spPr>
          <a:xfrm>
            <a:off x="74930" y="0"/>
            <a:ext cx="1614805" cy="909320"/>
          </a:xfrm>
          <a:prstGeom prst="rect">
            <a:avLst/>
          </a:prstGeom>
        </p:spPr>
      </p:pic>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36" name="标题"/>
          <p:cNvSpPr txBox="1"/>
          <p:nvPr>
            <p:custDataLst>
              <p:tags r:id="rId1"/>
            </p:custDataLst>
          </p:nvPr>
        </p:nvSpPr>
        <p:spPr>
          <a:xfrm>
            <a:off x="2037566" y="4345067"/>
            <a:ext cx="4987392" cy="362495"/>
          </a:xfrm>
          <a:prstGeom prst="rect">
            <a:avLst/>
          </a:prstGeom>
          <a:noFill/>
          <a:effectLst/>
        </p:spPr>
        <p:txBody>
          <a:bodyPr wrap="square" lIns="0" tIns="0" rIns="0" bIns="0" rtlCol="0" anchor="ctr">
            <a:noAutofit/>
          </a:bodyPr>
          <a:lstStyle/>
          <a:p>
            <a:pPr algn="ctr"/>
            <a:r>
              <a:rPr lang="zh-CN" altLang="en-US" sz="2800" b="1">
                <a:solidFill>
                  <a:schemeClr val="bg1"/>
                </a:solidFill>
                <a:latin typeface="楷体" panose="02010609060101010101" charset="-122"/>
                <a:ea typeface="楷体" panose="02010609060101010101" charset="-122"/>
                <a:sym typeface="+mn-ea"/>
              </a:rPr>
              <a:t>教材中存在的共性问题</a:t>
            </a:r>
            <a:endParaRPr lang="zh-CN" altLang="en-US" sz="2800" b="1" spc="300" dirty="0">
              <a:solidFill>
                <a:schemeClr val="bg1"/>
              </a:solidFill>
              <a:effectLst/>
              <a:latin typeface="楷体" panose="02010609060101010101" charset="-122"/>
              <a:ea typeface="楷体" panose="02010609060101010101" charset="-122"/>
              <a:sym typeface="+mn-ea"/>
            </a:endParaRPr>
          </a:p>
        </p:txBody>
      </p:sp>
      <p:sp>
        <p:nvSpPr>
          <p:cNvPr id="68" name="文本框 67"/>
          <p:cNvSpPr txBox="1"/>
          <p:nvPr/>
        </p:nvSpPr>
        <p:spPr>
          <a:xfrm>
            <a:off x="668655" y="1369695"/>
            <a:ext cx="363220" cy="583565"/>
          </a:xfrm>
          <a:prstGeom prst="rect">
            <a:avLst/>
          </a:prstGeom>
          <a:noFill/>
        </p:spPr>
        <p:txBody>
          <a:bodyPr wrap="square" rtlCol="0">
            <a:spAutoFit/>
          </a:bodyPr>
          <a:lstStyle/>
          <a:p>
            <a:r>
              <a:rPr lang="en-US" altLang="zh-CN" sz="3200" b="1">
                <a:solidFill>
                  <a:schemeClr val="bg1"/>
                </a:solidFill>
                <a:latin typeface="+mj-ea"/>
                <a:ea typeface="+mj-ea"/>
              </a:rPr>
              <a:t>1</a:t>
            </a:r>
          </a:p>
        </p:txBody>
      </p:sp>
      <p:sp>
        <p:nvSpPr>
          <p:cNvPr id="529" name="文本框 528"/>
          <p:cNvSpPr txBox="1"/>
          <p:nvPr/>
        </p:nvSpPr>
        <p:spPr>
          <a:xfrm>
            <a:off x="127000" y="1042035"/>
            <a:ext cx="8623300" cy="1424940"/>
          </a:xfrm>
          <a:prstGeom prst="rect">
            <a:avLst/>
          </a:prstGeom>
          <a:noFill/>
        </p:spPr>
        <p:txBody>
          <a:bodyPr wrap="square" rtlCol="0">
            <a:spAutoFit/>
          </a:bodyPr>
          <a:lstStyle/>
          <a:p>
            <a:pPr indent="0" fontAlgn="auto">
              <a:lnSpc>
                <a:spcPts val="2600"/>
              </a:lnSpc>
            </a:pPr>
            <a:r>
              <a:rPr lang="zh-CN" altLang="en-US" sz="2000" b="1">
                <a:solidFill>
                  <a:schemeClr val="accent1"/>
                </a:solidFill>
                <a:effectLst>
                  <a:outerShdw blurRad="38100" dist="25400" dir="5400000" algn="ctr" rotWithShape="0">
                    <a:srgbClr val="6E747A">
                      <a:alpha val="43000"/>
                    </a:srgbClr>
                  </a:outerShdw>
                </a:effectLst>
                <a:latin typeface="+mj-ea"/>
                <a:ea typeface="+mj-ea"/>
                <a:sym typeface="+mn-ea"/>
              </a:rPr>
              <a:t>研究问题</a:t>
            </a:r>
            <a:r>
              <a:rPr lang="en-US" altLang="zh-CN" sz="2000" b="1">
                <a:solidFill>
                  <a:schemeClr val="accent1"/>
                </a:solidFill>
                <a:effectLst>
                  <a:outerShdw blurRad="38100" dist="25400" dir="5400000" algn="ctr" rotWithShape="0">
                    <a:srgbClr val="6E747A">
                      <a:alpha val="43000"/>
                    </a:srgbClr>
                  </a:outerShdw>
                </a:effectLst>
                <a:latin typeface="+mj-ea"/>
                <a:ea typeface="+mj-ea"/>
                <a:sym typeface="+mn-ea"/>
              </a:rPr>
              <a:t>2</a:t>
            </a:r>
            <a:r>
              <a:rPr lang="zh-CN" altLang="en-US" sz="2000" b="1">
                <a:solidFill>
                  <a:schemeClr val="accent1"/>
                </a:solidFill>
                <a:effectLst>
                  <a:outerShdw blurRad="38100" dist="25400" dir="5400000" algn="ctr" rotWithShape="0">
                    <a:srgbClr val="6E747A">
                      <a:alpha val="43000"/>
                    </a:srgbClr>
                  </a:outerShdw>
                </a:effectLst>
                <a:latin typeface="+mj-ea"/>
                <a:ea typeface="+mj-ea"/>
                <a:sym typeface="+mn-ea"/>
              </a:rPr>
              <a:t>：</a:t>
            </a:r>
            <a:r>
              <a:rPr lang="zh-CN" altLang="en-US" sz="2000">
                <a:latin typeface="楷体" panose="02010609060101010101" charset="-122"/>
                <a:ea typeface="楷体" panose="02010609060101010101" charset="-122"/>
                <a:cs typeface="楷体" panose="02010609060101010101" charset="-122"/>
                <a:sym typeface="+mn-ea"/>
              </a:rPr>
              <a:t>有对外汉语教材编写经验、教学经验的教师和无教材编写经验但有教学经验的教师对六本国别酒店旅游汉语教材的认识和态度是否存在差异？有何差异？</a:t>
            </a:r>
            <a:endParaRPr lang="zh-CN" altLang="en-US" sz="2000">
              <a:latin typeface="楷体" panose="02010609060101010101" charset="-122"/>
              <a:ea typeface="楷体" panose="02010609060101010101" charset="-122"/>
              <a:cs typeface="楷体" panose="02010609060101010101" charset="-122"/>
            </a:endParaRPr>
          </a:p>
          <a:p>
            <a:pPr indent="0" fontAlgn="auto">
              <a:lnSpc>
                <a:spcPts val="2600"/>
              </a:lnSpc>
            </a:pPr>
            <a:endParaRPr lang="zh-CN" altLang="en-US" sz="2000" b="1">
              <a:solidFill>
                <a:schemeClr val="accent1"/>
              </a:solidFill>
              <a:effectLst>
                <a:outerShdw blurRad="38100" dist="25400" dir="5400000" algn="ctr" rotWithShape="0">
                  <a:srgbClr val="6E747A">
                    <a:alpha val="43000"/>
                  </a:srgbClr>
                </a:outerShdw>
              </a:effectLst>
              <a:latin typeface="+mj-ea"/>
              <a:ea typeface="+mj-ea"/>
            </a:endParaRPr>
          </a:p>
        </p:txBody>
      </p:sp>
      <p:sp>
        <p:nvSpPr>
          <p:cNvPr id="16" name="任意多边形: 形状 15"/>
          <p:cNvSpPr/>
          <p:nvPr>
            <p:custDataLst>
              <p:tags r:id="rId2"/>
            </p:custDataLst>
          </p:nvPr>
        </p:nvSpPr>
        <p:spPr>
          <a:xfrm>
            <a:off x="1892300" y="2204085"/>
            <a:ext cx="2337435" cy="2851150"/>
          </a:xfrm>
          <a:custGeom>
            <a:avLst/>
            <a:gdLst>
              <a:gd name="connsiteX0" fmla="*/ 62283 w 2658882"/>
              <a:gd name="connsiteY0" fmla="*/ 40468 h 4091396"/>
              <a:gd name="connsiteX1" fmla="*/ 205497 w 2658882"/>
              <a:gd name="connsiteY1" fmla="*/ 0 h 4091396"/>
              <a:gd name="connsiteX2" fmla="*/ 2508800 w 2658882"/>
              <a:gd name="connsiteY2" fmla="*/ 363231 h 4091396"/>
              <a:gd name="connsiteX3" fmla="*/ 2658882 w 2658882"/>
              <a:gd name="connsiteY3" fmla="*/ 538860 h 4091396"/>
              <a:gd name="connsiteX4" fmla="*/ 2658882 w 2658882"/>
              <a:gd name="connsiteY4" fmla="*/ 3550908 h 4091396"/>
              <a:gd name="connsiteX5" fmla="*/ 2508776 w 2658882"/>
              <a:gd name="connsiteY5" fmla="*/ 3726540 h 4091396"/>
              <a:gd name="connsiteX6" fmla="*/ 205473 w 2658882"/>
              <a:gd name="connsiteY6" fmla="*/ 4089771 h 4091396"/>
              <a:gd name="connsiteX7" fmla="*/ 62283 w 2658882"/>
              <a:gd name="connsiteY7" fmla="*/ 4049299 h 4091396"/>
              <a:gd name="connsiteX8" fmla="*/ 0 w 2658882"/>
              <a:gd name="connsiteY8" fmla="*/ 3914137 h 4091396"/>
              <a:gd name="connsiteX9" fmla="*/ 0 w 2658882"/>
              <a:gd name="connsiteY9" fmla="*/ 175659 h 4091396"/>
              <a:gd name="connsiteX10" fmla="*/ 62283 w 2658882"/>
              <a:gd name="connsiteY10" fmla="*/ 40468 h 4091396"/>
              <a:gd name="connsiteX0-1" fmla="*/ 62283 w 2658882"/>
              <a:gd name="connsiteY0-2" fmla="*/ 42612 h 4093540"/>
              <a:gd name="connsiteX1-3" fmla="*/ 205497 w 2658882"/>
              <a:gd name="connsiteY1-4" fmla="*/ 2144 h 4093540"/>
              <a:gd name="connsiteX2-5" fmla="*/ 2508800 w 2658882"/>
              <a:gd name="connsiteY2-6" fmla="*/ 365375 h 4093540"/>
              <a:gd name="connsiteX3-7" fmla="*/ 2658882 w 2658882"/>
              <a:gd name="connsiteY3-8" fmla="*/ 541004 h 4093540"/>
              <a:gd name="connsiteX4-9" fmla="*/ 2658882 w 2658882"/>
              <a:gd name="connsiteY4-10" fmla="*/ 3553052 h 4093540"/>
              <a:gd name="connsiteX5-11" fmla="*/ 2508776 w 2658882"/>
              <a:gd name="connsiteY5-12" fmla="*/ 3728684 h 4093540"/>
              <a:gd name="connsiteX6-13" fmla="*/ 205473 w 2658882"/>
              <a:gd name="connsiteY6-14" fmla="*/ 4091915 h 4093540"/>
              <a:gd name="connsiteX7-15" fmla="*/ 62283 w 2658882"/>
              <a:gd name="connsiteY7-16" fmla="*/ 4051443 h 4093540"/>
              <a:gd name="connsiteX8-17" fmla="*/ 0 w 2658882"/>
              <a:gd name="connsiteY8-18" fmla="*/ 3916281 h 4093540"/>
              <a:gd name="connsiteX9-19" fmla="*/ 0 w 2658882"/>
              <a:gd name="connsiteY9-20" fmla="*/ 177803 h 4093540"/>
              <a:gd name="connsiteX10-21" fmla="*/ 62283 w 2658882"/>
              <a:gd name="connsiteY10-22" fmla="*/ 42612 h 4093540"/>
              <a:gd name="connsiteX0-23" fmla="*/ 62283 w 2658882"/>
              <a:gd name="connsiteY0-24" fmla="*/ 42612 h 4093540"/>
              <a:gd name="connsiteX1-25" fmla="*/ 205497 w 2658882"/>
              <a:gd name="connsiteY1-26" fmla="*/ 2144 h 4093540"/>
              <a:gd name="connsiteX2-27" fmla="*/ 2508800 w 2658882"/>
              <a:gd name="connsiteY2-28" fmla="*/ 365375 h 4093540"/>
              <a:gd name="connsiteX3-29" fmla="*/ 2658882 w 2658882"/>
              <a:gd name="connsiteY3-30" fmla="*/ 541004 h 4093540"/>
              <a:gd name="connsiteX4-31" fmla="*/ 2658882 w 2658882"/>
              <a:gd name="connsiteY4-32" fmla="*/ 3553052 h 4093540"/>
              <a:gd name="connsiteX5-33" fmla="*/ 2508776 w 2658882"/>
              <a:gd name="connsiteY5-34" fmla="*/ 3728684 h 4093540"/>
              <a:gd name="connsiteX6-35" fmla="*/ 205473 w 2658882"/>
              <a:gd name="connsiteY6-36" fmla="*/ 4091915 h 4093540"/>
              <a:gd name="connsiteX7-37" fmla="*/ 62283 w 2658882"/>
              <a:gd name="connsiteY7-38" fmla="*/ 4051443 h 4093540"/>
              <a:gd name="connsiteX8-39" fmla="*/ 0 w 2658882"/>
              <a:gd name="connsiteY8-40" fmla="*/ 3916281 h 4093540"/>
              <a:gd name="connsiteX9-41" fmla="*/ 0 w 2658882"/>
              <a:gd name="connsiteY9-42" fmla="*/ 177803 h 4093540"/>
              <a:gd name="connsiteX10-43" fmla="*/ 62283 w 2658882"/>
              <a:gd name="connsiteY10-44" fmla="*/ 42612 h 4093540"/>
              <a:gd name="connsiteX0-45" fmla="*/ 62283 w 2658882"/>
              <a:gd name="connsiteY0-46" fmla="*/ 42612 h 4093540"/>
              <a:gd name="connsiteX1-47" fmla="*/ 205497 w 2658882"/>
              <a:gd name="connsiteY1-48" fmla="*/ 2144 h 4093540"/>
              <a:gd name="connsiteX2-49" fmla="*/ 2508800 w 2658882"/>
              <a:gd name="connsiteY2-50" fmla="*/ 365375 h 4093540"/>
              <a:gd name="connsiteX3-51" fmla="*/ 2658882 w 2658882"/>
              <a:gd name="connsiteY3-52" fmla="*/ 541004 h 4093540"/>
              <a:gd name="connsiteX4-53" fmla="*/ 2658882 w 2658882"/>
              <a:gd name="connsiteY4-54" fmla="*/ 3553052 h 4093540"/>
              <a:gd name="connsiteX5-55" fmla="*/ 2508776 w 2658882"/>
              <a:gd name="connsiteY5-56" fmla="*/ 3728684 h 4093540"/>
              <a:gd name="connsiteX6-57" fmla="*/ 205473 w 2658882"/>
              <a:gd name="connsiteY6-58" fmla="*/ 4091915 h 4093540"/>
              <a:gd name="connsiteX7-59" fmla="*/ 62283 w 2658882"/>
              <a:gd name="connsiteY7-60" fmla="*/ 4051443 h 4093540"/>
              <a:gd name="connsiteX8-61" fmla="*/ 0 w 2658882"/>
              <a:gd name="connsiteY8-62" fmla="*/ 3916281 h 4093540"/>
              <a:gd name="connsiteX9-63" fmla="*/ 0 w 2658882"/>
              <a:gd name="connsiteY9-64" fmla="*/ 177803 h 4093540"/>
              <a:gd name="connsiteX10-65" fmla="*/ 62283 w 2658882"/>
              <a:gd name="connsiteY10-66" fmla="*/ 42612 h 4093540"/>
              <a:gd name="connsiteX0-67" fmla="*/ 62283 w 2658882"/>
              <a:gd name="connsiteY0-68" fmla="*/ 42612 h 4093540"/>
              <a:gd name="connsiteX1-69" fmla="*/ 205497 w 2658882"/>
              <a:gd name="connsiteY1-70" fmla="*/ 2144 h 4093540"/>
              <a:gd name="connsiteX2-71" fmla="*/ 2508800 w 2658882"/>
              <a:gd name="connsiteY2-72" fmla="*/ 365375 h 4093540"/>
              <a:gd name="connsiteX3-73" fmla="*/ 2658882 w 2658882"/>
              <a:gd name="connsiteY3-74" fmla="*/ 541004 h 4093540"/>
              <a:gd name="connsiteX4-75" fmla="*/ 2658882 w 2658882"/>
              <a:gd name="connsiteY4-76" fmla="*/ 3553052 h 4093540"/>
              <a:gd name="connsiteX5-77" fmla="*/ 2508776 w 2658882"/>
              <a:gd name="connsiteY5-78" fmla="*/ 3728684 h 4093540"/>
              <a:gd name="connsiteX6-79" fmla="*/ 205473 w 2658882"/>
              <a:gd name="connsiteY6-80" fmla="*/ 4091915 h 4093540"/>
              <a:gd name="connsiteX7-81" fmla="*/ 62283 w 2658882"/>
              <a:gd name="connsiteY7-82" fmla="*/ 4051443 h 4093540"/>
              <a:gd name="connsiteX8-83" fmla="*/ 0 w 2658882"/>
              <a:gd name="connsiteY8-84" fmla="*/ 3916281 h 4093540"/>
              <a:gd name="connsiteX9-85" fmla="*/ 0 w 2658882"/>
              <a:gd name="connsiteY9-86" fmla="*/ 177803 h 4093540"/>
              <a:gd name="connsiteX10-87" fmla="*/ 62283 w 2658882"/>
              <a:gd name="connsiteY10-88" fmla="*/ 42612 h 4093540"/>
              <a:gd name="connsiteX0-89" fmla="*/ 62283 w 2658882"/>
              <a:gd name="connsiteY0-90" fmla="*/ 42612 h 4093540"/>
              <a:gd name="connsiteX1-91" fmla="*/ 205497 w 2658882"/>
              <a:gd name="connsiteY1-92" fmla="*/ 2144 h 4093540"/>
              <a:gd name="connsiteX2-93" fmla="*/ 2508800 w 2658882"/>
              <a:gd name="connsiteY2-94" fmla="*/ 365375 h 4093540"/>
              <a:gd name="connsiteX3-95" fmla="*/ 2658882 w 2658882"/>
              <a:gd name="connsiteY3-96" fmla="*/ 541004 h 4093540"/>
              <a:gd name="connsiteX4-97" fmla="*/ 2658882 w 2658882"/>
              <a:gd name="connsiteY4-98" fmla="*/ 3553052 h 4093540"/>
              <a:gd name="connsiteX5-99" fmla="*/ 2508776 w 2658882"/>
              <a:gd name="connsiteY5-100" fmla="*/ 3728684 h 4093540"/>
              <a:gd name="connsiteX6-101" fmla="*/ 205473 w 2658882"/>
              <a:gd name="connsiteY6-102" fmla="*/ 4091915 h 4093540"/>
              <a:gd name="connsiteX7-103" fmla="*/ 62283 w 2658882"/>
              <a:gd name="connsiteY7-104" fmla="*/ 4051443 h 4093540"/>
              <a:gd name="connsiteX8-105" fmla="*/ 0 w 2658882"/>
              <a:gd name="connsiteY8-106" fmla="*/ 3916281 h 4093540"/>
              <a:gd name="connsiteX9-107" fmla="*/ 0 w 2658882"/>
              <a:gd name="connsiteY9-108" fmla="*/ 177803 h 4093540"/>
              <a:gd name="connsiteX10-109" fmla="*/ 62283 w 2658882"/>
              <a:gd name="connsiteY10-110" fmla="*/ 42612 h 4093540"/>
              <a:gd name="connsiteX0-111" fmla="*/ 62283 w 2658882"/>
              <a:gd name="connsiteY0-112" fmla="*/ 42612 h 4093540"/>
              <a:gd name="connsiteX1-113" fmla="*/ 205497 w 2658882"/>
              <a:gd name="connsiteY1-114" fmla="*/ 2144 h 4093540"/>
              <a:gd name="connsiteX2-115" fmla="*/ 2508800 w 2658882"/>
              <a:gd name="connsiteY2-116" fmla="*/ 365375 h 4093540"/>
              <a:gd name="connsiteX3-117" fmla="*/ 2658882 w 2658882"/>
              <a:gd name="connsiteY3-118" fmla="*/ 541004 h 4093540"/>
              <a:gd name="connsiteX4-119" fmla="*/ 2658882 w 2658882"/>
              <a:gd name="connsiteY4-120" fmla="*/ 3553052 h 4093540"/>
              <a:gd name="connsiteX5-121" fmla="*/ 2508776 w 2658882"/>
              <a:gd name="connsiteY5-122" fmla="*/ 3728684 h 4093540"/>
              <a:gd name="connsiteX6-123" fmla="*/ 205473 w 2658882"/>
              <a:gd name="connsiteY6-124" fmla="*/ 4091915 h 4093540"/>
              <a:gd name="connsiteX7-125" fmla="*/ 62283 w 2658882"/>
              <a:gd name="connsiteY7-126" fmla="*/ 4051443 h 4093540"/>
              <a:gd name="connsiteX8-127" fmla="*/ 0 w 2658882"/>
              <a:gd name="connsiteY8-128" fmla="*/ 3916281 h 4093540"/>
              <a:gd name="connsiteX9-129" fmla="*/ 0 w 2658882"/>
              <a:gd name="connsiteY9-130" fmla="*/ 177803 h 4093540"/>
              <a:gd name="connsiteX10-131" fmla="*/ 62283 w 2658882"/>
              <a:gd name="connsiteY10-132" fmla="*/ 42612 h 4093540"/>
              <a:gd name="connsiteX0-133" fmla="*/ 62283 w 2658882"/>
              <a:gd name="connsiteY0-134" fmla="*/ 42612 h 4093540"/>
              <a:gd name="connsiteX1-135" fmla="*/ 205497 w 2658882"/>
              <a:gd name="connsiteY1-136" fmla="*/ 2144 h 4093540"/>
              <a:gd name="connsiteX2-137" fmla="*/ 2508800 w 2658882"/>
              <a:gd name="connsiteY2-138" fmla="*/ 365375 h 4093540"/>
              <a:gd name="connsiteX3-139" fmla="*/ 2658882 w 2658882"/>
              <a:gd name="connsiteY3-140" fmla="*/ 541004 h 4093540"/>
              <a:gd name="connsiteX4-141" fmla="*/ 2658882 w 2658882"/>
              <a:gd name="connsiteY4-142" fmla="*/ 3553052 h 4093540"/>
              <a:gd name="connsiteX5-143" fmla="*/ 2508776 w 2658882"/>
              <a:gd name="connsiteY5-144" fmla="*/ 3728684 h 4093540"/>
              <a:gd name="connsiteX6-145" fmla="*/ 205473 w 2658882"/>
              <a:gd name="connsiteY6-146" fmla="*/ 4091915 h 4093540"/>
              <a:gd name="connsiteX7-147" fmla="*/ 62283 w 2658882"/>
              <a:gd name="connsiteY7-148" fmla="*/ 4051443 h 4093540"/>
              <a:gd name="connsiteX8-149" fmla="*/ 0 w 2658882"/>
              <a:gd name="connsiteY8-150" fmla="*/ 3916281 h 4093540"/>
              <a:gd name="connsiteX9-151" fmla="*/ 0 w 2658882"/>
              <a:gd name="connsiteY9-152" fmla="*/ 177803 h 4093540"/>
              <a:gd name="connsiteX10-153" fmla="*/ 62283 w 2658882"/>
              <a:gd name="connsiteY10-154" fmla="*/ 42612 h 4093540"/>
              <a:gd name="connsiteX0-155" fmla="*/ 62283 w 2658882"/>
              <a:gd name="connsiteY0-156" fmla="*/ 42612 h 4093540"/>
              <a:gd name="connsiteX1-157" fmla="*/ 205497 w 2658882"/>
              <a:gd name="connsiteY1-158" fmla="*/ 2144 h 4093540"/>
              <a:gd name="connsiteX2-159" fmla="*/ 2508800 w 2658882"/>
              <a:gd name="connsiteY2-160" fmla="*/ 365375 h 4093540"/>
              <a:gd name="connsiteX3-161" fmla="*/ 2658882 w 2658882"/>
              <a:gd name="connsiteY3-162" fmla="*/ 541004 h 4093540"/>
              <a:gd name="connsiteX4-163" fmla="*/ 2658882 w 2658882"/>
              <a:gd name="connsiteY4-164" fmla="*/ 3553052 h 4093540"/>
              <a:gd name="connsiteX5-165" fmla="*/ 2508776 w 2658882"/>
              <a:gd name="connsiteY5-166" fmla="*/ 3728684 h 4093540"/>
              <a:gd name="connsiteX6-167" fmla="*/ 205473 w 2658882"/>
              <a:gd name="connsiteY6-168" fmla="*/ 4091915 h 4093540"/>
              <a:gd name="connsiteX7-169" fmla="*/ 62283 w 2658882"/>
              <a:gd name="connsiteY7-170" fmla="*/ 4051443 h 4093540"/>
              <a:gd name="connsiteX8-171" fmla="*/ 0 w 2658882"/>
              <a:gd name="connsiteY8-172" fmla="*/ 3916281 h 4093540"/>
              <a:gd name="connsiteX9-173" fmla="*/ 0 w 2658882"/>
              <a:gd name="connsiteY9-174" fmla="*/ 177803 h 4093540"/>
              <a:gd name="connsiteX10-175" fmla="*/ 62283 w 2658882"/>
              <a:gd name="connsiteY10-176" fmla="*/ 42612 h 4093540"/>
              <a:gd name="connsiteX0-177" fmla="*/ 62283 w 2658882"/>
              <a:gd name="connsiteY0-178" fmla="*/ 42612 h 4093540"/>
              <a:gd name="connsiteX1-179" fmla="*/ 205497 w 2658882"/>
              <a:gd name="connsiteY1-180" fmla="*/ 2144 h 4093540"/>
              <a:gd name="connsiteX2-181" fmla="*/ 2508800 w 2658882"/>
              <a:gd name="connsiteY2-182" fmla="*/ 365375 h 4093540"/>
              <a:gd name="connsiteX3-183" fmla="*/ 2658882 w 2658882"/>
              <a:gd name="connsiteY3-184" fmla="*/ 541004 h 4093540"/>
              <a:gd name="connsiteX4-185" fmla="*/ 2658882 w 2658882"/>
              <a:gd name="connsiteY4-186" fmla="*/ 3553052 h 4093540"/>
              <a:gd name="connsiteX5-187" fmla="*/ 2508776 w 2658882"/>
              <a:gd name="connsiteY5-188" fmla="*/ 3728684 h 4093540"/>
              <a:gd name="connsiteX6-189" fmla="*/ 205473 w 2658882"/>
              <a:gd name="connsiteY6-190" fmla="*/ 4091915 h 4093540"/>
              <a:gd name="connsiteX7-191" fmla="*/ 62283 w 2658882"/>
              <a:gd name="connsiteY7-192" fmla="*/ 4051443 h 4093540"/>
              <a:gd name="connsiteX8-193" fmla="*/ 0 w 2658882"/>
              <a:gd name="connsiteY8-194" fmla="*/ 3916281 h 4093540"/>
              <a:gd name="connsiteX9-195" fmla="*/ 0 w 2658882"/>
              <a:gd name="connsiteY9-196" fmla="*/ 177803 h 4093540"/>
              <a:gd name="connsiteX10-197" fmla="*/ 62283 w 2658882"/>
              <a:gd name="connsiteY10-198" fmla="*/ 42612 h 4093540"/>
              <a:gd name="connsiteX0-199" fmla="*/ 62283 w 2658882"/>
              <a:gd name="connsiteY0-200" fmla="*/ 42612 h 4092044"/>
              <a:gd name="connsiteX1-201" fmla="*/ 205497 w 2658882"/>
              <a:gd name="connsiteY1-202" fmla="*/ 2144 h 4092044"/>
              <a:gd name="connsiteX2-203" fmla="*/ 2508800 w 2658882"/>
              <a:gd name="connsiteY2-204" fmla="*/ 365375 h 4092044"/>
              <a:gd name="connsiteX3-205" fmla="*/ 2658882 w 2658882"/>
              <a:gd name="connsiteY3-206" fmla="*/ 541004 h 4092044"/>
              <a:gd name="connsiteX4-207" fmla="*/ 2658882 w 2658882"/>
              <a:gd name="connsiteY4-208" fmla="*/ 3553052 h 4092044"/>
              <a:gd name="connsiteX5-209" fmla="*/ 2508776 w 2658882"/>
              <a:gd name="connsiteY5-210" fmla="*/ 3728684 h 4092044"/>
              <a:gd name="connsiteX6-211" fmla="*/ 205473 w 2658882"/>
              <a:gd name="connsiteY6-212" fmla="*/ 4091915 h 4092044"/>
              <a:gd name="connsiteX7-213" fmla="*/ 62283 w 2658882"/>
              <a:gd name="connsiteY7-214" fmla="*/ 4051443 h 4092044"/>
              <a:gd name="connsiteX8-215" fmla="*/ 0 w 2658882"/>
              <a:gd name="connsiteY8-216" fmla="*/ 3916281 h 4092044"/>
              <a:gd name="connsiteX9-217" fmla="*/ 0 w 2658882"/>
              <a:gd name="connsiteY9-218" fmla="*/ 177803 h 4092044"/>
              <a:gd name="connsiteX10-219" fmla="*/ 62283 w 2658882"/>
              <a:gd name="connsiteY10-220" fmla="*/ 42612 h 4092044"/>
              <a:gd name="connsiteX0-221" fmla="*/ 62283 w 2658882"/>
              <a:gd name="connsiteY0-222" fmla="*/ 42612 h 4091915"/>
              <a:gd name="connsiteX1-223" fmla="*/ 205497 w 2658882"/>
              <a:gd name="connsiteY1-224" fmla="*/ 2144 h 4091915"/>
              <a:gd name="connsiteX2-225" fmla="*/ 2508800 w 2658882"/>
              <a:gd name="connsiteY2-226" fmla="*/ 365375 h 4091915"/>
              <a:gd name="connsiteX3-227" fmla="*/ 2658882 w 2658882"/>
              <a:gd name="connsiteY3-228" fmla="*/ 541004 h 4091915"/>
              <a:gd name="connsiteX4-229" fmla="*/ 2658882 w 2658882"/>
              <a:gd name="connsiteY4-230" fmla="*/ 3553052 h 4091915"/>
              <a:gd name="connsiteX5-231" fmla="*/ 2508776 w 2658882"/>
              <a:gd name="connsiteY5-232" fmla="*/ 3728684 h 4091915"/>
              <a:gd name="connsiteX6-233" fmla="*/ 205473 w 2658882"/>
              <a:gd name="connsiteY6-234" fmla="*/ 4091915 h 4091915"/>
              <a:gd name="connsiteX7-235" fmla="*/ 62283 w 2658882"/>
              <a:gd name="connsiteY7-236" fmla="*/ 4051443 h 4091915"/>
              <a:gd name="connsiteX8-237" fmla="*/ 0 w 2658882"/>
              <a:gd name="connsiteY8-238" fmla="*/ 3916281 h 4091915"/>
              <a:gd name="connsiteX9-239" fmla="*/ 0 w 2658882"/>
              <a:gd name="connsiteY9-240" fmla="*/ 177803 h 4091915"/>
              <a:gd name="connsiteX10-241" fmla="*/ 62283 w 2658882"/>
              <a:gd name="connsiteY10-242" fmla="*/ 42612 h 4091915"/>
              <a:gd name="connsiteX0-243" fmla="*/ 62283 w 2658882"/>
              <a:gd name="connsiteY0-244" fmla="*/ 42612 h 4092475"/>
              <a:gd name="connsiteX1-245" fmla="*/ 205497 w 2658882"/>
              <a:gd name="connsiteY1-246" fmla="*/ 2144 h 4092475"/>
              <a:gd name="connsiteX2-247" fmla="*/ 2508800 w 2658882"/>
              <a:gd name="connsiteY2-248" fmla="*/ 365375 h 4092475"/>
              <a:gd name="connsiteX3-249" fmla="*/ 2658882 w 2658882"/>
              <a:gd name="connsiteY3-250" fmla="*/ 541004 h 4092475"/>
              <a:gd name="connsiteX4-251" fmla="*/ 2658882 w 2658882"/>
              <a:gd name="connsiteY4-252" fmla="*/ 3553052 h 4092475"/>
              <a:gd name="connsiteX5-253" fmla="*/ 2508776 w 2658882"/>
              <a:gd name="connsiteY5-254" fmla="*/ 3728684 h 4092475"/>
              <a:gd name="connsiteX6-255" fmla="*/ 205473 w 2658882"/>
              <a:gd name="connsiteY6-256" fmla="*/ 4091915 h 4092475"/>
              <a:gd name="connsiteX7-257" fmla="*/ 62283 w 2658882"/>
              <a:gd name="connsiteY7-258" fmla="*/ 4051443 h 4092475"/>
              <a:gd name="connsiteX8-259" fmla="*/ 0 w 2658882"/>
              <a:gd name="connsiteY8-260" fmla="*/ 3916281 h 4092475"/>
              <a:gd name="connsiteX9-261" fmla="*/ 0 w 2658882"/>
              <a:gd name="connsiteY9-262" fmla="*/ 177803 h 4092475"/>
              <a:gd name="connsiteX10-263" fmla="*/ 62283 w 2658882"/>
              <a:gd name="connsiteY10-264" fmla="*/ 42612 h 4092475"/>
              <a:gd name="connsiteX0-265" fmla="*/ 62283 w 2658882"/>
              <a:gd name="connsiteY0-266" fmla="*/ 42612 h 4094059"/>
              <a:gd name="connsiteX1-267" fmla="*/ 205497 w 2658882"/>
              <a:gd name="connsiteY1-268" fmla="*/ 2144 h 4094059"/>
              <a:gd name="connsiteX2-269" fmla="*/ 2508800 w 2658882"/>
              <a:gd name="connsiteY2-270" fmla="*/ 365375 h 4094059"/>
              <a:gd name="connsiteX3-271" fmla="*/ 2658882 w 2658882"/>
              <a:gd name="connsiteY3-272" fmla="*/ 541004 h 4094059"/>
              <a:gd name="connsiteX4-273" fmla="*/ 2658882 w 2658882"/>
              <a:gd name="connsiteY4-274" fmla="*/ 3553052 h 4094059"/>
              <a:gd name="connsiteX5-275" fmla="*/ 2508776 w 2658882"/>
              <a:gd name="connsiteY5-276" fmla="*/ 3728684 h 4094059"/>
              <a:gd name="connsiteX6-277" fmla="*/ 205473 w 2658882"/>
              <a:gd name="connsiteY6-278" fmla="*/ 4091915 h 4094059"/>
              <a:gd name="connsiteX7-279" fmla="*/ 62283 w 2658882"/>
              <a:gd name="connsiteY7-280" fmla="*/ 4051443 h 4094059"/>
              <a:gd name="connsiteX8-281" fmla="*/ 0 w 2658882"/>
              <a:gd name="connsiteY8-282" fmla="*/ 3916281 h 4094059"/>
              <a:gd name="connsiteX9-283" fmla="*/ 0 w 2658882"/>
              <a:gd name="connsiteY9-284" fmla="*/ 177803 h 4094059"/>
              <a:gd name="connsiteX10-285" fmla="*/ 62283 w 2658882"/>
              <a:gd name="connsiteY10-286" fmla="*/ 42612 h 4094059"/>
              <a:gd name="connsiteX0-287" fmla="*/ 62283 w 2658882"/>
              <a:gd name="connsiteY0-288" fmla="*/ 42612 h 4094059"/>
              <a:gd name="connsiteX1-289" fmla="*/ 205497 w 2658882"/>
              <a:gd name="connsiteY1-290" fmla="*/ 2144 h 4094059"/>
              <a:gd name="connsiteX2-291" fmla="*/ 2508800 w 2658882"/>
              <a:gd name="connsiteY2-292" fmla="*/ 365375 h 4094059"/>
              <a:gd name="connsiteX3-293" fmla="*/ 2658882 w 2658882"/>
              <a:gd name="connsiteY3-294" fmla="*/ 541004 h 4094059"/>
              <a:gd name="connsiteX4-295" fmla="*/ 2658882 w 2658882"/>
              <a:gd name="connsiteY4-296" fmla="*/ 3553052 h 4094059"/>
              <a:gd name="connsiteX5-297" fmla="*/ 2508776 w 2658882"/>
              <a:gd name="connsiteY5-298" fmla="*/ 3728684 h 4094059"/>
              <a:gd name="connsiteX6-299" fmla="*/ 205473 w 2658882"/>
              <a:gd name="connsiteY6-300" fmla="*/ 4091915 h 4094059"/>
              <a:gd name="connsiteX7-301" fmla="*/ 62283 w 2658882"/>
              <a:gd name="connsiteY7-302" fmla="*/ 4051443 h 4094059"/>
              <a:gd name="connsiteX8-303" fmla="*/ 0 w 2658882"/>
              <a:gd name="connsiteY8-304" fmla="*/ 3916281 h 4094059"/>
              <a:gd name="connsiteX9-305" fmla="*/ 0 w 2658882"/>
              <a:gd name="connsiteY9-306" fmla="*/ 177803 h 4094059"/>
              <a:gd name="connsiteX10-307" fmla="*/ 62283 w 2658882"/>
              <a:gd name="connsiteY10-308" fmla="*/ 42612 h 4094059"/>
              <a:gd name="connsiteX0-309" fmla="*/ 62283 w 2658882"/>
              <a:gd name="connsiteY0-310" fmla="*/ 42612 h 4094059"/>
              <a:gd name="connsiteX1-311" fmla="*/ 205497 w 2658882"/>
              <a:gd name="connsiteY1-312" fmla="*/ 2144 h 4094059"/>
              <a:gd name="connsiteX2-313" fmla="*/ 2508800 w 2658882"/>
              <a:gd name="connsiteY2-314" fmla="*/ 365375 h 4094059"/>
              <a:gd name="connsiteX3-315" fmla="*/ 2658882 w 2658882"/>
              <a:gd name="connsiteY3-316" fmla="*/ 541004 h 4094059"/>
              <a:gd name="connsiteX4-317" fmla="*/ 2658882 w 2658882"/>
              <a:gd name="connsiteY4-318" fmla="*/ 3553052 h 4094059"/>
              <a:gd name="connsiteX5-319" fmla="*/ 2508776 w 2658882"/>
              <a:gd name="connsiteY5-320" fmla="*/ 3728684 h 4094059"/>
              <a:gd name="connsiteX6-321" fmla="*/ 205473 w 2658882"/>
              <a:gd name="connsiteY6-322" fmla="*/ 4091915 h 4094059"/>
              <a:gd name="connsiteX7-323" fmla="*/ 62283 w 2658882"/>
              <a:gd name="connsiteY7-324" fmla="*/ 4051443 h 4094059"/>
              <a:gd name="connsiteX8-325" fmla="*/ 0 w 2658882"/>
              <a:gd name="connsiteY8-326" fmla="*/ 3916281 h 4094059"/>
              <a:gd name="connsiteX9-327" fmla="*/ 0 w 2658882"/>
              <a:gd name="connsiteY9-328" fmla="*/ 177803 h 4094059"/>
              <a:gd name="connsiteX10-329" fmla="*/ 62283 w 2658882"/>
              <a:gd name="connsiteY10-330" fmla="*/ 42612 h 4094059"/>
              <a:gd name="connsiteX0-331" fmla="*/ 62283 w 2658882"/>
              <a:gd name="connsiteY0-332" fmla="*/ 42612 h 4094059"/>
              <a:gd name="connsiteX1-333" fmla="*/ 205497 w 2658882"/>
              <a:gd name="connsiteY1-334" fmla="*/ 2144 h 4094059"/>
              <a:gd name="connsiteX2-335" fmla="*/ 2508800 w 2658882"/>
              <a:gd name="connsiteY2-336" fmla="*/ 365375 h 4094059"/>
              <a:gd name="connsiteX3-337" fmla="*/ 2658882 w 2658882"/>
              <a:gd name="connsiteY3-338" fmla="*/ 541004 h 4094059"/>
              <a:gd name="connsiteX4-339" fmla="*/ 2658882 w 2658882"/>
              <a:gd name="connsiteY4-340" fmla="*/ 3553052 h 4094059"/>
              <a:gd name="connsiteX5-341" fmla="*/ 2508776 w 2658882"/>
              <a:gd name="connsiteY5-342" fmla="*/ 3728684 h 4094059"/>
              <a:gd name="connsiteX6-343" fmla="*/ 205473 w 2658882"/>
              <a:gd name="connsiteY6-344" fmla="*/ 4091915 h 4094059"/>
              <a:gd name="connsiteX7-345" fmla="*/ 62283 w 2658882"/>
              <a:gd name="connsiteY7-346" fmla="*/ 4051443 h 4094059"/>
              <a:gd name="connsiteX8-347" fmla="*/ 0 w 2658882"/>
              <a:gd name="connsiteY8-348" fmla="*/ 3916281 h 4094059"/>
              <a:gd name="connsiteX9-349" fmla="*/ 0 w 2658882"/>
              <a:gd name="connsiteY9-350" fmla="*/ 177803 h 4094059"/>
              <a:gd name="connsiteX10-351" fmla="*/ 62283 w 2658882"/>
              <a:gd name="connsiteY10-352" fmla="*/ 42612 h 4094059"/>
              <a:gd name="connsiteX0-353" fmla="*/ 62283 w 2658882"/>
              <a:gd name="connsiteY0-354" fmla="*/ 42612 h 4094059"/>
              <a:gd name="connsiteX1-355" fmla="*/ 205497 w 2658882"/>
              <a:gd name="connsiteY1-356" fmla="*/ 2144 h 4094059"/>
              <a:gd name="connsiteX2-357" fmla="*/ 2508800 w 2658882"/>
              <a:gd name="connsiteY2-358" fmla="*/ 365375 h 4094059"/>
              <a:gd name="connsiteX3-359" fmla="*/ 2658882 w 2658882"/>
              <a:gd name="connsiteY3-360" fmla="*/ 541004 h 4094059"/>
              <a:gd name="connsiteX4-361" fmla="*/ 2658882 w 2658882"/>
              <a:gd name="connsiteY4-362" fmla="*/ 3553052 h 4094059"/>
              <a:gd name="connsiteX5-363" fmla="*/ 2508776 w 2658882"/>
              <a:gd name="connsiteY5-364" fmla="*/ 3728684 h 4094059"/>
              <a:gd name="connsiteX6-365" fmla="*/ 205473 w 2658882"/>
              <a:gd name="connsiteY6-366" fmla="*/ 4091915 h 4094059"/>
              <a:gd name="connsiteX7-367" fmla="*/ 62283 w 2658882"/>
              <a:gd name="connsiteY7-368" fmla="*/ 4051443 h 4094059"/>
              <a:gd name="connsiteX8-369" fmla="*/ 0 w 2658882"/>
              <a:gd name="connsiteY8-370" fmla="*/ 3916281 h 4094059"/>
              <a:gd name="connsiteX9-371" fmla="*/ 0 w 2658882"/>
              <a:gd name="connsiteY9-372" fmla="*/ 177803 h 4094059"/>
              <a:gd name="connsiteX10-373" fmla="*/ 62283 w 2658882"/>
              <a:gd name="connsiteY10-374" fmla="*/ 42612 h 4094059"/>
              <a:gd name="connsiteX0-375" fmla="*/ 62283 w 2658882"/>
              <a:gd name="connsiteY0-376" fmla="*/ 42612 h 4094059"/>
              <a:gd name="connsiteX1-377" fmla="*/ 205497 w 2658882"/>
              <a:gd name="connsiteY1-378" fmla="*/ 2144 h 4094059"/>
              <a:gd name="connsiteX2-379" fmla="*/ 2508800 w 2658882"/>
              <a:gd name="connsiteY2-380" fmla="*/ 365375 h 4094059"/>
              <a:gd name="connsiteX3-381" fmla="*/ 2658882 w 2658882"/>
              <a:gd name="connsiteY3-382" fmla="*/ 541004 h 4094059"/>
              <a:gd name="connsiteX4-383" fmla="*/ 2658882 w 2658882"/>
              <a:gd name="connsiteY4-384" fmla="*/ 3553052 h 4094059"/>
              <a:gd name="connsiteX5-385" fmla="*/ 2508776 w 2658882"/>
              <a:gd name="connsiteY5-386" fmla="*/ 3728684 h 4094059"/>
              <a:gd name="connsiteX6-387" fmla="*/ 205473 w 2658882"/>
              <a:gd name="connsiteY6-388" fmla="*/ 4091915 h 4094059"/>
              <a:gd name="connsiteX7-389" fmla="*/ 62283 w 2658882"/>
              <a:gd name="connsiteY7-390" fmla="*/ 4051443 h 4094059"/>
              <a:gd name="connsiteX8-391" fmla="*/ 0 w 2658882"/>
              <a:gd name="connsiteY8-392" fmla="*/ 3916281 h 4094059"/>
              <a:gd name="connsiteX9-393" fmla="*/ 0 w 2658882"/>
              <a:gd name="connsiteY9-394" fmla="*/ 177803 h 4094059"/>
              <a:gd name="connsiteX10-395" fmla="*/ 62283 w 2658882"/>
              <a:gd name="connsiteY10-396" fmla="*/ 42612 h 40940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658882" h="4094059">
                <a:moveTo>
                  <a:pt x="62283" y="42612"/>
                </a:moveTo>
                <a:cubicBezTo>
                  <a:pt x="101616" y="8995"/>
                  <a:pt x="154387" y="-5916"/>
                  <a:pt x="205497" y="2144"/>
                </a:cubicBezTo>
                <a:cubicBezTo>
                  <a:pt x="205497" y="2144"/>
                  <a:pt x="2508800" y="365375"/>
                  <a:pt x="2508800" y="365375"/>
                </a:cubicBezTo>
                <a:cubicBezTo>
                  <a:pt x="2599348" y="379655"/>
                  <a:pt x="2658882" y="449336"/>
                  <a:pt x="2658882" y="541004"/>
                </a:cubicBezTo>
                <a:cubicBezTo>
                  <a:pt x="2658882" y="541004"/>
                  <a:pt x="2658882" y="3553052"/>
                  <a:pt x="2658882" y="3553052"/>
                </a:cubicBezTo>
                <a:cubicBezTo>
                  <a:pt x="2658882" y="3644720"/>
                  <a:pt x="2599325" y="3714404"/>
                  <a:pt x="2508776" y="3728684"/>
                </a:cubicBezTo>
                <a:cubicBezTo>
                  <a:pt x="2508776" y="3728684"/>
                  <a:pt x="205473" y="4091915"/>
                  <a:pt x="205473" y="4091915"/>
                </a:cubicBezTo>
                <a:cubicBezTo>
                  <a:pt x="154364" y="4099976"/>
                  <a:pt x="101616" y="4085060"/>
                  <a:pt x="62283" y="4051443"/>
                </a:cubicBezTo>
                <a:cubicBezTo>
                  <a:pt x="22950" y="4017828"/>
                  <a:pt x="0" y="3968024"/>
                  <a:pt x="0" y="3916281"/>
                </a:cubicBezTo>
                <a:cubicBezTo>
                  <a:pt x="0" y="3916282"/>
                  <a:pt x="0" y="177804"/>
                  <a:pt x="0" y="177803"/>
                </a:cubicBezTo>
                <a:cubicBezTo>
                  <a:pt x="0" y="126063"/>
                  <a:pt x="22950" y="76228"/>
                  <a:pt x="62283" y="42612"/>
                </a:cubicBezTo>
                <a:close/>
              </a:path>
            </a:pathLst>
          </a:custGeom>
          <a:gradFill flip="none" rotWithShape="1">
            <a:gsLst>
              <a:gs pos="90000">
                <a:schemeClr val="accent1">
                  <a:alpha val="100000"/>
                </a:schemeClr>
              </a:gs>
              <a:gs pos="0">
                <a:schemeClr val="accent1">
                  <a:lumMod val="60000"/>
                  <a:lumOff val="40000"/>
                  <a:alpha val="100000"/>
                </a:schemeClr>
              </a:gs>
            </a:gsLst>
            <a:lin ang="10800000" scaled="1"/>
            <a:tileRect/>
          </a:gradFill>
          <a:ln w="9525" cap="flat">
            <a:noFill/>
            <a:prstDash val="solid"/>
            <a:miter/>
          </a:ln>
          <a:effectLst/>
        </p:spPr>
        <p:txBody>
          <a:bodyPr rtlCol="0" anchor="ctr">
            <a:noAutofit/>
          </a:bodyPr>
          <a:lstStyle/>
          <a:p>
            <a:pPr lvl="0" algn="l">
              <a:buClrTx/>
              <a:buSzTx/>
              <a:buFontTx/>
            </a:pPr>
            <a:endParaRPr lang="zh-CN" altLang="en-US">
              <a:solidFill>
                <a:schemeClr val="tx1"/>
              </a:solidFill>
              <a:sym typeface="+mn-ea"/>
            </a:endParaRPr>
          </a:p>
        </p:txBody>
      </p:sp>
      <p:sp>
        <p:nvSpPr>
          <p:cNvPr id="8" name="文本框 7"/>
          <p:cNvSpPr txBox="1"/>
          <p:nvPr>
            <p:custDataLst>
              <p:tags r:id="rId3"/>
            </p:custDataLst>
          </p:nvPr>
        </p:nvSpPr>
        <p:spPr>
          <a:xfrm>
            <a:off x="1995805" y="2765425"/>
            <a:ext cx="2075815" cy="259715"/>
          </a:xfrm>
          <a:prstGeom prst="rect">
            <a:avLst/>
          </a:prstGeom>
          <a:noFill/>
        </p:spPr>
        <p:txBody>
          <a:bodyPr wrap="square" lIns="0" tIns="0" rIns="0" bIns="0" rtlCol="0">
            <a:noAutofit/>
          </a:bodyPr>
          <a:lstStyle/>
          <a:p>
            <a:pPr algn="l"/>
            <a:r>
              <a:rPr lang="zh-CN" altLang="en-US">
                <a:solidFill>
                  <a:schemeClr val="bg1"/>
                </a:solidFill>
                <a:latin typeface="楷体" panose="02010609060101010101" charset="-122"/>
                <a:ea typeface="楷体" panose="02010609060101010101" charset="-122"/>
                <a:sym typeface="+mn-ea"/>
              </a:rPr>
              <a:t>从评分上看，有教材编写经验的教师给六本教材的</a:t>
            </a:r>
            <a:r>
              <a:rPr lang="zh-CN" altLang="en-US" b="1">
                <a:solidFill>
                  <a:srgbClr val="FF0000"/>
                </a:solidFill>
                <a:latin typeface="楷体" panose="02010609060101010101" charset="-122"/>
                <a:ea typeface="楷体" panose="02010609060101010101" charset="-122"/>
                <a:sym typeface="+mn-ea"/>
              </a:rPr>
              <a:t>评分总体而言低于</a:t>
            </a:r>
            <a:r>
              <a:rPr lang="zh-CN" altLang="en-US">
                <a:solidFill>
                  <a:schemeClr val="bg1"/>
                </a:solidFill>
                <a:latin typeface="楷体" panose="02010609060101010101" charset="-122"/>
                <a:ea typeface="楷体" panose="02010609060101010101" charset="-122"/>
                <a:sym typeface="+mn-ea"/>
              </a:rPr>
              <a:t>无教材编写经验的教师。</a:t>
            </a:r>
            <a:endParaRPr lang="zh-CN" altLang="en-US" b="1" dirty="0">
              <a:solidFill>
                <a:schemeClr val="bg1"/>
              </a:solidFill>
              <a:latin typeface="楷体" panose="02010609060101010101" charset="-122"/>
              <a:ea typeface="楷体" panose="02010609060101010101" charset="-122"/>
              <a:sym typeface="+mn-ea"/>
            </a:endParaRPr>
          </a:p>
        </p:txBody>
      </p:sp>
      <p:sp>
        <p:nvSpPr>
          <p:cNvPr id="19" name="任意多边形: 形状 15"/>
          <p:cNvSpPr/>
          <p:nvPr>
            <p:custDataLst>
              <p:tags r:id="rId4"/>
            </p:custDataLst>
          </p:nvPr>
        </p:nvSpPr>
        <p:spPr>
          <a:xfrm>
            <a:off x="5230495" y="2146300"/>
            <a:ext cx="2997200" cy="2611755"/>
          </a:xfrm>
          <a:custGeom>
            <a:avLst/>
            <a:gdLst>
              <a:gd name="connsiteX0" fmla="*/ 62283 w 2658882"/>
              <a:gd name="connsiteY0" fmla="*/ 40468 h 4091396"/>
              <a:gd name="connsiteX1" fmla="*/ 205497 w 2658882"/>
              <a:gd name="connsiteY1" fmla="*/ 0 h 4091396"/>
              <a:gd name="connsiteX2" fmla="*/ 2508800 w 2658882"/>
              <a:gd name="connsiteY2" fmla="*/ 363231 h 4091396"/>
              <a:gd name="connsiteX3" fmla="*/ 2658882 w 2658882"/>
              <a:gd name="connsiteY3" fmla="*/ 538860 h 4091396"/>
              <a:gd name="connsiteX4" fmla="*/ 2658882 w 2658882"/>
              <a:gd name="connsiteY4" fmla="*/ 3550908 h 4091396"/>
              <a:gd name="connsiteX5" fmla="*/ 2508776 w 2658882"/>
              <a:gd name="connsiteY5" fmla="*/ 3726540 h 4091396"/>
              <a:gd name="connsiteX6" fmla="*/ 205473 w 2658882"/>
              <a:gd name="connsiteY6" fmla="*/ 4089771 h 4091396"/>
              <a:gd name="connsiteX7" fmla="*/ 62283 w 2658882"/>
              <a:gd name="connsiteY7" fmla="*/ 4049299 h 4091396"/>
              <a:gd name="connsiteX8" fmla="*/ 0 w 2658882"/>
              <a:gd name="connsiteY8" fmla="*/ 3914137 h 4091396"/>
              <a:gd name="connsiteX9" fmla="*/ 0 w 2658882"/>
              <a:gd name="connsiteY9" fmla="*/ 175659 h 4091396"/>
              <a:gd name="connsiteX10" fmla="*/ 62283 w 2658882"/>
              <a:gd name="connsiteY10" fmla="*/ 40468 h 4091396"/>
              <a:gd name="connsiteX0-1" fmla="*/ 62283 w 2658882"/>
              <a:gd name="connsiteY0-2" fmla="*/ 42612 h 4093540"/>
              <a:gd name="connsiteX1-3" fmla="*/ 205497 w 2658882"/>
              <a:gd name="connsiteY1-4" fmla="*/ 2144 h 4093540"/>
              <a:gd name="connsiteX2-5" fmla="*/ 2508800 w 2658882"/>
              <a:gd name="connsiteY2-6" fmla="*/ 365375 h 4093540"/>
              <a:gd name="connsiteX3-7" fmla="*/ 2658882 w 2658882"/>
              <a:gd name="connsiteY3-8" fmla="*/ 541004 h 4093540"/>
              <a:gd name="connsiteX4-9" fmla="*/ 2658882 w 2658882"/>
              <a:gd name="connsiteY4-10" fmla="*/ 3553052 h 4093540"/>
              <a:gd name="connsiteX5-11" fmla="*/ 2508776 w 2658882"/>
              <a:gd name="connsiteY5-12" fmla="*/ 3728684 h 4093540"/>
              <a:gd name="connsiteX6-13" fmla="*/ 205473 w 2658882"/>
              <a:gd name="connsiteY6-14" fmla="*/ 4091915 h 4093540"/>
              <a:gd name="connsiteX7-15" fmla="*/ 62283 w 2658882"/>
              <a:gd name="connsiteY7-16" fmla="*/ 4051443 h 4093540"/>
              <a:gd name="connsiteX8-17" fmla="*/ 0 w 2658882"/>
              <a:gd name="connsiteY8-18" fmla="*/ 3916281 h 4093540"/>
              <a:gd name="connsiteX9-19" fmla="*/ 0 w 2658882"/>
              <a:gd name="connsiteY9-20" fmla="*/ 177803 h 4093540"/>
              <a:gd name="connsiteX10-21" fmla="*/ 62283 w 2658882"/>
              <a:gd name="connsiteY10-22" fmla="*/ 42612 h 4093540"/>
              <a:gd name="connsiteX0-23" fmla="*/ 62283 w 2658882"/>
              <a:gd name="connsiteY0-24" fmla="*/ 42612 h 4093540"/>
              <a:gd name="connsiteX1-25" fmla="*/ 205497 w 2658882"/>
              <a:gd name="connsiteY1-26" fmla="*/ 2144 h 4093540"/>
              <a:gd name="connsiteX2-27" fmla="*/ 2508800 w 2658882"/>
              <a:gd name="connsiteY2-28" fmla="*/ 365375 h 4093540"/>
              <a:gd name="connsiteX3-29" fmla="*/ 2658882 w 2658882"/>
              <a:gd name="connsiteY3-30" fmla="*/ 541004 h 4093540"/>
              <a:gd name="connsiteX4-31" fmla="*/ 2658882 w 2658882"/>
              <a:gd name="connsiteY4-32" fmla="*/ 3553052 h 4093540"/>
              <a:gd name="connsiteX5-33" fmla="*/ 2508776 w 2658882"/>
              <a:gd name="connsiteY5-34" fmla="*/ 3728684 h 4093540"/>
              <a:gd name="connsiteX6-35" fmla="*/ 205473 w 2658882"/>
              <a:gd name="connsiteY6-36" fmla="*/ 4091915 h 4093540"/>
              <a:gd name="connsiteX7-37" fmla="*/ 62283 w 2658882"/>
              <a:gd name="connsiteY7-38" fmla="*/ 4051443 h 4093540"/>
              <a:gd name="connsiteX8-39" fmla="*/ 0 w 2658882"/>
              <a:gd name="connsiteY8-40" fmla="*/ 3916281 h 4093540"/>
              <a:gd name="connsiteX9-41" fmla="*/ 0 w 2658882"/>
              <a:gd name="connsiteY9-42" fmla="*/ 177803 h 4093540"/>
              <a:gd name="connsiteX10-43" fmla="*/ 62283 w 2658882"/>
              <a:gd name="connsiteY10-44" fmla="*/ 42612 h 4093540"/>
              <a:gd name="connsiteX0-45" fmla="*/ 62283 w 2658882"/>
              <a:gd name="connsiteY0-46" fmla="*/ 42612 h 4093540"/>
              <a:gd name="connsiteX1-47" fmla="*/ 205497 w 2658882"/>
              <a:gd name="connsiteY1-48" fmla="*/ 2144 h 4093540"/>
              <a:gd name="connsiteX2-49" fmla="*/ 2508800 w 2658882"/>
              <a:gd name="connsiteY2-50" fmla="*/ 365375 h 4093540"/>
              <a:gd name="connsiteX3-51" fmla="*/ 2658882 w 2658882"/>
              <a:gd name="connsiteY3-52" fmla="*/ 541004 h 4093540"/>
              <a:gd name="connsiteX4-53" fmla="*/ 2658882 w 2658882"/>
              <a:gd name="connsiteY4-54" fmla="*/ 3553052 h 4093540"/>
              <a:gd name="connsiteX5-55" fmla="*/ 2508776 w 2658882"/>
              <a:gd name="connsiteY5-56" fmla="*/ 3728684 h 4093540"/>
              <a:gd name="connsiteX6-57" fmla="*/ 205473 w 2658882"/>
              <a:gd name="connsiteY6-58" fmla="*/ 4091915 h 4093540"/>
              <a:gd name="connsiteX7-59" fmla="*/ 62283 w 2658882"/>
              <a:gd name="connsiteY7-60" fmla="*/ 4051443 h 4093540"/>
              <a:gd name="connsiteX8-61" fmla="*/ 0 w 2658882"/>
              <a:gd name="connsiteY8-62" fmla="*/ 3916281 h 4093540"/>
              <a:gd name="connsiteX9-63" fmla="*/ 0 w 2658882"/>
              <a:gd name="connsiteY9-64" fmla="*/ 177803 h 4093540"/>
              <a:gd name="connsiteX10-65" fmla="*/ 62283 w 2658882"/>
              <a:gd name="connsiteY10-66" fmla="*/ 42612 h 4093540"/>
              <a:gd name="connsiteX0-67" fmla="*/ 62283 w 2658882"/>
              <a:gd name="connsiteY0-68" fmla="*/ 42612 h 4093540"/>
              <a:gd name="connsiteX1-69" fmla="*/ 205497 w 2658882"/>
              <a:gd name="connsiteY1-70" fmla="*/ 2144 h 4093540"/>
              <a:gd name="connsiteX2-71" fmla="*/ 2508800 w 2658882"/>
              <a:gd name="connsiteY2-72" fmla="*/ 365375 h 4093540"/>
              <a:gd name="connsiteX3-73" fmla="*/ 2658882 w 2658882"/>
              <a:gd name="connsiteY3-74" fmla="*/ 541004 h 4093540"/>
              <a:gd name="connsiteX4-75" fmla="*/ 2658882 w 2658882"/>
              <a:gd name="connsiteY4-76" fmla="*/ 3553052 h 4093540"/>
              <a:gd name="connsiteX5-77" fmla="*/ 2508776 w 2658882"/>
              <a:gd name="connsiteY5-78" fmla="*/ 3728684 h 4093540"/>
              <a:gd name="connsiteX6-79" fmla="*/ 205473 w 2658882"/>
              <a:gd name="connsiteY6-80" fmla="*/ 4091915 h 4093540"/>
              <a:gd name="connsiteX7-81" fmla="*/ 62283 w 2658882"/>
              <a:gd name="connsiteY7-82" fmla="*/ 4051443 h 4093540"/>
              <a:gd name="connsiteX8-83" fmla="*/ 0 w 2658882"/>
              <a:gd name="connsiteY8-84" fmla="*/ 3916281 h 4093540"/>
              <a:gd name="connsiteX9-85" fmla="*/ 0 w 2658882"/>
              <a:gd name="connsiteY9-86" fmla="*/ 177803 h 4093540"/>
              <a:gd name="connsiteX10-87" fmla="*/ 62283 w 2658882"/>
              <a:gd name="connsiteY10-88" fmla="*/ 42612 h 4093540"/>
              <a:gd name="connsiteX0-89" fmla="*/ 62283 w 2658882"/>
              <a:gd name="connsiteY0-90" fmla="*/ 42612 h 4093540"/>
              <a:gd name="connsiteX1-91" fmla="*/ 205497 w 2658882"/>
              <a:gd name="connsiteY1-92" fmla="*/ 2144 h 4093540"/>
              <a:gd name="connsiteX2-93" fmla="*/ 2508800 w 2658882"/>
              <a:gd name="connsiteY2-94" fmla="*/ 365375 h 4093540"/>
              <a:gd name="connsiteX3-95" fmla="*/ 2658882 w 2658882"/>
              <a:gd name="connsiteY3-96" fmla="*/ 541004 h 4093540"/>
              <a:gd name="connsiteX4-97" fmla="*/ 2658882 w 2658882"/>
              <a:gd name="connsiteY4-98" fmla="*/ 3553052 h 4093540"/>
              <a:gd name="connsiteX5-99" fmla="*/ 2508776 w 2658882"/>
              <a:gd name="connsiteY5-100" fmla="*/ 3728684 h 4093540"/>
              <a:gd name="connsiteX6-101" fmla="*/ 205473 w 2658882"/>
              <a:gd name="connsiteY6-102" fmla="*/ 4091915 h 4093540"/>
              <a:gd name="connsiteX7-103" fmla="*/ 62283 w 2658882"/>
              <a:gd name="connsiteY7-104" fmla="*/ 4051443 h 4093540"/>
              <a:gd name="connsiteX8-105" fmla="*/ 0 w 2658882"/>
              <a:gd name="connsiteY8-106" fmla="*/ 3916281 h 4093540"/>
              <a:gd name="connsiteX9-107" fmla="*/ 0 w 2658882"/>
              <a:gd name="connsiteY9-108" fmla="*/ 177803 h 4093540"/>
              <a:gd name="connsiteX10-109" fmla="*/ 62283 w 2658882"/>
              <a:gd name="connsiteY10-110" fmla="*/ 42612 h 4093540"/>
              <a:gd name="connsiteX0-111" fmla="*/ 62283 w 2658882"/>
              <a:gd name="connsiteY0-112" fmla="*/ 42612 h 4093540"/>
              <a:gd name="connsiteX1-113" fmla="*/ 205497 w 2658882"/>
              <a:gd name="connsiteY1-114" fmla="*/ 2144 h 4093540"/>
              <a:gd name="connsiteX2-115" fmla="*/ 2508800 w 2658882"/>
              <a:gd name="connsiteY2-116" fmla="*/ 365375 h 4093540"/>
              <a:gd name="connsiteX3-117" fmla="*/ 2658882 w 2658882"/>
              <a:gd name="connsiteY3-118" fmla="*/ 541004 h 4093540"/>
              <a:gd name="connsiteX4-119" fmla="*/ 2658882 w 2658882"/>
              <a:gd name="connsiteY4-120" fmla="*/ 3553052 h 4093540"/>
              <a:gd name="connsiteX5-121" fmla="*/ 2508776 w 2658882"/>
              <a:gd name="connsiteY5-122" fmla="*/ 3728684 h 4093540"/>
              <a:gd name="connsiteX6-123" fmla="*/ 205473 w 2658882"/>
              <a:gd name="connsiteY6-124" fmla="*/ 4091915 h 4093540"/>
              <a:gd name="connsiteX7-125" fmla="*/ 62283 w 2658882"/>
              <a:gd name="connsiteY7-126" fmla="*/ 4051443 h 4093540"/>
              <a:gd name="connsiteX8-127" fmla="*/ 0 w 2658882"/>
              <a:gd name="connsiteY8-128" fmla="*/ 3916281 h 4093540"/>
              <a:gd name="connsiteX9-129" fmla="*/ 0 w 2658882"/>
              <a:gd name="connsiteY9-130" fmla="*/ 177803 h 4093540"/>
              <a:gd name="connsiteX10-131" fmla="*/ 62283 w 2658882"/>
              <a:gd name="connsiteY10-132" fmla="*/ 42612 h 4093540"/>
              <a:gd name="connsiteX0-133" fmla="*/ 62283 w 2658882"/>
              <a:gd name="connsiteY0-134" fmla="*/ 42612 h 4093540"/>
              <a:gd name="connsiteX1-135" fmla="*/ 205497 w 2658882"/>
              <a:gd name="connsiteY1-136" fmla="*/ 2144 h 4093540"/>
              <a:gd name="connsiteX2-137" fmla="*/ 2508800 w 2658882"/>
              <a:gd name="connsiteY2-138" fmla="*/ 365375 h 4093540"/>
              <a:gd name="connsiteX3-139" fmla="*/ 2658882 w 2658882"/>
              <a:gd name="connsiteY3-140" fmla="*/ 541004 h 4093540"/>
              <a:gd name="connsiteX4-141" fmla="*/ 2658882 w 2658882"/>
              <a:gd name="connsiteY4-142" fmla="*/ 3553052 h 4093540"/>
              <a:gd name="connsiteX5-143" fmla="*/ 2508776 w 2658882"/>
              <a:gd name="connsiteY5-144" fmla="*/ 3728684 h 4093540"/>
              <a:gd name="connsiteX6-145" fmla="*/ 205473 w 2658882"/>
              <a:gd name="connsiteY6-146" fmla="*/ 4091915 h 4093540"/>
              <a:gd name="connsiteX7-147" fmla="*/ 62283 w 2658882"/>
              <a:gd name="connsiteY7-148" fmla="*/ 4051443 h 4093540"/>
              <a:gd name="connsiteX8-149" fmla="*/ 0 w 2658882"/>
              <a:gd name="connsiteY8-150" fmla="*/ 3916281 h 4093540"/>
              <a:gd name="connsiteX9-151" fmla="*/ 0 w 2658882"/>
              <a:gd name="connsiteY9-152" fmla="*/ 177803 h 4093540"/>
              <a:gd name="connsiteX10-153" fmla="*/ 62283 w 2658882"/>
              <a:gd name="connsiteY10-154" fmla="*/ 42612 h 4093540"/>
              <a:gd name="connsiteX0-155" fmla="*/ 62283 w 2658882"/>
              <a:gd name="connsiteY0-156" fmla="*/ 42612 h 4093540"/>
              <a:gd name="connsiteX1-157" fmla="*/ 205497 w 2658882"/>
              <a:gd name="connsiteY1-158" fmla="*/ 2144 h 4093540"/>
              <a:gd name="connsiteX2-159" fmla="*/ 2508800 w 2658882"/>
              <a:gd name="connsiteY2-160" fmla="*/ 365375 h 4093540"/>
              <a:gd name="connsiteX3-161" fmla="*/ 2658882 w 2658882"/>
              <a:gd name="connsiteY3-162" fmla="*/ 541004 h 4093540"/>
              <a:gd name="connsiteX4-163" fmla="*/ 2658882 w 2658882"/>
              <a:gd name="connsiteY4-164" fmla="*/ 3553052 h 4093540"/>
              <a:gd name="connsiteX5-165" fmla="*/ 2508776 w 2658882"/>
              <a:gd name="connsiteY5-166" fmla="*/ 3728684 h 4093540"/>
              <a:gd name="connsiteX6-167" fmla="*/ 205473 w 2658882"/>
              <a:gd name="connsiteY6-168" fmla="*/ 4091915 h 4093540"/>
              <a:gd name="connsiteX7-169" fmla="*/ 62283 w 2658882"/>
              <a:gd name="connsiteY7-170" fmla="*/ 4051443 h 4093540"/>
              <a:gd name="connsiteX8-171" fmla="*/ 0 w 2658882"/>
              <a:gd name="connsiteY8-172" fmla="*/ 3916281 h 4093540"/>
              <a:gd name="connsiteX9-173" fmla="*/ 0 w 2658882"/>
              <a:gd name="connsiteY9-174" fmla="*/ 177803 h 4093540"/>
              <a:gd name="connsiteX10-175" fmla="*/ 62283 w 2658882"/>
              <a:gd name="connsiteY10-176" fmla="*/ 42612 h 4093540"/>
              <a:gd name="connsiteX0-177" fmla="*/ 62283 w 2658882"/>
              <a:gd name="connsiteY0-178" fmla="*/ 42612 h 4093540"/>
              <a:gd name="connsiteX1-179" fmla="*/ 205497 w 2658882"/>
              <a:gd name="connsiteY1-180" fmla="*/ 2144 h 4093540"/>
              <a:gd name="connsiteX2-181" fmla="*/ 2508800 w 2658882"/>
              <a:gd name="connsiteY2-182" fmla="*/ 365375 h 4093540"/>
              <a:gd name="connsiteX3-183" fmla="*/ 2658882 w 2658882"/>
              <a:gd name="connsiteY3-184" fmla="*/ 541004 h 4093540"/>
              <a:gd name="connsiteX4-185" fmla="*/ 2658882 w 2658882"/>
              <a:gd name="connsiteY4-186" fmla="*/ 3553052 h 4093540"/>
              <a:gd name="connsiteX5-187" fmla="*/ 2508776 w 2658882"/>
              <a:gd name="connsiteY5-188" fmla="*/ 3728684 h 4093540"/>
              <a:gd name="connsiteX6-189" fmla="*/ 205473 w 2658882"/>
              <a:gd name="connsiteY6-190" fmla="*/ 4091915 h 4093540"/>
              <a:gd name="connsiteX7-191" fmla="*/ 62283 w 2658882"/>
              <a:gd name="connsiteY7-192" fmla="*/ 4051443 h 4093540"/>
              <a:gd name="connsiteX8-193" fmla="*/ 0 w 2658882"/>
              <a:gd name="connsiteY8-194" fmla="*/ 3916281 h 4093540"/>
              <a:gd name="connsiteX9-195" fmla="*/ 0 w 2658882"/>
              <a:gd name="connsiteY9-196" fmla="*/ 177803 h 4093540"/>
              <a:gd name="connsiteX10-197" fmla="*/ 62283 w 2658882"/>
              <a:gd name="connsiteY10-198" fmla="*/ 42612 h 4093540"/>
              <a:gd name="connsiteX0-199" fmla="*/ 62283 w 2658882"/>
              <a:gd name="connsiteY0-200" fmla="*/ 42612 h 4092044"/>
              <a:gd name="connsiteX1-201" fmla="*/ 205497 w 2658882"/>
              <a:gd name="connsiteY1-202" fmla="*/ 2144 h 4092044"/>
              <a:gd name="connsiteX2-203" fmla="*/ 2508800 w 2658882"/>
              <a:gd name="connsiteY2-204" fmla="*/ 365375 h 4092044"/>
              <a:gd name="connsiteX3-205" fmla="*/ 2658882 w 2658882"/>
              <a:gd name="connsiteY3-206" fmla="*/ 541004 h 4092044"/>
              <a:gd name="connsiteX4-207" fmla="*/ 2658882 w 2658882"/>
              <a:gd name="connsiteY4-208" fmla="*/ 3553052 h 4092044"/>
              <a:gd name="connsiteX5-209" fmla="*/ 2508776 w 2658882"/>
              <a:gd name="connsiteY5-210" fmla="*/ 3728684 h 4092044"/>
              <a:gd name="connsiteX6-211" fmla="*/ 205473 w 2658882"/>
              <a:gd name="connsiteY6-212" fmla="*/ 4091915 h 4092044"/>
              <a:gd name="connsiteX7-213" fmla="*/ 62283 w 2658882"/>
              <a:gd name="connsiteY7-214" fmla="*/ 4051443 h 4092044"/>
              <a:gd name="connsiteX8-215" fmla="*/ 0 w 2658882"/>
              <a:gd name="connsiteY8-216" fmla="*/ 3916281 h 4092044"/>
              <a:gd name="connsiteX9-217" fmla="*/ 0 w 2658882"/>
              <a:gd name="connsiteY9-218" fmla="*/ 177803 h 4092044"/>
              <a:gd name="connsiteX10-219" fmla="*/ 62283 w 2658882"/>
              <a:gd name="connsiteY10-220" fmla="*/ 42612 h 4092044"/>
              <a:gd name="connsiteX0-221" fmla="*/ 62283 w 2658882"/>
              <a:gd name="connsiteY0-222" fmla="*/ 42612 h 4091915"/>
              <a:gd name="connsiteX1-223" fmla="*/ 205497 w 2658882"/>
              <a:gd name="connsiteY1-224" fmla="*/ 2144 h 4091915"/>
              <a:gd name="connsiteX2-225" fmla="*/ 2508800 w 2658882"/>
              <a:gd name="connsiteY2-226" fmla="*/ 365375 h 4091915"/>
              <a:gd name="connsiteX3-227" fmla="*/ 2658882 w 2658882"/>
              <a:gd name="connsiteY3-228" fmla="*/ 541004 h 4091915"/>
              <a:gd name="connsiteX4-229" fmla="*/ 2658882 w 2658882"/>
              <a:gd name="connsiteY4-230" fmla="*/ 3553052 h 4091915"/>
              <a:gd name="connsiteX5-231" fmla="*/ 2508776 w 2658882"/>
              <a:gd name="connsiteY5-232" fmla="*/ 3728684 h 4091915"/>
              <a:gd name="connsiteX6-233" fmla="*/ 205473 w 2658882"/>
              <a:gd name="connsiteY6-234" fmla="*/ 4091915 h 4091915"/>
              <a:gd name="connsiteX7-235" fmla="*/ 62283 w 2658882"/>
              <a:gd name="connsiteY7-236" fmla="*/ 4051443 h 4091915"/>
              <a:gd name="connsiteX8-237" fmla="*/ 0 w 2658882"/>
              <a:gd name="connsiteY8-238" fmla="*/ 3916281 h 4091915"/>
              <a:gd name="connsiteX9-239" fmla="*/ 0 w 2658882"/>
              <a:gd name="connsiteY9-240" fmla="*/ 177803 h 4091915"/>
              <a:gd name="connsiteX10-241" fmla="*/ 62283 w 2658882"/>
              <a:gd name="connsiteY10-242" fmla="*/ 42612 h 4091915"/>
              <a:gd name="connsiteX0-243" fmla="*/ 62283 w 2658882"/>
              <a:gd name="connsiteY0-244" fmla="*/ 42612 h 4092475"/>
              <a:gd name="connsiteX1-245" fmla="*/ 205497 w 2658882"/>
              <a:gd name="connsiteY1-246" fmla="*/ 2144 h 4092475"/>
              <a:gd name="connsiteX2-247" fmla="*/ 2508800 w 2658882"/>
              <a:gd name="connsiteY2-248" fmla="*/ 365375 h 4092475"/>
              <a:gd name="connsiteX3-249" fmla="*/ 2658882 w 2658882"/>
              <a:gd name="connsiteY3-250" fmla="*/ 541004 h 4092475"/>
              <a:gd name="connsiteX4-251" fmla="*/ 2658882 w 2658882"/>
              <a:gd name="connsiteY4-252" fmla="*/ 3553052 h 4092475"/>
              <a:gd name="connsiteX5-253" fmla="*/ 2508776 w 2658882"/>
              <a:gd name="connsiteY5-254" fmla="*/ 3728684 h 4092475"/>
              <a:gd name="connsiteX6-255" fmla="*/ 205473 w 2658882"/>
              <a:gd name="connsiteY6-256" fmla="*/ 4091915 h 4092475"/>
              <a:gd name="connsiteX7-257" fmla="*/ 62283 w 2658882"/>
              <a:gd name="connsiteY7-258" fmla="*/ 4051443 h 4092475"/>
              <a:gd name="connsiteX8-259" fmla="*/ 0 w 2658882"/>
              <a:gd name="connsiteY8-260" fmla="*/ 3916281 h 4092475"/>
              <a:gd name="connsiteX9-261" fmla="*/ 0 w 2658882"/>
              <a:gd name="connsiteY9-262" fmla="*/ 177803 h 4092475"/>
              <a:gd name="connsiteX10-263" fmla="*/ 62283 w 2658882"/>
              <a:gd name="connsiteY10-264" fmla="*/ 42612 h 4092475"/>
              <a:gd name="connsiteX0-265" fmla="*/ 62283 w 2658882"/>
              <a:gd name="connsiteY0-266" fmla="*/ 42612 h 4094059"/>
              <a:gd name="connsiteX1-267" fmla="*/ 205497 w 2658882"/>
              <a:gd name="connsiteY1-268" fmla="*/ 2144 h 4094059"/>
              <a:gd name="connsiteX2-269" fmla="*/ 2508800 w 2658882"/>
              <a:gd name="connsiteY2-270" fmla="*/ 365375 h 4094059"/>
              <a:gd name="connsiteX3-271" fmla="*/ 2658882 w 2658882"/>
              <a:gd name="connsiteY3-272" fmla="*/ 541004 h 4094059"/>
              <a:gd name="connsiteX4-273" fmla="*/ 2658882 w 2658882"/>
              <a:gd name="connsiteY4-274" fmla="*/ 3553052 h 4094059"/>
              <a:gd name="connsiteX5-275" fmla="*/ 2508776 w 2658882"/>
              <a:gd name="connsiteY5-276" fmla="*/ 3728684 h 4094059"/>
              <a:gd name="connsiteX6-277" fmla="*/ 205473 w 2658882"/>
              <a:gd name="connsiteY6-278" fmla="*/ 4091915 h 4094059"/>
              <a:gd name="connsiteX7-279" fmla="*/ 62283 w 2658882"/>
              <a:gd name="connsiteY7-280" fmla="*/ 4051443 h 4094059"/>
              <a:gd name="connsiteX8-281" fmla="*/ 0 w 2658882"/>
              <a:gd name="connsiteY8-282" fmla="*/ 3916281 h 4094059"/>
              <a:gd name="connsiteX9-283" fmla="*/ 0 w 2658882"/>
              <a:gd name="connsiteY9-284" fmla="*/ 177803 h 4094059"/>
              <a:gd name="connsiteX10-285" fmla="*/ 62283 w 2658882"/>
              <a:gd name="connsiteY10-286" fmla="*/ 42612 h 4094059"/>
              <a:gd name="connsiteX0-287" fmla="*/ 62283 w 2658882"/>
              <a:gd name="connsiteY0-288" fmla="*/ 42612 h 4094059"/>
              <a:gd name="connsiteX1-289" fmla="*/ 205497 w 2658882"/>
              <a:gd name="connsiteY1-290" fmla="*/ 2144 h 4094059"/>
              <a:gd name="connsiteX2-291" fmla="*/ 2508800 w 2658882"/>
              <a:gd name="connsiteY2-292" fmla="*/ 365375 h 4094059"/>
              <a:gd name="connsiteX3-293" fmla="*/ 2658882 w 2658882"/>
              <a:gd name="connsiteY3-294" fmla="*/ 541004 h 4094059"/>
              <a:gd name="connsiteX4-295" fmla="*/ 2658882 w 2658882"/>
              <a:gd name="connsiteY4-296" fmla="*/ 3553052 h 4094059"/>
              <a:gd name="connsiteX5-297" fmla="*/ 2508776 w 2658882"/>
              <a:gd name="connsiteY5-298" fmla="*/ 3728684 h 4094059"/>
              <a:gd name="connsiteX6-299" fmla="*/ 205473 w 2658882"/>
              <a:gd name="connsiteY6-300" fmla="*/ 4091915 h 4094059"/>
              <a:gd name="connsiteX7-301" fmla="*/ 62283 w 2658882"/>
              <a:gd name="connsiteY7-302" fmla="*/ 4051443 h 4094059"/>
              <a:gd name="connsiteX8-303" fmla="*/ 0 w 2658882"/>
              <a:gd name="connsiteY8-304" fmla="*/ 3916281 h 4094059"/>
              <a:gd name="connsiteX9-305" fmla="*/ 0 w 2658882"/>
              <a:gd name="connsiteY9-306" fmla="*/ 177803 h 4094059"/>
              <a:gd name="connsiteX10-307" fmla="*/ 62283 w 2658882"/>
              <a:gd name="connsiteY10-308" fmla="*/ 42612 h 4094059"/>
              <a:gd name="connsiteX0-309" fmla="*/ 62283 w 2658882"/>
              <a:gd name="connsiteY0-310" fmla="*/ 42612 h 4094059"/>
              <a:gd name="connsiteX1-311" fmla="*/ 205497 w 2658882"/>
              <a:gd name="connsiteY1-312" fmla="*/ 2144 h 4094059"/>
              <a:gd name="connsiteX2-313" fmla="*/ 2508800 w 2658882"/>
              <a:gd name="connsiteY2-314" fmla="*/ 365375 h 4094059"/>
              <a:gd name="connsiteX3-315" fmla="*/ 2658882 w 2658882"/>
              <a:gd name="connsiteY3-316" fmla="*/ 541004 h 4094059"/>
              <a:gd name="connsiteX4-317" fmla="*/ 2658882 w 2658882"/>
              <a:gd name="connsiteY4-318" fmla="*/ 3553052 h 4094059"/>
              <a:gd name="connsiteX5-319" fmla="*/ 2508776 w 2658882"/>
              <a:gd name="connsiteY5-320" fmla="*/ 3728684 h 4094059"/>
              <a:gd name="connsiteX6-321" fmla="*/ 205473 w 2658882"/>
              <a:gd name="connsiteY6-322" fmla="*/ 4091915 h 4094059"/>
              <a:gd name="connsiteX7-323" fmla="*/ 62283 w 2658882"/>
              <a:gd name="connsiteY7-324" fmla="*/ 4051443 h 4094059"/>
              <a:gd name="connsiteX8-325" fmla="*/ 0 w 2658882"/>
              <a:gd name="connsiteY8-326" fmla="*/ 3916281 h 4094059"/>
              <a:gd name="connsiteX9-327" fmla="*/ 0 w 2658882"/>
              <a:gd name="connsiteY9-328" fmla="*/ 177803 h 4094059"/>
              <a:gd name="connsiteX10-329" fmla="*/ 62283 w 2658882"/>
              <a:gd name="connsiteY10-330" fmla="*/ 42612 h 4094059"/>
              <a:gd name="connsiteX0-331" fmla="*/ 62283 w 2658882"/>
              <a:gd name="connsiteY0-332" fmla="*/ 42612 h 4094059"/>
              <a:gd name="connsiteX1-333" fmla="*/ 205497 w 2658882"/>
              <a:gd name="connsiteY1-334" fmla="*/ 2144 h 4094059"/>
              <a:gd name="connsiteX2-335" fmla="*/ 2508800 w 2658882"/>
              <a:gd name="connsiteY2-336" fmla="*/ 365375 h 4094059"/>
              <a:gd name="connsiteX3-337" fmla="*/ 2658882 w 2658882"/>
              <a:gd name="connsiteY3-338" fmla="*/ 541004 h 4094059"/>
              <a:gd name="connsiteX4-339" fmla="*/ 2658882 w 2658882"/>
              <a:gd name="connsiteY4-340" fmla="*/ 3553052 h 4094059"/>
              <a:gd name="connsiteX5-341" fmla="*/ 2508776 w 2658882"/>
              <a:gd name="connsiteY5-342" fmla="*/ 3728684 h 4094059"/>
              <a:gd name="connsiteX6-343" fmla="*/ 205473 w 2658882"/>
              <a:gd name="connsiteY6-344" fmla="*/ 4091915 h 4094059"/>
              <a:gd name="connsiteX7-345" fmla="*/ 62283 w 2658882"/>
              <a:gd name="connsiteY7-346" fmla="*/ 4051443 h 4094059"/>
              <a:gd name="connsiteX8-347" fmla="*/ 0 w 2658882"/>
              <a:gd name="connsiteY8-348" fmla="*/ 3916281 h 4094059"/>
              <a:gd name="connsiteX9-349" fmla="*/ 0 w 2658882"/>
              <a:gd name="connsiteY9-350" fmla="*/ 177803 h 4094059"/>
              <a:gd name="connsiteX10-351" fmla="*/ 62283 w 2658882"/>
              <a:gd name="connsiteY10-352" fmla="*/ 42612 h 4094059"/>
              <a:gd name="connsiteX0-353" fmla="*/ 62283 w 2658882"/>
              <a:gd name="connsiteY0-354" fmla="*/ 42612 h 4094059"/>
              <a:gd name="connsiteX1-355" fmla="*/ 205497 w 2658882"/>
              <a:gd name="connsiteY1-356" fmla="*/ 2144 h 4094059"/>
              <a:gd name="connsiteX2-357" fmla="*/ 2508800 w 2658882"/>
              <a:gd name="connsiteY2-358" fmla="*/ 365375 h 4094059"/>
              <a:gd name="connsiteX3-359" fmla="*/ 2658882 w 2658882"/>
              <a:gd name="connsiteY3-360" fmla="*/ 541004 h 4094059"/>
              <a:gd name="connsiteX4-361" fmla="*/ 2658882 w 2658882"/>
              <a:gd name="connsiteY4-362" fmla="*/ 3553052 h 4094059"/>
              <a:gd name="connsiteX5-363" fmla="*/ 2508776 w 2658882"/>
              <a:gd name="connsiteY5-364" fmla="*/ 3728684 h 4094059"/>
              <a:gd name="connsiteX6-365" fmla="*/ 205473 w 2658882"/>
              <a:gd name="connsiteY6-366" fmla="*/ 4091915 h 4094059"/>
              <a:gd name="connsiteX7-367" fmla="*/ 62283 w 2658882"/>
              <a:gd name="connsiteY7-368" fmla="*/ 4051443 h 4094059"/>
              <a:gd name="connsiteX8-369" fmla="*/ 0 w 2658882"/>
              <a:gd name="connsiteY8-370" fmla="*/ 3916281 h 4094059"/>
              <a:gd name="connsiteX9-371" fmla="*/ 0 w 2658882"/>
              <a:gd name="connsiteY9-372" fmla="*/ 177803 h 4094059"/>
              <a:gd name="connsiteX10-373" fmla="*/ 62283 w 2658882"/>
              <a:gd name="connsiteY10-374" fmla="*/ 42612 h 4094059"/>
              <a:gd name="connsiteX0-375" fmla="*/ 62283 w 2658882"/>
              <a:gd name="connsiteY0-376" fmla="*/ 42612 h 4094059"/>
              <a:gd name="connsiteX1-377" fmla="*/ 205497 w 2658882"/>
              <a:gd name="connsiteY1-378" fmla="*/ 2144 h 4094059"/>
              <a:gd name="connsiteX2-379" fmla="*/ 2508800 w 2658882"/>
              <a:gd name="connsiteY2-380" fmla="*/ 365375 h 4094059"/>
              <a:gd name="connsiteX3-381" fmla="*/ 2658882 w 2658882"/>
              <a:gd name="connsiteY3-382" fmla="*/ 541004 h 4094059"/>
              <a:gd name="connsiteX4-383" fmla="*/ 2658882 w 2658882"/>
              <a:gd name="connsiteY4-384" fmla="*/ 3553052 h 4094059"/>
              <a:gd name="connsiteX5-385" fmla="*/ 2508776 w 2658882"/>
              <a:gd name="connsiteY5-386" fmla="*/ 3728684 h 4094059"/>
              <a:gd name="connsiteX6-387" fmla="*/ 205473 w 2658882"/>
              <a:gd name="connsiteY6-388" fmla="*/ 4091915 h 4094059"/>
              <a:gd name="connsiteX7-389" fmla="*/ 62283 w 2658882"/>
              <a:gd name="connsiteY7-390" fmla="*/ 4051443 h 4094059"/>
              <a:gd name="connsiteX8-391" fmla="*/ 0 w 2658882"/>
              <a:gd name="connsiteY8-392" fmla="*/ 3916281 h 4094059"/>
              <a:gd name="connsiteX9-393" fmla="*/ 0 w 2658882"/>
              <a:gd name="connsiteY9-394" fmla="*/ 177803 h 4094059"/>
              <a:gd name="connsiteX10-395" fmla="*/ 62283 w 2658882"/>
              <a:gd name="connsiteY10-396" fmla="*/ 42612 h 40940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658882" h="4094059">
                <a:moveTo>
                  <a:pt x="62283" y="42612"/>
                </a:moveTo>
                <a:cubicBezTo>
                  <a:pt x="101616" y="8995"/>
                  <a:pt x="154387" y="-5916"/>
                  <a:pt x="205497" y="2144"/>
                </a:cubicBezTo>
                <a:cubicBezTo>
                  <a:pt x="205497" y="2144"/>
                  <a:pt x="2508800" y="365375"/>
                  <a:pt x="2508800" y="365375"/>
                </a:cubicBezTo>
                <a:cubicBezTo>
                  <a:pt x="2599348" y="379655"/>
                  <a:pt x="2658882" y="449336"/>
                  <a:pt x="2658882" y="541004"/>
                </a:cubicBezTo>
                <a:cubicBezTo>
                  <a:pt x="2658882" y="541004"/>
                  <a:pt x="2658882" y="3553052"/>
                  <a:pt x="2658882" y="3553052"/>
                </a:cubicBezTo>
                <a:cubicBezTo>
                  <a:pt x="2658882" y="3644720"/>
                  <a:pt x="2599325" y="3714404"/>
                  <a:pt x="2508776" y="3728684"/>
                </a:cubicBezTo>
                <a:cubicBezTo>
                  <a:pt x="2508776" y="3728684"/>
                  <a:pt x="205473" y="4091915"/>
                  <a:pt x="205473" y="4091915"/>
                </a:cubicBezTo>
                <a:cubicBezTo>
                  <a:pt x="154364" y="4099976"/>
                  <a:pt x="101616" y="4085060"/>
                  <a:pt x="62283" y="4051443"/>
                </a:cubicBezTo>
                <a:cubicBezTo>
                  <a:pt x="22950" y="4017828"/>
                  <a:pt x="0" y="3968024"/>
                  <a:pt x="0" y="3916281"/>
                </a:cubicBezTo>
                <a:cubicBezTo>
                  <a:pt x="0" y="3916282"/>
                  <a:pt x="0" y="177804"/>
                  <a:pt x="0" y="177803"/>
                </a:cubicBezTo>
                <a:cubicBezTo>
                  <a:pt x="0" y="126063"/>
                  <a:pt x="22950" y="76228"/>
                  <a:pt x="62283" y="42612"/>
                </a:cubicBezTo>
                <a:close/>
              </a:path>
            </a:pathLst>
          </a:custGeom>
          <a:solidFill>
            <a:schemeClr val="accent1"/>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accent2"/>
              </a:solidFill>
              <a:sym typeface="+mn-ea"/>
            </a:endParaRPr>
          </a:p>
        </p:txBody>
      </p:sp>
      <p:sp>
        <p:nvSpPr>
          <p:cNvPr id="20" name="文本框 19"/>
          <p:cNvSpPr txBox="1"/>
          <p:nvPr>
            <p:custDataLst>
              <p:tags r:id="rId5"/>
            </p:custDataLst>
          </p:nvPr>
        </p:nvSpPr>
        <p:spPr>
          <a:xfrm>
            <a:off x="5334635" y="2496820"/>
            <a:ext cx="2834005" cy="268605"/>
          </a:xfrm>
          <a:prstGeom prst="rect">
            <a:avLst/>
          </a:prstGeom>
          <a:noFill/>
        </p:spPr>
        <p:txBody>
          <a:bodyPr wrap="square" lIns="0" tIns="0" rIns="0" bIns="0" rtlCol="0">
            <a:noAutofit/>
          </a:bodyPr>
          <a:lstStyle/>
          <a:p>
            <a:pPr algn="l"/>
            <a:r>
              <a:rPr lang="zh-CN" altLang="en-US">
                <a:solidFill>
                  <a:schemeClr val="bg1"/>
                </a:solidFill>
                <a:latin typeface="楷体" panose="02010609060101010101" charset="-122"/>
                <a:ea typeface="楷体" panose="02010609060101010101" charset="-122"/>
                <a:sym typeface="+mn-ea"/>
              </a:rPr>
              <a:t>具体差异体现以下评价指标：语言观和教学方法论是否与我相似；活动是否鼓励交际性的语言实践；任务是否有利于新学语言的内化；语言点和词汇处理循序渐进。</a:t>
            </a:r>
          </a:p>
        </p:txBody>
      </p:sp>
      <p:pic>
        <p:nvPicPr>
          <p:cNvPr id="38" name="图片 37" descr="箭头"/>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flipV="1">
            <a:off x="4316095" y="2849245"/>
            <a:ext cx="914400" cy="914400"/>
          </a:xfrm>
          <a:prstGeom prst="rect">
            <a:avLst/>
          </a:prstGeom>
        </p:spPr>
      </p:pic>
      <p:sp>
        <p:nvSpPr>
          <p:cNvPr id="2" name="日期占位符 1">
            <a:extLst>
              <a:ext uri="{FF2B5EF4-FFF2-40B4-BE49-F238E27FC236}">
                <a16:creationId xmlns:a16="http://schemas.microsoft.com/office/drawing/2014/main" id="{4A67EFCF-3DE4-4D1C-B2BF-7C79DFD895AA}"/>
              </a:ext>
            </a:extLst>
          </p:cNvPr>
          <p:cNvSpPr>
            <a:spLocks noGrp="1"/>
          </p:cNvSpPr>
          <p:nvPr>
            <p:ph type="dt" sz="half" idx="2"/>
          </p:nvPr>
        </p:nvSpPr>
        <p:spPr/>
        <p:txBody>
          <a:bodyPr/>
          <a:lstStyle/>
          <a:p>
            <a:fld id="{F2F1563C-EA28-4B53-9827-B14A1A41608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3" name="页脚占位符 2">
            <a:extLst>
              <a:ext uri="{FF2B5EF4-FFF2-40B4-BE49-F238E27FC236}">
                <a16:creationId xmlns:a16="http://schemas.microsoft.com/office/drawing/2014/main" id="{0F368ECA-27BA-4A44-8487-E0D6B0446BE6}"/>
              </a:ext>
            </a:extLst>
          </p:cNvPr>
          <p:cNvSpPr>
            <a:spLocks noGrp="1"/>
          </p:cNvSpPr>
          <p:nvPr>
            <p:ph type="ftr" sz="quarter" idx="3"/>
          </p:nvPr>
        </p:nvSpPr>
        <p:spPr/>
        <p:txBody>
          <a:bodyPr/>
          <a:lstStyle/>
          <a:p>
            <a:r>
              <a:rPr lang="zh-CN" altLang="en-US"/>
              <a:t>椭圆曲线密码体制</a:t>
            </a:r>
          </a:p>
        </p:txBody>
      </p:sp>
      <p:sp>
        <p:nvSpPr>
          <p:cNvPr id="4" name="灯片编号占位符 3">
            <a:extLst>
              <a:ext uri="{FF2B5EF4-FFF2-40B4-BE49-F238E27FC236}">
                <a16:creationId xmlns:a16="http://schemas.microsoft.com/office/drawing/2014/main" id="{D8397A3A-EAB1-4A79-B8DE-97C9074677B7}"/>
              </a:ext>
            </a:extLst>
          </p:cNvPr>
          <p:cNvSpPr>
            <a:spLocks noGrp="1"/>
          </p:cNvSpPr>
          <p:nvPr>
            <p:ph type="sldNum" sz="quarter" idx="4"/>
          </p:nvPr>
        </p:nvSpPr>
        <p:spPr/>
        <p:txBody>
          <a:bodyPr/>
          <a:lstStyle/>
          <a:p>
            <a:fld id="{9A0DB2DC-4C9A-4742-B13C-FB6460FD3503}" type="slidenum">
              <a:rPr lang="en-US" altLang="zh-CN" smtClean="0"/>
              <a:pPr/>
              <a:t>27</a:t>
            </a:fld>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29" name="矩形 228"/>
          <p:cNvSpPr/>
          <p:nvPr/>
        </p:nvSpPr>
        <p:spPr>
          <a:xfrm>
            <a:off x="747682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33" name="TextBox 9"/>
          <p:cNvSpPr txBox="1"/>
          <p:nvPr/>
        </p:nvSpPr>
        <p:spPr>
          <a:xfrm>
            <a:off x="41940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234" name="TextBox 10"/>
          <p:cNvSpPr txBox="1"/>
          <p:nvPr/>
        </p:nvSpPr>
        <p:spPr>
          <a:xfrm>
            <a:off x="589589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35" name="TextBox 11"/>
          <p:cNvSpPr txBox="1"/>
          <p:nvPr/>
        </p:nvSpPr>
        <p:spPr>
          <a:xfrm>
            <a:off x="759770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研究结论</a:t>
            </a:r>
          </a:p>
        </p:txBody>
      </p:sp>
      <p:pic>
        <p:nvPicPr>
          <p:cNvPr id="26" name="图片 25" descr="logo_画板 1"/>
          <p:cNvPicPr>
            <a:picLocks noChangeAspect="1"/>
          </p:cNvPicPr>
          <p:nvPr/>
        </p:nvPicPr>
        <p:blipFill>
          <a:blip r:embed="rId8"/>
          <a:stretch>
            <a:fillRect/>
          </a:stretch>
        </p:blipFill>
        <p:spPr>
          <a:xfrm>
            <a:off x="74930" y="0"/>
            <a:ext cx="1614805" cy="909320"/>
          </a:xfrm>
          <a:prstGeom prst="rect">
            <a:avLst/>
          </a:prstGeom>
        </p:spPr>
      </p:pic>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36" name="标题"/>
          <p:cNvSpPr txBox="1"/>
          <p:nvPr>
            <p:custDataLst>
              <p:tags r:id="rId1"/>
            </p:custDataLst>
          </p:nvPr>
        </p:nvSpPr>
        <p:spPr>
          <a:xfrm>
            <a:off x="2037566" y="4345067"/>
            <a:ext cx="4987392" cy="362495"/>
          </a:xfrm>
          <a:prstGeom prst="rect">
            <a:avLst/>
          </a:prstGeom>
          <a:noFill/>
          <a:effectLst/>
        </p:spPr>
        <p:txBody>
          <a:bodyPr wrap="square" lIns="0" tIns="0" rIns="0" bIns="0" rtlCol="0" anchor="ctr">
            <a:noAutofit/>
          </a:bodyPr>
          <a:lstStyle/>
          <a:p>
            <a:pPr algn="ctr"/>
            <a:r>
              <a:rPr lang="zh-CN" altLang="en-US" sz="2800" b="1">
                <a:solidFill>
                  <a:schemeClr val="bg1"/>
                </a:solidFill>
                <a:latin typeface="楷体" panose="02010609060101010101" charset="-122"/>
                <a:ea typeface="楷体" panose="02010609060101010101" charset="-122"/>
                <a:sym typeface="+mn-ea"/>
              </a:rPr>
              <a:t>教材中存在的共性问题</a:t>
            </a:r>
            <a:endParaRPr lang="zh-CN" altLang="en-US" sz="2800" b="1" spc="300" dirty="0">
              <a:solidFill>
                <a:schemeClr val="bg1"/>
              </a:solidFill>
              <a:effectLst/>
              <a:latin typeface="楷体" panose="02010609060101010101" charset="-122"/>
              <a:ea typeface="楷体" panose="02010609060101010101" charset="-122"/>
              <a:sym typeface="+mn-ea"/>
            </a:endParaRPr>
          </a:p>
        </p:txBody>
      </p:sp>
      <p:sp>
        <p:nvSpPr>
          <p:cNvPr id="68" name="文本框 67"/>
          <p:cNvSpPr txBox="1"/>
          <p:nvPr/>
        </p:nvSpPr>
        <p:spPr>
          <a:xfrm>
            <a:off x="668655" y="1369695"/>
            <a:ext cx="363220" cy="583565"/>
          </a:xfrm>
          <a:prstGeom prst="rect">
            <a:avLst/>
          </a:prstGeom>
          <a:noFill/>
        </p:spPr>
        <p:txBody>
          <a:bodyPr wrap="square" rtlCol="0">
            <a:spAutoFit/>
          </a:bodyPr>
          <a:lstStyle/>
          <a:p>
            <a:r>
              <a:rPr lang="en-US" altLang="zh-CN" sz="3200" b="1">
                <a:solidFill>
                  <a:schemeClr val="bg1"/>
                </a:solidFill>
                <a:latin typeface="+mj-ea"/>
                <a:ea typeface="+mj-ea"/>
              </a:rPr>
              <a:t>1</a:t>
            </a:r>
          </a:p>
        </p:txBody>
      </p:sp>
      <p:sp>
        <p:nvSpPr>
          <p:cNvPr id="529" name="文本框 528"/>
          <p:cNvSpPr txBox="1"/>
          <p:nvPr/>
        </p:nvSpPr>
        <p:spPr>
          <a:xfrm>
            <a:off x="127000" y="1042035"/>
            <a:ext cx="8486140" cy="758190"/>
          </a:xfrm>
          <a:prstGeom prst="rect">
            <a:avLst/>
          </a:prstGeom>
          <a:noFill/>
        </p:spPr>
        <p:txBody>
          <a:bodyPr wrap="square" rtlCol="0">
            <a:spAutoFit/>
          </a:bodyPr>
          <a:lstStyle/>
          <a:p>
            <a:pPr indent="304800" algn="just" defTabSz="266700" fontAlgn="auto">
              <a:lnSpc>
                <a:spcPts val="2600"/>
              </a:lnSpc>
              <a:spcBef>
                <a:spcPct val="0"/>
              </a:spcBef>
              <a:spcAft>
                <a:spcPct val="0"/>
              </a:spcAft>
            </a:pPr>
            <a:r>
              <a:rPr lang="zh-CN" altLang="en-US" sz="2000" b="1">
                <a:solidFill>
                  <a:schemeClr val="accent1"/>
                </a:solidFill>
                <a:effectLst>
                  <a:outerShdw blurRad="38100" dist="25400" dir="5400000" algn="ctr" rotWithShape="0">
                    <a:srgbClr val="6E747A">
                      <a:alpha val="43000"/>
                    </a:srgbClr>
                  </a:outerShdw>
                </a:effectLst>
                <a:latin typeface="+mj-ea"/>
                <a:ea typeface="+mj-ea"/>
                <a:sym typeface="+mn-ea"/>
              </a:rPr>
              <a:t>研究问题</a:t>
            </a:r>
            <a:r>
              <a:rPr lang="en-US" altLang="zh-CN" sz="2000" b="1">
                <a:solidFill>
                  <a:schemeClr val="accent1"/>
                </a:solidFill>
                <a:effectLst>
                  <a:outerShdw blurRad="38100" dist="25400" dir="5400000" algn="ctr" rotWithShape="0">
                    <a:srgbClr val="6E747A">
                      <a:alpha val="43000"/>
                    </a:srgbClr>
                  </a:outerShdw>
                </a:effectLst>
                <a:latin typeface="+mj-ea"/>
                <a:ea typeface="+mj-ea"/>
                <a:sym typeface="+mn-ea"/>
              </a:rPr>
              <a:t>3</a:t>
            </a:r>
            <a:r>
              <a:rPr lang="zh-CN" altLang="en-US" sz="2000" b="1">
                <a:solidFill>
                  <a:schemeClr val="accent1"/>
                </a:solidFill>
                <a:effectLst>
                  <a:outerShdw blurRad="38100" dist="25400" dir="5400000" algn="ctr" rotWithShape="0">
                    <a:srgbClr val="6E747A">
                      <a:alpha val="43000"/>
                    </a:srgbClr>
                  </a:outerShdw>
                </a:effectLst>
                <a:latin typeface="+mj-ea"/>
                <a:ea typeface="+mj-ea"/>
                <a:sym typeface="+mn-ea"/>
              </a:rPr>
              <a:t>：</a:t>
            </a:r>
            <a:r>
              <a:rPr lang="zh-CN" altLang="en-US" sz="2000">
                <a:latin typeface="楷体" panose="02010609060101010101" charset="-122"/>
                <a:ea typeface="楷体" panose="02010609060101010101" charset="-122"/>
                <a:cs typeface="楷体" panose="02010609060101010101" charset="-122"/>
                <a:sym typeface="+mn-ea"/>
              </a:rPr>
              <a:t>若存在差异，具体体现在哪些教材评价维度和评价指标上？对教材编写有何启示？</a:t>
            </a:r>
            <a:endParaRPr lang="zh-CN" altLang="en-US" sz="2000" b="1">
              <a:solidFill>
                <a:schemeClr val="accent1"/>
              </a:solidFill>
              <a:effectLst>
                <a:outerShdw blurRad="38100" dist="25400" dir="5400000" algn="ctr" rotWithShape="0">
                  <a:srgbClr val="6E747A">
                    <a:alpha val="43000"/>
                  </a:srgbClr>
                </a:outerShdw>
              </a:effectLst>
              <a:latin typeface="+mj-ea"/>
              <a:ea typeface="+mj-ea"/>
            </a:endParaRPr>
          </a:p>
        </p:txBody>
      </p:sp>
      <p:sp>
        <p:nvSpPr>
          <p:cNvPr id="13" name="五边形 12"/>
          <p:cNvSpPr/>
          <p:nvPr>
            <p:custDataLst>
              <p:tags r:id="rId2"/>
            </p:custDataLst>
          </p:nvPr>
        </p:nvSpPr>
        <p:spPr>
          <a:xfrm>
            <a:off x="746125" y="3507105"/>
            <a:ext cx="8084185" cy="168275"/>
          </a:xfrm>
          <a:prstGeom prst="homePlate">
            <a:avLst/>
          </a:prstGeom>
          <a:solidFill>
            <a:schemeClr val="accent1"/>
          </a:solidFill>
          <a:ln w="19050">
            <a:gradFill>
              <a:gsLst>
                <a:gs pos="20000">
                  <a:schemeClr val="accent1">
                    <a:alpha val="0"/>
                  </a:schemeClr>
                </a:gs>
                <a:gs pos="90000">
                  <a:schemeClr val="accent1">
                    <a:alpha val="100000"/>
                  </a:schemeClr>
                </a:gs>
              </a:gsLst>
              <a:lin ang="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470">
              <a:solidFill>
                <a:schemeClr val="lt1"/>
              </a:solidFill>
              <a:sym typeface="+mn-ea"/>
            </a:endParaRPr>
          </a:p>
        </p:txBody>
      </p:sp>
      <p:cxnSp>
        <p:nvCxnSpPr>
          <p:cNvPr id="16" name="直接箭头连接符 15"/>
          <p:cNvCxnSpPr/>
          <p:nvPr>
            <p:custDataLst>
              <p:tags r:id="rId3"/>
            </p:custDataLst>
          </p:nvPr>
        </p:nvCxnSpPr>
        <p:spPr>
          <a:xfrm>
            <a:off x="-16040" y="3591209"/>
            <a:ext cx="8641942"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custDataLst>
              <p:tags r:id="rId4"/>
            </p:custDataLst>
          </p:nvPr>
        </p:nvSpPr>
        <p:spPr>
          <a:xfrm>
            <a:off x="746215" y="3545001"/>
            <a:ext cx="76530" cy="77382"/>
          </a:xfrm>
          <a:prstGeom prst="ellipse">
            <a:avLst/>
          </a:prstGeom>
          <a:solidFill>
            <a:schemeClr val="accent1">
              <a:lumMod val="40000"/>
              <a:lumOff val="6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70">
              <a:solidFill>
                <a:schemeClr val="lt1"/>
              </a:solidFill>
              <a:cs typeface="微软雅黑" panose="020B0503020204020204" charset="-122"/>
            </a:endParaRPr>
          </a:p>
        </p:txBody>
      </p:sp>
      <p:sp>
        <p:nvSpPr>
          <p:cNvPr id="19" name="椭圆 18"/>
          <p:cNvSpPr/>
          <p:nvPr>
            <p:custDataLst>
              <p:tags r:id="rId5"/>
            </p:custDataLst>
          </p:nvPr>
        </p:nvSpPr>
        <p:spPr>
          <a:xfrm>
            <a:off x="4716390" y="3545001"/>
            <a:ext cx="76530" cy="77382"/>
          </a:xfrm>
          <a:prstGeom prst="ellipse">
            <a:avLst/>
          </a:prstGeom>
          <a:solidFill>
            <a:schemeClr val="accent2">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70">
              <a:solidFill>
                <a:schemeClr val="lt1"/>
              </a:solidFill>
              <a:cs typeface="微软雅黑" panose="020B0503020204020204" charset="-122"/>
            </a:endParaRPr>
          </a:p>
        </p:txBody>
      </p:sp>
      <p:sp>
        <p:nvSpPr>
          <p:cNvPr id="20" name="矩形 19"/>
          <p:cNvSpPr/>
          <p:nvPr>
            <p:custDataLst>
              <p:tags r:id="rId6"/>
            </p:custDataLst>
          </p:nvPr>
        </p:nvSpPr>
        <p:spPr>
          <a:xfrm>
            <a:off x="746125" y="2531110"/>
            <a:ext cx="7923530" cy="765810"/>
          </a:xfrm>
          <a:prstGeom prst="rect">
            <a:avLst/>
          </a:prstGeom>
          <a:noFill/>
        </p:spPr>
        <p:txBody>
          <a:bodyPr wrap="square" lIns="0" tIns="0" rIns="0" bIns="0" rtlCol="0" anchor="t" anchorCtr="0">
            <a:noAutofit/>
          </a:bodyPr>
          <a:lstStyle/>
          <a:p>
            <a:pPr defTabSz="457200">
              <a:lnSpc>
                <a:spcPct val="150000"/>
              </a:lnSpc>
              <a:spcBef>
                <a:spcPct val="0"/>
              </a:spcBef>
              <a:spcAft>
                <a:spcPct val="0"/>
              </a:spcAft>
            </a:pPr>
            <a:r>
              <a:rPr lang="zh-CN" altLang="en-US" sz="2000">
                <a:latin typeface="楷体" panose="02010609060101010101" charset="-122"/>
                <a:ea typeface="楷体" panose="02010609060101010101" charset="-122"/>
                <a:cs typeface="楷体" panose="02010609060101010101" charset="-122"/>
                <a:sym typeface="+mn-ea"/>
              </a:rPr>
              <a:t>当前各国的“中文</a:t>
            </a:r>
            <a:r>
              <a:rPr lang="en-US" altLang="zh-CN" sz="2000">
                <a:latin typeface="楷体" panose="02010609060101010101" charset="-122"/>
                <a:ea typeface="楷体" panose="02010609060101010101" charset="-122"/>
                <a:cs typeface="楷体" panose="02010609060101010101" charset="-122"/>
                <a:sym typeface="+mn-ea"/>
              </a:rPr>
              <a:t>+</a:t>
            </a:r>
            <a:r>
              <a:rPr lang="zh-CN" altLang="en-US" sz="2000">
                <a:latin typeface="楷体" panose="02010609060101010101" charset="-122"/>
                <a:ea typeface="楷体" panose="02010609060101010101" charset="-122"/>
                <a:cs typeface="楷体" panose="02010609060101010101" charset="-122"/>
                <a:sym typeface="+mn-ea"/>
              </a:rPr>
              <a:t>酒店旅游”汉语教材在活动、技能、语言以及主题和内容方面仍存在较大的问题。</a:t>
            </a:r>
            <a:endParaRPr lang="zh-CN" altLang="en-US" sz="2000">
              <a:latin typeface="楷体" panose="02010609060101010101" charset="-122"/>
              <a:ea typeface="楷体" panose="02010609060101010101" charset="-122"/>
              <a:cs typeface="楷体" panose="02010609060101010101" charset="-122"/>
            </a:endParaRPr>
          </a:p>
          <a:p>
            <a:pPr defTabSz="457200">
              <a:lnSpc>
                <a:spcPct val="150000"/>
              </a:lnSpc>
              <a:spcBef>
                <a:spcPct val="0"/>
              </a:spcBef>
              <a:spcAft>
                <a:spcPct val="0"/>
              </a:spcAft>
            </a:pPr>
            <a:endParaRPr lang="zh-CN" altLang="en-US" sz="2000">
              <a:solidFill>
                <a:schemeClr val="tx1">
                  <a:lumMod val="85000"/>
                  <a:lumOff val="15000"/>
                </a:schemeClr>
              </a:solidFill>
              <a:latin typeface="楷体" panose="02010609060101010101" charset="-122"/>
              <a:ea typeface="楷体" panose="02010609060101010101" charset="-122"/>
              <a:cs typeface="楷体" panose="02010609060101010101" charset="-122"/>
            </a:endParaRPr>
          </a:p>
        </p:txBody>
      </p:sp>
      <p:sp>
        <p:nvSpPr>
          <p:cNvPr id="2" name="日期占位符 1">
            <a:extLst>
              <a:ext uri="{FF2B5EF4-FFF2-40B4-BE49-F238E27FC236}">
                <a16:creationId xmlns:a16="http://schemas.microsoft.com/office/drawing/2014/main" id="{2947704B-C4D0-44E0-AB04-F7D9448E2C3D}"/>
              </a:ext>
            </a:extLst>
          </p:cNvPr>
          <p:cNvSpPr>
            <a:spLocks noGrp="1"/>
          </p:cNvSpPr>
          <p:nvPr>
            <p:ph type="dt" sz="half" idx="2"/>
          </p:nvPr>
        </p:nvSpPr>
        <p:spPr/>
        <p:txBody>
          <a:bodyPr/>
          <a:lstStyle/>
          <a:p>
            <a:fld id="{30BB365D-6F55-4D1C-B24F-14F87BCC98A2}"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3" name="页脚占位符 2">
            <a:extLst>
              <a:ext uri="{FF2B5EF4-FFF2-40B4-BE49-F238E27FC236}">
                <a16:creationId xmlns:a16="http://schemas.microsoft.com/office/drawing/2014/main" id="{3D6B7E53-60B6-4B48-B24A-AFC5507BEEF6}"/>
              </a:ext>
            </a:extLst>
          </p:cNvPr>
          <p:cNvSpPr>
            <a:spLocks noGrp="1"/>
          </p:cNvSpPr>
          <p:nvPr>
            <p:ph type="ftr" sz="quarter" idx="3"/>
          </p:nvPr>
        </p:nvSpPr>
        <p:spPr/>
        <p:txBody>
          <a:bodyPr/>
          <a:lstStyle/>
          <a:p>
            <a:r>
              <a:rPr lang="zh-CN" altLang="en-US"/>
              <a:t>椭圆曲线密码体制</a:t>
            </a:r>
          </a:p>
        </p:txBody>
      </p:sp>
      <p:sp>
        <p:nvSpPr>
          <p:cNvPr id="4" name="灯片编号占位符 3">
            <a:extLst>
              <a:ext uri="{FF2B5EF4-FFF2-40B4-BE49-F238E27FC236}">
                <a16:creationId xmlns:a16="http://schemas.microsoft.com/office/drawing/2014/main" id="{823E67DE-EA07-4EC7-9D79-BE90158CBE7C}"/>
              </a:ext>
            </a:extLst>
          </p:cNvPr>
          <p:cNvSpPr>
            <a:spLocks noGrp="1"/>
          </p:cNvSpPr>
          <p:nvPr>
            <p:ph type="sldNum" sz="quarter" idx="4"/>
          </p:nvPr>
        </p:nvSpPr>
        <p:spPr/>
        <p:txBody>
          <a:bodyPr/>
          <a:lstStyle/>
          <a:p>
            <a:fld id="{9A0DB2DC-4C9A-4742-B13C-FB6460FD3503}" type="slidenum">
              <a:rPr lang="en-US" altLang="zh-CN" smtClean="0"/>
              <a:pPr/>
              <a:t>28</a:t>
            </a:fld>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29" name="矩形 228"/>
          <p:cNvSpPr/>
          <p:nvPr/>
        </p:nvSpPr>
        <p:spPr>
          <a:xfrm>
            <a:off x="747682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33" name="TextBox 9"/>
          <p:cNvSpPr txBox="1"/>
          <p:nvPr/>
        </p:nvSpPr>
        <p:spPr>
          <a:xfrm>
            <a:off x="41940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234" name="TextBox 10"/>
          <p:cNvSpPr txBox="1"/>
          <p:nvPr/>
        </p:nvSpPr>
        <p:spPr>
          <a:xfrm>
            <a:off x="589589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35" name="TextBox 11"/>
          <p:cNvSpPr txBox="1"/>
          <p:nvPr/>
        </p:nvSpPr>
        <p:spPr>
          <a:xfrm>
            <a:off x="759770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研究结论</a:t>
            </a:r>
          </a:p>
        </p:txBody>
      </p:sp>
      <p:pic>
        <p:nvPicPr>
          <p:cNvPr id="26" name="图片 25" descr="logo_画板 1"/>
          <p:cNvPicPr>
            <a:picLocks noChangeAspect="1"/>
          </p:cNvPicPr>
          <p:nvPr/>
        </p:nvPicPr>
        <p:blipFill>
          <a:blip r:embed="rId19"/>
          <a:stretch>
            <a:fillRect/>
          </a:stretch>
        </p:blipFill>
        <p:spPr>
          <a:xfrm>
            <a:off x="74930" y="0"/>
            <a:ext cx="1614805" cy="909320"/>
          </a:xfrm>
          <a:prstGeom prst="rect">
            <a:avLst/>
          </a:prstGeom>
        </p:spPr>
      </p:pic>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44" name="任意多边形: 形状 43"/>
          <p:cNvSpPr/>
          <p:nvPr>
            <p:custDataLst>
              <p:tags r:id="rId1"/>
            </p:custDataLst>
          </p:nvPr>
        </p:nvSpPr>
        <p:spPr>
          <a:xfrm>
            <a:off x="-23767" y="1171125"/>
            <a:ext cx="1965528" cy="2950977"/>
          </a:xfrm>
          <a:custGeom>
            <a:avLst/>
            <a:gdLst>
              <a:gd name="connsiteX0" fmla="*/ 555933 w 556070"/>
              <a:gd name="connsiteY0" fmla="*/ 83612 h 835342"/>
              <a:gd name="connsiteX1" fmla="*/ 555933 w 556070"/>
              <a:gd name="connsiteY1" fmla="*/ 751314 h 835342"/>
              <a:gd name="connsiteX2" fmla="*/ 541551 w 556070"/>
              <a:gd name="connsiteY2" fmla="*/ 766840 h 835342"/>
              <a:gd name="connsiteX3" fmla="*/ 18342 w 556070"/>
              <a:gd name="connsiteY3" fmla="*/ 834848 h 835342"/>
              <a:gd name="connsiteX4" fmla="*/ 150 w 556070"/>
              <a:gd name="connsiteY4" fmla="*/ 822561 h 835342"/>
              <a:gd name="connsiteX5" fmla="*/ -136 w 556070"/>
              <a:gd name="connsiteY5" fmla="*/ 819513 h 835342"/>
              <a:gd name="connsiteX6" fmla="*/ -136 w 556070"/>
              <a:gd name="connsiteY6" fmla="*/ 15413 h 835342"/>
              <a:gd name="connsiteX7" fmla="*/ 15294 w 556070"/>
              <a:gd name="connsiteY7" fmla="*/ -208 h 835342"/>
              <a:gd name="connsiteX8" fmla="*/ 18342 w 556070"/>
              <a:gd name="connsiteY8" fmla="*/ 77 h 835342"/>
              <a:gd name="connsiteX9" fmla="*/ 541551 w 556070"/>
              <a:gd name="connsiteY9" fmla="*/ 68086 h 835342"/>
              <a:gd name="connsiteX10" fmla="*/ 555933 w 556070"/>
              <a:gd name="connsiteY10" fmla="*/ 83612 h 835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6070" h="835342">
                <a:moveTo>
                  <a:pt x="555933" y="83612"/>
                </a:moveTo>
                <a:lnTo>
                  <a:pt x="555933" y="751314"/>
                </a:lnTo>
                <a:cubicBezTo>
                  <a:pt x="555905" y="759439"/>
                  <a:pt x="549656" y="766192"/>
                  <a:pt x="541551" y="766840"/>
                </a:cubicBezTo>
                <a:cubicBezTo>
                  <a:pt x="366091" y="780442"/>
                  <a:pt x="191450" y="803140"/>
                  <a:pt x="18342" y="834848"/>
                </a:cubicBezTo>
                <a:cubicBezTo>
                  <a:pt x="9922" y="836477"/>
                  <a:pt x="1778" y="830981"/>
                  <a:pt x="150" y="822561"/>
                </a:cubicBezTo>
                <a:cubicBezTo>
                  <a:pt x="-50" y="821552"/>
                  <a:pt x="-146" y="820533"/>
                  <a:pt x="-136" y="819513"/>
                </a:cubicBezTo>
                <a:lnTo>
                  <a:pt x="-136" y="15413"/>
                </a:lnTo>
                <a:cubicBezTo>
                  <a:pt x="-184" y="6840"/>
                  <a:pt x="6722" y="-151"/>
                  <a:pt x="15294" y="-208"/>
                </a:cubicBezTo>
                <a:cubicBezTo>
                  <a:pt x="16323" y="-208"/>
                  <a:pt x="17342" y="-113"/>
                  <a:pt x="18342" y="77"/>
                </a:cubicBezTo>
                <a:cubicBezTo>
                  <a:pt x="191450" y="31786"/>
                  <a:pt x="366091" y="54484"/>
                  <a:pt x="541551" y="68086"/>
                </a:cubicBezTo>
                <a:cubicBezTo>
                  <a:pt x="549656" y="68734"/>
                  <a:pt x="555905" y="75487"/>
                  <a:pt x="555933" y="83612"/>
                </a:cubicBezTo>
                <a:close/>
              </a:path>
            </a:pathLst>
          </a:custGeom>
          <a:gradFill>
            <a:gsLst>
              <a:gs pos="0">
                <a:schemeClr val="accent1">
                  <a:alpha val="3000"/>
                </a:schemeClr>
              </a:gs>
              <a:gs pos="100000">
                <a:schemeClr val="accent1">
                  <a:alpha val="30000"/>
                </a:scheme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520">
              <a:solidFill>
                <a:schemeClr val="tx1"/>
              </a:solidFill>
              <a:sym typeface="+mn-ea"/>
            </a:endParaRPr>
          </a:p>
        </p:txBody>
      </p:sp>
      <p:sp>
        <p:nvSpPr>
          <p:cNvPr id="45" name="任意多边形: 形状 44"/>
          <p:cNvSpPr/>
          <p:nvPr>
            <p:custDataLst>
              <p:tags r:id="rId2"/>
            </p:custDataLst>
          </p:nvPr>
        </p:nvSpPr>
        <p:spPr>
          <a:xfrm>
            <a:off x="2327348" y="1449307"/>
            <a:ext cx="1965528" cy="2396762"/>
          </a:xfrm>
          <a:custGeom>
            <a:avLst/>
            <a:gdLst>
              <a:gd name="connsiteX0" fmla="*/ 555838 w 555975"/>
              <a:gd name="connsiteY0" fmla="*/ 34027 h 677882"/>
              <a:gd name="connsiteX1" fmla="*/ 555838 w 555975"/>
              <a:gd name="connsiteY1" fmla="*/ 643627 h 677882"/>
              <a:gd name="connsiteX2" fmla="*/ 540312 w 555975"/>
              <a:gd name="connsiteY2" fmla="*/ 659248 h 677882"/>
              <a:gd name="connsiteX3" fmla="*/ 16437 w 555975"/>
              <a:gd name="connsiteY3" fmla="*/ 677631 h 677882"/>
              <a:gd name="connsiteX4" fmla="*/ -98 w 555975"/>
              <a:gd name="connsiteY4" fmla="*/ 663391 h 677882"/>
              <a:gd name="connsiteX5" fmla="*/ -136 w 555975"/>
              <a:gd name="connsiteY5" fmla="*/ 662105 h 677882"/>
              <a:gd name="connsiteX6" fmla="*/ -136 w 555975"/>
              <a:gd name="connsiteY6" fmla="*/ 15358 h 677882"/>
              <a:gd name="connsiteX7" fmla="*/ 15151 w 555975"/>
              <a:gd name="connsiteY7" fmla="*/ -206 h 677882"/>
              <a:gd name="connsiteX8" fmla="*/ 16437 w 555975"/>
              <a:gd name="connsiteY8" fmla="*/ -168 h 677882"/>
              <a:gd name="connsiteX9" fmla="*/ 540312 w 555975"/>
              <a:gd name="connsiteY9" fmla="*/ 18215 h 677882"/>
              <a:gd name="connsiteX10" fmla="*/ 555838 w 555975"/>
              <a:gd name="connsiteY10" fmla="*/ 34027 h 67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5975" h="677882">
                <a:moveTo>
                  <a:pt x="555838" y="34027"/>
                </a:moveTo>
                <a:lnTo>
                  <a:pt x="555838" y="643627"/>
                </a:lnTo>
                <a:cubicBezTo>
                  <a:pt x="555790" y="652200"/>
                  <a:pt x="548885" y="659143"/>
                  <a:pt x="540312" y="659248"/>
                </a:cubicBezTo>
                <a:cubicBezTo>
                  <a:pt x="356670" y="660486"/>
                  <a:pt x="180553" y="666963"/>
                  <a:pt x="16437" y="677631"/>
                </a:cubicBezTo>
                <a:cubicBezTo>
                  <a:pt x="7941" y="678260"/>
                  <a:pt x="540" y="671888"/>
                  <a:pt x="-98" y="663391"/>
                </a:cubicBezTo>
                <a:cubicBezTo>
                  <a:pt x="-127" y="662963"/>
                  <a:pt x="-136" y="662534"/>
                  <a:pt x="-136" y="662105"/>
                </a:cubicBezTo>
                <a:lnTo>
                  <a:pt x="-136" y="15358"/>
                </a:lnTo>
                <a:cubicBezTo>
                  <a:pt x="-212" y="6833"/>
                  <a:pt x="6636" y="-130"/>
                  <a:pt x="15151" y="-206"/>
                </a:cubicBezTo>
                <a:cubicBezTo>
                  <a:pt x="15580" y="-215"/>
                  <a:pt x="16009" y="-196"/>
                  <a:pt x="16437" y="-168"/>
                </a:cubicBezTo>
                <a:cubicBezTo>
                  <a:pt x="180553" y="10500"/>
                  <a:pt x="356670" y="16977"/>
                  <a:pt x="540312" y="18215"/>
                </a:cubicBezTo>
                <a:cubicBezTo>
                  <a:pt x="548951" y="18320"/>
                  <a:pt x="555895" y="25388"/>
                  <a:pt x="555838" y="34027"/>
                </a:cubicBezTo>
                <a:close/>
              </a:path>
            </a:pathLst>
          </a:custGeom>
          <a:gradFill>
            <a:gsLst>
              <a:gs pos="0">
                <a:schemeClr val="accent2">
                  <a:alpha val="3000"/>
                </a:schemeClr>
              </a:gs>
              <a:gs pos="100000">
                <a:schemeClr val="accent2">
                  <a:alpha val="30000"/>
                </a:schemeClr>
              </a:gs>
            </a:gsLst>
            <a:lin ang="5400000" scaled="0"/>
          </a:gradFill>
          <a:ln w="9525" cap="flat">
            <a:gradFill>
              <a:gsLst>
                <a:gs pos="100000">
                  <a:schemeClr val="accent2">
                    <a:alpha val="0"/>
                  </a:schemeClr>
                </a:gs>
                <a:gs pos="0">
                  <a:schemeClr val="accent2">
                    <a:alpha val="20000"/>
                  </a:schemeClr>
                </a:gs>
              </a:gsLst>
              <a:lin ang="5400000"/>
              <a:tileRect/>
            </a:gradFill>
            <a:prstDash val="solid"/>
            <a:miter/>
          </a:ln>
          <a:effectLst/>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520">
              <a:solidFill>
                <a:schemeClr val="tx1"/>
              </a:solidFill>
              <a:sym typeface="+mn-ea"/>
            </a:endParaRPr>
          </a:p>
        </p:txBody>
      </p:sp>
      <p:sp>
        <p:nvSpPr>
          <p:cNvPr id="46" name="任意多边形: 形状 45"/>
          <p:cNvSpPr/>
          <p:nvPr>
            <p:custDataLst>
              <p:tags r:id="rId3"/>
            </p:custDataLst>
          </p:nvPr>
        </p:nvSpPr>
        <p:spPr>
          <a:xfrm>
            <a:off x="4676314" y="1454677"/>
            <a:ext cx="1965528" cy="2394614"/>
          </a:xfrm>
          <a:custGeom>
            <a:avLst/>
            <a:gdLst>
              <a:gd name="connsiteX0" fmla="*/ 555837 w 555974"/>
              <a:gd name="connsiteY0" fmla="*/ 15170 h 677501"/>
              <a:gd name="connsiteX1" fmla="*/ 555837 w 555974"/>
              <a:gd name="connsiteY1" fmla="*/ 661727 h 677501"/>
              <a:gd name="connsiteX2" fmla="*/ 540550 w 555974"/>
              <a:gd name="connsiteY2" fmla="*/ 677291 h 677501"/>
              <a:gd name="connsiteX3" fmla="*/ 539264 w 555974"/>
              <a:gd name="connsiteY3" fmla="*/ 677253 h 677501"/>
              <a:gd name="connsiteX4" fmla="*/ 15389 w 555974"/>
              <a:gd name="connsiteY4" fmla="*/ 658964 h 677501"/>
              <a:gd name="connsiteX5" fmla="*/ -137 w 555974"/>
              <a:gd name="connsiteY5" fmla="*/ 643344 h 677501"/>
              <a:gd name="connsiteX6" fmla="*/ -137 w 555974"/>
              <a:gd name="connsiteY6" fmla="*/ 33744 h 677501"/>
              <a:gd name="connsiteX7" fmla="*/ 15389 w 555974"/>
              <a:gd name="connsiteY7" fmla="*/ 18123 h 677501"/>
              <a:gd name="connsiteX8" fmla="*/ 539264 w 555974"/>
              <a:gd name="connsiteY8" fmla="*/ -165 h 677501"/>
              <a:gd name="connsiteX9" fmla="*/ 555799 w 555974"/>
              <a:gd name="connsiteY9" fmla="*/ 14084 h 677501"/>
              <a:gd name="connsiteX10" fmla="*/ 555837 w 555974"/>
              <a:gd name="connsiteY10" fmla="*/ 15170 h 67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5974" h="677501">
                <a:moveTo>
                  <a:pt x="555837" y="15170"/>
                </a:moveTo>
                <a:lnTo>
                  <a:pt x="555837" y="661727"/>
                </a:lnTo>
                <a:cubicBezTo>
                  <a:pt x="555914" y="670251"/>
                  <a:pt x="549065" y="677214"/>
                  <a:pt x="540550" y="677291"/>
                </a:cubicBezTo>
                <a:cubicBezTo>
                  <a:pt x="540121" y="677300"/>
                  <a:pt x="539692" y="677281"/>
                  <a:pt x="539264" y="677253"/>
                </a:cubicBezTo>
                <a:cubicBezTo>
                  <a:pt x="375148" y="666585"/>
                  <a:pt x="198936" y="660203"/>
                  <a:pt x="15389" y="658964"/>
                </a:cubicBezTo>
                <a:cubicBezTo>
                  <a:pt x="6816" y="658860"/>
                  <a:pt x="-89" y="651916"/>
                  <a:pt x="-137" y="643344"/>
                </a:cubicBezTo>
                <a:lnTo>
                  <a:pt x="-137" y="33744"/>
                </a:lnTo>
                <a:cubicBezTo>
                  <a:pt x="-89" y="25171"/>
                  <a:pt x="6816" y="18227"/>
                  <a:pt x="15389" y="18123"/>
                </a:cubicBezTo>
                <a:cubicBezTo>
                  <a:pt x="198936" y="16884"/>
                  <a:pt x="375148" y="10502"/>
                  <a:pt x="539264" y="-165"/>
                </a:cubicBezTo>
                <a:cubicBezTo>
                  <a:pt x="547760" y="-794"/>
                  <a:pt x="555161" y="5578"/>
                  <a:pt x="555799" y="14084"/>
                </a:cubicBezTo>
                <a:cubicBezTo>
                  <a:pt x="555818" y="14446"/>
                  <a:pt x="555837" y="14808"/>
                  <a:pt x="555837" y="15170"/>
                </a:cubicBezTo>
                <a:close/>
              </a:path>
            </a:pathLst>
          </a:custGeom>
          <a:gradFill>
            <a:gsLst>
              <a:gs pos="0">
                <a:schemeClr val="accent1">
                  <a:alpha val="3000"/>
                </a:schemeClr>
              </a:gs>
              <a:gs pos="100000">
                <a:schemeClr val="accent1">
                  <a:alpha val="30000"/>
                </a:scheme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520">
              <a:solidFill>
                <a:schemeClr val="tx1"/>
              </a:solidFill>
              <a:sym typeface="+mn-ea"/>
            </a:endParaRPr>
          </a:p>
        </p:txBody>
      </p:sp>
      <p:sp>
        <p:nvSpPr>
          <p:cNvPr id="47" name="任意多边形: 形状 46"/>
          <p:cNvSpPr/>
          <p:nvPr>
            <p:custDataLst>
              <p:tags r:id="rId4"/>
            </p:custDataLst>
          </p:nvPr>
        </p:nvSpPr>
        <p:spPr>
          <a:xfrm>
            <a:off x="7025281" y="1173274"/>
            <a:ext cx="1965528" cy="2950977"/>
          </a:xfrm>
          <a:custGeom>
            <a:avLst/>
            <a:gdLst>
              <a:gd name="connsiteX0" fmla="*/ 555838 w 555975"/>
              <a:gd name="connsiteY0" fmla="*/ 15413 h 834771"/>
              <a:gd name="connsiteX1" fmla="*/ 555838 w 555975"/>
              <a:gd name="connsiteY1" fmla="*/ 818942 h 834771"/>
              <a:gd name="connsiteX2" fmla="*/ 540407 w 555975"/>
              <a:gd name="connsiteY2" fmla="*/ 834563 h 834771"/>
              <a:gd name="connsiteX3" fmla="*/ 537359 w 555975"/>
              <a:gd name="connsiteY3" fmla="*/ 834277 h 834771"/>
              <a:gd name="connsiteX4" fmla="*/ 14246 w 555975"/>
              <a:gd name="connsiteY4" fmla="*/ 766459 h 834771"/>
              <a:gd name="connsiteX5" fmla="*/ -137 w 555975"/>
              <a:gd name="connsiteY5" fmla="*/ 750838 h 834771"/>
              <a:gd name="connsiteX6" fmla="*/ -137 w 555975"/>
              <a:gd name="connsiteY6" fmla="*/ 83517 h 834771"/>
              <a:gd name="connsiteX7" fmla="*/ 14246 w 555975"/>
              <a:gd name="connsiteY7" fmla="*/ 67896 h 834771"/>
              <a:gd name="connsiteX8" fmla="*/ 537359 w 555975"/>
              <a:gd name="connsiteY8" fmla="*/ 78 h 834771"/>
              <a:gd name="connsiteX9" fmla="*/ 555552 w 555975"/>
              <a:gd name="connsiteY9" fmla="*/ 12365 h 834771"/>
              <a:gd name="connsiteX10" fmla="*/ 555838 w 555975"/>
              <a:gd name="connsiteY10" fmla="*/ 15413 h 83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5975" h="834771">
                <a:moveTo>
                  <a:pt x="555838" y="15413"/>
                </a:moveTo>
                <a:lnTo>
                  <a:pt x="555838" y="818942"/>
                </a:lnTo>
                <a:cubicBezTo>
                  <a:pt x="555885" y="827515"/>
                  <a:pt x="548980" y="834506"/>
                  <a:pt x="540407" y="834563"/>
                </a:cubicBezTo>
                <a:cubicBezTo>
                  <a:pt x="539388" y="834563"/>
                  <a:pt x="538359" y="834468"/>
                  <a:pt x="537359" y="834277"/>
                </a:cubicBezTo>
                <a:cubicBezTo>
                  <a:pt x="364261" y="802759"/>
                  <a:pt x="189659" y="780118"/>
                  <a:pt x="14246" y="766459"/>
                </a:cubicBezTo>
                <a:cubicBezTo>
                  <a:pt x="6131" y="765764"/>
                  <a:pt x="-118" y="758982"/>
                  <a:pt x="-137" y="750838"/>
                </a:cubicBezTo>
                <a:lnTo>
                  <a:pt x="-137" y="83517"/>
                </a:lnTo>
                <a:cubicBezTo>
                  <a:pt x="-118" y="75373"/>
                  <a:pt x="6131" y="68591"/>
                  <a:pt x="14246" y="67896"/>
                </a:cubicBezTo>
                <a:cubicBezTo>
                  <a:pt x="189659" y="54237"/>
                  <a:pt x="364261" y="31596"/>
                  <a:pt x="537359" y="78"/>
                </a:cubicBezTo>
                <a:cubicBezTo>
                  <a:pt x="545779" y="-1551"/>
                  <a:pt x="553923" y="3945"/>
                  <a:pt x="555552" y="12365"/>
                </a:cubicBezTo>
                <a:cubicBezTo>
                  <a:pt x="555752" y="13374"/>
                  <a:pt x="555847" y="14394"/>
                  <a:pt x="555838" y="15413"/>
                </a:cubicBezTo>
                <a:close/>
              </a:path>
            </a:pathLst>
          </a:custGeom>
          <a:gradFill>
            <a:gsLst>
              <a:gs pos="0">
                <a:schemeClr val="accent2">
                  <a:alpha val="3000"/>
                </a:schemeClr>
              </a:gs>
              <a:gs pos="100000">
                <a:schemeClr val="accent2">
                  <a:alpha val="30000"/>
                </a:schemeClr>
              </a:gs>
            </a:gsLst>
            <a:lin ang="5400000" scaled="0"/>
          </a:gradFill>
          <a:ln w="9525" cap="flat">
            <a:gradFill>
              <a:gsLst>
                <a:gs pos="100000">
                  <a:schemeClr val="accent2">
                    <a:alpha val="0"/>
                  </a:schemeClr>
                </a:gs>
                <a:gs pos="0">
                  <a:schemeClr val="accent2">
                    <a:alpha val="20000"/>
                  </a:schemeClr>
                </a:gs>
              </a:gsLst>
              <a:lin ang="5400000"/>
              <a:tileRect/>
            </a:gradFill>
            <a:prstDash val="solid"/>
            <a:miter/>
          </a:ln>
          <a:effectLst/>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520">
              <a:solidFill>
                <a:schemeClr val="tx1"/>
              </a:solidFill>
              <a:sym typeface="+mn-ea"/>
            </a:endParaRPr>
          </a:p>
        </p:txBody>
      </p:sp>
      <p:sp>
        <p:nvSpPr>
          <p:cNvPr id="35" name="椭圆 34"/>
          <p:cNvSpPr/>
          <p:nvPr>
            <p:custDataLst>
              <p:tags r:id="rId5"/>
            </p:custDataLst>
          </p:nvPr>
        </p:nvSpPr>
        <p:spPr>
          <a:xfrm>
            <a:off x="1474545" y="3959919"/>
            <a:ext cx="6040507" cy="987060"/>
          </a:xfrm>
          <a:prstGeom prst="ellipse">
            <a:avLst/>
          </a:prstGeom>
          <a:solidFill>
            <a:schemeClr val="accent1"/>
          </a:soli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520">
              <a:solidFill>
                <a:schemeClr val="accent1"/>
              </a:solidFill>
            </a:endParaRPr>
          </a:p>
        </p:txBody>
      </p:sp>
      <p:sp>
        <p:nvSpPr>
          <p:cNvPr id="36" name="标题"/>
          <p:cNvSpPr txBox="1"/>
          <p:nvPr>
            <p:custDataLst>
              <p:tags r:id="rId6"/>
            </p:custDataLst>
          </p:nvPr>
        </p:nvSpPr>
        <p:spPr>
          <a:xfrm>
            <a:off x="2037566" y="4345067"/>
            <a:ext cx="4987392" cy="362495"/>
          </a:xfrm>
          <a:prstGeom prst="rect">
            <a:avLst/>
          </a:prstGeom>
          <a:noFill/>
          <a:effectLst/>
        </p:spPr>
        <p:txBody>
          <a:bodyPr wrap="square" lIns="0" tIns="0" rIns="0" bIns="0" rtlCol="0" anchor="ctr">
            <a:noAutofit/>
          </a:bodyPr>
          <a:lstStyle/>
          <a:p>
            <a:pPr algn="ctr"/>
            <a:r>
              <a:rPr lang="zh-CN" altLang="en-US" sz="2800" b="1">
                <a:solidFill>
                  <a:schemeClr val="bg1"/>
                </a:solidFill>
                <a:latin typeface="楷体" panose="02010609060101010101" charset="-122"/>
                <a:ea typeface="楷体" panose="02010609060101010101" charset="-122"/>
                <a:sym typeface="+mn-ea"/>
              </a:rPr>
              <a:t>教材中存在的共性问题</a:t>
            </a:r>
            <a:endParaRPr lang="zh-CN" altLang="en-US" sz="2800" b="1" spc="300" dirty="0">
              <a:solidFill>
                <a:schemeClr val="bg1"/>
              </a:solidFill>
              <a:effectLst/>
              <a:latin typeface="楷体" panose="02010609060101010101" charset="-122"/>
              <a:ea typeface="楷体" panose="02010609060101010101" charset="-122"/>
              <a:sym typeface="+mn-ea"/>
            </a:endParaRPr>
          </a:p>
        </p:txBody>
      </p:sp>
      <p:sp>
        <p:nvSpPr>
          <p:cNvPr id="37" name="椭圆 36"/>
          <p:cNvSpPr/>
          <p:nvPr>
            <p:custDataLst>
              <p:tags r:id="rId7"/>
            </p:custDataLst>
          </p:nvPr>
        </p:nvSpPr>
        <p:spPr>
          <a:xfrm>
            <a:off x="860183" y="3960993"/>
            <a:ext cx="7269230" cy="1149243"/>
          </a:xfrm>
          <a:prstGeom prst="ellipse">
            <a:avLst/>
          </a:prstGeom>
          <a:noFill/>
          <a:ln>
            <a:gradFill>
              <a:gsLst>
                <a:gs pos="0">
                  <a:schemeClr val="accent1">
                    <a:alpha val="0"/>
                  </a:schemeClr>
                </a:gs>
                <a:gs pos="100000">
                  <a:schemeClr val="accent1">
                    <a:alpha val="55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520">
              <a:solidFill>
                <a:schemeClr val="lt1"/>
              </a:solidFill>
            </a:endParaRPr>
          </a:p>
        </p:txBody>
      </p:sp>
      <p:sp>
        <p:nvSpPr>
          <p:cNvPr id="38" name="任意多边形: 形状 20"/>
          <p:cNvSpPr/>
          <p:nvPr>
            <p:custDataLst>
              <p:tags r:id="rId8"/>
            </p:custDataLst>
          </p:nvPr>
        </p:nvSpPr>
        <p:spPr>
          <a:xfrm>
            <a:off x="954701" y="4708001"/>
            <a:ext cx="1138502" cy="415124"/>
          </a:xfrm>
          <a:custGeom>
            <a:avLst/>
            <a:gdLst>
              <a:gd name="connsiteX0" fmla="*/ 2116 w 2120"/>
              <a:gd name="connsiteY0" fmla="*/ 557 h 773"/>
              <a:gd name="connsiteX1" fmla="*/ 2120 w 2120"/>
              <a:gd name="connsiteY1" fmla="*/ 773 h 773"/>
              <a:gd name="connsiteX2" fmla="*/ 0 w 2120"/>
              <a:gd name="connsiteY2" fmla="*/ 201 h 773"/>
              <a:gd name="connsiteX3" fmla="*/ 15 w 2120"/>
              <a:gd name="connsiteY3" fmla="*/ 0 h 773"/>
              <a:gd name="connsiteX4" fmla="*/ 2116 w 2120"/>
              <a:gd name="connsiteY4" fmla="*/ 557 h 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 h="773">
                <a:moveTo>
                  <a:pt x="2116" y="557"/>
                </a:moveTo>
                <a:lnTo>
                  <a:pt x="2120" y="773"/>
                </a:lnTo>
                <a:cubicBezTo>
                  <a:pt x="2120" y="773"/>
                  <a:pt x="252" y="516"/>
                  <a:pt x="0" y="201"/>
                </a:cubicBezTo>
                <a:lnTo>
                  <a:pt x="15" y="0"/>
                </a:lnTo>
                <a:cubicBezTo>
                  <a:pt x="15" y="0"/>
                  <a:pt x="159" y="270"/>
                  <a:pt x="2116" y="557"/>
                </a:cubicBezTo>
                <a:close/>
              </a:path>
            </a:pathLst>
          </a:custGeom>
          <a:gradFill>
            <a:gsLst>
              <a:gs pos="12000">
                <a:schemeClr val="accent1">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520">
              <a:solidFill>
                <a:schemeClr val="tx1"/>
              </a:solidFill>
            </a:endParaRPr>
          </a:p>
        </p:txBody>
      </p:sp>
      <p:sp>
        <p:nvSpPr>
          <p:cNvPr id="39" name="任意多边形: 形状 21"/>
          <p:cNvSpPr/>
          <p:nvPr>
            <p:custDataLst>
              <p:tags r:id="rId9"/>
            </p:custDataLst>
          </p:nvPr>
        </p:nvSpPr>
        <p:spPr>
          <a:xfrm>
            <a:off x="6379235" y="4677928"/>
            <a:ext cx="2114822" cy="515548"/>
          </a:xfrm>
          <a:custGeom>
            <a:avLst/>
            <a:gdLst>
              <a:gd name="connsiteX0" fmla="*/ 3740 w 3740"/>
              <a:gd name="connsiteY0" fmla="*/ 0 h 960"/>
              <a:gd name="connsiteX1" fmla="*/ 3740 w 3740"/>
              <a:gd name="connsiteY1" fmla="*/ 234 h 960"/>
              <a:gd name="connsiteX2" fmla="*/ 11 w 3740"/>
              <a:gd name="connsiteY2" fmla="*/ 960 h 960"/>
              <a:gd name="connsiteX3" fmla="*/ 0 w 3740"/>
              <a:gd name="connsiteY3" fmla="*/ 758 h 960"/>
              <a:gd name="connsiteX4" fmla="*/ 3740 w 3740"/>
              <a:gd name="connsiteY4" fmla="*/ 0 h 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 h="960">
                <a:moveTo>
                  <a:pt x="3740" y="0"/>
                </a:moveTo>
                <a:lnTo>
                  <a:pt x="3740" y="234"/>
                </a:lnTo>
                <a:cubicBezTo>
                  <a:pt x="3740" y="234"/>
                  <a:pt x="2879" y="744"/>
                  <a:pt x="11" y="960"/>
                </a:cubicBezTo>
                <a:lnTo>
                  <a:pt x="0" y="758"/>
                </a:lnTo>
                <a:cubicBezTo>
                  <a:pt x="0" y="758"/>
                  <a:pt x="2513" y="657"/>
                  <a:pt x="3740" y="0"/>
                </a:cubicBezTo>
                <a:close/>
              </a:path>
            </a:pathLst>
          </a:custGeom>
          <a:gradFill>
            <a:gsLst>
              <a:gs pos="12000">
                <a:schemeClr val="accent1">
                  <a:lumMod val="60000"/>
                  <a:lumOff val="40000"/>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520">
                <a:solidFill>
                  <a:schemeClr val="tx1"/>
                </a:solidFill>
              </a:rPr>
              <a:t>   </a:t>
            </a:r>
          </a:p>
        </p:txBody>
      </p:sp>
      <p:sp>
        <p:nvSpPr>
          <p:cNvPr id="40" name="椭圆 39"/>
          <p:cNvSpPr/>
          <p:nvPr>
            <p:custDataLst>
              <p:tags r:id="rId10"/>
            </p:custDataLst>
          </p:nvPr>
        </p:nvSpPr>
        <p:spPr>
          <a:xfrm>
            <a:off x="307580" y="3959919"/>
            <a:ext cx="8374437" cy="1309278"/>
          </a:xfrm>
          <a:prstGeom prst="ellipse">
            <a:avLst/>
          </a:prstGeom>
          <a:noFill/>
          <a:ln>
            <a:gradFill>
              <a:gsLst>
                <a:gs pos="66000">
                  <a:srgbClr val="376FFF">
                    <a:alpha val="0"/>
                  </a:srgbClr>
                </a:gs>
                <a:gs pos="14000">
                  <a:schemeClr val="accent1">
                    <a:alpha val="0"/>
                  </a:schemeClr>
                </a:gs>
                <a:gs pos="0">
                  <a:srgbClr val="376FFF">
                    <a:alpha val="16000"/>
                  </a:srgbClr>
                </a:gs>
                <a:gs pos="100000">
                  <a:schemeClr val="accent1">
                    <a:alpha val="2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520">
              <a:solidFill>
                <a:schemeClr val="lt1"/>
              </a:solidFill>
            </a:endParaRPr>
          </a:p>
        </p:txBody>
      </p:sp>
      <p:sp>
        <p:nvSpPr>
          <p:cNvPr id="41" name="任意多边形: 形状 23"/>
          <p:cNvSpPr/>
          <p:nvPr>
            <p:custDataLst>
              <p:tags r:id="rId11"/>
            </p:custDataLst>
          </p:nvPr>
        </p:nvSpPr>
        <p:spPr>
          <a:xfrm>
            <a:off x="8347985" y="3788070"/>
            <a:ext cx="719082" cy="239515"/>
          </a:xfrm>
          <a:custGeom>
            <a:avLst/>
            <a:gdLst>
              <a:gd name="connsiteX0" fmla="*/ 277747 w 277844"/>
              <a:gd name="connsiteY0" fmla="*/ 39725 h 92868"/>
              <a:gd name="connsiteX1" fmla="*/ 277747 w 277844"/>
              <a:gd name="connsiteY1" fmla="*/ 92684 h 92868"/>
              <a:gd name="connsiteX2" fmla="*/ -97 w 277844"/>
              <a:gd name="connsiteY2" fmla="*/ 53727 h 92868"/>
              <a:gd name="connsiteX3" fmla="*/ -97 w 277844"/>
              <a:gd name="connsiteY3" fmla="*/ -184 h 92868"/>
            </a:gdLst>
            <a:ahLst/>
            <a:cxnLst>
              <a:cxn ang="0">
                <a:pos x="connsiteX0" y="connsiteY0"/>
              </a:cxn>
              <a:cxn ang="0">
                <a:pos x="connsiteX1" y="connsiteY1"/>
              </a:cxn>
              <a:cxn ang="0">
                <a:pos x="connsiteX2" y="connsiteY2"/>
              </a:cxn>
              <a:cxn ang="0">
                <a:pos x="connsiteX3" y="connsiteY3"/>
              </a:cxn>
            </a:cxnLst>
            <a:rect l="l" t="t" r="r" b="b"/>
            <a:pathLst>
              <a:path w="277844" h="92868">
                <a:moveTo>
                  <a:pt x="277747" y="39725"/>
                </a:moveTo>
                <a:lnTo>
                  <a:pt x="277747" y="92684"/>
                </a:lnTo>
                <a:cubicBezTo>
                  <a:pt x="277747" y="92684"/>
                  <a:pt x="50099" y="59252"/>
                  <a:pt x="-97" y="53727"/>
                </a:cubicBezTo>
                <a:lnTo>
                  <a:pt x="-97" y="-184"/>
                </a:lnTo>
                <a:close/>
              </a:path>
            </a:pathLst>
          </a:custGeom>
          <a:gradFill>
            <a:gsLst>
              <a:gs pos="12000">
                <a:schemeClr val="accent2">
                  <a:alpha val="0"/>
                </a:schemeClr>
              </a:gs>
              <a:gs pos="100000">
                <a:schemeClr val="accent2">
                  <a:alpha val="44000"/>
                </a:schemeClr>
              </a:gs>
            </a:gsLst>
            <a:lin ang="0" scaled="0"/>
          </a:gradFill>
          <a:ln w="9525" cap="flat">
            <a:noFill/>
            <a:prstDash val="solid"/>
            <a:miter/>
          </a:ln>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520">
              <a:solidFill>
                <a:schemeClr val="tx1"/>
              </a:solidFill>
            </a:endParaRPr>
          </a:p>
        </p:txBody>
      </p:sp>
      <p:sp>
        <p:nvSpPr>
          <p:cNvPr id="42" name="任意多边形: 形状 23"/>
          <p:cNvSpPr/>
          <p:nvPr>
            <p:custDataLst>
              <p:tags r:id="rId12"/>
            </p:custDataLst>
          </p:nvPr>
        </p:nvSpPr>
        <p:spPr>
          <a:xfrm flipH="1">
            <a:off x="-76933" y="3800959"/>
            <a:ext cx="719082" cy="239515"/>
          </a:xfrm>
          <a:custGeom>
            <a:avLst/>
            <a:gdLst>
              <a:gd name="connsiteX0" fmla="*/ 277747 w 277844"/>
              <a:gd name="connsiteY0" fmla="*/ 39725 h 92868"/>
              <a:gd name="connsiteX1" fmla="*/ 277747 w 277844"/>
              <a:gd name="connsiteY1" fmla="*/ 92684 h 92868"/>
              <a:gd name="connsiteX2" fmla="*/ -97 w 277844"/>
              <a:gd name="connsiteY2" fmla="*/ 53727 h 92868"/>
              <a:gd name="connsiteX3" fmla="*/ -97 w 277844"/>
              <a:gd name="connsiteY3" fmla="*/ -184 h 92868"/>
            </a:gdLst>
            <a:ahLst/>
            <a:cxnLst>
              <a:cxn ang="0">
                <a:pos x="connsiteX0" y="connsiteY0"/>
              </a:cxn>
              <a:cxn ang="0">
                <a:pos x="connsiteX1" y="connsiteY1"/>
              </a:cxn>
              <a:cxn ang="0">
                <a:pos x="connsiteX2" y="connsiteY2"/>
              </a:cxn>
              <a:cxn ang="0">
                <a:pos x="connsiteX3" y="connsiteY3"/>
              </a:cxn>
            </a:cxnLst>
            <a:rect l="l" t="t" r="r" b="b"/>
            <a:pathLst>
              <a:path w="277844" h="92868">
                <a:moveTo>
                  <a:pt x="277747" y="39725"/>
                </a:moveTo>
                <a:lnTo>
                  <a:pt x="277747" y="92684"/>
                </a:lnTo>
                <a:cubicBezTo>
                  <a:pt x="277747" y="92684"/>
                  <a:pt x="50099" y="59252"/>
                  <a:pt x="-97" y="53727"/>
                </a:cubicBezTo>
                <a:lnTo>
                  <a:pt x="-97" y="-184"/>
                </a:lnTo>
                <a:close/>
              </a:path>
            </a:pathLst>
          </a:custGeom>
          <a:gradFill>
            <a:gsLst>
              <a:gs pos="12000">
                <a:schemeClr val="accent1">
                  <a:alpha val="0"/>
                </a:schemeClr>
              </a:gs>
              <a:gs pos="100000">
                <a:schemeClr val="accent1">
                  <a:alpha val="44000"/>
                </a:schemeClr>
              </a:gs>
            </a:gsLst>
            <a:lin ang="0" scaled="0"/>
          </a:gradFill>
          <a:ln w="9525" cap="flat">
            <a:noFill/>
            <a:prstDash val="solid"/>
            <a:miter/>
          </a:ln>
        </p:spPr>
        <p:txBody>
          <a:bodyPr rot="0" spcFirstLastPara="0" vertOverflow="overflow" horzOverflow="overflow" vert="horz" wrap="square" lIns="77332" tIns="38666" rIns="77332" bIns="3866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520">
              <a:solidFill>
                <a:schemeClr val="tx1"/>
              </a:solidFill>
            </a:endParaRPr>
          </a:p>
        </p:txBody>
      </p:sp>
      <p:sp>
        <p:nvSpPr>
          <p:cNvPr id="43" name="标题"/>
          <p:cNvSpPr txBox="1"/>
          <p:nvPr>
            <p:custDataLst>
              <p:tags r:id="rId13"/>
            </p:custDataLst>
          </p:nvPr>
        </p:nvSpPr>
        <p:spPr>
          <a:xfrm>
            <a:off x="116840" y="2237105"/>
            <a:ext cx="1762760" cy="563880"/>
          </a:xfrm>
          <a:prstGeom prst="rect">
            <a:avLst/>
          </a:prstGeom>
          <a:noFill/>
        </p:spPr>
        <p:txBody>
          <a:bodyPr wrap="square" lIns="0" tIns="0" rIns="0" bIns="0" rtlCol="0" anchor="ctr">
            <a:noAutofit/>
          </a:bodyPr>
          <a:lstStyle/>
          <a:p>
            <a:pPr algn="l"/>
            <a:r>
              <a:rPr lang="zh-CN" altLang="en-US" sz="2000">
                <a:latin typeface="楷体" panose="02010609060101010101" charset="-122"/>
                <a:ea typeface="楷体" panose="02010609060101010101" charset="-122"/>
                <a:sym typeface="+mn-ea"/>
              </a:rPr>
              <a:t>教材欠缺交际性、意义性的练习和活动。</a:t>
            </a:r>
            <a:endParaRPr lang="zh-CN" altLang="en-US" sz="2000" b="1" spc="300" dirty="0">
              <a:solidFill>
                <a:schemeClr val="accent1"/>
              </a:solidFill>
              <a:latin typeface="楷体" panose="02010609060101010101" charset="-122"/>
              <a:ea typeface="楷体" panose="02010609060101010101" charset="-122"/>
              <a:sym typeface="+mn-ea"/>
            </a:endParaRPr>
          </a:p>
        </p:txBody>
      </p:sp>
      <p:sp>
        <p:nvSpPr>
          <p:cNvPr id="61" name="任意多边形 60"/>
          <p:cNvSpPr/>
          <p:nvPr>
            <p:custDataLst>
              <p:tags r:id="rId14"/>
            </p:custDataLst>
          </p:nvPr>
        </p:nvSpPr>
        <p:spPr>
          <a:xfrm>
            <a:off x="178693" y="1089497"/>
            <a:ext cx="8715451" cy="321681"/>
          </a:xfrm>
          <a:custGeom>
            <a:avLst/>
            <a:gdLst>
              <a:gd name="connsiteX0" fmla="*/ 16009 w 16009"/>
              <a:gd name="connsiteY0" fmla="*/ 4 h 567"/>
              <a:gd name="connsiteX1" fmla="*/ 8012 w 16009"/>
              <a:gd name="connsiteY1" fmla="*/ 567 h 567"/>
              <a:gd name="connsiteX2" fmla="*/ 16 w 16009"/>
              <a:gd name="connsiteY2" fmla="*/ 4 h 567"/>
              <a:gd name="connsiteX3" fmla="*/ 0 w 16009"/>
              <a:gd name="connsiteY3" fmla="*/ 0 h 567"/>
            </a:gdLst>
            <a:ahLst/>
            <a:cxnLst>
              <a:cxn ang="0">
                <a:pos x="connsiteX0" y="connsiteY0"/>
              </a:cxn>
              <a:cxn ang="0">
                <a:pos x="connsiteX1" y="connsiteY1"/>
              </a:cxn>
              <a:cxn ang="0">
                <a:pos x="connsiteX2" y="connsiteY2"/>
              </a:cxn>
              <a:cxn ang="0">
                <a:pos x="connsiteX3" y="connsiteY3"/>
              </a:cxn>
            </a:cxnLst>
            <a:rect l="l" t="t" r="r" b="b"/>
            <a:pathLst>
              <a:path w="16009" h="567">
                <a:moveTo>
                  <a:pt x="16009" y="4"/>
                </a:moveTo>
                <a:cubicBezTo>
                  <a:pt x="14662" y="336"/>
                  <a:pt x="11588" y="567"/>
                  <a:pt x="8012" y="567"/>
                </a:cubicBezTo>
                <a:cubicBezTo>
                  <a:pt x="4436" y="567"/>
                  <a:pt x="1363" y="336"/>
                  <a:pt x="16" y="4"/>
                </a:cubicBezTo>
                <a:lnTo>
                  <a:pt x="0" y="0"/>
                </a:lnTo>
              </a:path>
            </a:pathLst>
          </a:custGeom>
          <a:noFill/>
          <a:ln w="12700">
            <a:gradFill>
              <a:gsLst>
                <a:gs pos="100000">
                  <a:schemeClr val="accent2">
                    <a:alpha val="0"/>
                  </a:schemeClr>
                </a:gs>
                <a:gs pos="0">
                  <a:schemeClr val="accent2">
                    <a:alpha val="15000"/>
                  </a:schemeClr>
                </a:gs>
              </a:gsLst>
              <a:path path="circle">
                <a:fillToRect l="50000" t="50000" r="50000" b="50000"/>
              </a:path>
              <a:tileRect/>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50000"/>
              </a:lnSpc>
              <a:buClrTx/>
              <a:buSzTx/>
              <a:buFontTx/>
            </a:pPr>
            <a:r>
              <a:rPr lang="en-US" altLang="zh-CN" sz="845" dirty="0">
                <a:solidFill>
                  <a:schemeClr val="accent2"/>
                </a:solidFill>
                <a:cs typeface="微软雅黑" panose="020B0503020204020204" charset="-122"/>
                <a:sym typeface="+mn-ea"/>
              </a:rPr>
              <a:t> </a:t>
            </a:r>
          </a:p>
        </p:txBody>
      </p:sp>
      <p:sp>
        <p:nvSpPr>
          <p:cNvPr id="63" name="标题"/>
          <p:cNvSpPr txBox="1"/>
          <p:nvPr>
            <p:custDataLst>
              <p:tags r:id="rId15"/>
            </p:custDataLst>
          </p:nvPr>
        </p:nvSpPr>
        <p:spPr>
          <a:xfrm>
            <a:off x="2530475" y="2404110"/>
            <a:ext cx="1762760" cy="563880"/>
          </a:xfrm>
          <a:prstGeom prst="rect">
            <a:avLst/>
          </a:prstGeom>
          <a:noFill/>
        </p:spPr>
        <p:txBody>
          <a:bodyPr wrap="square" lIns="0" tIns="0" rIns="0" bIns="0" rtlCol="0" anchor="ctr">
            <a:noAutofit/>
          </a:bodyPr>
          <a:lstStyle/>
          <a:p>
            <a:pPr algn="l"/>
            <a:r>
              <a:rPr lang="zh-CN" altLang="en-US" sz="2000">
                <a:latin typeface="楷体" panose="02010609060101010101" charset="-122"/>
                <a:ea typeface="楷体" panose="02010609060101010101" charset="-122"/>
                <a:sym typeface="+mn-ea"/>
              </a:rPr>
              <a:t>教材中的技能练习缺乏应有的重视。</a:t>
            </a:r>
            <a:endParaRPr lang="zh-CN" altLang="en-US" sz="2000" b="0">
              <a:latin typeface="楷体" panose="02010609060101010101" charset="-122"/>
              <a:ea typeface="楷体" panose="02010609060101010101" charset="-122"/>
            </a:endParaRPr>
          </a:p>
          <a:p>
            <a:pPr algn="l"/>
            <a:endParaRPr lang="zh-CN" altLang="en-US" sz="2000" b="1" spc="300" dirty="0">
              <a:solidFill>
                <a:schemeClr val="accent1"/>
              </a:solidFill>
              <a:latin typeface="楷体" panose="02010609060101010101" charset="-122"/>
              <a:ea typeface="楷体" panose="02010609060101010101" charset="-122"/>
              <a:sym typeface="+mn-ea"/>
            </a:endParaRPr>
          </a:p>
        </p:txBody>
      </p:sp>
      <p:sp>
        <p:nvSpPr>
          <p:cNvPr id="64" name="标题"/>
          <p:cNvSpPr txBox="1"/>
          <p:nvPr>
            <p:custDataLst>
              <p:tags r:id="rId16"/>
            </p:custDataLst>
          </p:nvPr>
        </p:nvSpPr>
        <p:spPr>
          <a:xfrm>
            <a:off x="4782185" y="2335530"/>
            <a:ext cx="1762760" cy="563880"/>
          </a:xfrm>
          <a:prstGeom prst="rect">
            <a:avLst/>
          </a:prstGeom>
          <a:noFill/>
        </p:spPr>
        <p:txBody>
          <a:bodyPr wrap="square" lIns="0" tIns="0" rIns="0" bIns="0" rtlCol="0" anchor="ctr">
            <a:noAutofit/>
          </a:bodyPr>
          <a:lstStyle/>
          <a:p>
            <a:pPr algn="l"/>
            <a:r>
              <a:rPr lang="zh-CN" altLang="en-US" sz="2000">
                <a:latin typeface="楷体" panose="02010609060101010101" charset="-122"/>
                <a:ea typeface="楷体" panose="02010609060101010101" charset="-122"/>
                <a:sym typeface="+mn-ea"/>
              </a:rPr>
              <a:t>教材语言的真实性、地道程度仍有待提高。</a:t>
            </a:r>
            <a:endParaRPr lang="zh-CN" altLang="en-US" sz="2000" b="0">
              <a:latin typeface="楷体" panose="02010609060101010101" charset="-122"/>
              <a:ea typeface="楷体" panose="02010609060101010101" charset="-122"/>
            </a:endParaRPr>
          </a:p>
          <a:p>
            <a:pPr algn="l"/>
            <a:endParaRPr lang="zh-CN" altLang="en-US" sz="2000" b="1" spc="300" dirty="0">
              <a:solidFill>
                <a:schemeClr val="accent1"/>
              </a:solidFill>
              <a:latin typeface="楷体" panose="02010609060101010101" charset="-122"/>
              <a:ea typeface="楷体" panose="02010609060101010101" charset="-122"/>
              <a:sym typeface="+mn-ea"/>
            </a:endParaRPr>
          </a:p>
        </p:txBody>
      </p:sp>
      <p:sp>
        <p:nvSpPr>
          <p:cNvPr id="65" name="标题"/>
          <p:cNvSpPr txBox="1"/>
          <p:nvPr>
            <p:custDataLst>
              <p:tags r:id="rId17"/>
            </p:custDataLst>
          </p:nvPr>
        </p:nvSpPr>
        <p:spPr>
          <a:xfrm>
            <a:off x="7228205" y="2237105"/>
            <a:ext cx="1762760" cy="563880"/>
          </a:xfrm>
          <a:prstGeom prst="rect">
            <a:avLst/>
          </a:prstGeom>
          <a:noFill/>
        </p:spPr>
        <p:txBody>
          <a:bodyPr wrap="square" lIns="0" tIns="0" rIns="0" bIns="0" rtlCol="0" anchor="ctr">
            <a:noAutofit/>
          </a:bodyPr>
          <a:lstStyle/>
          <a:p>
            <a:pPr algn="l"/>
            <a:r>
              <a:rPr lang="zh-CN" altLang="en-US" sz="2000">
                <a:latin typeface="楷体" panose="02010609060101010101" charset="-122"/>
                <a:ea typeface="楷体" panose="02010609060101010101" charset="-122"/>
                <a:sym typeface="+mn-ea"/>
              </a:rPr>
              <a:t>教材的内容缺乏真实性，话题存在过时性。</a:t>
            </a:r>
          </a:p>
          <a:p>
            <a:pPr algn="l"/>
            <a:endParaRPr lang="zh-CN" altLang="en-US" sz="2000">
              <a:latin typeface="楷体" panose="02010609060101010101" charset="-122"/>
              <a:ea typeface="楷体" panose="02010609060101010101" charset="-122"/>
              <a:sym typeface="+mn-ea"/>
            </a:endParaRPr>
          </a:p>
        </p:txBody>
      </p:sp>
      <p:sp>
        <p:nvSpPr>
          <p:cNvPr id="67" name="椭圆 66"/>
          <p:cNvSpPr/>
          <p:nvPr/>
        </p:nvSpPr>
        <p:spPr>
          <a:xfrm>
            <a:off x="668655" y="1452880"/>
            <a:ext cx="470535" cy="4171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8" name="文本框 67"/>
          <p:cNvSpPr txBox="1"/>
          <p:nvPr/>
        </p:nvSpPr>
        <p:spPr>
          <a:xfrm>
            <a:off x="668655" y="1369695"/>
            <a:ext cx="363220" cy="583565"/>
          </a:xfrm>
          <a:prstGeom prst="rect">
            <a:avLst/>
          </a:prstGeom>
          <a:noFill/>
        </p:spPr>
        <p:txBody>
          <a:bodyPr wrap="square" rtlCol="0">
            <a:spAutoFit/>
          </a:bodyPr>
          <a:lstStyle/>
          <a:p>
            <a:r>
              <a:rPr lang="en-US" altLang="zh-CN" sz="3200" b="1">
                <a:solidFill>
                  <a:schemeClr val="bg1"/>
                </a:solidFill>
                <a:latin typeface="+mj-ea"/>
                <a:ea typeface="+mj-ea"/>
              </a:rPr>
              <a:t>1</a:t>
            </a:r>
          </a:p>
        </p:txBody>
      </p:sp>
      <p:sp>
        <p:nvSpPr>
          <p:cNvPr id="82" name="椭圆 81"/>
          <p:cNvSpPr/>
          <p:nvPr/>
        </p:nvSpPr>
        <p:spPr>
          <a:xfrm>
            <a:off x="3074670" y="1536065"/>
            <a:ext cx="470535" cy="4171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3" name="椭圆 82"/>
          <p:cNvSpPr/>
          <p:nvPr/>
        </p:nvSpPr>
        <p:spPr>
          <a:xfrm>
            <a:off x="5386705" y="1490345"/>
            <a:ext cx="470535" cy="4171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4" name="椭圆 83"/>
          <p:cNvSpPr/>
          <p:nvPr/>
        </p:nvSpPr>
        <p:spPr>
          <a:xfrm>
            <a:off x="7698740" y="1410970"/>
            <a:ext cx="470535" cy="4171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5" name="文本框 84"/>
          <p:cNvSpPr txBox="1"/>
          <p:nvPr/>
        </p:nvSpPr>
        <p:spPr>
          <a:xfrm>
            <a:off x="3081020" y="1449070"/>
            <a:ext cx="363220" cy="583565"/>
          </a:xfrm>
          <a:prstGeom prst="rect">
            <a:avLst/>
          </a:prstGeom>
          <a:noFill/>
        </p:spPr>
        <p:txBody>
          <a:bodyPr wrap="square" rtlCol="0">
            <a:spAutoFit/>
          </a:bodyPr>
          <a:lstStyle/>
          <a:p>
            <a:r>
              <a:rPr lang="en-US" altLang="zh-CN" sz="3200" b="1">
                <a:solidFill>
                  <a:schemeClr val="bg1"/>
                </a:solidFill>
                <a:latin typeface="+mj-ea"/>
                <a:ea typeface="+mj-ea"/>
              </a:rPr>
              <a:t>2</a:t>
            </a:r>
          </a:p>
        </p:txBody>
      </p:sp>
      <p:sp>
        <p:nvSpPr>
          <p:cNvPr id="86" name="文本框 85"/>
          <p:cNvSpPr txBox="1"/>
          <p:nvPr/>
        </p:nvSpPr>
        <p:spPr>
          <a:xfrm>
            <a:off x="5386070" y="1392555"/>
            <a:ext cx="363220" cy="583565"/>
          </a:xfrm>
          <a:prstGeom prst="rect">
            <a:avLst/>
          </a:prstGeom>
          <a:noFill/>
        </p:spPr>
        <p:txBody>
          <a:bodyPr wrap="square" rtlCol="0">
            <a:spAutoFit/>
          </a:bodyPr>
          <a:lstStyle/>
          <a:p>
            <a:r>
              <a:rPr lang="en-US" altLang="zh-CN" sz="3200" b="1">
                <a:solidFill>
                  <a:schemeClr val="bg1"/>
                </a:solidFill>
                <a:latin typeface="+mj-ea"/>
                <a:ea typeface="+mj-ea"/>
              </a:rPr>
              <a:t>3</a:t>
            </a:r>
          </a:p>
        </p:txBody>
      </p:sp>
      <p:sp>
        <p:nvSpPr>
          <p:cNvPr id="87" name="文本框 86"/>
          <p:cNvSpPr txBox="1"/>
          <p:nvPr/>
        </p:nvSpPr>
        <p:spPr>
          <a:xfrm>
            <a:off x="7698740" y="1323975"/>
            <a:ext cx="363220" cy="583565"/>
          </a:xfrm>
          <a:prstGeom prst="rect">
            <a:avLst/>
          </a:prstGeom>
          <a:noFill/>
        </p:spPr>
        <p:txBody>
          <a:bodyPr wrap="square" rtlCol="0">
            <a:spAutoFit/>
          </a:bodyPr>
          <a:lstStyle/>
          <a:p>
            <a:r>
              <a:rPr lang="en-US" altLang="zh-CN" sz="3200" b="1">
                <a:solidFill>
                  <a:schemeClr val="bg1"/>
                </a:solidFill>
                <a:latin typeface="+mj-ea"/>
                <a:ea typeface="+mj-ea"/>
              </a:rPr>
              <a:t>4</a:t>
            </a:r>
          </a:p>
        </p:txBody>
      </p:sp>
      <p:sp>
        <p:nvSpPr>
          <p:cNvPr id="2" name="日期占位符 1">
            <a:extLst>
              <a:ext uri="{FF2B5EF4-FFF2-40B4-BE49-F238E27FC236}">
                <a16:creationId xmlns:a16="http://schemas.microsoft.com/office/drawing/2014/main" id="{86493DCD-5D08-41AB-8D5F-B3465AC5F084}"/>
              </a:ext>
            </a:extLst>
          </p:cNvPr>
          <p:cNvSpPr>
            <a:spLocks noGrp="1"/>
          </p:cNvSpPr>
          <p:nvPr>
            <p:ph type="dt" sz="half" idx="2"/>
          </p:nvPr>
        </p:nvSpPr>
        <p:spPr/>
        <p:txBody>
          <a:bodyPr/>
          <a:lstStyle/>
          <a:p>
            <a:fld id="{3BC687EF-F83F-4468-91BF-18120927EB5C}"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3" name="页脚占位符 2">
            <a:extLst>
              <a:ext uri="{FF2B5EF4-FFF2-40B4-BE49-F238E27FC236}">
                <a16:creationId xmlns:a16="http://schemas.microsoft.com/office/drawing/2014/main" id="{232CCBB6-9C41-49B2-98B6-1FC762B5001F}"/>
              </a:ext>
            </a:extLst>
          </p:cNvPr>
          <p:cNvSpPr>
            <a:spLocks noGrp="1"/>
          </p:cNvSpPr>
          <p:nvPr>
            <p:ph type="ftr" sz="quarter" idx="3"/>
          </p:nvPr>
        </p:nvSpPr>
        <p:spPr/>
        <p:txBody>
          <a:bodyPr/>
          <a:lstStyle/>
          <a:p>
            <a:r>
              <a:rPr lang="zh-CN" altLang="en-US"/>
              <a:t>椭圆曲线密码体制</a:t>
            </a:r>
          </a:p>
        </p:txBody>
      </p:sp>
      <p:sp>
        <p:nvSpPr>
          <p:cNvPr id="4" name="灯片编号占位符 3">
            <a:extLst>
              <a:ext uri="{FF2B5EF4-FFF2-40B4-BE49-F238E27FC236}">
                <a16:creationId xmlns:a16="http://schemas.microsoft.com/office/drawing/2014/main" id="{81297642-B686-4DF6-B14B-4574CAC33A12}"/>
              </a:ext>
            </a:extLst>
          </p:cNvPr>
          <p:cNvSpPr>
            <a:spLocks noGrp="1"/>
          </p:cNvSpPr>
          <p:nvPr>
            <p:ph type="sldNum" sz="quarter" idx="4"/>
          </p:nvPr>
        </p:nvSpPr>
        <p:spPr/>
        <p:txBody>
          <a:bodyPr/>
          <a:lstStyle/>
          <a:p>
            <a:fld id="{9A0DB2DC-4C9A-4742-B13C-FB6460FD3503}" type="slidenum">
              <a:rPr lang="en-US" altLang="zh-CN" smtClean="0"/>
              <a:pPr/>
              <a:t>29</a:t>
            </a:fld>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4"/>
          <p:cNvSpPr/>
          <p:nvPr/>
        </p:nvSpPr>
        <p:spPr>
          <a:xfrm>
            <a:off x="0" y="0"/>
            <a:ext cx="9144000" cy="7918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29" name="矩形 228"/>
          <p:cNvSpPr/>
          <p:nvPr/>
        </p:nvSpPr>
        <p:spPr>
          <a:xfrm>
            <a:off x="7476824" y="2475"/>
            <a:ext cx="1666001" cy="792000"/>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33" name="TextBox 9"/>
          <p:cNvSpPr txBox="1"/>
          <p:nvPr/>
        </p:nvSpPr>
        <p:spPr>
          <a:xfrm>
            <a:off x="419409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研究问题</a:t>
            </a:r>
          </a:p>
        </p:txBody>
      </p:sp>
      <p:sp>
        <p:nvSpPr>
          <p:cNvPr id="234" name="TextBox 10"/>
          <p:cNvSpPr txBox="1"/>
          <p:nvPr/>
        </p:nvSpPr>
        <p:spPr>
          <a:xfrm>
            <a:off x="589589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研究设计</a:t>
            </a:r>
          </a:p>
        </p:txBody>
      </p:sp>
      <p:sp>
        <p:nvSpPr>
          <p:cNvPr id="235" name="TextBox 11"/>
          <p:cNvSpPr txBox="1"/>
          <p:nvPr/>
        </p:nvSpPr>
        <p:spPr>
          <a:xfrm>
            <a:off x="759770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研究结论</a:t>
            </a:r>
          </a:p>
        </p:txBody>
      </p:sp>
      <p:pic>
        <p:nvPicPr>
          <p:cNvPr id="26" name="图片 25" descr="logo_画板 1"/>
          <p:cNvPicPr>
            <a:picLocks noChangeAspect="1"/>
          </p:cNvPicPr>
          <p:nvPr/>
        </p:nvPicPr>
        <p:blipFill>
          <a:blip r:embed="rId3"/>
          <a:stretch>
            <a:fillRect/>
          </a:stretch>
        </p:blipFill>
        <p:spPr>
          <a:xfrm>
            <a:off x="74930" y="0"/>
            <a:ext cx="1614805" cy="909320"/>
          </a:xfrm>
          <a:prstGeom prst="rect">
            <a:avLst/>
          </a:prstGeom>
        </p:spPr>
      </p:pic>
      <p:sp>
        <p:nvSpPr>
          <p:cNvPr id="166" name="TextBox 7"/>
          <p:cNvSpPr txBox="1"/>
          <p:nvPr/>
        </p:nvSpPr>
        <p:spPr>
          <a:xfrm>
            <a:off x="23081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研究背景</a:t>
            </a:r>
          </a:p>
        </p:txBody>
      </p:sp>
      <p:sp>
        <p:nvSpPr>
          <p:cNvPr id="36" name="标题"/>
          <p:cNvSpPr txBox="1"/>
          <p:nvPr>
            <p:custDataLst>
              <p:tags r:id="rId1"/>
            </p:custDataLst>
          </p:nvPr>
        </p:nvSpPr>
        <p:spPr>
          <a:xfrm>
            <a:off x="2037566" y="4345067"/>
            <a:ext cx="4987392" cy="362495"/>
          </a:xfrm>
          <a:prstGeom prst="rect">
            <a:avLst/>
          </a:prstGeom>
          <a:noFill/>
          <a:effectLst/>
        </p:spPr>
        <p:txBody>
          <a:bodyPr wrap="square" lIns="0" tIns="0" rIns="0" bIns="0" rtlCol="0" anchor="ctr">
            <a:noAutofit/>
          </a:bodyPr>
          <a:lstStyle/>
          <a:p>
            <a:pPr algn="ctr"/>
            <a:r>
              <a:rPr lang="zh-CN" altLang="en-US" sz="2800" b="1">
                <a:solidFill>
                  <a:schemeClr val="bg1"/>
                </a:solidFill>
                <a:latin typeface="楷体" panose="02010609060101010101" charset="-122"/>
                <a:ea typeface="楷体" panose="02010609060101010101" charset="-122"/>
                <a:sym typeface="+mn-ea"/>
              </a:rPr>
              <a:t>教材中存在的共性问题</a:t>
            </a:r>
            <a:endParaRPr lang="zh-CN" altLang="en-US" sz="2800" b="1" spc="300" dirty="0">
              <a:solidFill>
                <a:schemeClr val="bg1"/>
              </a:solidFill>
              <a:effectLst/>
              <a:latin typeface="楷体" panose="02010609060101010101" charset="-122"/>
              <a:ea typeface="楷体" panose="02010609060101010101" charset="-122"/>
              <a:sym typeface="+mn-ea"/>
            </a:endParaRPr>
          </a:p>
        </p:txBody>
      </p:sp>
      <p:sp>
        <p:nvSpPr>
          <p:cNvPr id="68" name="文本框 67"/>
          <p:cNvSpPr txBox="1"/>
          <p:nvPr/>
        </p:nvSpPr>
        <p:spPr>
          <a:xfrm>
            <a:off x="668655" y="1369695"/>
            <a:ext cx="363220" cy="583565"/>
          </a:xfrm>
          <a:prstGeom prst="rect">
            <a:avLst/>
          </a:prstGeom>
          <a:noFill/>
        </p:spPr>
        <p:txBody>
          <a:bodyPr wrap="square" rtlCol="0">
            <a:spAutoFit/>
          </a:bodyPr>
          <a:lstStyle/>
          <a:p>
            <a:r>
              <a:rPr lang="en-US" altLang="zh-CN" sz="3200" b="1">
                <a:solidFill>
                  <a:schemeClr val="bg1"/>
                </a:solidFill>
                <a:latin typeface="+mj-ea"/>
                <a:ea typeface="+mj-ea"/>
              </a:rPr>
              <a:t>1</a:t>
            </a:r>
          </a:p>
        </p:txBody>
      </p:sp>
      <p:sp>
        <p:nvSpPr>
          <p:cNvPr id="529" name="文本框 528"/>
          <p:cNvSpPr txBox="1"/>
          <p:nvPr/>
        </p:nvSpPr>
        <p:spPr>
          <a:xfrm>
            <a:off x="127000" y="1042035"/>
            <a:ext cx="8486140" cy="424815"/>
          </a:xfrm>
          <a:prstGeom prst="rect">
            <a:avLst/>
          </a:prstGeom>
          <a:noFill/>
        </p:spPr>
        <p:txBody>
          <a:bodyPr wrap="square" rtlCol="0">
            <a:spAutoFit/>
          </a:bodyPr>
          <a:lstStyle/>
          <a:p>
            <a:pPr indent="304800" algn="just" defTabSz="266700" fontAlgn="auto">
              <a:lnSpc>
                <a:spcPts val="2600"/>
              </a:lnSpc>
              <a:spcBef>
                <a:spcPct val="0"/>
              </a:spcBef>
              <a:spcAft>
                <a:spcPct val="0"/>
              </a:spcAft>
            </a:pPr>
            <a:r>
              <a:rPr lang="zh-CN" altLang="en-US" sz="2000" b="1">
                <a:solidFill>
                  <a:schemeClr val="accent1"/>
                </a:solidFill>
                <a:effectLst>
                  <a:outerShdw blurRad="38100" dist="25400" dir="5400000" algn="ctr" rotWithShape="0">
                    <a:srgbClr val="6E747A">
                      <a:alpha val="43000"/>
                    </a:srgbClr>
                  </a:outerShdw>
                </a:effectLst>
                <a:latin typeface="+mj-ea"/>
                <a:ea typeface="+mj-ea"/>
                <a:sym typeface="+mn-ea"/>
              </a:rPr>
              <a:t>研究启示：</a:t>
            </a:r>
            <a:endParaRPr lang="zh-CN" altLang="en-US" sz="2000" b="1">
              <a:solidFill>
                <a:schemeClr val="accent1"/>
              </a:solidFill>
              <a:effectLst>
                <a:outerShdw blurRad="38100" dist="25400" dir="5400000" algn="ctr" rotWithShape="0">
                  <a:srgbClr val="6E747A">
                    <a:alpha val="43000"/>
                  </a:srgbClr>
                </a:outerShdw>
              </a:effectLst>
              <a:latin typeface="+mj-ea"/>
              <a:ea typeface="+mj-ea"/>
            </a:endParaRPr>
          </a:p>
        </p:txBody>
      </p:sp>
      <p:sp>
        <p:nvSpPr>
          <p:cNvPr id="2" name="日期占位符 1">
            <a:extLst>
              <a:ext uri="{FF2B5EF4-FFF2-40B4-BE49-F238E27FC236}">
                <a16:creationId xmlns:a16="http://schemas.microsoft.com/office/drawing/2014/main" id="{07D76C95-A0C4-4FAD-B03C-9B1CE7A80D50}"/>
              </a:ext>
            </a:extLst>
          </p:cNvPr>
          <p:cNvSpPr>
            <a:spLocks noGrp="1"/>
          </p:cNvSpPr>
          <p:nvPr>
            <p:ph type="dt" sz="half" idx="2"/>
          </p:nvPr>
        </p:nvSpPr>
        <p:spPr/>
        <p:txBody>
          <a:bodyPr/>
          <a:lstStyle/>
          <a:p>
            <a:fld id="{FFC23E2A-8FCB-41CB-9483-774198B15C12}"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3" name="页脚占位符 2">
            <a:extLst>
              <a:ext uri="{FF2B5EF4-FFF2-40B4-BE49-F238E27FC236}">
                <a16:creationId xmlns:a16="http://schemas.microsoft.com/office/drawing/2014/main" id="{B1B11822-03E4-4594-96DD-94C8862EE6D6}"/>
              </a:ext>
            </a:extLst>
          </p:cNvPr>
          <p:cNvSpPr>
            <a:spLocks noGrp="1"/>
          </p:cNvSpPr>
          <p:nvPr>
            <p:ph type="ftr" sz="quarter" idx="3"/>
          </p:nvPr>
        </p:nvSpPr>
        <p:spPr/>
        <p:txBody>
          <a:bodyPr/>
          <a:lstStyle/>
          <a:p>
            <a:r>
              <a:rPr lang="zh-CN" altLang="en-US"/>
              <a:t>椭圆曲线密码体制</a:t>
            </a:r>
          </a:p>
        </p:txBody>
      </p:sp>
      <p:sp>
        <p:nvSpPr>
          <p:cNvPr id="4" name="灯片编号占位符 3">
            <a:extLst>
              <a:ext uri="{FF2B5EF4-FFF2-40B4-BE49-F238E27FC236}">
                <a16:creationId xmlns:a16="http://schemas.microsoft.com/office/drawing/2014/main" id="{F775256F-1385-43CE-84C8-3786BEF119F2}"/>
              </a:ext>
            </a:extLst>
          </p:cNvPr>
          <p:cNvSpPr>
            <a:spLocks noGrp="1"/>
          </p:cNvSpPr>
          <p:nvPr>
            <p:ph type="sldNum" sz="quarter" idx="4"/>
          </p:nvPr>
        </p:nvSpPr>
        <p:spPr/>
        <p:txBody>
          <a:bodyPr/>
          <a:lstStyle/>
          <a:p>
            <a:fld id="{9A0DB2DC-4C9A-4742-B13C-FB6460FD3503}" type="slidenum">
              <a:rPr lang="en-US" altLang="zh-CN" smtClean="0"/>
              <a:pPr/>
              <a:t>30</a:t>
            </a:fld>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357245" y="2001520"/>
            <a:ext cx="5786755" cy="64516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noProof="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恳请各位专家教授批评指正</a:t>
            </a:r>
            <a:endParaRPr kumimoji="0" lang="zh-CN" altLang="en-US" sz="3600" b="1" i="0" u="none" strike="noStrike" kern="100" cap="none" spc="0" normalizeH="0" baseline="0" noProof="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
        <p:nvSpPr>
          <p:cNvPr id="2" name="矩形 1"/>
          <p:cNvSpPr/>
          <p:nvPr/>
        </p:nvSpPr>
        <p:spPr>
          <a:xfrm>
            <a:off x="0" y="0"/>
            <a:ext cx="2489982"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grpSp>
        <p:nvGrpSpPr>
          <p:cNvPr id="4" name="组合 3"/>
          <p:cNvGrpSpPr/>
          <p:nvPr/>
        </p:nvGrpSpPr>
        <p:grpSpPr>
          <a:xfrm>
            <a:off x="1671154" y="1439542"/>
            <a:ext cx="1591854" cy="1591854"/>
            <a:chOff x="3893848" y="1276412"/>
            <a:chExt cx="1356304" cy="1356304"/>
          </a:xfrm>
        </p:grpSpPr>
        <p:sp>
          <p:nvSpPr>
            <p:cNvPr id="3" name="椭圆 2"/>
            <p:cNvSpPr/>
            <p:nvPr/>
          </p:nvSpPr>
          <p:spPr>
            <a:xfrm>
              <a:off x="3893848" y="1276412"/>
              <a:ext cx="1356304" cy="1356304"/>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31" name="Freeform 5"/>
            <p:cNvSpPr>
              <a:spLocks noEditPoints="1"/>
            </p:cNvSpPr>
            <p:nvPr/>
          </p:nvSpPr>
          <p:spPr bwMode="auto">
            <a:xfrm>
              <a:off x="4008813" y="1508646"/>
              <a:ext cx="1126374" cy="827336"/>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grpSp>
      <p:sp>
        <p:nvSpPr>
          <p:cNvPr id="60" name="TextBox 6"/>
          <p:cNvSpPr txBox="1"/>
          <p:nvPr/>
        </p:nvSpPr>
        <p:spPr>
          <a:xfrm>
            <a:off x="3500254" y="3284334"/>
            <a:ext cx="170561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194A96"/>
                </a:solidFill>
                <a:latin typeface="微软雅黑" panose="020B0503020204020204" charset="-122"/>
                <a:ea typeface="微软雅黑" panose="020B0503020204020204" charset="-122"/>
              </a:rPr>
              <a:t>报告人</a:t>
            </a:r>
            <a:r>
              <a:rPr lang="zh-CN" altLang="en-US" dirty="0">
                <a:solidFill>
                  <a:srgbClr val="194A96"/>
                </a:solidFill>
                <a:latin typeface="微软雅黑" panose="020B0503020204020204" charset="-122"/>
                <a:ea typeface="微软雅黑" panose="020B0503020204020204" charset="-122"/>
              </a:rPr>
              <a:t>：</a:t>
            </a:r>
            <a:r>
              <a:rPr lang="zh-CN" altLang="en-US" b="1" dirty="0">
                <a:solidFill>
                  <a:srgbClr val="194A96"/>
                </a:solidFill>
                <a:latin typeface="微软雅黑" panose="020B0503020204020204" charset="-122"/>
                <a:ea typeface="微软雅黑" panose="020B0503020204020204" charset="-122"/>
              </a:rPr>
              <a:t>容永</a:t>
            </a:r>
            <a:endParaRPr lang="zh-CN" altLang="en-US" dirty="0">
              <a:solidFill>
                <a:srgbClr val="194A96"/>
              </a:solidFill>
              <a:latin typeface="微软雅黑" panose="020B0503020204020204" charset="-122"/>
              <a:ea typeface="微软雅黑" panose="020B0503020204020204" charset="-122"/>
            </a:endParaRPr>
          </a:p>
        </p:txBody>
      </p:sp>
      <p:sp>
        <p:nvSpPr>
          <p:cNvPr id="61" name="TextBox 7"/>
          <p:cNvSpPr txBox="1"/>
          <p:nvPr/>
        </p:nvSpPr>
        <p:spPr>
          <a:xfrm>
            <a:off x="6025570" y="3284334"/>
            <a:ext cx="3244055" cy="397510"/>
          </a:xfrm>
          <a:prstGeom prst="rect">
            <a:avLst/>
          </a:prstGeom>
          <a:noFill/>
        </p:spPr>
        <p:txBody>
          <a:bodyPr wrap="square" lIns="91416" tIns="45708" rIns="91416" bIns="45708" rtlCol="0">
            <a:spAutoFit/>
          </a:bodyPr>
          <a:lstStyle/>
          <a:p>
            <a:pPr algn="ctr"/>
            <a:r>
              <a:rPr lang="zh-CN" altLang="en-US" sz="2000" b="1" dirty="0">
                <a:solidFill>
                  <a:srgbClr val="194A96"/>
                </a:solidFill>
                <a:latin typeface="微软雅黑" panose="020B0503020204020204" charset="-122"/>
                <a:ea typeface="微软雅黑" panose="020B0503020204020204" charset="-122"/>
              </a:rPr>
              <a:t>指导老师</a:t>
            </a:r>
            <a:r>
              <a:rPr lang="zh-CN" altLang="en-US" sz="2000" dirty="0">
                <a:solidFill>
                  <a:srgbClr val="194A96"/>
                </a:solidFill>
                <a:latin typeface="微软雅黑" panose="020B0503020204020204" charset="-122"/>
                <a:ea typeface="微软雅黑" panose="020B0503020204020204" charset="-122"/>
              </a:rPr>
              <a:t>：</a:t>
            </a:r>
            <a:r>
              <a:rPr lang="zh-CN" altLang="en-US" sz="2000" b="1" dirty="0">
                <a:solidFill>
                  <a:srgbClr val="194A96"/>
                </a:solidFill>
                <a:latin typeface="微软雅黑" panose="020B0503020204020204" charset="-122"/>
                <a:ea typeface="微软雅黑" panose="020B0503020204020204" charset="-122"/>
              </a:rPr>
              <a:t>潘晨婧教授</a:t>
            </a:r>
          </a:p>
        </p:txBody>
      </p:sp>
      <p:sp>
        <p:nvSpPr>
          <p:cNvPr id="62" name="Freeform 7"/>
          <p:cNvSpPr>
            <a:spLocks noChangeAspect="1" noEditPoints="1"/>
          </p:cNvSpPr>
          <p:nvPr/>
        </p:nvSpPr>
        <p:spPr bwMode="auto">
          <a:xfrm>
            <a:off x="2821262" y="3251254"/>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194A96"/>
          </a:solidFill>
          <a:ln>
            <a:noFill/>
          </a:ln>
        </p:spPr>
        <p:txBody>
          <a:bodyPr vert="horz" wrap="square" lIns="91416" tIns="45708" rIns="91416" bIns="45708" numCol="1" anchor="t" anchorCtr="0" compatLnSpc="1"/>
          <a:lstStyle/>
          <a:p>
            <a:endParaRPr lang="zh-CN" altLang="en-US">
              <a:solidFill>
                <a:schemeClr val="bg1"/>
              </a:solidFill>
              <a:latin typeface="微软雅黑" panose="020B0503020204020204" charset="-122"/>
              <a:ea typeface="微软雅黑" panose="020B0503020204020204" charset="-122"/>
            </a:endParaRPr>
          </a:p>
        </p:txBody>
      </p:sp>
      <p:sp>
        <p:nvSpPr>
          <p:cNvPr id="63" name="Freeform 8"/>
          <p:cNvSpPr>
            <a:spLocks noChangeAspect="1" noEditPoints="1"/>
          </p:cNvSpPr>
          <p:nvPr/>
        </p:nvSpPr>
        <p:spPr bwMode="auto">
          <a:xfrm>
            <a:off x="5663048" y="3251253"/>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194A96"/>
          </a:solidFill>
          <a:ln>
            <a:noFill/>
          </a:ln>
        </p:spPr>
        <p:txBody>
          <a:bodyPr vert="horz" wrap="square" lIns="91416" tIns="45708" rIns="91416" bIns="45708" numCol="1" anchor="t" anchorCtr="0" compatLnSpc="1"/>
          <a:lstStyle/>
          <a:p>
            <a:endParaRPr lang="zh-CN" altLang="en-US" sz="2800">
              <a:solidFill>
                <a:schemeClr val="bg1"/>
              </a:solidFill>
              <a:latin typeface="微软雅黑" panose="020B0503020204020204" charset="-122"/>
              <a:ea typeface="微软雅黑" panose="020B0503020204020204" charset="-122"/>
            </a:endParaRPr>
          </a:p>
        </p:txBody>
      </p:sp>
      <p:pic>
        <p:nvPicPr>
          <p:cNvPr id="26" name="图片 25" descr="logo_画板 1"/>
          <p:cNvPicPr>
            <a:picLocks noChangeAspect="1"/>
          </p:cNvPicPr>
          <p:nvPr/>
        </p:nvPicPr>
        <p:blipFill>
          <a:blip r:embed="rId2"/>
          <a:stretch>
            <a:fillRect/>
          </a:stretch>
        </p:blipFill>
        <p:spPr>
          <a:xfrm>
            <a:off x="7438390" y="-95250"/>
            <a:ext cx="1614805" cy="909320"/>
          </a:xfrm>
          <a:prstGeom prst="rect">
            <a:avLst/>
          </a:prstGeom>
        </p:spPr>
      </p:pic>
      <p:sp>
        <p:nvSpPr>
          <p:cNvPr id="5" name="日期占位符 4">
            <a:extLst>
              <a:ext uri="{FF2B5EF4-FFF2-40B4-BE49-F238E27FC236}">
                <a16:creationId xmlns:a16="http://schemas.microsoft.com/office/drawing/2014/main" id="{A5DC5F24-06AD-4425-8BBD-111E5B8BADF3}"/>
              </a:ext>
            </a:extLst>
          </p:cNvPr>
          <p:cNvSpPr>
            <a:spLocks noGrp="1"/>
          </p:cNvSpPr>
          <p:nvPr>
            <p:ph type="dt" sz="half" idx="2"/>
          </p:nvPr>
        </p:nvSpPr>
        <p:spPr/>
        <p:txBody>
          <a:bodyPr/>
          <a:lstStyle/>
          <a:p>
            <a:fld id="{4AD44A4E-8A54-476F-8C30-5562C1269B4C}"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2025/5/30</a:t>
            </a:fld>
            <a:endParaRPr lang="zh-CN" altLang="en-US" dirty="0"/>
          </a:p>
        </p:txBody>
      </p:sp>
      <p:sp>
        <p:nvSpPr>
          <p:cNvPr id="6" name="页脚占位符 5">
            <a:extLst>
              <a:ext uri="{FF2B5EF4-FFF2-40B4-BE49-F238E27FC236}">
                <a16:creationId xmlns:a16="http://schemas.microsoft.com/office/drawing/2014/main" id="{C7BB6EB3-8BB3-4AB1-A022-E0396072454D}"/>
              </a:ext>
            </a:extLst>
          </p:cNvPr>
          <p:cNvSpPr>
            <a:spLocks noGrp="1"/>
          </p:cNvSpPr>
          <p:nvPr>
            <p:ph type="ftr" sz="quarter" idx="3"/>
          </p:nvPr>
        </p:nvSpPr>
        <p:spPr/>
        <p:txBody>
          <a:bodyPr/>
          <a:lstStyle/>
          <a:p>
            <a:r>
              <a:rPr lang="zh-CN" altLang="en-US"/>
              <a:t>椭圆曲线密码体制</a:t>
            </a:r>
          </a:p>
        </p:txBody>
      </p:sp>
      <p:sp>
        <p:nvSpPr>
          <p:cNvPr id="7" name="灯片编号占位符 6">
            <a:extLst>
              <a:ext uri="{FF2B5EF4-FFF2-40B4-BE49-F238E27FC236}">
                <a16:creationId xmlns:a16="http://schemas.microsoft.com/office/drawing/2014/main" id="{BB48DF0B-78B9-436E-B175-934155A22E0E}"/>
              </a:ext>
            </a:extLst>
          </p:cNvPr>
          <p:cNvSpPr>
            <a:spLocks noGrp="1"/>
          </p:cNvSpPr>
          <p:nvPr>
            <p:ph type="sldNum" sz="quarter" idx="4"/>
          </p:nvPr>
        </p:nvSpPr>
        <p:spPr/>
        <p:txBody>
          <a:bodyPr/>
          <a:lstStyle/>
          <a:p>
            <a:fld id="{9A0DB2DC-4C9A-4742-B13C-FB6460FD3503}" type="slidenum">
              <a:rPr lang="en-US" altLang="zh-CN" smtClean="0"/>
              <a:pPr/>
              <a:t>31</a:t>
            </a:fld>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591*92"/>
  <p:tag name="TABLE_ENDDRAG_RECT" val="62*180*591*92"/>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553*227"/>
  <p:tag name="TABLE_ENDDRAG_RECT" val="82*130*553*227"/>
</p:tagLst>
</file>

<file path=ppt/tags/tag4.xml><?xml version="1.0" encoding="utf-8"?>
<p:tagLst xmlns:a="http://schemas.openxmlformats.org/drawingml/2006/main" xmlns:r="http://schemas.openxmlformats.org/officeDocument/2006/relationships" xmlns:p="http://schemas.openxmlformats.org/presentationml/2006/main">
  <p:tag name="KSO_WM_UNIT_COMPATIBLE" val="0"/>
  <p:tag name="KSO_WM_UNIT_DIAGRAM_ISREFERUNIT" val="0"/>
  <p:tag name="KSO_WM_TEMPLATE_INDEX" val="20231496"/>
  <p:tag name="KSO_WM_TAG_VERSION" val="3.0"/>
  <p:tag name="KSO_WM_UNIT_FILL_FORE_SCHEMECOLOR_INDEX_1" val="5"/>
  <p:tag name="KSO_WM_UNIT_FILL_FORE_SCHEMECOLOR_INDEX_1_TRANS" val="0"/>
  <p:tag name="KSO_WM_UNIT_FILL_FORE_SCHEMECOLOR_INDEX_2" val="5"/>
  <p:tag name="KSO_WM_UNIT_FILL_FORE_SCHEMECOLOR_INDEX_2_TRANS" val="0"/>
  <p:tag name="KSO_WM_UNIT_FILL_GRADIENT_ANGLE" val="45"/>
  <p:tag name="KSO_WM_DIAGRAM_VERSION" val="3"/>
  <p:tag name="KSO_WM_DIAGRAM_COLOR_TEXT_CAN_REMOVE" val="n"/>
  <p:tag name="KSO_WM_DIAGRAM_MAX_ITEMCNT" val="6"/>
  <p:tag name="KSO_WM_DIAGRAM_VIRTUALLY_FRAME" val="{&quot;height&quot;:261.4025912451557,&quot;left&quot;:-156.5500332665631,&quot;top&quot;:134.1,&quot;width&quot;:748.1999877929723}"/>
  <p:tag name="KSO_WM_UNIT_ISCONTENTSTITLE" val="0"/>
  <p:tag name="KSO_WM_UNIT_ISNUMDGMTITLE" val="0"/>
  <p:tag name="KSO_WM_UNIT_NOCLEAR" val="0"/>
  <p:tag name="KSO_WM_UNIT_HIGHLIGHT" val="0"/>
  <p:tag name="KSO_WM_UNIT_DIAGRAM_ISNUMVISUAL" val="0"/>
  <p:tag name="KSO_WM_DIAGRAM_GROUP_CODE" val="n1-1"/>
  <p:tag name="KSO_WM_UNIT_TYPE" val="n_h_h_i"/>
  <p:tag name="KSO_WM_UNIT_INDEX" val="1_2_1_1"/>
  <p:tag name="KSO_WM_UNIT_ID" val="diagram20231496_4*n_h_h_i*1_2_1_1"/>
  <p:tag name="KSO_WM_TEMPLATE_CATEGORY" val="diagram"/>
  <p:tag name="KSO_WM_UNIT_LAYERLEVEL" val="1_1_1_1"/>
  <p:tag name="KSO_WM_DIAGRAM_COLOR_TRICK" val="1"/>
  <p:tag name="KSO_WM_DIAGRAM_MIN_ITEMCNT" val="1"/>
  <p:tag name="KSO_WM_DIAGRAM_COLOR_MATCH_VALUE" val="{&quot;shape&quot;:{&quot;fill&quot;:{&quot;solid&quot;:{&quot;brightness&quot;:0.25,&quot;colorType&quot;:1,&quot;foreColorIndex&quot;:1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5"/>
  <p:tag name="KSO_WM_UNIT_FILL_FORE_SCHEMECOLOR_INDEX_BRIGHTNESS" val="0.25"/>
  <p:tag name="KSO_WM_DIAGRAM_USE_COLOR_VALUE" val="{&quot;color_scheme&quot;:1,&quot;color_type&quot;:1,&quot;theme_color_indexes&quot;:[5,6,5,6,5,6]}"/>
</p:tagLst>
</file>

<file path=ppt/tags/tag5.xml><?xml version="1.0" encoding="utf-8"?>
<p:tagLst xmlns:a="http://schemas.openxmlformats.org/drawingml/2006/main" xmlns:r="http://schemas.openxmlformats.org/officeDocument/2006/relationships" xmlns:p="http://schemas.openxmlformats.org/presentationml/2006/main">
  <p:tag name="KSO_WM_UNIT_COMPATIBLE" val="0"/>
  <p:tag name="KSO_WM_UNIT_DIAGRAM_ISREFERUNIT" val="0"/>
  <p:tag name="KSO_WM_TEMPLATE_INDEX" val="20231496"/>
  <p:tag name="KSO_WM_TAG_VERSION" val="3.0"/>
  <p:tag name="KSO_WM_UNIT_FILL_FORE_SCHEMECOLOR_INDEX_1" val="5"/>
  <p:tag name="KSO_WM_UNIT_FILL_FORE_SCHEMECOLOR_INDEX_1_TRANS" val="0"/>
  <p:tag name="KSO_WM_UNIT_FILL_FORE_SCHEMECOLOR_INDEX_2" val="5"/>
  <p:tag name="KSO_WM_UNIT_FILL_FORE_SCHEMECOLOR_INDEX_2_TRANS" val="0"/>
  <p:tag name="KSO_WM_UNIT_FILL_GRADIENT_ANGLE" val="45"/>
  <p:tag name="KSO_WM_DIAGRAM_VERSION" val="3"/>
  <p:tag name="KSO_WM_DIAGRAM_COLOR_TEXT_CAN_REMOVE" val="n"/>
  <p:tag name="KSO_WM_DIAGRAM_MAX_ITEMCNT" val="6"/>
  <p:tag name="KSO_WM_DIAGRAM_VIRTUALLY_FRAME" val="{&quot;height&quot;:261.4025912451557,&quot;left&quot;:-156.5500332665631,&quot;top&quot;:134.1,&quot;width&quot;:748.1999877929723}"/>
  <p:tag name="KSO_WM_UNIT_ISCONTENTSTITLE" val="0"/>
  <p:tag name="KSO_WM_UNIT_ISNUMDGMTITLE" val="0"/>
  <p:tag name="KSO_WM_UNIT_NOCLEAR" val="0"/>
  <p:tag name="KSO_WM_UNIT_HIGHLIGHT" val="0"/>
  <p:tag name="KSO_WM_UNIT_DIAGRAM_ISNUMVISUAL" val="0"/>
  <p:tag name="KSO_WM_DIAGRAM_GROUP_CODE" val="n1-1"/>
  <p:tag name="KSO_WM_UNIT_TYPE" val="n_h_h_i"/>
  <p:tag name="KSO_WM_UNIT_INDEX" val="1_2_2_1"/>
  <p:tag name="KSO_WM_UNIT_ID" val="diagram20231496_4*n_h_h_i*1_2_2_1"/>
  <p:tag name="KSO_WM_TEMPLATE_CATEGORY" val="diagram"/>
  <p:tag name="KSO_WM_UNIT_LAYERLEVEL" val="1_1_1_1"/>
  <p:tag name="KSO_WM_DIAGRAM_COLOR_TRICK" val="1"/>
  <p:tag name="KSO_WM_DIAGRAM_MIN_ITEMCNT" val="1"/>
  <p:tag name="KSO_WM_DIAGRAM_COLOR_MATCH_VALUE" val="{&quot;shape&quot;:{&quot;fill&quot;:{&quot;solid&quot;:{&quot;brightness&quot;:0.25,&quot;colorType&quot;:1,&quot;foreColorIndex&quot;:1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5"/>
  <p:tag name="KSO_WM_UNIT_FILL_FORE_SCHEMECOLOR_INDEX_BRIGHTNESS" val="0.25"/>
  <p:tag name="KSO_WM_DIAGRAM_USE_COLOR_VALUE" val="{&quot;color_scheme&quot;:1,&quot;color_type&quot;:1,&quot;theme_color_indexes&quot;:[5,6,5,6,5,6]}"/>
</p:tagLst>
</file>

<file path=ppt/tags/tag6.xml><?xml version="1.0" encoding="utf-8"?>
<p:tagLst xmlns:a="http://schemas.openxmlformats.org/drawingml/2006/main" xmlns:r="http://schemas.openxmlformats.org/officeDocument/2006/relationships" xmlns:p="http://schemas.openxmlformats.org/presentationml/2006/main">
  <p:tag name="KSO_WM_UNIT_COMPATIBLE" val="0"/>
  <p:tag name="KSO_WM_UNIT_DIAGRAM_ISREFERUNIT" val="0"/>
  <p:tag name="KSO_WM_TEMPLATE_INDEX" val="20231496"/>
  <p:tag name="KSO_WM_TAG_VERSION" val="3.0"/>
  <p:tag name="KSO_WM_UNIT_FILL_FORE_SCHEMECOLOR_INDEX_1" val="5"/>
  <p:tag name="KSO_WM_UNIT_FILL_FORE_SCHEMECOLOR_INDEX_1_TRANS" val="0"/>
  <p:tag name="KSO_WM_UNIT_FILL_FORE_SCHEMECOLOR_INDEX_2" val="5"/>
  <p:tag name="KSO_WM_UNIT_FILL_FORE_SCHEMECOLOR_INDEX_2_TRANS" val="0"/>
  <p:tag name="KSO_WM_UNIT_FILL_GRADIENT_ANGLE" val="45"/>
  <p:tag name="KSO_WM_DIAGRAM_VERSION" val="3"/>
  <p:tag name="KSO_WM_DIAGRAM_COLOR_TEXT_CAN_REMOVE" val="n"/>
  <p:tag name="KSO_WM_DIAGRAM_MAX_ITEMCNT" val="6"/>
  <p:tag name="KSO_WM_DIAGRAM_VIRTUALLY_FRAME" val="{&quot;height&quot;:261.4025912451557,&quot;left&quot;:-156.5500332665631,&quot;top&quot;:134.1,&quot;width&quot;:748.1999877929723}"/>
  <p:tag name="KSO_WM_UNIT_ISCONTENTSTITLE" val="0"/>
  <p:tag name="KSO_WM_UNIT_ISNUMDGMTITLE" val="0"/>
  <p:tag name="KSO_WM_UNIT_NOCLEAR" val="0"/>
  <p:tag name="KSO_WM_UNIT_HIGHLIGHT" val="0"/>
  <p:tag name="KSO_WM_UNIT_DIAGRAM_ISNUMVISUAL" val="0"/>
  <p:tag name="KSO_WM_DIAGRAM_GROUP_CODE" val="n1-1"/>
  <p:tag name="KSO_WM_UNIT_TYPE" val="n_h_h_i"/>
  <p:tag name="KSO_WM_UNIT_INDEX" val="1_2_3_3"/>
  <p:tag name="KSO_WM_UNIT_ID" val="diagram20231496_4*n_h_h_i*1_2_3_3"/>
  <p:tag name="KSO_WM_TEMPLATE_CATEGORY" val="diagram"/>
  <p:tag name="KSO_WM_UNIT_LAYERLEVEL" val="1_1_1_1"/>
  <p:tag name="KSO_WM_DIAGRAM_COLOR_TRICK" val="1"/>
  <p:tag name="KSO_WM_DIAGRAM_MIN_ITEMCNT" val="1"/>
  <p:tag name="KSO_WM_DIAGRAM_COLOR_MATCH_VALUE" val="{&quot;shape&quot;:{&quot;fill&quot;:{&quot;solid&quot;:{&quot;brightness&quot;:0.25,&quot;colorType&quot;:1,&quot;foreColorIndex&quot;:1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5"/>
  <p:tag name="KSO_WM_UNIT_FILL_FORE_SCHEMECOLOR_INDEX_BRIGHTNESS" val="0.25"/>
  <p:tag name="KSO_WM_DIAGRAM_USE_COLOR_VALUE" val="{&quot;color_scheme&quot;:1,&quot;color_type&quot;:1,&quot;theme_color_indexes&quot;:[5,6,5,6,5,6]}"/>
</p:tagLst>
</file>

<file path=ppt/tags/tag7.xml><?xml version="1.0" encoding="utf-8"?>
<p:tagLst xmlns:a="http://schemas.openxmlformats.org/drawingml/2006/main" xmlns:r="http://schemas.openxmlformats.org/officeDocument/2006/relationships" xmlns:p="http://schemas.openxmlformats.org/presentationml/2006/main">
  <p:tag name="KSO_WM_UNIT_COMPATIBLE" val="0"/>
  <p:tag name="KSO_WM_UNIT_DIAGRAM_ISREFERUNIT" val="0"/>
  <p:tag name="KSO_WM_TEMPLATE_INDEX" val="20231496"/>
  <p:tag name="KSO_WM_TAG_VERSION" val="3.0"/>
  <p:tag name="KSO_WM_UNIT_FILL_FORE_SCHEMECOLOR_INDEX_1" val="5"/>
  <p:tag name="KSO_WM_UNIT_FILL_FORE_SCHEMECOLOR_INDEX_1_TRANS" val="0"/>
  <p:tag name="KSO_WM_UNIT_FILL_FORE_SCHEMECOLOR_INDEX_2" val="5"/>
  <p:tag name="KSO_WM_UNIT_FILL_FORE_SCHEMECOLOR_INDEX_2_TRANS" val="0"/>
  <p:tag name="KSO_WM_UNIT_FILL_GRADIENT_ANGLE" val="45"/>
  <p:tag name="KSO_WM_DIAGRAM_VERSION" val="3"/>
  <p:tag name="KSO_WM_DIAGRAM_COLOR_TEXT_CAN_REMOVE" val="n"/>
  <p:tag name="KSO_WM_DIAGRAM_MAX_ITEMCNT" val="6"/>
  <p:tag name="KSO_WM_DIAGRAM_VIRTUALLY_FRAME" val="{&quot;height&quot;:261.4025912451557,&quot;left&quot;:-156.5500332665631,&quot;top&quot;:134.1,&quot;width&quot;:748.1999877929723}"/>
  <p:tag name="KSO_WM_UNIT_ISCONTENTSTITLE" val="0"/>
  <p:tag name="KSO_WM_UNIT_ISNUMDGMTITLE" val="0"/>
  <p:tag name="KSO_WM_UNIT_NOCLEAR" val="0"/>
  <p:tag name="KSO_WM_UNIT_HIGHLIGHT" val="0"/>
  <p:tag name="KSO_WM_UNIT_DIAGRAM_ISNUMVISUAL" val="0"/>
  <p:tag name="KSO_WM_DIAGRAM_GROUP_CODE" val="n1-1"/>
  <p:tag name="KSO_WM_UNIT_TYPE" val="n_h_h_i"/>
  <p:tag name="KSO_WM_UNIT_INDEX" val="1_2_4_3"/>
  <p:tag name="KSO_WM_UNIT_ID" val="diagram20231496_4*n_h_h_i*1_2_4_3"/>
  <p:tag name="KSO_WM_TEMPLATE_CATEGORY" val="diagram"/>
  <p:tag name="KSO_WM_UNIT_LAYERLEVEL" val="1_1_1_1"/>
  <p:tag name="KSO_WM_DIAGRAM_COLOR_TRICK" val="1"/>
  <p:tag name="KSO_WM_DIAGRAM_MIN_ITEMCNT" val="1"/>
  <p:tag name="KSO_WM_DIAGRAM_COLOR_MATCH_VALUE" val="{&quot;shape&quot;:{&quot;fill&quot;:{&quot;solid&quot;:{&quot;brightness&quot;:0.25,&quot;colorType&quot;:1,&quot;foreColorIndex&quot;:1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5"/>
  <p:tag name="KSO_WM_UNIT_FILL_FORE_SCHEMECOLOR_INDEX_BRIGHTNESS" val="0.25"/>
  <p:tag name="KSO_WM_DIAGRAM_USE_COLOR_VALUE" val="{&quot;color_scheme&quot;:1,&quot;color_type&quot;:1,&quot;theme_color_indexes&quot;:[5,6,5,6,5,6]}"/>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3"/>
  <p:tag name="KSO_WM_UNIT_ID" val="diagram20231496_4*n_h_h_i*1_2_1_3"/>
  <p:tag name="KSO_WM_TEMPLATE_CATEGORY" val="diagram"/>
  <p:tag name="KSO_WM_TEMPLATE_INDEX" val="20231496"/>
  <p:tag name="KSO_WM_UNIT_LAYERLEVEL" val="1_1_1_1"/>
  <p:tag name="KSO_WM_TAG_VERSION" val="3.0"/>
  <p:tag name="KSO_WM_UNIT_FILL_FORE_SCHEMECOLOR_INDEX_1_BRIGHTNESS" val="0.4"/>
  <p:tag name="KSO_WM_UNIT_FILL_FORE_SCHEMECOLOR_INDEX_1" val="5"/>
  <p:tag name="KSO_WM_UNIT_FILL_FORE_SCHEMECOLOR_INDEX_1_POS" val="0.03"/>
  <p:tag name="KSO_WM_UNIT_FILL_FORE_SCHEMECOLOR_INDEX_1_TRANS" val="1"/>
  <p:tag name="KSO_WM_UNIT_FILL_FORE_SCHEMECOLOR_INDEX_2_BRIGHTNESS" val="0.4"/>
  <p:tag name="KSO_WM_UNIT_FILL_FORE_SCHEMECOLOR_INDEX_2" val="5"/>
  <p:tag name="KSO_WM_UNIT_FILL_FORE_SCHEMECOLOR_INDEX_2_POS" val="0.5"/>
  <p:tag name="KSO_WM_UNIT_FILL_FORE_SCHEMECOLOR_INDEX_2_TRANS" val="0.2"/>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0"/>
  <p:tag name="KSO_WM_UNIT_FILL_GRADIENT_DIRECTION" val="3"/>
  <p:tag name="KSO_WM_UNIT_TEXT_FILL_FORE_SCHEMECOLOR_INDEX_BRIGHTNESS" val="0"/>
  <p:tag name="KSO_WM_UNIT_TEXT_FILL_TYPE" val="1"/>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261.4025912451557,&quot;left&quot;:-156.5500332665631,&quot;top&quot;:134.1,&quot;width&quot;:748.1999877929723}"/>
  <p:tag name="KSO_WM_DIAGRAM_COLOR_MATCH_VALUE" val="{&quot;shape&quot;:{&quot;fill&quot;:{&quot;gradient&quot;:[{&quot;brightness&quot;:0.4000000059604645,&quot;colorType&quot;:1,&quot;foreColorIndex&quot;:5,&quot;pos&quot;:0.029999999329447746,&quot;transparency&quot;:1},{&quot;brightness&quot;:0.4000000059604645,&quot;colorType&quot;:1,&quot;foreColorIndex&quot;:5,&quot;pos&quot;:0.5,&quot;transparency&quot;:0.20000000298023224},{&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1496_4*n_h_h_f*1_2_1_1"/>
  <p:tag name="KSO_WM_TEMPLATE_CATEGORY" val="diagram"/>
  <p:tag name="KSO_WM_TEMPLATE_INDEX" val="20231496"/>
  <p:tag name="KSO_WM_UNIT_LAYERLEVEL" val="1_1_1_1"/>
  <p:tag name="KSO_WM_TAG_VERSION" val="3.0"/>
  <p:tag name="KSO_WM_UNIT_VALUE" val="36"/>
  <p:tag name="KSO_WM_DIAGRAM_VERSION" val="3"/>
  <p:tag name="KSO_WM_DIAGRAM_COLOR_TRICK" val="1"/>
  <p:tag name="KSO_WM_DIAGRAM_COLOR_TEXT_CAN_REMOVE" val="n"/>
  <p:tag name="KSO_WM_DIAGRAM_MAX_ITEMCNT" val="6"/>
  <p:tag name="KSO_WM_DIAGRAM_MIN_ITEMCNT" val="1"/>
  <p:tag name="KSO_WM_DIAGRAM_VIRTUALLY_FRAME" val="{&quot;height&quot;:256.0552612304688,&quot;left&quot;:-156.5500332665631,&quot;top&quot;:139.44733001468688,&quot;width&quot;:748.19998779297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点击此处添加正文，文字是您思想的提炼请言简意赅的阐述您的观点"/>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3"/>
  <p:tag name="KSO_WM_UNIT_ID" val="diagram20231496_4*n_h_h_i*1_2_2_3"/>
  <p:tag name="KSO_WM_TEMPLATE_CATEGORY" val="diagram"/>
  <p:tag name="KSO_WM_TEMPLATE_INDEX" val="20231496"/>
  <p:tag name="KSO_WM_UNIT_LAYERLEVEL" val="1_1_1_1"/>
  <p:tag name="KSO_WM_TAG_VERSION" val="3.0"/>
  <p:tag name="KSO_WM_UNIT_FILL_FORE_SCHEMECOLOR_INDEX_1_BRIGHTNESS" val="0.4"/>
  <p:tag name="KSO_WM_UNIT_FILL_FORE_SCHEMECOLOR_INDEX_1" val="5"/>
  <p:tag name="KSO_WM_UNIT_FILL_FORE_SCHEMECOLOR_INDEX_1_POS" val="0.03"/>
  <p:tag name="KSO_WM_UNIT_FILL_FORE_SCHEMECOLOR_INDEX_1_TRANS" val="1"/>
  <p:tag name="KSO_WM_UNIT_FILL_FORE_SCHEMECOLOR_INDEX_2_BRIGHTNESS" val="0.4"/>
  <p:tag name="KSO_WM_UNIT_FILL_FORE_SCHEMECOLOR_INDEX_2" val="5"/>
  <p:tag name="KSO_WM_UNIT_FILL_FORE_SCHEMECOLOR_INDEX_2_POS" val="0.5"/>
  <p:tag name="KSO_WM_UNIT_FILL_FORE_SCHEMECOLOR_INDEX_2_TRANS" val="0.2"/>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0"/>
  <p:tag name="KSO_WM_UNIT_FILL_GRADIENT_DIRECTION" val="3"/>
  <p:tag name="KSO_WM_UNIT_TEXT_FILL_FORE_SCHEMECOLOR_INDEX_BRIGHTNESS" val="0"/>
  <p:tag name="KSO_WM_UNIT_TEXT_FILL_TYPE" val="1"/>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261.4025912451557,&quot;left&quot;:-156.5500332665631,&quot;top&quot;:134.1,&quot;width&quot;:748.1999877929723}"/>
  <p:tag name="KSO_WM_DIAGRAM_COLOR_MATCH_VALUE" val="{&quot;shape&quot;:{&quot;fill&quot;:{&quot;gradient&quot;:[{&quot;brightness&quot;:0.4000000059604645,&quot;colorType&quot;:1,&quot;foreColorIndex&quot;:5,&quot;pos&quot;:0.029999999329447746,&quot;transparency&quot;:1},{&quot;brightness&quot;:0.4000000059604645,&quot;colorType&quot;:1,&quot;foreColorIndex&quot;:5,&quot;pos&quot;:0.5,&quot;transparency&quot;:0.20000000298023224},{&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SUBTYPE" val="a"/>
  <p:tag name="KSO_WM_UNIT_NOCLEAR" val="0"/>
  <p:tag name="KSO_WM_UNIT_VALUE" val="34"/>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1496_4*n_h_h_f*1_2_2_1"/>
  <p:tag name="KSO_WM_TEMPLATE_CATEGORY" val="diagram"/>
  <p:tag name="KSO_WM_TEMPLATE_INDEX" val="20231496"/>
  <p:tag name="KSO_WM_UNIT_LAYERLEVEL" val="1_1_1_1"/>
  <p:tag name="KSO_WM_TAG_VERSION" val="3.0"/>
  <p:tag name="KSO_WM_DIAGRAM_VERSION" val="3"/>
  <p:tag name="KSO_WM_DIAGRAM_COLOR_TRICK" val="1"/>
  <p:tag name="KSO_WM_DIAGRAM_COLOR_TEXT_CAN_REMOVE" val="n"/>
  <p:tag name="KSO_WM_DIAGRAM_MAX_ITEMCNT" val="6"/>
  <p:tag name="KSO_WM_DIAGRAM_MIN_ITEMCNT" val="1"/>
  <p:tag name="KSO_WM_DIAGRAM_VIRTUALLY_FRAME" val="{&quot;height&quot;:256.0552612304688,&quot;left&quot;:-156.5500332665631,&quot;top&quot;:139.44733001468688,&quot;width&quot;:748.19998779297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点击此处添加正文，文字是您思想的提炼请言简意赅的阐述您的观点"/>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2"/>
  <p:tag name="KSO_WM_UNIT_ID" val="diagram20231496_4*n_h_h_i*1_2_3_2"/>
  <p:tag name="KSO_WM_TEMPLATE_CATEGORY" val="diagram"/>
  <p:tag name="KSO_WM_TEMPLATE_INDEX" val="20231496"/>
  <p:tag name="KSO_WM_UNIT_LAYERLEVEL" val="1_1_1_1"/>
  <p:tag name="KSO_WM_TAG_VERSION" val="3.0"/>
  <p:tag name="KSO_WM_UNIT_FILL_FORE_SCHEMECOLOR_INDEX_1_BRIGHTNESS" val="0.4"/>
  <p:tag name="KSO_WM_UNIT_FILL_FORE_SCHEMECOLOR_INDEX_1" val="5"/>
  <p:tag name="KSO_WM_UNIT_FILL_FORE_SCHEMECOLOR_INDEX_1_POS" val="0.03"/>
  <p:tag name="KSO_WM_UNIT_FILL_FORE_SCHEMECOLOR_INDEX_1_TRANS" val="1"/>
  <p:tag name="KSO_WM_UNIT_FILL_FORE_SCHEMECOLOR_INDEX_2_BRIGHTNESS" val="0.4"/>
  <p:tag name="KSO_WM_UNIT_FILL_FORE_SCHEMECOLOR_INDEX_2" val="5"/>
  <p:tag name="KSO_WM_UNIT_FILL_FORE_SCHEMECOLOR_INDEX_2_POS" val="0.5"/>
  <p:tag name="KSO_WM_UNIT_FILL_FORE_SCHEMECOLOR_INDEX_2_TRANS" val="0.2"/>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0"/>
  <p:tag name="KSO_WM_UNIT_FILL_GRADIENT_DIRECTION" val="3"/>
  <p:tag name="KSO_WM_UNIT_TEXT_FILL_FORE_SCHEMECOLOR_INDEX_BRIGHTNESS" val="0"/>
  <p:tag name="KSO_WM_UNIT_TEXT_FILL_TYPE" val="1"/>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261.4025912451557,&quot;left&quot;:-156.5500332665631,&quot;top&quot;:134.1,&quot;width&quot;:748.1999877929723}"/>
  <p:tag name="KSO_WM_DIAGRAM_COLOR_MATCH_VALUE" val="{&quot;shape&quot;:{&quot;fill&quot;:{&quot;gradient&quot;:[{&quot;brightness&quot;:0.4000000059604645,&quot;colorType&quot;:1,&quot;foreColorIndex&quot;:5,&quot;pos&quot;:0.029999999329447746,&quot;transparency&quot;:1},{&quot;brightness&quot;:0.4000000059604645,&quot;colorType&quot;:1,&quot;foreColorIndex&quot;:5,&quot;pos&quot;:0.5,&quot;transparency&quot;:0.20000000298023224},{&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3_1"/>
  <p:tag name="KSO_WM_UNIT_ID" val="diagram20231496_4*n_h_h_f*1_2_3_1"/>
  <p:tag name="KSO_WM_TEMPLATE_CATEGORY" val="diagram"/>
  <p:tag name="KSO_WM_TEMPLATE_INDEX" val="20231496"/>
  <p:tag name="KSO_WM_UNIT_LAYERLEVEL" val="1_1_1_1"/>
  <p:tag name="KSO_WM_TAG_VERSION" val="3.0"/>
  <p:tag name="KSO_WM_UNIT_VALUE" val="36"/>
  <p:tag name="KSO_WM_DIAGRAM_VERSION" val="3"/>
  <p:tag name="KSO_WM_DIAGRAM_COLOR_TRICK" val="1"/>
  <p:tag name="KSO_WM_DIAGRAM_COLOR_TEXT_CAN_REMOVE" val="n"/>
  <p:tag name="KSO_WM_DIAGRAM_MAX_ITEMCNT" val="6"/>
  <p:tag name="KSO_WM_DIAGRAM_MIN_ITEMCNT" val="1"/>
  <p:tag name="KSO_WM_DIAGRAM_VIRTUALLY_FRAME" val="{&quot;height&quot;:256.0552612304688,&quot;left&quot;:-156.5500332665631,&quot;top&quot;:139.44733001468688,&quot;width&quot;:748.19998779297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点击此处添加正文，文字是您思想的提炼请言简意赅的阐述您的观点"/>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2"/>
  <p:tag name="KSO_WM_UNIT_ID" val="diagram20231496_4*n_h_h_i*1_2_4_2"/>
  <p:tag name="KSO_WM_TEMPLATE_CATEGORY" val="diagram"/>
  <p:tag name="KSO_WM_TEMPLATE_INDEX" val="20231496"/>
  <p:tag name="KSO_WM_UNIT_LAYERLEVEL" val="1_1_1_1"/>
  <p:tag name="KSO_WM_TAG_VERSION" val="3.0"/>
  <p:tag name="KSO_WM_UNIT_FILL_FORE_SCHEMECOLOR_INDEX_1_BRIGHTNESS" val="0.4"/>
  <p:tag name="KSO_WM_UNIT_FILL_FORE_SCHEMECOLOR_INDEX_1" val="5"/>
  <p:tag name="KSO_WM_UNIT_FILL_FORE_SCHEMECOLOR_INDEX_1_POS" val="0.03"/>
  <p:tag name="KSO_WM_UNIT_FILL_FORE_SCHEMECOLOR_INDEX_1_TRANS" val="1"/>
  <p:tag name="KSO_WM_UNIT_FILL_FORE_SCHEMECOLOR_INDEX_2_BRIGHTNESS" val="0.4"/>
  <p:tag name="KSO_WM_UNIT_FILL_FORE_SCHEMECOLOR_INDEX_2" val="5"/>
  <p:tag name="KSO_WM_UNIT_FILL_FORE_SCHEMECOLOR_INDEX_2_POS" val="0.5"/>
  <p:tag name="KSO_WM_UNIT_FILL_FORE_SCHEMECOLOR_INDEX_2_TRANS" val="0.2"/>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0"/>
  <p:tag name="KSO_WM_UNIT_FILL_GRADIENT_DIRECTION" val="3"/>
  <p:tag name="KSO_WM_UNIT_TEXT_FILL_FORE_SCHEMECOLOR_INDEX_BRIGHTNESS" val="0"/>
  <p:tag name="KSO_WM_UNIT_TEXT_FILL_TYPE" val="1"/>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261.4025912451557,&quot;left&quot;:-156.5500332665631,&quot;top&quot;:134.1,&quot;width&quot;:748.1999877929723}"/>
  <p:tag name="KSO_WM_DIAGRAM_COLOR_MATCH_VALUE" val="{&quot;shape&quot;:{&quot;fill&quot;:{&quot;gradient&quot;:[{&quot;brightness&quot;:0.4000000059604645,&quot;colorType&quot;:1,&quot;foreColorIndex&quot;:5,&quot;pos&quot;:0.029999999329447746,&quot;transparency&quot;:1},{&quot;brightness&quot;:0.4000000059604645,&quot;colorType&quot;:1,&quot;foreColorIndex&quot;:5,&quot;pos&quot;:0.5,&quot;transparency&quot;:0.20000000298023224},{&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4_1"/>
  <p:tag name="KSO_WM_UNIT_ID" val="diagram20231496_4*n_h_h_f*1_2_4_1"/>
  <p:tag name="KSO_WM_TEMPLATE_CATEGORY" val="diagram"/>
  <p:tag name="KSO_WM_TEMPLATE_INDEX" val="20231496"/>
  <p:tag name="KSO_WM_UNIT_LAYERLEVEL" val="1_1_1_1"/>
  <p:tag name="KSO_WM_TAG_VERSION" val="3.0"/>
  <p:tag name="KSO_WM_UNIT_VALUE" val="36"/>
  <p:tag name="KSO_WM_DIAGRAM_VERSION" val="3"/>
  <p:tag name="KSO_WM_DIAGRAM_COLOR_TRICK" val="1"/>
  <p:tag name="KSO_WM_DIAGRAM_COLOR_TEXT_CAN_REMOVE" val="n"/>
  <p:tag name="KSO_WM_DIAGRAM_MAX_ITEMCNT" val="6"/>
  <p:tag name="KSO_WM_DIAGRAM_MIN_ITEMCNT" val="1"/>
  <p:tag name="KSO_WM_DIAGRAM_VIRTUALLY_FRAME" val="{&quot;height&quot;:256.0552612304688,&quot;left&quot;:-156.5500332665631,&quot;top&quot;:139.44733001468688,&quot;width&quot;:748.19998779297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点击此处添加正文，文字是您思想的提炼请言简意赅的阐述您的观点"/>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943_2*m_h_f*1_1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8.0714173228345,&quot;left&quot;:-167.0505966546967,&quot;top&quot;:-15.843464566929134,&quot;width&quot;:863.7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智能图形项正文"/>
  <p:tag name="KSO_WM_UNIT_TEXT_TYPE" val="1"/>
  <p:tag name="KSO_WM_DIAGRAM_USE_COLOR_VALUE" val="{&quot;color_scheme&quot;:1,&quot;color_type&quot;:1,&quot;theme_color_indexes&quot;:[5,6,5,6,5,6]}"/>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43_2*m_h_i*1_3_4"/>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3_4"/>
  <p:tag name="KSO_WM_DIAGRAM_MAX_ITEMCNT" val="6"/>
  <p:tag name="KSO_WM_DIAGRAM_MIN_ITEMCNT" val="2"/>
  <p:tag name="KSO_WM_DIAGRAM_VIRTUALLY_FRAME" val="{&quot;height&quot;:468.0714173228345,&quot;left&quot;:-167.0505966546967,&quot;top&quot;:-15.843464566929134,&quot;width&quot;:942.8605179145394}"/>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35"/>
  <p:tag name="KSO_WM_DIAGRAM_USE_COLOR_VALUE" val="{&quot;color_scheme&quot;:1,&quot;color_type&quot;:1,&quot;theme_color_indexes&quot;:[5,6,5,6,5,6]}"/>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3_2"/>
  <p:tag name="KSO_WM_UNIT_ID" val="diagram20230943_2*m_h_i*1_3_2"/>
  <p:tag name="KSO_WM_TEMPLATE_CATEGORY" val="diagram"/>
  <p:tag name="KSO_WM_TEMPLATE_INDEX" val="20230943"/>
  <p:tag name="KSO_WM_UNIT_LAYERLEVEL" val="1_1_1"/>
  <p:tag name="KSO_WM_TAG_VERSION" val="3.0"/>
  <p:tag name="KSO_WM_BEAUTIFY_FLAG" val="#wm#"/>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8.0714173228345,&quot;left&quot;:-167.0505966546967,&quot;top&quot;:-15.843464566929134,&quot;width&quot;:942.8605179145394}"/>
  <p:tag name="KSO_WM_DIAGRAM_COLOR_MATCH_VALUE" val="{&quot;shape&quot;:{&quot;fill&quot;:{&quot;gradient&quot;:[{&quot;brightness&quot;:0,&quot;colorType&quot;:1,&quot;foreColorIndex&quot;:5,&quot;pos&quot;:0.3899999856948852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4"/>
  <p:tag name="KSO_WM_UNIT_FILL_TYPE" val="3"/>
  <p:tag name="KSO_WM_DIAGRAM_USE_COLOR_VALUE" val="{&quot;color_scheme&quot;:1,&quot;color_type&quot;:1,&quot;theme_color_indexes&quot;:[5,6,5,6,5,6]}"/>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43_2*m_h_i*1_2_3"/>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2_3"/>
  <p:tag name="KSO_WM_DIAGRAM_MAX_ITEMCNT" val="6"/>
  <p:tag name="KSO_WM_DIAGRAM_MIN_ITEMCNT" val="2"/>
  <p:tag name="KSO_WM_DIAGRAM_VIRTUALLY_FRAME" val="{&quot;height&quot;:468.0714173228345,&quot;left&quot;:-167.0505966546967,&quot;top&quot;:-15.843464566929134,&quot;width&quot;:942.8605179145394}"/>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35"/>
  <p:tag name="KSO_WM_DIAGRAM_USE_COLOR_VALUE" val="{&quot;color_scheme&quot;:1,&quot;color_type&quot;:1,&quot;theme_color_indexes&quot;:[5,6,5,6,5,6]}"/>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43_2*m_h_i*1_1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1_2"/>
  <p:tag name="KSO_WM_DIAGRAM_MAX_ITEMCNT" val="6"/>
  <p:tag name="KSO_WM_DIAGRAM_MIN_ITEMCNT" val="2"/>
  <p:tag name="KSO_WM_DIAGRAM_VIRTUALLY_FRAME" val="{&quot;height&quot;:468.0714173228345,&quot;left&quot;:-167.0505966546967,&quot;top&quot;:-15.843464566929134,&quot;width&quot;:942.8605179145394}"/>
  <p:tag name="KSO_WM_DIAGRAM_COLOR_MATCH_VALUE" val="{&quot;shape&quot;:{&quot;fill&quot;:{&quot;gradient&quot;:[{&quot;brightness&quot;:0,&quot;colorType&quot;:1,&quot;foreColorIndex&quot;:5,&quot;pos&quot;:0.3899999856948852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43_2*m_h_i*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2_1"/>
  <p:tag name="KSO_WM_DIAGRAM_MAX_ITEMCNT" val="6"/>
  <p:tag name="KSO_WM_DIAGRAM_MIN_ITEMCNT" val="2"/>
  <p:tag name="KSO_WM_DIAGRAM_VIRTUALLY_FRAME" val="{&quot;height&quot;:468.0714173228345,&quot;left&quot;:-167.0505966546967,&quot;top&quot;:-15.843464566929134,&quot;width&quot;:942.8605179145394}"/>
  <p:tag name="KSO_WM_DIAGRAM_COLOR_MATCH_VALUE" val="{&quot;shape&quot;:{&quot;fill&quot;:{&quot;gradient&quot;:[{&quot;brightness&quot;:0,&quot;colorType&quot;:1,&quot;foreColorIndex&quot;:8,&quot;pos&quot;:0.38999998569488525,&quot;transparency&quot;:0},{&quot;brightness&quot;:0.4000000059604645,&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943_2*m_h_f*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8.0714173228345,&quot;left&quot;:-167.0505966546967,&quot;top&quot;:-15.843464566929134,&quot;width&quot;:863.7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智能图形项正文"/>
  <p:tag name="KSO_WM_UNIT_TEXT_TYPE" val="1"/>
  <p:tag name="KSO_WM_DIAGRAM_USE_COLOR_VALUE" val="{&quot;color_scheme&quot;:1,&quot;color_type&quot;:1,&quot;theme_color_indexes&quot;:[5,6,5,6,5,6]}"/>
</p:tagLst>
</file>

<file path=ppt/tags/tag2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943_2*m_h_f*1_3_1"/>
  <p:tag name="KSO_WM_TEMPLATE_CATEGORY" val="diagram"/>
  <p:tag name="KSO_WM_TEMPLATE_INDEX" val="20230943"/>
  <p:tag name="KSO_WM_UNIT_LAYERLEVEL" val="1_1_1"/>
  <p:tag name="KSO_WM_TAG_VERSION" val="3.0"/>
  <p:tag name="KSO_WM_BEAUTIFY_FLAG" val="#wm#"/>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8.0714173228345,&quot;left&quot;:-167.0505966546967,&quot;top&quot;:-15.843464566929134,&quot;width&quot;:942.86051791453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智能图形项正文"/>
  <p:tag name="KSO_WM_UNIT_TEXT_TYPE" val="1"/>
  <p:tag name="KSO_WM_DIAGRAM_USE_COLOR_VALUE" val="{&quot;color_scheme&quot;:1,&quot;color_type&quot;:1,&quot;theme_color_indexes&quot;:[5,6,5,6,5,6]}"/>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43_2*m_h_i*1_3_4"/>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3_4"/>
  <p:tag name="KSO_WM_DIAGRAM_MAX_ITEMCNT" val="6"/>
  <p:tag name="KSO_WM_DIAGRAM_MIN_ITEMCNT" val="2"/>
  <p:tag name="KSO_WM_DIAGRAM_VIRTUALLY_FRAME" val="{&quot;height&quot;:468.0714173228345,&quot;left&quot;:-167.0505966546967,&quot;top&quot;:-15.843464566929134,&quot;width&quot;:863.7000122070312}"/>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35"/>
  <p:tag name="KSO_WM_DIAGRAM_USE_COLOR_VALUE" val="{&quot;color_scheme&quot;:1,&quot;color_type&quot;:1,&quot;theme_color_indexes&quot;:[5,6,5,6,5,6]}"/>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43_2*m_h_i*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2_1"/>
  <p:tag name="KSO_WM_DIAGRAM_MAX_ITEMCNT" val="6"/>
  <p:tag name="KSO_WM_DIAGRAM_MIN_ITEMCNT" val="2"/>
  <p:tag name="KSO_WM_DIAGRAM_VIRTUALLY_FRAME" val="{&quot;height&quot;:468.0714173228345,&quot;left&quot;:-167.0505966546967,&quot;top&quot;:-15.843464566929134,&quot;width&quot;:863.7000122070312}"/>
  <p:tag name="KSO_WM_DIAGRAM_COLOR_MATCH_VALUE" val="{&quot;shape&quot;:{&quot;fill&quot;:{&quot;gradient&quot;:[{&quot;brightness&quot;:0,&quot;colorType&quot;:1,&quot;foreColorIndex&quot;:8,&quot;pos&quot;:0.38999998569488525,&quot;transparency&quot;:0},{&quot;brightness&quot;:0.4000000059604645,&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943_2*m_h_f*1_3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8.0714173228345,&quot;left&quot;:-167.0505966546967,&quot;top&quot;:-15.843464566929134,&quot;width&quot;:942.86051791453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智能图形项正文"/>
  <p:tag name="KSO_WM_UNIT_TEXT_TYPE" val="1"/>
  <p:tag name="KSO_WM_DIAGRAM_USE_COLOR_VALUE" val="{&quot;color_scheme&quot;:1,&quot;color_type&quot;:1,&quot;theme_color_indexes&quot;:[5,6,5,6,5,6]}"/>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023_2*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提高管理效率，提升服务水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8.xml><?xml version="1.0" encoding="utf-8"?>
<p:tagLst xmlns:a="http://schemas.openxmlformats.org/drawingml/2006/main" xmlns:r="http://schemas.openxmlformats.org/officeDocument/2006/relationships" xmlns:p="http://schemas.openxmlformats.org/presentationml/2006/main">
  <p:tag name="TABLE_ENDDRAG_ORIGIN_RECT" val="464*173"/>
  <p:tag name="TABLE_ENDDRAG_RECT" val="155*160*464*173"/>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023_2*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提高管理效率，提升服务水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43.65,&quot;left&quot;:133.05,&quot;top&quot;:160.95,&quot;width&quot;:608.0418358413817}"/>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2_1*l_h_i*1_1_1"/>
  <p:tag name="KSO_WM_TEMPLATE_CATEGORY" val="diagram"/>
  <p:tag name="KSO_WM_TEMPLATE_INDEX" val="20236952"/>
  <p:tag name="KSO_WM_UNIT_LAYERLEVEL" val="1_1_1"/>
  <p:tag name="KSO_WM_TAG_VERSION" val="3.0"/>
  <p:tag name="KSO_WM_BEAUTIFY_FLAG" val="#wm#"/>
  <p:tag name="KSO_WM_UNIT_FILL_TYPE" val="3"/>
  <p:tag name="KSO_WM_DIAGRAM_MAX_ITEMCNT" val="3"/>
  <p:tag name="KSO_WM_DIAGRAM_MIN_ITEMCNT" val="2"/>
  <p:tag name="KSO_WM_DIAGRAM_COLOR_MATCH_VALUE" val="{&quot;shape&quot;:{&quot;fill&quot;:{&quot;gradient&quot;:[{&quot;brightness&quot;:0,&quot;colorType&quot;:1,&quot;foreColorIndex&quot;:5,&quot;pos&quot;:0.899999976158142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37.2307086614174,&quot;left&quot;:171.67501455231914,&quot;top&quot;:146.25,&quot;width&quot;:573.6668212890625}"/>
  <p:tag name="KSO_WM_DIAGRAM_VERSION" val="3"/>
  <p:tag name="KSO_WM_DIAGRAM_COLOR_TRICK" val="2"/>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6952_1*l_h_a*1_1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VALUE" val="7"/>
  <p:tag name="KSO_WM_UNIT_PRESET_TEXT" val="添加标题"/>
  <p:tag name="KSO_WM_UNIT_TEXT_TYPE" val="1"/>
  <p:tag name="KSO_WM_DIAGRAM_USE_COLOR_VALUE" val="{&quot;color_scheme&quot;:1,&quot;color_type&quot;:1,&quot;theme_color_indexes&quot;:[5,6,5,6,5,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43.65,&quot;left&quot;:133.05,&quot;top&quot;:160.95,&quot;width&quot;:608.0418358413817}"/>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2_1*l_h_i*1_2_1"/>
  <p:tag name="KSO_WM_TEMPLATE_CATEGORY" val="diagram"/>
  <p:tag name="KSO_WM_TEMPLATE_INDEX" val="20236952"/>
  <p:tag name="KSO_WM_UNIT_LAYERLEVEL" val="1_1_1"/>
  <p:tag name="KSO_WM_TAG_VERSION" val="3.0"/>
  <p:tag name="KSO_WM_BEAUTIFY_FLAG" val="#wm#"/>
  <p:tag name="KSO_WM_UNIT_FILL_TYPE" val="3"/>
  <p:tag name="KSO_WM_DIAGRAM_MAX_ITEMCNT" val="3"/>
  <p:tag name="KSO_WM_DIAGRAM_MIN_ITEMCNT" val="2"/>
  <p:tag name="KSO_WM_DIAGRAM_COLOR_MATCH_VALUE" val="{&quot;shape&quot;:{&quot;fill&quot;:{&quot;gradient&quot;:[{&quot;brightness&quot;:0,&quot;colorType&quot;:1,&quot;foreColorIndex&quot;:8,&quot;pos&quot;:0.8999999761581421,&quot;transparency&quot;:0},{&quot;brightness&quot;:0.4000000059604645,&quot;colorType&quot;:1,&quot;foreColorIndex&quot;:8,&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40.35,&quot;left&quot;:167.42501455231914,&quot;top&quot;:164.25,&quot;width&quot;:573.6668212890625}"/>
  <p:tag name="KSO_WM_DIAGRAM_VERSION" val="3"/>
  <p:tag name="KSO_WM_DIAGRAM_COLOR_TRICK" val="2"/>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6952_1*l_h_a*1_2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VALUE" val="7"/>
  <p:tag name="KSO_WM_UNIT_PRESET_TEXT" val="添加标题"/>
  <p:tag name="KSO_WM_UNIT_TEXT_TYPE" val="1"/>
  <p:tag name="KSO_WM_DIAGRAM_USE_COLOR_VALUE" val="{&quot;color_scheme&quot;:1,&quot;color_type&quot;:1,&quot;theme_color_indexes&quot;:[5,6,5,6,5,6]}"/>
</p:tagLst>
</file>

<file path=ppt/tags/tag3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023_2*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提高管理效率，提升服务水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0941_1*m_i*1_1"/>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343.6048889160156,&quot;left&quot;:-93.93408503014271,&quot;top&quot;:110.42338231364572,&quot;width&quot;:880.64990234375}"/>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20000000298023224,&quot;transparency&quot;:1},{&quot;brightness&quot;:0,&quot;colorType&quot;:1,&quot;foreColorIndex&quot;:5,&quot;pos&quot;:0.89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1*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343.6048889160156,&quot;left&quot;:-93.93408503014271,&quot;top&quot;:110.42338231364572,&quot;width&quot;:880.64990234375}"/>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6048889160156,&quot;left&quot;:-93.93408503014271,&quot;top&quot;:110.42338231364572,&quot;width&quot;:880.64990234375}"/>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DIAGRAM_USE_COLOR_VALUE" val="{&quot;color_scheme&quot;:1,&quot;color_type&quot;:1,&quot;theme_color_indexes&quot;:[5,6,5,6,5,6]}"/>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0941_1*m_h_i*1_2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6048889160156,&quot;left&quot;:-93.93408503014271,&quot;top&quot;:110.42338231364572,&quot;width&quot;:880.64990234375}"/>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3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941_1*m_h_f*1_1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6048889160156,&quot;left&quot;:-93.93408503014271,&quot;top&quot;:110.42338231364572,&quot;width&quot;:88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的提炼，请尽量言简意赅的阐述观点"/>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h_i*1_2_1_1"/>
  <p:tag name="KSO_WM_TEMPLATE_CATEGORY" val="diagram"/>
  <p:tag name="KSO_WM_TEMPLATE_INDEX" val="20235023"/>
  <p:tag name="KSO_WM_UNIT_LAYERLEVEL" val="1_1_1_1"/>
  <p:tag name="KSO_WM_TAG_VERSION" val="3.0"/>
  <p:tag name="KSO_WM_BEAUTIFY_FLAG" val="#wm#"/>
  <p:tag name="KSO_WM_UNIT_TYPE" val="n_h_h_i"/>
  <p:tag name="KSO_WM_UNIT_INDEX" val="1_2_1_1"/>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h_i*1_2_2_1"/>
  <p:tag name="KSO_WM_TEMPLATE_CATEGORY" val="diagram"/>
  <p:tag name="KSO_WM_TEMPLATE_INDEX" val="20235023"/>
  <p:tag name="KSO_WM_UNIT_LAYERLEVEL" val="1_1_1_1"/>
  <p:tag name="KSO_WM_TAG_VERSION" val="3.0"/>
  <p:tag name="KSO_WM_BEAUTIFY_FLAG" val="#wm#"/>
  <p:tag name="KSO_WM_UNIT_TYPE" val="n_h_h_i"/>
  <p:tag name="KSO_WM_UNIT_INDEX" val="1_2_2_1"/>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h_i*1_2_3_1"/>
  <p:tag name="KSO_WM_TEMPLATE_CATEGORY" val="diagram"/>
  <p:tag name="KSO_WM_TEMPLATE_INDEX" val="20235023"/>
  <p:tag name="KSO_WM_UNIT_LAYERLEVEL" val="1_1_1_1"/>
  <p:tag name="KSO_WM_TAG_VERSION" val="3.0"/>
  <p:tag name="KSO_WM_BEAUTIFY_FLAG" val="#wm#"/>
  <p:tag name="KSO_WM_UNIT_TYPE" val="n_h_h_i"/>
  <p:tag name="KSO_WM_UNIT_INDEX" val="1_2_3_1"/>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h_i*1_2_4_1"/>
  <p:tag name="KSO_WM_TEMPLATE_CATEGORY" val="diagram"/>
  <p:tag name="KSO_WM_TEMPLATE_INDEX" val="20235023"/>
  <p:tag name="KSO_WM_UNIT_LAYERLEVEL" val="1_1_1_1"/>
  <p:tag name="KSO_WM_TAG_VERSION" val="3.0"/>
  <p:tag name="KSO_WM_BEAUTIFY_FLAG" val="#wm#"/>
  <p:tag name="KSO_WM_UNIT_TYPE" val="n_h_h_i"/>
  <p:tag name="KSO_WM_UNIT_INDEX" val="1_2_4_1"/>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i*1_1_1"/>
  <p:tag name="KSO_WM_TEMPLATE_CATEGORY" val="diagram"/>
  <p:tag name="KSO_WM_TEMPLATE_INDEX" val="20235023"/>
  <p:tag name="KSO_WM_UNIT_LAYERLEVEL" val="1_1_1"/>
  <p:tag name="KSO_WM_TAG_VERSION" val="3.0"/>
  <p:tag name="KSO_WM_BEAUTIFY_FLAG" val="#wm#"/>
  <p:tag name="KSO_WM_UNIT_TYPE" val="n_h_i"/>
  <p:tag name="KSO_WM_UNIT_INDEX" val="1_1_1"/>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023_2*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提高管理效率，提升服务水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i*1_1_2"/>
  <p:tag name="KSO_WM_TEMPLATE_CATEGORY" val="diagram"/>
  <p:tag name="KSO_WM_TEMPLATE_INDEX" val="20235023"/>
  <p:tag name="KSO_WM_UNIT_LAYERLEVEL" val="1_1_1"/>
  <p:tag name="KSO_WM_TAG_VERSION" val="3.0"/>
  <p:tag name="KSO_WM_BEAUTIFY_FLAG" val="#wm#"/>
  <p:tag name="KSO_WM_UNIT_TYPE" val="n_h_i"/>
  <p:tag name="KSO_WM_UNIT_INDEX" val="1_1_2"/>
  <p:tag name="KSO_WM_DIAGRAM_VERSION" val="3"/>
  <p:tag name="KSO_WM_DIAGRAM_COLOR_TRICK" val="1"/>
  <p:tag name="KSO_WM_DIAGRAM_COLOR_TEXT_CAN_REMOVE" val="n"/>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i*1_1_3"/>
  <p:tag name="KSO_WM_TEMPLATE_CATEGORY" val="diagram"/>
  <p:tag name="KSO_WM_TEMPLATE_INDEX" val="20235023"/>
  <p:tag name="KSO_WM_UNIT_LAYERLEVEL" val="1_1_1"/>
  <p:tag name="KSO_WM_TAG_VERSION" val="3.0"/>
  <p:tag name="KSO_WM_BEAUTIFY_FLAG" val="#wm#"/>
  <p:tag name="KSO_WM_UNIT_TYPE" val="n_h_i"/>
  <p:tag name="KSO_WM_UNIT_INDEX" val="1_1_3"/>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i*1_1_4"/>
  <p:tag name="KSO_WM_TEMPLATE_CATEGORY" val="diagram"/>
  <p:tag name="KSO_WM_TEMPLATE_INDEX" val="20235023"/>
  <p:tag name="KSO_WM_UNIT_LAYERLEVEL" val="1_1_1"/>
  <p:tag name="KSO_WM_TAG_VERSION" val="3.0"/>
  <p:tag name="KSO_WM_BEAUTIFY_FLAG" val="#wm#"/>
  <p:tag name="KSO_WM_UNIT_TYPE" val="n_h_i"/>
  <p:tag name="KSO_WM_UNIT_INDEX" val="1_1_4"/>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4000000059604645,&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i*1_1_5"/>
  <p:tag name="KSO_WM_TEMPLATE_CATEGORY" val="diagram"/>
  <p:tag name="KSO_WM_TEMPLATE_INDEX" val="20235023"/>
  <p:tag name="KSO_WM_UNIT_LAYERLEVEL" val="1_1_1"/>
  <p:tag name="KSO_WM_TAG_VERSION" val="3.0"/>
  <p:tag name="KSO_WM_BEAUTIFY_FLAG" val="#wm#"/>
  <p:tag name="KSO_WM_UNIT_TYPE" val="n_h_i"/>
  <p:tag name="KSO_WM_UNIT_INDEX" val="1_1_5"/>
  <p:tag name="KSO_WM_DIAGRAM_VERSION" val="3"/>
  <p:tag name="KSO_WM_DIAGRAM_COLOR_TRICK" val="1"/>
  <p:tag name="KSO_WM_DIAGRAM_COLOR_TEXT_CAN_REMOVE" val="n"/>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gradient&quot;:[{&quot;brightness&quot;:0,&quot;colorType&quot;:2,&quot;pos&quot;:0.6600000262260437,&quot;rgb&quot;:&quot;#376fff&quot;,&quot;transparency&quot;:1},{&quot;brightness&quot;:0,&quot;colorType&quot;:1,&quot;foreColorIndex&quot;:5,&quot;pos&quot;:0.14000000059604645,&quot;transparency&quot;:1},{&quot;brightness&quot;:0,&quot;colorType&quot;:2,&quot;pos&quot;:0,&quot;rgb&quot;:&quot;#376fff&quot;,&quot;transparency&quot;:0.8399999737739563},{&quot;brightness&quot;:0,&quot;colorType&quot;:1,&quot;foreColorIndex&quot;:5,&quot;pos&quot;:1,&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h_i*1_2_4_2"/>
  <p:tag name="KSO_WM_TEMPLATE_CATEGORY" val="diagram"/>
  <p:tag name="KSO_WM_TEMPLATE_INDEX" val="20235023"/>
  <p:tag name="KSO_WM_UNIT_LAYERLEVEL" val="1_1_1_1"/>
  <p:tag name="KSO_WM_TAG_VERSION" val="3.0"/>
  <p:tag name="KSO_WM_BEAUTIFY_FLAG" val="#wm#"/>
  <p:tag name="KSO_WM_UNIT_TYPE" val="n_h_h_i"/>
  <p:tag name="KSO_WM_UNIT_INDEX" val="1_2_4_2"/>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h_i*1_2_1_2"/>
  <p:tag name="KSO_WM_TEMPLATE_CATEGORY" val="diagram"/>
  <p:tag name="KSO_WM_TEMPLATE_INDEX" val="20235023"/>
  <p:tag name="KSO_WM_UNIT_LAYERLEVEL" val="1_1_1_1"/>
  <p:tag name="KSO_WM_TAG_VERSION" val="3.0"/>
  <p:tag name="KSO_WM_BEAUTIFY_FLAG" val="#wm#"/>
  <p:tag name="KSO_WM_UNIT_TYPE" val="n_h_h_i"/>
  <p:tag name="KSO_WM_UNIT_INDEX" val="1_2_1_2"/>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35023_2*n_h_h_a*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工作职责明确"/>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5023_2*n_h_i*1_2_1"/>
  <p:tag name="KSO_WM_TEMPLATE_CATEGORY" val="diagram"/>
  <p:tag name="KSO_WM_TEMPLATE_INDEX" val="20235023"/>
  <p:tag name="KSO_WM_UNIT_LAYERLEVEL" val="1_1_1"/>
  <p:tag name="KSO_WM_TAG_VERSION" val="3.0"/>
  <p:tag name="KSO_WM_BEAUTIFY_FLAG" val="#wm#"/>
  <p:tag name="KSO_WM_UNIT_TYPE" val="n_h_i"/>
  <p:tag name="KSO_WM_UNIT_INDEX" val="1_2_1"/>
  <p:tag name="KSO_WM_DIAGRAM_VERSION" val="3"/>
  <p:tag name="KSO_WM_DIAGRAM_COLOR_TRICK" val="1"/>
  <p:tag name="KSO_WM_DIAGRAM_COLOR_TEXT_CAN_REMOVE" val="n"/>
  <p:tag name="KSO_WM_UNIT_TEXT_FILL_FORE_SCHEMECOLOR_INDEX" val="1"/>
  <p:tag name="KSO_WM_UNIT_TEXT_FILL_TYPE" val="1"/>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8500000238418579}],&quot;type&quot;:2},&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35023_2*n_h_h_a*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工作职责明确"/>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35023_2*n_h_h_a*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工作职责明确"/>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35023_2*n_h_h_a*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工作职责明确"/>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023_2*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4999389648443,&quot;left&quot;:-71.73270432840181,&quot;top&quot;:55.7672865163247,&quot;width&quot;:851.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提高管理效率，提升服务水平"/>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2055</Words>
  <Application>Microsoft Office PowerPoint</Application>
  <PresentationFormat>全屏显示(16:9)</PresentationFormat>
  <Paragraphs>457</Paragraphs>
  <Slides>31</Slides>
  <Notes>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6" baseType="lpstr">
      <vt:lpstr>等线</vt:lpstr>
      <vt:lpstr>楷体</vt:lpstr>
      <vt:lpstr>宋体</vt:lpstr>
      <vt:lpstr>微软雅黑</vt:lpstr>
      <vt:lpstr>微软雅黑</vt:lpstr>
      <vt:lpstr>微软雅黑 Light</vt:lpstr>
      <vt:lpstr>Arial</vt:lpstr>
      <vt:lpstr>Calibri</vt:lpstr>
      <vt:lpstr>Calibri Light</vt:lpstr>
      <vt:lpstr>Cambria Math</vt:lpstr>
      <vt:lpstr>Century Gothic</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408</cp:revision>
  <dcterms:created xsi:type="dcterms:W3CDTF">2020-01-28T04:26:00Z</dcterms:created>
  <dcterms:modified xsi:type="dcterms:W3CDTF">2025-05-30T08:56:49Z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v1.0_mb_p3KkJyKqBJSpFjgU+N9mKw==</vt:lpwstr>
  </property>
  <property fmtid="{D5CDD505-2E9C-101B-9397-08002B2CF9AE}" pid="4" name="ICV">
    <vt:lpwstr>D39516DBCF4F48E18D217F3CA681694C_11</vt:lpwstr>
  </property>
</Properties>
</file>