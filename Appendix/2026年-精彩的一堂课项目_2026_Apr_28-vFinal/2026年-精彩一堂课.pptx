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30" r:id="rId2"/>
    <p:sldId id="1138" r:id="rId3"/>
    <p:sldId id="454" r:id="rId4"/>
    <p:sldId id="1139" r:id="rId5"/>
    <p:sldId id="1140" r:id="rId6"/>
    <p:sldId id="1141" r:id="rId7"/>
    <p:sldId id="1142" r:id="rId8"/>
    <p:sldId id="1143" r:id="rId9"/>
    <p:sldId id="1147" r:id="rId10"/>
    <p:sldId id="1146" r:id="rId11"/>
    <p:sldId id="1068" r:id="rId12"/>
    <p:sldId id="1148" r:id="rId13"/>
    <p:sldId id="1149" r:id="rId14"/>
    <p:sldId id="1150" r:id="rId15"/>
    <p:sldId id="1065" r:id="rId16"/>
    <p:sldId id="1151" r:id="rId17"/>
    <p:sldId id="1152" r:id="rId18"/>
    <p:sldId id="1154" r:id="rId19"/>
    <p:sldId id="1137" r:id="rId20"/>
    <p:sldId id="1083" r:id="rId21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nhui Wang" initials="CW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94A96"/>
    <a:srgbClr val="FFC5C5"/>
    <a:srgbClr val="FF3F3F"/>
    <a:srgbClr val="FF3300"/>
    <a:srgbClr val="FFFFFF"/>
    <a:srgbClr val="1D4E89"/>
    <a:srgbClr val="013B6D"/>
    <a:srgbClr val="EEF2F5"/>
    <a:srgbClr val="F6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5" autoAdjust="0"/>
    <p:restoredTop sz="83392" autoAdjust="0"/>
  </p:normalViewPr>
  <p:slideViewPr>
    <p:cSldViewPr snapToGrid="0" showGuides="1">
      <p:cViewPr varScale="1">
        <p:scale>
          <a:sx n="120" d="100"/>
          <a:sy n="120" d="100"/>
        </p:scale>
        <p:origin x="1434" y="42"/>
      </p:cViewPr>
      <p:guideLst>
        <p:guide orient="horz" pos="160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3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5F4D-846D-4906-B4CB-51D76D91958B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2026/4/28</a:t>
            </a:fld>
            <a:endParaRPr lang="zh-CN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0D9A4-5022-4B99-99A1-5D51B6AD7F7A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80555" y="1023974"/>
            <a:ext cx="8638309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A1C0C-F063-40E8-84C1-43F7B17829DE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2026/4/28</a:t>
            </a:fld>
            <a:endParaRPr lang="zh-CN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B8C6B-9C1E-4011-877C-92C57B3A2027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2026/4/28</a:t>
            </a:fld>
            <a:endParaRPr lang="zh-CN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FB1BC-566C-41B6-9AE0-896B7D840693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3536016" y="1040755"/>
            <a:ext cx="52807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《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现代密码学</a:t>
            </a: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》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第十一章第一节</a:t>
            </a:r>
            <a:endParaRPr lang="en-US" altLang="zh-CN" sz="2800" b="1" kern="1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10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区块链的基本原理及应用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3092450" y="2122560"/>
            <a:ext cx="572432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4955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6"/>
          <p:cNvSpPr txBox="1"/>
          <p:nvPr/>
        </p:nvSpPr>
        <p:spPr>
          <a:xfrm>
            <a:off x="4176431" y="2571750"/>
            <a:ext cx="3430597" cy="1210307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主讲人：王灿辉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邮箱：</a:t>
            </a:r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chwang@hqu.edu.cn</a:t>
            </a: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日期：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45200" y="123707"/>
            <a:ext cx="3098800" cy="31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华侨大学第十四届青年教师“精彩一堂课”</a:t>
            </a:r>
            <a:endParaRPr lang="en-US" altLang="zh-CN" sz="1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把区块链作为核心技术自主创新重要突破口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习近平总书记强调：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8347" y="2349927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加快推动区块链技术和产业创新发展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3430" y="3141431"/>
            <a:ext cx="7710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24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日中央政治局就区块链技术发展现状和趋势进行集体学习。区块链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：使区块链服务于各行各业。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8" grpId="2"/>
      <p:bldP spid="20" grpId="1"/>
      <p:bldP spid="20" grpId="2"/>
      <p:bldP spid="24" grpId="0"/>
      <p:bldP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0650" y="1589682"/>
            <a:ext cx="7653532" cy="3041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266700"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普通高等教育“十一五”国家级规划教材，教科书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现代密码学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（第五版），杨波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，清华大学出版社，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</a:p>
          <a:p>
            <a:pPr algn="just" defTabSz="266700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课后阅读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密码编码学与网络安全：原理与实践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（第八版），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William Stallings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电子工业出版社，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2021.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spcBef>
                <a:spcPts val="1400"/>
              </a:spcBef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课后阅读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公钥密码学的数学基础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，王小云，科学出版社，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 defTabSz="266700">
              <a:buFont typeface="+mj-lt"/>
              <a:buAutoNum type="arabicPeriod"/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课程教材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5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28855" y="1010578"/>
            <a:ext cx="36862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意图：转让价值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元的资产给对方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/>
      <p:bldP spid="3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44188" y="1012903"/>
            <a:ext cx="1310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途径？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  <p:bldP spid="30" grpId="2" animBg="1"/>
      <p:bldP spid="31" grpId="1"/>
      <p:bldP spid="31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形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  <p:bldP spid="31" grpId="0"/>
      <p:bldP spid="3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043700" y="729426"/>
            <a:ext cx="4270026" cy="833726"/>
            <a:chOff x="7943" y="1149"/>
            <a:chExt cx="6724" cy="1313"/>
          </a:xfrm>
        </p:grpSpPr>
        <p:sp>
          <p:nvSpPr>
            <p:cNvPr id="2" name="矩形 1"/>
            <p:cNvSpPr/>
            <p:nvPr/>
          </p:nvSpPr>
          <p:spPr>
            <a:xfrm>
              <a:off x="7943" y="1149"/>
              <a:ext cx="6333" cy="13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063" y="1153"/>
              <a:ext cx="6604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经典记账方案：</a:t>
              </a:r>
              <a:endPara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爱丽丝资产余额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- 2</a:t>
              </a: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2.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鲍勃资产余额  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+ 2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25175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16" y="651061"/>
            <a:ext cx="1017845" cy="1017845"/>
          </a:xfrm>
          <a:prstGeom prst="rect">
            <a:avLst/>
          </a:prstGeom>
        </p:spPr>
      </p:pic>
      <p:pic>
        <p:nvPicPr>
          <p:cNvPr id="28" name="图形 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  <p:bldP spid="2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043700" y="729426"/>
            <a:ext cx="4253516" cy="833726"/>
            <a:chOff x="7943" y="1149"/>
            <a:chExt cx="6698" cy="1313"/>
          </a:xfrm>
        </p:grpSpPr>
        <p:sp>
          <p:nvSpPr>
            <p:cNvPr id="2" name="矩形 1"/>
            <p:cNvSpPr/>
            <p:nvPr/>
          </p:nvSpPr>
          <p:spPr>
            <a:xfrm>
              <a:off x="7943" y="1149"/>
              <a:ext cx="6333" cy="13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037" y="1153"/>
              <a:ext cx="6604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经典记账方案：</a:t>
              </a:r>
              <a:endPara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爱丽丝资产余额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- 2</a:t>
              </a: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2.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鲍勃资产余额  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+ 2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43700" y="1756410"/>
            <a:ext cx="4100486" cy="1354217"/>
            <a:chOff x="7943" y="2766"/>
            <a:chExt cx="6457" cy="2133"/>
          </a:xfrm>
        </p:grpSpPr>
        <p:sp>
          <p:nvSpPr>
            <p:cNvPr id="29" name="矩形 28"/>
            <p:cNvSpPr/>
            <p:nvPr/>
          </p:nvSpPr>
          <p:spPr>
            <a:xfrm>
              <a:off x="7943" y="2766"/>
              <a:ext cx="6333" cy="183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067" y="2766"/>
              <a:ext cx="6333" cy="2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存在问题：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完全信任第三方 </a:t>
              </a:r>
              <a:endPara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2. 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人工服务     </a:t>
              </a:r>
              <a:endPara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3. 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成本开销大等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  <p:bldP spid="2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043700" y="729426"/>
            <a:ext cx="4193826" cy="831186"/>
            <a:chOff x="7943" y="1149"/>
            <a:chExt cx="6604" cy="1309"/>
          </a:xfrm>
        </p:grpSpPr>
        <p:sp>
          <p:nvSpPr>
            <p:cNvPr id="2" name="矩形 1"/>
            <p:cNvSpPr/>
            <p:nvPr/>
          </p:nvSpPr>
          <p:spPr>
            <a:xfrm>
              <a:off x="7943" y="1149"/>
              <a:ext cx="6333" cy="13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43" y="1149"/>
              <a:ext cx="6604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经典记账方案：</a:t>
              </a:r>
              <a:endPara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爱丽丝资产余额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- 2</a:t>
              </a: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2.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鲍勃资产余额  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+ 2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43700" y="1756612"/>
            <a:ext cx="4057306" cy="1647861"/>
            <a:chOff x="7943" y="2766"/>
            <a:chExt cx="6389" cy="2595"/>
          </a:xfrm>
        </p:grpSpPr>
        <p:sp>
          <p:nvSpPr>
            <p:cNvPr id="29" name="矩形 28"/>
            <p:cNvSpPr/>
            <p:nvPr/>
          </p:nvSpPr>
          <p:spPr>
            <a:xfrm>
              <a:off x="7943" y="2766"/>
              <a:ext cx="6333" cy="183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999" y="2841"/>
              <a:ext cx="6333" cy="2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如何解决：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完全信任第三方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-&gt;</a:t>
              </a: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可验证零信任？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2. 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人工服务  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-&gt;</a:t>
              </a: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7×24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智能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服务？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3. 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成本开销大等   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-&gt;</a:t>
              </a:r>
              <a:r>
                <a:rPr lang="en-US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降低成本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？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endPara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043700" y="728980"/>
            <a:ext cx="4193826" cy="831443"/>
            <a:chOff x="7943" y="1148"/>
            <a:chExt cx="6604" cy="1309"/>
          </a:xfrm>
        </p:grpSpPr>
        <p:sp>
          <p:nvSpPr>
            <p:cNvPr id="2" name="矩形 1"/>
            <p:cNvSpPr/>
            <p:nvPr/>
          </p:nvSpPr>
          <p:spPr>
            <a:xfrm>
              <a:off x="7943" y="1149"/>
              <a:ext cx="6333" cy="13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43" y="1148"/>
              <a:ext cx="6604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经典记账方案：</a:t>
              </a:r>
              <a:endPara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1.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爱丽丝资产余额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- 2</a:t>
              </a:r>
            </a:p>
            <a:p>
              <a:pPr algn="just" defTabSz="266700">
                <a:buClr>
                  <a:schemeClr val="accent1"/>
                </a:buClr>
              </a:pP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2.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鲍勃资产余额  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=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当前资产余额 </a:t>
              </a:r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+ 2 </a:t>
              </a: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43805" y="1756410"/>
            <a:ext cx="4020820" cy="1164590"/>
            <a:chOff x="7943" y="2766"/>
            <a:chExt cx="6332" cy="1834"/>
          </a:xfrm>
        </p:grpSpPr>
        <p:sp>
          <p:nvSpPr>
            <p:cNvPr id="28" name="矩形 27"/>
            <p:cNvSpPr/>
            <p:nvPr/>
          </p:nvSpPr>
          <p:spPr>
            <a:xfrm>
              <a:off x="7943" y="2766"/>
              <a:ext cx="6333" cy="183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309" y="3315"/>
              <a:ext cx="2281" cy="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266700">
                <a:buClr>
                  <a:schemeClr val="accent1"/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区块链！</a:t>
              </a:r>
              <a:endPara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  <a:p>
              <a:pPr algn="just" defTabSz="266700">
                <a:buClr>
                  <a:schemeClr val="accent1"/>
                </a:buClr>
              </a:pP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30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1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2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5455" y="1354656"/>
            <a:ext cx="771080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定义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：区块链是一种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分布式账本技术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Distributed Ledger Technology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是一种多节点所组成的网络上进行电子数据复制、共享及同步的共识，并不存在中心化的数据存储。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en-US" altLang="zh-CN" baseline="30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历史：区块链技术，在比特币白皮书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比特币：一种点对点电子货币系统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Bitcoin: A Peer-to-Peer Electronic Cash System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一文中，被化名为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中本聪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Satoshi Nakamoto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，音译，也称中本哲史）的作者所提出。</a:t>
            </a:r>
            <a:endParaRPr lang="en-US" altLang="zh-CN" baseline="30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/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85166" y="77741"/>
            <a:ext cx="5497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>
              <a:buClr>
                <a:schemeClr val="accent1"/>
              </a:buClr>
            </a:pPr>
            <a:r>
              <a:rPr lang="zh-CN" altLang="en-US" sz="18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每一笔交易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（包括爱丽丝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元的资产给鲍勃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都会广播到区块链网络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936" y="735361"/>
            <a:ext cx="1446172" cy="867703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569" y="3126622"/>
            <a:ext cx="584775" cy="584775"/>
          </a:xfrm>
          <a:prstGeom prst="rect">
            <a:avLst/>
          </a:prstGeom>
        </p:spPr>
      </p:pic>
      <p:pic>
        <p:nvPicPr>
          <p:cNvPr id="39" name="图形 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1785" y="3122397"/>
            <a:ext cx="584775" cy="584775"/>
          </a:xfrm>
          <a:prstGeom prst="rect">
            <a:avLst/>
          </a:prstGeom>
        </p:spPr>
      </p:pic>
      <p:pic>
        <p:nvPicPr>
          <p:cNvPr id="40" name="图形 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4951" y="903251"/>
            <a:ext cx="584775" cy="5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/>
      <p:bldP spid="3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/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交易：爱丽丝转让价值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元的资产给鲍勃；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去中心化：区块链网络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每一个节点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都维护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一份分布式账本数据库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/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区块链是一个基于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诚实共识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协议的分布式数据库；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持续增长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不可篡改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记账代币；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1.0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：数字货币时代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8347" y="2349927"/>
            <a:ext cx="70757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代币的发行，从原先的黄金、白银，到后来通过政府监管发行的纸币，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这种货币的发行方式一直没有实质地改变过。而比特币的出现不经意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改变了它，仿佛蝴蝶效应般影响了全世界。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0" grpId="0"/>
      <p:bldP spid="2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数字资产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2.0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：数字货币与智能合约时代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1722" y="2295432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数字资产的本质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共识合约。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8346" y="2819837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数字资产与区块链天生一对。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4" grpId="0"/>
      <p:bldP spid="14" grpId="1"/>
      <p:bldP spid="15" grpId="0"/>
      <p:bldP spid="1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应用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区块链；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3.0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：信用社会时代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8346" y="2338711"/>
            <a:ext cx="7075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区块链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3.0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希望形成一个完全去中心化的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社会网络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，使得我们能以极低的成本形成社会的信任关系，从而使整个社会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运行成本大幅下降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6" grpId="0"/>
      <p:bldP spid="1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请设计一个简单的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AI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动态调节用户交易手续费的机制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课后作业</a:t>
            </a:r>
          </a:p>
          <a:p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8346" y="2338711"/>
            <a:ext cx="7075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：预测最优的区块链交易手续费</a:t>
            </a: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：检测敏感信息，给出“建议”还是“不建议”上链</a:t>
            </a:r>
          </a:p>
        </p:txBody>
      </p:sp>
    </p:spTree>
    <p:extLst>
      <p:ext uri="{BB962C8B-B14F-4D97-AF65-F5344CB8AC3E}">
        <p14:creationId xmlns:p14="http://schemas.microsoft.com/office/powerpoint/2010/main" val="127358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6" grpId="0"/>
      <p:bldP spid="1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5455" y="1354656"/>
            <a:ext cx="771080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记账问题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可验证零信任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区块链定义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分布式账本技术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区块链应用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：代币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：数据交易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：信任网络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1" algn="just" defTabSz="266700">
              <a:buClr>
                <a:schemeClr val="accent1"/>
              </a:buClr>
            </a:pPr>
            <a:endParaRPr lang="en-US" altLang="zh-CN" baseline="30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总结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552FAF-5686-4C0D-A25B-CCDDF53EBF5E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0ECCCD-E4B6-433D-A096-09498BF3B7F4}"/>
              </a:ext>
            </a:extLst>
          </p:cNvPr>
          <p:cNvSpPr/>
          <p:nvPr/>
        </p:nvSpPr>
        <p:spPr>
          <a:xfrm>
            <a:off x="5760079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E22F5BE-2CA1-4C62-A1B4-E9C46BED2B7E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7E242CB-641A-4F33-BB2A-16ADF392F54A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904F633-9656-4C25-A742-662A12A9F82E}"/>
              </a:ext>
            </a:extLst>
          </p:cNvPr>
          <p:cNvSpPr txBox="1"/>
          <p:nvPr/>
        </p:nvSpPr>
        <p:spPr>
          <a:xfrm>
            <a:off x="4470696" y="4820915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A9B75525-68A9-42E1-A890-BC7D3D197815}"/>
              </a:ext>
            </a:extLst>
          </p:cNvPr>
          <p:cNvSpPr txBox="1"/>
          <p:nvPr/>
        </p:nvSpPr>
        <p:spPr>
          <a:xfrm>
            <a:off x="5817867" y="4827205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32BDCB-22C7-4FE6-A79A-E46A7A4F5425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7">
            <a:extLst>
              <a:ext uri="{FF2B5EF4-FFF2-40B4-BE49-F238E27FC236}">
                <a16:creationId xmlns:a16="http://schemas.microsoft.com/office/drawing/2014/main" id="{2BC1486B-7D2B-4459-8486-5485603B3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1A845E-D296-4DCC-BD02-28AF668DF34C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4057649" y="1517875"/>
            <a:ext cx="4949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100" noProof="0" dirty="0">
                <a:ln>
                  <a:noFill/>
                </a:ln>
                <a:solidFill>
                  <a:srgbClr val="0F4C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谢谢大家！</a:t>
            </a:r>
            <a:endParaRPr kumimoji="0" lang="zh-CN" altLang="en-US" sz="3600" b="1" i="0" u="none" strike="noStrike" kern="100" cap="none" spc="0" normalizeH="0" baseline="0" noProof="0" dirty="0">
              <a:ln>
                <a:noFill/>
              </a:ln>
              <a:solidFill>
                <a:srgbClr val="0F4C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536114" y="2101605"/>
            <a:ext cx="5280660" cy="209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686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0" name="TextBox 6"/>
          <p:cNvSpPr txBox="1"/>
          <p:nvPr/>
        </p:nvSpPr>
        <p:spPr>
          <a:xfrm>
            <a:off x="3370616" y="2456815"/>
            <a:ext cx="3430597" cy="1210307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主讲人：王灿辉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邮箱：</a:t>
            </a:r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chwang@hqu.edu.cn</a:t>
            </a: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日期：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D995E3-DD45-48EC-B62B-0C2597001073}"/>
              </a:ext>
            </a:extLst>
          </p:cNvPr>
          <p:cNvSpPr txBox="1"/>
          <p:nvPr/>
        </p:nvSpPr>
        <p:spPr>
          <a:xfrm>
            <a:off x="6045200" y="123707"/>
            <a:ext cx="3098800" cy="31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华侨大学第十四届青年教师“精彩一堂课”</a:t>
            </a:r>
            <a:endParaRPr lang="en-US" altLang="zh-CN" sz="1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f41dd9c-12e6-480f-b01d-187e8b40cfb8"/>
  <p:tag name="COMMONDATA" val="eyJjb3VudCI6NDQsImhkaWQiOiJmZGVhNzM4MzMxYTkwNzNmMWJlZGRmNzRjOWExNWI2NiIsInVzZXJDb3VudCI6NDR9"/>
  <p:tag name="RESOURCE_RECORD_KEY" val="{&quot;10&quot;:[21559035,50026255,50027377],&quot;70&quot;:[3327356,3314119,3318501,3312405,3332763,3330148,3312128,3312379,3317789]}"/>
</p:tagLst>
</file>

<file path=ppt/theme/theme1.xml><?xml version="1.0" encoding="utf-8"?>
<a:theme xmlns:a="http://schemas.openxmlformats.org/drawingml/2006/main" name="Office 主题​​">
  <a:themeElements>
    <a:clrScheme name="2经典蓝配色方案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0F4C82"/>
      </a:accent1>
      <a:accent2>
        <a:srgbClr val="B3C6D5"/>
      </a:accent2>
      <a:accent3>
        <a:srgbClr val="F7B793"/>
      </a:accent3>
      <a:accent4>
        <a:srgbClr val="F4DBB2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1161</Words>
  <Application>Microsoft Office PowerPoint</Application>
  <PresentationFormat>全屏显示(16:9)</PresentationFormat>
  <Paragraphs>229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等线</vt:lpstr>
      <vt:lpstr>楷体</vt:lpstr>
      <vt:lpstr>微软雅黑</vt:lpstr>
      <vt:lpstr>Arial</vt:lpstr>
      <vt:lpstr>Calibri</vt:lpstr>
      <vt:lpstr>Calibri Light</vt:lpstr>
      <vt:lpstr>Century Gothic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Canhui Wang</cp:lastModifiedBy>
  <cp:revision>547</cp:revision>
  <dcterms:created xsi:type="dcterms:W3CDTF">2020-01-28T04:26:00Z</dcterms:created>
  <dcterms:modified xsi:type="dcterms:W3CDTF">2026-04-28T01:01:35Z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TemplateUUID">
    <vt:lpwstr>v1.0_mb_p3KkJyKqBJSpFjgU+N9mKw==</vt:lpwstr>
  </property>
  <property fmtid="{D5CDD505-2E9C-101B-9397-08002B2CF9AE}" pid="4" name="ICV">
    <vt:lpwstr>695368CCBF98402088EB59B947389C43_13</vt:lpwstr>
  </property>
</Properties>
</file>