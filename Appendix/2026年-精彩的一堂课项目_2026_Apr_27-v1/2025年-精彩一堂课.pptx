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330" r:id="rId2"/>
    <p:sldId id="454" r:id="rId3"/>
    <p:sldId id="1065" r:id="rId4"/>
    <p:sldId id="1066" r:id="rId5"/>
    <p:sldId id="1068" r:id="rId6"/>
    <p:sldId id="1070" r:id="rId7"/>
    <p:sldId id="1074" r:id="rId8"/>
    <p:sldId id="1075" r:id="rId9"/>
    <p:sldId id="1071" r:id="rId10"/>
    <p:sldId id="1072" r:id="rId11"/>
    <p:sldId id="1073" r:id="rId12"/>
    <p:sldId id="1077" r:id="rId13"/>
    <p:sldId id="1079" r:id="rId14"/>
    <p:sldId id="1080" r:id="rId15"/>
    <p:sldId id="1082" r:id="rId16"/>
    <p:sldId id="1078" r:id="rId17"/>
    <p:sldId id="1083" r:id="rId18"/>
  </p:sldIdLst>
  <p:sldSz cx="9144000" cy="5143500" type="screen16x9"/>
  <p:notesSz cx="6858000" cy="9144000"/>
  <p:custDataLst>
    <p:tags r:id="rId2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9"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nhui Wang" initials="CW" lastIdx="1" clrIdx="0">
    <p:extLst>
      <p:ext uri="{19B8F6BF-5375-455C-9EA6-DF929625EA0E}">
        <p15:presenceInfo xmlns:p15="http://schemas.microsoft.com/office/powerpoint/2012/main" userId="0327246e59f940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C5C5"/>
    <a:srgbClr val="194A96"/>
    <a:srgbClr val="FF3F3F"/>
    <a:srgbClr val="FF0000"/>
    <a:srgbClr val="FF3300"/>
    <a:srgbClr val="FFFFFF"/>
    <a:srgbClr val="1D4E89"/>
    <a:srgbClr val="013B6D"/>
    <a:srgbClr val="EEF2F5"/>
    <a:srgbClr val="F6F6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95" autoAdjust="0"/>
    <p:restoredTop sz="94660"/>
  </p:normalViewPr>
  <p:slideViewPr>
    <p:cSldViewPr snapToGrid="0" showGuides="1">
      <p:cViewPr varScale="1">
        <p:scale>
          <a:sx n="95" d="100"/>
          <a:sy n="95" d="100"/>
        </p:scale>
        <p:origin x="780" y="66"/>
      </p:cViewPr>
      <p:guideLst>
        <p:guide orient="horz" pos="1609"/>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2025/6/3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3305F4D-846D-4906-B4CB-51D76D91958B}"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2025/6/3</a:t>
            </a:fld>
            <a:endParaRPr lang="zh-CN" altLang="en-US" dirty="0"/>
          </a:p>
        </p:txBody>
      </p:sp>
      <p:sp>
        <p:nvSpPr>
          <p:cNvPr id="3"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4"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B8A0D9A4-5022-4B99-99A1-5D51B6AD7F7A}"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2025/6/3</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4" name="矩形 3"/>
          <p:cNvSpPr/>
          <p:nvPr userDrawn="1"/>
        </p:nvSpPr>
        <p:spPr>
          <a:xfrm>
            <a:off x="-1" y="0"/>
            <a:ext cx="222838"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icture Placeholder 7"/>
          <p:cNvSpPr>
            <a:spLocks noGrp="1"/>
          </p:cNvSpPr>
          <p:nvPr>
            <p:ph type="pic" sz="quarter" idx="16"/>
          </p:nvPr>
        </p:nvSpPr>
        <p:spPr>
          <a:xfrm>
            <a:off x="280555" y="1023974"/>
            <a:ext cx="8638309" cy="1887102"/>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lvl1pPr marL="0" indent="0">
              <a:buFontTx/>
              <a:buNone/>
              <a:defRPr lang="en-US" sz="1050">
                <a:solidFill>
                  <a:schemeClr val="tx1">
                    <a:lumMod val="85000"/>
                    <a:lumOff val="15000"/>
                  </a:schemeClr>
                </a:solidFill>
              </a:defRPr>
            </a:lvl1pPr>
          </a:lstStyle>
          <a:p>
            <a:pPr marL="0" lvl="0" algn="ctr"/>
            <a:endParaRPr lang="en-US"/>
          </a:p>
        </p:txBody>
      </p:sp>
      <p:sp>
        <p:nvSpPr>
          <p:cNvPr id="5"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A4DA1C0C-F063-40E8-84C1-43F7B17829DE}"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2025/6/3</a:t>
            </a:fld>
            <a:endParaRPr lang="zh-CN" altLang="en-US" dirty="0"/>
          </a:p>
        </p:txBody>
      </p:sp>
      <p:sp>
        <p:nvSpPr>
          <p:cNvPr id="6"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7"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031B8C6B-9C1E-4011-877C-92C57B3A2027}"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2025/6/3</a:t>
            </a:fld>
            <a:endParaRPr lang="zh-CN" altLang="en-US" dirty="0"/>
          </a:p>
        </p:txBody>
      </p:sp>
      <p:sp>
        <p:nvSpPr>
          <p:cNvPr id="8"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9"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349FB1BC-566C-41B6-9AE0-896B7D840693}" type="datetime1">
              <a:rPr kumimoji="0" lang="zh-CN" altLang="en-US" sz="9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2025/6/3</a:t>
            </a:fld>
            <a:endParaRPr lang="zh-CN" alt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zh-CN" altLang="en-US"/>
              <a:t>椭圆曲线密码体制</a:t>
            </a:r>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A0DB2DC-4C9A-4742-B13C-FB6460FD3503}" type="slidenum">
              <a:rPr lang="en-US" altLang="zh-CN"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pn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10.png"/><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矩形 20"/>
          <p:cNvSpPr/>
          <p:nvPr/>
        </p:nvSpPr>
        <p:spPr bwMode="auto">
          <a:xfrm>
            <a:off x="3536016" y="1047939"/>
            <a:ext cx="5280758" cy="954107"/>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en-US" altLang="zh-CN"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信息安全导论</a:t>
            </a:r>
            <a:r>
              <a:rPr lang="en-US" altLang="zh-CN"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a:t>
            </a:r>
            <a:r>
              <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第十</a:t>
            </a:r>
            <a:r>
              <a:rPr lang="zh-CN" altLang="en-US" sz="2800" b="1" kern="100" noProof="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rPr>
              <a:t>章第四节</a:t>
            </a:r>
            <a:endParaRPr lang="en-US" altLang="zh-CN"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endParaRPr>
          </a:p>
          <a:p>
            <a:pPr marL="0" marR="0" lvl="0" indent="0" algn="l" defTabSz="457200" rtl="0" eaLnBrk="1" fontAlgn="auto" latinLnBrk="0" hangingPunct="1">
              <a:lnSpc>
                <a:spcPct val="100000"/>
              </a:lnSpc>
              <a:spcBef>
                <a:spcPts val="0"/>
              </a:spcBef>
              <a:spcAft>
                <a:spcPts val="0"/>
              </a:spcAft>
              <a:buClrTx/>
              <a:buSzTx/>
              <a:buFontTx/>
              <a:buNone/>
              <a:defRPr/>
            </a:pPr>
            <a:r>
              <a:rPr lang="zh-CN" altLang="en-US" sz="2800" b="1" kern="100" dirty="0">
                <a:solidFill>
                  <a:schemeClr val="accent1"/>
                </a:solidFill>
                <a:effectLst>
                  <a:outerShdw blurRad="38100" dist="25400" dir="5400000" algn="ctr" rotWithShape="0">
                    <a:srgbClr val="6E747A">
                      <a:alpha val="43000"/>
                    </a:srgbClr>
                  </a:outerShdw>
                </a:effectLst>
                <a:latin typeface="微软雅黑" panose="020B0503020204020204" charset="-122"/>
                <a:ea typeface="微软雅黑" panose="020B0503020204020204" charset="-122"/>
                <a:cs typeface="Times New Roman" panose="02020603050405020304" pitchFamily="18" charset="0"/>
                <a:sym typeface="+mn-ea"/>
              </a:rPr>
              <a:t>           椭圆曲线密码体制</a:t>
            </a:r>
            <a:endParaRPr lang="zh-CN" altLang="en-US" sz="2800" b="1" kern="100" noProof="0" dirty="0">
              <a:solidFill>
                <a:schemeClr val="accent1"/>
              </a:solidFill>
              <a:effectLst>
                <a:outerShdw blurRad="38100" dist="25400" dir="5400000" algn="ctr" rotWithShape="0">
                  <a:srgbClr val="6E747A">
                    <a:alpha val="43000"/>
                  </a:srgbClr>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01605"/>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1944162" y="890996"/>
            <a:ext cx="1591854" cy="1591854"/>
            <a:chOff x="3893848" y="1276412"/>
            <a:chExt cx="1356304" cy="1356304"/>
          </a:xfrm>
        </p:grpSpPr>
        <p:sp>
          <p:nvSpPr>
            <p:cNvPr id="3" name="椭圆 2"/>
            <p:cNvSpPr/>
            <p:nvPr/>
          </p:nvSpPr>
          <p:spPr>
            <a:xfrm>
              <a:off x="3893848" y="1276412"/>
              <a:ext cx="1356304" cy="1356304"/>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31" name="Freeform 5"/>
            <p:cNvSpPr>
              <a:spLocks noEditPoints="1"/>
            </p:cNvSpPr>
            <p:nvPr/>
          </p:nvSpPr>
          <p:spPr bwMode="auto">
            <a:xfrm>
              <a:off x="4008813" y="1508646"/>
              <a:ext cx="1126374" cy="827336"/>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sp>
        <p:nvSpPr>
          <p:cNvPr id="19"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12" name="文本框 11"/>
          <p:cNvSpPr txBox="1"/>
          <p:nvPr/>
        </p:nvSpPr>
        <p:spPr>
          <a:xfrm>
            <a:off x="6045200" y="123707"/>
            <a:ext cx="3098800" cy="319255"/>
          </a:xfrm>
          <a:prstGeom prst="rect">
            <a:avLst/>
          </a:prstGeom>
          <a:noFill/>
        </p:spPr>
        <p:txBody>
          <a:bodyPr wrap="square">
            <a:spAutoFit/>
          </a:bodyPr>
          <a:lstStyle/>
          <a:p>
            <a:pPr algn="ctr">
              <a:lnSpc>
                <a:spcPct val="160000"/>
              </a:lnSpc>
            </a:pPr>
            <a:r>
              <a:rPr lang="zh-CN" altLang="en-US" sz="1100" b="1" dirty="0">
                <a:solidFill>
                  <a:srgbClr val="FF0000"/>
                </a:solidFill>
                <a:latin typeface="楷体" panose="02010609060101010101" pitchFamily="49" charset="-122"/>
                <a:ea typeface="楷体" panose="02010609060101010101" pitchFamily="49" charset="-122"/>
              </a:rPr>
              <a:t>华侨大学第十三届青年教师“精彩一堂课”</a:t>
            </a:r>
            <a:endParaRPr lang="en-US" altLang="zh-CN" sz="1100" b="1" dirty="0">
              <a:solidFill>
                <a:srgbClr val="FF0000"/>
              </a:solidFill>
              <a:latin typeface="楷体" panose="02010609060101010101" pitchFamily="49" charset="-122"/>
              <a:ea typeface="楷体" panose="02010609060101010101" pitchFamily="49" charset="-122"/>
            </a:endParaRPr>
          </a:p>
        </p:txBody>
      </p:sp>
      <p:pic>
        <p:nvPicPr>
          <p:cNvPr id="13" name="图片 12">
            <a:extLst>
              <a:ext uri="{FF2B5EF4-FFF2-40B4-BE49-F238E27FC236}">
                <a16:creationId xmlns:a16="http://schemas.microsoft.com/office/drawing/2014/main" id="{FCC1A11E-74C2-4EB9-AC27-73B90DB2E77B}"/>
              </a:ext>
            </a:extLst>
          </p:cNvPr>
          <p:cNvPicPr>
            <a:picLocks noChangeAspect="1"/>
          </p:cNvPicPr>
          <p:nvPr/>
        </p:nvPicPr>
        <p:blipFill rotWithShape="1">
          <a:blip r:embed="rId2">
            <a:extLst>
              <a:ext uri="{28A0092B-C50C-407E-A947-70E740481C1C}">
                <a14:useLocalDpi xmlns:a14="http://schemas.microsoft.com/office/drawing/2010/main" val="0"/>
              </a:ext>
            </a:extLst>
          </a:blip>
          <a:srcRect r="57768" b="-1889"/>
          <a:stretch/>
        </p:blipFill>
        <p:spPr>
          <a:xfrm>
            <a:off x="285175" y="201547"/>
            <a:ext cx="1534889" cy="471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694055" y="1716405"/>
            <a:ext cx="7710805" cy="1379865"/>
          </a:xfrm>
          <a:prstGeom prst="rect">
            <a:avLst/>
          </a:prstGeom>
        </p:spPr>
        <p:txBody>
          <a:bodyPr wrap="square">
            <a:spAutoFit/>
          </a:bodyPr>
          <a:lstStyle/>
          <a:p>
            <a:pPr marL="342900" indent="-342900" algn="just" defTabSz="266700">
              <a:buFont typeface="+mj-lt"/>
              <a:buAutoNum type="arabicPeriod"/>
            </a:pPr>
            <a:r>
              <a:rPr lang="zh-CN" altLang="en-US" dirty="0">
                <a:latin typeface="楷体" panose="02010609060101010101" pitchFamily="49" charset="-122"/>
                <a:ea typeface="楷体" panose="02010609060101010101" pitchFamily="49" charset="-122"/>
                <a:cs typeface="楷体" panose="02010609060101010101" pitchFamily="49" charset="-122"/>
              </a:rPr>
              <a:t>密码编码学与网络安全：原理与实践（第八版），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William Stallings</a:t>
            </a:r>
            <a:r>
              <a:rPr lang="zh-CN" altLang="en-US" dirty="0">
                <a:latin typeface="楷体" panose="02010609060101010101" pitchFamily="49" charset="-122"/>
                <a:ea typeface="楷体" panose="02010609060101010101" pitchFamily="49" charset="-122"/>
                <a:cs typeface="楷体" panose="02010609060101010101" pitchFamily="49" charset="-122"/>
              </a:rPr>
              <a:t>，电子工业出版社，</a:t>
            </a:r>
            <a:r>
              <a:rPr lang="en-US" altLang="zh-CN" dirty="0">
                <a:latin typeface="楷体" panose="02010609060101010101" pitchFamily="49" charset="-122"/>
                <a:ea typeface="楷体" panose="02010609060101010101" pitchFamily="49" charset="-122"/>
                <a:cs typeface="楷体" panose="02010609060101010101" pitchFamily="49" charset="-122"/>
              </a:rPr>
              <a:t>2021.</a:t>
            </a:r>
          </a:p>
          <a:p>
            <a:pPr marL="342900" indent="-342900" algn="just" defTabSz="266700">
              <a:spcBef>
                <a:spcPts val="1400"/>
              </a:spcBef>
              <a:buFont typeface="+mj-lt"/>
              <a:buAutoNum type="arabicPeriod"/>
            </a:pPr>
            <a:r>
              <a:rPr lang="zh-CN" altLang="en-US" sz="1800" dirty="0">
                <a:latin typeface="楷体" panose="02010609060101010101" pitchFamily="49" charset="-122"/>
                <a:ea typeface="楷体" panose="02010609060101010101" pitchFamily="49" charset="-122"/>
                <a:cs typeface="楷体" panose="02010609060101010101" pitchFamily="49" charset="-122"/>
              </a:rPr>
              <a:t>公钥密码学的数学基础，王小云，科学出版社，</a:t>
            </a:r>
            <a:r>
              <a:rPr lang="en-US" altLang="zh-CN" sz="1800" dirty="0">
                <a:latin typeface="楷体" panose="02010609060101010101" pitchFamily="49" charset="-122"/>
                <a:ea typeface="楷体" panose="02010609060101010101" pitchFamily="49" charset="-122"/>
                <a:cs typeface="楷体" panose="02010609060101010101" pitchFamily="49" charset="-122"/>
              </a:rPr>
              <a:t>2022</a:t>
            </a:r>
            <a:r>
              <a:rPr lang="en-US" altLang="zh-CN" dirty="0">
                <a:latin typeface="楷体" panose="02010609060101010101" pitchFamily="49" charset="-122"/>
                <a:ea typeface="楷体" panose="02010609060101010101" pitchFamily="49" charset="-122"/>
                <a:cs typeface="楷体" panose="02010609060101010101" pitchFamily="49" charset="-122"/>
              </a:rPr>
              <a:t>.</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a:p>
            <a:pPr marL="342900" indent="-342900" algn="just" defTabSz="266700">
              <a:buFont typeface="+mj-lt"/>
              <a:buAutoNum type="arabicPeriod"/>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课程教材</a:t>
            </a:r>
          </a:p>
        </p:txBody>
      </p:sp>
      <p:sp>
        <p:nvSpPr>
          <p:cNvPr id="14"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15"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6"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17" name="TextBox 11"/>
          <p:cNvSpPr txBox="1"/>
          <p:nvPr/>
        </p:nvSpPr>
        <p:spPr>
          <a:xfrm>
            <a:off x="5817867"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4" name="矩形 3"/>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
        <p:nvSpPr>
          <p:cNvPr id="26"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748346" y="1745465"/>
            <a:ext cx="7710805" cy="36933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公钥密码</a:t>
            </a:r>
            <a:r>
              <a:rPr lang="zh-CN" altLang="en-US" dirty="0">
                <a:latin typeface="楷体" panose="02010609060101010101" pitchFamily="49" charset="-122"/>
                <a:ea typeface="楷体" panose="02010609060101010101" pitchFamily="49" charset="-122"/>
                <a:cs typeface="楷体" panose="02010609060101010101" pitchFamily="49" charset="-122"/>
              </a:rPr>
              <a:t>方案是安全的，仅当公钥的真实性能够得到保证。</a:t>
            </a: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课程回顾</a:t>
            </a:r>
          </a:p>
        </p:txBody>
      </p:sp>
      <p:sp>
        <p:nvSpPr>
          <p:cNvPr id="20" name="文本框 19"/>
          <p:cNvSpPr txBox="1"/>
          <p:nvPr/>
        </p:nvSpPr>
        <p:spPr>
          <a:xfrm>
            <a:off x="748347" y="2349927"/>
            <a:ext cx="7710805" cy="923330"/>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ü"/>
            </a:pPr>
            <a:r>
              <a:rPr lang="zh-CN" altLang="en-US" sz="1800" dirty="0">
                <a:latin typeface="楷体" panose="02010609060101010101" pitchFamily="49" charset="-122"/>
                <a:ea typeface="楷体" panose="02010609060101010101" pitchFamily="49" charset="-122"/>
                <a:cs typeface="楷体" panose="02010609060101010101" pitchFamily="49" charset="-122"/>
              </a:rPr>
              <a:t>一个简单的</a:t>
            </a:r>
            <a:r>
              <a:rPr lang="zh-CN" altLang="en-US" sz="18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公钥算法</a:t>
            </a:r>
            <a:r>
              <a:rPr lang="zh-CN" altLang="en-US" sz="1800" dirty="0">
                <a:latin typeface="楷体" panose="02010609060101010101" pitchFamily="49" charset="-122"/>
                <a:ea typeface="楷体" panose="02010609060101010101" pitchFamily="49" charset="-122"/>
                <a:cs typeface="楷体" panose="02010609060101010101" pitchFamily="49" charset="-122"/>
              </a:rPr>
              <a:t>是</a:t>
            </a:r>
            <a:r>
              <a:rPr lang="en-US" altLang="zh-CN" sz="1800" dirty="0">
                <a:latin typeface="Times New Roman" panose="02020603050405020304" pitchFamily="18" charset="0"/>
                <a:ea typeface="楷体" panose="02010609060101010101" pitchFamily="49" charset="-122"/>
                <a:cs typeface="Times New Roman" panose="02020603050405020304" pitchFamily="18" charset="0"/>
              </a:rPr>
              <a:t>Diffie-Hellman</a:t>
            </a:r>
            <a:r>
              <a:rPr lang="zh-CN" altLang="en-US" sz="1800" dirty="0">
                <a:latin typeface="楷体" panose="02010609060101010101" pitchFamily="49" charset="-122"/>
                <a:ea typeface="楷体" panose="02010609060101010101" pitchFamily="49" charset="-122"/>
                <a:cs typeface="楷体" panose="02010609060101010101" pitchFamily="49" charset="-122"/>
              </a:rPr>
              <a:t>密钥交换协议。这个协议使得通信双方利用</a:t>
            </a:r>
            <a:r>
              <a:rPr lang="zh-CN" altLang="en-US" sz="1800" b="1" dirty="0">
                <a:solidFill>
                  <a:schemeClr val="accent1"/>
                </a:solidFill>
                <a:latin typeface="楷体" panose="02010609060101010101" pitchFamily="49" charset="-122"/>
                <a:ea typeface="楷体" panose="02010609060101010101" pitchFamily="49" charset="-122"/>
                <a:cs typeface="楷体" panose="02010609060101010101" pitchFamily="49" charset="-122"/>
              </a:rPr>
              <a:t>离散对数问题</a:t>
            </a:r>
            <a:r>
              <a:rPr lang="zh-CN" altLang="en-US" sz="1800" dirty="0">
                <a:latin typeface="楷体" panose="02010609060101010101" pitchFamily="49" charset="-122"/>
                <a:ea typeface="楷体" panose="02010609060101010101" pitchFamily="49" charset="-122"/>
                <a:cs typeface="楷体" panose="02010609060101010101" pitchFamily="49" charset="-122"/>
              </a:rPr>
              <a:t>的公钥算法协商私密密钥。</a:t>
            </a:r>
            <a:r>
              <a:rPr lang="zh-CN" altLang="en-US" dirty="0">
                <a:latin typeface="楷体" panose="02010609060101010101" pitchFamily="49" charset="-122"/>
                <a:ea typeface="楷体" panose="02010609060101010101" pitchFamily="49" charset="-122"/>
                <a:cs typeface="楷体" panose="02010609060101010101" pitchFamily="49" charset="-122"/>
              </a:rPr>
              <a:t>该</a:t>
            </a:r>
            <a:r>
              <a:rPr lang="zh-CN" altLang="en-US" sz="1800" dirty="0">
                <a:latin typeface="楷体" panose="02010609060101010101" pitchFamily="49" charset="-122"/>
                <a:ea typeface="楷体" panose="02010609060101010101" pitchFamily="49" charset="-122"/>
                <a:cs typeface="楷体" panose="02010609060101010101" pitchFamily="49" charset="-122"/>
              </a:rPr>
              <a:t>协议是安全的，仅当通信双方的真实性能够得到保证。</a:t>
            </a:r>
          </a:p>
        </p:txBody>
      </p:sp>
      <p:sp>
        <p:nvSpPr>
          <p:cNvPr id="25" name="矩形: 圆角 24"/>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圆角 26"/>
          <p:cNvSpPr/>
          <p:nvPr/>
        </p:nvSpPr>
        <p:spPr>
          <a:xfrm>
            <a:off x="166385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课程回顾</a:t>
            </a:r>
          </a:p>
        </p:txBody>
      </p:sp>
      <p:sp>
        <p:nvSpPr>
          <p:cNvPr id="29"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30"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1"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2" name="矩形 31"/>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
        <p:nvSpPr>
          <p:cNvPr id="34"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710805" cy="335476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背景：</a:t>
                </a:r>
                <a:r>
                  <a:rPr lang="en-US" altLang="zh-CN" dirty="0">
                    <a:latin typeface="Times New Roman" panose="02020603050405020304" pitchFamily="18" charset="0"/>
                    <a:ea typeface="楷体" panose="02010609060101010101" pitchFamily="49" charset="-122"/>
                    <a:cs typeface="Times New Roman" panose="02020603050405020304" pitchFamily="18" charset="0"/>
                  </a:rPr>
                  <a:t>SM2</a:t>
                </a:r>
                <a:r>
                  <a:rPr lang="zh-CN" altLang="en-US" dirty="0">
                    <a:latin typeface="楷体" panose="02010609060101010101" pitchFamily="49" charset="-122"/>
                    <a:ea typeface="楷体" panose="02010609060101010101" pitchFamily="49" charset="-122"/>
                    <a:cs typeface="楷体" panose="02010609060101010101" pitchFamily="49" charset="-122"/>
                  </a:rPr>
                  <a:t>算法</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spcBef>
                    <a:spcPts val="1200"/>
                  </a:spcBef>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椭圆曲线并非椭圆，它指的是由魏尔斯特拉斯形式</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dirty="0" err="1">
                    <a:latin typeface="Times New Roman" panose="02020603050405020304" pitchFamily="18" charset="0"/>
                    <a:ea typeface="楷体" panose="02010609060101010101" pitchFamily="49" charset="-122"/>
                    <a:cs typeface="Times New Roman" panose="02020603050405020304" pitchFamily="18" charset="0"/>
                  </a:rPr>
                  <a:t>Weierstrass</a:t>
                </a:r>
                <a:r>
                  <a:rPr lang="en-US" altLang="zh-CN" dirty="0">
                    <a:latin typeface="Times New Roman" panose="02020603050405020304" pitchFamily="18" charset="0"/>
                    <a:ea typeface="楷体" panose="02010609060101010101" pitchFamily="49" charset="-122"/>
                    <a:cs typeface="Times New Roman" panose="02020603050405020304" pitchFamily="18" charset="0"/>
                  </a:rPr>
                  <a:t> Form</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所确定的平面曲线：</a:t>
                </a:r>
                <a14:m>
                  <m:oMath xmlns:m="http://schemas.openxmlformats.org/officeDocument/2006/math">
                    <m:sSup>
                      <m:sSupPr>
                        <m:ctrlPr>
                          <a:rPr lang="en-US" altLang="zh-CN" i="1">
                            <a:latin typeface="Cambria Math" panose="02040503050406030204" pitchFamily="18" charset="0"/>
                            <a:ea typeface="楷体" panose="02010609060101010101" pitchFamily="49" charset="-122"/>
                            <a:cs typeface="楷体" panose="02010609060101010101" pitchFamily="49" charset="-122"/>
                          </a:rPr>
                        </m:ctrlPr>
                      </m:sSupPr>
                      <m:e>
                        <m:r>
                          <a:rPr lang="en-US" altLang="zh-CN" b="0" i="1" smtClean="0">
                            <a:latin typeface="Cambria Math" panose="02040503050406030204" pitchFamily="18" charset="0"/>
                            <a:ea typeface="楷体" panose="02010609060101010101" pitchFamily="49" charset="-122"/>
                            <a:cs typeface="楷体" panose="02010609060101010101" pitchFamily="49" charset="-122"/>
                          </a:rPr>
                          <m:t>𝑦</m:t>
                        </m:r>
                      </m:e>
                      <m:sup>
                        <m:r>
                          <a:rPr lang="en-US" altLang="zh-CN" i="1">
                            <a:latin typeface="Cambria Math" panose="02040503050406030204" pitchFamily="18" charset="0"/>
                            <a:ea typeface="楷体" panose="02010609060101010101" pitchFamily="49" charset="-122"/>
                            <a:cs typeface="楷体" panose="02010609060101010101" pitchFamily="49" charset="-122"/>
                          </a:rPr>
                          <m:t>2</m:t>
                        </m:r>
                      </m:sup>
                    </m:sSup>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𝑎𝑥𝑦</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𝑏𝑦</m:t>
                    </m:r>
                    <m:r>
                      <a:rPr lang="en-US" altLang="zh-CN" i="1" smtClean="0">
                        <a:latin typeface="Cambria Math" panose="02040503050406030204" pitchFamily="18" charset="0"/>
                        <a:ea typeface="楷体" panose="02010609060101010101" pitchFamily="49" charset="-122"/>
                        <a:cs typeface="楷体" panose="02010609060101010101" pitchFamily="49" charset="-122"/>
                      </a:rPr>
                      <m:t>=</m:t>
                    </m:r>
                    <m:sSup>
                      <m:sSupPr>
                        <m:ctrlPr>
                          <a:rPr lang="en-US" altLang="zh-CN" i="1" smtClean="0">
                            <a:latin typeface="Cambria Math" panose="02040503050406030204" pitchFamily="18" charset="0"/>
                            <a:ea typeface="楷体" panose="02010609060101010101" pitchFamily="49" charset="-122"/>
                            <a:cs typeface="楷体" panose="02010609060101010101" pitchFamily="49" charset="-122"/>
                          </a:rPr>
                        </m:ctrlPr>
                      </m:sSupPr>
                      <m:e>
                        <m:r>
                          <a:rPr lang="en-US" altLang="zh-CN" b="0" i="1" smtClean="0">
                            <a:latin typeface="Cambria Math" panose="02040503050406030204" pitchFamily="18" charset="0"/>
                            <a:ea typeface="楷体" panose="02010609060101010101" pitchFamily="49" charset="-122"/>
                            <a:cs typeface="楷体" panose="02010609060101010101" pitchFamily="49" charset="-122"/>
                          </a:rPr>
                          <m:t>𝑥</m:t>
                        </m:r>
                      </m:e>
                      <m:sup>
                        <m:r>
                          <a:rPr lang="en-US" altLang="zh-CN" b="0" i="1" smtClean="0">
                            <a:latin typeface="Cambria Math" panose="02040503050406030204" pitchFamily="18" charset="0"/>
                            <a:ea typeface="楷体" panose="02010609060101010101" pitchFamily="49" charset="-122"/>
                            <a:cs typeface="楷体" panose="02010609060101010101" pitchFamily="49" charset="-122"/>
                          </a:rPr>
                          <m:t>3</m:t>
                        </m:r>
                      </m:sup>
                    </m:sSup>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sSup>
                      <m:sSupPr>
                        <m:ctrlPr>
                          <a:rPr lang="en-US" altLang="zh-CN" i="1">
                            <a:latin typeface="Cambria Math" panose="02040503050406030204" pitchFamily="18" charset="0"/>
                            <a:ea typeface="楷体" panose="02010609060101010101" pitchFamily="49" charset="-122"/>
                            <a:cs typeface="楷体" panose="02010609060101010101" pitchFamily="49" charset="-122"/>
                          </a:rPr>
                        </m:ctrlPr>
                      </m:sSupPr>
                      <m:e>
                        <m:r>
                          <a:rPr lang="en-US" altLang="zh-CN" b="0" i="1" smtClean="0">
                            <a:latin typeface="Cambria Math" panose="02040503050406030204" pitchFamily="18" charset="0"/>
                            <a:ea typeface="楷体" panose="02010609060101010101" pitchFamily="49" charset="-122"/>
                            <a:cs typeface="楷体" panose="02010609060101010101" pitchFamily="49" charset="-122"/>
                          </a:rPr>
                          <m:t>𝑐</m:t>
                        </m:r>
                        <m:r>
                          <a:rPr lang="en-US" altLang="zh-CN" i="1">
                            <a:latin typeface="Cambria Math" panose="02040503050406030204" pitchFamily="18" charset="0"/>
                            <a:ea typeface="楷体" panose="02010609060101010101" pitchFamily="49" charset="-122"/>
                            <a:cs typeface="楷体" panose="02010609060101010101" pitchFamily="49" charset="-122"/>
                          </a:rPr>
                          <m:t>𝑥</m:t>
                        </m:r>
                      </m:e>
                      <m:sup>
                        <m:r>
                          <a:rPr lang="en-US" altLang="zh-CN" b="0" i="1" smtClean="0">
                            <a:latin typeface="Cambria Math" panose="02040503050406030204" pitchFamily="18" charset="0"/>
                            <a:ea typeface="楷体" panose="02010609060101010101" pitchFamily="49" charset="-122"/>
                            <a:cs typeface="楷体" panose="02010609060101010101" pitchFamily="49" charset="-122"/>
                          </a:rPr>
                          <m:t>2</m:t>
                        </m:r>
                      </m:sup>
                    </m:sSup>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𝑑𝑥</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𝑒</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spcBef>
                    <a:spcPts val="1200"/>
                  </a:spcBef>
                  <a:buClr>
                    <a:schemeClr val="accent1"/>
                  </a:buClr>
                  <a:buFont typeface="Wingdings" panose="05000000000000000000" pitchFamily="2" charset="2"/>
                  <a:buChar char="l"/>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通常地，定义：</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pitchFamily="49" charset="-122"/>
                          </a:rPr>
                        </m:ctrlPr>
                      </m:sSupPr>
                      <m:e>
                        <m:r>
                          <a:rPr lang="en-US" altLang="zh-CN" b="0" i="1" smtClean="0">
                            <a:solidFill>
                              <a:schemeClr val="accent1"/>
                            </a:solidFill>
                            <a:latin typeface="Cambria Math" panose="02040503050406030204" pitchFamily="18" charset="0"/>
                            <a:ea typeface="楷体" panose="02010609060101010101" pitchFamily="49" charset="-122"/>
                          </a:rPr>
                          <m:t>𝑦</m:t>
                        </m:r>
                      </m:e>
                      <m:sup>
                        <m:r>
                          <a:rPr lang="en-US" altLang="zh-CN" b="0" i="1" smtClean="0">
                            <a:solidFill>
                              <a:schemeClr val="accent1"/>
                            </a:solidFill>
                            <a:latin typeface="Cambria Math" panose="02040503050406030204" pitchFamily="18" charset="0"/>
                            <a:ea typeface="楷体" panose="02010609060101010101" pitchFamily="49" charset="-122"/>
                          </a:rPr>
                          <m:t>2</m:t>
                        </m:r>
                      </m:sup>
                    </m:sSup>
                    <m:r>
                      <a:rPr lang="en-US" altLang="zh-CN" b="0" i="1" smtClean="0">
                        <a:solidFill>
                          <a:schemeClr val="accent1"/>
                        </a:solidFill>
                        <a:latin typeface="Cambria Math" panose="02040503050406030204" pitchFamily="18" charset="0"/>
                        <a:ea typeface="楷体" panose="02010609060101010101" pitchFamily="49" charset="-122"/>
                      </a:rPr>
                      <m:t>=</m:t>
                    </m:r>
                    <m:sSup>
                      <m:sSupPr>
                        <m:ctrlPr>
                          <a:rPr lang="en-US" altLang="zh-CN" i="1">
                            <a:solidFill>
                              <a:schemeClr val="accent1"/>
                            </a:solidFill>
                            <a:latin typeface="Cambria Math" panose="02040503050406030204" pitchFamily="18" charset="0"/>
                            <a:ea typeface="楷体" panose="02010609060101010101" pitchFamily="49" charset="-122"/>
                          </a:rPr>
                        </m:ctrlPr>
                      </m:sSupPr>
                      <m:e>
                        <m:r>
                          <a:rPr lang="en-US" altLang="zh-CN" b="0" i="1" smtClean="0">
                            <a:solidFill>
                              <a:schemeClr val="accent1"/>
                            </a:solidFill>
                            <a:latin typeface="Cambria Math" panose="02040503050406030204" pitchFamily="18" charset="0"/>
                            <a:ea typeface="楷体" panose="02010609060101010101" pitchFamily="49" charset="-122"/>
                          </a:rPr>
                          <m:t>𝑥</m:t>
                        </m:r>
                      </m:e>
                      <m:sup>
                        <m:r>
                          <a:rPr lang="en-US" altLang="zh-CN" b="0" i="1" smtClean="0">
                            <a:solidFill>
                              <a:schemeClr val="accent1"/>
                            </a:solidFill>
                            <a:latin typeface="Cambria Math" panose="02040503050406030204" pitchFamily="18" charset="0"/>
                            <a:ea typeface="楷体" panose="02010609060101010101" pitchFamily="49" charset="-122"/>
                          </a:rPr>
                          <m:t>3</m:t>
                        </m:r>
                      </m:sup>
                    </m:sSup>
                    <m:r>
                      <a:rPr lang="en-US" altLang="zh-CN" b="0" i="1" smtClean="0">
                        <a:solidFill>
                          <a:schemeClr val="accent1"/>
                        </a:solidFill>
                        <a:latin typeface="Cambria Math" panose="02040503050406030204" pitchFamily="18" charset="0"/>
                        <a:ea typeface="楷体" panose="02010609060101010101" pitchFamily="49" charset="-122"/>
                      </a:rPr>
                      <m:t>+</m:t>
                    </m:r>
                    <m:r>
                      <a:rPr lang="en-US" altLang="zh-CN" b="0" i="1" smtClean="0">
                        <a:solidFill>
                          <a:schemeClr val="accent1"/>
                        </a:solidFill>
                        <a:latin typeface="Cambria Math" panose="02040503050406030204" pitchFamily="18" charset="0"/>
                        <a:ea typeface="楷体" panose="02010609060101010101" pitchFamily="49" charset="-122"/>
                      </a:rPr>
                      <m:t>𝑎𝑥</m:t>
                    </m:r>
                    <m:r>
                      <a:rPr lang="en-US" altLang="zh-CN" b="0" i="1" smtClean="0">
                        <a:solidFill>
                          <a:schemeClr val="accent1"/>
                        </a:solidFill>
                        <a:latin typeface="Cambria Math" panose="02040503050406030204" pitchFamily="18" charset="0"/>
                        <a:ea typeface="楷体" panose="02010609060101010101" pitchFamily="49" charset="-122"/>
                      </a:rPr>
                      <m:t>+</m:t>
                    </m:r>
                    <m:r>
                      <a:rPr lang="en-US" altLang="zh-CN" b="0" i="1" smtClean="0">
                        <a:solidFill>
                          <a:schemeClr val="accent1"/>
                        </a:solidFill>
                        <a:latin typeface="Cambria Math" panose="02040503050406030204" pitchFamily="18" charset="0"/>
                        <a:ea typeface="楷体" panose="02010609060101010101" pitchFamily="49" charset="-122"/>
                      </a:rPr>
                      <m:t>𝑏</m:t>
                    </m:r>
                  </m:oMath>
                </a14:m>
                <a:endParaRPr lang="en-US" altLang="zh-CN" dirty="0">
                  <a:solidFill>
                    <a:schemeClr val="accent1"/>
                  </a:solidFill>
                  <a:latin typeface="楷体" panose="02010609060101010101" pitchFamily="49" charset="-122"/>
                  <a:ea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满足上述方程的所有点</a:t>
                </a:r>
                <a14:m>
                  <m:oMath xmlns:m="http://schemas.openxmlformats.org/officeDocument/2006/math">
                    <m:r>
                      <a:rPr lang="en-US" altLang="zh-CN" b="0"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𝑥</m:t>
                    </m:r>
                    <m:r>
                      <a:rPr lang="en-US" altLang="zh-CN" b="0"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𝑦</m:t>
                    </m:r>
                    <m:r>
                      <a:rPr lang="en-US" altLang="zh-CN" b="0"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m:t>
                    </m:r>
                  </m:oMath>
                </a14:m>
                <a:endParaRPr lang="en-US" altLang="zh-CN"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以及无穷点，即零点</a:t>
                </a:r>
                <a14:m>
                  <m:oMath xmlns:m="http://schemas.openxmlformats.org/officeDocument/2006/math">
                    <m:r>
                      <m:rPr>
                        <m:sty m:val="p"/>
                      </m:rPr>
                      <a:rPr lang="en-US" altLang="zh-CN" b="0" i="0" smtClean="0">
                        <a:solidFill>
                          <a:schemeClr val="accent1"/>
                        </a:solidFill>
                        <a:latin typeface="Cambria Math" panose="02040503050406030204" pitchFamily="18" charset="0"/>
                        <a:ea typeface="楷体" panose="02010609060101010101" pitchFamily="49" charset="-122"/>
                        <a:cs typeface="楷体" panose="02010609060101010101" pitchFamily="49" charset="-122"/>
                        <a:sym typeface="Wingdings 2" panose="05020102010507070707" pitchFamily="18" charset="2"/>
                      </a:rPr>
                      <m:t>O</m:t>
                    </m:r>
                  </m:oMath>
                </a14:m>
                <a:endParaRPr lang="en-US" altLang="zh-CN"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不同根的判别式</a:t>
                </a:r>
                <a14:m>
                  <m:oMath xmlns:m="http://schemas.openxmlformats.org/officeDocument/2006/math">
                    <m:sSup>
                      <m:sSupPr>
                        <m:ctrlPr>
                          <a:rPr lang="en-US" altLang="zh-CN" i="1" smtClean="0">
                            <a:solidFill>
                              <a:schemeClr val="accent1"/>
                            </a:solidFill>
                            <a:latin typeface="Cambria Math" panose="02040503050406030204" pitchFamily="18" charset="0"/>
                            <a:ea typeface="楷体" panose="02010609060101010101" pitchFamily="49" charset="-122"/>
                          </a:rPr>
                        </m:ctrlPr>
                      </m:sSupPr>
                      <m:e>
                        <m:r>
                          <a:rPr lang="en-US" altLang="zh-CN" i="1">
                            <a:solidFill>
                              <a:schemeClr val="accent1"/>
                            </a:solidFill>
                            <a:latin typeface="Cambria Math" panose="02040503050406030204" pitchFamily="18" charset="0"/>
                            <a:ea typeface="楷体" panose="02010609060101010101" pitchFamily="49" charset="-122"/>
                          </a:rPr>
                          <m:t>4</m:t>
                        </m:r>
                        <m:r>
                          <a:rPr lang="en-US" altLang="zh-CN" b="0" i="1" smtClean="0">
                            <a:solidFill>
                              <a:schemeClr val="accent1"/>
                            </a:solidFill>
                            <a:latin typeface="Cambria Math" panose="02040503050406030204" pitchFamily="18" charset="0"/>
                            <a:ea typeface="楷体" panose="02010609060101010101" pitchFamily="49" charset="-122"/>
                          </a:rPr>
                          <m:t>𝑎</m:t>
                        </m:r>
                      </m:e>
                      <m:sup>
                        <m:r>
                          <a:rPr lang="en-US" altLang="zh-CN" b="0" i="1" smtClean="0">
                            <a:solidFill>
                              <a:schemeClr val="accent1"/>
                            </a:solidFill>
                            <a:latin typeface="Cambria Math" panose="02040503050406030204" pitchFamily="18" charset="0"/>
                            <a:ea typeface="楷体" panose="02010609060101010101" pitchFamily="49" charset="-122"/>
                          </a:rPr>
                          <m:t>3</m:t>
                        </m:r>
                      </m:sup>
                    </m:sSup>
                    <m:r>
                      <a:rPr lang="en-US" altLang="zh-CN" b="0" i="1" smtClean="0">
                        <a:solidFill>
                          <a:schemeClr val="accent1"/>
                        </a:solidFill>
                        <a:latin typeface="Cambria Math" panose="02040503050406030204" pitchFamily="18" charset="0"/>
                        <a:ea typeface="楷体" panose="02010609060101010101" pitchFamily="49" charset="-122"/>
                      </a:rPr>
                      <m:t>+</m:t>
                    </m:r>
                    <m:sSup>
                      <m:sSupPr>
                        <m:ctrlPr>
                          <a:rPr lang="en-US" altLang="zh-CN" i="1">
                            <a:solidFill>
                              <a:schemeClr val="accent1"/>
                            </a:solidFill>
                            <a:latin typeface="Cambria Math" panose="02040503050406030204" pitchFamily="18" charset="0"/>
                            <a:ea typeface="楷体" panose="02010609060101010101" pitchFamily="49" charset="-122"/>
                          </a:rPr>
                        </m:ctrlPr>
                      </m:sSupPr>
                      <m:e>
                        <m:r>
                          <a:rPr lang="en-US" altLang="zh-CN" b="0" i="1" smtClean="0">
                            <a:solidFill>
                              <a:schemeClr val="accent1"/>
                            </a:solidFill>
                            <a:latin typeface="Cambria Math" panose="02040503050406030204" pitchFamily="18" charset="0"/>
                            <a:ea typeface="楷体" panose="02010609060101010101" pitchFamily="49" charset="-122"/>
                          </a:rPr>
                          <m:t>27</m:t>
                        </m:r>
                        <m:r>
                          <a:rPr lang="en-US" altLang="zh-CN" b="0" i="1" smtClean="0">
                            <a:solidFill>
                              <a:schemeClr val="accent1"/>
                            </a:solidFill>
                            <a:latin typeface="Cambria Math" panose="02040503050406030204" pitchFamily="18" charset="0"/>
                            <a:ea typeface="楷体" panose="02010609060101010101" pitchFamily="49" charset="-122"/>
                          </a:rPr>
                          <m:t>𝑏</m:t>
                        </m:r>
                      </m:e>
                      <m:sup>
                        <m:r>
                          <a:rPr lang="en-US" altLang="zh-CN" b="0" i="1" smtClean="0">
                            <a:solidFill>
                              <a:schemeClr val="accent1"/>
                            </a:solidFill>
                            <a:latin typeface="Cambria Math" panose="02040503050406030204" pitchFamily="18" charset="0"/>
                            <a:ea typeface="楷体" panose="02010609060101010101" pitchFamily="49" charset="-122"/>
                          </a:rPr>
                          <m:t>2</m:t>
                        </m:r>
                      </m:sup>
                    </m:sSup>
                    <m:r>
                      <a:rPr lang="en-US" altLang="zh-CN" i="1">
                        <a:solidFill>
                          <a:schemeClr val="accent1"/>
                        </a:solidFill>
                        <a:latin typeface="Cambria Math" panose="02040503050406030204" pitchFamily="18" charset="0"/>
                        <a:ea typeface="楷体" panose="02010609060101010101" pitchFamily="49" charset="-122"/>
                      </a:rPr>
                      <m:t>≠</m:t>
                    </m:r>
                    <m:r>
                      <a:rPr lang="en-US" altLang="zh-CN" b="0" i="1" smtClean="0">
                        <a:solidFill>
                          <a:schemeClr val="accent1"/>
                        </a:solidFill>
                        <a:latin typeface="Cambria Math" panose="02040503050406030204" pitchFamily="18" charset="0"/>
                        <a:ea typeface="楷体" panose="02010609060101010101" pitchFamily="49" charset="-122"/>
                      </a:rPr>
                      <m:t>0</m:t>
                    </m:r>
                  </m:oMath>
                </a14:m>
                <a:endParaRPr lang="en-US" altLang="zh-CN" dirty="0">
                  <a:solidFill>
                    <a:schemeClr val="accent1"/>
                  </a:solidFill>
                  <a:latin typeface="楷体" panose="02010609060101010101" pitchFamily="49" charset="-122"/>
                  <a:ea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710805" cy="3354765"/>
              </a:xfrm>
              <a:prstGeom prst="rect">
                <a:avLst/>
              </a:prstGeom>
              <a:blipFill>
                <a:blip r:embed="rId2"/>
                <a:stretch>
                  <a:fillRect l="-474" t="-1270" r="-711"/>
                </a:stretch>
              </a:blipFill>
            </p:spPr>
            <p:txBody>
              <a:bodyPr/>
              <a:lstStyle/>
              <a:p>
                <a:r>
                  <a:rPr 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椭圆曲线的定义</a:t>
            </a:r>
          </a:p>
        </p:txBody>
      </p:sp>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3" name="图片 2">
            <a:extLst>
              <a:ext uri="{FF2B5EF4-FFF2-40B4-BE49-F238E27FC236}">
                <a16:creationId xmlns:a16="http://schemas.microsoft.com/office/drawing/2014/main" id="{BB45E962-CD3F-4218-8FC6-102BA3AE5C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61867" y="107383"/>
            <a:ext cx="1879042" cy="11954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710805" cy="264687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逆元</a:t>
                </a:r>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zh-CN" altLang="en-US" dirty="0">
                    <a:ea typeface="楷体" panose="02010609060101010101" pitchFamily="49" charset="-122"/>
                    <a:cs typeface="楷体" panose="02010609060101010101" pitchFamily="49" charset="-122"/>
                  </a:rPr>
                  <a:t>             </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d>
                      <m:dPr>
                        <m:ctrlPr>
                          <a:rPr lang="en-US" altLang="zh-CN" b="0" i="1" smtClean="0">
                            <a:latin typeface="Cambria Math" panose="02040503050406030204" pitchFamily="18" charset="0"/>
                            <a:ea typeface="楷体" panose="02010609060101010101" pitchFamily="49" charset="-122"/>
                            <a:cs typeface="楷体" panose="02010609060101010101" pitchFamily="49" charset="-122"/>
                          </a:rPr>
                        </m:ctrlPr>
                      </m:dPr>
                      <m:e>
                        <m:r>
                          <a:rPr lang="en-US" altLang="zh-CN" b="0" i="1" smtClean="0">
                            <a:latin typeface="Cambria Math" panose="02040503050406030204" pitchFamily="18" charset="0"/>
                            <a:ea typeface="楷体" panose="02010609060101010101" pitchFamily="49" charset="-122"/>
                            <a:cs typeface="楷体" panose="02010609060101010101" pitchFamily="49" charset="-122"/>
                          </a:rPr>
                          <m:t>𝑥</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𝑦</m:t>
                        </m:r>
                      </m:e>
                    </m:d>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𝑥</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𝑦</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关于  轴对称点。</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单位元</a:t>
                </a:r>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m:rPr>
                        <m:sty m:val="p"/>
                      </m:rPr>
                      <a:rPr lang="en-US" altLang="zh-CN" b="0" i="0" smtClean="0">
                        <a:latin typeface="Cambria Math" panose="02040503050406030204" pitchFamily="18" charset="0"/>
                        <a:ea typeface="楷体" panose="02010609060101010101" pitchFamily="49" charset="-122"/>
                        <a:cs typeface="楷体" panose="02010609060101010101" pitchFamily="49" charset="-122"/>
                      </a:rPr>
                      <m:t>O</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spcBef>
                    <a:spcPts val="1200"/>
                  </a:spcBef>
                  <a:buClr>
                    <a:schemeClr val="accent1"/>
                  </a:buClr>
                  <a:buFont typeface="Wingdings" panose="05000000000000000000" pitchFamily="2" charset="2"/>
                  <a:buChar char="l"/>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710805" cy="2646878"/>
              </a:xfrm>
              <a:prstGeom prst="rect">
                <a:avLst/>
              </a:prstGeom>
              <a:blipFill>
                <a:blip r:embed="rId3"/>
                <a:stretch>
                  <a:fillRect l="-474" t="-1152"/>
                </a:stretch>
              </a:blipFill>
            </p:spPr>
            <p:txBody>
              <a:bodyPr/>
              <a:lstStyle/>
              <a:p>
                <a:r>
                  <a:rPr 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椭圆曲线的元素</a:t>
            </a:r>
          </a:p>
        </p:txBody>
      </p:sp>
      <p:sp>
        <p:nvSpPr>
          <p:cNvPr id="27" name="矩形: 圆角 26"/>
          <p:cNvSpPr/>
          <p:nvPr/>
        </p:nvSpPr>
        <p:spPr>
          <a:xfrm>
            <a:off x="1660721" y="4839860"/>
            <a:ext cx="5552879"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graphicFrame>
        <p:nvGraphicFramePr>
          <p:cNvPr id="4" name="对象 3"/>
          <p:cNvGraphicFramePr>
            <a:graphicFrameLocks noChangeAspect="1"/>
          </p:cNvGraphicFramePr>
          <p:nvPr/>
        </p:nvGraphicFramePr>
        <p:xfrm>
          <a:off x="1704604" y="2014068"/>
          <a:ext cx="219446" cy="242037"/>
        </p:xfrm>
        <a:graphic>
          <a:graphicData uri="http://schemas.openxmlformats.org/presentationml/2006/ole">
            <mc:AlternateContent xmlns:mc="http://schemas.openxmlformats.org/markup-compatibility/2006">
              <mc:Choice xmlns:v="urn:schemas-microsoft-com:vml" Requires="v">
                <p:oleObj spid="_x0000_s2249" name="Equation" r:id="rId4" imgW="133985" imgH="144780" progId="Equation.DSMT4">
                  <p:embed/>
                </p:oleObj>
              </mc:Choice>
              <mc:Fallback>
                <p:oleObj name="Equation" r:id="rId4" imgW="133985" imgH="144780" progId="Equation.DSMT4">
                  <p:embed/>
                  <p:pic>
                    <p:nvPicPr>
                      <p:cNvPr id="0" name="图片 2214"/>
                      <p:cNvPicPr/>
                      <p:nvPr/>
                    </p:nvPicPr>
                    <p:blipFill>
                      <a:blip r:embed="rId5"/>
                      <a:stretch>
                        <a:fillRect/>
                      </a:stretch>
                    </p:blipFill>
                    <p:spPr>
                      <a:xfrm>
                        <a:off x="1704604" y="2014068"/>
                        <a:ext cx="219446" cy="242037"/>
                      </a:xfrm>
                      <a:prstGeom prst="rect">
                        <a:avLst/>
                      </a:prstGeom>
                    </p:spPr>
                  </p:pic>
                </p:oleObj>
              </mc:Fallback>
            </mc:AlternateContent>
          </a:graphicData>
        </a:graphic>
      </p:graphicFrame>
      <p:pic>
        <p:nvPicPr>
          <p:cNvPr id="23" name="Picture 4"/>
          <p:cNvPicPr>
            <a:picLocks noChangeAspect="1"/>
          </p:cNvPicPr>
          <p:nvPr/>
        </p:nvPicPr>
        <p:blipFill>
          <a:blip r:embed="rId6"/>
          <a:stretch>
            <a:fillRect/>
          </a:stretch>
        </p:blipFill>
        <p:spPr>
          <a:xfrm>
            <a:off x="3838175" y="881905"/>
            <a:ext cx="3375425" cy="327718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4" y="1354656"/>
                <a:ext cx="6950229" cy="292387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如果椭圆曲线上的三个点处于一条直线上，那么它们的和为</a:t>
                </a:r>
                <a14:m>
                  <m:oMath xmlns:m="http://schemas.openxmlformats.org/officeDocument/2006/math">
                    <m:r>
                      <m:rPr>
                        <m:sty m:val="p"/>
                      </m:rPr>
                      <a:rPr lang="en-US" altLang="zh-CN" b="0" i="0" smtClean="0">
                        <a:latin typeface="Cambria Math" panose="02040503050406030204" pitchFamily="18" charset="0"/>
                        <a:ea typeface="楷体" panose="02010609060101010101" pitchFamily="49" charset="-122"/>
                        <a:cs typeface="楷体" panose="02010609060101010101" pitchFamily="49" charset="-122"/>
                      </a:rPr>
                      <m:t>O</m:t>
                    </m:r>
                  </m:oMath>
                </a14:m>
                <a:r>
                  <a:rPr lang="zh-CN" altLang="en-US" dirty="0">
                    <a:latin typeface="楷体" panose="02010609060101010101" pitchFamily="49" charset="-122"/>
                    <a:ea typeface="楷体" panose="02010609060101010101" pitchFamily="49" charset="-122"/>
                    <a:cs typeface="楷体" panose="02010609060101010101" pitchFamily="49" charset="-122"/>
                  </a:rPr>
                  <a:t>。具体地，</a:t>
                </a: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加法规则</a:t>
                </a:r>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对具有不同的</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𝑥</m:t>
                    </m:r>
                  </m:oMath>
                </a14:m>
                <a:r>
                  <a:rPr lang="zh-CN" altLang="en-US" dirty="0">
                    <a:latin typeface="楷体" panose="02010609060101010101" pitchFamily="49" charset="-122"/>
                    <a:ea typeface="楷体" panose="02010609060101010101" pitchFamily="49" charset="-122"/>
                    <a:cs typeface="楷体" panose="02010609060101010101" pitchFamily="49" charset="-122"/>
                  </a:rPr>
                  <a:t>坐标的</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𝑄</m:t>
                    </m:r>
                  </m:oMath>
                </a14:m>
                <a:r>
                  <a:rPr lang="zh-CN" altLang="en-US" dirty="0">
                    <a:latin typeface="楷体" panose="02010609060101010101" pitchFamily="49" charset="-122"/>
                    <a:ea typeface="楷体" panose="02010609060101010101" pitchFamily="49" charset="-122"/>
                    <a:cs typeface="楷体" panose="02010609060101010101" pitchFamily="49" charset="-122"/>
                  </a:rPr>
                  <a:t>和</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𝑅</m:t>
                    </m:r>
                  </m:oMath>
                </a14:m>
                <a:r>
                  <a:rPr lang="zh-CN" altLang="en-US" dirty="0">
                    <a:latin typeface="楷体" panose="02010609060101010101" pitchFamily="49" charset="-122"/>
                    <a:ea typeface="楷体" panose="02010609060101010101" pitchFamily="49" charset="-122"/>
                    <a:cs typeface="楷体" panose="02010609060101010101" pitchFamily="49" charset="-122"/>
                  </a:rPr>
                  <a:t>相加，在它们之间画一条直线求出第三个交点</a:t>
                </a:r>
                <a14:m>
                  <m:oMath xmlns:m="http://schemas.openxmlformats.org/officeDocument/2006/math">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pitchFamily="49" charset="-122"/>
                    <a:ea typeface="楷体" panose="02010609060101010101" pitchFamily="49" charset="-122"/>
                    <a:cs typeface="楷体" panose="02010609060101010101" pitchFamily="49" charset="-122"/>
                  </a:rPr>
                  <a:t>，这种交点是</a:t>
                </a: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唯一的</a:t>
                </a:r>
                <a:r>
                  <a:rPr lang="zh-CN" altLang="en-US" dirty="0">
                    <a:latin typeface="楷体" panose="02010609060101010101" pitchFamily="49" charset="-122"/>
                    <a:ea typeface="楷体" panose="02010609060101010101" pitchFamily="49" charset="-122"/>
                    <a:cs typeface="楷体" panose="02010609060101010101" pitchFamily="49" charset="-122"/>
                  </a:rPr>
                  <a:t>。因</a:t>
                </a:r>
                <a14:m>
                  <m:oMath xmlns:m="http://schemas.openxmlformats.org/officeDocument/2006/math">
                    <m:r>
                      <a:rPr lang="en-US" altLang="zh-CN" b="0" i="1" smtClean="0">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𝑅</m:t>
                    </m:r>
                    <m:r>
                      <a:rPr lang="en-US" altLang="zh-CN" b="0" i="1" smtClean="0">
                        <a:latin typeface="Cambria Math" panose="02040503050406030204" pitchFamily="18" charset="0"/>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1</m:t>
                        </m:r>
                      </m:sub>
                    </m:sSub>
                    <m:r>
                      <a:rPr lang="en-US" altLang="zh-CN" b="0" i="1" smtClean="0">
                        <a:latin typeface="Cambria Math" panose="02040503050406030204" pitchFamily="18" charset="0"/>
                      </a:rPr>
                      <m:t>=</m:t>
                    </m:r>
                    <m:r>
                      <m:rPr>
                        <m:sty m:val="p"/>
                      </m:rPr>
                      <a:rPr lang="en-US" altLang="zh-CN" b="0" i="0" smtClean="0">
                        <a:latin typeface="Cambria Math" panose="02040503050406030204" pitchFamily="18" charset="0"/>
                      </a:rPr>
                      <m:t>O</m:t>
                    </m:r>
                  </m:oMath>
                </a14:m>
                <a:r>
                  <a:rPr lang="zh-CN" altLang="en-US" dirty="0">
                    <a:latin typeface="楷体" panose="02010609060101010101" pitchFamily="49" charset="-122"/>
                    <a:ea typeface="楷体" panose="02010609060101010101" pitchFamily="49" charset="-122"/>
                    <a:cs typeface="楷体" panose="02010609060101010101" pitchFamily="49" charset="-122"/>
                  </a:rPr>
                  <a:t>，有</a:t>
                </a:r>
                <a14:m>
                  <m:oMath xmlns:m="http://schemas.openxmlformats.org/officeDocument/2006/math">
                    <m:r>
                      <a:rPr lang="en-US" altLang="zh-CN" i="1">
                        <a:latin typeface="Cambria Math" panose="02040503050406030204" pitchFamily="18" charset="0"/>
                      </a:rPr>
                      <m:t>𝑄</m:t>
                    </m:r>
                    <m:r>
                      <a:rPr lang="en-US" altLang="zh-CN" i="1">
                        <a:latin typeface="Cambria Math" panose="02040503050406030204" pitchFamily="18" charset="0"/>
                      </a:rPr>
                      <m:t>+</m:t>
                    </m:r>
                    <m:r>
                      <a:rPr lang="en-US" altLang="zh-CN" i="1">
                        <a:latin typeface="Cambria Math" panose="02040503050406030204" pitchFamily="18" charset="0"/>
                      </a:rPr>
                      <m:t>𝑅</m:t>
                    </m:r>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m:t>
                        </m:r>
                        <m:r>
                          <a:rPr lang="en-US" altLang="zh-CN" i="1">
                            <a:latin typeface="Cambria Math" panose="02040503050406030204" pitchFamily="18" charset="0"/>
                          </a:rPr>
                          <m:t>𝑃</m:t>
                        </m:r>
                      </m:e>
                      <m:sub>
                        <m:r>
                          <a:rPr lang="en-US" altLang="zh-CN" i="1">
                            <a:latin typeface="Cambria Math" panose="02040503050406030204" pitchFamily="18" charset="0"/>
                          </a:rPr>
                          <m:t>1</m:t>
                        </m:r>
                      </m:sub>
                    </m:sSub>
                  </m:oMath>
                </a14:m>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对点</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𝑄</m:t>
                    </m:r>
                  </m:oMath>
                </a14:m>
                <a:r>
                  <a:rPr lang="zh-CN" altLang="en-US" dirty="0">
                    <a:latin typeface="楷体" panose="02010609060101010101" pitchFamily="49" charset="-122"/>
                    <a:ea typeface="楷体" panose="02010609060101010101" pitchFamily="49" charset="-122"/>
                    <a:cs typeface="楷体" panose="02010609060101010101" pitchFamily="49" charset="-122"/>
                  </a:rPr>
                  <a:t>加倍，画一切线求出另一交点</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𝑆</m:t>
                    </m:r>
                  </m:oMath>
                </a14:m>
                <a:r>
                  <a:rPr lang="zh-CN" altLang="en-US" dirty="0">
                    <a:latin typeface="楷体" panose="02010609060101010101" pitchFamily="49" charset="-122"/>
                    <a:ea typeface="楷体" panose="02010609060101010101" pitchFamily="49" charset="-122"/>
                    <a:cs typeface="楷体" panose="02010609060101010101" pitchFamily="49" charset="-122"/>
                  </a:rPr>
                  <a:t>，则</a:t>
                </a:r>
                <a14:m>
                  <m:oMath xmlns:m="http://schemas.openxmlformats.org/officeDocument/2006/math">
                    <m:r>
                      <a:rPr lang="en-US" altLang="zh-CN" i="1">
                        <a:latin typeface="Cambria Math" panose="02040503050406030204" pitchFamily="18" charset="0"/>
                        <a:ea typeface="楷体" panose="02010609060101010101" pitchFamily="49" charset="-122"/>
                        <a:cs typeface="楷体" panose="02010609060101010101" pitchFamily="49" charset="-122"/>
                      </a:rPr>
                      <m:t>𝑄</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𝑄</m:t>
                    </m:r>
                    <m:r>
                      <a:rPr lang="en-US" altLang="zh-CN" b="0" i="1" smtClean="0">
                        <a:latin typeface="Cambria Math" panose="02040503050406030204" pitchFamily="18" charset="0"/>
                        <a:ea typeface="楷体" panose="02010609060101010101" pitchFamily="49" charset="-122"/>
                        <a:cs typeface="楷体" panose="02010609060101010101" pitchFamily="49" charset="-122"/>
                      </a:rPr>
                      <m:t>=2</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𝑄</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𝑆</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spcBef>
                    <a:spcPts val="1200"/>
                  </a:spcBef>
                  <a:buClr>
                    <a:schemeClr val="accent1"/>
                  </a:buClr>
                </a:pPr>
                <a:r>
                  <a:rPr lang="en-US" altLang="zh-CN" dirty="0">
                    <a:latin typeface="楷体" panose="02010609060101010101" pitchFamily="49" charset="-122"/>
                    <a:ea typeface="楷体" panose="02010609060101010101" pitchFamily="49" charset="-122"/>
                    <a:cs typeface="楷体" panose="02010609060101010101" pitchFamily="49" charset="-122"/>
                  </a:rPr>
                  <a:t> </a:t>
                </a: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4" y="1354656"/>
                <a:ext cx="6950229" cy="2923877"/>
              </a:xfrm>
              <a:prstGeom prst="rect">
                <a:avLst/>
              </a:prstGeom>
              <a:blipFill>
                <a:blip r:embed="rId2"/>
                <a:stretch>
                  <a:fillRect l="-526" t="-1458" r="-789"/>
                </a:stretch>
              </a:blipFill>
            </p:spPr>
            <p:txBody>
              <a:bodyPr/>
              <a:lstStyle/>
              <a:p>
                <a:r>
                  <a:rPr 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椭圆曲线的运算规则</a:t>
            </a:r>
          </a:p>
        </p:txBody>
      </p:sp>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pitchFamily="49" charset="-122"/>
                    <a:ea typeface="楷体" panose="02010609060101010101" pitchFamily="49" charset="-122"/>
                    <a:cs typeface="楷体" panose="02010609060101010101" pitchFamily="49" charset="-122"/>
                  </a:rPr>
                  <a:t>，其中：</a:t>
                </a:r>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与曲线相交：</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r>
                  <a:rPr lang="zh-CN" altLang="en-US" dirty="0">
                    <a:ea typeface="楷体" panose="02010609060101010101" pitchFamily="49" charset="-122"/>
                    <a:cs typeface="楷体" panose="02010609060101010101" pitchFamily="49"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pitchFamily="49" charset="-122"/>
                            <a:cs typeface="楷体" panose="02010609060101010101" pitchFamily="49" charset="-122"/>
                          </a:rPr>
                        </m:ctrlPr>
                      </m:sSupPr>
                      <m:e>
                        <m:r>
                          <a:rPr lang="en-US" altLang="zh-CN" i="1">
                            <a:latin typeface="Cambria Math" panose="02040503050406030204" pitchFamily="18" charset="0"/>
                            <a:ea typeface="楷体" panose="02010609060101010101" pitchFamily="49" charset="-122"/>
                            <a:cs typeface="楷体" panose="02010609060101010101" pitchFamily="49"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pitchFamily="49" charset="-122"/>
                            <a:cs typeface="楷体" panose="02010609060101010101" pitchFamily="49" charset="-122"/>
                          </a:rPr>
                          <m:t>)</m:t>
                        </m:r>
                      </m:e>
                      <m:sup>
                        <m:r>
                          <a:rPr lang="en-US" altLang="zh-CN" i="1">
                            <a:latin typeface="Cambria Math" panose="02040503050406030204" pitchFamily="18" charset="0"/>
                            <a:ea typeface="楷体" panose="02010609060101010101" pitchFamily="49" charset="-122"/>
                            <a:cs typeface="楷体" panose="02010609060101010101" pitchFamily="49"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pitchFamily="49" charset="-122"/>
                            <a:cs typeface="楷体" panose="02010609060101010101" pitchFamily="49"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pitchFamily="49" charset="-122"/>
                            <a:cs typeface="楷体" panose="02010609060101010101" pitchFamily="49" charset="-122"/>
                          </a:rPr>
                          <m:t>3</m:t>
                        </m:r>
                      </m:sup>
                    </m:sSup>
                    <m:r>
                      <a:rPr lang="en-US" altLang="zh-CN" i="1">
                        <a:latin typeface="Cambria Math" panose="02040503050406030204" pitchFamily="18" charset="0"/>
                        <a:ea typeface="楷体" panose="02010609060101010101" pitchFamily="49" charset="-122"/>
                        <a:cs typeface="楷体" panose="02010609060101010101" pitchFamily="49" charset="-122"/>
                      </a:rPr>
                      <m:t>+</m:t>
                    </m:r>
                    <m:r>
                      <a:rPr lang="en-US" altLang="zh-CN" i="1">
                        <a:latin typeface="Cambria Math" panose="02040503050406030204" pitchFamily="18" charset="0"/>
                        <a:ea typeface="楷体" panose="02010609060101010101" pitchFamily="49" charset="-122"/>
                        <a:cs typeface="楷体" panose="02010609060101010101" pitchFamily="49" charset="-122"/>
                      </a:rPr>
                      <m:t>𝑎𝑥</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𝑏</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𝑅</m:t>
                    </m:r>
                  </m:oMath>
                </a14:m>
                <a:r>
                  <a:rPr lang="zh-CN" altLang="en-US" dirty="0">
                    <a:latin typeface="楷体" panose="02010609060101010101" pitchFamily="49" charset="-122"/>
                    <a:ea typeface="楷体" panose="02010609060101010101" pitchFamily="49" charset="-122"/>
                    <a:cs typeface="楷体" panose="02010609060101010101" pitchFamily="49" charset="-122"/>
                  </a:rPr>
                  <a:t>点坐标：</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r>
                  <a:rPr lang="en-US" altLang="zh-CN" dirty="0">
                    <a:latin typeface="楷体" panose="02010609060101010101" pitchFamily="49" charset="-122"/>
                    <a:ea typeface="楷体" panose="02010609060101010101" pitchFamily="49" charset="-122"/>
                    <a:cs typeface="楷体" panose="02010609060101010101" pitchFamily="49" charset="-122"/>
                  </a:rPr>
                  <a:t> </a:t>
                </a: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rotWithShape="1">
                <a:blip r:embed="rId2"/>
                <a:stretch>
                  <a:fillRect t="-6" r="3" b="5"/>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椭圆曲线的运算规则</a:t>
            </a:r>
          </a:p>
        </p:txBody>
      </p:sp>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14" name="Picture 6"/>
          <p:cNvPicPr>
            <a:picLocks noChangeAspect="1"/>
          </p:cNvPicPr>
          <p:nvPr/>
        </p:nvPicPr>
        <p:blipFill>
          <a:blip r:embed="rId3"/>
          <a:stretch>
            <a:fillRect/>
          </a:stretch>
        </p:blipFill>
        <p:spPr>
          <a:xfrm>
            <a:off x="4176173" y="1763446"/>
            <a:ext cx="3152961" cy="2868094"/>
          </a:xfrm>
          <a:prstGeom prst="rect">
            <a:avLst/>
          </a:prstGeom>
          <a:noFill/>
          <a:ln w="9525">
            <a:noFill/>
          </a:ln>
        </p:spPr>
      </p:pic>
      <p:pic>
        <p:nvPicPr>
          <p:cNvPr id="15" name="Picture 4"/>
          <p:cNvPicPr>
            <a:picLocks noChangeAspect="1"/>
          </p:cNvPicPr>
          <p:nvPr/>
        </p:nvPicPr>
        <p:blipFill>
          <a:blip r:embed="rId4"/>
          <a:stretch>
            <a:fillRect/>
          </a:stretch>
        </p:blipFill>
        <p:spPr>
          <a:xfrm>
            <a:off x="1200151" y="1727047"/>
            <a:ext cx="1257299" cy="663575"/>
          </a:xfrm>
          <a:prstGeom prst="rect">
            <a:avLst/>
          </a:prstGeom>
          <a:noFill/>
          <a:ln w="9525">
            <a:noFill/>
          </a:ln>
        </p:spPr>
      </p:pic>
      <p:pic>
        <p:nvPicPr>
          <p:cNvPr id="16" name="Picture 5"/>
          <p:cNvPicPr>
            <a:picLocks noChangeAspect="1"/>
          </p:cNvPicPr>
          <p:nvPr/>
        </p:nvPicPr>
        <p:blipFill>
          <a:blip r:embed="rId5"/>
          <a:stretch>
            <a:fillRect/>
          </a:stretch>
        </p:blipFill>
        <p:spPr>
          <a:xfrm>
            <a:off x="1200151" y="2374508"/>
            <a:ext cx="1733550" cy="458207"/>
          </a:xfrm>
          <a:prstGeom prst="rect">
            <a:avLst/>
          </a:prstGeom>
          <a:noFill/>
          <a:ln w="9525">
            <a:noFill/>
          </a:ln>
        </p:spPr>
      </p:pic>
      <p:pic>
        <p:nvPicPr>
          <p:cNvPr id="18" name="Picture 7"/>
          <p:cNvPicPr>
            <a:picLocks noChangeAspect="1"/>
          </p:cNvPicPr>
          <p:nvPr/>
        </p:nvPicPr>
        <p:blipFill>
          <a:blip r:embed="rId6"/>
          <a:stretch>
            <a:fillRect/>
          </a:stretch>
        </p:blipFill>
        <p:spPr>
          <a:xfrm>
            <a:off x="1226748" y="3714303"/>
            <a:ext cx="1311263" cy="822754"/>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347787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直线</a:t>
                </a:r>
                <a14:m>
                  <m:oMath xmlns:m="http://schemas.openxmlformats.org/officeDocument/2006/math">
                    <m:sSub>
                      <m:sSubPr>
                        <m:ctrlPr>
                          <a:rPr lang="pt-BR" altLang="zh-CN" i="1">
                            <a:latin typeface="Cambria Math" panose="02040503050406030204" pitchFamily="18" charset="0"/>
                          </a:rPr>
                        </m:ctrlPr>
                      </m:sSubPr>
                      <m:e>
                        <m:r>
                          <a:rPr lang="en-US" altLang="zh-CN" b="0" i="1" smtClean="0">
                            <a:latin typeface="Cambria Math" panose="02040503050406030204" pitchFamily="18" charset="0"/>
                          </a:rPr>
                          <m:t>𝑔</m:t>
                        </m:r>
                        <m:r>
                          <a:rPr lang="en-US" altLang="zh-CN" b="0" i="1" smtClean="0">
                            <a:latin typeface="Cambria Math" panose="02040503050406030204" pitchFamily="18" charset="0"/>
                          </a:rPr>
                          <m:t>: </m:t>
                        </m:r>
                        <m:r>
                          <a:rPr lang="en-US" altLang="zh-CN" b="0" i="1" smtClean="0">
                            <a:latin typeface="Cambria Math" panose="02040503050406030204" pitchFamily="18" charset="0"/>
                          </a:rPr>
                          <m:t>𝑦</m:t>
                        </m:r>
                        <m:r>
                          <a:rPr lang="en-US" altLang="zh-CN" b="0" i="1" smtClean="0">
                            <a:latin typeface="Cambria Math" panose="02040503050406030204" pitchFamily="18" charset="0"/>
                          </a:rPr>
                          <m:t>=</m:t>
                        </m:r>
                        <m:r>
                          <a:rPr lang="en-US" altLang="zh-CN" b="0" i="1" smtClean="0">
                            <a:latin typeface="Cambria Math" panose="02040503050406030204" pitchFamily="18" charset="0"/>
                          </a:rPr>
                          <m:t>𝑠𝑥</m:t>
                        </m:r>
                        <m:r>
                          <a:rPr lang="en-US" altLang="zh-CN" b="0" i="1" smtClean="0">
                            <a:latin typeface="Cambria Math" panose="02040503050406030204" pitchFamily="18" charset="0"/>
                          </a:rPr>
                          <m:t>+</m:t>
                        </m:r>
                        <m:r>
                          <a:rPr lang="en-US" altLang="zh-CN" b="0" i="1" smtClean="0">
                            <a:latin typeface="Cambria Math" panose="02040503050406030204" pitchFamily="18" charset="0"/>
                          </a:rPr>
                          <m:t>𝑦</m:t>
                        </m:r>
                      </m:e>
                      <m:sub>
                        <m:r>
                          <a:rPr lang="en-US" altLang="zh-CN" b="0" i="1" smtClean="0">
                            <a:latin typeface="Cambria Math" panose="02040503050406030204" pitchFamily="18" charset="0"/>
                          </a:rPr>
                          <m:t>0</m:t>
                        </m:r>
                      </m:sub>
                    </m:sSub>
                  </m:oMath>
                </a14:m>
                <a:r>
                  <a:rPr lang="zh-CN" altLang="en-US" dirty="0">
                    <a:latin typeface="楷体" panose="02010609060101010101" pitchFamily="49" charset="-122"/>
                    <a:ea typeface="楷体" panose="02010609060101010101" pitchFamily="49" charset="-122"/>
                    <a:cs typeface="楷体" panose="02010609060101010101" pitchFamily="49" charset="-122"/>
                  </a:rPr>
                  <a:t>，其中：</a:t>
                </a:r>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与曲线相交：</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r>
                  <a:rPr lang="zh-CN" altLang="en-US" dirty="0">
                    <a:ea typeface="楷体" panose="02010609060101010101" pitchFamily="49" charset="-122"/>
                    <a:cs typeface="楷体" panose="02010609060101010101" pitchFamily="49" charset="-122"/>
                  </a:rPr>
                  <a:t>      </a:t>
                </a:r>
                <a14:m>
                  <m:oMath xmlns:m="http://schemas.openxmlformats.org/officeDocument/2006/math">
                    <m:sSup>
                      <m:sSupPr>
                        <m:ctrlPr>
                          <a:rPr lang="en-US" altLang="zh-CN" i="1" smtClean="0">
                            <a:latin typeface="Cambria Math" panose="02040503050406030204" pitchFamily="18" charset="0"/>
                            <a:ea typeface="楷体" panose="02010609060101010101" pitchFamily="49" charset="-122"/>
                            <a:cs typeface="楷体" panose="02010609060101010101" pitchFamily="49" charset="-122"/>
                          </a:rPr>
                        </m:ctrlPr>
                      </m:sSupPr>
                      <m:e>
                        <m:r>
                          <a:rPr lang="en-US" altLang="zh-CN" i="1">
                            <a:latin typeface="Cambria Math" panose="02040503050406030204" pitchFamily="18" charset="0"/>
                            <a:ea typeface="楷体" panose="02010609060101010101" pitchFamily="49" charset="-122"/>
                            <a:cs typeface="楷体" panose="02010609060101010101" pitchFamily="49" charset="-122"/>
                          </a:rPr>
                          <m:t>(</m:t>
                        </m:r>
                        <m:sSub>
                          <m:sSubPr>
                            <m:ctrlPr>
                              <a:rPr lang="pt-BR" altLang="zh-CN" i="1">
                                <a:latin typeface="Cambria Math" panose="02040503050406030204" pitchFamily="18" charset="0"/>
                              </a:rPr>
                            </m:ctrlPr>
                          </m:sSubPr>
                          <m:e>
                            <m:r>
                              <a:rPr lang="en-US" altLang="zh-CN" i="1">
                                <a:latin typeface="Cambria Math" panose="02040503050406030204" pitchFamily="18" charset="0"/>
                              </a:rPr>
                              <m:t>𝑠𝑥</m:t>
                            </m:r>
                            <m:r>
                              <a:rPr lang="en-US" altLang="zh-CN" i="1">
                                <a:latin typeface="Cambria Math" panose="02040503050406030204" pitchFamily="18" charset="0"/>
                              </a:rPr>
                              <m:t>+</m:t>
                            </m:r>
                            <m:r>
                              <a:rPr lang="en-US" altLang="zh-CN" i="1">
                                <a:latin typeface="Cambria Math" panose="02040503050406030204" pitchFamily="18" charset="0"/>
                              </a:rPr>
                              <m:t>𝑦</m:t>
                            </m:r>
                          </m:e>
                          <m:sub>
                            <m:r>
                              <a:rPr lang="en-US" altLang="zh-CN" i="1">
                                <a:latin typeface="Cambria Math" panose="02040503050406030204" pitchFamily="18" charset="0"/>
                              </a:rPr>
                              <m:t>0</m:t>
                            </m:r>
                          </m:sub>
                        </m:sSub>
                        <m:r>
                          <a:rPr lang="en-US" altLang="zh-CN" i="1">
                            <a:latin typeface="Cambria Math" panose="02040503050406030204" pitchFamily="18" charset="0"/>
                            <a:ea typeface="楷体" panose="02010609060101010101" pitchFamily="49" charset="-122"/>
                            <a:cs typeface="楷体" panose="02010609060101010101" pitchFamily="49" charset="-122"/>
                          </a:rPr>
                          <m:t>)</m:t>
                        </m:r>
                      </m:e>
                      <m:sup>
                        <m:r>
                          <a:rPr lang="en-US" altLang="zh-CN" i="1">
                            <a:latin typeface="Cambria Math" panose="02040503050406030204" pitchFamily="18" charset="0"/>
                            <a:ea typeface="楷体" panose="02010609060101010101" pitchFamily="49" charset="-122"/>
                            <a:cs typeface="楷体" panose="02010609060101010101" pitchFamily="49" charset="-122"/>
                          </a:rPr>
                          <m:t>2</m:t>
                        </m:r>
                      </m:sup>
                    </m:sSup>
                    <m:r>
                      <a:rPr lang="en-US" altLang="zh-CN" i="1">
                        <a:latin typeface="Cambria Math" panose="02040503050406030204" pitchFamily="18" charset="0"/>
                      </a:rPr>
                      <m:t>=</m:t>
                    </m:r>
                    <m:sSup>
                      <m:sSupPr>
                        <m:ctrlPr>
                          <a:rPr lang="en-US" altLang="zh-CN" i="1">
                            <a:latin typeface="Cambria Math" panose="02040503050406030204" pitchFamily="18" charset="0"/>
                            <a:ea typeface="楷体" panose="02010609060101010101" pitchFamily="49" charset="-122"/>
                            <a:cs typeface="楷体" panose="02010609060101010101" pitchFamily="49" charset="-122"/>
                          </a:rPr>
                        </m:ctrlPr>
                      </m:sSupPr>
                      <m:e>
                        <m:r>
                          <a:rPr lang="en-US" altLang="zh-CN" i="1">
                            <a:latin typeface="Cambria Math" panose="02040503050406030204" pitchFamily="18" charset="0"/>
                          </a:rPr>
                          <m:t>𝑥</m:t>
                        </m:r>
                      </m:e>
                      <m:sup>
                        <m:r>
                          <a:rPr lang="en-US" altLang="zh-CN" i="1">
                            <a:latin typeface="Cambria Math" panose="02040503050406030204" pitchFamily="18" charset="0"/>
                            <a:ea typeface="楷体" panose="02010609060101010101" pitchFamily="49" charset="-122"/>
                            <a:cs typeface="楷体" panose="02010609060101010101" pitchFamily="49" charset="-122"/>
                          </a:rPr>
                          <m:t>3</m:t>
                        </m:r>
                      </m:sup>
                    </m:sSup>
                    <m:r>
                      <a:rPr lang="en-US" altLang="zh-CN" i="1">
                        <a:latin typeface="Cambria Math" panose="02040503050406030204" pitchFamily="18" charset="0"/>
                        <a:ea typeface="楷体" panose="02010609060101010101" pitchFamily="49" charset="-122"/>
                        <a:cs typeface="楷体" panose="02010609060101010101" pitchFamily="49" charset="-122"/>
                      </a:rPr>
                      <m:t>+</m:t>
                    </m:r>
                    <m:r>
                      <a:rPr lang="en-US" altLang="zh-CN" i="1">
                        <a:latin typeface="Cambria Math" panose="02040503050406030204" pitchFamily="18" charset="0"/>
                        <a:ea typeface="楷体" panose="02010609060101010101" pitchFamily="49" charset="-122"/>
                        <a:cs typeface="楷体" panose="02010609060101010101" pitchFamily="49" charset="-122"/>
                      </a:rPr>
                      <m:t>𝑎𝑥</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𝑏</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𝑅</m:t>
                    </m:r>
                  </m:oMath>
                </a14:m>
                <a:r>
                  <a:rPr lang="zh-CN" altLang="en-US" dirty="0">
                    <a:latin typeface="楷体" panose="02010609060101010101" pitchFamily="49" charset="-122"/>
                    <a:ea typeface="楷体" panose="02010609060101010101" pitchFamily="49" charset="-122"/>
                    <a:cs typeface="楷体" panose="02010609060101010101" pitchFamily="49" charset="-122"/>
                  </a:rPr>
                  <a:t>点坐标：</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r>
                  <a:rPr lang="en-US" altLang="zh-CN" dirty="0">
                    <a:latin typeface="楷体" panose="02010609060101010101" pitchFamily="49" charset="-122"/>
                    <a:ea typeface="楷体" panose="02010609060101010101" pitchFamily="49" charset="-122"/>
                    <a:cs typeface="楷体" panose="02010609060101010101" pitchFamily="49" charset="-122"/>
                  </a:rPr>
                  <a:t> </a:t>
                </a: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3477875"/>
              </a:xfrm>
              <a:prstGeom prst="rect">
                <a:avLst/>
              </a:prstGeom>
              <a:blipFill rotWithShape="1">
                <a:blip r:embed="rId2"/>
                <a:stretch>
                  <a:fillRect t="-6" r="3" b="5"/>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椭圆曲线的运算规则</a:t>
            </a:r>
          </a:p>
        </p:txBody>
      </p:sp>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8</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17" name="Picture 4"/>
          <p:cNvPicPr>
            <a:picLocks noChangeAspect="1"/>
          </p:cNvPicPr>
          <p:nvPr/>
        </p:nvPicPr>
        <p:blipFill>
          <a:blip r:embed="rId3"/>
          <a:stretch>
            <a:fillRect/>
          </a:stretch>
        </p:blipFill>
        <p:spPr>
          <a:xfrm>
            <a:off x="4168877" y="1801092"/>
            <a:ext cx="3186248" cy="2784729"/>
          </a:xfrm>
          <a:prstGeom prst="rect">
            <a:avLst/>
          </a:prstGeom>
          <a:noFill/>
          <a:ln w="9525">
            <a:noFill/>
          </a:ln>
        </p:spPr>
      </p:pic>
      <p:pic>
        <p:nvPicPr>
          <p:cNvPr id="19" name="Picture 5"/>
          <p:cNvPicPr>
            <a:picLocks noChangeAspect="1"/>
          </p:cNvPicPr>
          <p:nvPr/>
        </p:nvPicPr>
        <p:blipFill>
          <a:blip r:embed="rId4"/>
          <a:stretch>
            <a:fillRect/>
          </a:stretch>
        </p:blipFill>
        <p:spPr>
          <a:xfrm>
            <a:off x="1189111" y="1690940"/>
            <a:ext cx="1669877" cy="1115714"/>
          </a:xfrm>
          <a:prstGeom prst="rect">
            <a:avLst/>
          </a:prstGeom>
          <a:noFill/>
          <a:ln w="9525">
            <a:noFill/>
          </a:ln>
        </p:spPr>
      </p:pic>
      <p:pic>
        <p:nvPicPr>
          <p:cNvPr id="20" name="Picture 6"/>
          <p:cNvPicPr>
            <a:picLocks noChangeAspect="1"/>
          </p:cNvPicPr>
          <p:nvPr/>
        </p:nvPicPr>
        <p:blipFill>
          <a:blip r:embed="rId5"/>
          <a:stretch>
            <a:fillRect/>
          </a:stretch>
        </p:blipFill>
        <p:spPr>
          <a:xfrm>
            <a:off x="1207254" y="3652462"/>
            <a:ext cx="1375615" cy="879600"/>
          </a:xfrm>
          <a:prstGeom prst="rect">
            <a:avLst/>
          </a:prstGeom>
          <a:noFill/>
          <a:ln w="9525">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randombar(horizontal)">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254965"/>
                <a:ext cx="7586536" cy="1384995"/>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点加法：</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𝑄</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𝑅</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r>
                  <a:rPr lang="en-US" altLang="zh-CN" dirty="0">
                    <a:latin typeface="楷体" panose="02010609060101010101" pitchFamily="49" charset="-122"/>
                    <a:ea typeface="楷体" panose="02010609060101010101" pitchFamily="49" charset="-122"/>
                    <a:cs typeface="楷体" panose="02010609060101010101" pitchFamily="49" charset="-122"/>
                  </a:rPr>
                  <a:t> </a:t>
                </a:r>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254965"/>
                <a:ext cx="7586536" cy="1384995"/>
              </a:xfrm>
              <a:prstGeom prst="rect">
                <a:avLst/>
              </a:prstGeom>
              <a:blipFill>
                <a:blip r:embed="rId2"/>
                <a:stretch>
                  <a:fillRect l="-482" t="-264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248821" y="543831"/>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 </a:t>
                </a:r>
                <a14:m>
                  <m:oMath xmlns:m="http://schemas.openxmlformats.org/officeDocument/2006/math">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𝑷</m:t>
                    </m:r>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m:t>
                    </m:r>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𝑸</m:t>
                    </m:r>
                  </m:oMath>
                </a14:m>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mc:Choice>
        <mc:Fallback>
          <p:sp>
            <p:nvSpPr>
              <p:cNvPr id="9" name="文本框 8"/>
              <p:cNvSpPr txBox="1">
                <a:spLocks noRot="1" noChangeAspect="1" noMove="1" noResize="1" noEditPoints="1" noAdjustHandles="1" noChangeArrowheads="1" noChangeShapeType="1" noTextEdit="1"/>
              </p:cNvSpPr>
              <p:nvPr/>
            </p:nvSpPr>
            <p:spPr>
              <a:xfrm>
                <a:off x="248821" y="543831"/>
                <a:ext cx="4927600" cy="400110"/>
              </a:xfrm>
              <a:prstGeom prst="rect">
                <a:avLst/>
              </a:prstGeom>
              <a:blipFill>
                <a:blip r:embed="rId3"/>
                <a:stretch>
                  <a:fillRect l="-1609" t="-9091" b="-33333"/>
                </a:stretch>
              </a:blipFill>
            </p:spPr>
            <p:txBody>
              <a:bodyPr/>
              <a:lstStyle/>
              <a:p>
                <a:r>
                  <a:rPr lang="en-US">
                    <a:noFill/>
                  </a:rPr>
                  <a:t> </a:t>
                </a:r>
              </a:p>
            </p:txBody>
          </p:sp>
        </mc:Fallback>
      </mc:AlternateContent>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9</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2" name="图片 1" descr="Animation_Slide8_Frame1"/>
          <p:cNvPicPr>
            <a:picLocks noChangeAspect="1"/>
          </p:cNvPicPr>
          <p:nvPr/>
        </p:nvPicPr>
        <p:blipFill>
          <a:blip r:embed="rId4"/>
          <a:stretch>
            <a:fillRect/>
          </a:stretch>
        </p:blipFill>
        <p:spPr>
          <a:xfrm>
            <a:off x="4101036" y="760551"/>
            <a:ext cx="3611880" cy="3117850"/>
          </a:xfrm>
          <a:prstGeom prst="rect">
            <a:avLst/>
          </a:prstGeom>
        </p:spPr>
      </p:pic>
      <p:pic>
        <p:nvPicPr>
          <p:cNvPr id="3" name="图片 2" descr="Animation_Slide8_Frame2"/>
          <p:cNvPicPr>
            <a:picLocks noChangeAspect="1"/>
          </p:cNvPicPr>
          <p:nvPr/>
        </p:nvPicPr>
        <p:blipFill>
          <a:blip r:embed="rId5"/>
          <a:stretch>
            <a:fillRect/>
          </a:stretch>
        </p:blipFill>
        <p:spPr>
          <a:xfrm>
            <a:off x="4101036" y="760551"/>
            <a:ext cx="3611880" cy="3117850"/>
          </a:xfrm>
          <a:prstGeom prst="rect">
            <a:avLst/>
          </a:prstGeom>
        </p:spPr>
      </p:pic>
      <p:pic>
        <p:nvPicPr>
          <p:cNvPr id="4" name="图片 3" descr="Animation_Slide8_Frame3"/>
          <p:cNvPicPr>
            <a:picLocks noChangeAspect="1"/>
          </p:cNvPicPr>
          <p:nvPr/>
        </p:nvPicPr>
        <p:blipFill>
          <a:blip r:embed="rId6"/>
          <a:stretch>
            <a:fillRect/>
          </a:stretch>
        </p:blipFill>
        <p:spPr>
          <a:xfrm>
            <a:off x="4151836" y="760551"/>
            <a:ext cx="3611880" cy="3117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1661993"/>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二倍</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过点</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𝑥</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𝑦</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oMath>
                </a14:m>
                <a:r>
                  <a:rPr lang="zh-CN" altLang="en-US" dirty="0">
                    <a:latin typeface="楷体" panose="02010609060101010101" pitchFamily="49" charset="-122"/>
                    <a:ea typeface="楷体" panose="02010609060101010101" pitchFamily="49" charset="-122"/>
                    <a:cs typeface="楷体" panose="02010609060101010101" pitchFamily="49" charset="-122"/>
                  </a:rPr>
                  <a:t>的切线</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𝑅</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1661993"/>
              </a:xfrm>
              <a:prstGeom prst="rect">
                <a:avLst/>
              </a:prstGeom>
              <a:blipFill rotWithShape="1">
                <a:blip r:embed="rId2"/>
                <a:stretch>
                  <a:fillRect t="-12" r="3" b="2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2:</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 </a:t>
                </a:r>
                <a14:m>
                  <m:oMath xmlns:m="http://schemas.openxmlformats.org/officeDocument/2006/math">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𝑷</m:t>
                    </m:r>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m:t>
                    </m:r>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𝑷</m:t>
                    </m:r>
                  </m:oMath>
                </a14:m>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mc:Choice>
        <mc:Fallback>
          <p:sp>
            <p:nvSpPr>
              <p:cNvPr id="9" name="文本框 8"/>
              <p:cNvSpPr txBox="1">
                <a:spLocks noRot="1" noChangeAspect="1" noMove="1" noResize="1" noEditPoints="1" noAdjustHandles="1" noChangeArrowheads="1" noChangeShapeType="1" noTextEdit="1"/>
              </p:cNvSpPr>
              <p:nvPr/>
            </p:nvSpPr>
            <p:spPr>
              <a:xfrm>
                <a:off x="248821" y="633473"/>
                <a:ext cx="4927600" cy="400110"/>
              </a:xfrm>
              <a:prstGeom prst="rect">
                <a:avLst/>
              </a:prstGeom>
              <a:blipFill>
                <a:blip r:embed="rId3"/>
                <a:stretch>
                  <a:fillRect l="-1609" t="-9091" b="-33333"/>
                </a:stretch>
              </a:blipFill>
            </p:spPr>
            <p:txBody>
              <a:bodyPr/>
              <a:lstStyle/>
              <a:p>
                <a:r>
                  <a:rPr lang="en-US">
                    <a:noFill/>
                  </a:rPr>
                  <a:t> </a:t>
                </a:r>
              </a:p>
            </p:txBody>
          </p:sp>
        </mc:Fallback>
      </mc:AlternateContent>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10</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2" name="图片 1" descr="Animation_Slide9_Frame1"/>
          <p:cNvPicPr>
            <a:picLocks noChangeAspect="1"/>
          </p:cNvPicPr>
          <p:nvPr/>
        </p:nvPicPr>
        <p:blipFill>
          <a:blip r:embed="rId4"/>
          <a:stretch>
            <a:fillRect/>
          </a:stretch>
        </p:blipFill>
        <p:spPr>
          <a:xfrm>
            <a:off x="4188460" y="912495"/>
            <a:ext cx="3611880" cy="3117850"/>
          </a:xfrm>
          <a:prstGeom prst="rect">
            <a:avLst/>
          </a:prstGeom>
        </p:spPr>
      </p:pic>
      <p:pic>
        <p:nvPicPr>
          <p:cNvPr id="3" name="图片 2" descr="Animation_Slide9_Frame2"/>
          <p:cNvPicPr>
            <a:picLocks noChangeAspect="1"/>
          </p:cNvPicPr>
          <p:nvPr/>
        </p:nvPicPr>
        <p:blipFill>
          <a:blip r:embed="rId5"/>
          <a:stretch>
            <a:fillRect/>
          </a:stretch>
        </p:blipFill>
        <p:spPr>
          <a:xfrm>
            <a:off x="4188460" y="912495"/>
            <a:ext cx="3611880" cy="3117850"/>
          </a:xfrm>
          <a:prstGeom prst="rect">
            <a:avLst/>
          </a:prstGeom>
        </p:spPr>
      </p:pic>
      <p:pic>
        <p:nvPicPr>
          <p:cNvPr id="4" name="图片 3" descr="Animation_Slide9_Frame3"/>
          <p:cNvPicPr>
            <a:picLocks noChangeAspect="1"/>
          </p:cNvPicPr>
          <p:nvPr/>
        </p:nvPicPr>
        <p:blipFill>
          <a:blip r:embed="rId6"/>
          <a:stretch>
            <a:fillRect/>
          </a:stretch>
        </p:blipFill>
        <p:spPr>
          <a:xfrm>
            <a:off x="4188460" y="912495"/>
            <a:ext cx="3611880" cy="3117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7586536" cy="1938992"/>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标量乘：</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𝑘𝑃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7586536" cy="1938992"/>
              </a:xfrm>
              <a:prstGeom prst="rect">
                <a:avLst/>
              </a:prstGeom>
              <a:blipFill>
                <a:blip r:embed="rId2"/>
                <a:stretch>
                  <a:fillRect l="-482" t="-220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文本框 8"/>
              <p:cNvSpPr txBox="1"/>
              <p:nvPr/>
            </p:nvSpPr>
            <p:spPr>
              <a:xfrm>
                <a:off x="248821" y="633473"/>
                <a:ext cx="4927600" cy="707886"/>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例子</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3:</a:t>
                </a:r>
                <a:r>
                  <a:rPr lang="zh-CN" altLang="en-US" sz="2000" b="1" dirty="0">
                    <a:solidFill>
                      <a:schemeClr val="accent1"/>
                    </a:solidFill>
                    <a:effectLst>
                      <a:outerShdw blurRad="38100" dist="25400" dir="5400000" algn="ctr" rotWithShape="0">
                        <a:srgbClr val="6E747A">
                          <a:alpha val="43000"/>
                        </a:srgbClr>
                      </a:outerShdw>
                    </a:effectLst>
                    <a:latin typeface="+mj-ea"/>
                    <a:ea typeface="+mj-ea"/>
                  </a:rPr>
                  <a:t> </a:t>
                </a:r>
                <a14:m>
                  <m:oMath xmlns:m="http://schemas.openxmlformats.org/officeDocument/2006/math">
                    <m:r>
                      <a:rPr lang="en-US" altLang="zh-CN" sz="2000" b="1" i="1" smtClean="0">
                        <a:solidFill>
                          <a:schemeClr val="accent1"/>
                        </a:solidFill>
                        <a:latin typeface="Cambria Math" panose="02040503050406030204" pitchFamily="18" charset="0"/>
                        <a:ea typeface="楷体" panose="02010609060101010101" pitchFamily="49" charset="-122"/>
                        <a:cs typeface="楷体" panose="02010609060101010101" pitchFamily="49" charset="-122"/>
                      </a:rPr>
                      <m:t>𝒌𝑷</m:t>
                    </m:r>
                  </m:oMath>
                </a14:m>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a:p>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mc:Choice>
        <mc:Fallback>
          <p:sp>
            <p:nvSpPr>
              <p:cNvPr id="9" name="文本框 8"/>
              <p:cNvSpPr txBox="1">
                <a:spLocks noRot="1" noChangeAspect="1" noMove="1" noResize="1" noEditPoints="1" noAdjustHandles="1" noChangeArrowheads="1" noChangeShapeType="1" noTextEdit="1"/>
              </p:cNvSpPr>
              <p:nvPr/>
            </p:nvSpPr>
            <p:spPr>
              <a:xfrm>
                <a:off x="248821" y="633473"/>
                <a:ext cx="4927600" cy="707886"/>
              </a:xfrm>
              <a:prstGeom prst="rect">
                <a:avLst/>
              </a:prstGeom>
              <a:blipFill>
                <a:blip r:embed="rId3"/>
                <a:stretch>
                  <a:fillRect l="-1609" t="-5172"/>
                </a:stretch>
              </a:blipFill>
            </p:spPr>
            <p:txBody>
              <a:bodyPr/>
              <a:lstStyle/>
              <a:p>
                <a:r>
                  <a:rPr lang="en-US">
                    <a:noFill/>
                  </a:rPr>
                  <a:t> </a:t>
                </a:r>
              </a:p>
            </p:txBody>
          </p:sp>
        </mc:Fallback>
      </mc:AlternateContent>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11</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2" name="图片 1" descr="Animation_Slide10_Frame1"/>
          <p:cNvPicPr>
            <a:picLocks noChangeAspect="1"/>
          </p:cNvPicPr>
          <p:nvPr/>
        </p:nvPicPr>
        <p:blipFill>
          <a:blip r:embed="rId4"/>
          <a:stretch>
            <a:fillRect/>
          </a:stretch>
        </p:blipFill>
        <p:spPr>
          <a:xfrm>
            <a:off x="4209415" y="1234440"/>
            <a:ext cx="3611880" cy="3117850"/>
          </a:xfrm>
          <a:prstGeom prst="rect">
            <a:avLst/>
          </a:prstGeom>
        </p:spPr>
      </p:pic>
      <p:pic>
        <p:nvPicPr>
          <p:cNvPr id="3" name="图片 2" descr="Animation_Slide10_Frame2"/>
          <p:cNvPicPr>
            <a:picLocks noChangeAspect="1"/>
          </p:cNvPicPr>
          <p:nvPr/>
        </p:nvPicPr>
        <p:blipFill>
          <a:blip r:embed="rId5"/>
          <a:stretch>
            <a:fillRect/>
          </a:stretch>
        </p:blipFill>
        <p:spPr>
          <a:xfrm>
            <a:off x="4209415" y="1234440"/>
            <a:ext cx="3611880" cy="3117850"/>
          </a:xfrm>
          <a:prstGeom prst="rect">
            <a:avLst/>
          </a:prstGeom>
        </p:spPr>
      </p:pic>
      <p:pic>
        <p:nvPicPr>
          <p:cNvPr id="4" name="图片 3" descr="Animation_Slide10_Frame3"/>
          <p:cNvPicPr>
            <a:picLocks noChangeAspect="1"/>
          </p:cNvPicPr>
          <p:nvPr/>
        </p:nvPicPr>
        <p:blipFill>
          <a:blip r:embed="rId6"/>
          <a:stretch>
            <a:fillRect/>
          </a:stretch>
        </p:blipFill>
        <p:spPr>
          <a:xfrm>
            <a:off x="4209415" y="1234440"/>
            <a:ext cx="3611880" cy="31178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subTnLst>
                                    <p:set>
                                      <p:cBhvr override="childStyle">
                                        <p:cTn dur="65" fill="hold" display="1" masterRel="nextClick" afterEffect="1"/>
                                        <p:tgtEl>
                                          <p:spTgt spid="2"/>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656"/>
                <a:ext cx="8142660" cy="2517677"/>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定义在</a:t>
                </a:r>
                <a14:m>
                  <m:oMath xmlns:m="http://schemas.openxmlformats.org/officeDocument/2006/math">
                    <m:sSub>
                      <m:sSubPr>
                        <m:ctrlPr>
                          <a:rPr lang="pt-BR" altLang="zh-CN" i="1" smtClean="0">
                            <a:latin typeface="Cambria Math" panose="02040503050406030204" pitchFamily="18" charset="0"/>
                          </a:rPr>
                        </m:ctrlPr>
                      </m:sSubPr>
                      <m:e>
                        <m:r>
                          <m:rPr>
                            <m:sty m:val="p"/>
                          </m:rPr>
                          <a:rPr lang="en-US" altLang="zh-CN" b="0" i="0" smtClean="0">
                            <a:latin typeface="Cambria Math" panose="02040503050406030204" pitchFamily="18" charset="0"/>
                          </a:rPr>
                          <m:t>Z</m:t>
                        </m:r>
                      </m:e>
                      <m:sub>
                        <m:r>
                          <m:rPr>
                            <m:sty m:val="p"/>
                          </m:rPr>
                          <a:rPr lang="en-US" altLang="zh-CN" b="0" i="0" smtClean="0">
                            <a:latin typeface="Cambria Math" panose="02040503050406030204" pitchFamily="18" charset="0"/>
                          </a:rPr>
                          <m:t>p</m:t>
                        </m:r>
                      </m:sub>
                    </m:sSub>
                  </m:oMath>
                </a14:m>
                <a:r>
                  <a:rPr lang="zh-CN" altLang="en-US" dirty="0">
                    <a:latin typeface="楷体" panose="02010609060101010101" pitchFamily="49" charset="-122"/>
                    <a:ea typeface="楷体" panose="02010609060101010101" pitchFamily="49" charset="-122"/>
                    <a:cs typeface="楷体" panose="02010609060101010101" pitchFamily="49" charset="-122"/>
                  </a:rPr>
                  <a:t>上的素曲线</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prime curves</a:t>
                </a:r>
                <a:r>
                  <a:rPr lang="en-US" altLang="zh-CN" dirty="0">
                    <a:latin typeface="楷体" panose="02010609060101010101" pitchFamily="49" charset="-122"/>
                    <a:ea typeface="楷体" panose="02010609060101010101" pitchFamily="49" charset="-122"/>
                    <a:cs typeface="楷体" panose="02010609060101010101" pitchFamily="49" charset="-122"/>
                  </a:rPr>
                  <a:t>)</a:t>
                </a:r>
                <a:r>
                  <a:rPr lang="pt-BR" altLang="zh-CN" dirty="0"/>
                  <a:t> </a:t>
                </a:r>
                <a14:m>
                  <m:oMath xmlns:m="http://schemas.openxmlformats.org/officeDocument/2006/math">
                    <m:sSub>
                      <m:sSubPr>
                        <m:ctrlPr>
                          <a:rPr lang="pt-BR" altLang="zh-CN" i="1">
                            <a:latin typeface="Cambria Math" panose="02040503050406030204" pitchFamily="18" charset="0"/>
                          </a:rPr>
                        </m:ctrlPr>
                      </m:sSubPr>
                      <m:e>
                        <m:r>
                          <m:rPr>
                            <m:sty m:val="p"/>
                          </m:rPr>
                          <a:rPr lang="en-US" altLang="zh-CN" b="0" i="0" smtClean="0">
                            <a:latin typeface="Cambria Math" panose="02040503050406030204" pitchFamily="18" charset="0"/>
                          </a:rPr>
                          <m:t>E</m:t>
                        </m:r>
                      </m:e>
                      <m:sub>
                        <m:r>
                          <m:rPr>
                            <m:sty m:val="p"/>
                          </m:rPr>
                          <a:rPr lang="en-US" altLang="zh-CN">
                            <a:latin typeface="Cambria Math" panose="02040503050406030204" pitchFamily="18" charset="0"/>
                          </a:rPr>
                          <m:t>p</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变量和系数取自集合</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pitchFamily="49" charset="-122"/>
                          </a:rPr>
                        </m:ctrlPr>
                      </m:dPr>
                      <m:e>
                        <m:r>
                          <a:rPr lang="en-US" altLang="zh-CN" b="0" i="1" smtClean="0">
                            <a:latin typeface="Cambria Math" panose="02040503050406030204" pitchFamily="18" charset="0"/>
                            <a:ea typeface="楷体" panose="02010609060101010101" pitchFamily="49" charset="-122"/>
                          </a:rPr>
                          <m:t>0,1,…, </m:t>
                        </m:r>
                        <m:r>
                          <a:rPr lang="en-US" altLang="zh-CN" b="0" i="1" smtClean="0">
                            <a:latin typeface="Cambria Math" panose="02040503050406030204" pitchFamily="18" charset="0"/>
                            <a:ea typeface="楷体" panose="02010609060101010101" pitchFamily="49" charset="-122"/>
                          </a:rPr>
                          <m:t>𝑝</m:t>
                        </m:r>
                        <m:r>
                          <a:rPr lang="en-US" altLang="zh-CN" b="0" i="1" smtClean="0">
                            <a:latin typeface="Cambria Math" panose="02040503050406030204" pitchFamily="18" charset="0"/>
                            <a:ea typeface="楷体" panose="02010609060101010101" pitchFamily="49" charset="-122"/>
                          </a:rPr>
                          <m:t>−1</m:t>
                        </m:r>
                      </m:e>
                    </m:d>
                    <m:r>
                      <a:rPr lang="en-US" altLang="zh-CN" b="0" i="1" smtClean="0">
                        <a:latin typeface="Cambria Math" panose="02040503050406030204" pitchFamily="18" charset="0"/>
                        <a:ea typeface="楷体" panose="02010609060101010101" pitchFamily="49" charset="-122"/>
                      </a:rPr>
                      <m:t> </m:t>
                    </m:r>
                  </m:oMath>
                </a14:m>
                <a:r>
                  <a:rPr lang="zh-CN" altLang="en-US" dirty="0">
                    <a:latin typeface="楷体" panose="02010609060101010101" pitchFamily="49" charset="-122"/>
                    <a:ea typeface="楷体" panose="02010609060101010101" pitchFamily="49" charset="-122"/>
                    <a:cs typeface="楷体" panose="02010609060101010101" pitchFamily="49" charset="-122"/>
                  </a:rPr>
                  <a:t>，</a:t>
                </a: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模</a:t>
                </a:r>
                <a14:m>
                  <m:oMath xmlns:m="http://schemas.openxmlformats.org/officeDocument/2006/math">
                    <m:r>
                      <a:rPr lang="en-US" altLang="zh-CN" b="0" i="1">
                        <a:solidFill>
                          <a:schemeClr val="tx1"/>
                        </a:solidFill>
                        <a:latin typeface="Cambria Math" panose="02040503050406030204" pitchFamily="18" charset="0"/>
                        <a:ea typeface="楷体" panose="02010609060101010101" pitchFamily="49" charset="-122"/>
                        <a:cs typeface="楷体" panose="02010609060101010101" pitchFamily="49" charset="-122"/>
                      </a:rPr>
                      <m:t>𝑝</m:t>
                    </m:r>
                  </m:oMath>
                </a14:m>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运算</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最适合软件实现</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pitchFamily="49" charset="-122"/>
                    <a:cs typeface="楷体" panose="02010609060101010101" pitchFamily="49" charset="-122"/>
                  </a:rPr>
                  <a:t>定义在</a:t>
                </a:r>
                <a14:m>
                  <m:oMath xmlns:m="http://schemas.openxmlformats.org/officeDocument/2006/math">
                    <m:r>
                      <m:rPr>
                        <m:sty m:val="p"/>
                      </m:rPr>
                      <a:rPr lang="en-US" altLang="zh-CN" b="0" i="0" smtClean="0">
                        <a:latin typeface="Cambria Math" panose="02040503050406030204" pitchFamily="18" charset="0"/>
                      </a:rPr>
                      <m:t>GF</m:t>
                    </m:r>
                    <m:r>
                      <a:rPr lang="en-US" altLang="zh-CN" b="0" i="1" smtClean="0">
                        <a:latin typeface="Cambria Math" panose="02040503050406030204" pitchFamily="18" charset="0"/>
                      </a:rPr>
                      <m:t>(</m:t>
                    </m:r>
                    <m:sSup>
                      <m:sSupPr>
                        <m:ctrlPr>
                          <a:rPr lang="en-US" altLang="zh-CN" i="1">
                            <a:latin typeface="Cambria Math" panose="02040503050406030204" pitchFamily="18" charset="0"/>
                            <a:ea typeface="楷体" panose="02010609060101010101" pitchFamily="49" charset="-122"/>
                            <a:cs typeface="楷体" panose="02010609060101010101" pitchFamily="49" charset="-122"/>
                          </a:rPr>
                        </m:ctrlPr>
                      </m:sSupPr>
                      <m:e>
                        <m:r>
                          <a:rPr lang="en-US" altLang="zh-CN" b="0" i="1" smtClean="0">
                            <a:latin typeface="Cambria Math" panose="02040503050406030204" pitchFamily="18" charset="0"/>
                          </a:rPr>
                          <m:t>2</m:t>
                        </m:r>
                      </m:e>
                      <m:sup>
                        <m:r>
                          <a:rPr lang="en-US" altLang="zh-CN" b="0" i="1" smtClean="0">
                            <a:latin typeface="Cambria Math" panose="02040503050406030204" pitchFamily="18" charset="0"/>
                            <a:ea typeface="楷体" panose="02010609060101010101" pitchFamily="49" charset="-122"/>
                            <a:cs typeface="楷体" panose="02010609060101010101" pitchFamily="49" charset="-122"/>
                          </a:rPr>
                          <m:t>𝑛</m:t>
                        </m:r>
                      </m:sup>
                    </m:sSup>
                    <m:r>
                      <a:rPr lang="en-US" altLang="zh-CN" b="0" i="1" smtClean="0">
                        <a:latin typeface="Cambria Math" panose="02040503050406030204" pitchFamily="18" charset="0"/>
                      </a:rPr>
                      <m:t>)</m:t>
                    </m:r>
                  </m:oMath>
                </a14:m>
                <a:r>
                  <a:rPr lang="zh-CN" altLang="en-US" b="0" dirty="0">
                    <a:ea typeface="楷体" panose="02010609060101010101" pitchFamily="49" charset="-122"/>
                    <a:cs typeface="楷体" panose="02010609060101010101" pitchFamily="49" charset="-122"/>
                  </a:rPr>
                  <a:t>上的二次曲线</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sSup>
                          <m:sSupPr>
                            <m:ctrlPr>
                              <a:rPr lang="en-US" altLang="zh-CN" i="1">
                                <a:latin typeface="Cambria Math" panose="02040503050406030204" pitchFamily="18" charset="0"/>
                                <a:ea typeface="楷体" panose="02010609060101010101" pitchFamily="49" charset="-122"/>
                                <a:cs typeface="楷体" panose="02010609060101010101" pitchFamily="49"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pitchFamily="49" charset="-122"/>
                                <a:cs typeface="楷体" panose="02010609060101010101" pitchFamily="49" charset="-122"/>
                              </a:rPr>
                              <m:t>𝑛</m:t>
                            </m:r>
                          </m:sup>
                        </m:sSup>
                      </m:sub>
                    </m:sSub>
                    <m:r>
                      <a:rPr lang="en-US" altLang="zh-CN" i="1">
                        <a:latin typeface="Cambria Math" panose="02040503050406030204" pitchFamily="18" charset="0"/>
                      </a:rPr>
                      <m:t>(</m:t>
                    </m:r>
                    <m:r>
                      <a:rPr lang="en-US" altLang="zh-CN" i="1">
                        <a:latin typeface="Cambria Math" panose="02040503050406030204" pitchFamily="18" charset="0"/>
                      </a:rPr>
                      <m:t>𝑎</m:t>
                    </m:r>
                    <m:r>
                      <a:rPr lang="en-US" altLang="zh-CN" i="1">
                        <a:latin typeface="Cambria Math" panose="02040503050406030204" pitchFamily="18" charset="0"/>
                      </a:rPr>
                      <m:t>,</m:t>
                    </m:r>
                    <m:r>
                      <a:rPr lang="en-US" altLang="zh-CN" i="1">
                        <a:latin typeface="Cambria Math" panose="02040503050406030204" pitchFamily="18" charset="0"/>
                      </a:rPr>
                      <m:t>𝑏</m:t>
                    </m:r>
                    <m:r>
                      <a:rPr lang="en-US" altLang="zh-CN" i="1">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变量和系数取自</a:t>
                </a:r>
                <a14:m>
                  <m:oMath xmlns:m="http://schemas.openxmlformats.org/officeDocument/2006/math">
                    <m:r>
                      <m:rPr>
                        <m:sty m:val="p"/>
                      </m:rPr>
                      <a:rPr lang="en-US" altLang="zh-CN" smtClean="0">
                        <a:latin typeface="Cambria Math" panose="02040503050406030204" pitchFamily="18" charset="0"/>
                      </a:rPr>
                      <m:t>GF</m:t>
                    </m:r>
                    <m:r>
                      <a:rPr lang="en-US" altLang="zh-CN" i="1" smtClean="0">
                        <a:latin typeface="Cambria Math" panose="02040503050406030204" pitchFamily="18" charset="0"/>
                      </a:rPr>
                      <m:t>(</m:t>
                    </m:r>
                    <m:sSup>
                      <m:sSupPr>
                        <m:ctrlPr>
                          <a:rPr lang="en-US" altLang="zh-CN" i="1" smtClean="0">
                            <a:latin typeface="Cambria Math" panose="02040503050406030204" pitchFamily="18" charset="0"/>
                            <a:ea typeface="楷体" panose="02010609060101010101" pitchFamily="49" charset="-122"/>
                            <a:cs typeface="楷体" panose="02010609060101010101" pitchFamily="49" charset="-122"/>
                          </a:rPr>
                        </m:ctrlPr>
                      </m:sSupPr>
                      <m:e>
                        <m:r>
                          <a:rPr lang="en-US" altLang="zh-CN" i="1">
                            <a:latin typeface="Cambria Math" panose="02040503050406030204" pitchFamily="18" charset="0"/>
                          </a:rPr>
                          <m:t>2</m:t>
                        </m:r>
                      </m:e>
                      <m:sup>
                        <m:r>
                          <a:rPr lang="en-US" altLang="zh-CN" i="1">
                            <a:latin typeface="Cambria Math" panose="02040503050406030204" pitchFamily="18" charset="0"/>
                            <a:ea typeface="楷体" panose="02010609060101010101" pitchFamily="49" charset="-122"/>
                            <a:cs typeface="楷体" panose="02010609060101010101" pitchFamily="49" charset="-122"/>
                          </a:rPr>
                          <m:t>𝑛</m:t>
                        </m:r>
                      </m:sup>
                    </m:sSup>
                    <m:r>
                      <a:rPr lang="en-US" altLang="zh-CN" i="1" smtClean="0">
                        <a:latin typeface="Cambria Math" panose="02040503050406030204" pitchFamily="18" charset="0"/>
                      </a:rPr>
                      <m:t>)</m:t>
                    </m:r>
                  </m:oMath>
                </a14:m>
                <a:r>
                  <a:rPr lang="zh-CN" altLang="en-US" dirty="0">
                    <a:latin typeface="楷体" panose="02010609060101010101" pitchFamily="49" charset="-122"/>
                    <a:ea typeface="楷体" panose="02010609060101010101" pitchFamily="49" charset="-122"/>
                    <a:cs typeface="楷体" panose="02010609060101010101" pitchFamily="49" charset="-122"/>
                  </a:rPr>
                  <a:t>，模素多项式运算</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最适合硬件实现</a:t>
                </a:r>
                <a:endPar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例如：有限域上的椭圆群</a:t>
                </a:r>
                <a14:m>
                  <m:oMath xmlns:m="http://schemas.openxmlformats.org/officeDocument/2006/math">
                    <m:sSub>
                      <m:sSubPr>
                        <m:ctrlPr>
                          <a:rPr lang="pt-BR" altLang="zh-CN" i="1">
                            <a:latin typeface="Cambria Math" panose="02040503050406030204" pitchFamily="18" charset="0"/>
                          </a:rPr>
                        </m:ctrlPr>
                      </m:sSubPr>
                      <m:e>
                        <m:r>
                          <m:rPr>
                            <m:sty m:val="p"/>
                          </m:rPr>
                          <a:rPr lang="en-US" altLang="zh-CN">
                            <a:latin typeface="Cambria Math" panose="02040503050406030204" pitchFamily="18" charset="0"/>
                          </a:rPr>
                          <m:t>E</m:t>
                        </m:r>
                      </m:e>
                      <m:sub>
                        <m:r>
                          <a:rPr lang="en-US" altLang="zh-CN" i="1">
                            <a:latin typeface="Cambria Math" panose="02040503050406030204" pitchFamily="18" charset="0"/>
                          </a:rPr>
                          <m:t>23</m:t>
                        </m:r>
                      </m:sub>
                    </m:sSub>
                    <m:r>
                      <a:rPr lang="en-US" altLang="zh-CN" i="1">
                        <a:latin typeface="Cambria Math" panose="02040503050406030204" pitchFamily="18" charset="0"/>
                      </a:rPr>
                      <m:t>(1,1)</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656"/>
                <a:ext cx="8142660" cy="2517677"/>
              </a:xfrm>
              <a:prstGeom prst="rect">
                <a:avLst/>
              </a:prstGeom>
              <a:blipFill>
                <a:blip r:embed="rId2"/>
                <a:stretch>
                  <a:fillRect l="-449" t="-1937"/>
                </a:stretch>
              </a:blipFill>
            </p:spPr>
            <p:txBody>
              <a:bodyPr/>
              <a:lstStyle/>
              <a:p>
                <a:r>
                  <a:rPr 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有限域上的椭圆曲线</a:t>
            </a:r>
          </a:p>
        </p:txBody>
      </p:sp>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3054507" y="4833063"/>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19256"/>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12</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pic>
        <p:nvPicPr>
          <p:cNvPr id="3" name="图片 2"/>
          <p:cNvPicPr>
            <a:picLocks noChangeAspect="1"/>
          </p:cNvPicPr>
          <p:nvPr/>
        </p:nvPicPr>
        <p:blipFill>
          <a:blip r:embed="rId3"/>
          <a:stretch>
            <a:fillRect/>
          </a:stretch>
        </p:blipFill>
        <p:spPr>
          <a:xfrm>
            <a:off x="5476264" y="2305660"/>
            <a:ext cx="3176270" cy="2436495"/>
          </a:xfrm>
          <a:prstGeom prst="rect">
            <a:avLst/>
          </a:prstGeom>
        </p:spPr>
      </p:pic>
      <p:pic>
        <p:nvPicPr>
          <p:cNvPr id="4" name="图片 3"/>
          <p:cNvPicPr>
            <a:picLocks noChangeAspect="1"/>
          </p:cNvPicPr>
          <p:nvPr/>
        </p:nvPicPr>
        <p:blipFill>
          <a:blip r:embed="rId4"/>
          <a:stretch>
            <a:fillRect/>
          </a:stretch>
        </p:blipFill>
        <p:spPr>
          <a:xfrm>
            <a:off x="5474359" y="2305660"/>
            <a:ext cx="3178175" cy="2438400"/>
          </a:xfrm>
          <a:prstGeom prst="rect">
            <a:avLst/>
          </a:prstGeom>
        </p:spPr>
      </p:pic>
      <p:pic>
        <p:nvPicPr>
          <p:cNvPr id="5" name="图片 4"/>
          <p:cNvPicPr>
            <a:picLocks noChangeAspect="1"/>
          </p:cNvPicPr>
          <p:nvPr/>
        </p:nvPicPr>
        <p:blipFill>
          <a:blip r:embed="rId5"/>
          <a:stretch>
            <a:fillRect/>
          </a:stretch>
        </p:blipFill>
        <p:spPr>
          <a:xfrm>
            <a:off x="5474359" y="2306295"/>
            <a:ext cx="3178175" cy="24377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subTnLst>
                                    <p:set>
                                      <p:cBhvr override="childStyle">
                                        <p:cTn dur="65" fill="hold" display="1" masterRel="nextClick" afterEffect="1"/>
                                        <p:tgtEl>
                                          <p:spTgt spid="3"/>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文本框 7"/>
              <p:cNvSpPr txBox="1"/>
              <p:nvPr/>
            </p:nvSpPr>
            <p:spPr>
              <a:xfrm>
                <a:off x="465455" y="1354455"/>
                <a:ext cx="6015732" cy="166693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给定椭圆曲线</a:t>
                </a:r>
                <a14:m>
                  <m:oMath xmlns:m="http://schemas.openxmlformats.org/officeDocument/2006/math">
                    <m:sSup>
                      <m:sSupPr>
                        <m:ctrlPr>
                          <a:rPr lang="en-US" altLang="zh-CN" i="1" smtClean="0">
                            <a:solidFill>
                              <a:schemeClr val="tx1"/>
                            </a:solidFill>
                            <a:latin typeface="Cambria Math" panose="02040503050406030204" pitchFamily="18" charset="0"/>
                            <a:ea typeface="楷体" panose="02010609060101010101" pitchFamily="49" charset="-122"/>
                          </a:rPr>
                        </m:ctrlPr>
                      </m:sSupPr>
                      <m:e>
                        <m:r>
                          <a:rPr lang="en-US" altLang="zh-CN" i="1">
                            <a:solidFill>
                              <a:schemeClr val="tx1"/>
                            </a:solidFill>
                            <a:latin typeface="Cambria Math" panose="02040503050406030204" pitchFamily="18" charset="0"/>
                            <a:ea typeface="楷体" panose="02010609060101010101" pitchFamily="49" charset="-122"/>
                          </a:rPr>
                          <m:t>𝑦</m:t>
                        </m:r>
                      </m:e>
                      <m:sup>
                        <m:r>
                          <a:rPr lang="en-US" altLang="zh-CN" i="1">
                            <a:solidFill>
                              <a:schemeClr val="tx1"/>
                            </a:solidFill>
                            <a:latin typeface="Cambria Math" panose="02040503050406030204" pitchFamily="18" charset="0"/>
                            <a:ea typeface="楷体" panose="02010609060101010101" pitchFamily="49" charset="-122"/>
                          </a:rPr>
                          <m:t>2</m:t>
                        </m:r>
                      </m:sup>
                    </m:sSup>
                    <m:r>
                      <a:rPr lang="en-US" altLang="zh-CN" i="1">
                        <a:solidFill>
                          <a:schemeClr val="tx1"/>
                        </a:solidFill>
                        <a:latin typeface="Cambria Math" panose="02040503050406030204" pitchFamily="18" charset="0"/>
                        <a:ea typeface="楷体" panose="02010609060101010101" pitchFamily="49" charset="-122"/>
                      </a:rPr>
                      <m:t>=</m:t>
                    </m:r>
                    <m:sSup>
                      <m:sSupPr>
                        <m:ctrlPr>
                          <a:rPr lang="en-US" altLang="zh-CN" i="1">
                            <a:solidFill>
                              <a:schemeClr val="tx1"/>
                            </a:solidFill>
                            <a:latin typeface="Cambria Math" panose="02040503050406030204" pitchFamily="18" charset="0"/>
                            <a:ea typeface="楷体" panose="02010609060101010101" pitchFamily="49" charset="-122"/>
                          </a:rPr>
                        </m:ctrlPr>
                      </m:sSupPr>
                      <m:e>
                        <m:r>
                          <a:rPr lang="en-US" altLang="zh-CN" i="1">
                            <a:solidFill>
                              <a:schemeClr val="tx1"/>
                            </a:solidFill>
                            <a:latin typeface="Cambria Math" panose="02040503050406030204" pitchFamily="18" charset="0"/>
                            <a:ea typeface="楷体" panose="02010609060101010101" pitchFamily="49" charset="-122"/>
                          </a:rPr>
                          <m:t>𝑥</m:t>
                        </m:r>
                      </m:e>
                      <m:sup>
                        <m:r>
                          <a:rPr lang="en-US" altLang="zh-CN" i="1">
                            <a:solidFill>
                              <a:schemeClr val="tx1"/>
                            </a:solidFill>
                            <a:latin typeface="Cambria Math" panose="02040503050406030204" pitchFamily="18" charset="0"/>
                            <a:ea typeface="楷体" panose="02010609060101010101" pitchFamily="49" charset="-122"/>
                          </a:rPr>
                          <m:t>3</m:t>
                        </m:r>
                      </m:sup>
                    </m:sSup>
                    <m:r>
                      <a:rPr lang="en-US" altLang="zh-CN" i="1">
                        <a:solidFill>
                          <a:schemeClr val="tx1"/>
                        </a:solidFill>
                        <a:latin typeface="Cambria Math" panose="02040503050406030204" pitchFamily="18" charset="0"/>
                        <a:ea typeface="楷体" panose="02010609060101010101" pitchFamily="49" charset="-122"/>
                      </a:rPr>
                      <m:t>+</m:t>
                    </m:r>
                    <m:r>
                      <a:rPr lang="en-US" altLang="zh-CN" i="1">
                        <a:solidFill>
                          <a:schemeClr val="tx1"/>
                        </a:solidFill>
                        <a:latin typeface="Cambria Math" panose="02040503050406030204" pitchFamily="18" charset="0"/>
                        <a:ea typeface="楷体" panose="02010609060101010101" pitchFamily="49" charset="-122"/>
                      </a:rPr>
                      <m:t>𝑎𝑥</m:t>
                    </m:r>
                    <m:r>
                      <a:rPr lang="en-US" altLang="zh-CN" i="1">
                        <a:solidFill>
                          <a:schemeClr val="tx1"/>
                        </a:solidFill>
                        <a:latin typeface="Cambria Math" panose="02040503050406030204" pitchFamily="18" charset="0"/>
                        <a:ea typeface="楷体" panose="02010609060101010101" pitchFamily="49" charset="-122"/>
                      </a:rPr>
                      <m:t>+</m:t>
                    </m:r>
                    <m:r>
                      <a:rPr lang="en-US" altLang="zh-CN" i="1">
                        <a:solidFill>
                          <a:schemeClr val="tx1"/>
                        </a:solidFill>
                        <a:latin typeface="Cambria Math" panose="02040503050406030204" pitchFamily="18" charset="0"/>
                        <a:ea typeface="楷体" panose="02010609060101010101" pitchFamily="49" charset="-122"/>
                      </a:rPr>
                      <m:t>𝑏</m:t>
                    </m:r>
                    <m:r>
                      <a:rPr lang="en-US" altLang="zh-CN" i="1">
                        <a:solidFill>
                          <a:schemeClr val="tx1"/>
                        </a:solidFill>
                        <a:latin typeface="Cambria Math" panose="02040503050406030204" pitchFamily="18" charset="0"/>
                        <a:ea typeface="楷体" panose="02010609060101010101" pitchFamily="49" charset="-122"/>
                      </a:rPr>
                      <m:t>(</m:t>
                    </m:r>
                    <m:r>
                      <m:rPr>
                        <m:sty m:val="p"/>
                      </m:rPr>
                      <a:rPr lang="en-US" altLang="zh-CN">
                        <a:solidFill>
                          <a:schemeClr val="tx1"/>
                        </a:solidFill>
                        <a:latin typeface="Cambria Math" panose="02040503050406030204" pitchFamily="18" charset="0"/>
                        <a:ea typeface="楷体" panose="02010609060101010101" pitchFamily="49" charset="-122"/>
                      </a:rPr>
                      <m:t>mod</m:t>
                    </m:r>
                    <m:r>
                      <a:rPr lang="en-US" altLang="zh-CN" i="1">
                        <a:solidFill>
                          <a:schemeClr val="tx1"/>
                        </a:solidFill>
                        <a:latin typeface="Cambria Math" panose="02040503050406030204" pitchFamily="18" charset="0"/>
                        <a:ea typeface="楷体" panose="02010609060101010101" pitchFamily="49" charset="-122"/>
                      </a:rPr>
                      <m:t> </m:t>
                    </m:r>
                    <m:r>
                      <a:rPr lang="en-US" altLang="zh-CN" i="1">
                        <a:solidFill>
                          <a:schemeClr val="tx1"/>
                        </a:solidFill>
                        <a:latin typeface="Cambria Math" panose="02040503050406030204" pitchFamily="18" charset="0"/>
                        <a:ea typeface="楷体" panose="02010609060101010101" pitchFamily="49" charset="-122"/>
                      </a:rPr>
                      <m:t>𝑝</m:t>
                    </m:r>
                    <m:r>
                      <a:rPr lang="en-US" altLang="zh-CN" i="1">
                        <a:solidFill>
                          <a:schemeClr val="tx1"/>
                        </a:solidFill>
                        <a:latin typeface="Cambria Math" panose="02040503050406030204" pitchFamily="18" charset="0"/>
                        <a:ea typeface="楷体" panose="02010609060101010101" pitchFamily="49" charset="-122"/>
                      </a:rPr>
                      <m:t>)</m:t>
                    </m:r>
                  </m:oMath>
                </a14:m>
                <a:r>
                  <a:rPr lang="en-US" altLang="zh-CN" dirty="0">
                    <a:solidFill>
                      <a:schemeClr val="tx1"/>
                    </a:solidFill>
                    <a:latin typeface="楷体" panose="02010609060101010101" pitchFamily="49" charset="-122"/>
                    <a:ea typeface="楷体" panose="02010609060101010101" pitchFamily="49" charset="-122"/>
                    <a:cs typeface="楷体" panose="02010609060101010101" pitchFamily="49" charset="-122"/>
                  </a:rPr>
                  <a:t>,</a:t>
                </a:r>
                <a:r>
                  <a:rPr lang="zh-CN" altLang="en-US" dirty="0">
                    <a:latin typeface="楷体" panose="02010609060101010101" pitchFamily="49" charset="-122"/>
                    <a:ea typeface="楷体" panose="02010609060101010101" pitchFamily="49" charset="-122"/>
                    <a:cs typeface="楷体" panose="02010609060101010101" pitchFamily="49" charset="-122"/>
                  </a:rPr>
                  <a:t>以及其上一点，我们可以通过连续自加</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𝑙</m:t>
                    </m:r>
                    <m:r>
                      <a:rPr lang="en-US" altLang="zh-CN" b="0" i="1" smtClean="0">
                        <a:latin typeface="Cambria Math" panose="02040503050406030204" pitchFamily="18" charset="0"/>
                        <a:ea typeface="楷体" panose="02010609060101010101" pitchFamily="49" charset="-122"/>
                        <a:cs typeface="楷体" panose="02010609060101010101" pitchFamily="49" charset="-122"/>
                      </a:rPr>
                      <m:t>−1</m:t>
                    </m:r>
                  </m:oMath>
                </a14:m>
                <a:r>
                  <a:rPr lang="zh-CN" altLang="en-US" dirty="0">
                    <a:latin typeface="楷体" panose="02010609060101010101" pitchFamily="49" charset="-122"/>
                    <a:ea typeface="楷体" panose="02010609060101010101" pitchFamily="49" charset="-122"/>
                    <a:cs typeface="楷体" panose="02010609060101010101" pitchFamily="49" charset="-122"/>
                  </a:rPr>
                  <a:t>次计算</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pitchFamily="49" charset="-122"/>
                      </a:rPr>
                      <m:t>𝑄</m:t>
                    </m:r>
                    <m:r>
                      <a:rPr lang="en-US" altLang="zh-CN" b="0" i="1" smtClean="0">
                        <a:solidFill>
                          <a:schemeClr val="tx1"/>
                        </a:solidFill>
                        <a:latin typeface="Cambria Math" panose="02040503050406030204" pitchFamily="18" charset="0"/>
                        <a:ea typeface="楷体" panose="02010609060101010101" pitchFamily="49" charset="-122"/>
                      </a:rPr>
                      <m:t>=</m:t>
                    </m:r>
                    <m:r>
                      <a:rPr lang="en-US" altLang="zh-CN" b="0" i="1" smtClean="0">
                        <a:solidFill>
                          <a:schemeClr val="tx1"/>
                        </a:solidFill>
                        <a:latin typeface="Cambria Math" panose="02040503050406030204" pitchFamily="18" charset="0"/>
                        <a:ea typeface="楷体" panose="02010609060101010101" pitchFamily="49" charset="-122"/>
                      </a:rPr>
                      <m:t>𝑙𝑃</m:t>
                    </m:r>
                  </m:oMath>
                </a14:m>
                <a:r>
                  <a:rPr lang="zh-CN" altLang="en-US" dirty="0">
                    <a:latin typeface="楷体" panose="02010609060101010101" pitchFamily="49" charset="-122"/>
                    <a:ea typeface="楷体" panose="02010609060101010101" pitchFamily="49" charset="-122"/>
                    <a:cs typeface="楷体" panose="02010609060101010101" pitchFamily="49" charset="-122"/>
                  </a:rPr>
                  <a:t>（其中</a:t>
                </a:r>
                <a14:m>
                  <m:oMath xmlns:m="http://schemas.openxmlformats.org/officeDocument/2006/math">
                    <m:d>
                      <m:dPr>
                        <m:begChr m:val="|"/>
                        <m:endChr m:val="|"/>
                        <m:ctrlPr>
                          <a:rPr lang="en-US" altLang="zh-CN" b="0" i="1" smtClean="0">
                            <a:latin typeface="Cambria Math" panose="02040503050406030204" pitchFamily="18" charset="0"/>
                            <a:ea typeface="楷体" panose="02010609060101010101" pitchFamily="49" charset="-122"/>
                          </a:rPr>
                        </m:ctrlPr>
                      </m:dPr>
                      <m:e>
                        <m:r>
                          <a:rPr lang="en-US" altLang="zh-CN" i="1" smtClean="0">
                            <a:latin typeface="Cambria Math" panose="02040503050406030204" pitchFamily="18" charset="0"/>
                            <a:ea typeface="楷体" panose="02010609060101010101" pitchFamily="49" charset="-122"/>
                          </a:rPr>
                          <m:t>𝑙</m:t>
                        </m:r>
                      </m:e>
                    </m:d>
                    <m:r>
                      <a:rPr lang="en-US" altLang="zh-CN" b="0" i="1" smtClean="0">
                        <a:latin typeface="Cambria Math" panose="02040503050406030204" pitchFamily="18" charset="0"/>
                        <a:ea typeface="楷体" panose="02010609060101010101" pitchFamily="49" charset="-122"/>
                      </a:rPr>
                      <m:t>=</m:t>
                    </m:r>
                    <m:sSup>
                      <m:sSupPr>
                        <m:ctrlPr>
                          <a:rPr lang="en-US" altLang="zh-CN" i="1">
                            <a:latin typeface="Cambria Math" panose="02040503050406030204" pitchFamily="18" charset="0"/>
                            <a:ea typeface="楷体" panose="02010609060101010101" pitchFamily="49" charset="-122"/>
                          </a:rPr>
                        </m:ctrlPr>
                      </m:sSupPr>
                      <m:e>
                        <m:r>
                          <a:rPr lang="en-US" altLang="zh-CN" b="0" i="1" smtClean="0">
                            <a:latin typeface="Cambria Math" panose="02040503050406030204" pitchFamily="18" charset="0"/>
                            <a:ea typeface="楷体" panose="02010609060101010101" pitchFamily="49" charset="-122"/>
                          </a:rPr>
                          <m:t>2</m:t>
                        </m:r>
                      </m:e>
                      <m:sup>
                        <m:r>
                          <a:rPr lang="en-US" altLang="zh-CN" b="0" i="1" smtClean="0">
                            <a:latin typeface="Cambria Math" panose="02040503050406030204" pitchFamily="18" charset="0"/>
                            <a:ea typeface="楷体" panose="02010609060101010101" pitchFamily="49" charset="-122"/>
                          </a:rPr>
                          <m:t>𝑘</m:t>
                        </m:r>
                      </m:sup>
                    </m:sSup>
                    <m:r>
                      <a:rPr lang="zh-CN" altLang="en-US" i="1">
                        <a:latin typeface="Cambria Math" panose="02040503050406030204" pitchFamily="18" charset="0"/>
                        <a:ea typeface="楷体" panose="02010609060101010101" pitchFamily="49" charset="-122"/>
                      </a:rPr>
                      <m:t>，</m:t>
                    </m:r>
                    <m:r>
                      <a:rPr lang="en-US" altLang="zh-CN" b="0" i="1" smtClean="0">
                        <a:latin typeface="Cambria Math" panose="02040503050406030204" pitchFamily="18" charset="0"/>
                        <a:ea typeface="楷体" panose="02010609060101010101" pitchFamily="49" charset="-122"/>
                      </a:rPr>
                      <m:t>𝑘</m:t>
                    </m:r>
                  </m:oMath>
                </a14:m>
                <a:r>
                  <a:rPr lang="zh-CN" altLang="en-US" dirty="0">
                    <a:latin typeface="楷体" panose="02010609060101010101" pitchFamily="49" charset="-122"/>
                    <a:ea typeface="楷体" panose="02010609060101010101" pitchFamily="49" charset="-122"/>
                    <a:cs typeface="楷体" panose="02010609060101010101" pitchFamily="49" charset="-122"/>
                  </a:rPr>
                  <a:t>为密钥长度）。</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问题：当</a:t>
                </a:r>
                <a14:m>
                  <m:oMath xmlns:m="http://schemas.openxmlformats.org/officeDocument/2006/math">
                    <m:r>
                      <a:rPr lang="en-US" altLang="zh-CN" b="0" i="1" smtClean="0">
                        <a:solidFill>
                          <a:schemeClr val="tx1"/>
                        </a:solidFill>
                        <a:latin typeface="Cambria Math" panose="02040503050406030204" pitchFamily="18" charset="0"/>
                        <a:ea typeface="楷体" panose="02010609060101010101" pitchFamily="49" charset="-122"/>
                      </a:rPr>
                      <m:t>𝑄</m:t>
                    </m:r>
                  </m:oMath>
                </a14:m>
                <a:r>
                  <a:rPr lang="zh-CN" altLang="en-US" dirty="0">
                    <a:latin typeface="楷体" panose="02010609060101010101" pitchFamily="49" charset="-122"/>
                    <a:ea typeface="楷体" panose="02010609060101010101" pitchFamily="49" charset="-122"/>
                    <a:cs typeface="楷体" panose="02010609060101010101" pitchFamily="49" charset="-122"/>
                  </a:rPr>
                  <a:t>已知时，能否计算</a:t>
                </a:r>
                <a14:m>
                  <m:oMath xmlns:m="http://schemas.openxmlformats.org/officeDocument/2006/math">
                    <m:r>
                      <a:rPr lang="en-US" altLang="zh-CN" i="1">
                        <a:latin typeface="Cambria Math" panose="02040503050406030204" pitchFamily="18" charset="0"/>
                        <a:ea typeface="楷体" panose="02010609060101010101" pitchFamily="49" charset="-122"/>
                      </a:rPr>
                      <m:t>𝑙</m:t>
                    </m:r>
                  </m:oMath>
                </a14:m>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p:sp>
            <p:nvSpPr>
              <p:cNvPr id="8" name="文本框 7"/>
              <p:cNvSpPr txBox="1">
                <a:spLocks noRot="1" noChangeAspect="1" noMove="1" noResize="1" noEditPoints="1" noAdjustHandles="1" noChangeArrowheads="1" noChangeShapeType="1" noTextEdit="1"/>
              </p:cNvSpPr>
              <p:nvPr/>
            </p:nvSpPr>
            <p:spPr>
              <a:xfrm>
                <a:off x="465455" y="1354455"/>
                <a:ext cx="6015732" cy="1666931"/>
              </a:xfrm>
              <a:prstGeom prst="rect">
                <a:avLst/>
              </a:prstGeom>
              <a:blipFill>
                <a:blip r:embed="rId2"/>
                <a:stretch>
                  <a:fillRect l="-608" t="-2555" r="-4661"/>
                </a:stretch>
              </a:blipFill>
            </p:spPr>
            <p:txBody>
              <a:bodyPr/>
              <a:lstStyle/>
              <a:p>
                <a:r>
                  <a:rPr 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椭圆曲线的应用一</a:t>
            </a:r>
          </a:p>
        </p:txBody>
      </p:sp>
      <p:sp>
        <p:nvSpPr>
          <p:cNvPr id="27" name="矩形: 圆角 26"/>
          <p:cNvSpPr/>
          <p:nvPr/>
        </p:nvSpPr>
        <p:spPr>
          <a:xfrm>
            <a:off x="1660721" y="4839860"/>
            <a:ext cx="5501146"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4527626" y="483981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30" name="TextBox 9"/>
          <p:cNvSpPr txBox="1"/>
          <p:nvPr/>
        </p:nvSpPr>
        <p:spPr>
          <a:xfrm>
            <a:off x="3064951" y="482560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31"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课程应用</a:t>
            </a:r>
          </a:p>
        </p:txBody>
      </p:sp>
      <p:sp>
        <p:nvSpPr>
          <p:cNvPr id="32"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33" name="矩形 32"/>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13</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7" name="文本框 36"/>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147732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椭圆曲线的安全性建立在密钥长度和椭圆曲线上的离散对数难题之上，即</a:t>
            </a:r>
            <a:r>
              <a:rPr lang="en-US" altLang="zh-CN" dirty="0">
                <a:latin typeface="Times New Roman" panose="02020603050405020304" pitchFamily="18" charset="0"/>
                <a:ea typeface="楷体" panose="02010609060101010101" pitchFamily="49" charset="-122"/>
                <a:cs typeface="Times New Roman" panose="02020603050405020304" pitchFamily="18" charset="0"/>
              </a:rPr>
              <a:t>Pollard rho</a:t>
            </a:r>
            <a:r>
              <a:rPr lang="zh-CN" altLang="en-US" dirty="0">
                <a:latin typeface="Times New Roman" panose="02020603050405020304" pitchFamily="18" charset="0"/>
                <a:ea typeface="楷体" panose="02010609060101010101" pitchFamily="49" charset="-122"/>
                <a:cs typeface="Times New Roman" panose="02020603050405020304" pitchFamily="18" charset="0"/>
              </a:rPr>
              <a:t>方法是已知求椭圆曲线上的离散对数难题的最快方法。</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椭圆曲线可以使用比</a:t>
            </a:r>
            <a:r>
              <a:rPr lang="en-US" altLang="zh-CN" dirty="0">
                <a:latin typeface="Times New Roman" panose="02020603050405020304" pitchFamily="18" charset="0"/>
                <a:ea typeface="楷体" panose="02010609060101010101" pitchFamily="49" charset="-122"/>
                <a:cs typeface="Times New Roman" panose="02020603050405020304" pitchFamily="18" charset="0"/>
              </a:rPr>
              <a:t>RSA</a:t>
            </a: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短</a:t>
            </a:r>
            <a:r>
              <a:rPr lang="zh-CN" altLang="en-US" dirty="0">
                <a:latin typeface="楷体" panose="02010609060101010101" pitchFamily="49" charset="-122"/>
                <a:ea typeface="楷体" panose="02010609060101010101" pitchFamily="49" charset="-122"/>
                <a:cs typeface="楷体" panose="02010609060101010101" pitchFamily="49" charset="-122"/>
              </a:rPr>
              <a:t>得多的</a:t>
            </a:r>
            <a:r>
              <a:rPr lang="zh-CN" altLang="en-US" b="1" dirty="0">
                <a:solidFill>
                  <a:schemeClr val="accent1"/>
                </a:solidFill>
                <a:latin typeface="楷体" panose="02010609060101010101" pitchFamily="49" charset="-122"/>
                <a:ea typeface="楷体" panose="02010609060101010101" pitchFamily="49" charset="-122"/>
                <a:cs typeface="楷体" panose="02010609060101010101" pitchFamily="49" charset="-122"/>
              </a:rPr>
              <a:t>密钥</a:t>
            </a:r>
            <a:r>
              <a:rPr lang="zh-CN" altLang="en-US" dirty="0">
                <a:latin typeface="楷体" panose="02010609060101010101" pitchFamily="49" charset="-122"/>
                <a:ea typeface="楷体" panose="02010609060101010101" pitchFamily="49" charset="-122"/>
                <a:cs typeface="楷体" panose="02010609060101010101" pitchFamily="49" charset="-122"/>
              </a:rPr>
              <a:t>。</a:t>
            </a: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椭圆曲线的应用二</a:t>
            </a:r>
          </a:p>
        </p:txBody>
      </p:sp>
      <p:pic>
        <p:nvPicPr>
          <p:cNvPr id="13" name="Picture 1"/>
          <p:cNvPicPr>
            <a:picLocks noChangeAspect="1"/>
          </p:cNvPicPr>
          <p:nvPr/>
        </p:nvPicPr>
        <p:blipFill>
          <a:blip r:embed="rId2"/>
          <a:stretch>
            <a:fillRect/>
          </a:stretch>
        </p:blipFill>
        <p:spPr>
          <a:xfrm>
            <a:off x="2309984" y="2539461"/>
            <a:ext cx="4978546" cy="2198665"/>
          </a:xfrm>
          <a:prstGeom prst="rect">
            <a:avLst/>
          </a:prstGeom>
          <a:noFill/>
          <a:ln w="12700">
            <a:noFill/>
          </a:ln>
        </p:spPr>
      </p:pic>
      <p:sp>
        <p:nvSpPr>
          <p:cNvPr id="14" name="矩形: 圆角 13"/>
          <p:cNvSpPr/>
          <p:nvPr/>
        </p:nvSpPr>
        <p:spPr>
          <a:xfrm>
            <a:off x="1660721" y="4839860"/>
            <a:ext cx="5438579"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p:cNvSpPr/>
          <p:nvPr/>
        </p:nvSpPr>
        <p:spPr>
          <a:xfrm>
            <a:off x="4527626" y="4839810"/>
            <a:ext cx="1344000"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17" name="TextBox 9"/>
          <p:cNvSpPr txBox="1"/>
          <p:nvPr/>
        </p:nvSpPr>
        <p:spPr>
          <a:xfrm>
            <a:off x="3064951" y="482560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18"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rPr>
              <a:t>课程应用</a:t>
            </a:r>
          </a:p>
        </p:txBody>
      </p:sp>
      <p:sp>
        <p:nvSpPr>
          <p:cNvPr id="19"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sym typeface="+mn-ea"/>
              </a:rPr>
              <a:t>课程总结</a:t>
            </a:r>
            <a:endParaRPr lang="zh-CN" altLang="en-US" sz="1600" b="1" dirty="0">
              <a:solidFill>
                <a:schemeClr val="bg1">
                  <a:lumMod val="50000"/>
                </a:schemeClr>
              </a:solidFill>
              <a:latin typeface="微软雅黑" panose="020B0503020204020204" charset="-122"/>
              <a:ea typeface="微软雅黑" panose="020B0503020204020204" charset="-122"/>
            </a:endParaRPr>
          </a:p>
        </p:txBody>
      </p:sp>
      <p:sp>
        <p:nvSpPr>
          <p:cNvPr id="20" name="矩形 19"/>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14</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2" name="文本框 21"/>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
        <p:nvSpPr>
          <p:cNvPr id="2" name="矩形 1">
            <a:extLst>
              <a:ext uri="{FF2B5EF4-FFF2-40B4-BE49-F238E27FC236}">
                <a16:creationId xmlns:a16="http://schemas.microsoft.com/office/drawing/2014/main" id="{010131EF-4AF8-4968-BFC1-B33CB4870785}"/>
              </a:ext>
            </a:extLst>
          </p:cNvPr>
          <p:cNvSpPr/>
          <p:nvPr/>
        </p:nvSpPr>
        <p:spPr>
          <a:xfrm>
            <a:off x="3979148" y="2946222"/>
            <a:ext cx="3279238" cy="1624093"/>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465455" y="1354656"/>
            <a:ext cx="6900545" cy="2385268"/>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小结：</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椭圆曲线群的</a:t>
            </a:r>
            <a:r>
              <a:rPr lang="zh-CN" altLang="en-US">
                <a:solidFill>
                  <a:schemeClr val="tx1"/>
                </a:solidFill>
                <a:latin typeface="楷体" panose="02010609060101010101" pitchFamily="49" charset="-122"/>
                <a:ea typeface="楷体" panose="02010609060101010101" pitchFamily="49" charset="-122"/>
                <a:cs typeface="楷体" panose="02010609060101010101" pitchFamily="49" charset="-122"/>
              </a:rPr>
              <a:t>加法运算</a:t>
            </a:r>
            <a:r>
              <a:rPr lang="zh-CN" altLang="en-US" sz="1400">
                <a:solidFill>
                  <a:schemeClr val="tx1"/>
                </a:solidFill>
                <a:latin typeface="楷体" panose="02010609060101010101" pitchFamily="49" charset="-122"/>
                <a:ea typeface="楷体" panose="02010609060101010101" pitchFamily="49" charset="-122"/>
                <a:cs typeface="楷体" panose="02010609060101010101" pitchFamily="49" charset="-122"/>
              </a:rPr>
              <a:t>（</a:t>
            </a:r>
            <a:r>
              <a:rPr lang="zh-CN" altLang="en-US" sz="1400" dirty="0">
                <a:solidFill>
                  <a:schemeClr val="tx1"/>
                </a:solidFill>
                <a:latin typeface="楷体" panose="02010609060101010101" pitchFamily="49" charset="-122"/>
                <a:ea typeface="楷体" panose="02010609060101010101" pitchFamily="49" charset="-122"/>
                <a:cs typeface="楷体" panose="02010609060101010101" pitchFamily="49" charset="-122"/>
              </a:rPr>
              <a:t>课后作业：课后习题</a:t>
            </a:r>
            <a:r>
              <a:rPr lang="en-US" altLang="zh-CN" sz="1400" dirty="0">
                <a:solidFill>
                  <a:schemeClr val="tx1"/>
                </a:solidFill>
                <a:latin typeface="楷体" panose="02010609060101010101" pitchFamily="49" charset="-122"/>
                <a:ea typeface="楷体" panose="02010609060101010101" pitchFamily="49" charset="-122"/>
                <a:cs typeface="楷体" panose="02010609060101010101" pitchFamily="49" charset="-122"/>
              </a:rPr>
              <a:t>10.1</a:t>
            </a:r>
            <a:r>
              <a:rPr lang="zh-CN" altLang="en-US" sz="1400" dirty="0">
                <a:solidFill>
                  <a:schemeClr val="tx1"/>
                </a:solidFill>
                <a:latin typeface="楷体" panose="02010609060101010101" pitchFamily="49" charset="-122"/>
                <a:ea typeface="楷体" panose="02010609060101010101" pitchFamily="49" charset="-122"/>
                <a:cs typeface="楷体" panose="02010609060101010101" pitchFamily="49" charset="-122"/>
              </a:rPr>
              <a:t>）</a:t>
            </a:r>
            <a:endParaRPr lang="en-US" altLang="zh-CN" sz="1400"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椭圆曲线的安全性优势</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latin typeface="楷体" panose="02010609060101010101" pitchFamily="49" charset="-122"/>
                <a:ea typeface="楷体" panose="02010609060101010101" pitchFamily="49" charset="-122"/>
                <a:cs typeface="楷体" panose="02010609060101010101" pitchFamily="49" charset="-122"/>
              </a:rPr>
              <a:t>椭圆曲线的如何应用</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r>
              <a:rPr lang="zh-CN" altLang="en-US" b="0" dirty="0">
                <a:ea typeface="楷体" panose="02010609060101010101" pitchFamily="49" charset="-122"/>
                <a:cs typeface="楷体" panose="02010609060101010101" pitchFamily="49" charset="-122"/>
              </a:rPr>
              <a:t>展望：</a:t>
            </a:r>
            <a:endParaRPr lang="en-US" altLang="zh-CN" b="0" dirty="0">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r>
              <a:rPr lang="zh-CN" altLang="en-US" dirty="0">
                <a:solidFill>
                  <a:schemeClr val="tx1"/>
                </a:solidFill>
                <a:latin typeface="楷体" panose="02010609060101010101" pitchFamily="49" charset="-122"/>
                <a:ea typeface="楷体" panose="02010609060101010101" pitchFamily="49" charset="-122"/>
                <a:cs typeface="楷体" panose="02010609060101010101" pitchFamily="49" charset="-122"/>
              </a:rPr>
              <a:t>椭圆曲线群的乘法运算？</a:t>
            </a:r>
            <a:r>
              <a:rPr lang="zh-CN" altLang="en-US" sz="1400" dirty="0">
                <a:latin typeface="楷体" panose="02010609060101010101" pitchFamily="49" charset="-122"/>
                <a:ea typeface="楷体" panose="02010609060101010101" pitchFamily="49" charset="-122"/>
                <a:cs typeface="楷体" panose="02010609060101010101" pitchFamily="49" charset="-122"/>
              </a:rPr>
              <a:t>（小提示：双线性配对）</a:t>
            </a:r>
            <a:endParaRPr lang="en-US" altLang="zh-CN" sz="1600"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sz="1100"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小结与展望</a:t>
            </a:r>
          </a:p>
        </p:txBody>
      </p:sp>
      <p:sp>
        <p:nvSpPr>
          <p:cNvPr id="23" name="矩形: 圆角 22"/>
          <p:cNvSpPr/>
          <p:nvPr/>
        </p:nvSpPr>
        <p:spPr>
          <a:xfrm>
            <a:off x="1660721" y="4839860"/>
            <a:ext cx="5432229"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p:cNvSpPr/>
          <p:nvPr/>
        </p:nvSpPr>
        <p:spPr>
          <a:xfrm>
            <a:off x="5934674" y="4839810"/>
            <a:ext cx="1158276"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7"/>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26" name="TextBox 9"/>
          <p:cNvSpPr txBox="1"/>
          <p:nvPr/>
        </p:nvSpPr>
        <p:spPr>
          <a:xfrm>
            <a:off x="3064951" y="482560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27" name="TextBox 10"/>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28" name="TextBox 11"/>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课程总结</a:t>
            </a:r>
            <a:endParaRPr lang="zh-CN" altLang="en-US" sz="1600" b="1" dirty="0">
              <a:solidFill>
                <a:schemeClr val="bg1"/>
              </a:solidFill>
              <a:latin typeface="微软雅黑" panose="020B0503020204020204" charset="-122"/>
              <a:ea typeface="微软雅黑" panose="020B0503020204020204" charset="-122"/>
            </a:endParaRPr>
          </a:p>
        </p:txBody>
      </p:sp>
      <p:sp>
        <p:nvSpPr>
          <p:cNvPr id="29" name="矩形 28"/>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15</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31" name="文本框 30"/>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p:cNvSpPr txBox="1"/>
              <p:nvPr/>
            </p:nvSpPr>
            <p:spPr>
              <a:xfrm>
                <a:off x="465455" y="1354656"/>
                <a:ext cx="7586536" cy="2872581"/>
              </a:xfrm>
              <a:prstGeom prst="rect">
                <a:avLst/>
              </a:prstGeom>
            </p:spPr>
            <p:txBody>
              <a:bodyPr wrap="square">
                <a:spAutoFit/>
              </a:bodyPr>
              <a:lstStyle/>
              <a:p>
                <a:pPr marL="285750" indent="-285750" algn="just" defTabSz="266700">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取</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=(2,4)</m:t>
                    </m:r>
                  </m:oMath>
                </a14:m>
                <a:r>
                  <a:rPr lang="zh-CN" altLang="en-US" dirty="0">
                    <a:latin typeface="楷体" panose="02010609060101010101" pitchFamily="49" charset="-122"/>
                    <a:ea typeface="楷体" panose="02010609060101010101" pitchFamily="49" charset="-122"/>
                    <a:cs typeface="楷体" panose="02010609060101010101" pitchFamily="49" charset="-122"/>
                  </a:rPr>
                  <a:t>，计算</a:t>
                </a:r>
                <a14:m>
                  <m:oMath xmlns:m="http://schemas.openxmlformats.org/officeDocument/2006/math">
                    <m:r>
                      <a:rPr lang="en-US" altLang="zh-CN" b="0" i="0" smtClean="0">
                        <a:latin typeface="Cambria Math" panose="02040503050406030204" pitchFamily="18" charset="0"/>
                        <a:ea typeface="楷体" panose="02010609060101010101" pitchFamily="49" charset="-122"/>
                        <a:cs typeface="楷体" panose="02010609060101010101" pitchFamily="49" charset="-122"/>
                      </a:rPr>
                      <m:t>2</m:t>
                    </m:r>
                    <m:r>
                      <a:rPr lang="en-US" altLang="zh-CN" i="1">
                        <a:latin typeface="Cambria Math" panose="02040503050406030204" pitchFamily="18" charset="0"/>
                        <a:ea typeface="楷体" panose="02010609060101010101" pitchFamily="49" charset="-122"/>
                        <a:cs typeface="楷体" panose="02010609060101010101" pitchFamily="49" charset="-122"/>
                      </a:rPr>
                      <m:t>𝑃</m:t>
                    </m:r>
                    <m:r>
                      <a:rPr lang="en-US" altLang="zh-CN" i="1">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oMath>
                </a14:m>
                <a:endParaRPr lang="en-US" altLang="zh-CN" b="1" dirty="0">
                  <a:solidFill>
                    <a:schemeClr val="accent1"/>
                  </a:solidFill>
                  <a:latin typeface="楷体" panose="02010609060101010101" pitchFamily="49" charset="-122"/>
                  <a:ea typeface="楷体" panose="02010609060101010101" pitchFamily="49" charset="-122"/>
                  <a:cs typeface="楷体" panose="02010609060101010101" pitchFamily="49" charset="-122"/>
                </a:endParaRPr>
              </a:p>
              <a:p>
                <a:pPr defTabSz="266700">
                  <a:buClr>
                    <a:schemeClr val="accent1"/>
                  </a:buClr>
                </a:pPr>
                <a:r>
                  <a:rPr lang="zh-CN" altLang="en-US" dirty="0">
                    <a:latin typeface="楷体" panose="02010609060101010101" pitchFamily="49" charset="-122"/>
                    <a:ea typeface="楷体" panose="02010609060101010101" pitchFamily="49" charset="-122"/>
                    <a:cs typeface="楷体" panose="02010609060101010101" pitchFamily="49" charset="-122"/>
                  </a:rPr>
                  <a:t>   </a:t>
                </a: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spcBef>
                    <a:spcPts val="800"/>
                  </a:spcBef>
                  <a:buClr>
                    <a:schemeClr val="accent1"/>
                  </a:buClr>
                  <a:buFont typeface="Wingdings" panose="05000000000000000000" pitchFamily="2" charset="2"/>
                  <a:buChar char="l"/>
                </a:pPr>
                <a:r>
                  <a:rPr lang="zh-CN" altLang="en-US" dirty="0">
                    <a:latin typeface="楷体" panose="02010609060101010101" pitchFamily="49" charset="-122"/>
                    <a:ea typeface="楷体" panose="02010609060101010101" pitchFamily="49" charset="-122"/>
                    <a:cs typeface="楷体" panose="02010609060101010101" pitchFamily="49" charset="-122"/>
                  </a:rPr>
                  <a:t>再计算</a:t>
                </a:r>
                <a14:m>
                  <m:oMath xmlns:m="http://schemas.openxmlformats.org/officeDocument/2006/math">
                    <m:r>
                      <a:rPr lang="en-US" altLang="zh-CN" b="0" i="1" smtClean="0">
                        <a:latin typeface="Cambria Math" panose="02040503050406030204" pitchFamily="18" charset="0"/>
                        <a:ea typeface="楷体" panose="02010609060101010101" pitchFamily="49" charset="-122"/>
                        <a:cs typeface="楷体" panose="02010609060101010101" pitchFamily="49" charset="-122"/>
                      </a:rPr>
                      <m:t>3</m:t>
                    </m:r>
                    <m:r>
                      <a:rPr lang="en-US" altLang="zh-CN" i="1">
                        <a:latin typeface="Cambria Math" panose="02040503050406030204" pitchFamily="18" charset="0"/>
                        <a:ea typeface="楷体" panose="02010609060101010101" pitchFamily="49" charset="-122"/>
                        <a:cs typeface="楷体" panose="02010609060101010101" pitchFamily="49" charset="-122"/>
                      </a:rPr>
                      <m:t>𝑃</m:t>
                    </m:r>
                    <m:r>
                      <a:rPr lang="en-US" altLang="zh-CN" i="1">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=2</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r>
                      <a:rPr lang="en-US" altLang="zh-CN" b="0" i="1" smtClean="0">
                        <a:latin typeface="Cambria Math" panose="02040503050406030204" pitchFamily="18" charset="0"/>
                        <a:ea typeface="楷体" panose="02010609060101010101" pitchFamily="49" charset="-122"/>
                        <a:cs typeface="楷体" panose="02010609060101010101" pitchFamily="49" charset="-122"/>
                      </a:rPr>
                      <m:t>+</m:t>
                    </m:r>
                    <m:r>
                      <a:rPr lang="en-US" altLang="zh-CN" b="0" i="1" smtClean="0">
                        <a:latin typeface="Cambria Math" panose="02040503050406030204" pitchFamily="18" charset="0"/>
                        <a:ea typeface="楷体" panose="02010609060101010101" pitchFamily="49" charset="-122"/>
                        <a:cs typeface="楷体" panose="02010609060101010101" pitchFamily="49" charset="-122"/>
                      </a:rPr>
                      <m:t>𝑃</m:t>
                    </m:r>
                  </m:oMath>
                </a14:m>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marL="742950" lvl="1" indent="-285750" algn="just" defTabSz="266700">
                  <a:buClr>
                    <a:schemeClr val="accent1"/>
                  </a:buClr>
                  <a:buFont typeface="Arial" panose="020B0604020202020204" pitchFamily="34" charset="0"/>
                  <a:buChar char="•"/>
                </a:pPr>
                <a:endParaRPr lang="en-US" altLang="zh-CN" dirty="0">
                  <a:latin typeface="楷体" panose="02010609060101010101" pitchFamily="49" charset="-122"/>
                  <a:ea typeface="楷体" panose="02010609060101010101" pitchFamily="49" charset="-122"/>
                  <a:cs typeface="楷体" panose="02010609060101010101" pitchFamily="49" charset="-122"/>
                </a:endParaRPr>
              </a:p>
              <a:p>
                <a:pPr lvl="1" algn="just" defTabSz="266700">
                  <a:buClr>
                    <a:schemeClr val="accent1"/>
                  </a:buClr>
                </a:pPr>
                <a:r>
                  <a:rPr lang="en-US" altLang="zh-CN" dirty="0">
                    <a:latin typeface="楷体" panose="02010609060101010101" pitchFamily="49" charset="-122"/>
                    <a:ea typeface="楷体" panose="02010609060101010101" pitchFamily="49" charset="-122"/>
                    <a:cs typeface="楷体" panose="02010609060101010101" pitchFamily="49" charset="-122"/>
                  </a:rPr>
                  <a:t> </a:t>
                </a:r>
              </a:p>
              <a:p>
                <a:pPr lvl="1" algn="just" defTabSz="266700">
                  <a:buClr>
                    <a:schemeClr val="accent1"/>
                  </a:buClr>
                </a:pPr>
                <a:endParaRPr lang="en-US" altLang="zh-CN" baseline="30000" dirty="0">
                  <a:latin typeface="楷体" panose="02010609060101010101" pitchFamily="49" charset="-122"/>
                  <a:ea typeface="楷体" panose="02010609060101010101" pitchFamily="49" charset="-122"/>
                  <a:cs typeface="楷体" panose="02010609060101010101" pitchFamily="49" charset="-122"/>
                </a:endParaRPr>
              </a:p>
              <a:p>
                <a:pPr marL="285750" indent="-285750" algn="just" defTabSz="266700">
                  <a:buClr>
                    <a:schemeClr val="accent1"/>
                  </a:buClr>
                  <a:buFont typeface="Wingdings" panose="05000000000000000000" pitchFamily="2" charset="2"/>
                  <a:buChar char="l"/>
                </a:pPr>
                <a:endParaRPr lang="zh-CN" altLang="en-US" sz="1800" dirty="0">
                  <a:latin typeface="楷体" panose="02010609060101010101" pitchFamily="49" charset="-122"/>
                  <a:ea typeface="楷体" panose="02010609060101010101" pitchFamily="49" charset="-122"/>
                  <a:cs typeface="楷体" panose="02010609060101010101" pitchFamily="49"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465455" y="1354656"/>
                <a:ext cx="7586536" cy="2872581"/>
              </a:xfrm>
              <a:prstGeom prst="rect">
                <a:avLst/>
              </a:prstGeom>
              <a:blipFill rotWithShape="1">
                <a:blip r:embed="rId2"/>
                <a:stretch>
                  <a:fillRect t="-7" r="3" b="1"/>
                </a:stretch>
              </a:blipFill>
            </p:spPr>
            <p:txBody>
              <a:bodyPr/>
              <a:lstStyle/>
              <a:p>
                <a:r>
                  <a:rPr lang="zh-CN" altLang="en-US">
                    <a:noFill/>
                  </a:rPr>
                  <a:t> </a:t>
                </a:r>
              </a:p>
            </p:txBody>
          </p:sp>
        </mc:Fallback>
      </mc:AlternateContent>
      <p:sp>
        <p:nvSpPr>
          <p:cNvPr id="9" name="文本框 8"/>
          <p:cNvSpPr txBox="1"/>
          <p:nvPr/>
        </p:nvSpPr>
        <p:spPr>
          <a:xfrm>
            <a:off x="248821" y="633473"/>
            <a:ext cx="4927600" cy="400110"/>
          </a:xfrm>
          <a:prstGeom prst="rect">
            <a:avLst/>
          </a:prstGeom>
          <a:noFill/>
        </p:spPr>
        <p:txBody>
          <a:bodyPr wrap="square" rtlCol="0">
            <a:spAutoFit/>
          </a:bodyPr>
          <a:lstStyle/>
          <a:p>
            <a:r>
              <a:rPr lang="zh-CN" altLang="en-US" sz="2000" b="1" dirty="0">
                <a:solidFill>
                  <a:schemeClr val="accent1"/>
                </a:solidFill>
                <a:effectLst>
                  <a:outerShdw blurRad="38100" dist="25400" dir="5400000" algn="ctr" rotWithShape="0">
                    <a:srgbClr val="6E747A">
                      <a:alpha val="43000"/>
                    </a:srgbClr>
                  </a:outerShdw>
                </a:effectLst>
                <a:latin typeface="+mj-ea"/>
                <a:ea typeface="+mj-ea"/>
              </a:rPr>
              <a:t>课后习题</a:t>
            </a:r>
            <a:r>
              <a:rPr lang="en-US" altLang="zh-CN" sz="2000" b="1" dirty="0">
                <a:solidFill>
                  <a:schemeClr val="accent1"/>
                </a:solidFill>
                <a:effectLst>
                  <a:outerShdw blurRad="38100" dist="25400" dir="5400000" algn="ctr" rotWithShape="0">
                    <a:srgbClr val="6E747A">
                      <a:alpha val="43000"/>
                    </a:srgbClr>
                  </a:outerShdw>
                </a:effectLst>
                <a:latin typeface="+mj-ea"/>
                <a:ea typeface="+mj-ea"/>
              </a:rPr>
              <a:t>10.1</a:t>
            </a:r>
            <a:endParaRPr lang="zh-CN" altLang="en-US" sz="2000" b="1" dirty="0">
              <a:solidFill>
                <a:schemeClr val="accent1"/>
              </a:solidFill>
              <a:effectLst>
                <a:outerShdw blurRad="38100" dist="25400" dir="5400000" algn="ctr" rotWithShape="0">
                  <a:srgbClr val="6E747A">
                    <a:alpha val="43000"/>
                  </a:srgbClr>
                </a:outerShdw>
              </a:effectLst>
              <a:latin typeface="+mj-ea"/>
              <a:ea typeface="+mj-ea"/>
            </a:endParaRPr>
          </a:p>
        </p:txBody>
      </p:sp>
      <p:pic>
        <p:nvPicPr>
          <p:cNvPr id="16" name="Picture 4"/>
          <p:cNvPicPr>
            <a:picLocks noChangeAspect="1"/>
          </p:cNvPicPr>
          <p:nvPr/>
        </p:nvPicPr>
        <p:blipFill rotWithShape="1">
          <a:blip r:embed="rId3"/>
          <a:srcRect r="14830"/>
          <a:stretch>
            <a:fillRect/>
          </a:stretch>
        </p:blipFill>
        <p:spPr>
          <a:xfrm>
            <a:off x="1262753" y="1689014"/>
            <a:ext cx="4458597" cy="1051354"/>
          </a:xfrm>
          <a:prstGeom prst="rect">
            <a:avLst/>
          </a:prstGeom>
          <a:noFill/>
          <a:ln w="9525">
            <a:noFill/>
          </a:ln>
        </p:spPr>
      </p:pic>
      <p:pic>
        <p:nvPicPr>
          <p:cNvPr id="18" name="Picture 5"/>
          <p:cNvPicPr>
            <a:picLocks noChangeAspect="1"/>
          </p:cNvPicPr>
          <p:nvPr/>
        </p:nvPicPr>
        <p:blipFill rotWithShape="1">
          <a:blip r:embed="rId4"/>
          <a:srcRect r="15608"/>
          <a:stretch>
            <a:fillRect/>
          </a:stretch>
        </p:blipFill>
        <p:spPr>
          <a:xfrm>
            <a:off x="1262753" y="3202707"/>
            <a:ext cx="4458597" cy="1088786"/>
          </a:xfrm>
          <a:prstGeom prst="rect">
            <a:avLst/>
          </a:prstGeom>
          <a:noFill/>
          <a:ln w="9525">
            <a:noFill/>
          </a:ln>
        </p:spPr>
      </p:pic>
      <p:sp>
        <p:nvSpPr>
          <p:cNvPr id="15" name="矩形: 圆角 14">
            <a:extLst>
              <a:ext uri="{FF2B5EF4-FFF2-40B4-BE49-F238E27FC236}">
                <a16:creationId xmlns:a16="http://schemas.microsoft.com/office/drawing/2014/main" id="{C41EC51D-FE06-4BAA-9856-1D9BFF933FF6}"/>
              </a:ext>
            </a:extLst>
          </p:cNvPr>
          <p:cNvSpPr/>
          <p:nvPr/>
        </p:nvSpPr>
        <p:spPr>
          <a:xfrm>
            <a:off x="1660721" y="4839860"/>
            <a:ext cx="5432229" cy="309082"/>
          </a:xfrm>
          <a:prstGeom prst="roundRect">
            <a:avLst/>
          </a:prstGeom>
          <a:gradFill flip="none" rotWithShape="1">
            <a:gsLst>
              <a:gs pos="0">
                <a:schemeClr val="accent1">
                  <a:shade val="30000"/>
                  <a:satMod val="115000"/>
                </a:schemeClr>
              </a:gs>
              <a:gs pos="50000">
                <a:schemeClr val="accent1">
                  <a:shade val="67500"/>
                  <a:satMod val="115000"/>
                </a:schemeClr>
              </a:gs>
              <a:gs pos="100000">
                <a:schemeClr val="accent1">
                  <a:shade val="100000"/>
                  <a:satMod val="1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2A029323-EB6C-44A4-AC32-309B1C66A8FA}"/>
              </a:ext>
            </a:extLst>
          </p:cNvPr>
          <p:cNvSpPr/>
          <p:nvPr/>
        </p:nvSpPr>
        <p:spPr>
          <a:xfrm>
            <a:off x="5934674" y="4839810"/>
            <a:ext cx="1158276" cy="347621"/>
          </a:xfrm>
          <a:prstGeom prst="round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7">
            <a:extLst>
              <a:ext uri="{FF2B5EF4-FFF2-40B4-BE49-F238E27FC236}">
                <a16:creationId xmlns:a16="http://schemas.microsoft.com/office/drawing/2014/main" id="{78C18D9B-913A-4E77-B575-6CEE11B6F752}"/>
              </a:ext>
            </a:extLst>
          </p:cNvPr>
          <p:cNvSpPr txBox="1"/>
          <p:nvPr/>
        </p:nvSpPr>
        <p:spPr>
          <a:xfrm>
            <a:off x="1660721" y="4811001"/>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课程回顾</a:t>
            </a:r>
          </a:p>
        </p:txBody>
      </p:sp>
      <p:sp>
        <p:nvSpPr>
          <p:cNvPr id="20" name="TextBox 9">
            <a:extLst>
              <a:ext uri="{FF2B5EF4-FFF2-40B4-BE49-F238E27FC236}">
                <a16:creationId xmlns:a16="http://schemas.microsoft.com/office/drawing/2014/main" id="{07163A1E-B7DB-4EAE-9724-7938436818E3}"/>
              </a:ext>
            </a:extLst>
          </p:cNvPr>
          <p:cNvSpPr txBox="1"/>
          <p:nvPr/>
        </p:nvSpPr>
        <p:spPr>
          <a:xfrm>
            <a:off x="3064951" y="4825606"/>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课程内容</a:t>
            </a:r>
          </a:p>
        </p:txBody>
      </p:sp>
      <p:sp>
        <p:nvSpPr>
          <p:cNvPr id="21" name="TextBox 10">
            <a:extLst>
              <a:ext uri="{FF2B5EF4-FFF2-40B4-BE49-F238E27FC236}">
                <a16:creationId xmlns:a16="http://schemas.microsoft.com/office/drawing/2014/main" id="{131C0D91-F126-40F4-9BE6-4EF1171997AE}"/>
              </a:ext>
            </a:extLst>
          </p:cNvPr>
          <p:cNvSpPr txBox="1"/>
          <p:nvPr/>
        </p:nvSpPr>
        <p:spPr>
          <a:xfrm>
            <a:off x="4470696" y="4820917"/>
            <a:ext cx="1344000" cy="343159"/>
          </a:xfrm>
          <a:prstGeom prst="rect">
            <a:avLst/>
          </a:prstGeom>
          <a:noFill/>
        </p:spPr>
        <p:txBody>
          <a:bodyPr wrap="square" lIns="0" tIns="48000" rIns="0" bIns="48000" rtlCol="0">
            <a:spAutoFit/>
          </a:bodyPr>
          <a:lstStyle/>
          <a:p>
            <a:pPr algn="ctr"/>
            <a:r>
              <a:rPr lang="zh-CN" altLang="en-US" sz="1600" b="1" dirty="0">
                <a:solidFill>
                  <a:schemeClr val="bg1">
                    <a:lumMod val="50000"/>
                  </a:schemeClr>
                </a:solidFill>
                <a:latin typeface="微软雅黑" panose="020B0503020204020204" charset="-122"/>
                <a:ea typeface="微软雅黑" panose="020B0503020204020204" charset="-122"/>
              </a:rPr>
              <a:t>课程应用</a:t>
            </a:r>
          </a:p>
        </p:txBody>
      </p:sp>
      <p:sp>
        <p:nvSpPr>
          <p:cNvPr id="22" name="TextBox 11">
            <a:extLst>
              <a:ext uri="{FF2B5EF4-FFF2-40B4-BE49-F238E27FC236}">
                <a16:creationId xmlns:a16="http://schemas.microsoft.com/office/drawing/2014/main" id="{2D4AC992-4A64-426D-9C67-E5D0A3FBDC3F}"/>
              </a:ext>
            </a:extLst>
          </p:cNvPr>
          <p:cNvSpPr txBox="1"/>
          <p:nvPr/>
        </p:nvSpPr>
        <p:spPr>
          <a:xfrm>
            <a:off x="5817867" y="4819256"/>
            <a:ext cx="1344000" cy="340995"/>
          </a:xfrm>
          <a:prstGeom prst="rect">
            <a:avLst/>
          </a:prstGeom>
          <a:noFill/>
        </p:spPr>
        <p:txBody>
          <a:bodyPr wrap="square" lIns="0" tIns="48000" rIns="0" bIns="48000" rtlCol="0">
            <a:spAutoFit/>
          </a:bodyPr>
          <a:lstStyle/>
          <a:p>
            <a:pPr algn="ctr"/>
            <a:r>
              <a:rPr lang="zh-CN" altLang="en-US" sz="1600" b="1" dirty="0">
                <a:solidFill>
                  <a:schemeClr val="bg1"/>
                </a:solidFill>
                <a:latin typeface="微软雅黑" panose="020B0503020204020204" charset="-122"/>
                <a:ea typeface="微软雅黑" panose="020B0503020204020204" charset="-122"/>
                <a:sym typeface="+mn-ea"/>
              </a:rPr>
              <a:t>课程总结</a:t>
            </a:r>
            <a:endParaRPr lang="zh-CN" altLang="en-US" sz="1600" b="1" dirty="0">
              <a:solidFill>
                <a:schemeClr val="bg1"/>
              </a:solidFill>
              <a:latin typeface="微软雅黑" panose="020B0503020204020204" charset="-122"/>
              <a:ea typeface="微软雅黑" panose="020B0503020204020204" charset="-122"/>
            </a:endParaRPr>
          </a:p>
        </p:txBody>
      </p:sp>
      <p:sp>
        <p:nvSpPr>
          <p:cNvPr id="23" name="矩形 22">
            <a:extLst>
              <a:ext uri="{FF2B5EF4-FFF2-40B4-BE49-F238E27FC236}">
                <a16:creationId xmlns:a16="http://schemas.microsoft.com/office/drawing/2014/main" id="{2A88E8A1-B957-44D8-AE78-AF9C084362A0}"/>
              </a:ext>
            </a:extLst>
          </p:cNvPr>
          <p:cNvSpPr/>
          <p:nvPr/>
        </p:nvSpPr>
        <p:spPr>
          <a:xfrm>
            <a:off x="0" y="4792076"/>
            <a:ext cx="9144000" cy="45719"/>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灯片编号占位符 7">
            <a:extLst>
              <a:ext uri="{FF2B5EF4-FFF2-40B4-BE49-F238E27FC236}">
                <a16:creationId xmlns:a16="http://schemas.microsoft.com/office/drawing/2014/main" id="{F6E9B8D4-19BD-470C-9001-4F7EF0A1D54F}"/>
              </a:ext>
            </a:extLst>
          </p:cNvPr>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16</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
        <p:nvSpPr>
          <p:cNvPr id="25" name="文本框 24">
            <a:extLst>
              <a:ext uri="{FF2B5EF4-FFF2-40B4-BE49-F238E27FC236}">
                <a16:creationId xmlns:a16="http://schemas.microsoft.com/office/drawing/2014/main" id="{75BE3118-971C-4420-9E16-6079FE8A033A}"/>
              </a:ext>
            </a:extLst>
          </p:cNvPr>
          <p:cNvSpPr txBox="1"/>
          <p:nvPr/>
        </p:nvSpPr>
        <p:spPr>
          <a:xfrm>
            <a:off x="13185" y="4471003"/>
            <a:ext cx="2185227" cy="338554"/>
          </a:xfrm>
          <a:prstGeom prst="rect">
            <a:avLst/>
          </a:prstGeom>
          <a:noFill/>
        </p:spPr>
        <p:txBody>
          <a:bodyPr wrap="square" rtlCol="0">
            <a:spAutoFit/>
          </a:bodyPr>
          <a:lstStyle/>
          <a:p>
            <a:r>
              <a:rPr lang="zh-CN" altLang="en-US" sz="1600" dirty="0">
                <a:solidFill>
                  <a:srgbClr val="FFC5C5"/>
                </a:solidFill>
                <a:latin typeface="楷体" panose="02010609060101010101" pitchFamily="49" charset="-122"/>
                <a:ea typeface="楷体" panose="02010609060101010101" pitchFamily="49" charset="-122"/>
              </a:rPr>
              <a:t>椭圆曲线密码体制</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bwMode="auto">
          <a:xfrm>
            <a:off x="3625851" y="1517875"/>
            <a:ext cx="5381424" cy="646331"/>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lang="zh-CN" altLang="en-US" sz="3600" b="1" kern="100" dirty="0">
                <a:solidFill>
                  <a:srgbClr val="0F4C82"/>
                </a:solidFill>
                <a:latin typeface="微软雅黑" panose="020B0503020204020204" charset="-122"/>
                <a:ea typeface="微软雅黑" panose="020B0503020204020204" charset="-122"/>
                <a:cs typeface="Times New Roman" panose="02020603050405020304" pitchFamily="18" charset="0"/>
                <a:sym typeface="+mn-ea"/>
              </a:rPr>
              <a:t>谢谢大家，</a:t>
            </a:r>
            <a:r>
              <a:rPr lang="zh-CN" altLang="en-US" sz="3600" b="1" kern="10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rPr>
              <a:t>请批评指正！</a:t>
            </a:r>
            <a:endParaRPr kumimoji="0" lang="zh-CN" altLang="en-US" sz="3600" b="1" i="0" u="none" strike="noStrike" kern="100" cap="none" spc="0" normalizeH="0" baseline="0" noProof="0" dirty="0">
              <a:ln>
                <a:noFill/>
              </a:ln>
              <a:solidFill>
                <a:srgbClr val="0F4C82"/>
              </a:solidFill>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cxnSp>
        <p:nvCxnSpPr>
          <p:cNvPr id="28" name="直接连接符 27"/>
          <p:cNvCxnSpPr/>
          <p:nvPr/>
        </p:nvCxnSpPr>
        <p:spPr>
          <a:xfrm>
            <a:off x="3536114" y="2161893"/>
            <a:ext cx="5280660" cy="20955"/>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 y="0"/>
            <a:ext cx="276860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1944162" y="890996"/>
            <a:ext cx="1591854" cy="1591854"/>
            <a:chOff x="3893848" y="1276412"/>
            <a:chExt cx="1356304" cy="1356304"/>
          </a:xfrm>
        </p:grpSpPr>
        <p:sp>
          <p:nvSpPr>
            <p:cNvPr id="3" name="椭圆 2"/>
            <p:cNvSpPr/>
            <p:nvPr/>
          </p:nvSpPr>
          <p:spPr>
            <a:xfrm>
              <a:off x="3893848" y="1276412"/>
              <a:ext cx="1356304" cy="1356304"/>
            </a:xfrm>
            <a:prstGeom prst="ellipse">
              <a:avLst/>
            </a:prstGeom>
            <a:solidFill>
              <a:schemeClr val="accent1"/>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sp>
          <p:nvSpPr>
            <p:cNvPr id="31" name="Freeform 5"/>
            <p:cNvSpPr>
              <a:spLocks noEditPoints="1"/>
            </p:cNvSpPr>
            <p:nvPr/>
          </p:nvSpPr>
          <p:spPr bwMode="auto">
            <a:xfrm>
              <a:off x="4008813" y="1508646"/>
              <a:ext cx="1126374" cy="827336"/>
            </a:xfrm>
            <a:custGeom>
              <a:avLst/>
              <a:gdLst>
                <a:gd name="T0" fmla="*/ 690 w 702"/>
                <a:gd name="T1" fmla="*/ 144 h 517"/>
                <a:gd name="T2" fmla="*/ 358 w 702"/>
                <a:gd name="T3" fmla="*/ 1 h 517"/>
                <a:gd name="T4" fmla="*/ 351 w 702"/>
                <a:gd name="T5" fmla="*/ 0 h 517"/>
                <a:gd name="T6" fmla="*/ 345 w 702"/>
                <a:gd name="T7" fmla="*/ 1 h 517"/>
                <a:gd name="T8" fmla="*/ 12 w 702"/>
                <a:gd name="T9" fmla="*/ 144 h 517"/>
                <a:gd name="T10" fmla="*/ 0 w 702"/>
                <a:gd name="T11" fmla="*/ 164 h 517"/>
                <a:gd name="T12" fmla="*/ 12 w 702"/>
                <a:gd name="T13" fmla="*/ 183 h 517"/>
                <a:gd name="T14" fmla="*/ 345 w 702"/>
                <a:gd name="T15" fmla="*/ 326 h 517"/>
                <a:gd name="T16" fmla="*/ 358 w 702"/>
                <a:gd name="T17" fmla="*/ 326 h 517"/>
                <a:gd name="T18" fmla="*/ 616 w 702"/>
                <a:gd name="T19" fmla="*/ 215 h 517"/>
                <a:gd name="T20" fmla="*/ 616 w 702"/>
                <a:gd name="T21" fmla="*/ 329 h 517"/>
                <a:gd name="T22" fmla="*/ 593 w 702"/>
                <a:gd name="T23" fmla="*/ 370 h 517"/>
                <a:gd name="T24" fmla="*/ 616 w 702"/>
                <a:gd name="T25" fmla="*/ 412 h 517"/>
                <a:gd name="T26" fmla="*/ 616 w 702"/>
                <a:gd name="T27" fmla="*/ 452 h 517"/>
                <a:gd name="T28" fmla="*/ 650 w 702"/>
                <a:gd name="T29" fmla="*/ 452 h 517"/>
                <a:gd name="T30" fmla="*/ 650 w 702"/>
                <a:gd name="T31" fmla="*/ 412 h 517"/>
                <a:gd name="T32" fmla="*/ 674 w 702"/>
                <a:gd name="T33" fmla="*/ 370 h 517"/>
                <a:gd name="T34" fmla="*/ 650 w 702"/>
                <a:gd name="T35" fmla="*/ 329 h 517"/>
                <a:gd name="T36" fmla="*/ 650 w 702"/>
                <a:gd name="T37" fmla="*/ 200 h 517"/>
                <a:gd name="T38" fmla="*/ 690 w 702"/>
                <a:gd name="T39" fmla="*/ 183 h 517"/>
                <a:gd name="T40" fmla="*/ 702 w 702"/>
                <a:gd name="T41" fmla="*/ 164 h 517"/>
                <a:gd name="T42" fmla="*/ 690 w 702"/>
                <a:gd name="T43" fmla="*/ 144 h 517"/>
                <a:gd name="T44" fmla="*/ 351 w 702"/>
                <a:gd name="T45" fmla="*/ 355 h 517"/>
                <a:gd name="T46" fmla="*/ 336 w 702"/>
                <a:gd name="T47" fmla="*/ 352 h 517"/>
                <a:gd name="T48" fmla="*/ 129 w 702"/>
                <a:gd name="T49" fmla="*/ 262 h 517"/>
                <a:gd name="T50" fmla="*/ 129 w 702"/>
                <a:gd name="T51" fmla="*/ 386 h 517"/>
                <a:gd name="T52" fmla="*/ 327 w 702"/>
                <a:gd name="T53" fmla="*/ 517 h 517"/>
                <a:gd name="T54" fmla="*/ 375 w 702"/>
                <a:gd name="T55" fmla="*/ 517 h 517"/>
                <a:gd name="T56" fmla="*/ 574 w 702"/>
                <a:gd name="T57" fmla="*/ 386 h 517"/>
                <a:gd name="T58" fmla="*/ 574 w 702"/>
                <a:gd name="T59" fmla="*/ 262 h 517"/>
                <a:gd name="T60" fmla="*/ 366 w 702"/>
                <a:gd name="T61" fmla="*/ 352 h 517"/>
                <a:gd name="T62" fmla="*/ 351 w 702"/>
                <a:gd name="T63" fmla="*/ 355 h 5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02" h="517">
                  <a:moveTo>
                    <a:pt x="690" y="144"/>
                  </a:moveTo>
                  <a:cubicBezTo>
                    <a:pt x="358" y="1"/>
                    <a:pt x="358" y="1"/>
                    <a:pt x="358" y="1"/>
                  </a:cubicBezTo>
                  <a:cubicBezTo>
                    <a:pt x="356" y="0"/>
                    <a:pt x="353" y="0"/>
                    <a:pt x="351" y="0"/>
                  </a:cubicBezTo>
                  <a:cubicBezTo>
                    <a:pt x="349" y="0"/>
                    <a:pt x="347" y="0"/>
                    <a:pt x="345" y="1"/>
                  </a:cubicBezTo>
                  <a:cubicBezTo>
                    <a:pt x="12" y="144"/>
                    <a:pt x="12" y="144"/>
                    <a:pt x="12" y="144"/>
                  </a:cubicBezTo>
                  <a:cubicBezTo>
                    <a:pt x="5" y="147"/>
                    <a:pt x="0" y="155"/>
                    <a:pt x="0" y="164"/>
                  </a:cubicBezTo>
                  <a:cubicBezTo>
                    <a:pt x="0" y="172"/>
                    <a:pt x="5" y="180"/>
                    <a:pt x="12" y="183"/>
                  </a:cubicBezTo>
                  <a:cubicBezTo>
                    <a:pt x="345" y="326"/>
                    <a:pt x="345" y="326"/>
                    <a:pt x="345" y="326"/>
                  </a:cubicBezTo>
                  <a:cubicBezTo>
                    <a:pt x="349" y="328"/>
                    <a:pt x="354" y="328"/>
                    <a:pt x="358" y="326"/>
                  </a:cubicBezTo>
                  <a:cubicBezTo>
                    <a:pt x="616" y="215"/>
                    <a:pt x="616" y="215"/>
                    <a:pt x="616" y="215"/>
                  </a:cubicBezTo>
                  <a:cubicBezTo>
                    <a:pt x="616" y="329"/>
                    <a:pt x="616" y="329"/>
                    <a:pt x="616" y="329"/>
                  </a:cubicBezTo>
                  <a:cubicBezTo>
                    <a:pt x="602" y="336"/>
                    <a:pt x="593" y="352"/>
                    <a:pt x="593" y="370"/>
                  </a:cubicBezTo>
                  <a:cubicBezTo>
                    <a:pt x="593" y="389"/>
                    <a:pt x="602" y="405"/>
                    <a:pt x="616" y="412"/>
                  </a:cubicBezTo>
                  <a:cubicBezTo>
                    <a:pt x="616" y="452"/>
                    <a:pt x="616" y="452"/>
                    <a:pt x="616" y="452"/>
                  </a:cubicBezTo>
                  <a:cubicBezTo>
                    <a:pt x="650" y="452"/>
                    <a:pt x="650" y="452"/>
                    <a:pt x="650" y="452"/>
                  </a:cubicBezTo>
                  <a:cubicBezTo>
                    <a:pt x="650" y="412"/>
                    <a:pt x="650" y="412"/>
                    <a:pt x="650" y="412"/>
                  </a:cubicBezTo>
                  <a:cubicBezTo>
                    <a:pt x="664" y="405"/>
                    <a:pt x="674" y="389"/>
                    <a:pt x="674" y="370"/>
                  </a:cubicBezTo>
                  <a:cubicBezTo>
                    <a:pt x="674" y="352"/>
                    <a:pt x="664" y="336"/>
                    <a:pt x="650" y="329"/>
                  </a:cubicBezTo>
                  <a:cubicBezTo>
                    <a:pt x="650" y="200"/>
                    <a:pt x="650" y="200"/>
                    <a:pt x="650" y="200"/>
                  </a:cubicBezTo>
                  <a:cubicBezTo>
                    <a:pt x="690" y="183"/>
                    <a:pt x="690" y="183"/>
                    <a:pt x="690" y="183"/>
                  </a:cubicBezTo>
                  <a:cubicBezTo>
                    <a:pt x="697" y="180"/>
                    <a:pt x="702" y="172"/>
                    <a:pt x="702" y="164"/>
                  </a:cubicBezTo>
                  <a:cubicBezTo>
                    <a:pt x="702" y="155"/>
                    <a:pt x="697" y="147"/>
                    <a:pt x="690" y="144"/>
                  </a:cubicBezTo>
                  <a:close/>
                  <a:moveTo>
                    <a:pt x="351" y="355"/>
                  </a:moveTo>
                  <a:cubicBezTo>
                    <a:pt x="346" y="355"/>
                    <a:pt x="341" y="354"/>
                    <a:pt x="336" y="352"/>
                  </a:cubicBezTo>
                  <a:cubicBezTo>
                    <a:pt x="129" y="262"/>
                    <a:pt x="129" y="262"/>
                    <a:pt x="129" y="262"/>
                  </a:cubicBezTo>
                  <a:cubicBezTo>
                    <a:pt x="129" y="386"/>
                    <a:pt x="129" y="386"/>
                    <a:pt x="129" y="386"/>
                  </a:cubicBezTo>
                  <a:cubicBezTo>
                    <a:pt x="129" y="487"/>
                    <a:pt x="280" y="517"/>
                    <a:pt x="327" y="517"/>
                  </a:cubicBezTo>
                  <a:cubicBezTo>
                    <a:pt x="375" y="517"/>
                    <a:pt x="375" y="517"/>
                    <a:pt x="375" y="517"/>
                  </a:cubicBezTo>
                  <a:cubicBezTo>
                    <a:pt x="410" y="517"/>
                    <a:pt x="574" y="487"/>
                    <a:pt x="574" y="386"/>
                  </a:cubicBezTo>
                  <a:cubicBezTo>
                    <a:pt x="574" y="262"/>
                    <a:pt x="574" y="262"/>
                    <a:pt x="574" y="262"/>
                  </a:cubicBezTo>
                  <a:cubicBezTo>
                    <a:pt x="366" y="352"/>
                    <a:pt x="366" y="352"/>
                    <a:pt x="366" y="352"/>
                  </a:cubicBezTo>
                  <a:cubicBezTo>
                    <a:pt x="361" y="354"/>
                    <a:pt x="356" y="355"/>
                    <a:pt x="351" y="35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Light" panose="020F0302020204030204"/>
                <a:ea typeface="微软雅黑 Light" panose="020B0502040204020203" charset="-122"/>
                <a:cs typeface="+mn-cs"/>
              </a:endParaRPr>
            </a:p>
          </p:txBody>
        </p:sp>
      </p:grpSp>
      <p:pic>
        <p:nvPicPr>
          <p:cNvPr id="10" name="图片 9"/>
          <p:cNvPicPr>
            <a:picLocks noChangeAspect="1"/>
          </p:cNvPicPr>
          <p:nvPr/>
        </p:nvPicPr>
        <p:blipFill rotWithShape="1">
          <a:blip r:embed="rId2">
            <a:extLst>
              <a:ext uri="{28A0092B-C50C-407E-A947-70E740481C1C}">
                <a14:useLocalDpi xmlns:a14="http://schemas.microsoft.com/office/drawing/2010/main" val="0"/>
              </a:ext>
            </a:extLst>
          </a:blip>
          <a:srcRect r="57768" b="-1889"/>
          <a:stretch/>
        </p:blipFill>
        <p:spPr>
          <a:xfrm>
            <a:off x="285175" y="201547"/>
            <a:ext cx="1534889" cy="471692"/>
          </a:xfrm>
          <a:prstGeom prst="rect">
            <a:avLst/>
          </a:prstGeom>
        </p:spPr>
      </p:pic>
      <p:sp>
        <p:nvSpPr>
          <p:cNvPr id="19" name="灯片编号占位符 7"/>
          <p:cNvSpPr>
            <a:spLocks noGrp="1"/>
          </p:cNvSpPr>
          <p:nvPr>
            <p:ph type="sldNum" sz="quarter" idx="4"/>
          </p:nvPr>
        </p:nvSpPr>
        <p:spPr>
          <a:xfrm>
            <a:off x="8608115" y="4845083"/>
            <a:ext cx="344115" cy="273844"/>
          </a:xfrm>
        </p:spPr>
        <p:txBody>
          <a:bodyPr/>
          <a:lstStyle/>
          <a:p>
            <a:fld id="{9A0DB2DC-4C9A-4742-B13C-FB6460FD3503}" type="slidenum">
              <a:rPr lang="en-US" altLang="zh-CN" sz="1000" smtClean="0">
                <a:solidFill>
                  <a:schemeClr val="bg1">
                    <a:lumMod val="65000"/>
                  </a:schemeClr>
                </a:solidFill>
                <a:latin typeface="等线" panose="02010600030101010101" pitchFamily="2" charset="-122"/>
                <a:ea typeface="等线" panose="02010600030101010101" pitchFamily="2" charset="-122"/>
              </a:rPr>
              <a:t>17</a:t>
            </a:fld>
            <a:endParaRPr lang="zh-CN" altLang="en-US" sz="1000" dirty="0">
              <a:solidFill>
                <a:schemeClr val="bg1">
                  <a:lumMod val="65000"/>
                </a:schemeClr>
              </a:solidFill>
              <a:latin typeface="等线" panose="02010600030101010101" pitchFamily="2" charset="-122"/>
              <a:ea typeface="等线" panose="02010600030101010101" pitchFamily="2" charset="-122"/>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7f41dd9c-12e6-480f-b01d-187e8b40cfb8"/>
  <p:tag name="COMMONDATA" val="eyJjb3VudCI6NDQsImhkaWQiOiJmZGVhNzM4MzMxYTkwNzNmMWJlZGRmNzRjOWExNWI2NiIsInVzZXJDb3VudCI6NDR9"/>
  <p:tag name="RESOURCE_RECORD_KEY" val="{&quot;10&quot;:[21559035,50026255,50027377],&quot;70&quot;:[3327356,3314119,3318501,3312405,3332763,3330148,3312128,3312379,3317789]}"/>
</p:tagLst>
</file>

<file path=ppt/theme/theme1.xml><?xml version="1.0" encoding="utf-8"?>
<a:theme xmlns:a="http://schemas.openxmlformats.org/drawingml/2006/main" name="Office 主题​​">
  <a:themeElements>
    <a:clrScheme name="2经典蓝配色方案">
      <a:dk1>
        <a:sysClr val="windowText" lastClr="000000"/>
      </a:dk1>
      <a:lt1>
        <a:sysClr val="window" lastClr="FFFFFF"/>
      </a:lt1>
      <a:dk2>
        <a:srgbClr val="EEF2F5"/>
      </a:dk2>
      <a:lt2>
        <a:srgbClr val="E7E6E6"/>
      </a:lt2>
      <a:accent1>
        <a:srgbClr val="0F4C82"/>
      </a:accent1>
      <a:accent2>
        <a:srgbClr val="B3C6D5"/>
      </a:accent2>
      <a:accent3>
        <a:srgbClr val="F7B793"/>
      </a:accent3>
      <a:accent4>
        <a:srgbClr val="F4DBB2"/>
      </a:accent4>
      <a:accent5>
        <a:srgbClr val="4472C4"/>
      </a:accent5>
      <a:accent6>
        <a:srgbClr val="70AD47"/>
      </a:accent6>
      <a:hlink>
        <a:srgbClr val="000000"/>
      </a:hlink>
      <a:folHlink>
        <a:srgbClr val="954F72"/>
      </a:folHlink>
    </a:clrScheme>
    <a:fontScheme name="标准5-3">
      <a:majorFont>
        <a:latin typeface="Century Gothic"/>
        <a:ea typeface="微软雅黑"/>
        <a:cs typeface=""/>
      </a:majorFont>
      <a:minorFont>
        <a:latin typeface="Calibri Light"/>
        <a:ea typeface="微软雅黑 Light"/>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880</Words>
  <Application>Microsoft Office PowerPoint</Application>
  <PresentationFormat>全屏显示(16:9)</PresentationFormat>
  <Paragraphs>193</Paragraphs>
  <Slides>17</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17</vt:i4>
      </vt:variant>
    </vt:vector>
  </HeadingPairs>
  <TitlesOfParts>
    <vt:vector size="29" baseType="lpstr">
      <vt:lpstr>等线</vt:lpstr>
      <vt:lpstr>楷体</vt:lpstr>
      <vt:lpstr>微软雅黑</vt:lpstr>
      <vt:lpstr>Arial</vt:lpstr>
      <vt:lpstr>Calibri</vt:lpstr>
      <vt:lpstr>Calibri Light</vt:lpstr>
      <vt:lpstr>Cambria Math</vt:lpstr>
      <vt:lpstr>Century Gothic</vt:lpstr>
      <vt:lpstr>Times New Roman</vt:lpstr>
      <vt:lpstr>Wingdings</vt:lpstr>
      <vt:lpstr>Office 主题​​</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哒哒 熊猫</dc:creator>
  <cp:lastModifiedBy>Canhui Wang</cp:lastModifiedBy>
  <cp:revision>500</cp:revision>
  <dcterms:created xsi:type="dcterms:W3CDTF">2020-01-28T04:26:00Z</dcterms:created>
  <dcterms:modified xsi:type="dcterms:W3CDTF">2025-06-03T17:07:21Z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2052-12.1.0.21171</vt:lpwstr>
  </property>
  <property fmtid="{D5CDD505-2E9C-101B-9397-08002B2CF9AE}" pid="3" name="KSOTemplateUUID">
    <vt:lpwstr>v1.0_mb_p3KkJyKqBJSpFjgU+N9mKw==</vt:lpwstr>
  </property>
  <property fmtid="{D5CDD505-2E9C-101B-9397-08002B2CF9AE}" pid="4" name="ICV">
    <vt:lpwstr>5F09973FFB0E4B1FB3F6043EB8EB2B3C_12</vt:lpwstr>
  </property>
</Properties>
</file>